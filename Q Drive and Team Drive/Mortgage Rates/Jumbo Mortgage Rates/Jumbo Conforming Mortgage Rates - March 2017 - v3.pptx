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1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18.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19.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8.xml" ContentType="application/vnd.openxmlformats-officedocument.presentationml.notesSlide+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 id="2147483887" r:id="rId20"/>
  </p:sldMasterIdLst>
  <p:notesMasterIdLst>
    <p:notesMasterId r:id="rId30"/>
  </p:notesMasterIdLst>
  <p:handoutMasterIdLst>
    <p:handoutMasterId r:id="rId31"/>
  </p:handoutMasterIdLst>
  <p:sldIdLst>
    <p:sldId id="433" r:id="rId21"/>
    <p:sldId id="601" r:id="rId22"/>
    <p:sldId id="604" r:id="rId23"/>
    <p:sldId id="602" r:id="rId24"/>
    <p:sldId id="605" r:id="rId25"/>
    <p:sldId id="607" r:id="rId26"/>
    <p:sldId id="610" r:id="rId27"/>
    <p:sldId id="608" r:id="rId28"/>
    <p:sldId id="504" r:id="rId29"/>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p15="http://schemas.microsoft.com/office/powerpoint/2012/main" xmlns="">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p15="http://schemas.microsoft.com/office/powerpoint/2012/main" xmlns="">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98A"/>
    <a:srgbClr val="C7732D"/>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0" autoAdjust="0"/>
    <p:restoredTop sz="95005" autoAdjust="0"/>
  </p:normalViewPr>
  <p:slideViewPr>
    <p:cSldViewPr snapToGrid="0" snapToObjects="1">
      <p:cViewPr>
        <p:scale>
          <a:sx n="125" d="100"/>
          <a:sy n="125" d="100"/>
        </p:scale>
        <p:origin x="-342" y="72"/>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6.xml"/><Relationship Id="rId3" Type="http://schemas.openxmlformats.org/officeDocument/2006/relationships/slideMaster" Target="slideMasters/slideMaster3.xml"/><Relationship Id="rId21" Type="http://schemas.openxmlformats.org/officeDocument/2006/relationships/slide" Target="slides/slide1.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5.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4.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3.xml"/><Relationship Id="rId28" Type="http://schemas.openxmlformats.org/officeDocument/2006/relationships/slide" Target="slides/slide8.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2.xml"/><Relationship Id="rId27" Type="http://schemas.openxmlformats.org/officeDocument/2006/relationships/slide" Target="slides/slide7.xml"/><Relationship Id="rId30" Type="http://schemas.openxmlformats.org/officeDocument/2006/relationships/notesMaster" Target="notesMasters/notesMaster1.xml"/><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cmnydc1\research$\Jumbo%20Mortgage%20Rates\Jumbo%20Conforming%20Mortgage%20Rates.xlsx" TargetMode="Externa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oleObject" Target="file:///\\ccmnydc1\research$\Jumbo%20Mortgage%20Rates\Jumbo%20Conforming%20Mortgage%20Rates.xlsx" TargetMode="Externa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strRef>
              <c:f>'WAC Differences'!$N$2</c:f>
              <c:strCache>
                <c:ptCount val="1"/>
                <c:pt idx="0">
                  <c:v>Diff</c:v>
                </c:pt>
              </c:strCache>
            </c:strRef>
          </c:tx>
          <c:spPr>
            <a:ln>
              <a:solidFill>
                <a:schemeClr val="accent1"/>
              </a:solidFill>
            </a:ln>
          </c:spPr>
          <c:marker>
            <c:symbol val="none"/>
          </c:marker>
          <c:cat>
            <c:numRef>
              <c:f>'WAC Differences'!$K$3:$K$106</c:f>
              <c:numCache>
                <c:formatCode>m/d/yyyy</c:formatCode>
                <c:ptCount val="104"/>
                <c:pt idx="0">
                  <c:v>39569</c:v>
                </c:pt>
                <c:pt idx="1">
                  <c:v>39600</c:v>
                </c:pt>
                <c:pt idx="2">
                  <c:v>39630</c:v>
                </c:pt>
                <c:pt idx="3">
                  <c:v>39661</c:v>
                </c:pt>
                <c:pt idx="4">
                  <c:v>39692</c:v>
                </c:pt>
                <c:pt idx="5">
                  <c:v>39722</c:v>
                </c:pt>
                <c:pt idx="6">
                  <c:v>39783</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pt idx="90">
                  <c:v>42370</c:v>
                </c:pt>
                <c:pt idx="91">
                  <c:v>42401</c:v>
                </c:pt>
                <c:pt idx="92">
                  <c:v>42430</c:v>
                </c:pt>
                <c:pt idx="93">
                  <c:v>42461</c:v>
                </c:pt>
                <c:pt idx="94">
                  <c:v>42491</c:v>
                </c:pt>
                <c:pt idx="95">
                  <c:v>42522</c:v>
                </c:pt>
                <c:pt idx="96">
                  <c:v>42552</c:v>
                </c:pt>
                <c:pt idx="97">
                  <c:v>42583</c:v>
                </c:pt>
                <c:pt idx="98">
                  <c:v>42614</c:v>
                </c:pt>
                <c:pt idx="99">
                  <c:v>42644</c:v>
                </c:pt>
                <c:pt idx="100">
                  <c:v>42675</c:v>
                </c:pt>
                <c:pt idx="101">
                  <c:v>42705</c:v>
                </c:pt>
                <c:pt idx="102">
                  <c:v>42736</c:v>
                </c:pt>
                <c:pt idx="103">
                  <c:v>42767</c:v>
                </c:pt>
              </c:numCache>
            </c:numRef>
          </c:cat>
          <c:val>
            <c:numRef>
              <c:f>'WAC Differences'!$N$3:$N$106</c:f>
              <c:numCache>
                <c:formatCode>General</c:formatCode>
                <c:ptCount val="104"/>
                <c:pt idx="0">
                  <c:v>28.526506881109981</c:v>
                </c:pt>
                <c:pt idx="1">
                  <c:v>15.081553997819963</c:v>
                </c:pt>
                <c:pt idx="2">
                  <c:v>-4.2281843973039912</c:v>
                </c:pt>
                <c:pt idx="3">
                  <c:v>-7.9017460862709221</c:v>
                </c:pt>
                <c:pt idx="4">
                  <c:v>-7.6730342103129345</c:v>
                </c:pt>
                <c:pt idx="5">
                  <c:v>-2.7540397921160142</c:v>
                </c:pt>
                <c:pt idx="6">
                  <c:v>64.004815714393004</c:v>
                </c:pt>
                <c:pt idx="7">
                  <c:v>47.683750220801002</c:v>
                </c:pt>
                <c:pt idx="8">
                  <c:v>34.474911503874054</c:v>
                </c:pt>
                <c:pt idx="9">
                  <c:v>15.892520755487993</c:v>
                </c:pt>
                <c:pt idx="10">
                  <c:v>51.890263686452002</c:v>
                </c:pt>
                <c:pt idx="11">
                  <c:v>97.024332753450977</c:v>
                </c:pt>
                <c:pt idx="12">
                  <c:v>37.819079350448973</c:v>
                </c:pt>
                <c:pt idx="13">
                  <c:v>29.018398525484024</c:v>
                </c:pt>
                <c:pt idx="14">
                  <c:v>3.2549493785089645</c:v>
                </c:pt>
                <c:pt idx="15">
                  <c:v>2.9969575324510167</c:v>
                </c:pt>
                <c:pt idx="16">
                  <c:v>29.790311898565047</c:v>
                </c:pt>
                <c:pt idx="17">
                  <c:v>24.076027247460008</c:v>
                </c:pt>
                <c:pt idx="18">
                  <c:v>19.148365886630003</c:v>
                </c:pt>
                <c:pt idx="19">
                  <c:v>18.972731718594993</c:v>
                </c:pt>
                <c:pt idx="20">
                  <c:v>17.783458334599</c:v>
                </c:pt>
                <c:pt idx="21">
                  <c:v>7.2192301163470418</c:v>
                </c:pt>
                <c:pt idx="22">
                  <c:v>5.8563012857030472</c:v>
                </c:pt>
                <c:pt idx="23">
                  <c:v>4.6801109649400097</c:v>
                </c:pt>
                <c:pt idx="24">
                  <c:v>-2.3106121091389653</c:v>
                </c:pt>
                <c:pt idx="25">
                  <c:v>5.9839197742530104</c:v>
                </c:pt>
                <c:pt idx="26">
                  <c:v>7.8251246985439948</c:v>
                </c:pt>
                <c:pt idx="27">
                  <c:v>9.7660875946080417</c:v>
                </c:pt>
                <c:pt idx="28">
                  <c:v>7.00154175090697</c:v>
                </c:pt>
                <c:pt idx="29">
                  <c:v>7.131768293259011</c:v>
                </c:pt>
                <c:pt idx="30">
                  <c:v>1.0359678759369828</c:v>
                </c:pt>
                <c:pt idx="31">
                  <c:v>-5.7629456631369536</c:v>
                </c:pt>
                <c:pt idx="32">
                  <c:v>-9.9919634317360284</c:v>
                </c:pt>
                <c:pt idx="33">
                  <c:v>-12.758765483719969</c:v>
                </c:pt>
                <c:pt idx="34">
                  <c:v>-12.093593427514016</c:v>
                </c:pt>
                <c:pt idx="35">
                  <c:v>-12.933808628950061</c:v>
                </c:pt>
                <c:pt idx="36">
                  <c:v>-7.868374565704972</c:v>
                </c:pt>
                <c:pt idx="37">
                  <c:v>-14.963671761221953</c:v>
                </c:pt>
                <c:pt idx="38">
                  <c:v>-7.0890798033260261</c:v>
                </c:pt>
                <c:pt idx="39">
                  <c:v>-3.6907664330060541</c:v>
                </c:pt>
                <c:pt idx="40">
                  <c:v>4.7875578513440153</c:v>
                </c:pt>
                <c:pt idx="41">
                  <c:v>7.4737964294190107</c:v>
                </c:pt>
                <c:pt idx="42">
                  <c:v>6.4236258407110114</c:v>
                </c:pt>
                <c:pt idx="43">
                  <c:v>8.3218260459620552</c:v>
                </c:pt>
                <c:pt idx="44">
                  <c:v>6.6962570812370004</c:v>
                </c:pt>
                <c:pt idx="45">
                  <c:v>2.8063660212310104</c:v>
                </c:pt>
                <c:pt idx="46">
                  <c:v>-2.4107298719620474</c:v>
                </c:pt>
                <c:pt idx="47">
                  <c:v>-5.9091151998780234</c:v>
                </c:pt>
                <c:pt idx="48">
                  <c:v>-0.29866363109096739</c:v>
                </c:pt>
                <c:pt idx="49">
                  <c:v>5.952745713801999</c:v>
                </c:pt>
                <c:pt idx="50">
                  <c:v>6.1268363729380049</c:v>
                </c:pt>
                <c:pt idx="51">
                  <c:v>4.2052222705100117</c:v>
                </c:pt>
                <c:pt idx="52">
                  <c:v>4.0662413149899823</c:v>
                </c:pt>
                <c:pt idx="53">
                  <c:v>2.1860355422850031</c:v>
                </c:pt>
                <c:pt idx="54">
                  <c:v>6.033045914396995</c:v>
                </c:pt>
                <c:pt idx="55">
                  <c:v>5.7154816781920026</c:v>
                </c:pt>
                <c:pt idx="56">
                  <c:v>4.7405713542880257</c:v>
                </c:pt>
                <c:pt idx="57">
                  <c:v>-2.1220765081309878</c:v>
                </c:pt>
                <c:pt idx="58">
                  <c:v>2.8400675657580088</c:v>
                </c:pt>
                <c:pt idx="59">
                  <c:v>-3.1891975799499761</c:v>
                </c:pt>
                <c:pt idx="60">
                  <c:v>-2.7580090049760031</c:v>
                </c:pt>
                <c:pt idx="61">
                  <c:v>-3.9830386684979402</c:v>
                </c:pt>
                <c:pt idx="62">
                  <c:v>-8.9640679217029451</c:v>
                </c:pt>
                <c:pt idx="63">
                  <c:v>-2.3190680206229608</c:v>
                </c:pt>
                <c:pt idx="64">
                  <c:v>-3.0285722596440579</c:v>
                </c:pt>
                <c:pt idx="65">
                  <c:v>-6.4541610020770079</c:v>
                </c:pt>
                <c:pt idx="66">
                  <c:v>-7.1845008721879822</c:v>
                </c:pt>
                <c:pt idx="67">
                  <c:v>0.53532965589999648</c:v>
                </c:pt>
                <c:pt idx="68">
                  <c:v>-4.3081076381650263</c:v>
                </c:pt>
                <c:pt idx="69">
                  <c:v>-4.7809568240909428</c:v>
                </c:pt>
                <c:pt idx="70">
                  <c:v>-5.707377220848997</c:v>
                </c:pt>
                <c:pt idx="71">
                  <c:v>-5.7116284001199169</c:v>
                </c:pt>
                <c:pt idx="72">
                  <c:v>-9.1304794048300053</c:v>
                </c:pt>
                <c:pt idx="73">
                  <c:v>-7.2601712339780633</c:v>
                </c:pt>
                <c:pt idx="74">
                  <c:v>-0.38331974956999915</c:v>
                </c:pt>
                <c:pt idx="75">
                  <c:v>-11.619695971341049</c:v>
                </c:pt>
                <c:pt idx="76">
                  <c:v>-14.169789919533038</c:v>
                </c:pt>
                <c:pt idx="77">
                  <c:v>-8.9475996205020003</c:v>
                </c:pt>
                <c:pt idx="78">
                  <c:v>-8.9621029618989212</c:v>
                </c:pt>
                <c:pt idx="79">
                  <c:v>-15.363618902200038</c:v>
                </c:pt>
                <c:pt idx="80">
                  <c:v>-7.2877185558079649</c:v>
                </c:pt>
                <c:pt idx="81">
                  <c:v>-3.7638844613600231</c:v>
                </c:pt>
                <c:pt idx="82">
                  <c:v>-5.9953505675820029</c:v>
                </c:pt>
                <c:pt idx="83">
                  <c:v>-9.235885836339941</c:v>
                </c:pt>
                <c:pt idx="84">
                  <c:v>-5.5343245628310278</c:v>
                </c:pt>
                <c:pt idx="85">
                  <c:v>-18.593606363739035</c:v>
                </c:pt>
                <c:pt idx="86">
                  <c:v>-10.305755201872024</c:v>
                </c:pt>
                <c:pt idx="87">
                  <c:v>-10.070879546685951</c:v>
                </c:pt>
                <c:pt idx="88">
                  <c:v>-13.529088637247</c:v>
                </c:pt>
                <c:pt idx="89">
                  <c:v>-5.0505814093889434</c:v>
                </c:pt>
                <c:pt idx="90">
                  <c:v>5.4274899243660357</c:v>
                </c:pt>
                <c:pt idx="91">
                  <c:v>8.0371836848719624</c:v>
                </c:pt>
                <c:pt idx="92">
                  <c:v>10.02608740096198</c:v>
                </c:pt>
                <c:pt idx="93">
                  <c:v>4.9550986970980038</c:v>
                </c:pt>
                <c:pt idx="94">
                  <c:v>-0.86777584510602246</c:v>
                </c:pt>
                <c:pt idx="95">
                  <c:v>-3.4567853539660298</c:v>
                </c:pt>
                <c:pt idx="96">
                  <c:v>-3.0323035143380306</c:v>
                </c:pt>
                <c:pt idx="97">
                  <c:v>-2.7007820310829711</c:v>
                </c:pt>
                <c:pt idx="98">
                  <c:v>-1.3021747860709976</c:v>
                </c:pt>
                <c:pt idx="99">
                  <c:v>-5.5000114836680325</c:v>
                </c:pt>
                <c:pt idx="100">
                  <c:v>-5.2301406747489843</c:v>
                </c:pt>
                <c:pt idx="101">
                  <c:v>-3.126017444654039</c:v>
                </c:pt>
                <c:pt idx="102">
                  <c:v>-9.6286580218170048</c:v>
                </c:pt>
                <c:pt idx="103">
                  <c:v>-13.271326427429031</c:v>
                </c:pt>
              </c:numCache>
            </c:numRef>
          </c:val>
          <c:smooth val="0"/>
        </c:ser>
        <c:dLbls>
          <c:showLegendKey val="0"/>
          <c:showVal val="0"/>
          <c:showCatName val="0"/>
          <c:showSerName val="0"/>
          <c:showPercent val="0"/>
          <c:showBubbleSize val="0"/>
        </c:dLbls>
        <c:marker val="1"/>
        <c:smooth val="0"/>
        <c:axId val="146332672"/>
        <c:axId val="146334464"/>
      </c:lineChart>
      <c:lineChart>
        <c:grouping val="standard"/>
        <c:varyColors val="0"/>
        <c:ser>
          <c:idx val="0"/>
          <c:order val="1"/>
          <c:tx>
            <c:strRef>
              <c:f>'WAC Differences'!$O$2</c:f>
              <c:strCache>
                <c:ptCount val="1"/>
                <c:pt idx="0">
                  <c:v>Mkt Share</c:v>
                </c:pt>
              </c:strCache>
            </c:strRef>
          </c:tx>
          <c:spPr>
            <a:ln>
              <a:solidFill>
                <a:srgbClr val="C00000"/>
              </a:solidFill>
              <a:prstDash val="solid"/>
            </a:ln>
          </c:spPr>
          <c:marker>
            <c:symbol val="none"/>
          </c:marker>
          <c:cat>
            <c:numRef>
              <c:f>'WAC Differences'!$K$3:$K$106</c:f>
              <c:numCache>
                <c:formatCode>m/d/yyyy</c:formatCode>
                <c:ptCount val="104"/>
                <c:pt idx="0">
                  <c:v>39569</c:v>
                </c:pt>
                <c:pt idx="1">
                  <c:v>39600</c:v>
                </c:pt>
                <c:pt idx="2">
                  <c:v>39630</c:v>
                </c:pt>
                <c:pt idx="3">
                  <c:v>39661</c:v>
                </c:pt>
                <c:pt idx="4">
                  <c:v>39692</c:v>
                </c:pt>
                <c:pt idx="5">
                  <c:v>39722</c:v>
                </c:pt>
                <c:pt idx="6">
                  <c:v>39783</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pt idx="90">
                  <c:v>42370</c:v>
                </c:pt>
                <c:pt idx="91">
                  <c:v>42401</c:v>
                </c:pt>
                <c:pt idx="92">
                  <c:v>42430</c:v>
                </c:pt>
                <c:pt idx="93">
                  <c:v>42461</c:v>
                </c:pt>
                <c:pt idx="94">
                  <c:v>42491</c:v>
                </c:pt>
                <c:pt idx="95">
                  <c:v>42522</c:v>
                </c:pt>
                <c:pt idx="96">
                  <c:v>42552</c:v>
                </c:pt>
                <c:pt idx="97">
                  <c:v>42583</c:v>
                </c:pt>
                <c:pt idx="98">
                  <c:v>42614</c:v>
                </c:pt>
                <c:pt idx="99">
                  <c:v>42644</c:v>
                </c:pt>
                <c:pt idx="100">
                  <c:v>42675</c:v>
                </c:pt>
                <c:pt idx="101">
                  <c:v>42705</c:v>
                </c:pt>
                <c:pt idx="102">
                  <c:v>42736</c:v>
                </c:pt>
                <c:pt idx="103">
                  <c:v>42767</c:v>
                </c:pt>
              </c:numCache>
            </c:numRef>
          </c:cat>
          <c:val>
            <c:numRef>
              <c:f>'WAC Differences'!$O$3:$O$106</c:f>
              <c:numCache>
                <c:formatCode>0.00%</c:formatCode>
                <c:ptCount val="104"/>
                <c:pt idx="0">
                  <c:v>2.9165871398595167E-4</c:v>
                </c:pt>
                <c:pt idx="1">
                  <c:v>1.0583837708653275E-2</c:v>
                </c:pt>
                <c:pt idx="2">
                  <c:v>6.4944641105330547E-2</c:v>
                </c:pt>
                <c:pt idx="3">
                  <c:v>9.2590993222294665E-2</c:v>
                </c:pt>
                <c:pt idx="4">
                  <c:v>8.3133750535719697E-2</c:v>
                </c:pt>
                <c:pt idx="5">
                  <c:v>6.1816447022908318E-2</c:v>
                </c:pt>
                <c:pt idx="6">
                  <c:v>3.5490679374334898E-4</c:v>
                </c:pt>
                <c:pt idx="7">
                  <c:v>1.5250839249050558E-2</c:v>
                </c:pt>
                <c:pt idx="8">
                  <c:v>8.139954075242194E-3</c:v>
                </c:pt>
                <c:pt idx="9">
                  <c:v>1.0957839710351944E-2</c:v>
                </c:pt>
                <c:pt idx="10">
                  <c:v>6.5335356111700729E-2</c:v>
                </c:pt>
                <c:pt idx="11">
                  <c:v>2.4668686175981558E-2</c:v>
                </c:pt>
                <c:pt idx="12">
                  <c:v>2.5640931383379272E-2</c:v>
                </c:pt>
                <c:pt idx="13">
                  <c:v>5.0619804086324681E-2</c:v>
                </c:pt>
                <c:pt idx="14">
                  <c:v>8.6720315539991488E-2</c:v>
                </c:pt>
                <c:pt idx="15">
                  <c:v>0.19388769396695821</c:v>
                </c:pt>
                <c:pt idx="16">
                  <c:v>0.12281276126308358</c:v>
                </c:pt>
                <c:pt idx="17">
                  <c:v>8.9618259017496912E-2</c:v>
                </c:pt>
                <c:pt idx="18">
                  <c:v>0.10271581239762505</c:v>
                </c:pt>
                <c:pt idx="19">
                  <c:v>9.7957271276644484E-2</c:v>
                </c:pt>
                <c:pt idx="20">
                  <c:v>0.12330188931480089</c:v>
                </c:pt>
                <c:pt idx="21">
                  <c:v>8.0616790293127405E-2</c:v>
                </c:pt>
                <c:pt idx="22">
                  <c:v>8.4148722824238742E-2</c:v>
                </c:pt>
                <c:pt idx="23">
                  <c:v>6.4072806140162031E-2</c:v>
                </c:pt>
                <c:pt idx="24">
                  <c:v>0.13968968264700857</c:v>
                </c:pt>
                <c:pt idx="25">
                  <c:v>0.12714417739454253</c:v>
                </c:pt>
                <c:pt idx="26">
                  <c:v>0.11188284220550029</c:v>
                </c:pt>
                <c:pt idx="27">
                  <c:v>0.10726848859242477</c:v>
                </c:pt>
                <c:pt idx="28">
                  <c:v>0.11528515040528932</c:v>
                </c:pt>
                <c:pt idx="29">
                  <c:v>0.11547432300014933</c:v>
                </c:pt>
                <c:pt idx="30">
                  <c:v>0.12575351130932561</c:v>
                </c:pt>
                <c:pt idx="31">
                  <c:v>9.9747275006174391E-2</c:v>
                </c:pt>
                <c:pt idx="32">
                  <c:v>7.1708042263663854E-2</c:v>
                </c:pt>
                <c:pt idx="33">
                  <c:v>7.5750445158143109E-2</c:v>
                </c:pt>
                <c:pt idx="34">
                  <c:v>6.7986387631479739E-2</c:v>
                </c:pt>
                <c:pt idx="35">
                  <c:v>7.3976690219158731E-2</c:v>
                </c:pt>
                <c:pt idx="36">
                  <c:v>0.11598394825001339</c:v>
                </c:pt>
                <c:pt idx="37">
                  <c:v>0.1103454584128272</c:v>
                </c:pt>
                <c:pt idx="38">
                  <c:v>0.11974209374914661</c:v>
                </c:pt>
                <c:pt idx="39">
                  <c:v>0.19177279735194777</c:v>
                </c:pt>
                <c:pt idx="40">
                  <c:v>0.14820120215482879</c:v>
                </c:pt>
                <c:pt idx="41">
                  <c:v>4.7502048406932021E-2</c:v>
                </c:pt>
                <c:pt idx="42">
                  <c:v>4.6978842036904625E-2</c:v>
                </c:pt>
                <c:pt idx="43">
                  <c:v>4.5112761341461208E-2</c:v>
                </c:pt>
                <c:pt idx="44">
                  <c:v>4.9814105840484242E-2</c:v>
                </c:pt>
                <c:pt idx="45">
                  <c:v>3.11783018031998E-2</c:v>
                </c:pt>
                <c:pt idx="46">
                  <c:v>3.8173350457004866E-2</c:v>
                </c:pt>
                <c:pt idx="47">
                  <c:v>5.8878731880906053E-2</c:v>
                </c:pt>
                <c:pt idx="48">
                  <c:v>6.7486381490393876E-2</c:v>
                </c:pt>
                <c:pt idx="49">
                  <c:v>7.0083696565919618E-2</c:v>
                </c:pt>
                <c:pt idx="50">
                  <c:v>6.057320211684613E-2</c:v>
                </c:pt>
                <c:pt idx="51">
                  <c:v>6.2290784501129584E-2</c:v>
                </c:pt>
                <c:pt idx="52">
                  <c:v>5.8328897495237605E-2</c:v>
                </c:pt>
                <c:pt idx="53">
                  <c:v>3.2757091383272104E-2</c:v>
                </c:pt>
                <c:pt idx="54">
                  <c:v>6.558295534343514E-2</c:v>
                </c:pt>
                <c:pt idx="55">
                  <c:v>3.9851926171040795E-2</c:v>
                </c:pt>
                <c:pt idx="56">
                  <c:v>5.6369696008458016E-2</c:v>
                </c:pt>
                <c:pt idx="57">
                  <c:v>5.3573421455493431E-2</c:v>
                </c:pt>
                <c:pt idx="58">
                  <c:v>4.4413837811272519E-2</c:v>
                </c:pt>
                <c:pt idx="59">
                  <c:v>5.9075810216759131E-2</c:v>
                </c:pt>
                <c:pt idx="60">
                  <c:v>4.1505470991041966E-2</c:v>
                </c:pt>
                <c:pt idx="61">
                  <c:v>3.9097590282544954E-2</c:v>
                </c:pt>
                <c:pt idx="62">
                  <c:v>2.8184905638979525E-2</c:v>
                </c:pt>
                <c:pt idx="63">
                  <c:v>2.7027325398194746E-2</c:v>
                </c:pt>
                <c:pt idx="64">
                  <c:v>2.9951467012610311E-2</c:v>
                </c:pt>
                <c:pt idx="65">
                  <c:v>2.8139244206623254E-2</c:v>
                </c:pt>
                <c:pt idx="66">
                  <c:v>2.2170581957836197E-2</c:v>
                </c:pt>
                <c:pt idx="67">
                  <c:v>2.0310582416310088E-2</c:v>
                </c:pt>
                <c:pt idx="68">
                  <c:v>1.4979353778191594E-2</c:v>
                </c:pt>
                <c:pt idx="69">
                  <c:v>1.5303886589454318E-2</c:v>
                </c:pt>
                <c:pt idx="70">
                  <c:v>1.8572409158052878E-2</c:v>
                </c:pt>
                <c:pt idx="71">
                  <c:v>1.4926694347252236E-2</c:v>
                </c:pt>
                <c:pt idx="72">
                  <c:v>2.2695480917624123E-2</c:v>
                </c:pt>
                <c:pt idx="73">
                  <c:v>1.9106390175511863E-2</c:v>
                </c:pt>
                <c:pt idx="74">
                  <c:v>2.7283775412606494E-2</c:v>
                </c:pt>
                <c:pt idx="75">
                  <c:v>1.9456325502446078E-2</c:v>
                </c:pt>
                <c:pt idx="76">
                  <c:v>2.5615777783813829E-2</c:v>
                </c:pt>
                <c:pt idx="77">
                  <c:v>2.5004838925815627E-2</c:v>
                </c:pt>
                <c:pt idx="78">
                  <c:v>2.6127057963396365E-2</c:v>
                </c:pt>
                <c:pt idx="79">
                  <c:v>3.3560735280295476E-2</c:v>
                </c:pt>
                <c:pt idx="80">
                  <c:v>3.2710942586512019E-2</c:v>
                </c:pt>
                <c:pt idx="81">
                  <c:v>3.2920895192787715E-2</c:v>
                </c:pt>
                <c:pt idx="82">
                  <c:v>2.5247300078463802E-2</c:v>
                </c:pt>
                <c:pt idx="83">
                  <c:v>5.2812628619025921E-2</c:v>
                </c:pt>
                <c:pt idx="84">
                  <c:v>2.5687590443477702E-2</c:v>
                </c:pt>
                <c:pt idx="85">
                  <c:v>3.2841933586379102E-2</c:v>
                </c:pt>
                <c:pt idx="86">
                  <c:v>1.9307365695388944E-2</c:v>
                </c:pt>
                <c:pt idx="87">
                  <c:v>2.0052139326341676E-2</c:v>
                </c:pt>
                <c:pt idx="88">
                  <c:v>3.2346047248457382E-2</c:v>
                </c:pt>
                <c:pt idx="89">
                  <c:v>5.4609199851666877E-3</c:v>
                </c:pt>
                <c:pt idx="90">
                  <c:v>3.6166222950100219E-2</c:v>
                </c:pt>
                <c:pt idx="91">
                  <c:v>2.9879715312274159E-2</c:v>
                </c:pt>
                <c:pt idx="92">
                  <c:v>2.8054959222843373E-2</c:v>
                </c:pt>
                <c:pt idx="93">
                  <c:v>3.9071466537769203E-2</c:v>
                </c:pt>
                <c:pt idx="94">
                  <c:v>4.86564629552447E-2</c:v>
                </c:pt>
                <c:pt idx="95">
                  <c:v>4.5060999564825989E-2</c:v>
                </c:pt>
                <c:pt idx="96">
                  <c:v>5.3690258328814029E-2</c:v>
                </c:pt>
                <c:pt idx="97">
                  <c:v>5.6537000613702072E-2</c:v>
                </c:pt>
                <c:pt idx="98">
                  <c:v>6.8472592464361534E-2</c:v>
                </c:pt>
                <c:pt idx="99">
                  <c:v>6.4422463807427832E-2</c:v>
                </c:pt>
                <c:pt idx="100">
                  <c:v>5.6949735452347994E-2</c:v>
                </c:pt>
                <c:pt idx="101">
                  <c:v>5.7496536448585635E-2</c:v>
                </c:pt>
                <c:pt idx="102">
                  <c:v>4.5953471539316469E-2</c:v>
                </c:pt>
                <c:pt idx="103">
                  <c:v>3.2497818729571241E-2</c:v>
                </c:pt>
              </c:numCache>
            </c:numRef>
          </c:val>
          <c:smooth val="0"/>
        </c:ser>
        <c:dLbls>
          <c:showLegendKey val="0"/>
          <c:showVal val="0"/>
          <c:showCatName val="0"/>
          <c:showSerName val="0"/>
          <c:showPercent val="0"/>
          <c:showBubbleSize val="0"/>
        </c:dLbls>
        <c:marker val="1"/>
        <c:smooth val="0"/>
        <c:axId val="146338560"/>
        <c:axId val="146336384"/>
      </c:lineChart>
      <c:dateAx>
        <c:axId val="146332672"/>
        <c:scaling>
          <c:orientation val="minMax"/>
        </c:scaling>
        <c:delete val="0"/>
        <c:axPos val="b"/>
        <c:numFmt formatCode="m/d/yyyy" sourceLinked="1"/>
        <c:majorTickMark val="out"/>
        <c:minorTickMark val="none"/>
        <c:tickLblPos val="low"/>
        <c:crossAx val="146334464"/>
        <c:crosses val="autoZero"/>
        <c:auto val="1"/>
        <c:lblOffset val="100"/>
        <c:baseTimeUnit val="months"/>
        <c:majorUnit val="6"/>
        <c:majorTimeUnit val="months"/>
      </c:dateAx>
      <c:valAx>
        <c:axId val="146334464"/>
        <c:scaling>
          <c:orientation val="minMax"/>
          <c:max val="100"/>
          <c:min val="-20"/>
        </c:scaling>
        <c:delete val="0"/>
        <c:axPos val="l"/>
        <c:title>
          <c:tx>
            <c:rich>
              <a:bodyPr rot="-5400000" vert="horz"/>
              <a:lstStyle/>
              <a:p>
                <a:pPr>
                  <a:defRPr/>
                </a:pPr>
                <a:r>
                  <a:rPr lang="en-US"/>
                  <a:t>CK - CL WAC (bps)</a:t>
                </a:r>
              </a:p>
            </c:rich>
          </c:tx>
          <c:layout/>
          <c:overlay val="0"/>
        </c:title>
        <c:numFmt formatCode="General" sourceLinked="1"/>
        <c:majorTickMark val="out"/>
        <c:minorTickMark val="none"/>
        <c:tickLblPos val="nextTo"/>
        <c:crossAx val="146332672"/>
        <c:crosses val="autoZero"/>
        <c:crossBetween val="between"/>
      </c:valAx>
      <c:valAx>
        <c:axId val="146336384"/>
        <c:scaling>
          <c:orientation val="minMax"/>
          <c:max val="0.2"/>
        </c:scaling>
        <c:delete val="0"/>
        <c:axPos val="r"/>
        <c:title>
          <c:tx>
            <c:rich>
              <a:bodyPr rot="-5400000" vert="horz"/>
              <a:lstStyle/>
              <a:p>
                <a:pPr>
                  <a:defRPr/>
                </a:pPr>
                <a:r>
                  <a:rPr lang="en-US"/>
                  <a:t>CK Market Share (%)</a:t>
                </a:r>
              </a:p>
            </c:rich>
          </c:tx>
          <c:layout/>
          <c:overlay val="0"/>
        </c:title>
        <c:numFmt formatCode="0%" sourceLinked="0"/>
        <c:majorTickMark val="out"/>
        <c:minorTickMark val="none"/>
        <c:tickLblPos val="nextTo"/>
        <c:crossAx val="146338560"/>
        <c:crosses val="max"/>
        <c:crossBetween val="between"/>
      </c:valAx>
      <c:dateAx>
        <c:axId val="146338560"/>
        <c:scaling>
          <c:orientation val="minMax"/>
        </c:scaling>
        <c:delete val="1"/>
        <c:axPos val="b"/>
        <c:numFmt formatCode="m/d/yyyy" sourceLinked="1"/>
        <c:majorTickMark val="out"/>
        <c:minorTickMark val="none"/>
        <c:tickLblPos val="nextTo"/>
        <c:crossAx val="146336384"/>
        <c:crosses val="autoZero"/>
        <c:auto val="1"/>
        <c:lblOffset val="100"/>
        <c:baseTimeUnit val="months"/>
        <c:majorUnit val="1"/>
        <c:minorUnit val="1"/>
      </c:dateAx>
      <c:spPr>
        <a:ln>
          <a:noFill/>
        </a:ln>
      </c:spPr>
    </c:plotArea>
    <c:legend>
      <c:legendPos val="b"/>
      <c:layout/>
      <c:overlay val="0"/>
    </c:legend>
    <c:plotVisOnly val="1"/>
    <c:dispBlanksAs val="gap"/>
    <c:showDLblsOverMax val="0"/>
  </c:chart>
  <c:spPr>
    <a:ln>
      <a:noFill/>
    </a:ln>
  </c:spPr>
  <c:txPr>
    <a:bodyPr/>
    <a:lstStyle/>
    <a:p>
      <a:pPr>
        <a:defRPr sz="9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Conventional LLPA</c:v>
                </c:pt>
              </c:strCache>
            </c:strRef>
          </c:tx>
          <c:marker>
            <c:symbol val="none"/>
          </c:marker>
          <c:cat>
            <c:numRef>
              <c:f>Sheet1!$A$2:$A$103</c:f>
              <c:numCache>
                <c:formatCode>m/d/yyyy</c:formatCode>
                <c:ptCount val="102"/>
                <c:pt idx="0">
                  <c:v>39692</c:v>
                </c:pt>
                <c:pt idx="1">
                  <c:v>39722</c:v>
                </c:pt>
                <c:pt idx="2">
                  <c:v>39753</c:v>
                </c:pt>
                <c:pt idx="3">
                  <c:v>39783</c:v>
                </c:pt>
                <c:pt idx="4">
                  <c:v>39814</c:v>
                </c:pt>
                <c:pt idx="5">
                  <c:v>39845</c:v>
                </c:pt>
                <c:pt idx="6">
                  <c:v>39873</c:v>
                </c:pt>
                <c:pt idx="7">
                  <c:v>39904</c:v>
                </c:pt>
                <c:pt idx="8">
                  <c:v>39934</c:v>
                </c:pt>
                <c:pt idx="9">
                  <c:v>39965</c:v>
                </c:pt>
                <c:pt idx="10">
                  <c:v>39995</c:v>
                </c:pt>
                <c:pt idx="11">
                  <c:v>40026</c:v>
                </c:pt>
                <c:pt idx="12">
                  <c:v>40057</c:v>
                </c:pt>
                <c:pt idx="13">
                  <c:v>40087</c:v>
                </c:pt>
                <c:pt idx="14">
                  <c:v>40118</c:v>
                </c:pt>
                <c:pt idx="15">
                  <c:v>40148</c:v>
                </c:pt>
                <c:pt idx="16">
                  <c:v>40179</c:v>
                </c:pt>
                <c:pt idx="17">
                  <c:v>40210</c:v>
                </c:pt>
                <c:pt idx="18">
                  <c:v>40238</c:v>
                </c:pt>
                <c:pt idx="19">
                  <c:v>40269</c:v>
                </c:pt>
                <c:pt idx="20">
                  <c:v>40299</c:v>
                </c:pt>
                <c:pt idx="21">
                  <c:v>40330</c:v>
                </c:pt>
                <c:pt idx="22">
                  <c:v>40360</c:v>
                </c:pt>
                <c:pt idx="23">
                  <c:v>40391</c:v>
                </c:pt>
                <c:pt idx="24">
                  <c:v>40422</c:v>
                </c:pt>
                <c:pt idx="25">
                  <c:v>40452</c:v>
                </c:pt>
                <c:pt idx="26">
                  <c:v>40483</c:v>
                </c:pt>
                <c:pt idx="27">
                  <c:v>40513</c:v>
                </c:pt>
                <c:pt idx="28">
                  <c:v>40544</c:v>
                </c:pt>
                <c:pt idx="29">
                  <c:v>40575</c:v>
                </c:pt>
                <c:pt idx="30">
                  <c:v>40603</c:v>
                </c:pt>
                <c:pt idx="31">
                  <c:v>40634</c:v>
                </c:pt>
                <c:pt idx="32">
                  <c:v>40664</c:v>
                </c:pt>
                <c:pt idx="33">
                  <c:v>40695</c:v>
                </c:pt>
                <c:pt idx="34">
                  <c:v>40725</c:v>
                </c:pt>
                <c:pt idx="35">
                  <c:v>40756</c:v>
                </c:pt>
                <c:pt idx="36">
                  <c:v>40787</c:v>
                </c:pt>
                <c:pt idx="37">
                  <c:v>40817</c:v>
                </c:pt>
                <c:pt idx="38">
                  <c:v>40848</c:v>
                </c:pt>
                <c:pt idx="39">
                  <c:v>40878</c:v>
                </c:pt>
                <c:pt idx="40">
                  <c:v>40909</c:v>
                </c:pt>
                <c:pt idx="41">
                  <c:v>40940</c:v>
                </c:pt>
                <c:pt idx="42">
                  <c:v>40969</c:v>
                </c:pt>
                <c:pt idx="43">
                  <c:v>41000</c:v>
                </c:pt>
                <c:pt idx="44">
                  <c:v>41030</c:v>
                </c:pt>
                <c:pt idx="45">
                  <c:v>41061</c:v>
                </c:pt>
                <c:pt idx="46">
                  <c:v>41091</c:v>
                </c:pt>
                <c:pt idx="47">
                  <c:v>41122</c:v>
                </c:pt>
                <c:pt idx="48">
                  <c:v>41153</c:v>
                </c:pt>
                <c:pt idx="49">
                  <c:v>41183</c:v>
                </c:pt>
                <c:pt idx="50">
                  <c:v>41214</c:v>
                </c:pt>
                <c:pt idx="51">
                  <c:v>41244</c:v>
                </c:pt>
                <c:pt idx="52">
                  <c:v>41275</c:v>
                </c:pt>
                <c:pt idx="53">
                  <c:v>41306</c:v>
                </c:pt>
                <c:pt idx="54">
                  <c:v>41334</c:v>
                </c:pt>
                <c:pt idx="55">
                  <c:v>41365</c:v>
                </c:pt>
                <c:pt idx="56">
                  <c:v>41395</c:v>
                </c:pt>
                <c:pt idx="57">
                  <c:v>41426</c:v>
                </c:pt>
                <c:pt idx="58">
                  <c:v>41456</c:v>
                </c:pt>
                <c:pt idx="59">
                  <c:v>41487</c:v>
                </c:pt>
                <c:pt idx="60">
                  <c:v>41518</c:v>
                </c:pt>
                <c:pt idx="61">
                  <c:v>41548</c:v>
                </c:pt>
                <c:pt idx="62">
                  <c:v>41579</c:v>
                </c:pt>
                <c:pt idx="63">
                  <c:v>41609</c:v>
                </c:pt>
                <c:pt idx="64">
                  <c:v>41640</c:v>
                </c:pt>
                <c:pt idx="65">
                  <c:v>41671</c:v>
                </c:pt>
                <c:pt idx="66">
                  <c:v>41699</c:v>
                </c:pt>
                <c:pt idx="67">
                  <c:v>41730</c:v>
                </c:pt>
                <c:pt idx="68">
                  <c:v>41760</c:v>
                </c:pt>
                <c:pt idx="69">
                  <c:v>41791</c:v>
                </c:pt>
                <c:pt idx="70">
                  <c:v>41821</c:v>
                </c:pt>
                <c:pt idx="71">
                  <c:v>41852</c:v>
                </c:pt>
                <c:pt idx="72">
                  <c:v>41883</c:v>
                </c:pt>
                <c:pt idx="73">
                  <c:v>41913</c:v>
                </c:pt>
                <c:pt idx="74">
                  <c:v>41944</c:v>
                </c:pt>
                <c:pt idx="75">
                  <c:v>41974</c:v>
                </c:pt>
                <c:pt idx="76">
                  <c:v>42005</c:v>
                </c:pt>
                <c:pt idx="77">
                  <c:v>42036</c:v>
                </c:pt>
                <c:pt idx="78">
                  <c:v>42064</c:v>
                </c:pt>
                <c:pt idx="79">
                  <c:v>42095</c:v>
                </c:pt>
                <c:pt idx="80">
                  <c:v>42125</c:v>
                </c:pt>
                <c:pt idx="81">
                  <c:v>42156</c:v>
                </c:pt>
                <c:pt idx="82">
                  <c:v>42186</c:v>
                </c:pt>
                <c:pt idx="83">
                  <c:v>42217</c:v>
                </c:pt>
                <c:pt idx="84">
                  <c:v>42248</c:v>
                </c:pt>
                <c:pt idx="85">
                  <c:v>42278</c:v>
                </c:pt>
                <c:pt idx="86">
                  <c:v>42309</c:v>
                </c:pt>
                <c:pt idx="87">
                  <c:v>42339</c:v>
                </c:pt>
                <c:pt idx="88">
                  <c:v>42370</c:v>
                </c:pt>
                <c:pt idx="89">
                  <c:v>42401</c:v>
                </c:pt>
                <c:pt idx="90">
                  <c:v>42430</c:v>
                </c:pt>
                <c:pt idx="91">
                  <c:v>42461</c:v>
                </c:pt>
                <c:pt idx="92">
                  <c:v>42491</c:v>
                </c:pt>
                <c:pt idx="93">
                  <c:v>42522</c:v>
                </c:pt>
                <c:pt idx="94">
                  <c:v>42552</c:v>
                </c:pt>
                <c:pt idx="95">
                  <c:v>42583</c:v>
                </c:pt>
                <c:pt idx="96">
                  <c:v>42614</c:v>
                </c:pt>
                <c:pt idx="97">
                  <c:v>42644</c:v>
                </c:pt>
                <c:pt idx="98">
                  <c:v>42675</c:v>
                </c:pt>
                <c:pt idx="99">
                  <c:v>42705</c:v>
                </c:pt>
                <c:pt idx="100">
                  <c:v>42736</c:v>
                </c:pt>
                <c:pt idx="101">
                  <c:v>42767</c:v>
                </c:pt>
              </c:numCache>
            </c:numRef>
          </c:cat>
          <c:val>
            <c:numRef>
              <c:f>Sheet1!$B$2:$B$103</c:f>
              <c:numCache>
                <c:formatCode>General</c:formatCode>
                <c:ptCount val="102"/>
                <c:pt idx="0">
                  <c:v>51.928081312248402</c:v>
                </c:pt>
                <c:pt idx="1">
                  <c:v>46.116907747560802</c:v>
                </c:pt>
                <c:pt idx="2">
                  <c:v>48.842741102824398</c:v>
                </c:pt>
                <c:pt idx="3">
                  <c:v>38.374151469448698</c:v>
                </c:pt>
                <c:pt idx="4">
                  <c:v>50.073020446096002</c:v>
                </c:pt>
                <c:pt idx="5">
                  <c:v>37.122185410092101</c:v>
                </c:pt>
                <c:pt idx="6">
                  <c:v>30.294851676535799</c:v>
                </c:pt>
                <c:pt idx="7">
                  <c:v>25.6559595633457</c:v>
                </c:pt>
                <c:pt idx="8">
                  <c:v>27.919953277596001</c:v>
                </c:pt>
                <c:pt idx="9">
                  <c:v>25.5550546293439</c:v>
                </c:pt>
                <c:pt idx="10">
                  <c:v>25.0141148750551</c:v>
                </c:pt>
                <c:pt idx="11">
                  <c:v>30.395026593245401</c:v>
                </c:pt>
                <c:pt idx="12">
                  <c:v>33.172333109813103</c:v>
                </c:pt>
                <c:pt idx="13">
                  <c:v>36.306257775619599</c:v>
                </c:pt>
                <c:pt idx="14">
                  <c:v>36.650243024939599</c:v>
                </c:pt>
                <c:pt idx="15">
                  <c:v>35.850222745023501</c:v>
                </c:pt>
                <c:pt idx="16">
                  <c:v>34.294768843444601</c:v>
                </c:pt>
                <c:pt idx="17">
                  <c:v>32.756961525333601</c:v>
                </c:pt>
                <c:pt idx="18">
                  <c:v>34.084626321570198</c:v>
                </c:pt>
                <c:pt idx="19">
                  <c:v>34.768078992296097</c:v>
                </c:pt>
                <c:pt idx="20">
                  <c:v>39.032179542909702</c:v>
                </c:pt>
                <c:pt idx="21">
                  <c:v>39.805593469925</c:v>
                </c:pt>
                <c:pt idx="22">
                  <c:v>41.396064008154099</c:v>
                </c:pt>
                <c:pt idx="23">
                  <c:v>42.233763090422897</c:v>
                </c:pt>
                <c:pt idx="24">
                  <c:v>40.869632854240898</c:v>
                </c:pt>
                <c:pt idx="25">
                  <c:v>37.162725027719198</c:v>
                </c:pt>
                <c:pt idx="26">
                  <c:v>35.523464520407899</c:v>
                </c:pt>
                <c:pt idx="27">
                  <c:v>34.1345621710853</c:v>
                </c:pt>
                <c:pt idx="28">
                  <c:v>34.561646352962399</c:v>
                </c:pt>
                <c:pt idx="29">
                  <c:v>39.566268574880802</c:v>
                </c:pt>
                <c:pt idx="30">
                  <c:v>39.519279057256703</c:v>
                </c:pt>
                <c:pt idx="31">
                  <c:v>37.033235485501997</c:v>
                </c:pt>
                <c:pt idx="32">
                  <c:v>42.887025447851997</c:v>
                </c:pt>
                <c:pt idx="33">
                  <c:v>44.941903343089002</c:v>
                </c:pt>
                <c:pt idx="34">
                  <c:v>47.140564031851099</c:v>
                </c:pt>
                <c:pt idx="35">
                  <c:v>46.329755273741597</c:v>
                </c:pt>
                <c:pt idx="36">
                  <c:v>44.525369352235202</c:v>
                </c:pt>
                <c:pt idx="37">
                  <c:v>45.906535040090297</c:v>
                </c:pt>
                <c:pt idx="38">
                  <c:v>37.143625572959202</c:v>
                </c:pt>
                <c:pt idx="39">
                  <c:v>32.112361258106901</c:v>
                </c:pt>
                <c:pt idx="40">
                  <c:v>32.788992706162098</c:v>
                </c:pt>
                <c:pt idx="41">
                  <c:v>34.044282629330603</c:v>
                </c:pt>
                <c:pt idx="42">
                  <c:v>32.2765320774161</c:v>
                </c:pt>
                <c:pt idx="43">
                  <c:v>31.010528167120199</c:v>
                </c:pt>
                <c:pt idx="44">
                  <c:v>32.342908239790802</c:v>
                </c:pt>
                <c:pt idx="45">
                  <c:v>36.200332631895797</c:v>
                </c:pt>
                <c:pt idx="46">
                  <c:v>35.506044002732096</c:v>
                </c:pt>
                <c:pt idx="47">
                  <c:v>36.989739366336003</c:v>
                </c:pt>
                <c:pt idx="48">
                  <c:v>36.856767045946498</c:v>
                </c:pt>
                <c:pt idx="49">
                  <c:v>38.5667203756486</c:v>
                </c:pt>
                <c:pt idx="50">
                  <c:v>37.936835538307797</c:v>
                </c:pt>
                <c:pt idx="51">
                  <c:v>38.794284941945399</c:v>
                </c:pt>
                <c:pt idx="52">
                  <c:v>38.209413659184101</c:v>
                </c:pt>
                <c:pt idx="53">
                  <c:v>39.774209538127899</c:v>
                </c:pt>
                <c:pt idx="54">
                  <c:v>39.786510231589702</c:v>
                </c:pt>
                <c:pt idx="55">
                  <c:v>38.076478019883098</c:v>
                </c:pt>
                <c:pt idx="56">
                  <c:v>45.243365864516498</c:v>
                </c:pt>
                <c:pt idx="57">
                  <c:v>48.169121398349702</c:v>
                </c:pt>
                <c:pt idx="58">
                  <c:v>45.996646106359599</c:v>
                </c:pt>
                <c:pt idx="59">
                  <c:v>44.049734623593203</c:v>
                </c:pt>
                <c:pt idx="60">
                  <c:v>46.703291614638403</c:v>
                </c:pt>
                <c:pt idx="61">
                  <c:v>49.153401632084801</c:v>
                </c:pt>
                <c:pt idx="62">
                  <c:v>52.482940267309502</c:v>
                </c:pt>
                <c:pt idx="63">
                  <c:v>58.366224749597997</c:v>
                </c:pt>
                <c:pt idx="64">
                  <c:v>46.868787679127102</c:v>
                </c:pt>
                <c:pt idx="65">
                  <c:v>49.124722835454698</c:v>
                </c:pt>
                <c:pt idx="66">
                  <c:v>50.842404452862198</c:v>
                </c:pt>
                <c:pt idx="67">
                  <c:v>51.050153348573403</c:v>
                </c:pt>
                <c:pt idx="68">
                  <c:v>50.283362429238302</c:v>
                </c:pt>
                <c:pt idx="69">
                  <c:v>50.213272902860801</c:v>
                </c:pt>
                <c:pt idx="70">
                  <c:v>50.2726770777399</c:v>
                </c:pt>
                <c:pt idx="71">
                  <c:v>49.6116171180146</c:v>
                </c:pt>
                <c:pt idx="72">
                  <c:v>49.928013617931498</c:v>
                </c:pt>
                <c:pt idx="73">
                  <c:v>52.549990670815198</c:v>
                </c:pt>
                <c:pt idx="74">
                  <c:v>52.310400446434798</c:v>
                </c:pt>
                <c:pt idx="75">
                  <c:v>52.113393920261302</c:v>
                </c:pt>
                <c:pt idx="76">
                  <c:v>43.329362245750801</c:v>
                </c:pt>
                <c:pt idx="77">
                  <c:v>45.080857754951097</c:v>
                </c:pt>
                <c:pt idx="78">
                  <c:v>43.587664054836303</c:v>
                </c:pt>
                <c:pt idx="79">
                  <c:v>38.887551345975503</c:v>
                </c:pt>
                <c:pt idx="80">
                  <c:v>39.974838553832498</c:v>
                </c:pt>
                <c:pt idx="81">
                  <c:v>43.017465907746001</c:v>
                </c:pt>
                <c:pt idx="82">
                  <c:v>44.196779739298599</c:v>
                </c:pt>
                <c:pt idx="83">
                  <c:v>46.3061834772491</c:v>
                </c:pt>
                <c:pt idx="84">
                  <c:v>52.434332729654898</c:v>
                </c:pt>
                <c:pt idx="85">
                  <c:v>52.282058518095702</c:v>
                </c:pt>
                <c:pt idx="86">
                  <c:v>52.229476944095303</c:v>
                </c:pt>
                <c:pt idx="87">
                  <c:v>52.911199997015601</c:v>
                </c:pt>
                <c:pt idx="88">
                  <c:v>50.724934067964803</c:v>
                </c:pt>
                <c:pt idx="89">
                  <c:v>52.478468338909302</c:v>
                </c:pt>
                <c:pt idx="90">
                  <c:v>53.628618946630198</c:v>
                </c:pt>
                <c:pt idx="91">
                  <c:v>52.443292430108201</c:v>
                </c:pt>
                <c:pt idx="92">
                  <c:v>49.223638455877698</c:v>
                </c:pt>
                <c:pt idx="93">
                  <c:v>50.588429846076103</c:v>
                </c:pt>
                <c:pt idx="94">
                  <c:v>51.590624427133697</c:v>
                </c:pt>
                <c:pt idx="95">
                  <c:v>51.582868011820899</c:v>
                </c:pt>
                <c:pt idx="96">
                  <c:v>49.3714279142782</c:v>
                </c:pt>
                <c:pt idx="97">
                  <c:v>46.161999973620503</c:v>
                </c:pt>
                <c:pt idx="98">
                  <c:v>46.821083350191202</c:v>
                </c:pt>
                <c:pt idx="99">
                  <c:v>47.0392341168793</c:v>
                </c:pt>
                <c:pt idx="100">
                  <c:v>48.122428757536298</c:v>
                </c:pt>
                <c:pt idx="101">
                  <c:v>53.316173954936097</c:v>
                </c:pt>
              </c:numCache>
            </c:numRef>
          </c:val>
          <c:smooth val="0"/>
        </c:ser>
        <c:ser>
          <c:idx val="1"/>
          <c:order val="1"/>
          <c:tx>
            <c:strRef>
              <c:f>Sheet1!$C$1</c:f>
              <c:strCache>
                <c:ptCount val="1"/>
                <c:pt idx="0">
                  <c:v>Jumbo LLPA</c:v>
                </c:pt>
              </c:strCache>
            </c:strRef>
          </c:tx>
          <c:spPr>
            <a:ln>
              <a:solidFill>
                <a:srgbClr val="C00000"/>
              </a:solidFill>
            </a:ln>
          </c:spPr>
          <c:marker>
            <c:symbol val="none"/>
          </c:marker>
          <c:cat>
            <c:numRef>
              <c:f>Sheet1!$A$2:$A$103</c:f>
              <c:numCache>
                <c:formatCode>m/d/yyyy</c:formatCode>
                <c:ptCount val="102"/>
                <c:pt idx="0">
                  <c:v>39692</c:v>
                </c:pt>
                <c:pt idx="1">
                  <c:v>39722</c:v>
                </c:pt>
                <c:pt idx="2">
                  <c:v>39753</c:v>
                </c:pt>
                <c:pt idx="3">
                  <c:v>39783</c:v>
                </c:pt>
                <c:pt idx="4">
                  <c:v>39814</c:v>
                </c:pt>
                <c:pt idx="5">
                  <c:v>39845</c:v>
                </c:pt>
                <c:pt idx="6">
                  <c:v>39873</c:v>
                </c:pt>
                <c:pt idx="7">
                  <c:v>39904</c:v>
                </c:pt>
                <c:pt idx="8">
                  <c:v>39934</c:v>
                </c:pt>
                <c:pt idx="9">
                  <c:v>39965</c:v>
                </c:pt>
                <c:pt idx="10">
                  <c:v>39995</c:v>
                </c:pt>
                <c:pt idx="11">
                  <c:v>40026</c:v>
                </c:pt>
                <c:pt idx="12">
                  <c:v>40057</c:v>
                </c:pt>
                <c:pt idx="13">
                  <c:v>40087</c:v>
                </c:pt>
                <c:pt idx="14">
                  <c:v>40118</c:v>
                </c:pt>
                <c:pt idx="15">
                  <c:v>40148</c:v>
                </c:pt>
                <c:pt idx="16">
                  <c:v>40179</c:v>
                </c:pt>
                <c:pt idx="17">
                  <c:v>40210</c:v>
                </c:pt>
                <c:pt idx="18">
                  <c:v>40238</c:v>
                </c:pt>
                <c:pt idx="19">
                  <c:v>40269</c:v>
                </c:pt>
                <c:pt idx="20">
                  <c:v>40299</c:v>
                </c:pt>
                <c:pt idx="21">
                  <c:v>40330</c:v>
                </c:pt>
                <c:pt idx="22">
                  <c:v>40360</c:v>
                </c:pt>
                <c:pt idx="23">
                  <c:v>40391</c:v>
                </c:pt>
                <c:pt idx="24">
                  <c:v>40422</c:v>
                </c:pt>
                <c:pt idx="25">
                  <c:v>40452</c:v>
                </c:pt>
                <c:pt idx="26">
                  <c:v>40483</c:v>
                </c:pt>
                <c:pt idx="27">
                  <c:v>40513</c:v>
                </c:pt>
                <c:pt idx="28">
                  <c:v>40544</c:v>
                </c:pt>
                <c:pt idx="29">
                  <c:v>40575</c:v>
                </c:pt>
                <c:pt idx="30">
                  <c:v>40603</c:v>
                </c:pt>
                <c:pt idx="31">
                  <c:v>40634</c:v>
                </c:pt>
                <c:pt idx="32">
                  <c:v>40664</c:v>
                </c:pt>
                <c:pt idx="33">
                  <c:v>40695</c:v>
                </c:pt>
                <c:pt idx="34">
                  <c:v>40725</c:v>
                </c:pt>
                <c:pt idx="35">
                  <c:v>40756</c:v>
                </c:pt>
                <c:pt idx="36">
                  <c:v>40787</c:v>
                </c:pt>
                <c:pt idx="37">
                  <c:v>40817</c:v>
                </c:pt>
                <c:pt idx="38">
                  <c:v>40848</c:v>
                </c:pt>
                <c:pt idx="39">
                  <c:v>40878</c:v>
                </c:pt>
                <c:pt idx="40">
                  <c:v>40909</c:v>
                </c:pt>
                <c:pt idx="41">
                  <c:v>40940</c:v>
                </c:pt>
                <c:pt idx="42">
                  <c:v>40969</c:v>
                </c:pt>
                <c:pt idx="43">
                  <c:v>41000</c:v>
                </c:pt>
                <c:pt idx="44">
                  <c:v>41030</c:v>
                </c:pt>
                <c:pt idx="45">
                  <c:v>41061</c:v>
                </c:pt>
                <c:pt idx="46">
                  <c:v>41091</c:v>
                </c:pt>
                <c:pt idx="47">
                  <c:v>41122</c:v>
                </c:pt>
                <c:pt idx="48">
                  <c:v>41153</c:v>
                </c:pt>
                <c:pt idx="49">
                  <c:v>41183</c:v>
                </c:pt>
                <c:pt idx="50">
                  <c:v>41214</c:v>
                </c:pt>
                <c:pt idx="51">
                  <c:v>41244</c:v>
                </c:pt>
                <c:pt idx="52">
                  <c:v>41275</c:v>
                </c:pt>
                <c:pt idx="53">
                  <c:v>41306</c:v>
                </c:pt>
                <c:pt idx="54">
                  <c:v>41334</c:v>
                </c:pt>
                <c:pt idx="55">
                  <c:v>41365</c:v>
                </c:pt>
                <c:pt idx="56">
                  <c:v>41395</c:v>
                </c:pt>
                <c:pt idx="57">
                  <c:v>41426</c:v>
                </c:pt>
                <c:pt idx="58">
                  <c:v>41456</c:v>
                </c:pt>
                <c:pt idx="59">
                  <c:v>41487</c:v>
                </c:pt>
                <c:pt idx="60">
                  <c:v>41518</c:v>
                </c:pt>
                <c:pt idx="61">
                  <c:v>41548</c:v>
                </c:pt>
                <c:pt idx="62">
                  <c:v>41579</c:v>
                </c:pt>
                <c:pt idx="63">
                  <c:v>41609</c:v>
                </c:pt>
                <c:pt idx="64">
                  <c:v>41640</c:v>
                </c:pt>
                <c:pt idx="65">
                  <c:v>41671</c:v>
                </c:pt>
                <c:pt idx="66">
                  <c:v>41699</c:v>
                </c:pt>
                <c:pt idx="67">
                  <c:v>41730</c:v>
                </c:pt>
                <c:pt idx="68">
                  <c:v>41760</c:v>
                </c:pt>
                <c:pt idx="69">
                  <c:v>41791</c:v>
                </c:pt>
                <c:pt idx="70">
                  <c:v>41821</c:v>
                </c:pt>
                <c:pt idx="71">
                  <c:v>41852</c:v>
                </c:pt>
                <c:pt idx="72">
                  <c:v>41883</c:v>
                </c:pt>
                <c:pt idx="73">
                  <c:v>41913</c:v>
                </c:pt>
                <c:pt idx="74">
                  <c:v>41944</c:v>
                </c:pt>
                <c:pt idx="75">
                  <c:v>41974</c:v>
                </c:pt>
                <c:pt idx="76">
                  <c:v>42005</c:v>
                </c:pt>
                <c:pt idx="77">
                  <c:v>42036</c:v>
                </c:pt>
                <c:pt idx="78">
                  <c:v>42064</c:v>
                </c:pt>
                <c:pt idx="79">
                  <c:v>42095</c:v>
                </c:pt>
                <c:pt idx="80">
                  <c:v>42125</c:v>
                </c:pt>
                <c:pt idx="81">
                  <c:v>42156</c:v>
                </c:pt>
                <c:pt idx="82">
                  <c:v>42186</c:v>
                </c:pt>
                <c:pt idx="83">
                  <c:v>42217</c:v>
                </c:pt>
                <c:pt idx="84">
                  <c:v>42248</c:v>
                </c:pt>
                <c:pt idx="85">
                  <c:v>42278</c:v>
                </c:pt>
                <c:pt idx="86">
                  <c:v>42309</c:v>
                </c:pt>
                <c:pt idx="87">
                  <c:v>42339</c:v>
                </c:pt>
                <c:pt idx="88">
                  <c:v>42370</c:v>
                </c:pt>
                <c:pt idx="89">
                  <c:v>42401</c:v>
                </c:pt>
                <c:pt idx="90">
                  <c:v>42430</c:v>
                </c:pt>
                <c:pt idx="91">
                  <c:v>42461</c:v>
                </c:pt>
                <c:pt idx="92">
                  <c:v>42491</c:v>
                </c:pt>
                <c:pt idx="93">
                  <c:v>42522</c:v>
                </c:pt>
                <c:pt idx="94">
                  <c:v>42552</c:v>
                </c:pt>
                <c:pt idx="95">
                  <c:v>42583</c:v>
                </c:pt>
                <c:pt idx="96">
                  <c:v>42614</c:v>
                </c:pt>
                <c:pt idx="97">
                  <c:v>42644</c:v>
                </c:pt>
                <c:pt idx="98">
                  <c:v>42675</c:v>
                </c:pt>
                <c:pt idx="99">
                  <c:v>42705</c:v>
                </c:pt>
                <c:pt idx="100">
                  <c:v>42736</c:v>
                </c:pt>
                <c:pt idx="101">
                  <c:v>42767</c:v>
                </c:pt>
              </c:numCache>
            </c:numRef>
          </c:cat>
          <c:val>
            <c:numRef>
              <c:f>Sheet1!$C$2:$C$103</c:f>
              <c:numCache>
                <c:formatCode>General</c:formatCode>
                <c:ptCount val="102"/>
                <c:pt idx="0">
                  <c:v>34.180443269023499</c:v>
                </c:pt>
                <c:pt idx="1">
                  <c:v>33.998702611221603</c:v>
                </c:pt>
                <c:pt idx="2">
                  <c:v>34.196354180664898</c:v>
                </c:pt>
                <c:pt idx="3">
                  <c:v>36.074521818547097</c:v>
                </c:pt>
                <c:pt idx="4">
                  <c:v>35.139622724528799</c:v>
                </c:pt>
                <c:pt idx="5">
                  <c:v>27.083925127455</c:v>
                </c:pt>
                <c:pt idx="6">
                  <c:v>24.304802666385498</c:v>
                </c:pt>
                <c:pt idx="7">
                  <c:v>22.222522596808599</c:v>
                </c:pt>
                <c:pt idx="8">
                  <c:v>24.694809046637101</c:v>
                </c:pt>
                <c:pt idx="9">
                  <c:v>23.6820414702763</c:v>
                </c:pt>
                <c:pt idx="10">
                  <c:v>23.4075080670886</c:v>
                </c:pt>
                <c:pt idx="11">
                  <c:v>24.955330409330699</c:v>
                </c:pt>
                <c:pt idx="12">
                  <c:v>27.449638952018098</c:v>
                </c:pt>
                <c:pt idx="13">
                  <c:v>31.413105437200901</c:v>
                </c:pt>
                <c:pt idx="14">
                  <c:v>29.522383983110199</c:v>
                </c:pt>
                <c:pt idx="15">
                  <c:v>28.752393876639001</c:v>
                </c:pt>
                <c:pt idx="16">
                  <c:v>28.9072048990101</c:v>
                </c:pt>
                <c:pt idx="17">
                  <c:v>29.5485028836864</c:v>
                </c:pt>
                <c:pt idx="18">
                  <c:v>27.638643310065799</c:v>
                </c:pt>
                <c:pt idx="19">
                  <c:v>31.381687097239901</c:v>
                </c:pt>
                <c:pt idx="20">
                  <c:v>32.327729180927498</c:v>
                </c:pt>
                <c:pt idx="21">
                  <c:v>32.658292506265298</c:v>
                </c:pt>
                <c:pt idx="22">
                  <c:v>31.652220108552498</c:v>
                </c:pt>
                <c:pt idx="23">
                  <c:v>35.220274570101097</c:v>
                </c:pt>
                <c:pt idx="24">
                  <c:v>32.168111204469</c:v>
                </c:pt>
                <c:pt idx="25">
                  <c:v>28.336420609325899</c:v>
                </c:pt>
                <c:pt idx="26">
                  <c:v>33.471721286348703</c:v>
                </c:pt>
                <c:pt idx="27">
                  <c:v>32.053243660350802</c:v>
                </c:pt>
                <c:pt idx="28">
                  <c:v>32.096586362793303</c:v>
                </c:pt>
                <c:pt idx="29">
                  <c:v>31.171408143172702</c:v>
                </c:pt>
                <c:pt idx="30">
                  <c:v>31.3334626374706</c:v>
                </c:pt>
                <c:pt idx="31">
                  <c:v>30.3118103406869</c:v>
                </c:pt>
                <c:pt idx="32">
                  <c:v>31.957779850959501</c:v>
                </c:pt>
                <c:pt idx="33">
                  <c:v>35.2919906911415</c:v>
                </c:pt>
                <c:pt idx="34">
                  <c:v>35.156999267426002</c:v>
                </c:pt>
                <c:pt idx="35">
                  <c:v>37.029860944030901</c:v>
                </c:pt>
                <c:pt idx="36">
                  <c:v>33.8454653506857</c:v>
                </c:pt>
                <c:pt idx="37">
                  <c:v>38.004418483007399</c:v>
                </c:pt>
                <c:pt idx="38">
                  <c:v>30.5812952972442</c:v>
                </c:pt>
                <c:pt idx="39">
                  <c:v>32.770794185108699</c:v>
                </c:pt>
                <c:pt idx="40">
                  <c:v>29.182934236005199</c:v>
                </c:pt>
                <c:pt idx="41">
                  <c:v>29.473126514222901</c:v>
                </c:pt>
                <c:pt idx="42">
                  <c:v>27.950861260050701</c:v>
                </c:pt>
                <c:pt idx="43">
                  <c:v>25.075739365626799</c:v>
                </c:pt>
                <c:pt idx="44">
                  <c:v>27.198051475754401</c:v>
                </c:pt>
                <c:pt idx="45">
                  <c:v>30.430974231173401</c:v>
                </c:pt>
                <c:pt idx="46">
                  <c:v>30.355847431053402</c:v>
                </c:pt>
                <c:pt idx="47">
                  <c:v>29.847822765494001</c:v>
                </c:pt>
                <c:pt idx="48">
                  <c:v>29.494377809119001</c:v>
                </c:pt>
                <c:pt idx="49">
                  <c:v>27.137876380368301</c:v>
                </c:pt>
                <c:pt idx="50">
                  <c:v>27.846915311595399</c:v>
                </c:pt>
                <c:pt idx="51">
                  <c:v>26.314507446269999</c:v>
                </c:pt>
                <c:pt idx="52">
                  <c:v>27.564541652778999</c:v>
                </c:pt>
                <c:pt idx="53">
                  <c:v>26.145725805758602</c:v>
                </c:pt>
                <c:pt idx="54">
                  <c:v>26.824050484119599</c:v>
                </c:pt>
                <c:pt idx="55">
                  <c:v>29.897050238458799</c:v>
                </c:pt>
                <c:pt idx="56">
                  <c:v>34.279369261587497</c:v>
                </c:pt>
                <c:pt idx="57">
                  <c:v>34.138698022477897</c:v>
                </c:pt>
                <c:pt idx="58">
                  <c:v>34.303344068382103</c:v>
                </c:pt>
                <c:pt idx="59">
                  <c:v>35.264229916243103</c:v>
                </c:pt>
                <c:pt idx="60">
                  <c:v>38.962721818922098</c:v>
                </c:pt>
                <c:pt idx="61">
                  <c:v>41.975054533987603</c:v>
                </c:pt>
                <c:pt idx="62">
                  <c:v>46.449078763409602</c:v>
                </c:pt>
                <c:pt idx="63">
                  <c:v>48.566508221080603</c:v>
                </c:pt>
                <c:pt idx="64">
                  <c:v>32.836213728729099</c:v>
                </c:pt>
                <c:pt idx="65">
                  <c:v>36.1951788690386</c:v>
                </c:pt>
                <c:pt idx="66">
                  <c:v>33.653064021009001</c:v>
                </c:pt>
                <c:pt idx="67">
                  <c:v>37.766288246925903</c:v>
                </c:pt>
                <c:pt idx="68">
                  <c:v>38.780647568593103</c:v>
                </c:pt>
                <c:pt idx="69">
                  <c:v>38.709283134315903</c:v>
                </c:pt>
                <c:pt idx="70">
                  <c:v>38.346518767750901</c:v>
                </c:pt>
                <c:pt idx="71">
                  <c:v>39.517131482734399</c:v>
                </c:pt>
                <c:pt idx="72">
                  <c:v>39.430729716729402</c:v>
                </c:pt>
                <c:pt idx="73">
                  <c:v>40.178983687273302</c:v>
                </c:pt>
                <c:pt idx="74">
                  <c:v>41.1655673346363</c:v>
                </c:pt>
                <c:pt idx="75">
                  <c:v>39.218649757893203</c:v>
                </c:pt>
                <c:pt idx="76">
                  <c:v>31.819206576401101</c:v>
                </c:pt>
                <c:pt idx="77">
                  <c:v>33.903043018060103</c:v>
                </c:pt>
                <c:pt idx="78">
                  <c:v>32.1616921264879</c:v>
                </c:pt>
                <c:pt idx="79">
                  <c:v>27.8354090746876</c:v>
                </c:pt>
                <c:pt idx="80">
                  <c:v>29.720322104280601</c:v>
                </c:pt>
                <c:pt idx="81">
                  <c:v>32.328252325499001</c:v>
                </c:pt>
                <c:pt idx="82">
                  <c:v>33.5225499678671</c:v>
                </c:pt>
                <c:pt idx="83">
                  <c:v>35.189553050304902</c:v>
                </c:pt>
                <c:pt idx="84">
                  <c:v>64.103192015610404</c:v>
                </c:pt>
                <c:pt idx="85">
                  <c:v>62.735415112553198</c:v>
                </c:pt>
                <c:pt idx="86">
                  <c:v>61.779832635408098</c:v>
                </c:pt>
                <c:pt idx="87">
                  <c:v>64.666592187492</c:v>
                </c:pt>
                <c:pt idx="88">
                  <c:v>64.252280045398194</c:v>
                </c:pt>
                <c:pt idx="89">
                  <c:v>65.232221830873598</c:v>
                </c:pt>
                <c:pt idx="90">
                  <c:v>68.243172275210796</c:v>
                </c:pt>
                <c:pt idx="91">
                  <c:v>63.8161685103141</c:v>
                </c:pt>
                <c:pt idx="92">
                  <c:v>60.408291520372998</c:v>
                </c:pt>
                <c:pt idx="93">
                  <c:v>64.958354231117198</c:v>
                </c:pt>
                <c:pt idx="94">
                  <c:v>62.931847210918001</c:v>
                </c:pt>
                <c:pt idx="95">
                  <c:v>63.905665400291497</c:v>
                </c:pt>
                <c:pt idx="96">
                  <c:v>61.546327802069499</c:v>
                </c:pt>
                <c:pt idx="97">
                  <c:v>57.867983191765703</c:v>
                </c:pt>
                <c:pt idx="98">
                  <c:v>57.430493241540603</c:v>
                </c:pt>
                <c:pt idx="99">
                  <c:v>58.072796045507303</c:v>
                </c:pt>
                <c:pt idx="100">
                  <c:v>62.3492811963118</c:v>
                </c:pt>
                <c:pt idx="101">
                  <c:v>67.211399975895105</c:v>
                </c:pt>
              </c:numCache>
            </c:numRef>
          </c:val>
          <c:smooth val="0"/>
        </c:ser>
        <c:dLbls>
          <c:showLegendKey val="0"/>
          <c:showVal val="0"/>
          <c:showCatName val="0"/>
          <c:showSerName val="0"/>
          <c:showPercent val="0"/>
          <c:showBubbleSize val="0"/>
        </c:dLbls>
        <c:marker val="1"/>
        <c:smooth val="0"/>
        <c:axId val="146761984"/>
        <c:axId val="146767872"/>
      </c:lineChart>
      <c:dateAx>
        <c:axId val="146761984"/>
        <c:scaling>
          <c:orientation val="minMax"/>
        </c:scaling>
        <c:delete val="0"/>
        <c:axPos val="b"/>
        <c:numFmt formatCode="m/d/yyyy" sourceLinked="1"/>
        <c:majorTickMark val="out"/>
        <c:minorTickMark val="none"/>
        <c:tickLblPos val="nextTo"/>
        <c:crossAx val="146767872"/>
        <c:crosses val="autoZero"/>
        <c:auto val="1"/>
        <c:lblOffset val="100"/>
        <c:baseTimeUnit val="months"/>
      </c:dateAx>
      <c:valAx>
        <c:axId val="146767872"/>
        <c:scaling>
          <c:orientation val="minMax"/>
        </c:scaling>
        <c:delete val="0"/>
        <c:axPos val="l"/>
        <c:numFmt formatCode="General" sourceLinked="1"/>
        <c:majorTickMark val="out"/>
        <c:minorTickMark val="none"/>
        <c:tickLblPos val="nextTo"/>
        <c:crossAx val="146761984"/>
        <c:crosses val="autoZero"/>
        <c:crossBetween val="between"/>
      </c:valAx>
    </c:plotArea>
    <c:legend>
      <c:legendPos val="b"/>
      <c:layout/>
      <c:overlay val="0"/>
    </c:legend>
    <c:plotVisOnly val="1"/>
    <c:dispBlanksAs val="gap"/>
    <c:showDLblsOverMax val="0"/>
  </c:chart>
  <c:txPr>
    <a:bodyPr/>
    <a:lstStyle/>
    <a:p>
      <a:pPr>
        <a:defRPr sz="9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6"/>
          <c:order val="0"/>
          <c:tx>
            <c:strRef>
              <c:f>Issuance!$I$2</c:f>
              <c:strCache>
                <c:ptCount val="1"/>
                <c:pt idx="0">
                  <c:v>TBA Share of Jumbo</c:v>
                </c:pt>
              </c:strCache>
            </c:strRef>
          </c:tx>
          <c:spPr>
            <a:ln>
              <a:solidFill>
                <a:schemeClr val="accent1"/>
              </a:solidFill>
            </a:ln>
          </c:spPr>
          <c:marker>
            <c:symbol val="none"/>
          </c:marker>
          <c:cat>
            <c:numRef>
              <c:f>Issuance!$B$3:$B$106</c:f>
              <c:numCache>
                <c:formatCode>m/d/yyyy</c:formatCode>
                <c:ptCount val="104"/>
                <c:pt idx="0">
                  <c:v>39569</c:v>
                </c:pt>
                <c:pt idx="1">
                  <c:v>39600</c:v>
                </c:pt>
                <c:pt idx="2">
                  <c:v>39630</c:v>
                </c:pt>
                <c:pt idx="3">
                  <c:v>39661</c:v>
                </c:pt>
                <c:pt idx="4">
                  <c:v>39692</c:v>
                </c:pt>
                <c:pt idx="5">
                  <c:v>39722</c:v>
                </c:pt>
                <c:pt idx="6">
                  <c:v>39783</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pt idx="90">
                  <c:v>42370</c:v>
                </c:pt>
                <c:pt idx="91">
                  <c:v>42401</c:v>
                </c:pt>
                <c:pt idx="92">
                  <c:v>42430</c:v>
                </c:pt>
                <c:pt idx="93">
                  <c:v>42461</c:v>
                </c:pt>
                <c:pt idx="94">
                  <c:v>42491</c:v>
                </c:pt>
                <c:pt idx="95">
                  <c:v>42522</c:v>
                </c:pt>
                <c:pt idx="96">
                  <c:v>42552</c:v>
                </c:pt>
                <c:pt idx="97">
                  <c:v>42583</c:v>
                </c:pt>
                <c:pt idx="98">
                  <c:v>42614</c:v>
                </c:pt>
                <c:pt idx="99">
                  <c:v>42644</c:v>
                </c:pt>
                <c:pt idx="100">
                  <c:v>42675</c:v>
                </c:pt>
                <c:pt idx="101">
                  <c:v>42705</c:v>
                </c:pt>
                <c:pt idx="102">
                  <c:v>42736</c:v>
                </c:pt>
                <c:pt idx="103">
                  <c:v>42767</c:v>
                </c:pt>
              </c:numCache>
            </c:numRef>
          </c:cat>
          <c:val>
            <c:numRef>
              <c:f>Issuance!$I$3:$I$106</c:f>
              <c:numCache>
                <c:formatCode>0%</c:formatCode>
                <c:ptCount val="104"/>
                <c:pt idx="0">
                  <c:v>0.81152940224084558</c:v>
                </c:pt>
                <c:pt idx="1">
                  <c:v>0.67326924257355591</c:v>
                </c:pt>
                <c:pt idx="2">
                  <c:v>0.48727993484670984</c:v>
                </c:pt>
                <c:pt idx="3">
                  <c:v>0.5668296676234611</c:v>
                </c:pt>
                <c:pt idx="4">
                  <c:v>0.69265506662382681</c:v>
                </c:pt>
                <c:pt idx="5">
                  <c:v>0.57970342202929859</c:v>
                </c:pt>
                <c:pt idx="6">
                  <c:v>0.75578484470211826</c:v>
                </c:pt>
                <c:pt idx="7">
                  <c:v>0.94265940803048287</c:v>
                </c:pt>
                <c:pt idx="8">
                  <c:v>0.97039015780037552</c:v>
                </c:pt>
                <c:pt idx="9">
                  <c:v>0.9692819752132269</c:v>
                </c:pt>
                <c:pt idx="10">
                  <c:v>0.88134850001936738</c:v>
                </c:pt>
                <c:pt idx="11">
                  <c:v>0.95592107970207263</c:v>
                </c:pt>
                <c:pt idx="12">
                  <c:v>0.91427253461165725</c:v>
                </c:pt>
                <c:pt idx="13">
                  <c:v>0.87493577258513489</c:v>
                </c:pt>
                <c:pt idx="14">
                  <c:v>0.77504932803482174</c:v>
                </c:pt>
                <c:pt idx="15">
                  <c:v>0.67782694531442478</c:v>
                </c:pt>
                <c:pt idx="16">
                  <c:v>0.76713813534167308</c:v>
                </c:pt>
                <c:pt idx="17">
                  <c:v>0.81191657371366999</c:v>
                </c:pt>
                <c:pt idx="18">
                  <c:v>0.77239943006190526</c:v>
                </c:pt>
                <c:pt idx="19">
                  <c:v>0.78356308463963764</c:v>
                </c:pt>
                <c:pt idx="20">
                  <c:v>0.79328578684150264</c:v>
                </c:pt>
                <c:pt idx="21">
                  <c:v>0.79117160951261567</c:v>
                </c:pt>
                <c:pt idx="22">
                  <c:v>0.78429548891446887</c:v>
                </c:pt>
                <c:pt idx="23">
                  <c:v>0.83209874091734215</c:v>
                </c:pt>
                <c:pt idx="24">
                  <c:v>0.69943629202373281</c:v>
                </c:pt>
                <c:pt idx="25">
                  <c:v>0.6545925675431975</c:v>
                </c:pt>
                <c:pt idx="26">
                  <c:v>0.65280093698241803</c:v>
                </c:pt>
                <c:pt idx="27">
                  <c:v>0.61157127140158951</c:v>
                </c:pt>
                <c:pt idx="28">
                  <c:v>0.59345327487566435</c:v>
                </c:pt>
                <c:pt idx="29">
                  <c:v>0.53152113119108313</c:v>
                </c:pt>
                <c:pt idx="30">
                  <c:v>0.51596551000826407</c:v>
                </c:pt>
                <c:pt idx="31">
                  <c:v>0.49412871827781496</c:v>
                </c:pt>
                <c:pt idx="32">
                  <c:v>0.56702025510941734</c:v>
                </c:pt>
                <c:pt idx="33">
                  <c:v>0.54363219493693171</c:v>
                </c:pt>
                <c:pt idx="34">
                  <c:v>0.51010535335399143</c:v>
                </c:pt>
                <c:pt idx="35">
                  <c:v>0.49290568176074984</c:v>
                </c:pt>
                <c:pt idx="36">
                  <c:v>0.44600911881164601</c:v>
                </c:pt>
                <c:pt idx="37">
                  <c:v>0.48835820805351088</c:v>
                </c:pt>
                <c:pt idx="38">
                  <c:v>0.43865311362633991</c:v>
                </c:pt>
                <c:pt idx="39">
                  <c:v>0.36966572049832164</c:v>
                </c:pt>
                <c:pt idx="40">
                  <c:v>0.38848743038825828</c:v>
                </c:pt>
                <c:pt idx="41">
                  <c:v>0.61790192220427309</c:v>
                </c:pt>
                <c:pt idx="42">
                  <c:v>0.54205917740341047</c:v>
                </c:pt>
                <c:pt idx="43">
                  <c:v>0.6176703873542424</c:v>
                </c:pt>
                <c:pt idx="44">
                  <c:v>0.55865731475366442</c:v>
                </c:pt>
                <c:pt idx="45">
                  <c:v>0.64545290151758983</c:v>
                </c:pt>
                <c:pt idx="46">
                  <c:v>0.59765791153961467</c:v>
                </c:pt>
                <c:pt idx="47">
                  <c:v>0.53381791456267214</c:v>
                </c:pt>
                <c:pt idx="48">
                  <c:v>0.49802376560439537</c:v>
                </c:pt>
                <c:pt idx="49">
                  <c:v>0.51661004479920392</c:v>
                </c:pt>
                <c:pt idx="50">
                  <c:v>0.51141143235420061</c:v>
                </c:pt>
                <c:pt idx="51">
                  <c:v>0.52610917330733464</c:v>
                </c:pt>
                <c:pt idx="52">
                  <c:v>0.54825725730571206</c:v>
                </c:pt>
                <c:pt idx="53">
                  <c:v>0.67719507767577714</c:v>
                </c:pt>
                <c:pt idx="54">
                  <c:v>0.50785132949202838</c:v>
                </c:pt>
                <c:pt idx="55">
                  <c:v>0.63431886951196292</c:v>
                </c:pt>
                <c:pt idx="56">
                  <c:v>0.58284397268873589</c:v>
                </c:pt>
                <c:pt idx="57">
                  <c:v>0.62207337399926277</c:v>
                </c:pt>
                <c:pt idx="58">
                  <c:v>0.64259378346484575</c:v>
                </c:pt>
                <c:pt idx="59">
                  <c:v>0.61484598595082107</c:v>
                </c:pt>
                <c:pt idx="60">
                  <c:v>0.6700251670071351</c:v>
                </c:pt>
                <c:pt idx="61">
                  <c:v>0.67936950884835845</c:v>
                </c:pt>
                <c:pt idx="62">
                  <c:v>0.71776274743220547</c:v>
                </c:pt>
                <c:pt idx="63">
                  <c:v>0.71039878654782773</c:v>
                </c:pt>
                <c:pt idx="64">
                  <c:v>0.70761582607796825</c:v>
                </c:pt>
                <c:pt idx="65">
                  <c:v>0.7089302663107232</c:v>
                </c:pt>
                <c:pt idx="66">
                  <c:v>0.75686308617788522</c:v>
                </c:pt>
                <c:pt idx="67">
                  <c:v>0.79295259247278227</c:v>
                </c:pt>
                <c:pt idx="68">
                  <c:v>0.76630262331587196</c:v>
                </c:pt>
                <c:pt idx="69">
                  <c:v>0.77525613938221749</c:v>
                </c:pt>
                <c:pt idx="70">
                  <c:v>0.75878391177619575</c:v>
                </c:pt>
                <c:pt idx="71">
                  <c:v>0.78820293876918956</c:v>
                </c:pt>
                <c:pt idx="72">
                  <c:v>0.73725834946180591</c:v>
                </c:pt>
                <c:pt idx="73">
                  <c:v>0.78526659120774389</c:v>
                </c:pt>
                <c:pt idx="74">
                  <c:v>0.7339798906164835</c:v>
                </c:pt>
                <c:pt idx="75">
                  <c:v>0.77300455277135904</c:v>
                </c:pt>
                <c:pt idx="76">
                  <c:v>0.72051975014707892</c:v>
                </c:pt>
                <c:pt idx="77">
                  <c:v>0.72927785018136615</c:v>
                </c:pt>
                <c:pt idx="78">
                  <c:v>0.72692893919963308</c:v>
                </c:pt>
                <c:pt idx="79">
                  <c:v>0.66560190918131146</c:v>
                </c:pt>
                <c:pt idx="80">
                  <c:v>0.66939001089356454</c:v>
                </c:pt>
                <c:pt idx="81">
                  <c:v>0.71768643641311214</c:v>
                </c:pt>
                <c:pt idx="82">
                  <c:v>0.69865209808982753</c:v>
                </c:pt>
                <c:pt idx="83">
                  <c:v>0.61894514819599866</c:v>
                </c:pt>
                <c:pt idx="84">
                  <c:v>0.68337513429636554</c:v>
                </c:pt>
                <c:pt idx="85">
                  <c:v>0.66307314154550301</c:v>
                </c:pt>
                <c:pt idx="86">
                  <c:v>0.77631499688667527</c:v>
                </c:pt>
                <c:pt idx="87">
                  <c:v>0.77544988153247507</c:v>
                </c:pt>
                <c:pt idx="88">
                  <c:v>0.74226732821585761</c:v>
                </c:pt>
                <c:pt idx="89">
                  <c:v>0.8417481478822203</c:v>
                </c:pt>
                <c:pt idx="90">
                  <c:v>0.83134426029262354</c:v>
                </c:pt>
                <c:pt idx="91">
                  <c:v>0.86230539826550967</c:v>
                </c:pt>
                <c:pt idx="92">
                  <c:v>0.8768080745244915</c:v>
                </c:pt>
                <c:pt idx="93">
                  <c:v>0.80081914681886512</c:v>
                </c:pt>
                <c:pt idx="94">
                  <c:v>0.76949659706263318</c:v>
                </c:pt>
                <c:pt idx="95">
                  <c:v>0.77044928603232621</c:v>
                </c:pt>
                <c:pt idx="96">
                  <c:v>0.73130747721752065</c:v>
                </c:pt>
                <c:pt idx="97">
                  <c:v>0.73535489166232726</c:v>
                </c:pt>
                <c:pt idx="98">
                  <c:v>0.6926994811598095</c:v>
                </c:pt>
                <c:pt idx="99">
                  <c:v>0.70037486894261358</c:v>
                </c:pt>
                <c:pt idx="100">
                  <c:v>0.72029471128659905</c:v>
                </c:pt>
                <c:pt idx="101">
                  <c:v>0.73027550079598935</c:v>
                </c:pt>
                <c:pt idx="102">
                  <c:v>0.78044705980408258</c:v>
                </c:pt>
                <c:pt idx="103">
                  <c:v>0.8140255781734832</c:v>
                </c:pt>
              </c:numCache>
            </c:numRef>
          </c:val>
          <c:smooth val="0"/>
        </c:ser>
        <c:dLbls>
          <c:showLegendKey val="0"/>
          <c:showVal val="0"/>
          <c:showCatName val="0"/>
          <c:showSerName val="0"/>
          <c:showPercent val="0"/>
          <c:showBubbleSize val="0"/>
        </c:dLbls>
        <c:marker val="1"/>
        <c:smooth val="0"/>
        <c:axId val="146505728"/>
        <c:axId val="146507264"/>
      </c:lineChart>
      <c:dateAx>
        <c:axId val="146505728"/>
        <c:scaling>
          <c:orientation val="minMax"/>
        </c:scaling>
        <c:delete val="0"/>
        <c:axPos val="b"/>
        <c:numFmt formatCode="m/d/yyyy" sourceLinked="1"/>
        <c:majorTickMark val="out"/>
        <c:minorTickMark val="none"/>
        <c:tickLblPos val="nextTo"/>
        <c:crossAx val="146507264"/>
        <c:crosses val="autoZero"/>
        <c:auto val="1"/>
        <c:lblOffset val="100"/>
        <c:baseTimeUnit val="months"/>
      </c:dateAx>
      <c:valAx>
        <c:axId val="146507264"/>
        <c:scaling>
          <c:orientation val="minMax"/>
          <c:max val="1"/>
          <c:min val="0.30000000000000004"/>
        </c:scaling>
        <c:delete val="0"/>
        <c:axPos val="l"/>
        <c:numFmt formatCode="0%" sourceLinked="1"/>
        <c:majorTickMark val="out"/>
        <c:minorTickMark val="none"/>
        <c:tickLblPos val="nextTo"/>
        <c:crossAx val="146505728"/>
        <c:crosses val="autoZero"/>
        <c:crossBetween val="between"/>
      </c:valAx>
      <c:spPr>
        <a:noFill/>
        <a:ln w="25400">
          <a:noFill/>
        </a:ln>
      </c:spPr>
    </c:plotArea>
    <c:plotVisOnly val="1"/>
    <c:dispBlanksAs val="gap"/>
    <c:showDLblsOverMax val="0"/>
  </c:chart>
  <c:spPr>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cov_WAC</c:v>
                </c:pt>
              </c:strCache>
            </c:strRef>
          </c:tx>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Sheet1!$B$2:$B$99</c:f>
            </c:numRef>
          </c:val>
          <c:smooth val="0"/>
        </c:ser>
        <c:ser>
          <c:idx val="1"/>
          <c:order val="1"/>
          <c:tx>
            <c:strRef>
              <c:f>Sheet1!$C$1</c:f>
              <c:strCache>
                <c:ptCount val="1"/>
                <c:pt idx="0">
                  <c:v>jum_WAC</c:v>
                </c:pt>
              </c:strCache>
            </c:strRef>
          </c:tx>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Sheet1!$C$2:$C$99</c:f>
            </c:numRef>
          </c:val>
          <c:smooth val="0"/>
        </c:ser>
        <c:ser>
          <c:idx val="2"/>
          <c:order val="2"/>
          <c:tx>
            <c:strRef>
              <c:f>Sheet1!$D$1</c:f>
              <c:strCache>
                <c:ptCount val="1"/>
                <c:pt idx="0">
                  <c:v>Spread</c:v>
                </c:pt>
              </c:strCache>
            </c:strRef>
          </c:tx>
          <c:spPr>
            <a:ln>
              <a:solidFill>
                <a:srgbClr val="2E398A"/>
              </a:solidFill>
            </a:ln>
          </c:spPr>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Sheet1!$D$2:$D$99</c:f>
              <c:numCache>
                <c:formatCode>0.000</c:formatCode>
                <c:ptCount val="98"/>
                <c:pt idx="0">
                  <c:v>1.0560192664111999E-2</c:v>
                </c:pt>
                <c:pt idx="1">
                  <c:v>-2.69944644402135E-2</c:v>
                </c:pt>
                <c:pt idx="2">
                  <c:v>7.5775126718178598E-3</c:v>
                </c:pt>
                <c:pt idx="3">
                  <c:v>-3.56902970490936E-2</c:v>
                </c:pt>
                <c:pt idx="4">
                  <c:v>0.230710122783675</c:v>
                </c:pt>
                <c:pt idx="5">
                  <c:v>0.25261516522656502</c:v>
                </c:pt>
                <c:pt idx="6">
                  <c:v>0.167449611370627</c:v>
                </c:pt>
                <c:pt idx="7">
                  <c:v>0.36506732853590901</c:v>
                </c:pt>
                <c:pt idx="8">
                  <c:v>0.14525338638009799</c:v>
                </c:pt>
                <c:pt idx="9">
                  <c:v>-3.3337274501650201E-2</c:v>
                </c:pt>
                <c:pt idx="10">
                  <c:v>3.8698720122068E-2</c:v>
                </c:pt>
                <c:pt idx="11">
                  <c:v>9.2324548594764994E-2</c:v>
                </c:pt>
                <c:pt idx="12">
                  <c:v>7.19940565744044E-2</c:v>
                </c:pt>
                <c:pt idx="13">
                  <c:v>6.9793377716617006E-2</c:v>
                </c:pt>
                <c:pt idx="14">
                  <c:v>7.7295448062988104E-3</c:v>
                </c:pt>
                <c:pt idx="15">
                  <c:v>2.8580621444051001E-2</c:v>
                </c:pt>
                <c:pt idx="16">
                  <c:v>1.77209266933906E-2</c:v>
                </c:pt>
                <c:pt idx="17">
                  <c:v>4.30169243090047E-3</c:v>
                </c:pt>
                <c:pt idx="18">
                  <c:v>-1.2457035527416799E-2</c:v>
                </c:pt>
                <c:pt idx="19">
                  <c:v>2.2258844487276001E-2</c:v>
                </c:pt>
                <c:pt idx="20">
                  <c:v>5.8863086284746902E-2</c:v>
                </c:pt>
                <c:pt idx="21">
                  <c:v>6.2690131652776399E-2</c:v>
                </c:pt>
                <c:pt idx="22">
                  <c:v>5.7560230217437003E-2</c:v>
                </c:pt>
                <c:pt idx="23">
                  <c:v>6.7581863818157201E-2</c:v>
                </c:pt>
                <c:pt idx="24">
                  <c:v>-9.6484894845509199E-3</c:v>
                </c:pt>
                <c:pt idx="25">
                  <c:v>-7.2116570130782806E-2</c:v>
                </c:pt>
                <c:pt idx="26">
                  <c:v>-9.6618597375686593E-2</c:v>
                </c:pt>
                <c:pt idx="27">
                  <c:v>-8.7527151429852207E-2</c:v>
                </c:pt>
                <c:pt idx="28">
                  <c:v>-6.4169001992659694E-2</c:v>
                </c:pt>
                <c:pt idx="29">
                  <c:v>-7.7254554147263704E-2</c:v>
                </c:pt>
                <c:pt idx="30">
                  <c:v>-6.0902334014962201E-2</c:v>
                </c:pt>
                <c:pt idx="31">
                  <c:v>-5.1537016771070102E-2</c:v>
                </c:pt>
                <c:pt idx="32">
                  <c:v>-8.8347228119012897E-2</c:v>
                </c:pt>
                <c:pt idx="33">
                  <c:v>6.7620690532969596E-3</c:v>
                </c:pt>
                <c:pt idx="34">
                  <c:v>6.6370495742206798E-2</c:v>
                </c:pt>
                <c:pt idx="35">
                  <c:v>8.24687044170586E-2</c:v>
                </c:pt>
                <c:pt idx="36">
                  <c:v>7.9982930920157097E-2</c:v>
                </c:pt>
                <c:pt idx="37">
                  <c:v>3.6619039721080902E-2</c:v>
                </c:pt>
                <c:pt idx="38">
                  <c:v>3.8595450484794097E-2</c:v>
                </c:pt>
                <c:pt idx="39">
                  <c:v>1.8386541371669701E-2</c:v>
                </c:pt>
                <c:pt idx="40">
                  <c:v>-3.2940633446045201E-3</c:v>
                </c:pt>
                <c:pt idx="41">
                  <c:v>-2.7688326384023298E-2</c:v>
                </c:pt>
                <c:pt idx="42">
                  <c:v>6.0563914705050103E-3</c:v>
                </c:pt>
                <c:pt idx="43">
                  <c:v>4.99470576319282E-2</c:v>
                </c:pt>
                <c:pt idx="44">
                  <c:v>6.4616845223899905E-2</c:v>
                </c:pt>
                <c:pt idx="45">
                  <c:v>3.3549809010931603E-2</c:v>
                </c:pt>
                <c:pt idx="46">
                  <c:v>-1.1999519248008599E-3</c:v>
                </c:pt>
                <c:pt idx="47">
                  <c:v>2.1089970143040801E-2</c:v>
                </c:pt>
                <c:pt idx="48">
                  <c:v>4.3937098712369997E-2</c:v>
                </c:pt>
                <c:pt idx="49">
                  <c:v>3.63655253546986E-2</c:v>
                </c:pt>
                <c:pt idx="50">
                  <c:v>3.7399744658423502E-2</c:v>
                </c:pt>
                <c:pt idx="51">
                  <c:v>5.1388952233476302E-2</c:v>
                </c:pt>
                <c:pt idx="52">
                  <c:v>1.6768393444326901E-2</c:v>
                </c:pt>
                <c:pt idx="53">
                  <c:v>-1.72060119182041E-2</c:v>
                </c:pt>
                <c:pt idx="54">
                  <c:v>-6.9913130404665597E-3</c:v>
                </c:pt>
                <c:pt idx="55">
                  <c:v>2.2720215820746299E-2</c:v>
                </c:pt>
                <c:pt idx="56">
                  <c:v>-1.06383566533089E-2</c:v>
                </c:pt>
                <c:pt idx="57">
                  <c:v>1.8187956572589498E-2</c:v>
                </c:pt>
                <c:pt idx="58">
                  <c:v>-5.0098515331610499E-2</c:v>
                </c:pt>
                <c:pt idx="59">
                  <c:v>-4.4973115711301699E-2</c:v>
                </c:pt>
                <c:pt idx="60">
                  <c:v>-7.8657165514276102E-3</c:v>
                </c:pt>
                <c:pt idx="61">
                  <c:v>-7.6950393248311003E-3</c:v>
                </c:pt>
                <c:pt idx="62">
                  <c:v>-6.5155248005237504E-2</c:v>
                </c:pt>
                <c:pt idx="63">
                  <c:v>-3.6273178901006502E-2</c:v>
                </c:pt>
                <c:pt idx="64">
                  <c:v>-4.93222359314959E-2</c:v>
                </c:pt>
                <c:pt idx="65">
                  <c:v>-5.1518423651595702E-2</c:v>
                </c:pt>
                <c:pt idx="66">
                  <c:v>-4.6363409816039099E-2</c:v>
                </c:pt>
                <c:pt idx="67">
                  <c:v>-4.88390325152167E-2</c:v>
                </c:pt>
                <c:pt idx="68">
                  <c:v>-3.4223189402703399E-2</c:v>
                </c:pt>
                <c:pt idx="69">
                  <c:v>-2.5487217709657301E-2</c:v>
                </c:pt>
                <c:pt idx="70">
                  <c:v>-5.0549543029185302E-2</c:v>
                </c:pt>
                <c:pt idx="71">
                  <c:v>-7.3443792255100601E-2</c:v>
                </c:pt>
                <c:pt idx="72">
                  <c:v>-6.0609800873556899E-2</c:v>
                </c:pt>
                <c:pt idx="73">
                  <c:v>-4.7330763772764503E-2</c:v>
                </c:pt>
                <c:pt idx="74">
                  <c:v>-1.52022031859512E-2</c:v>
                </c:pt>
                <c:pt idx="75">
                  <c:v>4.8411844730240402E-3</c:v>
                </c:pt>
                <c:pt idx="76">
                  <c:v>8.3481079961956906E-3</c:v>
                </c:pt>
                <c:pt idx="77">
                  <c:v>-1.1452095839184899E-2</c:v>
                </c:pt>
                <c:pt idx="78">
                  <c:v>-6.1271370171521403E-3</c:v>
                </c:pt>
                <c:pt idx="79">
                  <c:v>-1.6152476028926299E-3</c:v>
                </c:pt>
                <c:pt idx="80">
                  <c:v>-1.8625144136673901E-2</c:v>
                </c:pt>
                <c:pt idx="81">
                  <c:v>-5.53058375232965E-2</c:v>
                </c:pt>
                <c:pt idx="82">
                  <c:v>-6.6258547149298297E-2</c:v>
                </c:pt>
                <c:pt idx="83">
                  <c:v>-0.10004207326818</c:v>
                </c:pt>
                <c:pt idx="84" formatCode="General">
                  <c:v>-5.4274899243659101E-2</c:v>
                </c:pt>
                <c:pt idx="85" formatCode="General">
                  <c:v>-8.0371836848714698E-2</c:v>
                </c:pt>
                <c:pt idx="86" formatCode="General">
                  <c:v>-0.100260874009617</c:v>
                </c:pt>
                <c:pt idx="87" formatCode="General">
                  <c:v>-4.9550986970979698E-2</c:v>
                </c:pt>
                <c:pt idx="88" formatCode="General">
                  <c:v>8.6777584510546197E-3</c:v>
                </c:pt>
                <c:pt idx="89" formatCode="General">
                  <c:v>3.4567853539662199E-2</c:v>
                </c:pt>
                <c:pt idx="90" formatCode="General">
                  <c:v>3.03230351433726E-2</c:v>
                </c:pt>
                <c:pt idx="91" formatCode="General">
                  <c:v>2.7007820310825499E-2</c:v>
                </c:pt>
                <c:pt idx="92" formatCode="General">
                  <c:v>1.3021747860700501E-2</c:v>
                </c:pt>
                <c:pt idx="93" formatCode="General">
                  <c:v>5.5000114836681699E-2</c:v>
                </c:pt>
                <c:pt idx="94" formatCode="General">
                  <c:v>5.2301406747492403E-2</c:v>
                </c:pt>
                <c:pt idx="95" formatCode="General">
                  <c:v>3.1260174446544699E-2</c:v>
                </c:pt>
                <c:pt idx="96" formatCode="General">
                  <c:v>9.6286580218178305E-2</c:v>
                </c:pt>
                <c:pt idx="97" formatCode="General">
                  <c:v>0.132713264274294</c:v>
                </c:pt>
              </c:numCache>
            </c:numRef>
          </c:val>
          <c:smooth val="0"/>
        </c:ser>
        <c:dLbls>
          <c:showLegendKey val="0"/>
          <c:showVal val="0"/>
          <c:showCatName val="0"/>
          <c:showSerName val="0"/>
          <c:showPercent val="0"/>
          <c:showBubbleSize val="0"/>
        </c:dLbls>
        <c:marker val="1"/>
        <c:smooth val="0"/>
        <c:axId val="151277952"/>
        <c:axId val="151279488"/>
      </c:lineChart>
      <c:dateAx>
        <c:axId val="151277952"/>
        <c:scaling>
          <c:orientation val="minMax"/>
        </c:scaling>
        <c:delete val="0"/>
        <c:axPos val="b"/>
        <c:numFmt formatCode="m/d/yyyy" sourceLinked="1"/>
        <c:majorTickMark val="out"/>
        <c:minorTickMark val="none"/>
        <c:tickLblPos val="low"/>
        <c:crossAx val="151279488"/>
        <c:crosses val="autoZero"/>
        <c:auto val="1"/>
        <c:lblOffset val="100"/>
        <c:baseTimeUnit val="months"/>
        <c:majorUnit val="12"/>
        <c:majorTimeUnit val="months"/>
      </c:dateAx>
      <c:valAx>
        <c:axId val="151279488"/>
        <c:scaling>
          <c:orientation val="minMax"/>
        </c:scaling>
        <c:delete val="0"/>
        <c:axPos val="l"/>
        <c:numFmt formatCode="0.0" sourceLinked="0"/>
        <c:majorTickMark val="out"/>
        <c:minorTickMark val="none"/>
        <c:tickLblPos val="nextTo"/>
        <c:crossAx val="151277952"/>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MtgRate</c:v>
                </c:pt>
              </c:strCache>
            </c:strRef>
          </c:tx>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Sheet1!$B$2:$B$99</c:f>
            </c:numRef>
          </c:val>
          <c:smooth val="0"/>
        </c:ser>
        <c:ser>
          <c:idx val="1"/>
          <c:order val="1"/>
          <c:tx>
            <c:strRef>
              <c:f>Sheet1!$C$1</c:f>
              <c:strCache>
                <c:ptCount val="1"/>
                <c:pt idx="0">
                  <c:v>JumboRate</c:v>
                </c:pt>
              </c:strCache>
            </c:strRef>
          </c:tx>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Sheet1!$C$2:$C$99</c:f>
            </c:numRef>
          </c:val>
          <c:smooth val="0"/>
        </c:ser>
        <c:ser>
          <c:idx val="2"/>
          <c:order val="2"/>
          <c:tx>
            <c:strRef>
              <c:f>Sheet1!$D$1</c:f>
              <c:strCache>
                <c:ptCount val="1"/>
                <c:pt idx="0">
                  <c:v>Spread</c:v>
                </c:pt>
              </c:strCache>
            </c:strRef>
          </c:tx>
          <c:spPr>
            <a:ln>
              <a:solidFill>
                <a:srgbClr val="2E398A"/>
              </a:solidFill>
            </a:ln>
          </c:spPr>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Sheet1!$D$2:$D$99</c:f>
              <c:numCache>
                <c:formatCode>General</c:formatCode>
                <c:ptCount val="98"/>
                <c:pt idx="0">
                  <c:v>1.0560192664111999E-2</c:v>
                </c:pt>
                <c:pt idx="1">
                  <c:v>-2.69944644402135E-2</c:v>
                </c:pt>
                <c:pt idx="2">
                  <c:v>7.5775126718178598E-3</c:v>
                </c:pt>
                <c:pt idx="3">
                  <c:v>-3.56902970490936E-2</c:v>
                </c:pt>
                <c:pt idx="4">
                  <c:v>0.230710122783675</c:v>
                </c:pt>
                <c:pt idx="5">
                  <c:v>0.25261516522656502</c:v>
                </c:pt>
                <c:pt idx="6">
                  <c:v>0.167449611370627</c:v>
                </c:pt>
                <c:pt idx="7">
                  <c:v>0.36506732853590901</c:v>
                </c:pt>
                <c:pt idx="8">
                  <c:v>0.14525338638009799</c:v>
                </c:pt>
                <c:pt idx="9">
                  <c:v>-3.3337274501650201E-2</c:v>
                </c:pt>
                <c:pt idx="10">
                  <c:v>3.8698720122068E-2</c:v>
                </c:pt>
                <c:pt idx="11">
                  <c:v>9.2324548594764994E-2</c:v>
                </c:pt>
                <c:pt idx="12">
                  <c:v>7.19940565744044E-2</c:v>
                </c:pt>
                <c:pt idx="13">
                  <c:v>6.9793377716617006E-2</c:v>
                </c:pt>
                <c:pt idx="14">
                  <c:v>7.7295448062988104E-3</c:v>
                </c:pt>
                <c:pt idx="15">
                  <c:v>2.8580621444051001E-2</c:v>
                </c:pt>
                <c:pt idx="16">
                  <c:v>1.77209266933906E-2</c:v>
                </c:pt>
                <c:pt idx="17">
                  <c:v>4.30169243090047E-3</c:v>
                </c:pt>
                <c:pt idx="18">
                  <c:v>-1.2457035527416799E-2</c:v>
                </c:pt>
                <c:pt idx="19">
                  <c:v>2.2258844487276001E-2</c:v>
                </c:pt>
                <c:pt idx="20">
                  <c:v>5.8863086284746902E-2</c:v>
                </c:pt>
                <c:pt idx="21">
                  <c:v>6.2690131652776399E-2</c:v>
                </c:pt>
                <c:pt idx="22">
                  <c:v>5.7560230217437003E-2</c:v>
                </c:pt>
                <c:pt idx="23">
                  <c:v>6.7581863818157201E-2</c:v>
                </c:pt>
                <c:pt idx="24">
                  <c:v>-9.6484894845509199E-3</c:v>
                </c:pt>
                <c:pt idx="25">
                  <c:v>-7.2116570130782806E-2</c:v>
                </c:pt>
                <c:pt idx="26">
                  <c:v>-9.6618597375686593E-2</c:v>
                </c:pt>
                <c:pt idx="27">
                  <c:v>-8.7527151429852207E-2</c:v>
                </c:pt>
                <c:pt idx="28">
                  <c:v>-6.4169001992659694E-2</c:v>
                </c:pt>
                <c:pt idx="29">
                  <c:v>-7.7254554147263704E-2</c:v>
                </c:pt>
                <c:pt idx="30">
                  <c:v>-6.0902334014962201E-2</c:v>
                </c:pt>
                <c:pt idx="31">
                  <c:v>-5.1537016771070102E-2</c:v>
                </c:pt>
                <c:pt idx="32">
                  <c:v>-8.8347228119012897E-2</c:v>
                </c:pt>
                <c:pt idx="33">
                  <c:v>6.7620690532969596E-3</c:v>
                </c:pt>
                <c:pt idx="34">
                  <c:v>6.6370495742206798E-2</c:v>
                </c:pt>
                <c:pt idx="35">
                  <c:v>8.24687044170586E-2</c:v>
                </c:pt>
                <c:pt idx="36">
                  <c:v>7.9982930920157097E-2</c:v>
                </c:pt>
                <c:pt idx="37">
                  <c:v>3.6619039721080902E-2</c:v>
                </c:pt>
                <c:pt idx="38">
                  <c:v>3.8595450484794097E-2</c:v>
                </c:pt>
                <c:pt idx="39">
                  <c:v>1.8386541371669701E-2</c:v>
                </c:pt>
                <c:pt idx="40">
                  <c:v>-3.2940633446045201E-3</c:v>
                </c:pt>
                <c:pt idx="41">
                  <c:v>-2.7688326384023298E-2</c:v>
                </c:pt>
                <c:pt idx="42">
                  <c:v>6.0563914705050103E-3</c:v>
                </c:pt>
                <c:pt idx="43">
                  <c:v>4.99470576319282E-2</c:v>
                </c:pt>
                <c:pt idx="44">
                  <c:v>6.4616845223899905E-2</c:v>
                </c:pt>
                <c:pt idx="45">
                  <c:v>3.3549809010931603E-2</c:v>
                </c:pt>
                <c:pt idx="46">
                  <c:v>-1.1999519248008599E-3</c:v>
                </c:pt>
                <c:pt idx="47">
                  <c:v>2.1089970143040801E-2</c:v>
                </c:pt>
                <c:pt idx="48">
                  <c:v>4.3937098712369997E-2</c:v>
                </c:pt>
                <c:pt idx="49">
                  <c:v>3.63655253546986E-2</c:v>
                </c:pt>
                <c:pt idx="50">
                  <c:v>3.7399744658423502E-2</c:v>
                </c:pt>
                <c:pt idx="51">
                  <c:v>5.1388952233476302E-2</c:v>
                </c:pt>
                <c:pt idx="52">
                  <c:v>1.6768393444326901E-2</c:v>
                </c:pt>
                <c:pt idx="53">
                  <c:v>-1.72060119182041E-2</c:v>
                </c:pt>
                <c:pt idx="54">
                  <c:v>-6.9913130404665597E-3</c:v>
                </c:pt>
                <c:pt idx="55">
                  <c:v>2.2720215820746299E-2</c:v>
                </c:pt>
                <c:pt idx="56">
                  <c:v>-1.06383566533089E-2</c:v>
                </c:pt>
                <c:pt idx="57">
                  <c:v>1.8187956572589498E-2</c:v>
                </c:pt>
                <c:pt idx="58">
                  <c:v>-5.0098515331610499E-2</c:v>
                </c:pt>
                <c:pt idx="59">
                  <c:v>-4.4973115711301699E-2</c:v>
                </c:pt>
                <c:pt idx="60">
                  <c:v>-7.8657165514276102E-3</c:v>
                </c:pt>
                <c:pt idx="61">
                  <c:v>-7.6950393248311003E-3</c:v>
                </c:pt>
                <c:pt idx="62">
                  <c:v>-6.5155248005237504E-2</c:v>
                </c:pt>
                <c:pt idx="63">
                  <c:v>-3.6273178901006502E-2</c:v>
                </c:pt>
                <c:pt idx="64">
                  <c:v>-4.93222359314959E-2</c:v>
                </c:pt>
                <c:pt idx="65">
                  <c:v>-5.1518423651595702E-2</c:v>
                </c:pt>
                <c:pt idx="66">
                  <c:v>-4.6363409816039099E-2</c:v>
                </c:pt>
                <c:pt idx="67">
                  <c:v>-4.88390325152167E-2</c:v>
                </c:pt>
                <c:pt idx="68">
                  <c:v>-3.4223189402703399E-2</c:v>
                </c:pt>
                <c:pt idx="69">
                  <c:v>-2.5487217709657301E-2</c:v>
                </c:pt>
                <c:pt idx="70">
                  <c:v>-5.0549543029185302E-2</c:v>
                </c:pt>
                <c:pt idx="71" formatCode="0.000">
                  <c:v>-7.3443792255100601E-2</c:v>
                </c:pt>
                <c:pt idx="72" formatCode="0.000">
                  <c:v>-6.0609800873556899E-2</c:v>
                </c:pt>
                <c:pt idx="73" formatCode="0.000">
                  <c:v>-4.7330763772764503E-2</c:v>
                </c:pt>
                <c:pt idx="74" formatCode="0.000">
                  <c:v>-1.52022031859512E-2</c:v>
                </c:pt>
                <c:pt idx="75" formatCode="0.000">
                  <c:v>4.8411844730240402E-3</c:v>
                </c:pt>
                <c:pt idx="76" formatCode="0.000">
                  <c:v>8.3481079961956906E-3</c:v>
                </c:pt>
                <c:pt idx="77" formatCode="0.000">
                  <c:v>-1.1452095839184899E-2</c:v>
                </c:pt>
                <c:pt idx="78" formatCode="0.000">
                  <c:v>-6.1271370171521403E-3</c:v>
                </c:pt>
                <c:pt idx="79" formatCode="0.000">
                  <c:v>-1.6152476028926299E-3</c:v>
                </c:pt>
                <c:pt idx="80" formatCode="0.000">
                  <c:v>-1.8625144136673901E-2</c:v>
                </c:pt>
                <c:pt idx="81" formatCode="0.000">
                  <c:v>-5.53058375232965E-2</c:v>
                </c:pt>
                <c:pt idx="82" formatCode="0.000">
                  <c:v>-6.6258547149298297E-2</c:v>
                </c:pt>
                <c:pt idx="83" formatCode="0.000">
                  <c:v>-0.10004207326818</c:v>
                </c:pt>
                <c:pt idx="84" formatCode="0.00">
                  <c:v>-5.4274899243659101E-2</c:v>
                </c:pt>
                <c:pt idx="85" formatCode="0.00">
                  <c:v>-8.0371836848714698E-2</c:v>
                </c:pt>
                <c:pt idx="86" formatCode="0.00">
                  <c:v>-0.100260874009617</c:v>
                </c:pt>
                <c:pt idx="87" formatCode="0.00">
                  <c:v>-4.9550986970979698E-2</c:v>
                </c:pt>
                <c:pt idx="88" formatCode="0.00">
                  <c:v>8.6777584510546197E-3</c:v>
                </c:pt>
                <c:pt idx="89" formatCode="0.00">
                  <c:v>3.4567853539662199E-2</c:v>
                </c:pt>
                <c:pt idx="90" formatCode="0.00">
                  <c:v>3.03230351433726E-2</c:v>
                </c:pt>
                <c:pt idx="91" formatCode="0.00">
                  <c:v>2.7007820310825499E-2</c:v>
                </c:pt>
                <c:pt idx="92" formatCode="0.00">
                  <c:v>1.3021747860700501E-2</c:v>
                </c:pt>
                <c:pt idx="93" formatCode="0.00">
                  <c:v>5.5000114836681699E-2</c:v>
                </c:pt>
                <c:pt idx="94" formatCode="0.00">
                  <c:v>5.2301406747492403E-2</c:v>
                </c:pt>
                <c:pt idx="95" formatCode="0.00">
                  <c:v>3.1260174446544699E-2</c:v>
                </c:pt>
                <c:pt idx="96" formatCode="0.00">
                  <c:v>9.6286580218178305E-2</c:v>
                </c:pt>
                <c:pt idx="97" formatCode="0.00">
                  <c:v>0.132713264274294</c:v>
                </c:pt>
              </c:numCache>
            </c:numRef>
          </c:val>
          <c:smooth val="0"/>
        </c:ser>
        <c:ser>
          <c:idx val="3"/>
          <c:order val="3"/>
          <c:tx>
            <c:strRef>
              <c:f>Sheet1!$E$1</c:f>
              <c:strCache>
                <c:ptCount val="1"/>
                <c:pt idx="0">
                  <c:v>Moving Avg.</c:v>
                </c:pt>
              </c:strCache>
            </c:strRef>
          </c:tx>
          <c:spPr>
            <a:ln>
              <a:solidFill>
                <a:srgbClr val="C00000"/>
              </a:solidFill>
            </a:ln>
          </c:spPr>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Sheet1!$E$2:$E$99</c:f>
              <c:numCache>
                <c:formatCode>0.000</c:formatCode>
                <c:ptCount val="98"/>
                <c:pt idx="0" formatCode="General">
                  <c:v>0.11390562418985715</c:v>
                </c:pt>
                <c:pt idx="1">
                  <c:v>6.9356495829580048E-2</c:v>
                </c:pt>
                <c:pt idx="2">
                  <c:v>1.5119896757704856E-2</c:v>
                </c:pt>
                <c:pt idx="3">
                  <c:v>-1.4712622609676077E-2</c:v>
                </c:pt>
                <c:pt idx="4">
                  <c:v>2.9382861520052858E-2</c:v>
                </c:pt>
                <c:pt idx="5">
                  <c:v>7.3129705309477128E-2</c:v>
                </c:pt>
                <c:pt idx="6">
                  <c:v>9.9277941760562968E-2</c:v>
                </c:pt>
                <c:pt idx="7">
                  <c:v>0.16462157392325005</c:v>
                </c:pt>
                <c:pt idx="8">
                  <c:v>0.18756755287463009</c:v>
                </c:pt>
                <c:pt idx="9">
                  <c:v>0.18795972329920396</c:v>
                </c:pt>
                <c:pt idx="10">
                  <c:v>0.15595782285560281</c:v>
                </c:pt>
                <c:pt idx="11">
                  <c:v>0.12924272008363613</c:v>
                </c:pt>
                <c:pt idx="12">
                  <c:v>0.11333346095093237</c:v>
                </c:pt>
                <c:pt idx="13">
                  <c:v>6.4121135814383709E-2</c:v>
                </c:pt>
                <c:pt idx="14">
                  <c:v>4.1200495552083834E-2</c:v>
                </c:pt>
                <c:pt idx="15">
                  <c:v>5.1520144876367364E-2</c:v>
                </c:pt>
                <c:pt idx="16">
                  <c:v>4.8023845971587799E-2</c:v>
                </c:pt>
                <c:pt idx="17">
                  <c:v>3.3353369944277046E-2</c:v>
                </c:pt>
                <c:pt idx="18">
                  <c:v>1.9278187927306852E-2</c:v>
                </c:pt>
                <c:pt idx="19">
                  <c:v>1.1355765722416681E-2</c:v>
                </c:pt>
                <c:pt idx="20">
                  <c:v>1.987802263549136E-2</c:v>
                </c:pt>
                <c:pt idx="21">
                  <c:v>2.5562941003612265E-2</c:v>
                </c:pt>
                <c:pt idx="22">
                  <c:v>3.2202824924286659E-2</c:v>
                </c:pt>
                <c:pt idx="23">
                  <c:v>4.2749520155496122E-2</c:v>
                </c:pt>
                <c:pt idx="24">
                  <c:v>4.3217611162640425E-2</c:v>
                </c:pt>
                <c:pt idx="25">
                  <c:v>2.7488375392963966E-2</c:v>
                </c:pt>
                <c:pt idx="26">
                  <c:v>1.5747614495583821E-3</c:v>
                </c:pt>
                <c:pt idx="27">
                  <c:v>-2.3461452397546389E-2</c:v>
                </c:pt>
                <c:pt idx="28">
                  <c:v>-4.3749657765895837E-2</c:v>
                </c:pt>
                <c:pt idx="29">
                  <c:v>-6.7889060760132666E-2</c:v>
                </c:pt>
                <c:pt idx="30">
                  <c:v>-7.6431368181867868E-2</c:v>
                </c:pt>
                <c:pt idx="31">
                  <c:v>-7.3001442621915755E-2</c:v>
                </c:pt>
                <c:pt idx="32">
                  <c:v>-7.1622881079136794E-2</c:v>
                </c:pt>
                <c:pt idx="33">
                  <c:v>-5.5908010998611944E-2</c:v>
                </c:pt>
                <c:pt idx="34">
                  <c:v>-3.4151428042800865E-2</c:v>
                </c:pt>
                <c:pt idx="35">
                  <c:v>-7.5308849487471406E-3</c:v>
                </c:pt>
                <c:pt idx="36">
                  <c:v>1.5949992540439408E-2</c:v>
                </c:pt>
                <c:pt idx="37">
                  <c:v>3.0642668622464578E-2</c:v>
                </c:pt>
                <c:pt idx="38">
                  <c:v>5.179978172309907E-2</c:v>
                </c:pt>
                <c:pt idx="39">
                  <c:v>5.3737193776161207E-2</c:v>
                </c:pt>
                <c:pt idx="40">
                  <c:v>4.2126433928359304E-2</c:v>
                </c:pt>
                <c:pt idx="41">
                  <c:v>2.3766928794845665E-2</c:v>
                </c:pt>
                <c:pt idx="42">
                  <c:v>1.1445838886570315E-2</c:v>
                </c:pt>
                <c:pt idx="43">
                  <c:v>1.3667175205044865E-2</c:v>
                </c:pt>
                <c:pt idx="44">
                  <c:v>1.8004074328229164E-2</c:v>
                </c:pt>
                <c:pt idx="45">
                  <c:v>2.0531285601439481E-2</c:v>
                </c:pt>
                <c:pt idx="46">
                  <c:v>2.0880304171406763E-2</c:v>
                </c:pt>
                <c:pt idx="47">
                  <c:v>2.9010020259250775E-2</c:v>
                </c:pt>
                <c:pt idx="48">
                  <c:v>3.5323471466228273E-2</c:v>
                </c:pt>
                <c:pt idx="49">
                  <c:v>3.3059882753356674E-2</c:v>
                </c:pt>
                <c:pt idx="50">
                  <c:v>2.8523699325777269E-2</c:v>
                </c:pt>
                <c:pt idx="51">
                  <c:v>3.1496889862868062E-2</c:v>
                </c:pt>
                <c:pt idx="52">
                  <c:v>3.4491614091056021E-2</c:v>
                </c:pt>
                <c:pt idx="53">
                  <c:v>2.8108950414181866E-2</c:v>
                </c:pt>
                <c:pt idx="54">
                  <c:v>1.9620881788709108E-2</c:v>
                </c:pt>
                <c:pt idx="55">
                  <c:v>1.734666353305039E-2</c:v>
                </c:pt>
                <c:pt idx="56">
                  <c:v>9.340313314428323E-3</c:v>
                </c:pt>
                <c:pt idx="57">
                  <c:v>3.8068140376138564E-3</c:v>
                </c:pt>
                <c:pt idx="58">
                  <c:v>-7.3376707583757105E-3</c:v>
                </c:pt>
                <c:pt idx="59">
                  <c:v>-1.1965521390558643E-2</c:v>
                </c:pt>
                <c:pt idx="60">
                  <c:v>-1.2111255309052152E-2</c:v>
                </c:pt>
                <c:pt idx="61">
                  <c:v>-1.7180464499981719E-2</c:v>
                </c:pt>
                <c:pt idx="62">
                  <c:v>-2.6266613058636489E-2</c:v>
                </c:pt>
                <c:pt idx="63">
                  <c:v>-3.5343468970902486E-2</c:v>
                </c:pt>
                <c:pt idx="64">
                  <c:v>-3.5214089070883386E-2</c:v>
                </c:pt>
                <c:pt idx="65">
                  <c:v>-3.6304973727599055E-2</c:v>
                </c:pt>
                <c:pt idx="66">
                  <c:v>-4.272125593836764E-2</c:v>
                </c:pt>
                <c:pt idx="67">
                  <c:v>-4.9578588136765238E-2</c:v>
                </c:pt>
                <c:pt idx="68">
                  <c:v>-4.442324503634288E-2</c:v>
                </c:pt>
                <c:pt idx="69">
                  <c:v>-4.2625584837784676E-2</c:v>
                </c:pt>
                <c:pt idx="70">
                  <c:v>-4.2830136020732927E-2</c:v>
                </c:pt>
                <c:pt idx="71">
                  <c:v>-4.6484364121317068E-2</c:v>
                </c:pt>
                <c:pt idx="72">
                  <c:v>-4.8858762630903364E-2</c:v>
                </c:pt>
                <c:pt idx="73">
                  <c:v>-4.8607384507161337E-2</c:v>
                </c:pt>
                <c:pt idx="74">
                  <c:v>-4.5437220137702634E-2</c:v>
                </c:pt>
                <c:pt idx="75">
                  <c:v>-4.0382486440589081E-2</c:v>
                </c:pt>
                <c:pt idx="76">
                  <c:v>-3.0566211269692247E-2</c:v>
                </c:pt>
                <c:pt idx="77">
                  <c:v>-2.0234261867039628E-2</c:v>
                </c:pt>
                <c:pt idx="78">
                  <c:v>-1.1153817890972167E-2</c:v>
                </c:pt>
                <c:pt idx="79">
                  <c:v>-3.534565195993523E-3</c:v>
                </c:pt>
                <c:pt idx="80">
                  <c:v>-4.1050553544473073E-3</c:v>
                </c:pt>
                <c:pt idx="81">
                  <c:v>-1.4129559020500731E-2</c:v>
                </c:pt>
                <c:pt idx="82">
                  <c:v>-2.6564001544749732E-2</c:v>
                </c:pt>
                <c:pt idx="83">
                  <c:v>-4.1328997782915579E-2</c:v>
                </c:pt>
                <c:pt idx="84" formatCode="General">
                  <c:v>-3.5479196162139001E-2</c:v>
                </c:pt>
                <c:pt idx="85" formatCode="General">
                  <c:v>-5.0767190434303902E-2</c:v>
                </c:pt>
                <c:pt idx="86" formatCode="General">
                  <c:v>-6.6379291934721904E-2</c:v>
                </c:pt>
                <c:pt idx="87" formatCode="General">
                  <c:v>-7.0195902838284405E-2</c:v>
                </c:pt>
                <c:pt idx="88" formatCode="General">
                  <c:v>-5.8174661494933701E-2</c:v>
                </c:pt>
                <c:pt idx="89" formatCode="General">
                  <c:v>-4.0202164180375602E-2</c:v>
                </c:pt>
                <c:pt idx="90" formatCode="General">
                  <c:v>-2.6102508449203601E-2</c:v>
                </c:pt>
                <c:pt idx="91" formatCode="General">
                  <c:v>-8.2058989226136397E-3</c:v>
                </c:pt>
                <c:pt idx="92" formatCode="General">
                  <c:v>1.0674538055772601E-2</c:v>
                </c:pt>
                <c:pt idx="93" formatCode="General">
                  <c:v>2.8099721690382901E-2</c:v>
                </c:pt>
                <c:pt idx="94" formatCode="General">
                  <c:v>3.5370329739789201E-2</c:v>
                </c:pt>
                <c:pt idx="95" formatCode="General">
                  <c:v>3.4819049890936302E-2</c:v>
                </c:pt>
                <c:pt idx="96" formatCode="General">
                  <c:v>4.5812974070070497E-2</c:v>
                </c:pt>
                <c:pt idx="97" formatCode="General">
                  <c:v>6.3430548063982101E-2</c:v>
                </c:pt>
              </c:numCache>
            </c:numRef>
          </c:val>
          <c:smooth val="0"/>
        </c:ser>
        <c:dLbls>
          <c:showLegendKey val="0"/>
          <c:showVal val="0"/>
          <c:showCatName val="0"/>
          <c:showSerName val="0"/>
          <c:showPercent val="0"/>
          <c:showBubbleSize val="0"/>
        </c:dLbls>
        <c:marker val="1"/>
        <c:smooth val="0"/>
        <c:axId val="152764416"/>
        <c:axId val="152765952"/>
      </c:lineChart>
      <c:dateAx>
        <c:axId val="152764416"/>
        <c:scaling>
          <c:orientation val="minMax"/>
        </c:scaling>
        <c:delete val="0"/>
        <c:axPos val="b"/>
        <c:numFmt formatCode="m/d/yyyy" sourceLinked="1"/>
        <c:majorTickMark val="none"/>
        <c:minorTickMark val="none"/>
        <c:tickLblPos val="low"/>
        <c:crossAx val="152765952"/>
        <c:crosses val="autoZero"/>
        <c:auto val="1"/>
        <c:lblOffset val="100"/>
        <c:baseTimeUnit val="months"/>
        <c:majorUnit val="12"/>
        <c:majorTimeUnit val="months"/>
      </c:dateAx>
      <c:valAx>
        <c:axId val="152765952"/>
        <c:scaling>
          <c:orientation val="minMax"/>
        </c:scaling>
        <c:delete val="0"/>
        <c:axPos val="l"/>
        <c:numFmt formatCode="0.0" sourceLinked="0"/>
        <c:majorTickMark val="none"/>
        <c:minorTickMark val="none"/>
        <c:tickLblPos val="nextTo"/>
        <c:crossAx val="152764416"/>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MtgRate</c:v>
                </c:pt>
              </c:strCache>
            </c:strRef>
          </c:tx>
          <c:marker>
            <c:symbol val="none"/>
          </c:marker>
          <c:cat>
            <c:numRef>
              <c:f>Sheet1!$A$2:$A$98</c:f>
              <c:numCache>
                <c:formatCode>m/d/yyyy</c:formatCode>
                <c:ptCount val="97"/>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numCache>
            </c:numRef>
          </c:cat>
          <c:val>
            <c:numRef>
              <c:f>Sheet1!$B$2:$B$98</c:f>
            </c:numRef>
          </c:val>
          <c:smooth val="0"/>
        </c:ser>
        <c:ser>
          <c:idx val="1"/>
          <c:order val="1"/>
          <c:tx>
            <c:strRef>
              <c:f>Sheet1!$C$1</c:f>
              <c:strCache>
                <c:ptCount val="1"/>
                <c:pt idx="0">
                  <c:v>PMMS</c:v>
                </c:pt>
              </c:strCache>
            </c:strRef>
          </c:tx>
          <c:spPr>
            <a:ln>
              <a:solidFill>
                <a:srgbClr val="2E398A"/>
              </a:solidFill>
            </a:ln>
          </c:spPr>
          <c:marker>
            <c:symbol val="none"/>
          </c:marker>
          <c:cat>
            <c:numRef>
              <c:f>Sheet1!$A$2:$A$98</c:f>
              <c:numCache>
                <c:formatCode>m/d/yyyy</c:formatCode>
                <c:ptCount val="97"/>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numCache>
            </c:numRef>
          </c:cat>
          <c:val>
            <c:numRef>
              <c:f>Sheet1!$C$2:$C$98</c:f>
              <c:numCache>
                <c:formatCode>0.000</c:formatCode>
                <c:ptCount val="97"/>
                <c:pt idx="0" formatCode="General">
                  <c:v>5.9562499999999998</c:v>
                </c:pt>
                <c:pt idx="1">
                  <c:v>6.1050000000000004</c:v>
                </c:pt>
                <c:pt idx="2">
                  <c:v>6.0125000000000002</c:v>
                </c:pt>
                <c:pt idx="3">
                  <c:v>5.2159999999999904</c:v>
                </c:pt>
                <c:pt idx="4">
                  <c:v>4.9662499999999996</c:v>
                </c:pt>
                <c:pt idx="5">
                  <c:v>5.0612500000000002</c:v>
                </c:pt>
                <c:pt idx="6">
                  <c:v>4.7300000000000004</c:v>
                </c:pt>
                <c:pt idx="7">
                  <c:v>4.7762500000000001</c:v>
                </c:pt>
                <c:pt idx="8">
                  <c:v>5.1470000000000002</c:v>
                </c:pt>
                <c:pt idx="9">
                  <c:v>4.9539999999999997</c:v>
                </c:pt>
                <c:pt idx="10">
                  <c:v>4.88</c:v>
                </c:pt>
                <c:pt idx="11">
                  <c:v>4.8</c:v>
                </c:pt>
                <c:pt idx="12">
                  <c:v>4.8550000000000004</c:v>
                </c:pt>
                <c:pt idx="13">
                  <c:v>4.9487500000000004</c:v>
                </c:pt>
                <c:pt idx="14">
                  <c:v>4.9149999999999903</c:v>
                </c:pt>
                <c:pt idx="15">
                  <c:v>4.91</c:v>
                </c:pt>
                <c:pt idx="16">
                  <c:v>4.8125</c:v>
                </c:pt>
                <c:pt idx="17">
                  <c:v>4.6359999999999904</c:v>
                </c:pt>
                <c:pt idx="18">
                  <c:v>4.4849999999999897</c:v>
                </c:pt>
                <c:pt idx="19">
                  <c:v>4.3525</c:v>
                </c:pt>
                <c:pt idx="20">
                  <c:v>4.2759999999999998</c:v>
                </c:pt>
                <c:pt idx="21">
                  <c:v>4.1749999999999998</c:v>
                </c:pt>
                <c:pt idx="22">
                  <c:v>4.2562499999999996</c:v>
                </c:pt>
                <c:pt idx="23">
                  <c:v>4.6489999999999903</c:v>
                </c:pt>
                <c:pt idx="24">
                  <c:v>4.6987500000000004</c:v>
                </c:pt>
                <c:pt idx="25">
                  <c:v>4.8775000000000004</c:v>
                </c:pt>
                <c:pt idx="26">
                  <c:v>4.7610000000000001</c:v>
                </c:pt>
                <c:pt idx="27">
                  <c:v>4.75875</c:v>
                </c:pt>
                <c:pt idx="28">
                  <c:v>4.5625</c:v>
                </c:pt>
                <c:pt idx="29">
                  <c:v>4.4349999999999996</c:v>
                </c:pt>
                <c:pt idx="30">
                  <c:v>4.4762499999999896</c:v>
                </c:pt>
                <c:pt idx="31">
                  <c:v>4.1900000000000004</c:v>
                </c:pt>
                <c:pt idx="32">
                  <c:v>4.0025000000000004</c:v>
                </c:pt>
                <c:pt idx="33">
                  <c:v>4.0175000000000001</c:v>
                </c:pt>
                <c:pt idx="34">
                  <c:v>3.919</c:v>
                </c:pt>
                <c:pt idx="35">
                  <c:v>3.8787500000000001</c:v>
                </c:pt>
                <c:pt idx="36">
                  <c:v>3.8525</c:v>
                </c:pt>
                <c:pt idx="37">
                  <c:v>3.8420000000000001</c:v>
                </c:pt>
                <c:pt idx="38">
                  <c:v>3.9112499999999999</c:v>
                </c:pt>
                <c:pt idx="39">
                  <c:v>3.8412500000000001</c:v>
                </c:pt>
                <c:pt idx="40">
                  <c:v>3.738</c:v>
                </c:pt>
                <c:pt idx="41">
                  <c:v>3.6</c:v>
                </c:pt>
                <c:pt idx="42">
                  <c:v>3.4812500000000002</c:v>
                </c:pt>
                <c:pt idx="43">
                  <c:v>3.512</c:v>
                </c:pt>
                <c:pt idx="44">
                  <c:v>3.4037500000000001</c:v>
                </c:pt>
                <c:pt idx="45">
                  <c:v>3.3039999999999998</c:v>
                </c:pt>
                <c:pt idx="46">
                  <c:v>3.2737500000000002</c:v>
                </c:pt>
                <c:pt idx="47">
                  <c:v>3.27</c:v>
                </c:pt>
                <c:pt idx="48">
                  <c:v>3.339</c:v>
                </c:pt>
                <c:pt idx="49">
                  <c:v>3.4824999999999999</c:v>
                </c:pt>
                <c:pt idx="50">
                  <c:v>3.50875</c:v>
                </c:pt>
                <c:pt idx="51">
                  <c:v>3.3887499999999999</c:v>
                </c:pt>
                <c:pt idx="52">
                  <c:v>3.4660000000000002</c:v>
                </c:pt>
                <c:pt idx="53">
                  <c:v>4.0075000000000003</c:v>
                </c:pt>
                <c:pt idx="54">
                  <c:v>4.3090000000000002</c:v>
                </c:pt>
                <c:pt idx="55">
                  <c:v>4.4037499999999996</c:v>
                </c:pt>
                <c:pt idx="56">
                  <c:v>4.4212499999999997</c:v>
                </c:pt>
                <c:pt idx="57">
                  <c:v>4.1219999999999999</c:v>
                </c:pt>
                <c:pt idx="58">
                  <c:v>4.1862499999999896</c:v>
                </c:pt>
                <c:pt idx="59">
                  <c:v>4.37</c:v>
                </c:pt>
                <c:pt idx="60">
                  <c:v>4.3620000000000001</c:v>
                </c:pt>
                <c:pt idx="61">
                  <c:v>4.2274999999999903</c:v>
                </c:pt>
                <c:pt idx="62">
                  <c:v>4.2487500000000002</c:v>
                </c:pt>
                <c:pt idx="63">
                  <c:v>4.2479999999999896</c:v>
                </c:pt>
                <c:pt idx="64">
                  <c:v>4.0674999999999999</c:v>
                </c:pt>
                <c:pt idx="65">
                  <c:v>4.05</c:v>
                </c:pt>
                <c:pt idx="66">
                  <c:v>4.03</c:v>
                </c:pt>
                <c:pt idx="67">
                  <c:v>4.00875</c:v>
                </c:pt>
                <c:pt idx="68">
                  <c:v>4.0374999999999996</c:v>
                </c:pt>
                <c:pt idx="69">
                  <c:v>3.9060000000000001</c:v>
                </c:pt>
                <c:pt idx="70">
                  <c:v>3.8725000000000001</c:v>
                </c:pt>
                <c:pt idx="71">
                  <c:v>3.754</c:v>
                </c:pt>
                <c:pt idx="72">
                  <c:v>3.5762499999999999</c:v>
                </c:pt>
                <c:pt idx="73">
                  <c:v>3.61625</c:v>
                </c:pt>
                <c:pt idx="74">
                  <c:v>3.67</c:v>
                </c:pt>
                <c:pt idx="75">
                  <c:v>3.577</c:v>
                </c:pt>
                <c:pt idx="76">
                  <c:v>3.7462499999999999</c:v>
                </c:pt>
                <c:pt idx="77">
                  <c:v>3.895</c:v>
                </c:pt>
                <c:pt idx="78">
                  <c:v>3.9460000000000002</c:v>
                </c:pt>
                <c:pt idx="79">
                  <c:v>3.8050000000000002</c:v>
                </c:pt>
                <c:pt idx="80">
                  <c:v>3.7869999999999999</c:v>
                </c:pt>
                <c:pt idx="81">
                  <c:v>3.6825000000000001</c:v>
                </c:pt>
                <c:pt idx="82">
                  <c:v>3.8487499999999999</c:v>
                </c:pt>
                <c:pt idx="83">
                  <c:v>3.8639999999999999</c:v>
                </c:pt>
                <c:pt idx="84" formatCode="General">
                  <c:v>3.7725</c:v>
                </c:pt>
                <c:pt idx="85" formatCode="General">
                  <c:v>3.5474999999999999</c:v>
                </c:pt>
                <c:pt idx="86" formatCode="General">
                  <c:v>3.569</c:v>
                </c:pt>
                <c:pt idx="87" formatCode="General">
                  <c:v>3.4925000000000002</c:v>
                </c:pt>
                <c:pt idx="88" formatCode="General">
                  <c:v>3.4874999999999998</c:v>
                </c:pt>
                <c:pt idx="89" formatCode="General">
                  <c:v>3.448</c:v>
                </c:pt>
                <c:pt idx="90" formatCode="General">
                  <c:v>3.3149999999999999</c:v>
                </c:pt>
                <c:pt idx="91" formatCode="General">
                  <c:v>3.32</c:v>
                </c:pt>
                <c:pt idx="92" formatCode="General">
                  <c:v>3.3475000000000001</c:v>
                </c:pt>
                <c:pt idx="93" formatCode="General">
                  <c:v>3.3574999999999999</c:v>
                </c:pt>
                <c:pt idx="94" formatCode="General">
                  <c:v>3.7069999999999901</c:v>
                </c:pt>
                <c:pt idx="95" formatCode="General">
                  <c:v>4.1025</c:v>
                </c:pt>
                <c:pt idx="96" formatCode="General">
                  <c:v>4.0187499999999998</c:v>
                </c:pt>
              </c:numCache>
            </c:numRef>
          </c:val>
          <c:smooth val="0"/>
        </c:ser>
        <c:ser>
          <c:idx val="2"/>
          <c:order val="2"/>
          <c:tx>
            <c:strRef>
              <c:f>Sheet1!$D$1</c:f>
              <c:strCache>
                <c:ptCount val="1"/>
                <c:pt idx="0">
                  <c:v>Jumbo Rate</c:v>
                </c:pt>
              </c:strCache>
            </c:strRef>
          </c:tx>
          <c:spPr>
            <a:ln>
              <a:solidFill>
                <a:srgbClr val="C00000"/>
              </a:solidFill>
            </a:ln>
          </c:spPr>
          <c:marker>
            <c:symbol val="none"/>
          </c:marker>
          <c:cat>
            <c:numRef>
              <c:f>Sheet1!$A$2:$A$98</c:f>
              <c:numCache>
                <c:formatCode>m/d/yyyy</c:formatCode>
                <c:ptCount val="97"/>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numCache>
            </c:numRef>
          </c:cat>
          <c:val>
            <c:numRef>
              <c:f>Sheet1!$D$2:$D$98</c:f>
              <c:numCache>
                <c:formatCode>0.000</c:formatCode>
                <c:ptCount val="97"/>
                <c:pt idx="0">
                  <c:v>6.0701556241898569</c:v>
                </c:pt>
                <c:pt idx="1">
                  <c:v>6.1743564958295805</c:v>
                </c:pt>
                <c:pt idx="2">
                  <c:v>6.027619896757705</c:v>
                </c:pt>
                <c:pt idx="3">
                  <c:v>5.2012873773903143</c:v>
                </c:pt>
                <c:pt idx="4">
                  <c:v>4.9956328615200523</c:v>
                </c:pt>
                <c:pt idx="5">
                  <c:v>5.1343797053094775</c:v>
                </c:pt>
                <c:pt idx="6">
                  <c:v>4.8292779417605631</c:v>
                </c:pt>
                <c:pt idx="7">
                  <c:v>4.9408715739232498</c:v>
                </c:pt>
                <c:pt idx="8">
                  <c:v>5.3345675528746304</c:v>
                </c:pt>
                <c:pt idx="9">
                  <c:v>5.1419597232992036</c:v>
                </c:pt>
                <c:pt idx="10">
                  <c:v>5.035957822855603</c:v>
                </c:pt>
                <c:pt idx="11">
                  <c:v>4.9292427200836357</c:v>
                </c:pt>
                <c:pt idx="12">
                  <c:v>4.9683334609509329</c:v>
                </c:pt>
                <c:pt idx="13">
                  <c:v>5.0128711358143843</c:v>
                </c:pt>
                <c:pt idx="14">
                  <c:v>4.956200495552074</c:v>
                </c:pt>
                <c:pt idx="15">
                  <c:v>4.9615201448763679</c:v>
                </c:pt>
                <c:pt idx="16">
                  <c:v>4.8605238459715876</c:v>
                </c:pt>
                <c:pt idx="17">
                  <c:v>4.6693533699442673</c:v>
                </c:pt>
                <c:pt idx="18">
                  <c:v>4.5042781879272962</c:v>
                </c:pt>
                <c:pt idx="19">
                  <c:v>4.3638557657224171</c:v>
                </c:pt>
                <c:pt idx="20">
                  <c:v>4.2958780226354909</c:v>
                </c:pt>
                <c:pt idx="21">
                  <c:v>4.2005629410036125</c:v>
                </c:pt>
                <c:pt idx="22">
                  <c:v>4.2884528249242866</c:v>
                </c:pt>
                <c:pt idx="23">
                  <c:v>4.6917495201554864</c:v>
                </c:pt>
                <c:pt idx="24">
                  <c:v>4.7419676111626412</c:v>
                </c:pt>
                <c:pt idx="25">
                  <c:v>4.9049883753929642</c:v>
                </c:pt>
                <c:pt idx="26">
                  <c:v>4.7625747614495584</c:v>
                </c:pt>
                <c:pt idx="27">
                  <c:v>4.7352885476024538</c:v>
                </c:pt>
                <c:pt idx="28">
                  <c:v>4.518750342234104</c:v>
                </c:pt>
                <c:pt idx="29">
                  <c:v>4.3671109392398666</c:v>
                </c:pt>
                <c:pt idx="30">
                  <c:v>4.399818631818122</c:v>
                </c:pt>
                <c:pt idx="31">
                  <c:v>4.1169985573780847</c:v>
                </c:pt>
                <c:pt idx="32">
                  <c:v>3.9308771189208636</c:v>
                </c:pt>
                <c:pt idx="33">
                  <c:v>3.9615919890013882</c:v>
                </c:pt>
                <c:pt idx="34">
                  <c:v>3.8848485719571992</c:v>
                </c:pt>
                <c:pt idx="35">
                  <c:v>3.8712191150512529</c:v>
                </c:pt>
                <c:pt idx="36">
                  <c:v>3.8684499925404396</c:v>
                </c:pt>
                <c:pt idx="37">
                  <c:v>3.8726426686224649</c:v>
                </c:pt>
                <c:pt idx="38">
                  <c:v>3.963049781723099</c:v>
                </c:pt>
                <c:pt idx="39">
                  <c:v>3.8949871937761613</c:v>
                </c:pt>
                <c:pt idx="40">
                  <c:v>3.7801264339283591</c:v>
                </c:pt>
                <c:pt idx="41">
                  <c:v>3.6237669287948457</c:v>
                </c:pt>
                <c:pt idx="42">
                  <c:v>3.4926958388865703</c:v>
                </c:pt>
                <c:pt idx="43">
                  <c:v>3.525667175205045</c:v>
                </c:pt>
                <c:pt idx="44">
                  <c:v>3.4217540743282293</c:v>
                </c:pt>
                <c:pt idx="45">
                  <c:v>3.3245312856014393</c:v>
                </c:pt>
                <c:pt idx="46">
                  <c:v>3.2946303041714069</c:v>
                </c:pt>
                <c:pt idx="47">
                  <c:v>3.2990100202592507</c:v>
                </c:pt>
                <c:pt idx="48">
                  <c:v>3.3743234714662282</c:v>
                </c:pt>
                <c:pt idx="49">
                  <c:v>3.5155598827533567</c:v>
                </c:pt>
                <c:pt idx="50">
                  <c:v>3.5372736993257772</c:v>
                </c:pt>
                <c:pt idx="51">
                  <c:v>3.420246889862868</c:v>
                </c:pt>
                <c:pt idx="52">
                  <c:v>3.500491614091056</c:v>
                </c:pt>
                <c:pt idx="53">
                  <c:v>4.0356089504141819</c:v>
                </c:pt>
                <c:pt idx="54">
                  <c:v>4.3286208817887095</c:v>
                </c:pt>
                <c:pt idx="55">
                  <c:v>4.4210966635330502</c:v>
                </c:pt>
                <c:pt idx="56">
                  <c:v>4.4305903133144282</c:v>
                </c:pt>
                <c:pt idx="57">
                  <c:v>4.1258068140376141</c:v>
                </c:pt>
                <c:pt idx="58">
                  <c:v>4.1789123292416139</c:v>
                </c:pt>
                <c:pt idx="59">
                  <c:v>4.3580344786094418</c:v>
                </c:pt>
                <c:pt idx="60">
                  <c:v>4.349888744690948</c:v>
                </c:pt>
                <c:pt idx="61">
                  <c:v>4.2103195355000089</c:v>
                </c:pt>
                <c:pt idx="62">
                  <c:v>4.2224833869413638</c:v>
                </c:pt>
                <c:pt idx="63">
                  <c:v>4.2126565310290873</c:v>
                </c:pt>
                <c:pt idx="64">
                  <c:v>4.0322859109291169</c:v>
                </c:pt>
                <c:pt idx="65">
                  <c:v>4.0136950262724005</c:v>
                </c:pt>
                <c:pt idx="66">
                  <c:v>3.9872787440616326</c:v>
                </c:pt>
                <c:pt idx="67">
                  <c:v>3.9591714118632346</c:v>
                </c:pt>
                <c:pt idx="68">
                  <c:v>3.9930767549636568</c:v>
                </c:pt>
                <c:pt idx="69">
                  <c:v>3.8633744151622156</c:v>
                </c:pt>
                <c:pt idx="70">
                  <c:v>3.8296698639792672</c:v>
                </c:pt>
                <c:pt idx="71">
                  <c:v>3.7075156358786829</c:v>
                </c:pt>
                <c:pt idx="72">
                  <c:v>3.5273912373690965</c:v>
                </c:pt>
                <c:pt idx="73">
                  <c:v>3.5676426154928387</c:v>
                </c:pt>
                <c:pt idx="74">
                  <c:v>3.6245627798622975</c:v>
                </c:pt>
                <c:pt idx="75">
                  <c:v>3.5366175135594107</c:v>
                </c:pt>
                <c:pt idx="76">
                  <c:v>3.7156837887303076</c:v>
                </c:pt>
                <c:pt idx="77">
                  <c:v>3.8747657381329605</c:v>
                </c:pt>
                <c:pt idx="78">
                  <c:v>3.9348461821090281</c:v>
                </c:pt>
                <c:pt idx="79">
                  <c:v>3.8014654348040064</c:v>
                </c:pt>
                <c:pt idx="80">
                  <c:v>3.7828949446455526</c:v>
                </c:pt>
                <c:pt idx="81">
                  <c:v>3.6683704409794995</c:v>
                </c:pt>
                <c:pt idx="82">
                  <c:v>3.8221859984552502</c:v>
                </c:pt>
                <c:pt idx="83">
                  <c:v>3.8226710022170844</c:v>
                </c:pt>
                <c:pt idx="84" formatCode="General">
                  <c:v>3.7370208038378601</c:v>
                </c:pt>
                <c:pt idx="85" formatCode="General">
                  <c:v>3.4967328095656902</c:v>
                </c:pt>
                <c:pt idx="86" formatCode="General">
                  <c:v>3.5026207080652698</c:v>
                </c:pt>
                <c:pt idx="87" formatCode="General">
                  <c:v>3.4223040971617098</c:v>
                </c:pt>
                <c:pt idx="88" formatCode="General">
                  <c:v>3.4293253385050599</c:v>
                </c:pt>
                <c:pt idx="89" formatCode="General">
                  <c:v>3.4077978358196201</c:v>
                </c:pt>
                <c:pt idx="90" formatCode="General">
                  <c:v>3.2888974915507898</c:v>
                </c:pt>
                <c:pt idx="91" formatCode="General">
                  <c:v>3.3117941010773801</c:v>
                </c:pt>
                <c:pt idx="92" formatCode="General">
                  <c:v>3.3581745380557702</c:v>
                </c:pt>
                <c:pt idx="93" formatCode="General">
                  <c:v>3.3855997216903799</c:v>
                </c:pt>
                <c:pt idx="94" formatCode="General">
                  <c:v>3.7423703297397801</c:v>
                </c:pt>
                <c:pt idx="95" formatCode="General">
                  <c:v>4.1373190498909302</c:v>
                </c:pt>
                <c:pt idx="96" formatCode="General">
                  <c:v>4.0645629740700704</c:v>
                </c:pt>
              </c:numCache>
            </c:numRef>
          </c:val>
          <c:smooth val="0"/>
        </c:ser>
        <c:dLbls>
          <c:showLegendKey val="0"/>
          <c:showVal val="0"/>
          <c:showCatName val="0"/>
          <c:showSerName val="0"/>
          <c:showPercent val="0"/>
          <c:showBubbleSize val="0"/>
        </c:dLbls>
        <c:marker val="1"/>
        <c:smooth val="0"/>
        <c:axId val="153238144"/>
        <c:axId val="153248128"/>
      </c:lineChart>
      <c:dateAx>
        <c:axId val="153238144"/>
        <c:scaling>
          <c:orientation val="minMax"/>
        </c:scaling>
        <c:delete val="0"/>
        <c:axPos val="b"/>
        <c:numFmt formatCode="m/d/yyyy" sourceLinked="1"/>
        <c:majorTickMark val="none"/>
        <c:minorTickMark val="none"/>
        <c:tickLblPos val="low"/>
        <c:crossAx val="153248128"/>
        <c:crosses val="autoZero"/>
        <c:auto val="1"/>
        <c:lblOffset val="100"/>
        <c:baseTimeUnit val="months"/>
        <c:majorUnit val="12"/>
        <c:majorTimeUnit val="months"/>
      </c:dateAx>
      <c:valAx>
        <c:axId val="153248128"/>
        <c:scaling>
          <c:orientation val="minMax"/>
          <c:min val="3"/>
        </c:scaling>
        <c:delete val="0"/>
        <c:axPos val="l"/>
        <c:numFmt formatCode="0.0" sourceLinked="0"/>
        <c:majorTickMark val="none"/>
        <c:minorTickMark val="none"/>
        <c:tickLblPos val="nextTo"/>
        <c:crossAx val="153238144"/>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Diff</c:v>
                </c:pt>
              </c:strCache>
            </c:strRef>
          </c:tx>
          <c:marker>
            <c:symbol val="none"/>
          </c:marker>
          <c:cat>
            <c:numRef>
              <c:f>Sheet1!$A$2:$A$96</c:f>
              <c:numCache>
                <c:formatCode>m/d/yyyy</c:formatCode>
                <c:ptCount val="95"/>
                <c:pt idx="0">
                  <c:v>39661</c:v>
                </c:pt>
                <c:pt idx="1">
                  <c:v>39692</c:v>
                </c:pt>
                <c:pt idx="2">
                  <c:v>39722</c:v>
                </c:pt>
                <c:pt idx="3">
                  <c:v>39753</c:v>
                </c:pt>
                <c:pt idx="4">
                  <c:v>39783</c:v>
                </c:pt>
                <c:pt idx="5">
                  <c:v>39814</c:v>
                </c:pt>
                <c:pt idx="6">
                  <c:v>39845</c:v>
                </c:pt>
                <c:pt idx="7">
                  <c:v>39873</c:v>
                </c:pt>
                <c:pt idx="8">
                  <c:v>39904</c:v>
                </c:pt>
                <c:pt idx="9">
                  <c:v>39934</c:v>
                </c:pt>
                <c:pt idx="10">
                  <c:v>39965</c:v>
                </c:pt>
                <c:pt idx="11">
                  <c:v>39995</c:v>
                </c:pt>
                <c:pt idx="12">
                  <c:v>40026</c:v>
                </c:pt>
                <c:pt idx="13">
                  <c:v>40057</c:v>
                </c:pt>
                <c:pt idx="14">
                  <c:v>40087</c:v>
                </c:pt>
                <c:pt idx="15">
                  <c:v>40118</c:v>
                </c:pt>
                <c:pt idx="16">
                  <c:v>40148</c:v>
                </c:pt>
                <c:pt idx="17">
                  <c:v>40179</c:v>
                </c:pt>
                <c:pt idx="18">
                  <c:v>40210</c:v>
                </c:pt>
                <c:pt idx="19">
                  <c:v>40238</c:v>
                </c:pt>
                <c:pt idx="20">
                  <c:v>40269</c:v>
                </c:pt>
                <c:pt idx="21">
                  <c:v>40299</c:v>
                </c:pt>
                <c:pt idx="22">
                  <c:v>40330</c:v>
                </c:pt>
                <c:pt idx="23">
                  <c:v>40360</c:v>
                </c:pt>
                <c:pt idx="24">
                  <c:v>40391</c:v>
                </c:pt>
                <c:pt idx="25">
                  <c:v>40422</c:v>
                </c:pt>
                <c:pt idx="26">
                  <c:v>40452</c:v>
                </c:pt>
                <c:pt idx="27">
                  <c:v>40483</c:v>
                </c:pt>
                <c:pt idx="28">
                  <c:v>40513</c:v>
                </c:pt>
                <c:pt idx="29">
                  <c:v>40544</c:v>
                </c:pt>
                <c:pt idx="30">
                  <c:v>40575</c:v>
                </c:pt>
                <c:pt idx="31">
                  <c:v>40603</c:v>
                </c:pt>
                <c:pt idx="32">
                  <c:v>40634</c:v>
                </c:pt>
                <c:pt idx="33">
                  <c:v>40664</c:v>
                </c:pt>
                <c:pt idx="34">
                  <c:v>40695</c:v>
                </c:pt>
                <c:pt idx="35">
                  <c:v>40725</c:v>
                </c:pt>
                <c:pt idx="36">
                  <c:v>40756</c:v>
                </c:pt>
                <c:pt idx="37">
                  <c:v>40787</c:v>
                </c:pt>
                <c:pt idx="38">
                  <c:v>40817</c:v>
                </c:pt>
                <c:pt idx="39">
                  <c:v>40848</c:v>
                </c:pt>
                <c:pt idx="40">
                  <c:v>40878</c:v>
                </c:pt>
                <c:pt idx="41">
                  <c:v>40909</c:v>
                </c:pt>
                <c:pt idx="42">
                  <c:v>40940</c:v>
                </c:pt>
                <c:pt idx="43">
                  <c:v>40969</c:v>
                </c:pt>
                <c:pt idx="44">
                  <c:v>41000</c:v>
                </c:pt>
                <c:pt idx="45">
                  <c:v>41030</c:v>
                </c:pt>
                <c:pt idx="46">
                  <c:v>41061</c:v>
                </c:pt>
                <c:pt idx="47">
                  <c:v>41091</c:v>
                </c:pt>
                <c:pt idx="48">
                  <c:v>41122</c:v>
                </c:pt>
                <c:pt idx="49">
                  <c:v>41153</c:v>
                </c:pt>
                <c:pt idx="50">
                  <c:v>41183</c:v>
                </c:pt>
                <c:pt idx="51">
                  <c:v>41214</c:v>
                </c:pt>
                <c:pt idx="52">
                  <c:v>41244</c:v>
                </c:pt>
                <c:pt idx="53">
                  <c:v>41275</c:v>
                </c:pt>
                <c:pt idx="54">
                  <c:v>41306</c:v>
                </c:pt>
                <c:pt idx="55">
                  <c:v>41334</c:v>
                </c:pt>
                <c:pt idx="56">
                  <c:v>41365</c:v>
                </c:pt>
                <c:pt idx="57">
                  <c:v>41395</c:v>
                </c:pt>
                <c:pt idx="58">
                  <c:v>41426</c:v>
                </c:pt>
                <c:pt idx="59">
                  <c:v>41456</c:v>
                </c:pt>
                <c:pt idx="60">
                  <c:v>41487</c:v>
                </c:pt>
                <c:pt idx="61">
                  <c:v>41518</c:v>
                </c:pt>
                <c:pt idx="62">
                  <c:v>41548</c:v>
                </c:pt>
                <c:pt idx="63">
                  <c:v>41579</c:v>
                </c:pt>
                <c:pt idx="64">
                  <c:v>41609</c:v>
                </c:pt>
                <c:pt idx="65">
                  <c:v>41640</c:v>
                </c:pt>
                <c:pt idx="66">
                  <c:v>41671</c:v>
                </c:pt>
                <c:pt idx="67">
                  <c:v>41699</c:v>
                </c:pt>
                <c:pt idx="68">
                  <c:v>41730</c:v>
                </c:pt>
                <c:pt idx="69">
                  <c:v>41760</c:v>
                </c:pt>
                <c:pt idx="70">
                  <c:v>41791</c:v>
                </c:pt>
                <c:pt idx="71">
                  <c:v>41821</c:v>
                </c:pt>
                <c:pt idx="72">
                  <c:v>41852</c:v>
                </c:pt>
                <c:pt idx="73">
                  <c:v>41883</c:v>
                </c:pt>
                <c:pt idx="74">
                  <c:v>41913</c:v>
                </c:pt>
                <c:pt idx="75">
                  <c:v>41944</c:v>
                </c:pt>
                <c:pt idx="76">
                  <c:v>41974</c:v>
                </c:pt>
                <c:pt idx="77">
                  <c:v>42005</c:v>
                </c:pt>
                <c:pt idx="78">
                  <c:v>42036</c:v>
                </c:pt>
                <c:pt idx="79">
                  <c:v>42064</c:v>
                </c:pt>
                <c:pt idx="80">
                  <c:v>42095</c:v>
                </c:pt>
                <c:pt idx="81">
                  <c:v>42125</c:v>
                </c:pt>
                <c:pt idx="82">
                  <c:v>42370</c:v>
                </c:pt>
                <c:pt idx="83">
                  <c:v>42401</c:v>
                </c:pt>
                <c:pt idx="84">
                  <c:v>42430</c:v>
                </c:pt>
                <c:pt idx="85">
                  <c:v>42461</c:v>
                </c:pt>
                <c:pt idx="86">
                  <c:v>42491</c:v>
                </c:pt>
                <c:pt idx="87">
                  <c:v>42522</c:v>
                </c:pt>
                <c:pt idx="88">
                  <c:v>42552</c:v>
                </c:pt>
                <c:pt idx="89">
                  <c:v>42583</c:v>
                </c:pt>
                <c:pt idx="90">
                  <c:v>42614</c:v>
                </c:pt>
                <c:pt idx="91">
                  <c:v>42644</c:v>
                </c:pt>
                <c:pt idx="92">
                  <c:v>42675</c:v>
                </c:pt>
                <c:pt idx="93">
                  <c:v>42705</c:v>
                </c:pt>
                <c:pt idx="94">
                  <c:v>42736</c:v>
                </c:pt>
              </c:numCache>
            </c:numRef>
          </c:cat>
          <c:val>
            <c:numRef>
              <c:f>Sheet1!$B$2:$B$96</c:f>
              <c:numCache>
                <c:formatCode>_(* #,##0_);_(* \(#,##0\);_(* "-"??_);_(@_)</c:formatCode>
                <c:ptCount val="95"/>
                <c:pt idx="0">
                  <c:v>5.2337760007672429</c:v>
                </c:pt>
                <c:pt idx="1">
                  <c:v>1.3004255762409933</c:v>
                </c:pt>
                <c:pt idx="2">
                  <c:v>6.0181873745297487</c:v>
                </c:pt>
                <c:pt idx="3">
                  <c:v>4.6349108644347048</c:v>
                </c:pt>
                <c:pt idx="4">
                  <c:v>3.7353543867482131</c:v>
                </c:pt>
                <c:pt idx="5">
                  <c:v>2.8482242445301509</c:v>
                </c:pt>
                <c:pt idx="6">
                  <c:v>-0.548724684742119</c:v>
                </c:pt>
                <c:pt idx="7">
                  <c:v>0.56755223910416319</c:v>
                </c:pt>
                <c:pt idx="8">
                  <c:v>3.8376802504012986</c:v>
                </c:pt>
                <c:pt idx="9">
                  <c:v>4.9845210174747301</c:v>
                </c:pt>
                <c:pt idx="10">
                  <c:v>5.3292955747168413</c:v>
                </c:pt>
                <c:pt idx="11">
                  <c:v>4.9938432134066346</c:v>
                </c:pt>
                <c:pt idx="12">
                  <c:v>1.9863286440731542</c:v>
                </c:pt>
                <c:pt idx="13">
                  <c:v>3.5136205967967626</c:v>
                </c:pt>
                <c:pt idx="14">
                  <c:v>2.6402805553995101</c:v>
                </c:pt>
                <c:pt idx="15">
                  <c:v>0.80229131277977928</c:v>
                </c:pt>
                <c:pt idx="16">
                  <c:v>1.6848157521777374</c:v>
                </c:pt>
                <c:pt idx="17">
                  <c:v>4.4761395510131585</c:v>
                </c:pt>
                <c:pt idx="18">
                  <c:v>7.3792172481066842</c:v>
                </c:pt>
                <c:pt idx="19">
                  <c:v>7.2115016270085874</c:v>
                </c:pt>
                <c:pt idx="20">
                  <c:v>5.5989660256360096</c:v>
                </c:pt>
                <c:pt idx="21">
                  <c:v>6.5491265524556752</c:v>
                </c:pt>
                <c:pt idx="22">
                  <c:v>3.1298616673461233</c:v>
                </c:pt>
                <c:pt idx="23">
                  <c:v>-3.4901051939328021</c:v>
                </c:pt>
                <c:pt idx="24">
                  <c:v>-2.9210981543395853</c:v>
                </c:pt>
                <c:pt idx="25">
                  <c:v>-3.9390493807297311</c:v>
                </c:pt>
                <c:pt idx="26">
                  <c:v>-2.0259148310695529</c:v>
                </c:pt>
                <c:pt idx="27">
                  <c:v>-3.8250200059309236</c:v>
                </c:pt>
                <c:pt idx="28">
                  <c:v>-2.6736492468363515</c:v>
                </c:pt>
                <c:pt idx="29">
                  <c:v>-1.6955255925977575</c:v>
                </c:pt>
                <c:pt idx="30">
                  <c:v>-5.5725712751089951</c:v>
                </c:pt>
                <c:pt idx="31">
                  <c:v>3.0410404454419115</c:v>
                </c:pt>
                <c:pt idx="32">
                  <c:v>5.7095443205168017</c:v>
                </c:pt>
                <c:pt idx="33">
                  <c:v>6.3664370386800506</c:v>
                </c:pt>
                <c:pt idx="34">
                  <c:v>6.670276589096602</c:v>
                </c:pt>
                <c:pt idx="35">
                  <c:v>4.75896006802774</c:v>
                </c:pt>
                <c:pt idx="36">
                  <c:v>4.2751135714452104</c:v>
                </c:pt>
                <c:pt idx="37">
                  <c:v>3.6579370540674283</c:v>
                </c:pt>
                <c:pt idx="38">
                  <c:v>2.7518906745811478</c:v>
                </c:pt>
                <c:pt idx="39">
                  <c:v>1.5410658788317377</c:v>
                </c:pt>
                <c:pt idx="40">
                  <c:v>3.6251295263198369</c:v>
                </c:pt>
                <c:pt idx="41">
                  <c:v>6.2321475123973347</c:v>
                </c:pt>
                <c:pt idx="42">
                  <c:v>6.9963774966702363</c:v>
                </c:pt>
                <c:pt idx="43">
                  <c:v>5.8720086152168172</c:v>
                </c:pt>
                <c:pt idx="44">
                  <c:v>3.5795906730530458</c:v>
                </c:pt>
                <c:pt idx="45">
                  <c:v>6.2665402555343253</c:v>
                </c:pt>
                <c:pt idx="46">
                  <c:v>6.7326769076952786</c:v>
                </c:pt>
                <c:pt idx="47">
                  <c:v>7.1456599611089189</c:v>
                </c:pt>
                <c:pt idx="48">
                  <c:v>6.1323911729056935</c:v>
                </c:pt>
                <c:pt idx="49">
                  <c:v>5.1358801428170953</c:v>
                </c:pt>
                <c:pt idx="50">
                  <c:v>2.0242584236472627</c:v>
                </c:pt>
                <c:pt idx="51">
                  <c:v>1.3015332237453769</c:v>
                </c:pt>
                <c:pt idx="52">
                  <c:v>4.1265982451317296</c:v>
                </c:pt>
                <c:pt idx="53">
                  <c:v>6.1785572234793307</c:v>
                </c:pt>
                <c:pt idx="54">
                  <c:v>4.2950685312765913</c:v>
                </c:pt>
                <c:pt idx="55">
                  <c:v>3.1513794883951007</c:v>
                </c:pt>
                <c:pt idx="56">
                  <c:v>-1.4164933455208306</c:v>
                </c:pt>
                <c:pt idx="57">
                  <c:v>-0.71546657779890666</c:v>
                </c:pt>
                <c:pt idx="58">
                  <c:v>2.5608707344913384</c:v>
                </c:pt>
                <c:pt idx="59">
                  <c:v>1.2053498017250419</c:v>
                </c:pt>
                <c:pt idx="60">
                  <c:v>-3.9541930749947163</c:v>
                </c:pt>
                <c:pt idx="61">
                  <c:v>-1.5436892399614877</c:v>
                </c:pt>
                <c:pt idx="62">
                  <c:v>-1.3156625986632697</c:v>
                </c:pt>
                <c:pt idx="63">
                  <c:v>-3.1778867930333021</c:v>
                </c:pt>
                <c:pt idx="64">
                  <c:v>-2.6246523043300662</c:v>
                </c:pt>
                <c:pt idx="65">
                  <c:v>-1.6678106219086608</c:v>
                </c:pt>
                <c:pt idx="66">
                  <c:v>-1.0361904184662762</c:v>
                </c:pt>
                <c:pt idx="67">
                  <c:v>-2.0603593436394618</c:v>
                </c:pt>
                <c:pt idx="68">
                  <c:v>-2.555258941709404</c:v>
                </c:pt>
                <c:pt idx="69">
                  <c:v>-3.700761794272811</c:v>
                </c:pt>
                <c:pt idx="70">
                  <c:v>-2.7777953120954102</c:v>
                </c:pt>
                <c:pt idx="71">
                  <c:v>-3.5664810861945284</c:v>
                </c:pt>
                <c:pt idx="72">
                  <c:v>-0.31855060291161585</c:v>
                </c:pt>
                <c:pt idx="73">
                  <c:v>2.108981446890823</c:v>
                </c:pt>
                <c:pt idx="74">
                  <c:v>0.40845554737156675</c:v>
                </c:pt>
                <c:pt idx="75">
                  <c:v>1.296191896222787</c:v>
                </c:pt>
                <c:pt idx="76">
                  <c:v>3.2685303061561477</c:v>
                </c:pt>
                <c:pt idx="77">
                  <c:v>3.0001759660539307</c:v>
                </c:pt>
                <c:pt idx="78">
                  <c:v>-0.80480243232887716</c:v>
                </c:pt>
                <c:pt idx="79">
                  <c:v>-2.4925230437046864</c:v>
                </c:pt>
                <c:pt idx="80">
                  <c:v>-3.9090536311768176</c:v>
                </c:pt>
                <c:pt idx="81">
                  <c:v>-5.7512319489945618</c:v>
                </c:pt>
                <c:pt idx="82">
                  <c:v>-3.5479196162139903</c:v>
                </c:pt>
                <c:pt idx="83">
                  <c:v>-5.0767190434309661</c:v>
                </c:pt>
                <c:pt idx="84">
                  <c:v>-6.6379291934730134</c:v>
                </c:pt>
                <c:pt idx="85">
                  <c:v>-7.0195902838290358</c:v>
                </c:pt>
                <c:pt idx="86">
                  <c:v>-5.8174661494939883</c:v>
                </c:pt>
                <c:pt idx="87">
                  <c:v>-4.0202164180379807</c:v>
                </c:pt>
                <c:pt idx="88">
                  <c:v>-2.6102508449210138</c:v>
                </c:pt>
                <c:pt idx="89">
                  <c:v>-0.82058989226196921</c:v>
                </c:pt>
                <c:pt idx="90">
                  <c:v>1.0674538055770011</c:v>
                </c:pt>
                <c:pt idx="91">
                  <c:v>2.8099721690379997</c:v>
                </c:pt>
                <c:pt idx="92">
                  <c:v>3.5370329739790041</c:v>
                </c:pt>
                <c:pt idx="93">
                  <c:v>3.4819049890930209</c:v>
                </c:pt>
                <c:pt idx="94">
                  <c:v>4.5812974070070567</c:v>
                </c:pt>
              </c:numCache>
            </c:numRef>
          </c:val>
          <c:smooth val="0"/>
        </c:ser>
        <c:dLbls>
          <c:showLegendKey val="0"/>
          <c:showVal val="0"/>
          <c:showCatName val="0"/>
          <c:showSerName val="0"/>
          <c:showPercent val="0"/>
          <c:showBubbleSize val="0"/>
        </c:dLbls>
        <c:marker val="1"/>
        <c:smooth val="0"/>
        <c:axId val="153429888"/>
        <c:axId val="153431424"/>
      </c:lineChart>
      <c:dateAx>
        <c:axId val="153429888"/>
        <c:scaling>
          <c:orientation val="minMax"/>
        </c:scaling>
        <c:delete val="0"/>
        <c:axPos val="b"/>
        <c:numFmt formatCode="m/d/yyyy" sourceLinked="1"/>
        <c:majorTickMark val="out"/>
        <c:minorTickMark val="none"/>
        <c:tickLblPos val="low"/>
        <c:crossAx val="153431424"/>
        <c:crosses val="autoZero"/>
        <c:auto val="1"/>
        <c:lblOffset val="100"/>
        <c:baseTimeUnit val="months"/>
      </c:dateAx>
      <c:valAx>
        <c:axId val="153431424"/>
        <c:scaling>
          <c:orientation val="minMax"/>
        </c:scaling>
        <c:delete val="0"/>
        <c:axPos val="l"/>
        <c:numFmt formatCode="_(* #,##0_);_(* \(#,##0\);_(* &quot;-&quot;??_);_(@_)" sourceLinked="1"/>
        <c:majorTickMark val="out"/>
        <c:minorTickMark val="none"/>
        <c:tickLblPos val="nextTo"/>
        <c:crossAx val="153429888"/>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3</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4</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5</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6</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7</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8</a:t>
            </a:fld>
            <a:endParaRPr lang="en-US" dirty="0"/>
          </a:p>
        </p:txBody>
      </p:sp>
    </p:spTree>
    <p:extLst>
      <p:ext uri="{BB962C8B-B14F-4D97-AF65-F5344CB8AC3E}">
        <p14:creationId xmlns:p14="http://schemas.microsoft.com/office/powerpoint/2010/main" val="245206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3.jpeg"/><Relationship Id="rId1" Type="http://schemas.openxmlformats.org/officeDocument/2006/relationships/slideMaster" Target="../slideMasters/slideMaster20.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0.xml"/><Relationship Id="rId5" Type="http://schemas.openxmlformats.org/officeDocument/2006/relationships/image" Target="../media/image8.emf"/><Relationship Id="rId4" Type="http://schemas.openxmlformats.org/officeDocument/2006/relationships/image" Target="../media/image4.gif"/></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0.xml"/><Relationship Id="rId5" Type="http://schemas.openxmlformats.org/officeDocument/2006/relationships/image" Target="../media/image8.emf"/><Relationship Id="rId4" Type="http://schemas.openxmlformats.org/officeDocument/2006/relationships/image" Target="../media/image4.gif"/></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slideMaster" Target="../slideMasters/slideMaster20.xml"/><Relationship Id="rId4" Type="http://schemas.openxmlformats.org/officeDocument/2006/relationships/image" Target="../media/image8.emf"/></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5.jpeg"/><Relationship Id="rId1" Type="http://schemas.openxmlformats.org/officeDocument/2006/relationships/slideMaster" Target="../slideMasters/slideMaster2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jpeg"/><Relationship Id="rId1" Type="http://schemas.openxmlformats.org/officeDocument/2006/relationships/slideMaster" Target="../slideMasters/slideMaster20.xml"/><Relationship Id="rId4" Type="http://schemas.openxmlformats.org/officeDocument/2006/relationships/image" Target="../media/image8.emf"/></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3.jpeg"/><Relationship Id="rId1" Type="http://schemas.openxmlformats.org/officeDocument/2006/relationships/slideMaster" Target="../slideMasters/slideMaster20.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pPr defTabSz="1018824" fontAlgn="auto">
              <a:spcBef>
                <a:spcPts val="0"/>
              </a:spcBef>
              <a:spcAft>
                <a:spcPts val="0"/>
              </a:spcAft>
            </a:pPr>
            <a:endParaRPr lang="en-US" sz="2000" dirty="0">
              <a:solidFill>
                <a:srgbClr val="000000"/>
              </a:solidFill>
              <a:latin typeface="Calibri"/>
            </a:endParaRPr>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pPr defTabSz="1018824" fontAlgn="auto">
              <a:spcBef>
                <a:spcPts val="0"/>
              </a:spcBef>
              <a:spcAft>
                <a:spcPts val="0"/>
              </a:spcAft>
            </a:pPr>
            <a:endParaRPr lang="en-US" sz="2000" dirty="0">
              <a:solidFill>
                <a:srgbClr val="000000"/>
              </a:solidFill>
              <a:latin typeface="Calibri"/>
            </a:endParaRPr>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38843896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Tree>
    <p:extLst>
      <p:ext uri="{BB962C8B-B14F-4D97-AF65-F5344CB8AC3E}">
        <p14:creationId xmlns:p14="http://schemas.microsoft.com/office/powerpoint/2010/main" val="42293155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6397745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2177207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3288427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2980160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14604023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0043060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2030932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Tree>
    <p:extLst>
      <p:ext uri="{BB962C8B-B14F-4D97-AF65-F5344CB8AC3E}">
        <p14:creationId xmlns:p14="http://schemas.microsoft.com/office/powerpoint/2010/main" val="35597470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7165245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5980246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03381405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9619567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78450009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8367404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719268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16.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3.xml"/><Relationship Id="rId7" Type="http://schemas.openxmlformats.org/officeDocument/2006/relationships/image" Target="../media/image1.pn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theme" Target="../theme/theme17.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theme" Target="../theme/theme1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4.xml"/><Relationship Id="rId7" Type="http://schemas.openxmlformats.org/officeDocument/2006/relationships/theme" Target="../theme/theme19.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theme" Target="../theme/theme20.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19" Type="http://schemas.openxmlformats.org/officeDocument/2006/relationships/image" Target="../media/image7.emf"/><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defTabSz="1018824" fontAlgn="auto">
              <a:spcBef>
                <a:spcPts val="0"/>
              </a:spcBef>
              <a:spcAft>
                <a:spcPts val="0"/>
              </a:spcAft>
              <a:defRPr/>
            </a:pPr>
            <a:r>
              <a:rPr lang="en-US" sz="900" b="1" dirty="0" smtClean="0">
                <a:solidFill>
                  <a:srgbClr val="203353"/>
                </a:solidFill>
                <a:latin typeface="Calibri" pitchFamily="34" charset="0"/>
              </a:rPr>
              <a:t>PAGE </a:t>
            </a:r>
            <a:fld id="{54B17DE0-6D87-48AB-BBA0-9128AA86CC3B}" type="slidenum">
              <a:rPr lang="en-US" sz="900" b="1">
                <a:solidFill>
                  <a:srgbClr val="203353"/>
                </a:solidFill>
                <a:latin typeface="Calibri" pitchFamily="34" charset="0"/>
              </a:rPr>
              <a:pPr defTabSz="1018824" fontAlgn="auto">
                <a:spcBef>
                  <a:spcPts val="0"/>
                </a:spcBef>
                <a:spcAft>
                  <a:spcPts val="0"/>
                </a:spcAft>
                <a:defRPr/>
              </a:pPr>
              <a:t>‹#›</a:t>
            </a:fld>
            <a:endParaRPr lang="en-US" sz="900" b="1" dirty="0">
              <a:solidFill>
                <a:srgbClr val="203353"/>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9"/>
          <a:stretch>
            <a:fillRect/>
          </a:stretch>
        </p:blipFill>
        <p:spPr>
          <a:xfrm>
            <a:off x="283529" y="320040"/>
            <a:ext cx="2478795" cy="457200"/>
          </a:xfrm>
          <a:prstGeom prst="rect">
            <a:avLst/>
          </a:prstGeom>
        </p:spPr>
      </p:pic>
    </p:spTree>
    <p:extLst>
      <p:ext uri="{BB962C8B-B14F-4D97-AF65-F5344CB8AC3E}">
        <p14:creationId xmlns:p14="http://schemas.microsoft.com/office/powerpoint/2010/main" val="584685491"/>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chart" Target="../charts/char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Jumbo Conforming Mortgage Rates</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March 2017</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2829640" y="3133703"/>
            <a:ext cx="6709063" cy="12064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50" name="Rectangle 49"/>
          <p:cNvSpPr/>
          <p:nvPr/>
        </p:nvSpPr>
        <p:spPr>
          <a:xfrm>
            <a:off x="2822714" y="1595459"/>
            <a:ext cx="6702286" cy="103504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2" name="Title 1"/>
          <p:cNvSpPr>
            <a:spLocks noGrp="1"/>
          </p:cNvSpPr>
          <p:nvPr>
            <p:ph type="title"/>
          </p:nvPr>
        </p:nvSpPr>
        <p:spPr/>
        <p:txBody>
          <a:bodyPr/>
          <a:lstStyle/>
          <a:p>
            <a:r>
              <a:rPr lang="en-US" dirty="0" smtClean="0"/>
              <a:t>CONFORMING LOAN LIMITS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Fannie Mae and Freddie Mac are prohibited from purchasing mortgages that have balances greater than a specific amount called the </a:t>
            </a:r>
            <a:r>
              <a:rPr lang="en-US" sz="1200" dirty="0" smtClean="0">
                <a:solidFill>
                  <a:schemeClr val="tx1"/>
                </a:solidFill>
                <a:latin typeface="+mn-lt"/>
              </a:rPr>
              <a:t>conforming loan limit</a:t>
            </a:r>
            <a:r>
              <a:rPr lang="en-US" sz="1200" b="0" dirty="0" smtClean="0">
                <a:solidFill>
                  <a:schemeClr val="tx1"/>
                </a:solidFill>
                <a:latin typeface="+mn-lt"/>
              </a:rPr>
              <a:t>.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housing crisis of 2007-2009 resulted in temporary increases in loan limits so that the GSEs could support a broader range of residential mortgages, particularly the prime jumbo market.</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Regulation passed in 2008 created a two-tier system of conforming loan limits – a </a:t>
            </a:r>
            <a:r>
              <a:rPr lang="en-US" sz="1200" dirty="0" smtClean="0">
                <a:solidFill>
                  <a:schemeClr val="tx1"/>
                </a:solidFill>
                <a:latin typeface="+mn-lt"/>
              </a:rPr>
              <a:t>Baseline</a:t>
            </a:r>
            <a:r>
              <a:rPr lang="en-US" sz="1200" b="0" dirty="0" smtClean="0">
                <a:solidFill>
                  <a:schemeClr val="tx1"/>
                </a:solidFill>
                <a:latin typeface="+mn-lt"/>
              </a:rPr>
              <a:t> and a </a:t>
            </a:r>
            <a:r>
              <a:rPr lang="en-US" sz="1200" dirty="0" smtClean="0">
                <a:solidFill>
                  <a:schemeClr val="tx1"/>
                </a:solidFill>
                <a:latin typeface="+mn-lt"/>
              </a:rPr>
              <a:t>High-Cost</a:t>
            </a:r>
            <a:r>
              <a:rPr lang="en-US" sz="1200" b="0" dirty="0" smtClean="0">
                <a:solidFill>
                  <a:schemeClr val="tx1"/>
                </a:solidFill>
                <a:latin typeface="+mn-lt"/>
              </a:rPr>
              <a:t> limit.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Mortgages that meet GSE underwriting guidelines and that have loan balances between the Baseline and a High-Cost limit are known as </a:t>
            </a:r>
            <a:r>
              <a:rPr lang="en-US" sz="1200" dirty="0" smtClean="0">
                <a:solidFill>
                  <a:schemeClr val="tx1"/>
                </a:solidFill>
                <a:latin typeface="+mn-lt"/>
              </a:rPr>
              <a:t>jumbo-conforming mortgages</a:t>
            </a:r>
            <a:r>
              <a:rPr lang="en-US" sz="1200" b="0" dirty="0" smtClean="0">
                <a:solidFill>
                  <a:schemeClr val="tx1"/>
                </a:solidFill>
                <a:latin typeface="+mn-lt"/>
              </a:rPr>
              <a:t>.  </a:t>
            </a:r>
          </a:p>
          <a:p>
            <a:pPr>
              <a:lnSpc>
                <a:spcPct val="100000"/>
              </a:lnSpc>
              <a:spcBef>
                <a:spcPts val="0"/>
              </a:spcBef>
            </a:pPr>
            <a:r>
              <a:rPr lang="en-US" sz="1200" b="0" dirty="0" smtClean="0">
                <a:solidFill>
                  <a:schemeClr val="tx1"/>
                </a:solidFill>
              </a:rPr>
              <a:t> </a:t>
            </a:r>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2819399" y="1219200"/>
            <a:ext cx="6705601" cy="1411307"/>
            <a:chOff x="2819399" y="1219200"/>
            <a:chExt cx="6705601" cy="1411307"/>
          </a:xfrm>
        </p:grpSpPr>
        <p:sp>
          <p:nvSpPr>
            <p:cNvPr id="19" name="TextBox 18"/>
            <p:cNvSpPr txBox="1"/>
            <p:nvPr/>
          </p:nvSpPr>
          <p:spPr>
            <a:xfrm>
              <a:off x="2819399" y="1219200"/>
              <a:ext cx="4068289"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2E398A"/>
                  </a:solidFill>
                  <a:latin typeface="Calibri"/>
                </a:rPr>
                <a:t>Baseline National Conforming Loan Limit</a:t>
              </a:r>
              <a:endParaRPr lang="en-US" b="1" dirty="0">
                <a:solidFill>
                  <a:srgbClr val="2E398A"/>
                </a:solidFill>
                <a:latin typeface="Calibri"/>
              </a:endParaRPr>
            </a:p>
          </p:txBody>
        </p:sp>
        <p:cxnSp>
          <p:nvCxnSpPr>
            <p:cNvPr id="22" name="Straight Connector 21"/>
            <p:cNvCxnSpPr/>
            <p:nvPr/>
          </p:nvCxnSpPr>
          <p:spPr>
            <a:xfrm>
              <a:off x="2822714" y="1588532"/>
              <a:ext cx="670228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971800" y="1676400"/>
              <a:ext cx="6096000" cy="954107"/>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Baseline loan limit </a:t>
              </a:r>
              <a:r>
                <a:rPr lang="en-US" sz="1400" dirty="0" smtClean="0">
                  <a:solidFill>
                    <a:srgbClr val="000000"/>
                  </a:solidFill>
                  <a:latin typeface="Calibri"/>
                </a:rPr>
                <a:t>was raised to</a:t>
              </a:r>
              <a:r>
                <a:rPr lang="en-US" sz="1400" dirty="0" smtClean="0">
                  <a:solidFill>
                    <a:srgbClr val="000000"/>
                  </a:solidFill>
                  <a:latin typeface="Calibri"/>
                </a:rPr>
                <a:t> </a:t>
              </a:r>
              <a:r>
                <a:rPr lang="en-US" sz="1400" dirty="0" smtClean="0">
                  <a:solidFill>
                    <a:srgbClr val="000000"/>
                  </a:solidFill>
                  <a:latin typeface="Calibri"/>
                </a:rPr>
                <a:t>$424,100 </a:t>
              </a:r>
              <a:r>
                <a:rPr lang="en-US" sz="1400" dirty="0" smtClean="0">
                  <a:solidFill>
                    <a:srgbClr val="000000"/>
                  </a:solidFill>
                  <a:latin typeface="Calibri"/>
                </a:rPr>
                <a:t>in January</a:t>
              </a:r>
              <a:r>
                <a:rPr lang="en-US" sz="1400" dirty="0" smtClean="0">
                  <a:solidFill>
                    <a:srgbClr val="000000"/>
                  </a:solidFill>
                  <a:latin typeface="Calibri"/>
                </a:rPr>
                <a:t> 2017</a:t>
              </a:r>
              <a:endParaRPr lang="en-US" sz="1400"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Adjusted annually using an HPI calculated by FHFA</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Prior house price declines must be fully offset before a loan limit is increased</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3Q 2016 HPI was approximately 1.7% above price levels in Q3 2007</a:t>
              </a:r>
              <a:endParaRPr lang="en-US" sz="1400" dirty="0">
                <a:solidFill>
                  <a:srgbClr val="000000"/>
                </a:solidFill>
                <a:latin typeface="Calibri"/>
              </a:endParaRPr>
            </a:p>
          </p:txBody>
        </p:sp>
      </p:grpSp>
      <p:grpSp>
        <p:nvGrpSpPr>
          <p:cNvPr id="38" name="Group 37"/>
          <p:cNvGrpSpPr/>
          <p:nvPr/>
        </p:nvGrpSpPr>
        <p:grpSpPr>
          <a:xfrm>
            <a:off x="2819400" y="2745057"/>
            <a:ext cx="6705600" cy="1411307"/>
            <a:chOff x="2819400" y="1219200"/>
            <a:chExt cx="6705600" cy="1411307"/>
          </a:xfrm>
        </p:grpSpPr>
        <p:sp>
          <p:nvSpPr>
            <p:cNvPr id="39" name="TextBox 38"/>
            <p:cNvSpPr txBox="1"/>
            <p:nvPr/>
          </p:nvSpPr>
          <p:spPr>
            <a:xfrm>
              <a:off x="2819400" y="1219200"/>
              <a:ext cx="3361384"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968880"/>
                  </a:solidFill>
                  <a:latin typeface="Calibri"/>
                </a:rPr>
                <a:t>Loan Limits in High-Cost Areas</a:t>
              </a:r>
              <a:endParaRPr lang="en-US" b="1" dirty="0">
                <a:solidFill>
                  <a:srgbClr val="968880"/>
                </a:solidFill>
                <a:latin typeface="Calibri"/>
              </a:endParaRPr>
            </a:p>
          </p:txBody>
        </p:sp>
        <p:cxnSp>
          <p:nvCxnSpPr>
            <p:cNvPr id="40" name="Straight Connector 39"/>
            <p:cNvCxnSpPr/>
            <p:nvPr/>
          </p:nvCxnSpPr>
          <p:spPr>
            <a:xfrm>
              <a:off x="2822714" y="1588532"/>
              <a:ext cx="6702286"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971800" y="1676400"/>
              <a:ext cx="6096000" cy="954107"/>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Loan limits are a function of local-area median home values</a:t>
              </a:r>
              <a:endParaRPr lang="en-US" sz="1400"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If 115% local median home value exceeds baseline loan limit, local loan limit = 115% of the median home value</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Cap is $636,150 (150% of $424,100)</a:t>
              </a:r>
              <a:endParaRPr lang="en-US" sz="1400" dirty="0">
                <a:solidFill>
                  <a:srgbClr val="000000"/>
                </a:solidFill>
                <a:latin typeface="Calibri"/>
              </a:endParaRPr>
            </a:p>
          </p:txBody>
        </p:sp>
      </p:grpSp>
      <p:sp>
        <p:nvSpPr>
          <p:cNvPr id="25" name="Rectangle 24"/>
          <p:cNvSpPr/>
          <p:nvPr/>
        </p:nvSpPr>
        <p:spPr>
          <a:xfrm>
            <a:off x="2822864" y="4917024"/>
            <a:ext cx="6416140" cy="98488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grpSp>
        <p:nvGrpSpPr>
          <p:cNvPr id="26" name="Group 25"/>
          <p:cNvGrpSpPr/>
          <p:nvPr/>
        </p:nvGrpSpPr>
        <p:grpSpPr>
          <a:xfrm>
            <a:off x="2816086" y="4600469"/>
            <a:ext cx="6705600" cy="1301440"/>
            <a:chOff x="2819400" y="1219200"/>
            <a:chExt cx="6705600" cy="1518423"/>
          </a:xfrm>
        </p:grpSpPr>
        <p:sp>
          <p:nvSpPr>
            <p:cNvPr id="27" name="TextBox 26"/>
            <p:cNvSpPr txBox="1"/>
            <p:nvPr/>
          </p:nvSpPr>
          <p:spPr>
            <a:xfrm>
              <a:off x="2819400" y="1219200"/>
              <a:ext cx="2057400" cy="430909"/>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ADAEC4">
                      <a:lumMod val="75000"/>
                    </a:srgbClr>
                  </a:solidFill>
                  <a:latin typeface="Calibri"/>
                </a:rPr>
                <a:t>Exceptions</a:t>
              </a:r>
              <a:endParaRPr lang="en-US" b="1" dirty="0">
                <a:solidFill>
                  <a:srgbClr val="ADAEC4">
                    <a:lumMod val="75000"/>
                  </a:srgbClr>
                </a:solidFill>
                <a:latin typeface="Calibri"/>
              </a:endParaRPr>
            </a:p>
          </p:txBody>
        </p:sp>
        <p:cxnSp>
          <p:nvCxnSpPr>
            <p:cNvPr id="28" name="Straight Connector 27"/>
            <p:cNvCxnSpPr/>
            <p:nvPr/>
          </p:nvCxnSpPr>
          <p:spPr>
            <a:xfrm>
              <a:off x="2822714" y="1588532"/>
              <a:ext cx="6702286" cy="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971800" y="1588532"/>
              <a:ext cx="6096000" cy="1149091"/>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Baseline loan limits for Alaska, Hawaii, Guam and the U.S. Virgin Islands are set at 150% of the baseline limit  for the contiguous United States</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Multifamily homes have higher loan limits</a:t>
              </a:r>
              <a:endParaRPr lang="en-US" sz="1400" dirty="0">
                <a:solidFill>
                  <a:srgbClr val="000000"/>
                </a:solidFill>
                <a:latin typeface="Calibri"/>
              </a:endParaRPr>
            </a:p>
            <a:p>
              <a:pPr defTabSz="1018824" fontAlgn="auto">
                <a:spcBef>
                  <a:spcPts val="0"/>
                </a:spcBef>
                <a:spcAft>
                  <a:spcPts val="0"/>
                </a:spcAft>
              </a:pPr>
              <a:r>
                <a:rPr lang="en-US" sz="1600" dirty="0">
                  <a:solidFill>
                    <a:srgbClr val="000000"/>
                  </a:solidFill>
                  <a:latin typeface="Calibri"/>
                </a:rPr>
                <a:t>		</a:t>
              </a:r>
            </a:p>
          </p:txBody>
        </p:sp>
      </p:grpSp>
    </p:spTree>
    <p:extLst>
      <p:ext uri="{BB962C8B-B14F-4D97-AF65-F5344CB8AC3E}">
        <p14:creationId xmlns:p14="http://schemas.microsoft.com/office/powerpoint/2010/main" val="18977386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SECURITIZATION OF JUMBO CONFORMING MORTGAGES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b="0" dirty="0" smtClean="0">
                <a:solidFill>
                  <a:schemeClr val="tx1"/>
                </a:solidFill>
                <a:latin typeface="+mn-lt"/>
              </a:rPr>
              <a:t>Securitization of jumbo conforming loans commenced in 2008 with the expansion of conforming loan limits. Jumbo conforming loans can currently be pooled into either TBAs (up to a maximum of 10%) or Specified Pools. </a:t>
            </a:r>
          </a:p>
        </p:txBody>
      </p:sp>
      <p:sp>
        <p:nvSpPr>
          <p:cNvPr id="7" name="Rectangle 6"/>
          <p:cNvSpPr/>
          <p:nvPr/>
        </p:nvSpPr>
        <p:spPr>
          <a:xfrm>
            <a:off x="2903220" y="1420595"/>
            <a:ext cx="6629400" cy="8229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rtlCol="0">
            <a:spAutoFit/>
          </a:bodyPr>
          <a:lstStyle/>
          <a:p>
            <a:r>
              <a:rPr lang="en-US" sz="1600" b="1" dirty="0" smtClean="0">
                <a:solidFill>
                  <a:schemeClr val="accent1"/>
                </a:solidFill>
                <a:latin typeface="Calibri" panose="020F0502020204030204" pitchFamily="34" charset="0"/>
              </a:rPr>
              <a:t>History </a:t>
            </a:r>
            <a:endParaRPr lang="en-US" sz="1600" b="1" dirty="0">
              <a:solidFill>
                <a:schemeClr val="accent1"/>
              </a:solidFill>
              <a:latin typeface="Calibri" panose="020F0502020204030204" pitchFamily="34" charset="0"/>
            </a:endParaRPr>
          </a:p>
        </p:txBody>
      </p:sp>
      <p:sp>
        <p:nvSpPr>
          <p:cNvPr id="14" name="TextBox 13"/>
          <p:cNvSpPr txBox="1"/>
          <p:nvPr/>
        </p:nvSpPr>
        <p:spPr>
          <a:xfrm>
            <a:off x="2903220" y="1420594"/>
            <a:ext cx="6629400"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latin typeface="Calibri" panose="020F0502020204030204" pitchFamily="34" charset="0"/>
              </a:rPr>
              <a:t>Jumbo conforming mortgages can be pooled into TBAs (FNMA: CL, FHLMC: FGLMC) as of late-2008</a:t>
            </a:r>
          </a:p>
          <a:p>
            <a:pPr marL="285750" indent="-285750">
              <a:buFont typeface="Arial" panose="020B0604020202020204" pitchFamily="34" charset="0"/>
              <a:buChar char="•"/>
            </a:pPr>
            <a:r>
              <a:rPr lang="en-US" sz="1400" dirty="0" smtClean="0">
                <a:latin typeface="Calibri" panose="020F0502020204030204" pitchFamily="34" charset="0"/>
              </a:rPr>
              <a:t>Can be pooled into Agency specified pools as of mid-2008 (FNMA: CK, FHLMC: T6)</a:t>
            </a:r>
          </a:p>
        </p:txBody>
      </p:sp>
      <p:sp>
        <p:nvSpPr>
          <p:cNvPr id="26" name="Rectangle 25"/>
          <p:cNvSpPr/>
          <p:nvPr/>
        </p:nvSpPr>
        <p:spPr>
          <a:xfrm>
            <a:off x="2903220" y="2748344"/>
            <a:ext cx="6629400" cy="214429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Jumbo-conforming loans can be pooled into TBAs up to a maximum of 10% a pool. These loans are eligible for the same rate as a standard conforming borrower.</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Specified pools backed by Jumbo conforming mortgages trade about ~1 point behind TBAs (approximately 25bps in yield space)</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Jumbo-conforming loans have better credit characteristics than the standard conforming borrower.</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Jumbo-conforming loans are subject to a special LLPA charge that is specific to their loan size. This LLPA adjustment was introduced in September 2015 for </a:t>
            </a:r>
            <a:r>
              <a:rPr lang="en-US" sz="1400" dirty="0" smtClean="0">
                <a:solidFill>
                  <a:schemeClr val="tx1"/>
                </a:solidFill>
                <a:latin typeface="Calibri" panose="020F0502020204030204" pitchFamily="34" charset="0"/>
              </a:rPr>
              <a:t>Purchase </a:t>
            </a:r>
            <a:r>
              <a:rPr lang="en-US" sz="1400" dirty="0" smtClean="0">
                <a:solidFill>
                  <a:schemeClr val="tx1"/>
                </a:solidFill>
                <a:latin typeface="Calibri" panose="020F0502020204030204" pitchFamily="34" charset="0"/>
              </a:rPr>
              <a:t>&amp; </a:t>
            </a:r>
            <a:r>
              <a:rPr lang="en-US" sz="1400" dirty="0" smtClean="0">
                <a:solidFill>
                  <a:schemeClr val="tx1"/>
                </a:solidFill>
                <a:latin typeface="Calibri" panose="020F0502020204030204" pitchFamily="34" charset="0"/>
              </a:rPr>
              <a:t>Cash-out </a:t>
            </a:r>
            <a:r>
              <a:rPr lang="en-US" sz="1400" dirty="0" smtClean="0">
                <a:solidFill>
                  <a:schemeClr val="tx1"/>
                </a:solidFill>
                <a:latin typeface="Calibri" panose="020F0502020204030204" pitchFamily="34" charset="0"/>
              </a:rPr>
              <a:t>mortgages. It corresponds to a price adjustment of 0.25%.</a:t>
            </a:r>
          </a:p>
        </p:txBody>
      </p:sp>
      <p:cxnSp>
        <p:nvCxnSpPr>
          <p:cNvPr id="27" name="Straight Connector 26"/>
          <p:cNvCxnSpPr/>
          <p:nvPr/>
        </p:nvCxnSpPr>
        <p:spPr>
          <a:xfrm>
            <a:off x="2903220" y="2746631"/>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903220" y="2363230"/>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Factors Affecting Jumbo Conforming Mortgage Rates</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8537539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POOL-LEVEL MORTGAGE RATE DIFFERENCES</a:t>
            </a:r>
            <a:endParaRPr lang="en-US" sz="1200" b="0" dirty="0"/>
          </a:p>
        </p:txBody>
      </p:sp>
      <p:sp>
        <p:nvSpPr>
          <p:cNvPr id="3" name="TextBox 2"/>
          <p:cNvSpPr txBox="1"/>
          <p:nvPr/>
        </p:nvSpPr>
        <p:spPr>
          <a:xfrm>
            <a:off x="145657" y="1218129"/>
            <a:ext cx="2168665" cy="4385816"/>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spread between PMMS and Jumbo Conforming mortgage rates can be modeled as the difference between WACs on CK and CL pools.</a:t>
            </a: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difference between these WACs has been negative since mid-2013 despite the fact that CK pools trade at a significant discount to TBAs.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implication is that jumbo conforming mortgage rates are </a:t>
            </a:r>
            <a:r>
              <a:rPr lang="en-US" sz="1200" i="1" dirty="0" smtClean="0">
                <a:latin typeface="Calibri" panose="020F0502020204030204" pitchFamily="34" charset="0"/>
              </a:rPr>
              <a:t>lower</a:t>
            </a:r>
            <a:r>
              <a:rPr lang="en-US" sz="1200" dirty="0" smtClean="0">
                <a:latin typeface="Calibri" panose="020F0502020204030204" pitchFamily="34" charset="0"/>
              </a:rPr>
              <a:t> than conforming mortgage rates.</a:t>
            </a: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WAC DIFFERENCES: CK – CL POOLS</a:t>
            </a:r>
          </a:p>
          <a:p>
            <a:pPr algn="ctr"/>
            <a:r>
              <a:rPr lang="en-US" sz="1300" dirty="0" smtClean="0">
                <a:solidFill>
                  <a:srgbClr val="FFFFFF"/>
                </a:solidFill>
              </a:rPr>
              <a:t>(May 2008 – December 2015) </a:t>
            </a:r>
          </a:p>
        </p:txBody>
      </p:sp>
      <p:sp>
        <p:nvSpPr>
          <p:cNvPr id="17" name="TextBox 16"/>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graphicFrame>
        <p:nvGraphicFramePr>
          <p:cNvPr id="18" name="Chart 17"/>
          <p:cNvGraphicFramePr>
            <a:graphicFrameLocks/>
          </p:cNvGraphicFramePr>
          <p:nvPr>
            <p:extLst>
              <p:ext uri="{D42A27DB-BD31-4B8C-83A1-F6EECF244321}">
                <p14:modId xmlns:p14="http://schemas.microsoft.com/office/powerpoint/2010/main" val="146897504"/>
              </p:ext>
            </p:extLst>
          </p:nvPr>
        </p:nvGraphicFramePr>
        <p:xfrm>
          <a:off x="2697480" y="2240756"/>
          <a:ext cx="6720364" cy="419052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4292451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BORROWER CREDIT PROFILE DIFFERENCES</a:t>
            </a:r>
            <a:endParaRPr lang="en-US" sz="1200" b="0" dirty="0"/>
          </a:p>
        </p:txBody>
      </p:sp>
      <p:sp>
        <p:nvSpPr>
          <p:cNvPr id="3" name="TextBox 2"/>
          <p:cNvSpPr txBox="1"/>
          <p:nvPr/>
        </p:nvSpPr>
        <p:spPr>
          <a:xfrm>
            <a:off x="145657" y="1218129"/>
            <a:ext cx="2168665" cy="5309146"/>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We can proxy the difference in credit profiles for the average jumbo and conforming borrower by calculating the average LLPA (by month) for borrowers in CK and CL pools.</a:t>
            </a: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While the LLPA charges suggest that jumbo borrowers do indeed have superior credit characteristics, the LLPA differences are not large enough to account for why jumbo conforming mortgage rates are lower than conforming mortgage rates.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solidFill>
                  <a:srgbClr val="C00000"/>
                </a:solidFill>
                <a:latin typeface="Calibri" panose="020F0502020204030204" pitchFamily="34" charset="0"/>
              </a:rPr>
              <a:t>After 2015-09, there is an addition al LLPA adjustment for Loan Amount &gt; $417,000.</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LLPA PRICE DIFFERENCES: CK – CL POOLS</a:t>
            </a:r>
          </a:p>
          <a:p>
            <a:pPr algn="ctr"/>
            <a:r>
              <a:rPr lang="en-US" sz="1300" dirty="0" smtClean="0">
                <a:solidFill>
                  <a:srgbClr val="FFFFFF"/>
                </a:solidFill>
              </a:rPr>
              <a:t>(July 2008 – December 2015) </a:t>
            </a:r>
          </a:p>
        </p:txBody>
      </p:sp>
      <p:sp>
        <p:nvSpPr>
          <p:cNvPr id="16" name="TextBox 15"/>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graphicFrame>
        <p:nvGraphicFramePr>
          <p:cNvPr id="4" name="Chart 3"/>
          <p:cNvGraphicFramePr/>
          <p:nvPr>
            <p:extLst>
              <p:ext uri="{D42A27DB-BD31-4B8C-83A1-F6EECF244321}">
                <p14:modId xmlns:p14="http://schemas.microsoft.com/office/powerpoint/2010/main" val="2189156455"/>
              </p:ext>
            </p:extLst>
          </p:nvPr>
        </p:nvGraphicFramePr>
        <p:xfrm>
          <a:off x="2613660" y="2161540"/>
          <a:ext cx="6705600" cy="4470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5060913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JUMBO CONFORMING PRODUCTION: TBA VS SPECIFIED POOL </a:t>
            </a:r>
            <a:endParaRPr lang="en-US" sz="1200" b="0" dirty="0"/>
          </a:p>
        </p:txBody>
      </p:sp>
      <p:sp>
        <p:nvSpPr>
          <p:cNvPr id="3" name="TextBox 2"/>
          <p:cNvSpPr txBox="1"/>
          <p:nvPr/>
        </p:nvSpPr>
        <p:spPr>
          <a:xfrm>
            <a:off x="145657" y="1218129"/>
            <a:ext cx="2168665" cy="5493812"/>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We hypothesize that originators are using TBA pricing to subsidize borrowers in CK and T6 pools.  This would make economic sense if done in the context of building a broader banking relationship with high balance borrowers who tend to have higher net worth.</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Given that the significant majority of all jumbo conforming issuance is being securitized in TBAs, the magnitude of the subsidy is significantly lower than the headline price discount that CK and T6 pools trade at.</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TBA SHARE OF JUMBO CONFORMING ISSUANCE</a:t>
            </a:r>
          </a:p>
          <a:p>
            <a:pPr algn="ctr"/>
            <a:r>
              <a:rPr lang="en-US" sz="1300" dirty="0" smtClean="0">
                <a:solidFill>
                  <a:srgbClr val="FFFFFF"/>
                </a:solidFill>
              </a:rPr>
              <a:t>(May 2008 – Jan 2017) </a:t>
            </a:r>
          </a:p>
        </p:txBody>
      </p:sp>
      <p:sp>
        <p:nvSpPr>
          <p:cNvPr id="16" name="TextBox 15"/>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graphicFrame>
        <p:nvGraphicFramePr>
          <p:cNvPr id="17" name="Chart 16"/>
          <p:cNvGraphicFramePr>
            <a:graphicFrameLocks/>
          </p:cNvGraphicFramePr>
          <p:nvPr>
            <p:extLst>
              <p:ext uri="{D42A27DB-BD31-4B8C-83A1-F6EECF244321}">
                <p14:modId xmlns:p14="http://schemas.microsoft.com/office/powerpoint/2010/main" val="3286902833"/>
              </p:ext>
            </p:extLst>
          </p:nvPr>
        </p:nvGraphicFramePr>
        <p:xfrm>
          <a:off x="2583180" y="2141220"/>
          <a:ext cx="7056120" cy="4419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625663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CONSTRUCT JUMBO-CONFORMING MORTGAGE RATE</a:t>
            </a:r>
            <a:endParaRPr lang="en-US" sz="1200" b="0" dirty="0"/>
          </a:p>
        </p:txBody>
      </p:sp>
      <p:sp>
        <p:nvSpPr>
          <p:cNvPr id="3" name="TextBox 2"/>
          <p:cNvSpPr txBox="1"/>
          <p:nvPr/>
        </p:nvSpPr>
        <p:spPr>
          <a:xfrm>
            <a:off x="145657" y="1218129"/>
            <a:ext cx="2168665" cy="6001643"/>
          </a:xfrm>
          <a:prstGeom prst="rect">
            <a:avLst/>
          </a:prstGeom>
          <a:noFill/>
        </p:spPr>
        <p:txBody>
          <a:bodyPr wrap="square" rtlCol="0">
            <a:spAutoFit/>
          </a:bodyPr>
          <a:lstStyle/>
          <a:p>
            <a:pPr>
              <a:spcBef>
                <a:spcPts val="0"/>
              </a:spcBef>
            </a:pPr>
            <a:r>
              <a:rPr lang="en-US" sz="1200" dirty="0">
                <a:latin typeface="Calibri" panose="020F0502020204030204" pitchFamily="34" charset="0"/>
              </a:rPr>
              <a:t>The spread between conforming and Jumbo conforming mortgage rates can be modeled as the difference between WACs on pools with </a:t>
            </a:r>
            <a:r>
              <a:rPr lang="en-US" sz="1200" dirty="0" smtClean="0">
                <a:latin typeface="Calibri" panose="020F0502020204030204" pitchFamily="34" charset="0"/>
              </a:rPr>
              <a:t>difference loan size.</a:t>
            </a:r>
            <a:endParaRPr lang="en-US" sz="1200" dirty="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differentials are calculated by separating all loans in FNCL, FGLMC, FNCK and FGT6 pools into two groups:  high balance loans (Loan size &gt; $417K) and low balance loans (Loan size &lt; $417K).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a:latin typeface="Calibri" panose="020F0502020204030204" pitchFamily="34" charset="0"/>
              </a:rPr>
              <a:t>We also make the following assumptions to control for borrower credit:</a:t>
            </a:r>
          </a:p>
          <a:p>
            <a:pPr marL="171450" indent="-171450">
              <a:lnSpc>
                <a:spcPct val="100000"/>
              </a:lnSpc>
              <a:spcBef>
                <a:spcPts val="0"/>
              </a:spcBef>
              <a:buFont typeface="Arial" panose="020B0604020202020204" pitchFamily="34" charset="0"/>
              <a:buChar char="•"/>
            </a:pPr>
            <a:r>
              <a:rPr lang="en-US" sz="1200" dirty="0">
                <a:latin typeface="Calibri" panose="020F0502020204030204" pitchFamily="34" charset="0"/>
              </a:rPr>
              <a:t>Number of units = 1</a:t>
            </a:r>
          </a:p>
          <a:p>
            <a:pPr marL="171450" indent="-171450">
              <a:lnSpc>
                <a:spcPct val="100000"/>
              </a:lnSpc>
              <a:spcBef>
                <a:spcPts val="0"/>
              </a:spcBef>
              <a:buFont typeface="Arial" panose="020B0604020202020204" pitchFamily="34" charset="0"/>
              <a:buChar char="•"/>
            </a:pPr>
            <a:r>
              <a:rPr lang="en-US" sz="1200" dirty="0">
                <a:latin typeface="Calibri" panose="020F0502020204030204" pitchFamily="34" charset="0"/>
              </a:rPr>
              <a:t>Original LTV &lt;= 80</a:t>
            </a:r>
            <a:r>
              <a:rPr lang="en-US" sz="1200" dirty="0" smtClean="0">
                <a:latin typeface="Calibri" panose="020F0502020204030204" pitchFamily="34" charset="0"/>
              </a:rPr>
              <a:t>%</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Jumbo mortgage rate is then calculated by adding the 6-month WAC spread onto PMMS rate.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Jumbo rate and PMMS rate are fairly close to each other as the WAC spread is close to zero since 2010.</a:t>
            </a:r>
          </a:p>
          <a:p>
            <a:pPr>
              <a:lnSpc>
                <a:spcPct val="100000"/>
              </a:lnSpc>
              <a:spcBef>
                <a:spcPts val="0"/>
              </a:spcBef>
            </a:pPr>
            <a:endParaRPr lang="en-US" sz="1200" dirty="0" smtClean="0">
              <a:solidFill>
                <a:srgbClr val="2E398A"/>
              </a:solidFill>
              <a:latin typeface="Calibri" panose="020F0502020204030204" pitchFamily="34" charset="0"/>
            </a:endParaRPr>
          </a:p>
          <a:p>
            <a:pPr>
              <a:lnSpc>
                <a:spcPct val="100000"/>
              </a:lnSpc>
              <a:spcBef>
                <a:spcPts val="0"/>
              </a:spcBef>
            </a:pPr>
            <a:endParaRPr lang="en-US" sz="1200" dirty="0">
              <a:solidFill>
                <a:srgbClr val="2E398A"/>
              </a:solidFill>
              <a:latin typeface="Calibri" panose="020F0502020204030204" pitchFamily="34" charset="0"/>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6" name="TextBox 5"/>
              <p:cNvSpPr txBox="1"/>
              <p:nvPr/>
            </p:nvSpPr>
            <p:spPr>
              <a:xfrm>
                <a:off x="2703742" y="5035749"/>
                <a:ext cx="5132815" cy="325282"/>
              </a:xfrm>
              <a:prstGeom prst="rect">
                <a:avLst/>
              </a:prstGeom>
              <a:noFill/>
            </p:spPr>
            <p:txBody>
              <a:bodyPr wrap="none" rtlCol="0">
                <a:spAutoFit/>
              </a:bodyPr>
              <a:lstStyle/>
              <a:p>
                <a:r>
                  <a:rPr lang="en-US" sz="1400" i="1" dirty="0" smtClean="0"/>
                  <a:t>Jumbo Mortgage Rate </a:t>
                </a:r>
                <a14:m>
                  <m:oMath xmlns:m="http://schemas.openxmlformats.org/officeDocument/2006/math">
                    <m:r>
                      <a:rPr lang="en-US" sz="1400" i="1" smtClean="0">
                        <a:latin typeface="Cambria Math"/>
                      </a:rPr>
                      <m:t>=</m:t>
                    </m:r>
                    <m:r>
                      <a:rPr lang="en-US" sz="1400" b="0" i="1" smtClean="0">
                        <a:latin typeface="Cambria Math"/>
                      </a:rPr>
                      <m:t>𝑃𝑀𝑀𝑆</m:t>
                    </m:r>
                    <m:r>
                      <a:rPr lang="en-US" sz="1400" b="0" i="1" smtClean="0">
                        <a:latin typeface="Cambria Math"/>
                      </a:rPr>
                      <m:t>+</m:t>
                    </m:r>
                    <m:sSub>
                      <m:sSubPr>
                        <m:ctrlPr>
                          <a:rPr lang="en-US" sz="1400" b="0" i="1" smtClean="0">
                            <a:latin typeface="Cambria Math"/>
                          </a:rPr>
                        </m:ctrlPr>
                      </m:sSubPr>
                      <m:e>
                        <m:r>
                          <a:rPr lang="en-US" sz="1400" i="1">
                            <a:latin typeface="Cambria Math"/>
                          </a:rPr>
                          <m:t>𝑊𝐴𝐶</m:t>
                        </m:r>
                        <m:r>
                          <a:rPr lang="en-US" sz="1400" i="1">
                            <a:latin typeface="Cambria Math"/>
                          </a:rPr>
                          <m:t> </m:t>
                        </m:r>
                        <m:r>
                          <a:rPr lang="en-US" sz="1400" i="1">
                            <a:latin typeface="Cambria Math"/>
                          </a:rPr>
                          <m:t>𝑆𝑝𝑟𝑒𝑎𝑑</m:t>
                        </m:r>
                      </m:e>
                      <m:sub>
                        <m:r>
                          <a:rPr lang="en-US" sz="1400" b="0" i="1" smtClean="0">
                            <a:latin typeface="Cambria Math"/>
                          </a:rPr>
                          <m:t>6</m:t>
                        </m:r>
                        <m:r>
                          <a:rPr lang="en-US" sz="1400" b="0" i="1" smtClean="0">
                            <a:latin typeface="Cambria Math"/>
                          </a:rPr>
                          <m:t>𝑚</m:t>
                        </m:r>
                        <m:r>
                          <a:rPr lang="en-US" sz="1400" b="0" i="1" smtClean="0">
                            <a:latin typeface="Cambria Math"/>
                          </a:rPr>
                          <m:t> </m:t>
                        </m:r>
                        <m:r>
                          <a:rPr lang="en-US" sz="1400" b="0" i="1" smtClean="0">
                            <a:latin typeface="Cambria Math"/>
                          </a:rPr>
                          <m:t>𝑀𝑜𝑣𝑖𝑛𝑔</m:t>
                        </m:r>
                        <m:r>
                          <a:rPr lang="en-US" sz="1400" b="0" i="1" smtClean="0">
                            <a:latin typeface="Cambria Math"/>
                          </a:rPr>
                          <m:t> </m:t>
                        </m:r>
                        <m:r>
                          <a:rPr lang="en-US" sz="1400" b="0" i="1" smtClean="0">
                            <a:latin typeface="Cambria Math"/>
                          </a:rPr>
                          <m:t>𝐴𝑣𝑒𝑟𝑎𝑔𝑒</m:t>
                        </m:r>
                      </m:sub>
                    </m:sSub>
                  </m:oMath>
                </a14:m>
                <a:endParaRPr lang="en-US" sz="1400" dirty="0"/>
              </a:p>
            </p:txBody>
          </p:sp>
        </mc:Choice>
        <mc:Fallback xmlns="">
          <p:sp>
            <p:nvSpPr>
              <p:cNvPr id="6" name="TextBox 5"/>
              <p:cNvSpPr txBox="1">
                <a:spLocks noRot="1" noChangeAspect="1" noMove="1" noResize="1" noEditPoints="1" noAdjustHandles="1" noChangeArrowheads="1" noChangeShapeType="1" noTextEdit="1"/>
              </p:cNvSpPr>
              <p:nvPr/>
            </p:nvSpPr>
            <p:spPr>
              <a:xfrm>
                <a:off x="2703742" y="5035749"/>
                <a:ext cx="5132815" cy="325282"/>
              </a:xfrm>
              <a:prstGeom prst="rect">
                <a:avLst/>
              </a:prstGeom>
              <a:blipFill rotWithShape="1">
                <a:blip r:embed="rId4"/>
                <a:stretch>
                  <a:fillRect l="-356" t="-3774" b="-11321"/>
                </a:stretch>
              </a:blipFill>
            </p:spPr>
            <p:txBody>
              <a:bodyPr/>
              <a:lstStyle/>
              <a:p>
                <a:r>
                  <a:rPr lang="en-US">
                    <a:noFill/>
                  </a:rPr>
                  <a:t> </a:t>
                </a:r>
              </a:p>
            </p:txBody>
          </p:sp>
        </mc:Fallback>
      </mc:AlternateContent>
      <p:sp>
        <p:nvSpPr>
          <p:cNvPr id="5" name="TextBox 4"/>
          <p:cNvSpPr txBox="1"/>
          <p:nvPr/>
        </p:nvSpPr>
        <p:spPr>
          <a:xfrm>
            <a:off x="2703742" y="1231880"/>
            <a:ext cx="6537960" cy="307777"/>
          </a:xfrm>
          <a:prstGeom prst="rect">
            <a:avLst/>
          </a:prstGeom>
          <a:noFill/>
        </p:spPr>
        <p:txBody>
          <a:bodyPr wrap="square" rtlCol="0">
            <a:spAutoFit/>
          </a:bodyPr>
          <a:lstStyle/>
          <a:p>
            <a:r>
              <a:rPr lang="en-US" sz="1400" dirty="0" smtClean="0">
                <a:latin typeface="+mn-lt"/>
              </a:rPr>
              <a:t>Get WAC spread between pools with loan size &gt;= 417k and loan size &lt; 417K</a:t>
            </a:r>
            <a:endParaRPr lang="en-US" sz="1400" dirty="0">
              <a:latin typeface="+mn-lt"/>
            </a:endParaRPr>
          </a:p>
        </p:txBody>
      </p:sp>
      <p:sp>
        <p:nvSpPr>
          <p:cNvPr id="16" name="TextBox 15"/>
          <p:cNvSpPr txBox="1"/>
          <p:nvPr/>
        </p:nvSpPr>
        <p:spPr>
          <a:xfrm>
            <a:off x="2703742" y="3103005"/>
            <a:ext cx="6537960" cy="307777"/>
          </a:xfrm>
          <a:prstGeom prst="rect">
            <a:avLst/>
          </a:prstGeom>
          <a:noFill/>
        </p:spPr>
        <p:txBody>
          <a:bodyPr wrap="square" rtlCol="0">
            <a:spAutoFit/>
          </a:bodyPr>
          <a:lstStyle/>
          <a:p>
            <a:r>
              <a:rPr lang="en-US" sz="1400" dirty="0" smtClean="0">
                <a:latin typeface="+mn-lt"/>
              </a:rPr>
              <a:t>6-month moving average of WAC Spread</a:t>
            </a:r>
            <a:endParaRPr lang="en-US" sz="1400" dirty="0">
              <a:latin typeface="+mn-lt"/>
            </a:endParaRPr>
          </a:p>
        </p:txBody>
      </p:sp>
      <p:graphicFrame>
        <p:nvGraphicFramePr>
          <p:cNvPr id="8" name="Chart 7"/>
          <p:cNvGraphicFramePr/>
          <p:nvPr>
            <p:extLst>
              <p:ext uri="{D42A27DB-BD31-4B8C-83A1-F6EECF244321}">
                <p14:modId xmlns:p14="http://schemas.microsoft.com/office/powerpoint/2010/main" val="1044923199"/>
              </p:ext>
            </p:extLst>
          </p:nvPr>
        </p:nvGraphicFramePr>
        <p:xfrm>
          <a:off x="2766060" y="1539658"/>
          <a:ext cx="6705600" cy="151762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8" name="Chart 17"/>
          <p:cNvGraphicFramePr/>
          <p:nvPr>
            <p:extLst>
              <p:ext uri="{D42A27DB-BD31-4B8C-83A1-F6EECF244321}">
                <p14:modId xmlns:p14="http://schemas.microsoft.com/office/powerpoint/2010/main" val="2371272564"/>
              </p:ext>
            </p:extLst>
          </p:nvPr>
        </p:nvGraphicFramePr>
        <p:xfrm>
          <a:off x="2811780" y="3373759"/>
          <a:ext cx="6842760" cy="151762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9" name="Chart 18"/>
          <p:cNvGraphicFramePr/>
          <p:nvPr>
            <p:extLst>
              <p:ext uri="{D42A27DB-BD31-4B8C-83A1-F6EECF244321}">
                <p14:modId xmlns:p14="http://schemas.microsoft.com/office/powerpoint/2010/main" val="2140837714"/>
              </p:ext>
            </p:extLst>
          </p:nvPr>
        </p:nvGraphicFramePr>
        <p:xfrm>
          <a:off x="2766060" y="5397230"/>
          <a:ext cx="6842760" cy="1517628"/>
        </p:xfrm>
        <a:graphic>
          <a:graphicData uri="http://schemas.openxmlformats.org/drawingml/2006/chart">
            <c:chart xmlns:c="http://schemas.openxmlformats.org/drawingml/2006/chart" xmlns:r="http://schemas.openxmlformats.org/officeDocument/2006/relationships" r:id="rId7"/>
          </a:graphicData>
        </a:graphic>
      </p:graphicFrame>
      <p:sp>
        <p:nvSpPr>
          <p:cNvPr id="9" name="Rectangle 8"/>
          <p:cNvSpPr/>
          <p:nvPr/>
        </p:nvSpPr>
        <p:spPr>
          <a:xfrm>
            <a:off x="2472699" y="1224260"/>
            <a:ext cx="232401"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21" name="Rectangle 20"/>
          <p:cNvSpPr/>
          <p:nvPr/>
        </p:nvSpPr>
        <p:spPr>
          <a:xfrm>
            <a:off x="2472699" y="3103006"/>
            <a:ext cx="232401"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22" name="Rectangle 21"/>
          <p:cNvSpPr/>
          <p:nvPr/>
        </p:nvSpPr>
        <p:spPr>
          <a:xfrm>
            <a:off x="2472699" y="5044501"/>
            <a:ext cx="232401"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3</a:t>
            </a:r>
          </a:p>
        </p:txBody>
      </p:sp>
    </p:spTree>
    <p:extLst>
      <p:ext uri="{BB962C8B-B14F-4D97-AF65-F5344CB8AC3E}">
        <p14:creationId xmlns:p14="http://schemas.microsoft.com/office/powerpoint/2010/main" val="38394892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THE JUMBO-CONFORMING MORTGAGE RATE: CONTROLLING FOR BORROWER CREDIT</a:t>
            </a:r>
            <a:endParaRPr lang="en-US" sz="1200" b="0" dirty="0"/>
          </a:p>
        </p:txBody>
      </p:sp>
      <p:sp>
        <p:nvSpPr>
          <p:cNvPr id="3" name="TextBox 2"/>
          <p:cNvSpPr txBox="1"/>
          <p:nvPr/>
        </p:nvSpPr>
        <p:spPr>
          <a:xfrm>
            <a:off x="145657" y="1218129"/>
            <a:ext cx="2168665" cy="6047809"/>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difference between conforming and jumbo conforming rates is accentuated for high credit borrowers  suggesting that mortgage rate model should also show some dependence on borrower credit.</a:t>
            </a: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differentials are calculated by separating all loans in FNCL, FGLMC, FNCK and FGT6 pools into two groups:  high balance loans (Loan size &gt; $417K) and low balance loans (Loan size &lt; $417K).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We also make the following assumptions to control for borrower credit:</a:t>
            </a:r>
          </a:p>
          <a:p>
            <a:pPr marL="171450" indent="-171450">
              <a:lnSpc>
                <a:spcPct val="100000"/>
              </a:lnSpc>
              <a:spcBef>
                <a:spcPts val="0"/>
              </a:spcBef>
              <a:buFont typeface="Arial" panose="020B0604020202020204" pitchFamily="34" charset="0"/>
              <a:buChar char="•"/>
            </a:pPr>
            <a:r>
              <a:rPr lang="en-US" sz="1200" dirty="0" smtClean="0">
                <a:latin typeface="Calibri" panose="020F0502020204030204" pitchFamily="34" charset="0"/>
              </a:rPr>
              <a:t>Number of units = 1</a:t>
            </a:r>
          </a:p>
          <a:p>
            <a:pPr marL="171450" indent="-171450">
              <a:lnSpc>
                <a:spcPct val="100000"/>
              </a:lnSpc>
              <a:spcBef>
                <a:spcPts val="0"/>
              </a:spcBef>
              <a:buFont typeface="Arial" panose="020B0604020202020204" pitchFamily="34" charset="0"/>
              <a:buChar char="•"/>
            </a:pPr>
            <a:r>
              <a:rPr lang="en-US" sz="1200" dirty="0" smtClean="0">
                <a:latin typeface="Calibri" panose="020F0502020204030204" pitchFamily="34" charset="0"/>
              </a:rPr>
              <a:t>Original LTV &lt;= 80%</a:t>
            </a:r>
          </a:p>
          <a:p>
            <a:pPr marL="171450" indent="-171450">
              <a:lnSpc>
                <a:spcPct val="100000"/>
              </a:lnSpc>
              <a:spcBef>
                <a:spcPts val="0"/>
              </a:spcBef>
              <a:buFont typeface="Arial" panose="020B0604020202020204" pitchFamily="34" charset="0"/>
              <a:buChar char="•"/>
            </a:pPr>
            <a:r>
              <a:rPr lang="en-US" sz="1200" dirty="0" smtClean="0">
                <a:latin typeface="Calibri" panose="020F0502020204030204" pitchFamily="34" charset="0"/>
              </a:rPr>
              <a:t>FICO &gt; 740</a:t>
            </a: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JUMBO CONFORMING AND CONFORMING RATE DIFFERENTIALS: CREDIT CONTROLLED</a:t>
            </a:r>
          </a:p>
          <a:p>
            <a:pPr algn="ctr"/>
            <a:r>
              <a:rPr lang="en-US" sz="1300" dirty="0" smtClean="0">
                <a:solidFill>
                  <a:srgbClr val="FFFFFF"/>
                </a:solidFill>
              </a:rPr>
              <a:t>(July 2008 – January 2017) </a:t>
            </a:r>
          </a:p>
        </p:txBody>
      </p:sp>
      <p:sp>
        <p:nvSpPr>
          <p:cNvPr id="4" name="TextBox 3"/>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graphicFrame>
        <p:nvGraphicFramePr>
          <p:cNvPr id="5" name="Chart 4"/>
          <p:cNvGraphicFramePr/>
          <p:nvPr>
            <p:extLst>
              <p:ext uri="{D42A27DB-BD31-4B8C-83A1-F6EECF244321}">
                <p14:modId xmlns:p14="http://schemas.microsoft.com/office/powerpoint/2010/main" val="3461050805"/>
              </p:ext>
            </p:extLst>
          </p:nvPr>
        </p:nvGraphicFramePr>
        <p:xfrm>
          <a:off x="2628900" y="2131060"/>
          <a:ext cx="7067560" cy="4470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679485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88678</TotalTime>
  <Words>1486</Words>
  <Application>Microsoft Office PowerPoint</Application>
  <PresentationFormat>Custom</PresentationFormat>
  <Paragraphs>148</Paragraphs>
  <Slides>9</Slides>
  <Notes>8</Notes>
  <HiddenSlides>0</HiddenSlides>
  <MMClips>0</MMClips>
  <ScaleCrop>false</ScaleCrop>
  <HeadingPairs>
    <vt:vector size="4" baseType="variant">
      <vt:variant>
        <vt:lpstr>Theme</vt:lpstr>
      </vt:variant>
      <vt:variant>
        <vt:i4>20</vt:i4>
      </vt:variant>
      <vt:variant>
        <vt:lpstr>Slide Titles</vt:lpstr>
      </vt:variant>
      <vt:variant>
        <vt:i4>9</vt:i4>
      </vt:variant>
    </vt:vector>
  </HeadingPairs>
  <TitlesOfParts>
    <vt:vector size="29"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Office Theme</vt:lpstr>
      <vt:lpstr>PowerPoint Presentation</vt:lpstr>
      <vt:lpstr>CONFORMING LOAN LIMITS</vt:lpstr>
      <vt:lpstr>SECURITIZATION OF JUMBO CONFORMING MORTGAGES</vt:lpstr>
      <vt:lpstr>POOL-LEVEL MORTGAGE RATE DIFFERENCES</vt:lpstr>
      <vt:lpstr>BORROWER CREDIT PROFILE DIFFERENCES</vt:lpstr>
      <vt:lpstr>JUMBO CONFORMING PRODUCTION: TBA VS SPECIFIED POOL </vt:lpstr>
      <vt:lpstr>CONSTRUCT JUMBO-CONFORMING MORTGAGE RATE</vt:lpstr>
      <vt:lpstr>THE JUMBO-CONFORMING MORTGAGE RATE: CONTROLLING FOR BORROWER CREDIT</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2585</cp:revision>
  <cp:lastPrinted>2015-08-06T15:23:44Z</cp:lastPrinted>
  <dcterms:created xsi:type="dcterms:W3CDTF">2011-07-07T12:37:32Z</dcterms:created>
  <dcterms:modified xsi:type="dcterms:W3CDTF">2017-04-17T15:11:02Z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