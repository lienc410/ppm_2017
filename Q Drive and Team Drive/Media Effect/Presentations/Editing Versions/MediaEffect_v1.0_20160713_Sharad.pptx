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olors1.xml" ContentType="application/vnd.ms-office.chartcolorstyle+xml"/>
  <Override PartName="/ppt/charts/style1.xml" ContentType="application/vnd.ms-office.chartstyle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  <Override PartName="/ppt/charts/colors4.xml" ContentType="application/vnd.ms-office.chartcolorstyle+xml"/>
  <Override PartName="/ppt/charts/style4.xml" ContentType="application/vnd.ms-office.chartstyle+xml"/>
  <Override PartName="/ppt/charts/colors5.xml" ContentType="application/vnd.ms-office.chartcolorstyle+xml"/>
  <Override PartName="/ppt/charts/style5.xml" ContentType="application/vnd.ms-office.chartstyle+xml"/>
  <Override PartName="/ppt/charts/colors6.xml" ContentType="application/vnd.ms-office.chartcolorstyle+xml"/>
  <Override PartName="/ppt/charts/style6.xml" ContentType="application/vnd.ms-office.chartstyle+xml"/>
  <Override PartName="/ppt/charts/colors7.xml" ContentType="application/vnd.ms-office.chartcolorstyle+xml"/>
  <Override PartName="/ppt/charts/style7.xml" ContentType="application/vnd.ms-office.chartstyle+xml"/>
  <Override PartName="/ppt/charts/colors8.xml" ContentType="application/vnd.ms-office.chartcolorstyle+xml"/>
  <Override PartName="/ppt/charts/style8.xml" ContentType="application/vnd.ms-office.chartstyle+xml"/>
  <Override PartName="/ppt/charts/colors9.xml" ContentType="application/vnd.ms-office.chartcolorstyle+xml"/>
  <Override PartName="/ppt/charts/style9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3"/>
  </p:notesMasterIdLst>
  <p:handoutMasterIdLst>
    <p:handoutMasterId r:id="rId34"/>
  </p:handoutMasterIdLst>
  <p:sldIdLst>
    <p:sldId id="433" r:id="rId16"/>
    <p:sldId id="631" r:id="rId17"/>
    <p:sldId id="649" r:id="rId18"/>
    <p:sldId id="650" r:id="rId19"/>
    <p:sldId id="651" r:id="rId20"/>
    <p:sldId id="652" r:id="rId21"/>
    <p:sldId id="653" r:id="rId22"/>
    <p:sldId id="655" r:id="rId23"/>
    <p:sldId id="654" r:id="rId24"/>
    <p:sldId id="656" r:id="rId25"/>
    <p:sldId id="657" r:id="rId26"/>
    <p:sldId id="658" r:id="rId27"/>
    <p:sldId id="659" r:id="rId28"/>
    <p:sldId id="662" r:id="rId29"/>
    <p:sldId id="663" r:id="rId30"/>
    <p:sldId id="664" r:id="rId31"/>
    <p:sldId id="661" r:id="rId32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273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5">
          <p15:clr>
            <a:srgbClr val="A4A3A4"/>
          </p15:clr>
        </p15:guide>
        <p15:guide id="2" pos="218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8" d="100"/>
          <a:sy n="128" d="100"/>
        </p:scale>
        <p:origin x="-96" y="210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Style" Target="style4.xml"/><Relationship Id="rId2" Type="http://schemas.microsoft.com/office/2011/relationships/chartColorStyle" Target="colors4.xml"/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Style" Target="style5.xml"/><Relationship Id="rId2" Type="http://schemas.microsoft.com/office/2011/relationships/chartColorStyle" Target="colors5.xml"/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Style" Target="style6.xml"/><Relationship Id="rId2" Type="http://schemas.microsoft.com/office/2011/relationships/chartColorStyle" Target="colors6.xml"/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Style" Target="style7.xml"/><Relationship Id="rId2" Type="http://schemas.microsoft.com/office/2011/relationships/chartColorStyle" Target="colors7.xml"/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Style" Target="style8.xml"/><Relationship Id="rId2" Type="http://schemas.microsoft.com/office/2011/relationships/chartColorStyle" Target="colors8.xml"/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Style" Target="style9.xml"/><Relationship Id="rId2" Type="http://schemas.microsoft.com/office/2011/relationships/chartColorStyle" Target="colors9.xml"/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200" dirty="0" smtClean="0"/>
              <a:t>Media</a:t>
            </a:r>
            <a:r>
              <a:rPr lang="en-US" sz="1200" baseline="0" dirty="0" smtClean="0"/>
              <a:t> Effect – Combined Version</a:t>
            </a:r>
            <a:endParaRPr lang="en-US" sz="1200" dirty="0"/>
          </a:p>
        </c:rich>
      </c:tx>
      <c:layout>
        <c:manualLayout>
          <c:xMode val="edge"/>
          <c:yMode val="edge"/>
          <c:x val="0.32598499524864161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6394939049366418E-2"/>
          <c:y val="3.9546124331371897E-2"/>
          <c:w val="0.87254433184605484"/>
          <c:h val="0.6913578850490464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Media_Combined</c:v>
                </c:pt>
              </c:strCache>
            </c:strRef>
          </c:tx>
          <c:spPr>
            <a:ln w="12700">
              <a:solidFill>
                <a:schemeClr val="accent1"/>
              </a:solidFill>
              <a:prstDash val="solid"/>
            </a:ln>
          </c:spPr>
          <c:marker>
            <c:symbol val="none"/>
          </c:marker>
          <c:cat>
            <c:numRef>
              <c:f>Sheet1!$A$2:$A$266</c:f>
              <c:numCache>
                <c:formatCode>m/d/yyyy</c:formatCode>
                <c:ptCount val="265"/>
                <c:pt idx="0">
                  <c:v>34486</c:v>
                </c:pt>
                <c:pt idx="1">
                  <c:v>34516</c:v>
                </c:pt>
                <c:pt idx="2">
                  <c:v>34547</c:v>
                </c:pt>
                <c:pt idx="3">
                  <c:v>34578</c:v>
                </c:pt>
                <c:pt idx="4">
                  <c:v>34608</c:v>
                </c:pt>
                <c:pt idx="5">
                  <c:v>34639</c:v>
                </c:pt>
                <c:pt idx="6">
                  <c:v>34669</c:v>
                </c:pt>
                <c:pt idx="7">
                  <c:v>34700</c:v>
                </c:pt>
                <c:pt idx="8">
                  <c:v>34731</c:v>
                </c:pt>
                <c:pt idx="9">
                  <c:v>34759</c:v>
                </c:pt>
                <c:pt idx="10">
                  <c:v>34790</c:v>
                </c:pt>
                <c:pt idx="11">
                  <c:v>34820</c:v>
                </c:pt>
                <c:pt idx="12">
                  <c:v>34851</c:v>
                </c:pt>
                <c:pt idx="13">
                  <c:v>34881</c:v>
                </c:pt>
                <c:pt idx="14">
                  <c:v>34912</c:v>
                </c:pt>
                <c:pt idx="15">
                  <c:v>34943</c:v>
                </c:pt>
                <c:pt idx="16">
                  <c:v>34973</c:v>
                </c:pt>
                <c:pt idx="17">
                  <c:v>35004</c:v>
                </c:pt>
                <c:pt idx="18">
                  <c:v>35034</c:v>
                </c:pt>
                <c:pt idx="19">
                  <c:v>35065</c:v>
                </c:pt>
                <c:pt idx="20">
                  <c:v>35096</c:v>
                </c:pt>
                <c:pt idx="21">
                  <c:v>35125</c:v>
                </c:pt>
                <c:pt idx="22">
                  <c:v>35156</c:v>
                </c:pt>
                <c:pt idx="23">
                  <c:v>35186</c:v>
                </c:pt>
                <c:pt idx="24">
                  <c:v>35217</c:v>
                </c:pt>
                <c:pt idx="25">
                  <c:v>35247</c:v>
                </c:pt>
                <c:pt idx="26">
                  <c:v>35278</c:v>
                </c:pt>
                <c:pt idx="27">
                  <c:v>35309</c:v>
                </c:pt>
                <c:pt idx="28">
                  <c:v>35339</c:v>
                </c:pt>
                <c:pt idx="29">
                  <c:v>35370</c:v>
                </c:pt>
                <c:pt idx="30">
                  <c:v>35400</c:v>
                </c:pt>
                <c:pt idx="31">
                  <c:v>35431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  <c:pt idx="262">
                  <c:v>42461</c:v>
                </c:pt>
                <c:pt idx="263">
                  <c:v>42491</c:v>
                </c:pt>
                <c:pt idx="264">
                  <c:v>42522</c:v>
                </c:pt>
              </c:numCache>
            </c:numRef>
          </c:cat>
          <c:val>
            <c:numRef>
              <c:f>Sheet1!$B$2:$B$266</c:f>
              <c:numCache>
                <c:formatCode>General</c:formatCode>
                <c:ptCount val="265"/>
                <c:pt idx="0">
                  <c:v>8.9</c:v>
                </c:pt>
                <c:pt idx="1">
                  <c:v>20.079999999999998</c:v>
                </c:pt>
                <c:pt idx="2">
                  <c:v>16.59</c:v>
                </c:pt>
                <c:pt idx="3">
                  <c:v>8.31</c:v>
                </c:pt>
                <c:pt idx="4">
                  <c:v>7.15</c:v>
                </c:pt>
                <c:pt idx="5">
                  <c:v>5</c:v>
                </c:pt>
                <c:pt idx="6">
                  <c:v>2.2400000000000002</c:v>
                </c:pt>
                <c:pt idx="7">
                  <c:v>2.06</c:v>
                </c:pt>
                <c:pt idx="8">
                  <c:v>2.2999999999999998</c:v>
                </c:pt>
                <c:pt idx="9">
                  <c:v>5.29</c:v>
                </c:pt>
                <c:pt idx="10">
                  <c:v>9.5500000000000007</c:v>
                </c:pt>
                <c:pt idx="11">
                  <c:v>12.2</c:v>
                </c:pt>
                <c:pt idx="12">
                  <c:v>24.48</c:v>
                </c:pt>
                <c:pt idx="13">
                  <c:v>38.159999999999997</c:v>
                </c:pt>
                <c:pt idx="14">
                  <c:v>37.31</c:v>
                </c:pt>
                <c:pt idx="15">
                  <c:v>29.61</c:v>
                </c:pt>
                <c:pt idx="16">
                  <c:v>36.619999999999997</c:v>
                </c:pt>
                <c:pt idx="17">
                  <c:v>41.76</c:v>
                </c:pt>
                <c:pt idx="18">
                  <c:v>45.01</c:v>
                </c:pt>
                <c:pt idx="19">
                  <c:v>53.21</c:v>
                </c:pt>
                <c:pt idx="20">
                  <c:v>61.79</c:v>
                </c:pt>
                <c:pt idx="21">
                  <c:v>58.98</c:v>
                </c:pt>
                <c:pt idx="22">
                  <c:v>33.770000000000003</c:v>
                </c:pt>
                <c:pt idx="23">
                  <c:v>22.64</c:v>
                </c:pt>
                <c:pt idx="24">
                  <c:v>17.829999999999998</c:v>
                </c:pt>
                <c:pt idx="25">
                  <c:v>10.56</c:v>
                </c:pt>
                <c:pt idx="26">
                  <c:v>11.47</c:v>
                </c:pt>
                <c:pt idx="27">
                  <c:v>18.420000000000002</c:v>
                </c:pt>
                <c:pt idx="28">
                  <c:v>11.42</c:v>
                </c:pt>
                <c:pt idx="29">
                  <c:v>21.2</c:v>
                </c:pt>
                <c:pt idx="30">
                  <c:v>31.07</c:v>
                </c:pt>
                <c:pt idx="31">
                  <c:v>32.99</c:v>
                </c:pt>
                <c:pt idx="32">
                  <c:v>24.26</c:v>
                </c:pt>
                <c:pt idx="33">
                  <c:v>33.06</c:v>
                </c:pt>
                <c:pt idx="34">
                  <c:v>22.93</c:v>
                </c:pt>
                <c:pt idx="35">
                  <c:v>12.24</c:v>
                </c:pt>
                <c:pt idx="36">
                  <c:v>20.079999999999998</c:v>
                </c:pt>
                <c:pt idx="37">
                  <c:v>29.1</c:v>
                </c:pt>
                <c:pt idx="38">
                  <c:v>36.729999999999997</c:v>
                </c:pt>
                <c:pt idx="39">
                  <c:v>38.840000000000003</c:v>
                </c:pt>
                <c:pt idx="40">
                  <c:v>42</c:v>
                </c:pt>
                <c:pt idx="41">
                  <c:v>49.21</c:v>
                </c:pt>
                <c:pt idx="42">
                  <c:v>55.12</c:v>
                </c:pt>
                <c:pt idx="43">
                  <c:v>59.88</c:v>
                </c:pt>
                <c:pt idx="44">
                  <c:v>71.14</c:v>
                </c:pt>
                <c:pt idx="45">
                  <c:v>68.819999999999993</c:v>
                </c:pt>
                <c:pt idx="46">
                  <c:v>64.319999999999993</c:v>
                </c:pt>
                <c:pt idx="47">
                  <c:v>63.83</c:v>
                </c:pt>
                <c:pt idx="48">
                  <c:v>60.21</c:v>
                </c:pt>
                <c:pt idx="49">
                  <c:v>69.5</c:v>
                </c:pt>
                <c:pt idx="50">
                  <c:v>69.98</c:v>
                </c:pt>
                <c:pt idx="51">
                  <c:v>68.69</c:v>
                </c:pt>
                <c:pt idx="52">
                  <c:v>79.180000000000007</c:v>
                </c:pt>
                <c:pt idx="53">
                  <c:v>79.5</c:v>
                </c:pt>
                <c:pt idx="54">
                  <c:v>68.16</c:v>
                </c:pt>
                <c:pt idx="55">
                  <c:v>72.42</c:v>
                </c:pt>
                <c:pt idx="56">
                  <c:v>65.84</c:v>
                </c:pt>
                <c:pt idx="57">
                  <c:v>60.36</c:v>
                </c:pt>
                <c:pt idx="58">
                  <c:v>46.63</c:v>
                </c:pt>
                <c:pt idx="59">
                  <c:v>50.5</c:v>
                </c:pt>
                <c:pt idx="60">
                  <c:v>34.26</c:v>
                </c:pt>
                <c:pt idx="61">
                  <c:v>17.87</c:v>
                </c:pt>
                <c:pt idx="62">
                  <c:v>14.68</c:v>
                </c:pt>
                <c:pt idx="63">
                  <c:v>8.66</c:v>
                </c:pt>
                <c:pt idx="64">
                  <c:v>10.19</c:v>
                </c:pt>
                <c:pt idx="65">
                  <c:v>9.32</c:v>
                </c:pt>
                <c:pt idx="66">
                  <c:v>11.13</c:v>
                </c:pt>
                <c:pt idx="67">
                  <c:v>8.3000000000000007</c:v>
                </c:pt>
                <c:pt idx="68">
                  <c:v>4.62</c:v>
                </c:pt>
                <c:pt idx="69">
                  <c:v>3.5</c:v>
                </c:pt>
                <c:pt idx="70">
                  <c:v>4.43</c:v>
                </c:pt>
                <c:pt idx="71">
                  <c:v>5.41</c:v>
                </c:pt>
                <c:pt idx="72">
                  <c:v>2.5499999999999998</c:v>
                </c:pt>
                <c:pt idx="73">
                  <c:v>4.7</c:v>
                </c:pt>
                <c:pt idx="74">
                  <c:v>6.81</c:v>
                </c:pt>
                <c:pt idx="75">
                  <c:v>8.93</c:v>
                </c:pt>
                <c:pt idx="76">
                  <c:v>12</c:v>
                </c:pt>
                <c:pt idx="77">
                  <c:v>16.45</c:v>
                </c:pt>
                <c:pt idx="78">
                  <c:v>19.48</c:v>
                </c:pt>
                <c:pt idx="79">
                  <c:v>32.56</c:v>
                </c:pt>
                <c:pt idx="80">
                  <c:v>48.53</c:v>
                </c:pt>
                <c:pt idx="81">
                  <c:v>48.21</c:v>
                </c:pt>
                <c:pt idx="82">
                  <c:v>53.99</c:v>
                </c:pt>
                <c:pt idx="83">
                  <c:v>48.04</c:v>
                </c:pt>
                <c:pt idx="84">
                  <c:v>42.6</c:v>
                </c:pt>
                <c:pt idx="85">
                  <c:v>40.270000000000003</c:v>
                </c:pt>
                <c:pt idx="86">
                  <c:v>40.840000000000003</c:v>
                </c:pt>
                <c:pt idx="87">
                  <c:v>47.92</c:v>
                </c:pt>
                <c:pt idx="88">
                  <c:v>53.11</c:v>
                </c:pt>
                <c:pt idx="89">
                  <c:v>70.959999999999994</c:v>
                </c:pt>
                <c:pt idx="90">
                  <c:v>68.69</c:v>
                </c:pt>
                <c:pt idx="91">
                  <c:v>38.659999999999997</c:v>
                </c:pt>
                <c:pt idx="92">
                  <c:v>39.96</c:v>
                </c:pt>
                <c:pt idx="93">
                  <c:v>44.02</c:v>
                </c:pt>
                <c:pt idx="94">
                  <c:v>35.49</c:v>
                </c:pt>
                <c:pt idx="95">
                  <c:v>35.24</c:v>
                </c:pt>
                <c:pt idx="96">
                  <c:v>41.76</c:v>
                </c:pt>
                <c:pt idx="97">
                  <c:v>58.66</c:v>
                </c:pt>
                <c:pt idx="98">
                  <c:v>75.8</c:v>
                </c:pt>
                <c:pt idx="99">
                  <c:v>86.83</c:v>
                </c:pt>
                <c:pt idx="100">
                  <c:v>96.58</c:v>
                </c:pt>
                <c:pt idx="101">
                  <c:v>94.68</c:v>
                </c:pt>
                <c:pt idx="102">
                  <c:v>96.46</c:v>
                </c:pt>
                <c:pt idx="103">
                  <c:v>94.13</c:v>
                </c:pt>
                <c:pt idx="104">
                  <c:v>94.64</c:v>
                </c:pt>
                <c:pt idx="105">
                  <c:v>92.39</c:v>
                </c:pt>
                <c:pt idx="106">
                  <c:v>92.94</c:v>
                </c:pt>
                <c:pt idx="107">
                  <c:v>87.89</c:v>
                </c:pt>
                <c:pt idx="108">
                  <c:v>95.7</c:v>
                </c:pt>
                <c:pt idx="109">
                  <c:v>99.71</c:v>
                </c:pt>
                <c:pt idx="110">
                  <c:v>82.71</c:v>
                </c:pt>
                <c:pt idx="111">
                  <c:v>45.84</c:v>
                </c:pt>
                <c:pt idx="112">
                  <c:v>49.05</c:v>
                </c:pt>
                <c:pt idx="113">
                  <c:v>51.74</c:v>
                </c:pt>
                <c:pt idx="114">
                  <c:v>47.69</c:v>
                </c:pt>
                <c:pt idx="115">
                  <c:v>45.42</c:v>
                </c:pt>
                <c:pt idx="116">
                  <c:v>49.82</c:v>
                </c:pt>
                <c:pt idx="117">
                  <c:v>51.16</c:v>
                </c:pt>
                <c:pt idx="118">
                  <c:v>63.81</c:v>
                </c:pt>
                <c:pt idx="119">
                  <c:v>42.1</c:v>
                </c:pt>
                <c:pt idx="120">
                  <c:v>26.08</c:v>
                </c:pt>
                <c:pt idx="121">
                  <c:v>24.87</c:v>
                </c:pt>
                <c:pt idx="122">
                  <c:v>30.01</c:v>
                </c:pt>
                <c:pt idx="123">
                  <c:v>32.74</c:v>
                </c:pt>
                <c:pt idx="124">
                  <c:v>35.369999999999997</c:v>
                </c:pt>
                <c:pt idx="125">
                  <c:v>37.299999999999997</c:v>
                </c:pt>
                <c:pt idx="126">
                  <c:v>36.869999999999997</c:v>
                </c:pt>
                <c:pt idx="127">
                  <c:v>35.03</c:v>
                </c:pt>
                <c:pt idx="128">
                  <c:v>35.880000000000003</c:v>
                </c:pt>
                <c:pt idx="129">
                  <c:v>38.5</c:v>
                </c:pt>
                <c:pt idx="130">
                  <c:v>26.25</c:v>
                </c:pt>
                <c:pt idx="131">
                  <c:v>28.33</c:v>
                </c:pt>
                <c:pt idx="132">
                  <c:v>33.020000000000003</c:v>
                </c:pt>
                <c:pt idx="133">
                  <c:v>41.68</c:v>
                </c:pt>
                <c:pt idx="134">
                  <c:v>33.67</c:v>
                </c:pt>
                <c:pt idx="135">
                  <c:v>27.31</c:v>
                </c:pt>
                <c:pt idx="136">
                  <c:v>27.7</c:v>
                </c:pt>
                <c:pt idx="137">
                  <c:v>19.07</c:v>
                </c:pt>
                <c:pt idx="138">
                  <c:v>12.76</c:v>
                </c:pt>
                <c:pt idx="139">
                  <c:v>13.17</c:v>
                </c:pt>
                <c:pt idx="140">
                  <c:v>15.12</c:v>
                </c:pt>
                <c:pt idx="141">
                  <c:v>12.57</c:v>
                </c:pt>
                <c:pt idx="142">
                  <c:v>11.17</c:v>
                </c:pt>
                <c:pt idx="143">
                  <c:v>8.65</c:v>
                </c:pt>
                <c:pt idx="144">
                  <c:v>7.31</c:v>
                </c:pt>
                <c:pt idx="145">
                  <c:v>6.22</c:v>
                </c:pt>
                <c:pt idx="146">
                  <c:v>5.25</c:v>
                </c:pt>
                <c:pt idx="147">
                  <c:v>8.8800000000000008</c:v>
                </c:pt>
                <c:pt idx="148">
                  <c:v>10.17</c:v>
                </c:pt>
                <c:pt idx="149">
                  <c:v>11.32</c:v>
                </c:pt>
                <c:pt idx="150">
                  <c:v>14.59</c:v>
                </c:pt>
                <c:pt idx="151">
                  <c:v>18.899999999999999</c:v>
                </c:pt>
                <c:pt idx="152">
                  <c:v>17.07</c:v>
                </c:pt>
                <c:pt idx="153">
                  <c:v>14.83</c:v>
                </c:pt>
                <c:pt idx="154">
                  <c:v>19.309999999999999</c:v>
                </c:pt>
                <c:pt idx="155">
                  <c:v>18.28</c:v>
                </c:pt>
                <c:pt idx="156">
                  <c:v>16</c:v>
                </c:pt>
                <c:pt idx="157">
                  <c:v>7.09</c:v>
                </c:pt>
                <c:pt idx="158">
                  <c:v>6.6</c:v>
                </c:pt>
                <c:pt idx="159">
                  <c:v>8.6</c:v>
                </c:pt>
                <c:pt idx="160">
                  <c:v>12.25</c:v>
                </c:pt>
                <c:pt idx="161">
                  <c:v>12.57</c:v>
                </c:pt>
                <c:pt idx="162">
                  <c:v>18.23</c:v>
                </c:pt>
                <c:pt idx="163">
                  <c:v>24.86</c:v>
                </c:pt>
                <c:pt idx="164">
                  <c:v>44.3</c:v>
                </c:pt>
                <c:pt idx="165">
                  <c:v>35.07</c:v>
                </c:pt>
                <c:pt idx="166">
                  <c:v>31.81</c:v>
                </c:pt>
                <c:pt idx="167">
                  <c:v>33.11</c:v>
                </c:pt>
                <c:pt idx="168">
                  <c:v>26.34</c:v>
                </c:pt>
                <c:pt idx="169">
                  <c:v>15.2</c:v>
                </c:pt>
                <c:pt idx="170">
                  <c:v>12.74</c:v>
                </c:pt>
                <c:pt idx="171">
                  <c:v>11.04</c:v>
                </c:pt>
                <c:pt idx="172">
                  <c:v>24.63</c:v>
                </c:pt>
                <c:pt idx="173">
                  <c:v>18.68</c:v>
                </c:pt>
                <c:pt idx="174">
                  <c:v>20.83</c:v>
                </c:pt>
                <c:pt idx="175">
                  <c:v>68.989999999999995</c:v>
                </c:pt>
                <c:pt idx="176">
                  <c:v>86.65</c:v>
                </c:pt>
                <c:pt idx="177">
                  <c:v>80.12</c:v>
                </c:pt>
                <c:pt idx="178">
                  <c:v>87.85</c:v>
                </c:pt>
                <c:pt idx="179">
                  <c:v>96.41</c:v>
                </c:pt>
                <c:pt idx="180">
                  <c:v>93.59</c:v>
                </c:pt>
                <c:pt idx="181">
                  <c:v>54.8</c:v>
                </c:pt>
                <c:pt idx="182">
                  <c:v>67.59</c:v>
                </c:pt>
                <c:pt idx="183">
                  <c:v>66.930000000000007</c:v>
                </c:pt>
                <c:pt idx="184">
                  <c:v>71.53</c:v>
                </c:pt>
                <c:pt idx="185">
                  <c:v>75.099999999999994</c:v>
                </c:pt>
                <c:pt idx="186">
                  <c:v>75.42</c:v>
                </c:pt>
                <c:pt idx="187">
                  <c:v>71.16</c:v>
                </c:pt>
                <c:pt idx="188">
                  <c:v>66.12</c:v>
                </c:pt>
                <c:pt idx="189">
                  <c:v>66.77</c:v>
                </c:pt>
                <c:pt idx="190">
                  <c:v>66.19</c:v>
                </c:pt>
                <c:pt idx="191">
                  <c:v>57.5</c:v>
                </c:pt>
                <c:pt idx="192">
                  <c:v>65.650000000000006</c:v>
                </c:pt>
                <c:pt idx="193">
                  <c:v>70.37</c:v>
                </c:pt>
                <c:pt idx="194">
                  <c:v>75.77</c:v>
                </c:pt>
                <c:pt idx="195">
                  <c:v>80.64</c:v>
                </c:pt>
                <c:pt idx="196">
                  <c:v>82.92</c:v>
                </c:pt>
                <c:pt idx="197">
                  <c:v>86.75</c:v>
                </c:pt>
                <c:pt idx="198">
                  <c:v>80.48</c:v>
                </c:pt>
                <c:pt idx="199">
                  <c:v>62.01</c:v>
                </c:pt>
                <c:pt idx="200">
                  <c:v>58.68</c:v>
                </c:pt>
                <c:pt idx="201">
                  <c:v>50.46</c:v>
                </c:pt>
                <c:pt idx="202">
                  <c:v>53.8</c:v>
                </c:pt>
                <c:pt idx="203">
                  <c:v>52.04</c:v>
                </c:pt>
                <c:pt idx="204">
                  <c:v>56.46</c:v>
                </c:pt>
                <c:pt idx="205">
                  <c:v>60.03</c:v>
                </c:pt>
                <c:pt idx="206">
                  <c:v>58.54</c:v>
                </c:pt>
                <c:pt idx="207">
                  <c:v>71.92</c:v>
                </c:pt>
                <c:pt idx="208">
                  <c:v>79.39</c:v>
                </c:pt>
                <c:pt idx="209">
                  <c:v>79.8</c:v>
                </c:pt>
                <c:pt idx="210">
                  <c:v>82.17</c:v>
                </c:pt>
                <c:pt idx="211">
                  <c:v>81.64</c:v>
                </c:pt>
                <c:pt idx="212">
                  <c:v>81.23</c:v>
                </c:pt>
                <c:pt idx="213">
                  <c:v>80.930000000000007</c:v>
                </c:pt>
                <c:pt idx="214">
                  <c:v>77.61</c:v>
                </c:pt>
                <c:pt idx="215">
                  <c:v>78.95</c:v>
                </c:pt>
                <c:pt idx="216">
                  <c:v>82.87</c:v>
                </c:pt>
                <c:pt idx="217">
                  <c:v>87.27</c:v>
                </c:pt>
                <c:pt idx="218">
                  <c:v>90.03</c:v>
                </c:pt>
                <c:pt idx="219">
                  <c:v>88.27</c:v>
                </c:pt>
                <c:pt idx="220">
                  <c:v>90.12</c:v>
                </c:pt>
                <c:pt idx="221">
                  <c:v>91.78</c:v>
                </c:pt>
                <c:pt idx="222">
                  <c:v>90.94</c:v>
                </c:pt>
                <c:pt idx="223">
                  <c:v>89.58</c:v>
                </c:pt>
                <c:pt idx="224">
                  <c:v>84.47</c:v>
                </c:pt>
                <c:pt idx="225">
                  <c:v>78.2</c:v>
                </c:pt>
                <c:pt idx="226">
                  <c:v>75.37</c:v>
                </c:pt>
                <c:pt idx="227">
                  <c:v>77.319999999999993</c:v>
                </c:pt>
                <c:pt idx="228">
                  <c:v>73.25</c:v>
                </c:pt>
                <c:pt idx="229">
                  <c:v>54.06</c:v>
                </c:pt>
                <c:pt idx="230">
                  <c:v>43.02</c:v>
                </c:pt>
                <c:pt idx="231">
                  <c:v>37.78</c:v>
                </c:pt>
                <c:pt idx="232">
                  <c:v>36.22</c:v>
                </c:pt>
                <c:pt idx="233">
                  <c:v>45.52</c:v>
                </c:pt>
                <c:pt idx="234">
                  <c:v>42.37</c:v>
                </c:pt>
                <c:pt idx="235">
                  <c:v>33.67</c:v>
                </c:pt>
                <c:pt idx="236">
                  <c:v>32.909999999999997</c:v>
                </c:pt>
                <c:pt idx="237">
                  <c:v>37.090000000000003</c:v>
                </c:pt>
                <c:pt idx="238">
                  <c:v>35.659999999999997</c:v>
                </c:pt>
                <c:pt idx="239">
                  <c:v>34.43</c:v>
                </c:pt>
                <c:pt idx="240">
                  <c:v>40.6</c:v>
                </c:pt>
                <c:pt idx="241">
                  <c:v>41.78</c:v>
                </c:pt>
                <c:pt idx="242">
                  <c:v>42.7</c:v>
                </c:pt>
                <c:pt idx="243">
                  <c:v>42.86</c:v>
                </c:pt>
                <c:pt idx="244">
                  <c:v>41.62</c:v>
                </c:pt>
                <c:pt idx="245">
                  <c:v>46.8</c:v>
                </c:pt>
                <c:pt idx="246">
                  <c:v>46.79</c:v>
                </c:pt>
                <c:pt idx="247">
                  <c:v>51.87</c:v>
                </c:pt>
                <c:pt idx="248">
                  <c:v>60.66</c:v>
                </c:pt>
                <c:pt idx="249">
                  <c:v>59.99</c:v>
                </c:pt>
                <c:pt idx="250">
                  <c:v>56.81</c:v>
                </c:pt>
                <c:pt idx="251">
                  <c:v>61.26</c:v>
                </c:pt>
                <c:pt idx="252">
                  <c:v>51.76</c:v>
                </c:pt>
                <c:pt idx="253">
                  <c:v>43.15</c:v>
                </c:pt>
                <c:pt idx="254">
                  <c:v>40.11</c:v>
                </c:pt>
                <c:pt idx="255">
                  <c:v>46.9</c:v>
                </c:pt>
                <c:pt idx="256">
                  <c:v>46.55</c:v>
                </c:pt>
                <c:pt idx="257">
                  <c:v>51.39</c:v>
                </c:pt>
                <c:pt idx="258">
                  <c:v>42.49</c:v>
                </c:pt>
                <c:pt idx="259">
                  <c:v>41.02</c:v>
                </c:pt>
                <c:pt idx="260">
                  <c:v>44.6</c:v>
                </c:pt>
                <c:pt idx="261">
                  <c:v>57.16</c:v>
                </c:pt>
                <c:pt idx="262">
                  <c:v>55.53</c:v>
                </c:pt>
                <c:pt idx="263">
                  <c:v>61.21</c:v>
                </c:pt>
                <c:pt idx="264">
                  <c:v>61.36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970432"/>
        <c:axId val="137971968"/>
      </c:lineChart>
      <c:dateAx>
        <c:axId val="1379704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37971968"/>
        <c:crosses val="autoZero"/>
        <c:auto val="1"/>
        <c:lblOffset val="100"/>
        <c:baseTimeUnit val="months"/>
        <c:majorUnit val="36"/>
        <c:majorTimeUnit val="months"/>
      </c:dateAx>
      <c:valAx>
        <c:axId val="137971968"/>
        <c:scaling>
          <c:orientation val="minMax"/>
          <c:max val="10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3797043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23792940735538415"/>
          <c:h val="4.90889156080487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SMM</a:t>
            </a:r>
            <a:r>
              <a:rPr lang="en-US" baseline="0" dirty="0" smtClean="0"/>
              <a:t> as a Function of Incentive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wavg_smm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-122.61197028771301</c:v>
                </c:pt>
                <c:pt idx="1">
                  <c:v>-70.0944384313526</c:v>
                </c:pt>
                <c:pt idx="2">
                  <c:v>-21.473080249863699</c:v>
                </c:pt>
                <c:pt idx="3">
                  <c:v>26.785315683461199</c:v>
                </c:pt>
                <c:pt idx="4">
                  <c:v>75.359675441029495</c:v>
                </c:pt>
                <c:pt idx="5">
                  <c:v>123.931549805866</c:v>
                </c:pt>
                <c:pt idx="6">
                  <c:v>172.912260420633</c:v>
                </c:pt>
                <c:pt idx="7">
                  <c:v>222.80501587744899</c:v>
                </c:pt>
                <c:pt idx="8">
                  <c:v>271.69049299591302</c:v>
                </c:pt>
                <c:pt idx="9">
                  <c:v>340.19656933394998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2.8780967785789501E-3</c:v>
                </c:pt>
                <c:pt idx="1">
                  <c:v>3.4568971050316501E-3</c:v>
                </c:pt>
                <c:pt idx="2">
                  <c:v>5.3562924725884002E-3</c:v>
                </c:pt>
                <c:pt idx="3">
                  <c:v>1.03279875654955E-2</c:v>
                </c:pt>
                <c:pt idx="4">
                  <c:v>1.97059497606135E-2</c:v>
                </c:pt>
                <c:pt idx="5">
                  <c:v>2.5870142942602301E-2</c:v>
                </c:pt>
                <c:pt idx="6">
                  <c:v>2.8156836036514098E-2</c:v>
                </c:pt>
                <c:pt idx="7">
                  <c:v>3.0356223089129102E-2</c:v>
                </c:pt>
                <c:pt idx="8">
                  <c:v>3.0879969699695298E-2</c:v>
                </c:pt>
                <c:pt idx="9">
                  <c:v>3.09045901177183E-2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8705152"/>
        <c:axId val="138948992"/>
      </c:scatterChart>
      <c:valAx>
        <c:axId val="138705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948992"/>
        <c:crosses val="autoZero"/>
        <c:crossBetween val="midCat"/>
      </c:valAx>
      <c:valAx>
        <c:axId val="13894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7051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26.695233000000002</c:v>
                </c:pt>
                <c:pt idx="1">
                  <c:v>26.526250000000001</c:v>
                </c:pt>
                <c:pt idx="2">
                  <c:v>48.417330999999997</c:v>
                </c:pt>
                <c:pt idx="3">
                  <c:v>48.025381000000003</c:v>
                </c:pt>
                <c:pt idx="4">
                  <c:v>47.576171000000002</c:v>
                </c:pt>
                <c:pt idx="5">
                  <c:v>47.079101999999999</c:v>
                </c:pt>
                <c:pt idx="6">
                  <c:v>46.540875999999997</c:v>
                </c:pt>
                <c:pt idx="7">
                  <c:v>46.001697</c:v>
                </c:pt>
                <c:pt idx="8">
                  <c:v>45.452286000000001</c:v>
                </c:pt>
                <c:pt idx="9">
                  <c:v>44.919747000000001</c:v>
                </c:pt>
                <c:pt idx="10">
                  <c:v>44.392780999999999</c:v>
                </c:pt>
                <c:pt idx="11">
                  <c:v>43.846997000000002</c:v>
                </c:pt>
                <c:pt idx="12">
                  <c:v>43.272418999999999</c:v>
                </c:pt>
                <c:pt idx="13">
                  <c:v>66.246530000000007</c:v>
                </c:pt>
                <c:pt idx="14">
                  <c:v>65.246707000000001</c:v>
                </c:pt>
                <c:pt idx="15">
                  <c:v>64.170428999999999</c:v>
                </c:pt>
                <c:pt idx="16">
                  <c:v>63.090904999999999</c:v>
                </c:pt>
                <c:pt idx="17">
                  <c:v>61.877574000000003</c:v>
                </c:pt>
                <c:pt idx="18">
                  <c:v>38.963394999999998</c:v>
                </c:pt>
                <c:pt idx="19">
                  <c:v>38.32235</c:v>
                </c:pt>
                <c:pt idx="20">
                  <c:v>37.712594000000003</c:v>
                </c:pt>
                <c:pt idx="21">
                  <c:v>37.061529</c:v>
                </c:pt>
                <c:pt idx="22">
                  <c:v>57.163294</c:v>
                </c:pt>
                <c:pt idx="23">
                  <c:v>35.775120000000001</c:v>
                </c:pt>
                <c:pt idx="24">
                  <c:v>35.202691999999999</c:v>
                </c:pt>
                <c:pt idx="25">
                  <c:v>54.768681999999998</c:v>
                </c:pt>
                <c:pt idx="26">
                  <c:v>54.052905000000003</c:v>
                </c:pt>
                <c:pt idx="27">
                  <c:v>53.075097999999997</c:v>
                </c:pt>
                <c:pt idx="28">
                  <c:v>52.088599000000002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088640"/>
        <c:axId val="13909017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097600"/>
        <c:axId val="139096064"/>
      </c:lineChart>
      <c:dateAx>
        <c:axId val="13908864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90176"/>
        <c:crosses val="autoZero"/>
        <c:auto val="1"/>
        <c:lblOffset val="100"/>
        <c:baseTimeUnit val="months"/>
      </c:dateAx>
      <c:valAx>
        <c:axId val="139090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88640"/>
        <c:crosses val="autoZero"/>
        <c:crossBetween val="between"/>
      </c:valAx>
      <c:valAx>
        <c:axId val="139096064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97600"/>
        <c:crosses val="max"/>
        <c:crossBetween val="between"/>
      </c:valAx>
      <c:dateAx>
        <c:axId val="13909760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09606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27.126401999999999</c:v>
                </c:pt>
                <c:pt idx="1">
                  <c:v>39.935087000000003</c:v>
                </c:pt>
                <c:pt idx="2">
                  <c:v>39.677095999999999</c:v>
                </c:pt>
                <c:pt idx="3">
                  <c:v>39.337907000000001</c:v>
                </c:pt>
                <c:pt idx="4">
                  <c:v>38.951047000000003</c:v>
                </c:pt>
                <c:pt idx="5">
                  <c:v>47.364176</c:v>
                </c:pt>
                <c:pt idx="6">
                  <c:v>46.826863000000003</c:v>
                </c:pt>
                <c:pt idx="7">
                  <c:v>46.288077999999999</c:v>
                </c:pt>
                <c:pt idx="8">
                  <c:v>45.744028999999998</c:v>
                </c:pt>
                <c:pt idx="9">
                  <c:v>45.214083000000002</c:v>
                </c:pt>
                <c:pt idx="10">
                  <c:v>54.850727999999997</c:v>
                </c:pt>
                <c:pt idx="11">
                  <c:v>54.206982000000004</c:v>
                </c:pt>
                <c:pt idx="12">
                  <c:v>53.526310000000002</c:v>
                </c:pt>
                <c:pt idx="13">
                  <c:v>66.445462000000006</c:v>
                </c:pt>
                <c:pt idx="14">
                  <c:v>52.022992000000002</c:v>
                </c:pt>
                <c:pt idx="15">
                  <c:v>51.120525000000001</c:v>
                </c:pt>
                <c:pt idx="16">
                  <c:v>63.312302000000003</c:v>
                </c:pt>
                <c:pt idx="17">
                  <c:v>49.222476999999998</c:v>
                </c:pt>
                <c:pt idx="18">
                  <c:v>39.28069</c:v>
                </c:pt>
                <c:pt idx="19">
                  <c:v>38.642646999999997</c:v>
                </c:pt>
                <c:pt idx="20">
                  <c:v>46.861457999999999</c:v>
                </c:pt>
                <c:pt idx="21">
                  <c:v>46.088622000000001</c:v>
                </c:pt>
                <c:pt idx="22">
                  <c:v>45.328035999999997</c:v>
                </c:pt>
                <c:pt idx="23">
                  <c:v>44.555315</c:v>
                </c:pt>
                <c:pt idx="24">
                  <c:v>43.872011000000001</c:v>
                </c:pt>
                <c:pt idx="25">
                  <c:v>43.313510999999998</c:v>
                </c:pt>
                <c:pt idx="26">
                  <c:v>54.352229000000001</c:v>
                </c:pt>
                <c:pt idx="27">
                  <c:v>53.374305</c:v>
                </c:pt>
                <c:pt idx="28">
                  <c:v>52.388088000000003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056640"/>
        <c:axId val="13905817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065600"/>
        <c:axId val="139064064"/>
      </c:lineChart>
      <c:dateAx>
        <c:axId val="13905664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58176"/>
        <c:crosses val="autoZero"/>
        <c:auto val="1"/>
        <c:lblOffset val="100"/>
        <c:baseTimeUnit val="months"/>
      </c:dateAx>
      <c:valAx>
        <c:axId val="139058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56640"/>
        <c:crosses val="autoZero"/>
        <c:crossBetween val="between"/>
      </c:valAx>
      <c:valAx>
        <c:axId val="139064064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 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65600"/>
        <c:crosses val="max"/>
        <c:crossBetween val="between"/>
      </c:valAx>
      <c:dateAx>
        <c:axId val="13906560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06406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36.599668999999999</c:v>
                </c:pt>
                <c:pt idx="1">
                  <c:v>39.934888000000001</c:v>
                </c:pt>
                <c:pt idx="2">
                  <c:v>39.676473999999999</c:v>
                </c:pt>
                <c:pt idx="3">
                  <c:v>39.336480000000002</c:v>
                </c:pt>
                <c:pt idx="4">
                  <c:v>38.948622999999998</c:v>
                </c:pt>
                <c:pt idx="5">
                  <c:v>41.215893999999999</c:v>
                </c:pt>
                <c:pt idx="6">
                  <c:v>46.813426999999997</c:v>
                </c:pt>
                <c:pt idx="7">
                  <c:v>46.270764999999997</c:v>
                </c:pt>
                <c:pt idx="8">
                  <c:v>45.722029999999997</c:v>
                </c:pt>
                <c:pt idx="9">
                  <c:v>45.188718999999999</c:v>
                </c:pt>
                <c:pt idx="10">
                  <c:v>51.674999999999997</c:v>
                </c:pt>
                <c:pt idx="11">
                  <c:v>51.063611000000002</c:v>
                </c:pt>
                <c:pt idx="12">
                  <c:v>53.508290000000002</c:v>
                </c:pt>
                <c:pt idx="13">
                  <c:v>56.077508000000002</c:v>
                </c:pt>
                <c:pt idx="14">
                  <c:v>55.202661999999997</c:v>
                </c:pt>
                <c:pt idx="15">
                  <c:v>54.256529</c:v>
                </c:pt>
                <c:pt idx="16">
                  <c:v>53.311872000000001</c:v>
                </c:pt>
                <c:pt idx="17">
                  <c:v>49.193151999999998</c:v>
                </c:pt>
                <c:pt idx="18">
                  <c:v>45.490884999999999</c:v>
                </c:pt>
                <c:pt idx="19">
                  <c:v>44.755701999999999</c:v>
                </c:pt>
                <c:pt idx="20">
                  <c:v>46.808993000000001</c:v>
                </c:pt>
                <c:pt idx="21">
                  <c:v>46.027489000000003</c:v>
                </c:pt>
                <c:pt idx="22">
                  <c:v>45.257899999999999</c:v>
                </c:pt>
                <c:pt idx="23">
                  <c:v>41.832523000000002</c:v>
                </c:pt>
                <c:pt idx="24">
                  <c:v>41.176636999999999</c:v>
                </c:pt>
                <c:pt idx="25">
                  <c:v>43.228349999999999</c:v>
                </c:pt>
                <c:pt idx="26">
                  <c:v>54.271669000000003</c:v>
                </c:pt>
                <c:pt idx="27">
                  <c:v>44.532955000000001</c:v>
                </c:pt>
                <c:pt idx="28">
                  <c:v>52.289378999999997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434240"/>
        <c:axId val="139440128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443200"/>
        <c:axId val="139441664"/>
      </c:lineChart>
      <c:dateAx>
        <c:axId val="13943424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440128"/>
        <c:crosses val="autoZero"/>
        <c:auto val="1"/>
        <c:lblOffset val="100"/>
        <c:baseTimeUnit val="months"/>
      </c:dateAx>
      <c:valAx>
        <c:axId val="13944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434240"/>
        <c:crosses val="autoZero"/>
        <c:crossBetween val="between"/>
      </c:valAx>
      <c:valAx>
        <c:axId val="139441664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443200"/>
        <c:crosses val="max"/>
        <c:crossBetween val="between"/>
      </c:valAx>
      <c:dateAx>
        <c:axId val="13944320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44166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34.570442999999997</c:v>
                </c:pt>
                <c:pt idx="1">
                  <c:v>30.403874999999999</c:v>
                </c:pt>
                <c:pt idx="2">
                  <c:v>48.036405999999999</c:v>
                </c:pt>
                <c:pt idx="3">
                  <c:v>27.312104999999999</c:v>
                </c:pt>
                <c:pt idx="4">
                  <c:v>47.380011000000003</c:v>
                </c:pt>
                <c:pt idx="5">
                  <c:v>40.816766000000001</c:v>
                </c:pt>
                <c:pt idx="6">
                  <c:v>39.675038000000001</c:v>
                </c:pt>
                <c:pt idx="7">
                  <c:v>38.827947000000002</c:v>
                </c:pt>
                <c:pt idx="8">
                  <c:v>37.293402</c:v>
                </c:pt>
                <c:pt idx="9">
                  <c:v>38.343195999999999</c:v>
                </c:pt>
                <c:pt idx="10">
                  <c:v>50.111145999999998</c:v>
                </c:pt>
                <c:pt idx="11">
                  <c:v>48.705620000000003</c:v>
                </c:pt>
                <c:pt idx="12">
                  <c:v>43.659857000000002</c:v>
                </c:pt>
                <c:pt idx="13">
                  <c:v>56.576853</c:v>
                </c:pt>
                <c:pt idx="14">
                  <c:v>58.909303999999999</c:v>
                </c:pt>
                <c:pt idx="15">
                  <c:v>59.560886000000004</c:v>
                </c:pt>
                <c:pt idx="16">
                  <c:v>54.327522000000002</c:v>
                </c:pt>
                <c:pt idx="17">
                  <c:v>62.101778000000003</c:v>
                </c:pt>
                <c:pt idx="18">
                  <c:v>45.517761</c:v>
                </c:pt>
                <c:pt idx="19">
                  <c:v>45.004066999999999</c:v>
                </c:pt>
                <c:pt idx="20">
                  <c:v>39.884152999999998</c:v>
                </c:pt>
                <c:pt idx="21">
                  <c:v>38.639704999999999</c:v>
                </c:pt>
                <c:pt idx="22">
                  <c:v>54.497414999999997</c:v>
                </c:pt>
                <c:pt idx="23">
                  <c:v>39.600942000000003</c:v>
                </c:pt>
                <c:pt idx="24">
                  <c:v>39.428837000000001</c:v>
                </c:pt>
                <c:pt idx="25">
                  <c:v>55.041820999999999</c:v>
                </c:pt>
                <c:pt idx="26">
                  <c:v>44.411392999999997</c:v>
                </c:pt>
                <c:pt idx="27">
                  <c:v>45.151634000000001</c:v>
                </c:pt>
                <c:pt idx="28">
                  <c:v>71.231966999999997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512832"/>
        <c:axId val="13952281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530240"/>
        <c:axId val="139524352"/>
      </c:lineChart>
      <c:dateAx>
        <c:axId val="13951283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22816"/>
        <c:crosses val="autoZero"/>
        <c:auto val="1"/>
        <c:lblOffset val="100"/>
        <c:baseTimeUnit val="months"/>
      </c:dateAx>
      <c:valAx>
        <c:axId val="139522816"/>
        <c:scaling>
          <c:orientation val="minMax"/>
          <c:max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12832"/>
        <c:crosses val="autoZero"/>
        <c:crossBetween val="between"/>
      </c:valAx>
      <c:valAx>
        <c:axId val="139524352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30240"/>
        <c:crosses val="max"/>
        <c:crossBetween val="between"/>
      </c:valAx>
      <c:dateAx>
        <c:axId val="1395302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524352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28.461682</c:v>
                </c:pt>
                <c:pt idx="1">
                  <c:v>38.267769000000001</c:v>
                </c:pt>
                <c:pt idx="2">
                  <c:v>42.020580000000002</c:v>
                </c:pt>
                <c:pt idx="3">
                  <c:v>36.252279000000001</c:v>
                </c:pt>
                <c:pt idx="4">
                  <c:v>41.369508000000003</c:v>
                </c:pt>
                <c:pt idx="5">
                  <c:v>44.395606999999998</c:v>
                </c:pt>
                <c:pt idx="6">
                  <c:v>42.949210999999998</c:v>
                </c:pt>
                <c:pt idx="7">
                  <c:v>41.910656000000003</c:v>
                </c:pt>
                <c:pt idx="8">
                  <c:v>39.915104999999997</c:v>
                </c:pt>
                <c:pt idx="9">
                  <c:v>41.514690999999999</c:v>
                </c:pt>
                <c:pt idx="10">
                  <c:v>45.134791999999997</c:v>
                </c:pt>
                <c:pt idx="11">
                  <c:v>53.895012999999999</c:v>
                </c:pt>
                <c:pt idx="12">
                  <c:v>50.474572999999999</c:v>
                </c:pt>
                <c:pt idx="13">
                  <c:v>61.763786000000003</c:v>
                </c:pt>
                <c:pt idx="14">
                  <c:v>52.083964999999999</c:v>
                </c:pt>
                <c:pt idx="15">
                  <c:v>51.960458000000003</c:v>
                </c:pt>
                <c:pt idx="16">
                  <c:v>59.583129999999997</c:v>
                </c:pt>
                <c:pt idx="17">
                  <c:v>52.253379000000002</c:v>
                </c:pt>
                <c:pt idx="18">
                  <c:v>41.584229999999998</c:v>
                </c:pt>
                <c:pt idx="19">
                  <c:v>41.196323</c:v>
                </c:pt>
                <c:pt idx="20">
                  <c:v>45.208807</c:v>
                </c:pt>
                <c:pt idx="21">
                  <c:v>44.091268999999997</c:v>
                </c:pt>
                <c:pt idx="22">
                  <c:v>46.736370999999998</c:v>
                </c:pt>
                <c:pt idx="23">
                  <c:v>44.021892999999999</c:v>
                </c:pt>
                <c:pt idx="24">
                  <c:v>43.619973000000002</c:v>
                </c:pt>
                <c:pt idx="25">
                  <c:v>46.015731000000002</c:v>
                </c:pt>
                <c:pt idx="26">
                  <c:v>47.986857000000001</c:v>
                </c:pt>
                <c:pt idx="27">
                  <c:v>49.497559000000003</c:v>
                </c:pt>
                <c:pt idx="28">
                  <c:v>62.992648000000003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665408"/>
        <c:axId val="139666944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670272"/>
        <c:axId val="139668480"/>
      </c:lineChart>
      <c:dateAx>
        <c:axId val="13966540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6944"/>
        <c:crosses val="autoZero"/>
        <c:auto val="1"/>
        <c:lblOffset val="100"/>
        <c:baseTimeUnit val="months"/>
      </c:dateAx>
      <c:valAx>
        <c:axId val="139666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5408"/>
        <c:crosses val="autoZero"/>
        <c:crossBetween val="between"/>
      </c:valAx>
      <c:valAx>
        <c:axId val="139668480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70272"/>
        <c:crosses val="max"/>
        <c:crossBetween val="between"/>
      </c:valAx>
      <c:dateAx>
        <c:axId val="13967027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668480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m/d/yyyy</c:formatCode>
                <c:ptCount val="41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91.117802999999995</c:v>
                </c:pt>
                <c:pt idx="1">
                  <c:v>89.726551999999998</c:v>
                </c:pt>
                <c:pt idx="2">
                  <c:v>86.210350000000005</c:v>
                </c:pt>
                <c:pt idx="3">
                  <c:v>73.276324000000002</c:v>
                </c:pt>
                <c:pt idx="4">
                  <c:v>85.146563</c:v>
                </c:pt>
                <c:pt idx="5">
                  <c:v>70.844374000000002</c:v>
                </c:pt>
                <c:pt idx="6">
                  <c:v>54.985495999999998</c:v>
                </c:pt>
                <c:pt idx="7">
                  <c:v>49.282808000000003</c:v>
                </c:pt>
                <c:pt idx="8">
                  <c:v>39.114857000000001</c:v>
                </c:pt>
                <c:pt idx="9">
                  <c:v>49.736400000000003</c:v>
                </c:pt>
                <c:pt idx="10">
                  <c:v>54.993628000000001</c:v>
                </c:pt>
                <c:pt idx="11">
                  <c:v>49.425398000000001</c:v>
                </c:pt>
                <c:pt idx="12">
                  <c:v>35.546069000000003</c:v>
                </c:pt>
                <c:pt idx="13">
                  <c:v>46.128984000000003</c:v>
                </c:pt>
                <c:pt idx="14">
                  <c:v>48.290080000000003</c:v>
                </c:pt>
                <c:pt idx="15">
                  <c:v>43.741593999999999</c:v>
                </c:pt>
                <c:pt idx="16">
                  <c:v>47.117823000000001</c:v>
                </c:pt>
                <c:pt idx="17">
                  <c:v>48.917057</c:v>
                </c:pt>
                <c:pt idx="18">
                  <c:v>47.469911000000003</c:v>
                </c:pt>
                <c:pt idx="19">
                  <c:v>46.328798999999997</c:v>
                </c:pt>
                <c:pt idx="20">
                  <c:v>44.496349000000002</c:v>
                </c:pt>
                <c:pt idx="21">
                  <c:v>45.306601000000001</c:v>
                </c:pt>
                <c:pt idx="22">
                  <c:v>47.811653</c:v>
                </c:pt>
                <c:pt idx="23">
                  <c:v>58.817337999999999</c:v>
                </c:pt>
                <c:pt idx="24">
                  <c:v>53.764479000000001</c:v>
                </c:pt>
                <c:pt idx="25">
                  <c:v>67.737826999999996</c:v>
                </c:pt>
                <c:pt idx="26">
                  <c:v>56.569763999999999</c:v>
                </c:pt>
                <c:pt idx="27">
                  <c:v>56.275215000000003</c:v>
                </c:pt>
                <c:pt idx="28">
                  <c:v>65.131680000000003</c:v>
                </c:pt>
                <c:pt idx="29">
                  <c:v>56.380181</c:v>
                </c:pt>
                <c:pt idx="30">
                  <c:v>43.539551000000003</c:v>
                </c:pt>
                <c:pt idx="31">
                  <c:v>43.193800000000003</c:v>
                </c:pt>
                <c:pt idx="32">
                  <c:v>48.34104</c:v>
                </c:pt>
                <c:pt idx="33">
                  <c:v>47.028834000000003</c:v>
                </c:pt>
                <c:pt idx="34">
                  <c:v>50.689216000000002</c:v>
                </c:pt>
                <c:pt idx="35">
                  <c:v>47.678427999999997</c:v>
                </c:pt>
                <c:pt idx="36">
                  <c:v>47.405360000000002</c:v>
                </c:pt>
                <c:pt idx="37">
                  <c:v>49.948099999999997</c:v>
                </c:pt>
                <c:pt idx="38">
                  <c:v>52.457138</c:v>
                </c:pt>
                <c:pt idx="39">
                  <c:v>54.454563999999998</c:v>
                </c:pt>
                <c:pt idx="40">
                  <c:v>66.644343000000006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m/d/yyyy</c:formatCode>
                <c:ptCount val="41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</c:numCache>
            </c:num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89.58</c:v>
                </c:pt>
                <c:pt idx="1">
                  <c:v>84.47</c:v>
                </c:pt>
                <c:pt idx="2">
                  <c:v>78.2</c:v>
                </c:pt>
                <c:pt idx="3">
                  <c:v>75.37</c:v>
                </c:pt>
                <c:pt idx="4">
                  <c:v>77.319999999999993</c:v>
                </c:pt>
                <c:pt idx="5">
                  <c:v>73.25</c:v>
                </c:pt>
                <c:pt idx="6">
                  <c:v>54.06</c:v>
                </c:pt>
                <c:pt idx="7">
                  <c:v>43.02</c:v>
                </c:pt>
                <c:pt idx="8">
                  <c:v>37.78</c:v>
                </c:pt>
                <c:pt idx="9">
                  <c:v>36.22</c:v>
                </c:pt>
                <c:pt idx="10">
                  <c:v>45.52</c:v>
                </c:pt>
                <c:pt idx="11">
                  <c:v>42.37</c:v>
                </c:pt>
                <c:pt idx="12">
                  <c:v>33.67</c:v>
                </c:pt>
                <c:pt idx="13">
                  <c:v>32.909999999999997</c:v>
                </c:pt>
                <c:pt idx="14">
                  <c:v>37.090000000000003</c:v>
                </c:pt>
                <c:pt idx="15">
                  <c:v>35.659999999999997</c:v>
                </c:pt>
                <c:pt idx="16">
                  <c:v>34.43</c:v>
                </c:pt>
                <c:pt idx="17">
                  <c:v>40.6</c:v>
                </c:pt>
                <c:pt idx="18">
                  <c:v>41.78</c:v>
                </c:pt>
                <c:pt idx="19">
                  <c:v>42.7</c:v>
                </c:pt>
                <c:pt idx="20">
                  <c:v>42.86</c:v>
                </c:pt>
                <c:pt idx="21">
                  <c:v>41.62</c:v>
                </c:pt>
                <c:pt idx="22">
                  <c:v>46.8</c:v>
                </c:pt>
                <c:pt idx="23">
                  <c:v>46.79</c:v>
                </c:pt>
                <c:pt idx="24">
                  <c:v>51.87</c:v>
                </c:pt>
                <c:pt idx="25">
                  <c:v>60.66</c:v>
                </c:pt>
                <c:pt idx="26">
                  <c:v>59.99</c:v>
                </c:pt>
                <c:pt idx="27">
                  <c:v>56.81</c:v>
                </c:pt>
                <c:pt idx="28">
                  <c:v>61.26</c:v>
                </c:pt>
                <c:pt idx="29">
                  <c:v>51.76</c:v>
                </c:pt>
                <c:pt idx="30">
                  <c:v>43.15</c:v>
                </c:pt>
                <c:pt idx="31">
                  <c:v>40.11</c:v>
                </c:pt>
                <c:pt idx="32">
                  <c:v>46.9</c:v>
                </c:pt>
                <c:pt idx="33">
                  <c:v>46.55</c:v>
                </c:pt>
                <c:pt idx="34">
                  <c:v>51.39</c:v>
                </c:pt>
                <c:pt idx="35">
                  <c:v>42.49</c:v>
                </c:pt>
                <c:pt idx="36">
                  <c:v>41.02</c:v>
                </c:pt>
                <c:pt idx="37">
                  <c:v>44.6</c:v>
                </c:pt>
                <c:pt idx="38">
                  <c:v>57.16</c:v>
                </c:pt>
                <c:pt idx="39">
                  <c:v>55.53</c:v>
                </c:pt>
                <c:pt idx="40">
                  <c:v>61.21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328320"/>
        <c:axId val="138330112"/>
      </c:lineChart>
      <c:dateAx>
        <c:axId val="13832832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30112"/>
        <c:crosses val="autoZero"/>
        <c:auto val="1"/>
        <c:lblOffset val="100"/>
        <c:baseTimeUnit val="months"/>
      </c:dateAx>
      <c:valAx>
        <c:axId val="138330112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28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28.461682</c:v>
                </c:pt>
                <c:pt idx="1">
                  <c:v>38.266083000000002</c:v>
                </c:pt>
                <c:pt idx="2">
                  <c:v>42.017733999999997</c:v>
                </c:pt>
                <c:pt idx="3">
                  <c:v>36.250687999999997</c:v>
                </c:pt>
                <c:pt idx="4">
                  <c:v>41.369832000000002</c:v>
                </c:pt>
                <c:pt idx="5">
                  <c:v>44.399915999999997</c:v>
                </c:pt>
                <c:pt idx="6">
                  <c:v>42.953091999999998</c:v>
                </c:pt>
                <c:pt idx="7">
                  <c:v>41.912222</c:v>
                </c:pt>
                <c:pt idx="8">
                  <c:v>39.913293000000003</c:v>
                </c:pt>
                <c:pt idx="9">
                  <c:v>41.510472</c:v>
                </c:pt>
                <c:pt idx="10">
                  <c:v>45.124352000000002</c:v>
                </c:pt>
                <c:pt idx="11">
                  <c:v>53.887417999999997</c:v>
                </c:pt>
                <c:pt idx="12">
                  <c:v>50.479511000000002</c:v>
                </c:pt>
                <c:pt idx="13">
                  <c:v>61.813704999999999</c:v>
                </c:pt>
                <c:pt idx="14">
                  <c:v>52.157373</c:v>
                </c:pt>
                <c:pt idx="15">
                  <c:v>52.037011</c:v>
                </c:pt>
                <c:pt idx="16">
                  <c:v>59.676254</c:v>
                </c:pt>
                <c:pt idx="17">
                  <c:v>52.337099000000002</c:v>
                </c:pt>
                <c:pt idx="18">
                  <c:v>41.666797000000003</c:v>
                </c:pt>
                <c:pt idx="19">
                  <c:v>41.301279999999998</c:v>
                </c:pt>
                <c:pt idx="20">
                  <c:v>45.339063000000003</c:v>
                </c:pt>
                <c:pt idx="21">
                  <c:v>44.233815</c:v>
                </c:pt>
                <c:pt idx="22">
                  <c:v>46.899898999999998</c:v>
                </c:pt>
                <c:pt idx="23">
                  <c:v>44.179049999999997</c:v>
                </c:pt>
                <c:pt idx="24">
                  <c:v>43.792434999999998</c:v>
                </c:pt>
                <c:pt idx="25">
                  <c:v>46.207022000000002</c:v>
                </c:pt>
                <c:pt idx="26">
                  <c:v>48.193584000000001</c:v>
                </c:pt>
                <c:pt idx="27">
                  <c:v>49.704805</c:v>
                </c:pt>
                <c:pt idx="28">
                  <c:v>63.242910000000002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33.67</c:v>
                </c:pt>
                <c:pt idx="1">
                  <c:v>32.909999999999997</c:v>
                </c:pt>
                <c:pt idx="2">
                  <c:v>37.090000000000003</c:v>
                </c:pt>
                <c:pt idx="3">
                  <c:v>35.659999999999997</c:v>
                </c:pt>
                <c:pt idx="4">
                  <c:v>34.43</c:v>
                </c:pt>
                <c:pt idx="5">
                  <c:v>40.6</c:v>
                </c:pt>
                <c:pt idx="6">
                  <c:v>41.78</c:v>
                </c:pt>
                <c:pt idx="7">
                  <c:v>42.7</c:v>
                </c:pt>
                <c:pt idx="8">
                  <c:v>42.86</c:v>
                </c:pt>
                <c:pt idx="9">
                  <c:v>41.62</c:v>
                </c:pt>
                <c:pt idx="10">
                  <c:v>46.8</c:v>
                </c:pt>
                <c:pt idx="11">
                  <c:v>46.79</c:v>
                </c:pt>
                <c:pt idx="12">
                  <c:v>51.87</c:v>
                </c:pt>
                <c:pt idx="13">
                  <c:v>60.66</c:v>
                </c:pt>
                <c:pt idx="14">
                  <c:v>59.99</c:v>
                </c:pt>
                <c:pt idx="15">
                  <c:v>56.81</c:v>
                </c:pt>
                <c:pt idx="16">
                  <c:v>61.26</c:v>
                </c:pt>
                <c:pt idx="17">
                  <c:v>51.76</c:v>
                </c:pt>
                <c:pt idx="18">
                  <c:v>43.15</c:v>
                </c:pt>
                <c:pt idx="19">
                  <c:v>40.11</c:v>
                </c:pt>
                <c:pt idx="20">
                  <c:v>46.9</c:v>
                </c:pt>
                <c:pt idx="21">
                  <c:v>46.55</c:v>
                </c:pt>
                <c:pt idx="22">
                  <c:v>51.39</c:v>
                </c:pt>
                <c:pt idx="23">
                  <c:v>42.49</c:v>
                </c:pt>
                <c:pt idx="24">
                  <c:v>41.02</c:v>
                </c:pt>
                <c:pt idx="25">
                  <c:v>44.6</c:v>
                </c:pt>
                <c:pt idx="26">
                  <c:v>57.16</c:v>
                </c:pt>
                <c:pt idx="27">
                  <c:v>55.53</c:v>
                </c:pt>
                <c:pt idx="28">
                  <c:v>61.21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360704"/>
        <c:axId val="138362240"/>
      </c:lineChart>
      <c:dateAx>
        <c:axId val="13836070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62240"/>
        <c:crosses val="autoZero"/>
        <c:auto val="1"/>
        <c:lblOffset val="100"/>
        <c:baseTimeUnit val="months"/>
      </c:dateAx>
      <c:valAx>
        <c:axId val="13836224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60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m/d/yyyy</c:formatCode>
                <c:ptCount val="13"/>
                <c:pt idx="0">
                  <c:v>42125</c:v>
                </c:pt>
                <c:pt idx="1">
                  <c:v>42156</c:v>
                </c:pt>
                <c:pt idx="2">
                  <c:v>42186</c:v>
                </c:pt>
                <c:pt idx="3">
                  <c:v>42217</c:v>
                </c:pt>
                <c:pt idx="4">
                  <c:v>42248</c:v>
                </c:pt>
                <c:pt idx="5">
                  <c:v>42278</c:v>
                </c:pt>
                <c:pt idx="6">
                  <c:v>42309</c:v>
                </c:pt>
                <c:pt idx="7">
                  <c:v>42339</c:v>
                </c:pt>
                <c:pt idx="8">
                  <c:v>42370</c:v>
                </c:pt>
                <c:pt idx="9">
                  <c:v>42401</c:v>
                </c:pt>
                <c:pt idx="10">
                  <c:v>42430</c:v>
                </c:pt>
                <c:pt idx="11">
                  <c:v>42461</c:v>
                </c:pt>
                <c:pt idx="12">
                  <c:v>42491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66.736785999999995</c:v>
                </c:pt>
                <c:pt idx="1">
                  <c:v>61.560299999999998</c:v>
                </c:pt>
                <c:pt idx="2">
                  <c:v>45.789422000000002</c:v>
                </c:pt>
                <c:pt idx="3">
                  <c:v>45.593859999999999</c:v>
                </c:pt>
                <c:pt idx="4">
                  <c:v>51.081491999999997</c:v>
                </c:pt>
                <c:pt idx="5">
                  <c:v>49.926008000000003</c:v>
                </c:pt>
                <c:pt idx="6">
                  <c:v>55.096314</c:v>
                </c:pt>
                <c:pt idx="7">
                  <c:v>50.788972000000001</c:v>
                </c:pt>
                <c:pt idx="8">
                  <c:v>50.603577999999999</c:v>
                </c:pt>
                <c:pt idx="9">
                  <c:v>55.986747000000001</c:v>
                </c:pt>
                <c:pt idx="10">
                  <c:v>57.226604999999999</c:v>
                </c:pt>
                <c:pt idx="11">
                  <c:v>58.056626000000001</c:v>
                </c:pt>
                <c:pt idx="12">
                  <c:v>69.911878999999999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m/d/yyyy</c:formatCode>
                <c:ptCount val="13"/>
                <c:pt idx="0">
                  <c:v>42125</c:v>
                </c:pt>
                <c:pt idx="1">
                  <c:v>42156</c:v>
                </c:pt>
                <c:pt idx="2">
                  <c:v>42186</c:v>
                </c:pt>
                <c:pt idx="3">
                  <c:v>42217</c:v>
                </c:pt>
                <c:pt idx="4">
                  <c:v>42248</c:v>
                </c:pt>
                <c:pt idx="5">
                  <c:v>42278</c:v>
                </c:pt>
                <c:pt idx="6">
                  <c:v>42309</c:v>
                </c:pt>
                <c:pt idx="7">
                  <c:v>42339</c:v>
                </c:pt>
                <c:pt idx="8">
                  <c:v>42370</c:v>
                </c:pt>
                <c:pt idx="9">
                  <c:v>42401</c:v>
                </c:pt>
                <c:pt idx="10">
                  <c:v>42430</c:v>
                </c:pt>
                <c:pt idx="11">
                  <c:v>42461</c:v>
                </c:pt>
                <c:pt idx="12">
                  <c:v>42491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61.51</c:v>
                </c:pt>
                <c:pt idx="1">
                  <c:v>53.37</c:v>
                </c:pt>
                <c:pt idx="2">
                  <c:v>46.74</c:v>
                </c:pt>
                <c:pt idx="3">
                  <c:v>42.76</c:v>
                </c:pt>
                <c:pt idx="4">
                  <c:v>48.88</c:v>
                </c:pt>
                <c:pt idx="5">
                  <c:v>48.55</c:v>
                </c:pt>
                <c:pt idx="6">
                  <c:v>51.42</c:v>
                </c:pt>
                <c:pt idx="7">
                  <c:v>45.1</c:v>
                </c:pt>
                <c:pt idx="8">
                  <c:v>43.5</c:v>
                </c:pt>
                <c:pt idx="9">
                  <c:v>46.04</c:v>
                </c:pt>
                <c:pt idx="10">
                  <c:v>56.91</c:v>
                </c:pt>
                <c:pt idx="11">
                  <c:v>60</c:v>
                </c:pt>
                <c:pt idx="12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450432"/>
        <c:axId val="138451968"/>
      </c:lineChart>
      <c:dateAx>
        <c:axId val="13845043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51968"/>
        <c:crosses val="autoZero"/>
        <c:auto val="1"/>
        <c:lblOffset val="100"/>
        <c:baseTimeUnit val="months"/>
      </c:dateAx>
      <c:valAx>
        <c:axId val="13845196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50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5232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323063" y="5898755"/>
            <a:ext cx="6368633" cy="1118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Modeling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 the Forward Evolution of the Media Effect: Model v1.0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July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</a:t>
            </a:r>
            <a:r>
              <a:rPr lang="en-US" sz="1600" dirty="0" smtClean="0">
                <a:latin typeface="+mn-lt"/>
              </a:rPr>
              <a:t>Data </a:t>
            </a:r>
            <a:r>
              <a:rPr lang="en-US" sz="1600" dirty="0" smtClean="0">
                <a:latin typeface="+mn-lt"/>
              </a:rPr>
              <a:t>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Conventional </a:t>
              </a:r>
              <a:r>
                <a:rPr lang="en-US" sz="1400" dirty="0" smtClean="0">
                  <a:latin typeface="+mn-lt"/>
                </a:rPr>
                <a:t>30-year Fixed-rate </a:t>
              </a:r>
              <a:r>
                <a:rPr lang="en-US" sz="1400" dirty="0" smtClean="0">
                  <a:latin typeface="+mn-lt"/>
                </a:rPr>
                <a:t>Pools (FGLMC and FNCL) Factor data from 1994-01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consider this to be a good representation of the Universe of Conventional Agency Mortgages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2798681"/>
            <a:ext cx="8549586" cy="1810783"/>
            <a:chOff x="819356" y="3067764"/>
            <a:chExt cx="8549586" cy="1810783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Loan Level </a:t>
              </a:r>
              <a:r>
                <a:rPr lang="en-US" sz="1400" b="1" dirty="0" smtClean="0">
                  <a:latin typeface="+mn-lt"/>
                </a:rPr>
                <a:t>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Calibri" panose="020F0502020204030204" pitchFamily="34" charset="0"/>
                </a:rPr>
                <a:t>Conventional </a:t>
              </a:r>
              <a:r>
                <a:rPr lang="en-US" sz="1400" dirty="0" smtClean="0">
                  <a:latin typeface="Calibri" panose="020F0502020204030204" pitchFamily="34" charset="0"/>
                </a:rPr>
                <a:t>30-year Fixed-rate </a:t>
              </a:r>
              <a:r>
                <a:rPr lang="en-US" sz="1400" dirty="0">
                  <a:latin typeface="Calibri" panose="020F0502020204030204" pitchFamily="34" charset="0"/>
                </a:rPr>
                <a:t>Loans (FGLMC) Factor data from </a:t>
              </a:r>
              <a:r>
                <a:rPr lang="en-US" sz="1400" dirty="0" smtClean="0">
                  <a:latin typeface="Calibri" panose="020F0502020204030204" pitchFamily="34" charset="0"/>
                </a:rPr>
                <a:t>2006-09. (FNCL) Factor data from </a:t>
              </a:r>
              <a:r>
                <a:rPr lang="en-US" sz="1400" dirty="0" smtClean="0">
                  <a:latin typeface="Calibri" panose="020F0502020204030204" pitchFamily="34" charset="0"/>
                </a:rPr>
                <a:t>2014.</a:t>
              </a:r>
              <a:endParaRPr lang="en-US" sz="1400" dirty="0">
                <a:latin typeface="Calibri" panose="020F050202020403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Loan leve</a:t>
              </a:r>
              <a:r>
                <a:rPr lang="en-US" sz="1400" dirty="0" smtClean="0">
                  <a:latin typeface="Calibri" panose="020F0502020204030204" pitchFamily="34" charset="0"/>
                </a:rPr>
                <a:t>l data in the </a:t>
              </a:r>
              <a:r>
                <a:rPr lang="en-US" sz="1400" dirty="0">
                  <a:latin typeface="Calibri" panose="020F0502020204030204" pitchFamily="34" charset="0"/>
                </a:rPr>
                <a:t>e</a:t>
              </a:r>
              <a:r>
                <a:rPr lang="en-US" sz="1400" dirty="0" smtClean="0">
                  <a:latin typeface="Calibri" panose="020F0502020204030204" pitchFamily="34" charset="0"/>
                </a:rPr>
                <a:t>arly </a:t>
              </a:r>
              <a:r>
                <a:rPr lang="en-US" sz="1400" dirty="0">
                  <a:latin typeface="Calibri" panose="020F0502020204030204" pitchFamily="34" charset="0"/>
                </a:rPr>
                <a:t>years is only a small fraction of the actual Universe balance (Pool Data)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Calibri" panose="020F0502020204030204" pitchFamily="34" charset="0"/>
                </a:rPr>
                <a:t>By </a:t>
              </a:r>
              <a:r>
                <a:rPr lang="en-US" sz="1400" dirty="0" smtClean="0">
                  <a:latin typeface="Calibri" panose="020F0502020204030204" pitchFamily="34" charset="0"/>
                </a:rPr>
                <a:t>2016, </a:t>
              </a:r>
              <a:r>
                <a:rPr lang="en-US" sz="1400" dirty="0">
                  <a:latin typeface="Calibri" panose="020F0502020204030204" pitchFamily="34" charset="0"/>
                </a:rPr>
                <a:t>loans are ~70% of the Universe Balance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2133949"/>
            <a:chOff x="819356" y="4839414"/>
            <a:chExt cx="8549586" cy="2133949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Media Effect = </a:t>
              </a:r>
              <a:r>
                <a:rPr lang="en-US" sz="1400" dirty="0" smtClean="0">
                  <a:latin typeface="+mn-lt"/>
                </a:rPr>
                <a:t>%</a:t>
              </a:r>
              <a:r>
                <a:rPr lang="en-US" sz="1400" dirty="0" err="1" smtClean="0">
                  <a:latin typeface="+mn-lt"/>
                </a:rPr>
                <a:t>Refinanceable</a:t>
              </a:r>
              <a:r>
                <a:rPr lang="en-US" sz="1400" dirty="0" smtClean="0">
                  <a:latin typeface="+mn-lt"/>
                </a:rPr>
                <a:t>. </a:t>
              </a:r>
              <a:r>
                <a:rPr lang="en-US" sz="1400" dirty="0" err="1" smtClean="0">
                  <a:latin typeface="+mn-lt"/>
                </a:rPr>
                <a:t>Refinanceable</a:t>
              </a:r>
              <a:r>
                <a:rPr lang="en-US" sz="1400" dirty="0" smtClean="0">
                  <a:latin typeface="+mn-lt"/>
                </a:rPr>
                <a:t>  = </a:t>
              </a:r>
              <a:r>
                <a:rPr lang="en-US" sz="1400" dirty="0" smtClean="0">
                  <a:latin typeface="+mn-lt"/>
                </a:rPr>
                <a:t>Refi-Incentive </a:t>
              </a:r>
              <a:r>
                <a:rPr lang="en-US" sz="1400" dirty="0" smtClean="0">
                  <a:latin typeface="+mn-lt"/>
                </a:rPr>
                <a:t>&gt; 50 </a:t>
              </a:r>
              <a:r>
                <a:rPr lang="en-US" sz="1400" dirty="0" err="1" smtClean="0">
                  <a:latin typeface="+mn-lt"/>
                </a:rPr>
                <a:t>bp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Refi-Incentive = Note Rate + Original PMI </a:t>
              </a:r>
              <a:r>
                <a:rPr lang="en-US" sz="1400" dirty="0" smtClean="0">
                  <a:latin typeface="+mn-lt"/>
                </a:rPr>
                <a:t>– Current </a:t>
              </a:r>
              <a:r>
                <a:rPr lang="en-US" sz="1400" dirty="0" err="1" smtClean="0">
                  <a:latin typeface="+mn-lt"/>
                </a:rPr>
                <a:t>Mtg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Rate – Current LLPA – Current PMI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combine the Loan Level and Pool Level </a:t>
              </a:r>
              <a:r>
                <a:rPr lang="en-US" sz="1400" dirty="0" smtClean="0">
                  <a:latin typeface="+mn-lt"/>
                </a:rPr>
                <a:t>calculations </a:t>
              </a:r>
              <a:r>
                <a:rPr lang="en-US" sz="1400" dirty="0" smtClean="0">
                  <a:latin typeface="+mn-lt"/>
                </a:rPr>
                <a:t>of </a:t>
              </a:r>
              <a:r>
                <a:rPr lang="en-US" sz="1400" dirty="0" smtClean="0">
                  <a:latin typeface="+mn-lt"/>
                </a:rPr>
                <a:t>the Media </a:t>
              </a:r>
              <a:r>
                <a:rPr lang="en-US" sz="1400" dirty="0" smtClean="0">
                  <a:latin typeface="+mn-lt"/>
                </a:rPr>
                <a:t>Effect to get a combined picture from </a:t>
              </a:r>
              <a:r>
                <a:rPr lang="en-US" sz="1400" dirty="0" smtClean="0">
                  <a:latin typeface="+mn-lt"/>
                </a:rPr>
                <a:t>1994 to </a:t>
              </a:r>
              <a:r>
                <a:rPr lang="en-US" sz="1400" dirty="0" smtClean="0">
                  <a:latin typeface="+mn-lt"/>
                </a:rPr>
                <a:t>2016, and more weight is placed on the Loan Level calculation as the Loan Level data </a:t>
              </a:r>
              <a:r>
                <a:rPr lang="en-US" sz="1400" dirty="0" smtClean="0">
                  <a:latin typeface="+mn-lt"/>
                </a:rPr>
                <a:t>set increases</a:t>
              </a:r>
              <a:endParaRPr lang="en-US" sz="1400" dirty="0" smtClean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</a:t>
            </a:r>
            <a:r>
              <a:rPr lang="en-US" sz="1600" dirty="0" smtClean="0"/>
              <a:t>. History of the Media Effect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4106380736"/>
              </p:ext>
            </p:extLst>
          </p:nvPr>
        </p:nvGraphicFramePr>
        <p:xfrm>
          <a:off x="1011044" y="1713462"/>
          <a:ext cx="7294756" cy="5304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Media Effect – Combined Loan and Pool History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To handle the problem that there is no loan level data before 2006, we use the pool level before 2006.</a:t>
            </a:r>
          </a:p>
        </p:txBody>
      </p:sp>
    </p:spTree>
    <p:extLst>
      <p:ext uri="{BB962C8B-B14F-4D97-AF65-F5344CB8AC3E}">
        <p14:creationId xmlns:p14="http://schemas.microsoft.com/office/powerpoint/2010/main" val="124946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3</a:t>
            </a:r>
            <a:r>
              <a:rPr lang="en-US" sz="1600" dirty="0" smtClean="0">
                <a:latin typeface="+mn-lt"/>
              </a:rPr>
              <a:t>. Modeling th</a:t>
            </a:r>
            <a:r>
              <a:rPr lang="en-US" sz="1600" dirty="0" smtClean="0">
                <a:latin typeface="+mn-lt"/>
              </a:rPr>
              <a:t>e Forward Evolution of the Media Effect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810783"/>
            <a:chOff x="819356" y="1118116"/>
            <a:chExt cx="8549586" cy="1810783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Representing the Mortgage Universe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C</a:t>
              </a:r>
              <a:r>
                <a:rPr lang="en-US" sz="1400" dirty="0" smtClean="0">
                  <a:latin typeface="+mn-lt"/>
                </a:rPr>
                <a:t>reate a </a:t>
              </a:r>
              <a:r>
                <a:rPr lang="en-US" sz="1400" dirty="0" err="1" smtClean="0">
                  <a:latin typeface="+mn-lt"/>
                </a:rPr>
                <a:t>repline</a:t>
              </a:r>
              <a:r>
                <a:rPr lang="en-US" sz="1400" dirty="0" smtClean="0">
                  <a:latin typeface="+mn-lt"/>
                </a:rPr>
                <a:t> representation </a:t>
              </a:r>
              <a:r>
                <a:rPr lang="en-US" sz="1400" dirty="0" smtClean="0">
                  <a:latin typeface="+mn-lt"/>
                </a:rPr>
                <a:t>of the </a:t>
              </a:r>
              <a:r>
                <a:rPr lang="en-US" sz="1400" dirty="0" smtClean="0">
                  <a:latin typeface="+mn-lt"/>
                </a:rPr>
                <a:t>current universe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of Conventional </a:t>
              </a:r>
              <a:r>
                <a:rPr lang="en-US" sz="1400" dirty="0" smtClean="0">
                  <a:latin typeface="+mn-lt"/>
                </a:rPr>
                <a:t>30-year Fixed-rate </a:t>
              </a:r>
              <a:r>
                <a:rPr lang="en-US" sz="1400" dirty="0" smtClean="0">
                  <a:latin typeface="+mn-lt"/>
                </a:rPr>
                <a:t>Mortgages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</a:t>
              </a:r>
              <a:r>
                <a:rPr lang="en-US" sz="1400" dirty="0" err="1" smtClean="0">
                  <a:latin typeface="+mn-lt"/>
                </a:rPr>
                <a:t>repline</a:t>
              </a:r>
              <a:r>
                <a:rPr lang="en-US" sz="1400" dirty="0" smtClean="0">
                  <a:latin typeface="+mn-lt"/>
                </a:rPr>
                <a:t> representation consists of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WAC </a:t>
              </a:r>
              <a:r>
                <a:rPr lang="en-US" sz="1400" dirty="0" smtClean="0">
                  <a:latin typeface="+mn-lt"/>
                </a:rPr>
                <a:t>buckets and their relative weights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</a:t>
              </a:r>
              <a:r>
                <a:rPr lang="en-US" sz="1400" dirty="0" err="1" smtClean="0">
                  <a:latin typeface="+mn-lt"/>
                </a:rPr>
                <a:t>repline</a:t>
              </a:r>
              <a:r>
                <a:rPr lang="en-US" sz="1400" dirty="0" smtClean="0">
                  <a:latin typeface="+mn-lt"/>
                </a:rPr>
                <a:t> representation is made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available to Scale infrastructure via CDU files for each </a:t>
              </a:r>
              <a:r>
                <a:rPr lang="en-US" sz="1400" dirty="0" smtClean="0">
                  <a:latin typeface="+mn-lt"/>
                </a:rPr>
                <a:t>historical Factor </a:t>
              </a:r>
              <a:r>
                <a:rPr lang="en-US" sz="1400" dirty="0" smtClean="0">
                  <a:latin typeface="+mn-lt"/>
                </a:rPr>
                <a:t>Date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2915222"/>
            <a:ext cx="8549586" cy="1810783"/>
            <a:chOff x="819356" y="3067764"/>
            <a:chExt cx="8549586" cy="1810783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Forecasting the Evolution of the Mortgage Universe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Calculate the SMM for each WAC bucket of the Universe forward through time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Option 1: Create a simple S-Curve from empirical data to calculate an SMM based only on Incentive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Option 2: Call the full prepayment </a:t>
              </a:r>
              <a:r>
                <a:rPr lang="en-US" sz="1400" dirty="0" smtClean="0">
                  <a:latin typeface="Calibri" panose="020F0502020204030204" pitchFamily="34" charset="0"/>
                </a:rPr>
                <a:t>model </a:t>
              </a:r>
              <a:r>
                <a:rPr lang="en-US" sz="1400" dirty="0" smtClean="0">
                  <a:latin typeface="Calibri" panose="020F0502020204030204" pitchFamily="34" charset="0"/>
                </a:rPr>
                <a:t>on each WAC bucket of the </a:t>
              </a:r>
              <a:r>
                <a:rPr lang="en-US" sz="1400" dirty="0" smtClean="0">
                  <a:latin typeface="Calibri" panose="020F0502020204030204" pitchFamily="34" charset="0"/>
                </a:rPr>
                <a:t>Universe</a:t>
              </a:r>
              <a:r>
                <a:rPr lang="en-US" sz="1400" baseline="30000" dirty="0" smtClean="0">
                  <a:latin typeface="Calibri" panose="020F0502020204030204" pitchFamily="34" charset="0"/>
                </a:rPr>
                <a:t>1</a:t>
              </a:r>
              <a:endParaRPr lang="en-US" sz="1400" baseline="300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1810783"/>
            <a:chOff x="819356" y="4839414"/>
            <a:chExt cx="8549586" cy="1810783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Updating the Media Effect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Redistribute </a:t>
              </a:r>
              <a:r>
                <a:rPr lang="en-US" sz="1400" dirty="0">
                  <a:latin typeface="+mn-lt"/>
                </a:rPr>
                <a:t>b</a:t>
              </a:r>
              <a:r>
                <a:rPr lang="en-US" sz="1400" dirty="0" smtClean="0">
                  <a:latin typeface="+mn-lt"/>
                </a:rPr>
                <a:t>alances </a:t>
              </a:r>
              <a:r>
                <a:rPr lang="en-US" sz="1400" dirty="0" smtClean="0">
                  <a:latin typeface="+mn-lt"/>
                </a:rPr>
                <a:t>from each WAC bucket </a:t>
              </a:r>
              <a:r>
                <a:rPr lang="en-US" sz="1400" dirty="0" smtClean="0">
                  <a:latin typeface="+mn-lt"/>
                </a:rPr>
                <a:t>based on these SMMs and the prevailing mortgage rate 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Calculate the Media Effect from the </a:t>
              </a:r>
              <a:r>
                <a:rPr lang="en-US" sz="1400" dirty="0" smtClean="0">
                  <a:latin typeface="+mn-lt"/>
                </a:rPr>
                <a:t>redistributed </a:t>
              </a:r>
              <a:r>
                <a:rPr lang="en-US" sz="1400" dirty="0">
                  <a:latin typeface="+mn-lt"/>
                </a:rPr>
                <a:t>b</a:t>
              </a:r>
              <a:r>
                <a:rPr lang="en-US" sz="1400" dirty="0" smtClean="0">
                  <a:latin typeface="+mn-lt"/>
                </a:rPr>
                <a:t>alances </a:t>
              </a:r>
              <a:r>
                <a:rPr lang="en-US" sz="1400" dirty="0" smtClean="0">
                  <a:latin typeface="+mn-lt"/>
                </a:rPr>
                <a:t>and the </a:t>
              </a:r>
              <a:r>
                <a:rPr lang="en-US" sz="1400" dirty="0" smtClean="0">
                  <a:latin typeface="+mn-lt"/>
                </a:rPr>
                <a:t>prevailing </a:t>
              </a:r>
              <a:r>
                <a:rPr lang="en-US" sz="1400" dirty="0" smtClean="0">
                  <a:latin typeface="+mn-lt"/>
                </a:rPr>
                <a:t>m</a:t>
              </a:r>
              <a:r>
                <a:rPr lang="en-US" sz="1400" dirty="0" smtClean="0">
                  <a:latin typeface="+mn-lt"/>
                </a:rPr>
                <a:t>ortgage </a:t>
              </a:r>
              <a:r>
                <a:rPr lang="en-US" sz="1400" dirty="0">
                  <a:latin typeface="+mn-lt"/>
                </a:rPr>
                <a:t>r</a:t>
              </a:r>
              <a:r>
                <a:rPr lang="en-US" sz="1400" dirty="0" smtClean="0">
                  <a:latin typeface="+mn-lt"/>
                </a:rPr>
                <a:t>ate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Evolve the collateral characteristics of the WAC buckets for the next time step and return to Step 2</a:t>
              </a:r>
              <a:endParaRPr lang="en-US" sz="1400" dirty="0" smtClean="0">
                <a:latin typeface="+mn-lt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37188" y="7315200"/>
            <a:ext cx="7623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aseline="30000" dirty="0" smtClean="0">
                <a:latin typeface="Calibri" panose="020F0502020204030204" pitchFamily="34" charset="0"/>
              </a:rPr>
              <a:t>1</a:t>
            </a:r>
            <a:r>
              <a:rPr lang="en-US" sz="800" dirty="0" smtClean="0">
                <a:latin typeface="Calibri" panose="020F0502020204030204" pitchFamily="34" charset="0"/>
              </a:rPr>
              <a:t>Note that the Media Effect is also an input into the prepayment model. Given a Media Effect input at t=0, the prepayment model produces a 1-step ahead prepayment forecast which is then used to construct the Media Effect for that time period (t=1). This level of the Media Effect is then used as an input by the prepayment model to construct  the Media Effect for t=2 etc.  </a:t>
            </a:r>
            <a:endParaRPr lang="en-US" sz="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01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4. </a:t>
            </a:r>
            <a:r>
              <a:rPr lang="en-US" sz="1600" dirty="0" smtClean="0"/>
              <a:t>Stylized</a:t>
            </a:r>
            <a:r>
              <a:rPr lang="en-US" sz="1600" dirty="0" smtClean="0"/>
              <a:t> Model for Evolving the Media Effect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013488"/>
              </p:ext>
            </p:extLst>
          </p:nvPr>
        </p:nvGraphicFramePr>
        <p:xfrm>
          <a:off x="860612" y="1658469"/>
          <a:ext cx="8283390" cy="5235386"/>
        </p:xfrm>
        <a:graphic>
          <a:graphicData uri="http://schemas.openxmlformats.org/drawingml/2006/table">
            <a:tbl>
              <a:tblPr/>
              <a:tblGrid>
                <a:gridCol w="794808"/>
                <a:gridCol w="1473706"/>
                <a:gridCol w="1092861"/>
                <a:gridCol w="1092861"/>
                <a:gridCol w="794808"/>
                <a:gridCol w="165586"/>
                <a:gridCol w="844483"/>
                <a:gridCol w="1229469"/>
                <a:gridCol w="794808"/>
              </a:tblGrid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Surviving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Reinvestment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at t=0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%Dist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 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 WAC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%CPR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at t=1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 at t=1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%Dist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6.00-6.25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5.75-6.00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5.50-5.75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5.25-5.50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5.00-5.25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Mtg Rate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Refi Trigger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%Refinanceable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5</a:t>
            </a:r>
            <a:r>
              <a:rPr lang="en-US" sz="1600" dirty="0" smtClean="0"/>
              <a:t>. Prepayment </a:t>
            </a:r>
            <a:r>
              <a:rPr lang="en-US" sz="1600" dirty="0" smtClean="0"/>
              <a:t>Forecasting Using a Simple S-Curve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1924047"/>
              </p:ext>
            </p:extLst>
          </p:nvPr>
        </p:nvGraphicFramePr>
        <p:xfrm>
          <a:off x="797860" y="1613647"/>
          <a:ext cx="8393766" cy="4276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9950" y="6021894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Calibri" panose="020F0502020204030204" pitchFamily="34" charset="0"/>
              </a:rPr>
              <a:t>A simple S-curve does not accurately model the evolution of the mortgage universe 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Calibri" panose="020F0502020204030204" pitchFamily="34" charset="0"/>
              </a:rPr>
              <a:t> We follow Option 2 in our model for evolving the Media Effect</a:t>
            </a:r>
            <a:endParaRPr lang="en-US" sz="1400" b="1" dirty="0" smtClean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0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6</a:t>
            </a:r>
            <a:r>
              <a:rPr lang="en-US" sz="1600" dirty="0" smtClean="0">
                <a:latin typeface="+mn-lt"/>
              </a:rPr>
              <a:t>. </a:t>
            </a:r>
            <a:r>
              <a:rPr lang="en-US" sz="1600" dirty="0" smtClean="0">
                <a:latin typeface="+mn-lt"/>
              </a:rPr>
              <a:t>Modeling Choices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3432349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WAC Bucketing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Decide how granular </a:t>
              </a:r>
              <a:r>
                <a:rPr lang="en-US" sz="1400" dirty="0" smtClean="0">
                  <a:latin typeface="+mn-lt"/>
                </a:rPr>
                <a:t>the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WAC buckets need to be for accuracy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Test WAC Buckets </a:t>
              </a:r>
              <a:r>
                <a:rPr lang="en-US" sz="1400" dirty="0" smtClean="0">
                  <a:latin typeface="+mn-lt"/>
                </a:rPr>
                <a:t>of different widths – 12.5bps, 25bps, and 50bps</a:t>
              </a:r>
              <a:endParaRPr lang="en-US" sz="1400" dirty="0" smtClean="0">
                <a:latin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1149171"/>
            <a:ext cx="8549586" cy="2133949"/>
            <a:chOff x="819356" y="3067764"/>
            <a:chExt cx="8549586" cy="2133949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Including “New” Originations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 </a:t>
              </a:r>
              <a:r>
                <a:rPr lang="en-US" sz="1400" dirty="0">
                  <a:latin typeface="Calibri" panose="020F0502020204030204" pitchFamily="34" charset="0"/>
                </a:rPr>
                <a:t>T</a:t>
              </a:r>
              <a:r>
                <a:rPr lang="en-US" sz="1400" dirty="0" smtClean="0">
                  <a:latin typeface="Calibri" panose="020F0502020204030204" pitchFamily="34" charset="0"/>
                </a:rPr>
                <a:t>he </a:t>
              </a:r>
              <a:r>
                <a:rPr lang="en-US" sz="1400" dirty="0">
                  <a:latin typeface="Calibri" panose="020F0502020204030204" pitchFamily="34" charset="0"/>
                </a:rPr>
                <a:t>universe of mortgage debt is not static – it is usually growing since an incremental amount of “new” loans are originated at prevailing mortgage rates – these loans </a:t>
              </a:r>
              <a:r>
                <a:rPr lang="en-US" sz="1400" dirty="0" smtClean="0">
                  <a:latin typeface="Calibri" panose="020F0502020204030204" pitchFamily="34" charset="0"/>
                </a:rPr>
                <a:t>correspond </a:t>
              </a:r>
              <a:r>
                <a:rPr lang="en-US" sz="1400" dirty="0">
                  <a:latin typeface="Calibri" panose="020F0502020204030204" pitchFamily="34" charset="0"/>
                </a:rPr>
                <a:t>to purchases of new homes or an increase in mortgage balances through a cash-out refinance.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1400" dirty="0" smtClean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5163488"/>
            <a:ext cx="8549586" cy="1810783"/>
            <a:chOff x="819356" y="4839414"/>
            <a:chExt cx="8549586" cy="1810783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Estimating Media </a:t>
              </a:r>
              <a:r>
                <a:rPr lang="en-US" sz="1400" b="1" dirty="0" smtClean="0">
                  <a:latin typeface="+mn-lt"/>
                </a:rPr>
                <a:t>Effect </a:t>
              </a:r>
              <a:r>
                <a:rPr lang="en-US" sz="1400" b="1" dirty="0" smtClean="0">
                  <a:latin typeface="+mn-lt"/>
                </a:rPr>
                <a:t>Balances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Simple: If</a:t>
              </a:r>
              <a:r>
                <a:rPr lang="en-US" sz="1400" dirty="0" smtClean="0">
                  <a:latin typeface="+mn-lt"/>
                </a:rPr>
                <a:t> Refi Trigger Rate </a:t>
              </a:r>
              <a:r>
                <a:rPr lang="en-US" sz="1400" dirty="0" smtClean="0">
                  <a:latin typeface="+mn-lt"/>
                </a:rPr>
                <a:t>&gt;= </a:t>
              </a:r>
              <a:r>
                <a:rPr lang="en-US" sz="1400" dirty="0" err="1" smtClean="0">
                  <a:latin typeface="+mn-lt"/>
                </a:rPr>
                <a:t>Avg</a:t>
              </a:r>
              <a:r>
                <a:rPr lang="en-US" sz="1400" dirty="0" smtClean="0">
                  <a:latin typeface="+mn-lt"/>
                </a:rPr>
                <a:t> WAC of </a:t>
              </a:r>
              <a:r>
                <a:rPr lang="en-US" sz="1400" dirty="0" smtClean="0">
                  <a:latin typeface="+mn-lt"/>
                </a:rPr>
                <a:t>the relevant bucket</a:t>
              </a:r>
              <a:r>
                <a:rPr lang="en-US" sz="1400" dirty="0" smtClean="0">
                  <a:latin typeface="+mn-lt"/>
                </a:rPr>
                <a:t>, then full bucket balance is added to Media </a:t>
              </a:r>
              <a:r>
                <a:rPr lang="en-US" sz="1400" dirty="0" smtClean="0">
                  <a:latin typeface="+mn-lt"/>
                </a:rPr>
                <a:t>Balance else only count WAC buckets below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Average: Linearly </a:t>
              </a:r>
              <a:r>
                <a:rPr lang="en-US" sz="1400" dirty="0" smtClean="0">
                  <a:latin typeface="+mn-lt"/>
                </a:rPr>
                <a:t>accumulate </a:t>
              </a:r>
              <a:r>
                <a:rPr lang="en-US" sz="1400" dirty="0" smtClean="0">
                  <a:latin typeface="+mn-lt"/>
                </a:rPr>
                <a:t>balances based on how the Refi Trigger </a:t>
              </a:r>
              <a:r>
                <a:rPr lang="en-US" sz="1400" dirty="0" smtClean="0">
                  <a:latin typeface="+mn-lt"/>
                </a:rPr>
                <a:t>Rate falls in the </a:t>
              </a:r>
              <a:r>
                <a:rPr lang="en-US" sz="1400" dirty="0" smtClean="0">
                  <a:latin typeface="+mn-lt"/>
                </a:rPr>
                <a:t>relevant WAC bucket</a:t>
              </a:r>
              <a:endParaRPr lang="en-US" sz="1400" dirty="0" smtClean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82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7</a:t>
            </a:r>
            <a:r>
              <a:rPr lang="en-US" sz="1600" dirty="0" smtClean="0"/>
              <a:t>. </a:t>
            </a:r>
            <a:r>
              <a:rPr lang="en-US" sz="1600" dirty="0" smtClean="0"/>
              <a:t>Modeling the growth of the Mortgage Universe</a:t>
            </a:r>
            <a:endParaRPr lang="en-US" dirty="0"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19356" y="1149171"/>
            <a:ext cx="8549586" cy="2457114"/>
            <a:chOff x="819356" y="3067764"/>
            <a:chExt cx="8549586" cy="2457114"/>
          </a:xfrm>
        </p:grpSpPr>
        <p:sp>
          <p:nvSpPr>
            <p:cNvPr id="8" name="Rectangle 7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Calibri" panose="020F0502020204030204" pitchFamily="34" charset="0"/>
                </a:rPr>
                <a:t>Handling “New” </a:t>
              </a:r>
              <a:r>
                <a:rPr lang="en-US" sz="1400" b="1" dirty="0" smtClean="0">
                  <a:latin typeface="Calibri" panose="020F0502020204030204" pitchFamily="34" charset="0"/>
                </a:rPr>
                <a:t>Origination</a:t>
              </a:r>
              <a:endParaRPr lang="en-US" sz="1400" b="1" dirty="0">
                <a:latin typeface="Calibri" panose="020F050202020403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9356" y="3816718"/>
              <a:ext cx="8549586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The Media Effect Evolution Algorithm </a:t>
              </a:r>
              <a:r>
                <a:rPr lang="en-US" sz="1400" dirty="0" smtClean="0">
                  <a:latin typeface="Calibri" panose="020F0502020204030204" pitchFamily="34" charset="0"/>
                </a:rPr>
                <a:t>in Scale allows for new </a:t>
              </a:r>
              <a:r>
                <a:rPr lang="en-US" sz="1400" dirty="0" smtClean="0">
                  <a:latin typeface="Calibri" panose="020F0502020204030204" pitchFamily="34" charset="0"/>
                </a:rPr>
                <a:t>origination in the appropriate </a:t>
              </a:r>
              <a:r>
                <a:rPr lang="en-US" sz="1400" dirty="0" smtClean="0">
                  <a:latin typeface="Calibri" panose="020F0502020204030204" pitchFamily="34" charset="0"/>
                </a:rPr>
                <a:t>WAC bucket, but does not adjust the WAC bucket attributes: WALA, CLTV, </a:t>
              </a:r>
              <a:r>
                <a:rPr lang="en-US" sz="1400" dirty="0" smtClean="0">
                  <a:latin typeface="Calibri" panose="020F0502020204030204" pitchFamily="34" charset="0"/>
                </a:rPr>
                <a:t>etc.</a:t>
              </a:r>
              <a:r>
                <a:rPr lang="en-US" sz="1400" baseline="30000" dirty="0" smtClean="0">
                  <a:latin typeface="Calibri" panose="020F0502020204030204" pitchFamily="34" charset="0"/>
                </a:rPr>
                <a:t>1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Test New Origination – 0%, 1% and 2% growth rate (per year</a:t>
              </a:r>
              <a:r>
                <a:rPr lang="en-US" sz="1400" dirty="0" smtClean="0"/>
                <a:t>)</a:t>
              </a:r>
              <a:endParaRPr lang="en-US" sz="1400" baseline="30000" dirty="0" smtClean="0">
                <a:latin typeface="Calibri" panose="020F050202020403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Setting New </a:t>
              </a:r>
              <a:r>
                <a:rPr lang="en-US" sz="1400" dirty="0" smtClean="0">
                  <a:latin typeface="Calibri" panose="020F0502020204030204" pitchFamily="34" charset="0"/>
                </a:rPr>
                <a:t>Origination &gt; </a:t>
              </a:r>
              <a:r>
                <a:rPr lang="en-US" sz="1400" dirty="0" smtClean="0">
                  <a:latin typeface="Calibri" panose="020F0502020204030204" pitchFamily="34" charset="0"/>
                </a:rPr>
                <a:t>0% </a:t>
              </a:r>
              <a:r>
                <a:rPr lang="en-US" sz="1400" dirty="0" smtClean="0">
                  <a:latin typeface="Calibri" panose="020F0502020204030204" pitchFamily="34" charset="0"/>
                </a:rPr>
                <a:t>does not result in better tracking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b="1" dirty="0" smtClean="0">
                  <a:latin typeface="Calibri" panose="020F0502020204030204" pitchFamily="34" charset="0"/>
                </a:rPr>
                <a:t>Result = Set New Origination to 0% for this Model</a:t>
              </a:r>
              <a:endParaRPr lang="en-US" sz="1400" b="1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037188" y="7315200"/>
            <a:ext cx="78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aseline="30000" dirty="0" smtClean="0">
                <a:latin typeface="+mn-lt"/>
              </a:rPr>
              <a:t>1</a:t>
            </a:r>
            <a:r>
              <a:rPr lang="en-US" sz="800" baseline="30000" dirty="0">
                <a:latin typeface="+mn-lt"/>
              </a:rPr>
              <a:t> </a:t>
            </a:r>
            <a:r>
              <a:rPr lang="en-US" sz="800" dirty="0" err="1" smtClean="0">
                <a:latin typeface="+mn-lt"/>
              </a:rPr>
              <a:t>Techincally</a:t>
            </a:r>
            <a:r>
              <a:rPr lang="en-US" sz="800" dirty="0" smtClean="0">
                <a:latin typeface="+mn-lt"/>
              </a:rPr>
              <a:t>, </a:t>
            </a:r>
            <a:r>
              <a:rPr lang="en-US" sz="800" dirty="0">
                <a:latin typeface="+mn-lt"/>
              </a:rPr>
              <a:t>new origination </a:t>
            </a:r>
            <a:r>
              <a:rPr lang="en-US" sz="800" dirty="0" smtClean="0">
                <a:latin typeface="+mn-lt"/>
              </a:rPr>
              <a:t>would </a:t>
            </a:r>
            <a:r>
              <a:rPr lang="en-US" sz="800" dirty="0">
                <a:latin typeface="+mn-lt"/>
              </a:rPr>
              <a:t>have a WALA of </a:t>
            </a:r>
            <a:r>
              <a:rPr lang="en-US" sz="800" dirty="0" smtClean="0">
                <a:latin typeface="+mn-lt"/>
              </a:rPr>
              <a:t>0-2 months, </a:t>
            </a:r>
            <a:r>
              <a:rPr lang="en-US" sz="800" dirty="0">
                <a:latin typeface="+mn-lt"/>
              </a:rPr>
              <a:t>an LTV of </a:t>
            </a:r>
            <a:r>
              <a:rPr lang="en-US" sz="800" dirty="0" smtClean="0">
                <a:latin typeface="+mn-lt"/>
              </a:rPr>
              <a:t>80-85% </a:t>
            </a:r>
            <a:r>
              <a:rPr lang="en-US" sz="800" dirty="0">
                <a:latin typeface="+mn-lt"/>
              </a:rPr>
              <a:t>(say</a:t>
            </a:r>
            <a:r>
              <a:rPr lang="en-US" sz="800" dirty="0" smtClean="0">
                <a:latin typeface="+mn-lt"/>
              </a:rPr>
              <a:t>), and a Burnout of 0. The current algorithm will have WALA increasing and LTV decreasing (generally) along interest rate paths. Burnout will tend to trend higher on in-the-money paths. It’s not clear what the combined effect of these interactions is in terms of biasing the forward Media Effect higher or lower. 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767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8</a:t>
            </a:r>
            <a:r>
              <a:rPr lang="en-US" sz="1600" dirty="0" smtClean="0"/>
              <a:t>. Tracking Results - I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908331480"/>
              </p:ext>
            </p:extLst>
          </p:nvPr>
        </p:nvGraphicFramePr>
        <p:xfrm>
          <a:off x="802888" y="2341756"/>
          <a:ext cx="8376737" cy="4510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</a:t>
            </a:r>
            <a:r>
              <a:rPr lang="en-US" sz="1200" dirty="0" smtClean="0">
                <a:latin typeface="Calibri" panose="020F0502020204030204" pitchFamily="34" charset="0"/>
              </a:rPr>
              <a:t>Width – </a:t>
            </a:r>
            <a:r>
              <a:rPr lang="en-US" sz="1200" dirty="0" smtClean="0">
                <a:latin typeface="Calibri" panose="020F0502020204030204" pitchFamily="34" charset="0"/>
              </a:rPr>
              <a:t>50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RMSE Error </a:t>
            </a:r>
            <a:r>
              <a:rPr lang="en-US" sz="1200" dirty="0">
                <a:latin typeface="Calibri" panose="020F0502020204030204" pitchFamily="34" charset="0"/>
              </a:rPr>
              <a:t>= </a:t>
            </a:r>
            <a:r>
              <a:rPr lang="en-US" sz="1200" dirty="0" smtClean="0">
                <a:latin typeface="Calibri" panose="020F0502020204030204" pitchFamily="34" charset="0"/>
              </a:rPr>
              <a:t>7.07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05814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8</a:t>
            </a:r>
            <a:r>
              <a:rPr lang="en-US" sz="1600" dirty="0" smtClean="0"/>
              <a:t>. Tracking Results – II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119741045"/>
              </p:ext>
            </p:extLst>
          </p:nvPr>
        </p:nvGraphicFramePr>
        <p:xfrm>
          <a:off x="802888" y="2170771"/>
          <a:ext cx="8376737" cy="4681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</a:t>
            </a:r>
            <a:r>
              <a:rPr lang="en-US" sz="1200" dirty="0" smtClean="0">
                <a:latin typeface="Calibri" panose="020F0502020204030204" pitchFamily="34" charset="0"/>
              </a:rPr>
              <a:t>Width – </a:t>
            </a:r>
            <a:r>
              <a:rPr lang="en-US" sz="1200" dirty="0" smtClean="0">
                <a:latin typeface="Calibri" panose="020F0502020204030204" pitchFamily="34" charset="0"/>
              </a:rPr>
              <a:t>25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RMSE Error </a:t>
            </a:r>
            <a:r>
              <a:rPr lang="en-US" sz="1200" dirty="0" smtClean="0">
                <a:latin typeface="Calibri" panose="020F0502020204030204" pitchFamily="34" charset="0"/>
              </a:rPr>
              <a:t>= 4.73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63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8</a:t>
            </a:r>
            <a:r>
              <a:rPr lang="en-US" sz="1600" dirty="0" smtClean="0"/>
              <a:t>. Tracking Results – III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920286061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</a:t>
            </a:r>
            <a:r>
              <a:rPr lang="en-US" sz="1200" dirty="0" smtClean="0">
                <a:latin typeface="Calibri" panose="020F0502020204030204" pitchFamily="34" charset="0"/>
              </a:rPr>
              <a:t>Width – </a:t>
            </a:r>
            <a:r>
              <a:rPr lang="en-US" sz="1200" dirty="0" smtClean="0">
                <a:latin typeface="Calibri" panose="020F0502020204030204" pitchFamily="34" charset="0"/>
              </a:rPr>
              <a:t>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</a:rPr>
              <a:t>Error = </a:t>
            </a:r>
            <a:r>
              <a:rPr lang="en-US" sz="1200" dirty="0" smtClean="0">
                <a:latin typeface="Calibri" panose="020F0502020204030204" pitchFamily="34" charset="0"/>
              </a:rPr>
              <a:t>4.49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91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8</a:t>
            </a:r>
            <a:r>
              <a:rPr lang="en-US" sz="1600" dirty="0" smtClean="0"/>
              <a:t>. Tracking Results – IV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172824446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</a:t>
            </a:r>
            <a:r>
              <a:rPr lang="en-US" sz="1200" dirty="0" smtClean="0">
                <a:latin typeface="Calibri" panose="020F0502020204030204" pitchFamily="34" charset="0"/>
              </a:rPr>
              <a:t>Width – </a:t>
            </a:r>
            <a:r>
              <a:rPr lang="en-US" sz="1200" dirty="0" smtClean="0">
                <a:latin typeface="Calibri" panose="020F0502020204030204" pitchFamily="34" charset="0"/>
              </a:rPr>
              <a:t>25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Average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</a:rPr>
              <a:t>Error = </a:t>
            </a:r>
            <a:r>
              <a:rPr lang="en-US" sz="1200" dirty="0" smtClean="0">
                <a:latin typeface="Calibri" panose="020F0502020204030204" pitchFamily="34" charset="0"/>
              </a:rPr>
              <a:t>6.77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94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9</a:t>
            </a:r>
            <a:r>
              <a:rPr lang="en-US" sz="1600" dirty="0" smtClean="0"/>
              <a:t>. Tracking Results – V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123427013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</a:t>
            </a:r>
            <a:r>
              <a:rPr lang="en-US" sz="1200" dirty="0" smtClean="0">
                <a:latin typeface="Calibri" panose="020F0502020204030204" pitchFamily="34" charset="0"/>
              </a:rPr>
              <a:t>Width – </a:t>
            </a:r>
            <a:r>
              <a:rPr lang="en-US" sz="1200" dirty="0" smtClean="0">
                <a:latin typeface="Calibri" panose="020F0502020204030204" pitchFamily="34" charset="0"/>
              </a:rPr>
              <a:t>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Average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</a:rPr>
              <a:t>Error = </a:t>
            </a:r>
            <a:r>
              <a:rPr lang="en-US" sz="1200" dirty="0" smtClean="0">
                <a:latin typeface="Calibri" panose="020F0502020204030204" pitchFamily="34" charset="0"/>
              </a:rPr>
              <a:t>3.98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4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9</a:t>
            </a:r>
            <a:r>
              <a:rPr lang="en-US" sz="1600" dirty="0" smtClean="0"/>
              <a:t>. Tracking Results – VI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928731523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2013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– 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r>
              <a:rPr lang="en-US" sz="1200" dirty="0" smtClean="0">
                <a:latin typeface="Calibri" panose="020F0502020204030204" pitchFamily="34" charset="0"/>
              </a:rPr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</a:rPr>
              <a:t>Error = </a:t>
            </a:r>
            <a:r>
              <a:rPr lang="en-US" sz="1200" dirty="0" smtClean="0">
                <a:latin typeface="Calibri" panose="020F0502020204030204" pitchFamily="34" charset="0"/>
              </a:rPr>
              <a:t>6.25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2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9</a:t>
            </a:r>
            <a:r>
              <a:rPr lang="en-US" sz="1600" dirty="0" smtClean="0"/>
              <a:t>. Tracking Results – VII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191991117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2014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– 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r>
              <a:rPr lang="en-US" sz="1200" dirty="0" smtClean="0">
                <a:latin typeface="Calibri" panose="020F0502020204030204" pitchFamily="34" charset="0"/>
              </a:rPr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RMSE Error </a:t>
            </a:r>
            <a:r>
              <a:rPr lang="en-US" sz="1200" dirty="0">
                <a:latin typeface="Calibri" panose="020F0502020204030204" pitchFamily="34" charset="0"/>
              </a:rPr>
              <a:t>= </a:t>
            </a:r>
            <a:r>
              <a:rPr lang="en-US" sz="1200" dirty="0" smtClean="0">
                <a:latin typeface="Calibri" panose="020F0502020204030204" pitchFamily="34" charset="0"/>
              </a:rPr>
              <a:t>3.98</a:t>
            </a:r>
          </a:p>
        </p:txBody>
      </p:sp>
    </p:spTree>
    <p:extLst>
      <p:ext uri="{BB962C8B-B14F-4D97-AF65-F5344CB8AC3E}">
        <p14:creationId xmlns:p14="http://schemas.microsoft.com/office/powerpoint/2010/main" val="25854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9</a:t>
            </a:r>
            <a:r>
              <a:rPr lang="en-US" sz="1600" dirty="0" smtClean="0"/>
              <a:t>. Tracking Results -- VIII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161671295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2015-05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– 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r>
              <a:rPr lang="en-US" sz="1200" dirty="0" smtClean="0">
                <a:latin typeface="Calibri" panose="020F0502020204030204" pitchFamily="34" charset="0"/>
              </a:rPr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RMSE Error </a:t>
            </a:r>
            <a:r>
              <a:rPr lang="en-US" sz="1200" dirty="0">
                <a:latin typeface="Calibri" panose="020F0502020204030204" pitchFamily="34" charset="0"/>
              </a:rPr>
              <a:t>= </a:t>
            </a:r>
            <a:r>
              <a:rPr lang="en-US" sz="1200" dirty="0" smtClean="0">
                <a:latin typeface="Calibri" panose="020F0502020204030204" pitchFamily="34" charset="0"/>
              </a:rPr>
              <a:t>5.43</a:t>
            </a:r>
          </a:p>
        </p:txBody>
      </p:sp>
    </p:spTree>
    <p:extLst>
      <p:ext uri="{BB962C8B-B14F-4D97-AF65-F5344CB8AC3E}">
        <p14:creationId xmlns:p14="http://schemas.microsoft.com/office/powerpoint/2010/main" val="265402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10</a:t>
            </a:r>
            <a:r>
              <a:rPr lang="en-US" sz="1600" dirty="0" smtClean="0">
                <a:latin typeface="+mn-lt"/>
              </a:rPr>
              <a:t>. </a:t>
            </a:r>
            <a:r>
              <a:rPr lang="en-US" sz="1600" dirty="0" smtClean="0">
                <a:latin typeface="+mn-lt"/>
              </a:rPr>
              <a:t>Model Assumptions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2830369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WAC Bucketing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Set to 12.5 BP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Media Effect Volatility appears consistent with history and tracking is best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1149171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New Origination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Set to 0%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No clear benefit to &gt; 0%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561508"/>
            <a:ext cx="8549586" cy="1487618"/>
            <a:chOff x="819356" y="4839414"/>
            <a:chExt cx="8549586" cy="1487618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 Balance Algorithm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Set to Average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Average is better than </a:t>
              </a:r>
              <a:r>
                <a:rPr lang="en-US" sz="1400" dirty="0" smtClean="0">
                  <a:latin typeface="+mn-lt"/>
                </a:rPr>
                <a:t>Simple</a:t>
              </a:r>
              <a:endParaRPr lang="en-US" sz="1400" dirty="0" smtClean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999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90738</TotalTime>
  <Words>1091</Words>
  <Application>Microsoft Office PowerPoint</Application>
  <PresentationFormat>Custom</PresentationFormat>
  <Paragraphs>183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Media Effect Overview 1. Data Set</vt:lpstr>
      <vt:lpstr>Media Effect Overview 2. History of the Media Effect</vt:lpstr>
      <vt:lpstr>Media Effect Overview 3. Modeling the Forward Evolution of the Media Effect</vt:lpstr>
      <vt:lpstr>Media Effect Overview 4. Stylized Model for Evolving the Media Effect</vt:lpstr>
      <vt:lpstr>Media Effect Overview 5. Prepayment Forecasting Using a Simple S-Curve</vt:lpstr>
      <vt:lpstr>Media Effect Overview 6. Modeling Choices</vt:lpstr>
      <vt:lpstr>Media Effect Overview 7. Modeling the growth of the Mortgage Universe</vt:lpstr>
      <vt:lpstr>Media Effect Overview 8. Tracking Results - I</vt:lpstr>
      <vt:lpstr>Media Effect Overview 8. Tracking Results – II </vt:lpstr>
      <vt:lpstr>Media Effect Overview 8. Tracking Results – III </vt:lpstr>
      <vt:lpstr>Media Effect Overview 8. Tracking Results – IV </vt:lpstr>
      <vt:lpstr>Media Effect Overview 9. Tracking Results – V </vt:lpstr>
      <vt:lpstr>Media Effect Overview 9. Tracking Results – VI </vt:lpstr>
      <vt:lpstr>Media Effect Overview 9. Tracking Results – VII </vt:lpstr>
      <vt:lpstr>Media Effect Overview 9. Tracking Results -- VIII</vt:lpstr>
      <vt:lpstr>Media Effect Overview 10. Model Assumptions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2190</cp:revision>
  <cp:lastPrinted>2016-03-29T19:25:13Z</cp:lastPrinted>
  <dcterms:created xsi:type="dcterms:W3CDTF">2011-07-07T12:37:32Z</dcterms:created>
  <dcterms:modified xsi:type="dcterms:W3CDTF">2016-07-14T00:20:15Z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