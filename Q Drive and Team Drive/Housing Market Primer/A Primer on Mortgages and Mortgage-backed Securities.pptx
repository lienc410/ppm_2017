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44" r:id="rId2"/>
    <p:sldId id="348" r:id="rId3"/>
    <p:sldId id="346" r:id="rId4"/>
    <p:sldId id="347" r:id="rId5"/>
    <p:sldId id="349" r:id="rId6"/>
    <p:sldId id="350" r:id="rId7"/>
    <p:sldId id="351" r:id="rId8"/>
    <p:sldId id="354" r:id="rId9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7F7"/>
    <a:srgbClr val="2E398A"/>
    <a:srgbClr val="AD275C"/>
    <a:srgbClr val="002060"/>
    <a:srgbClr val="2E3989"/>
    <a:srgbClr val="C7732D"/>
    <a:srgbClr val="533D2D"/>
    <a:srgbClr val="592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 varScale="1">
        <p:scale>
          <a:sx n="120" d="100"/>
          <a:sy n="120" d="100"/>
        </p:scale>
        <p:origin x="-810" y="-9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Ownership Rate</c:v>
                </c:pt>
              </c:strCache>
            </c:strRef>
          </c:tx>
          <c:invertIfNegative val="0"/>
          <c:dLbls>
            <c:spPr>
              <a:noFill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68.400000000000006</c:v>
                </c:pt>
                <c:pt idx="1">
                  <c:v>68</c:v>
                </c:pt>
                <c:pt idx="2">
                  <c:v>68.7</c:v>
                </c:pt>
                <c:pt idx="3">
                  <c:v>68.2</c:v>
                </c:pt>
                <c:pt idx="4">
                  <c:v>68.5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16000"/>
        <c:axId val="48018944"/>
      </c:barChart>
      <c:catAx>
        <c:axId val="4801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8018944"/>
        <c:crosses val="autoZero"/>
        <c:auto val="1"/>
        <c:lblAlgn val="ctr"/>
        <c:lblOffset val="100"/>
        <c:noMultiLvlLbl val="0"/>
      </c:catAx>
      <c:valAx>
        <c:axId val="48018944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800" b="1" i="0" u="none" strike="noStrike" baseline="0" dirty="0" smtClean="0">
                    <a:effectLst/>
                  </a:rPr>
                  <a:t>Homeownership Rate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48016000"/>
        <c:crosses val="autoZero"/>
        <c:crossBetween val="between"/>
      </c:valAx>
      <c:spPr>
        <a:ln>
          <a:solidFill>
            <a:schemeClr val="tx1"/>
          </a:solidFill>
        </a:ln>
      </c:spPr>
    </c:plotArea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</c:spPr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House</c:v>
                </c:pt>
                <c:pt idx="1">
                  <c:v>Investment</c:v>
                </c:pt>
                <c:pt idx="2">
                  <c:v>Financial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15</c:v>
                </c:pt>
                <c:pt idx="2">
                  <c:v>13</c:v>
                </c:pt>
                <c:pt idx="3">
                  <c:v>38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dPt>
            <c:idx val="0"/>
            <c:bubble3D val="0"/>
            <c:spPr>
              <a:solidFill>
                <a:schemeClr val="bg2">
                  <a:lumMod val="50000"/>
                </a:schemeClr>
              </a:solidFill>
            </c:spPr>
          </c:dPt>
          <c:dPt>
            <c:idx val="1"/>
            <c:bubble3D val="0"/>
            <c:spPr>
              <a:solidFill>
                <a:schemeClr val="bg2">
                  <a:lumMod val="75000"/>
                </a:schemeClr>
              </a:solidFill>
            </c:spPr>
          </c:dPt>
          <c:dPt>
            <c:idx val="2"/>
            <c:bubble3D val="0"/>
            <c:spPr>
              <a:solidFill>
                <a:schemeClr val="bg2">
                  <a:lumMod val="90000"/>
                </a:schemeClr>
              </a:solidFill>
            </c:spPr>
          </c:dPt>
          <c:dPt>
            <c:idx val="3"/>
            <c:bubble3D val="0"/>
            <c:spPr>
              <a:solidFill>
                <a:schemeClr val="bg2"/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House</c:v>
                </c:pt>
                <c:pt idx="1">
                  <c:v>Personal Debt</c:v>
                </c:pt>
                <c:pt idx="2">
                  <c:v>Financial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10</c:v>
                </c:pt>
                <c:pt idx="2">
                  <c:v>7</c:v>
                </c:pt>
                <c:pt idx="3">
                  <c:v>5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Housing</c:v>
                </c:pt>
              </c:strCache>
            </c:strRef>
          </c:tx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GDP</c:v>
                </c:pt>
              </c:strCache>
            </c:strRef>
          </c:tx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Employmemt</c:v>
                </c:pt>
              </c:strCache>
            </c:strRef>
          </c:tx>
          <c:marker>
            <c:symbol val="none"/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814912"/>
        <c:axId val="47828992"/>
      </c:lineChart>
      <c:catAx>
        <c:axId val="47814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7828992"/>
        <c:crosses val="autoZero"/>
        <c:auto val="1"/>
        <c:lblAlgn val="ctr"/>
        <c:lblOffset val="100"/>
        <c:noMultiLvlLbl val="0"/>
      </c:catAx>
      <c:valAx>
        <c:axId val="47828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78149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numRef>
              <c:f>Sheet1!$A$2:$A$5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73</c:v>
                </c:pt>
                <c:pt idx="2">
                  <c:v>76</c:v>
                </c:pt>
                <c:pt idx="3">
                  <c:v>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878912"/>
        <c:axId val="47880448"/>
      </c:areaChart>
      <c:catAx>
        <c:axId val="47878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7880448"/>
        <c:crosses val="autoZero"/>
        <c:auto val="1"/>
        <c:lblAlgn val="ctr"/>
        <c:lblOffset val="100"/>
        <c:noMultiLvlLbl val="0"/>
      </c:catAx>
      <c:valAx>
        <c:axId val="4788044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800" b="1" i="0" u="none" strike="noStrike" baseline="0" dirty="0" smtClean="0">
                    <a:effectLst/>
                  </a:rPr>
                  <a:t>Securitization Rate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47878912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</c:v>
                </c:pt>
              </c:strCache>
            </c:strRef>
          </c:tx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</c:spPr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Real Estate and Mortgage Related</c:v>
                </c:pt>
                <c:pt idx="1">
                  <c:v>Others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84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5/17/2016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5/17/2016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>
                <a:lumMod val="50000"/>
              </a:schemeClr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5943600"/>
            <a:ext cx="6248400" cy="3302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  <a:t>A Primer on Mortgages and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  <a:t/>
            </a:r>
            <a:br>
              <a:rPr lang="en-US" dirty="0" smtClean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</a:b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  <a:t>Mortgage-backed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  <a:t>Securities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Calisto MT" charset="0"/>
              </a:rPr>
            </a:b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December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8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Calisto MT" charset="0"/>
              </a:rPr>
              <a:t>THE IMPORTANCE OF HOUSING</a:t>
            </a:r>
          </a:p>
        </p:txBody>
      </p:sp>
    </p:spTree>
    <p:extLst>
      <p:ext uri="{BB962C8B-B14F-4D97-AF65-F5344CB8AC3E}">
        <p14:creationId xmlns:p14="http://schemas.microsoft.com/office/powerpoint/2010/main" val="272051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Role of Housing - I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590800" y="4114800"/>
            <a:ext cx="6858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19800" y="1066800"/>
            <a:ext cx="0" cy="59436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2590800" y="1066800"/>
            <a:ext cx="3352800" cy="2990195"/>
            <a:chOff x="2590800" y="1219200"/>
            <a:chExt cx="3352800" cy="2990195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895600" y="1371600"/>
              <a:ext cx="251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429000" y="1219200"/>
              <a:ext cx="1524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Key Policy Objective </a:t>
              </a:r>
              <a:endParaRPr lang="en-US" sz="12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0800" y="1519535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The provision of affordable and adequate housing is a key policy objective for </a:t>
              </a:r>
              <a:r>
                <a:rPr lang="en-US" dirty="0" smtClean="0"/>
                <a:t>governments.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The homeownership rate in the U.S. has averaged 68.4% over the last 5 </a:t>
              </a:r>
              <a:r>
                <a:rPr lang="en-US" dirty="0" smtClean="0"/>
                <a:t>years.</a:t>
              </a:r>
              <a:endParaRPr lang="en-US" dirty="0"/>
            </a:p>
          </p:txBody>
        </p:sp>
      </p:grpSp>
      <p:sp>
        <p:nvSpPr>
          <p:cNvPr id="17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Central role…</a:t>
            </a: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19" name="Group 18"/>
          <p:cNvGrpSpPr/>
          <p:nvPr/>
        </p:nvGrpSpPr>
        <p:grpSpPr>
          <a:xfrm>
            <a:off x="6248400" y="1066800"/>
            <a:ext cx="3352800" cy="2990195"/>
            <a:chOff x="2590800" y="1219200"/>
            <a:chExt cx="3352800" cy="2990195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2895600" y="1357699"/>
              <a:ext cx="259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505200" y="1219200"/>
              <a:ext cx="1524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Largest Asset</a:t>
              </a:r>
              <a:endParaRPr lang="en-US" sz="1200" b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0800" y="1519535"/>
              <a:ext cx="3352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Housing is the largest asset for most </a:t>
              </a:r>
              <a:r>
                <a:rPr lang="en-US" dirty="0" smtClean="0"/>
                <a:t>households.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In 2007, the primary residence accounted for 32% of total family assets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48400" y="4248805"/>
            <a:ext cx="3352800" cy="2990195"/>
            <a:chOff x="2590800" y="1219200"/>
            <a:chExt cx="3352800" cy="2990195"/>
          </a:xfrm>
        </p:grpSpPr>
        <p:cxnSp>
          <p:nvCxnSpPr>
            <p:cNvPr id="25" name="Straight Connector 24"/>
            <p:cNvCxnSpPr/>
            <p:nvPr/>
          </p:nvCxnSpPr>
          <p:spPr>
            <a:xfrm>
              <a:off x="2895600" y="1371600"/>
              <a:ext cx="251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429000" y="1219200"/>
              <a:ext cx="1524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Significant </a:t>
              </a:r>
              <a:r>
                <a:rPr lang="en-US" sz="1200" b="1" dirty="0"/>
                <a:t>S</a:t>
              </a:r>
              <a:r>
                <a:rPr lang="en-US" sz="1200" b="1" dirty="0" smtClean="0"/>
                <a:t>hare</a:t>
              </a:r>
              <a:endParaRPr lang="en-US" sz="12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590800" y="1519535"/>
              <a:ext cx="3352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Housing-related economic activity (construction, renovation, services related to real estate transactions and financing) represents a significant share of GDP and employment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The Residential fixed investment share of GDP is 2.7% (as of Q1 2009)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514600" y="4248805"/>
            <a:ext cx="3352800" cy="2990195"/>
            <a:chOff x="2590800" y="1219200"/>
            <a:chExt cx="3352800" cy="2990195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2895600" y="1371600"/>
              <a:ext cx="251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429000" y="1219200"/>
              <a:ext cx="1524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 smtClean="0"/>
                <a:t>Largest Liability</a:t>
              </a:r>
              <a:endParaRPr lang="en-US" sz="1200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90800" y="1519535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Mortgages are the largest liability for most </a:t>
              </a:r>
              <a:r>
                <a:rPr lang="en-US" dirty="0" smtClean="0"/>
                <a:t>households.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Debt secured by the primary residence comprises 75% of all household debt (as of 2007)</a:t>
              </a:r>
            </a:p>
          </p:txBody>
        </p:sp>
      </p:grpSp>
      <p:graphicFrame>
        <p:nvGraphicFramePr>
          <p:cNvPr id="35" name="Chart 34"/>
          <p:cNvGraphicFramePr/>
          <p:nvPr>
            <p:extLst>
              <p:ext uri="{D42A27DB-BD31-4B8C-83A1-F6EECF244321}">
                <p14:modId xmlns:p14="http://schemas.microsoft.com/office/powerpoint/2010/main" val="1904614840"/>
              </p:ext>
            </p:extLst>
          </p:nvPr>
        </p:nvGraphicFramePr>
        <p:xfrm>
          <a:off x="2667000" y="1828800"/>
          <a:ext cx="3048000" cy="176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/>
          <p:nvPr>
            <p:extLst>
              <p:ext uri="{D42A27DB-BD31-4B8C-83A1-F6EECF244321}">
                <p14:modId xmlns:p14="http://schemas.microsoft.com/office/powerpoint/2010/main" val="4097615085"/>
              </p:ext>
            </p:extLst>
          </p:nvPr>
        </p:nvGraphicFramePr>
        <p:xfrm>
          <a:off x="6553200" y="1905000"/>
          <a:ext cx="2621280" cy="153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 36"/>
          <p:cNvGraphicFramePr/>
          <p:nvPr>
            <p:extLst>
              <p:ext uri="{D42A27DB-BD31-4B8C-83A1-F6EECF244321}">
                <p14:modId xmlns:p14="http://schemas.microsoft.com/office/powerpoint/2010/main" val="1469957803"/>
              </p:ext>
            </p:extLst>
          </p:nvPr>
        </p:nvGraphicFramePr>
        <p:xfrm>
          <a:off x="2750820" y="5105400"/>
          <a:ext cx="2621280" cy="153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8" name="Chart 37"/>
          <p:cNvGraphicFramePr/>
          <p:nvPr>
            <p:extLst>
              <p:ext uri="{D42A27DB-BD31-4B8C-83A1-F6EECF244321}">
                <p14:modId xmlns:p14="http://schemas.microsoft.com/office/powerpoint/2010/main" val="1001129071"/>
              </p:ext>
            </p:extLst>
          </p:nvPr>
        </p:nvGraphicFramePr>
        <p:xfrm>
          <a:off x="6324600" y="5334000"/>
          <a:ext cx="3505200" cy="1443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/>
          <a:p>
            <a:r>
              <a:rPr lang="en-US" dirty="0" smtClean="0"/>
              <a:t>Importance for </a:t>
            </a:r>
            <a:r>
              <a:rPr lang="en-US" dirty="0"/>
              <a:t>T</a:t>
            </a:r>
            <a:r>
              <a:rPr lang="en-US" dirty="0" smtClean="0"/>
              <a:t>he Economy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52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Role of Housing - </a:t>
            </a:r>
            <a:r>
              <a:rPr lang="en-US" dirty="0" smtClean="0"/>
              <a:t>II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590800" y="4114800"/>
            <a:ext cx="6858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19800" y="1066800"/>
            <a:ext cx="0" cy="3048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2590800" y="1066800"/>
            <a:ext cx="3352800" cy="2990195"/>
            <a:chOff x="2590800" y="1219200"/>
            <a:chExt cx="3352800" cy="2990195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2895600" y="1371600"/>
              <a:ext cx="251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429000" y="1219200"/>
              <a:ext cx="15240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Capital Markets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90800" y="1519535"/>
              <a:ext cx="3352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 smtClean="0"/>
                <a:t>Securitization </a:t>
              </a:r>
              <a:r>
                <a:rPr lang="en-US" dirty="0"/>
                <a:t>has introduced strong linkages between the housing market and the broader financial </a:t>
              </a:r>
              <a:r>
                <a:rPr lang="en-US" dirty="0" smtClean="0"/>
                <a:t>market.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In the U.S., approximately 75% of all newly originated residential mortgages are </a:t>
              </a:r>
              <a:r>
                <a:rPr lang="en-US" dirty="0" smtClean="0"/>
                <a:t>securitized.</a:t>
              </a:r>
              <a:endParaRPr lang="en-US" dirty="0"/>
            </a:p>
          </p:txBody>
        </p:sp>
      </p:grpSp>
      <p:sp>
        <p:nvSpPr>
          <p:cNvPr id="17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Central role…</a:t>
            </a: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pSp>
        <p:nvGrpSpPr>
          <p:cNvPr id="19" name="Group 18"/>
          <p:cNvGrpSpPr/>
          <p:nvPr/>
        </p:nvGrpSpPr>
        <p:grpSpPr>
          <a:xfrm>
            <a:off x="6248400" y="1066800"/>
            <a:ext cx="3352800" cy="2990195"/>
            <a:chOff x="2590800" y="1219200"/>
            <a:chExt cx="3352800" cy="2990195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2895600" y="1357699"/>
              <a:ext cx="2590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352800" y="1219200"/>
              <a:ext cx="18288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Macroeconomic Stability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590800" y="1519535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Key financial intermediaries have large and levered exposures to real estate and </a:t>
              </a:r>
              <a:r>
                <a:rPr lang="en-US" dirty="0" smtClean="0"/>
                <a:t>mortgages.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590800" y="3747730"/>
              <a:ext cx="3352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Commercial banks have significant exposure to real estate/mortgage </a:t>
              </a:r>
              <a:r>
                <a:rPr lang="en-US" dirty="0" smtClean="0"/>
                <a:t>loans.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514600" y="4311104"/>
            <a:ext cx="6934200" cy="2873079"/>
            <a:chOff x="2590800" y="1219200"/>
            <a:chExt cx="3352800" cy="3012617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032927" y="1371600"/>
              <a:ext cx="2514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69807" y="1219200"/>
              <a:ext cx="957942" cy="29045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Monetary Policy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590800" y="1519535"/>
              <a:ext cx="3352800" cy="484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algn="l"/>
              <a:r>
                <a:rPr lang="en-US" dirty="0"/>
                <a:t>The valuation of mortgages &amp; houses (which depend on interest rates and home prices among other factors) has profound consequences of the behavior of both institutions and individuals.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90800" y="3747730"/>
              <a:ext cx="3352800" cy="484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dirty="0"/>
                <a:t>Commercial banks typically tighten lending standards when house prices </a:t>
              </a:r>
              <a:r>
                <a:rPr lang="en-US" dirty="0" smtClean="0"/>
                <a:t>fall;</a:t>
              </a:r>
              <a:endParaRPr lang="en-US" dirty="0"/>
            </a:p>
            <a:p>
              <a:pPr marL="171450" indent="-171450" algn="l">
                <a:buFont typeface="Arial" panose="020B0604020202020204" pitchFamily="34" charset="0"/>
                <a:buChar char="•"/>
              </a:pPr>
              <a:r>
                <a:rPr lang="en-US" dirty="0"/>
                <a:t>Consumer spending shows a strong correlation with the direction of house </a:t>
              </a:r>
              <a:r>
                <a:rPr lang="en-US" dirty="0" smtClean="0"/>
                <a:t>prices.</a:t>
              </a:r>
              <a:endParaRPr lang="en-US" dirty="0"/>
            </a:p>
          </p:txBody>
        </p:sp>
      </p:grp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942075171"/>
              </p:ext>
            </p:extLst>
          </p:nvPr>
        </p:nvGraphicFramePr>
        <p:xfrm>
          <a:off x="2590800" y="2013466"/>
          <a:ext cx="3048000" cy="1581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/>
          <a:p>
            <a:r>
              <a:rPr lang="en-US" dirty="0" smtClean="0"/>
              <a:t>Close Linkages with other Economic Sectors</a:t>
            </a:r>
            <a:endParaRPr lang="en-US" dirty="0"/>
          </a:p>
        </p:txBody>
      </p:sp>
      <p:graphicFrame>
        <p:nvGraphicFramePr>
          <p:cNvPr id="42" name="Chart 41"/>
          <p:cNvGraphicFramePr/>
          <p:nvPr>
            <p:extLst>
              <p:ext uri="{D42A27DB-BD31-4B8C-83A1-F6EECF244321}">
                <p14:modId xmlns:p14="http://schemas.microsoft.com/office/powerpoint/2010/main" val="1295438195"/>
              </p:ext>
            </p:extLst>
          </p:nvPr>
        </p:nvGraphicFramePr>
        <p:xfrm>
          <a:off x="6553200" y="1905000"/>
          <a:ext cx="2621280" cy="153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Oval 11"/>
          <p:cNvSpPr/>
          <p:nvPr/>
        </p:nvSpPr>
        <p:spPr>
          <a:xfrm>
            <a:off x="5715000" y="5334000"/>
            <a:ext cx="1066800" cy="1066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House Price</a:t>
            </a:r>
          </a:p>
          <a:p>
            <a:pPr algn="ctr"/>
            <a:r>
              <a:rPr lang="en-US" sz="1050" dirty="0" smtClean="0"/>
              <a:t>Changes</a:t>
            </a:r>
            <a:endParaRPr lang="en-US" sz="1050" dirty="0"/>
          </a:p>
        </p:txBody>
      </p:sp>
      <p:sp>
        <p:nvSpPr>
          <p:cNvPr id="45" name="Oval 44"/>
          <p:cNvSpPr/>
          <p:nvPr/>
        </p:nvSpPr>
        <p:spPr>
          <a:xfrm>
            <a:off x="3657600" y="5334000"/>
            <a:ext cx="1066800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accent1"/>
                </a:solidFill>
              </a:rPr>
              <a:t>Bank Lending Standards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7772400" y="5334000"/>
            <a:ext cx="1066800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>
                <a:solidFill>
                  <a:schemeClr val="accent1"/>
                </a:solidFill>
              </a:rPr>
              <a:t>Consumer Spending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 rot="5400000">
            <a:off x="5074920" y="5608320"/>
            <a:ext cx="304800" cy="5181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846320" y="5237202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Affect Commercial Banks</a:t>
            </a:r>
            <a:endParaRPr lang="en-US" sz="1000" dirty="0"/>
          </a:p>
        </p:txBody>
      </p:sp>
      <p:sp>
        <p:nvSpPr>
          <p:cNvPr id="47" name="Down Arrow 46"/>
          <p:cNvSpPr/>
          <p:nvPr/>
        </p:nvSpPr>
        <p:spPr>
          <a:xfrm rot="16200000">
            <a:off x="7117080" y="5611891"/>
            <a:ext cx="304800" cy="5181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888480" y="5294292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Show the Direction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6571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/>
          <a:p>
            <a:pPr algn="l"/>
            <a:r>
              <a:rPr lang="en-US" sz="2400" dirty="0">
                <a:solidFill>
                  <a:schemeClr val="accent1"/>
                </a:solidFill>
                <a:latin typeface="Calisto MT" charset="0"/>
              </a:rPr>
              <a:t>THE STRUCTURE OF HOUSING FINANCE SYSTEMS</a:t>
            </a:r>
            <a:endParaRPr lang="en-US" sz="2400" b="1" dirty="0">
              <a:solidFill>
                <a:schemeClr val="accent1"/>
              </a:solidFill>
              <a:latin typeface="Calisto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38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Housing Finance System (HFS)</a:t>
            </a:r>
            <a:endParaRPr lang="en-US" dirty="0"/>
          </a:p>
        </p:txBody>
      </p:sp>
      <p:sp>
        <p:nvSpPr>
          <p:cNvPr id="17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HFS</a:t>
            </a: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2590800" y="1447800"/>
            <a:ext cx="8382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WHY</a:t>
            </a: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3581400" y="1371600"/>
            <a:ext cx="541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Housing Finance Systems are necessary because </a:t>
            </a:r>
            <a:r>
              <a:rPr lang="en-US" sz="1600" b="1" dirty="0"/>
              <a:t>houses are expensive</a:t>
            </a:r>
            <a:r>
              <a:rPr lang="en-US" sz="1600" dirty="0"/>
              <a:t>: The average house costs approximately 4x annual income in the U.S.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90800" y="2946400"/>
            <a:ext cx="8382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WHAT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3573780" y="3081923"/>
            <a:ext cx="541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Financing of housing occurs through</a:t>
            </a:r>
            <a:r>
              <a:rPr lang="en-US" sz="1600" b="1" dirty="0"/>
              <a:t> mortgages</a:t>
            </a:r>
            <a:r>
              <a:rPr lang="en-US" sz="1600" dirty="0"/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0800" y="4445000"/>
            <a:ext cx="8382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HOW</a:t>
            </a:r>
            <a:endParaRPr lang="en-US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3596640" y="4343400"/>
            <a:ext cx="541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Housing Finance Systems deliver 3 basic housing-related services to the general population through financial intermediaries: </a:t>
            </a:r>
            <a:r>
              <a:rPr lang="en-US" sz="1600" b="1" dirty="0"/>
              <a:t>lending, funding, </a:t>
            </a:r>
            <a:r>
              <a:rPr lang="en-US" sz="1600" dirty="0"/>
              <a:t>and</a:t>
            </a:r>
            <a:r>
              <a:rPr lang="en-US" sz="1600" b="1" dirty="0"/>
              <a:t> servicing of mortgages</a:t>
            </a:r>
            <a:r>
              <a:rPr lang="en-US" sz="1600" dirty="0"/>
              <a:t>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90800" y="5943600"/>
            <a:ext cx="838200" cy="60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WHO</a:t>
            </a:r>
            <a:endParaRPr lang="en-US" sz="1600" dirty="0"/>
          </a:p>
        </p:txBody>
      </p:sp>
      <p:sp>
        <p:nvSpPr>
          <p:cNvPr id="44" name="TextBox 43"/>
          <p:cNvSpPr txBox="1"/>
          <p:nvPr/>
        </p:nvSpPr>
        <p:spPr>
          <a:xfrm>
            <a:off x="3596640" y="5943600"/>
            <a:ext cx="541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Government supports</a:t>
            </a:r>
            <a:r>
              <a:rPr lang="en-US" sz="1600" dirty="0"/>
              <a:t> the Housing Finance System through tax laws and Federal Housing Policy</a:t>
            </a:r>
          </a:p>
        </p:txBody>
      </p:sp>
    </p:spTree>
    <p:extLst>
      <p:ext uri="{BB962C8B-B14F-4D97-AF65-F5344CB8AC3E}">
        <p14:creationId xmlns:p14="http://schemas.microsoft.com/office/powerpoint/2010/main" val="266440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HFSs Need a Good Legal and Informational Infrastructure</a:t>
            </a:r>
          </a:p>
        </p:txBody>
      </p:sp>
      <p:sp>
        <p:nvSpPr>
          <p:cNvPr id="17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HFS</a:t>
            </a: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sp>
        <p:nvSpPr>
          <p:cNvPr id="12" name="Freeform 4"/>
          <p:cNvSpPr>
            <a:spLocks/>
          </p:cNvSpPr>
          <p:nvPr/>
        </p:nvSpPr>
        <p:spPr bwMode="blackWhite">
          <a:xfrm>
            <a:off x="3912823" y="2559609"/>
            <a:ext cx="2520915" cy="1141333"/>
          </a:xfrm>
          <a:custGeom>
            <a:avLst/>
            <a:gdLst>
              <a:gd name="T0" fmla="*/ 15642060 w 1136"/>
              <a:gd name="T1" fmla="*/ 5102294 h 491"/>
              <a:gd name="T2" fmla="*/ 15442507 w 1136"/>
              <a:gd name="T3" fmla="*/ 4270120 h 491"/>
              <a:gd name="T4" fmla="*/ 15069848 w 1136"/>
              <a:gd name="T5" fmla="*/ 3479787 h 491"/>
              <a:gd name="T6" fmla="*/ 14519275 w 1136"/>
              <a:gd name="T7" fmla="*/ 2717349 h 491"/>
              <a:gd name="T8" fmla="*/ 13853297 w 1136"/>
              <a:gd name="T9" fmla="*/ 2024646 h 491"/>
              <a:gd name="T10" fmla="*/ 13033448 w 1136"/>
              <a:gd name="T11" fmla="*/ 1434221 h 491"/>
              <a:gd name="T12" fmla="*/ 12105407 w 1136"/>
              <a:gd name="T13" fmla="*/ 911207 h 491"/>
              <a:gd name="T14" fmla="*/ 11098026 w 1136"/>
              <a:gd name="T15" fmla="*/ 516041 h 491"/>
              <a:gd name="T16" fmla="*/ 10006496 w 1136"/>
              <a:gd name="T17" fmla="*/ 218504 h 491"/>
              <a:gd name="T18" fmla="*/ 8871688 w 1136"/>
              <a:gd name="T19" fmla="*/ 44166 h 491"/>
              <a:gd name="T20" fmla="*/ 7729668 w 1136"/>
              <a:gd name="T21" fmla="*/ 0 h 491"/>
              <a:gd name="T22" fmla="*/ 6556394 w 1136"/>
              <a:gd name="T23" fmla="*/ 65086 h 491"/>
              <a:gd name="T24" fmla="*/ 5445630 w 1136"/>
              <a:gd name="T25" fmla="*/ 281265 h 491"/>
              <a:gd name="T26" fmla="*/ 4363716 w 1136"/>
              <a:gd name="T27" fmla="*/ 595074 h 491"/>
              <a:gd name="T28" fmla="*/ 3353931 w 1136"/>
              <a:gd name="T29" fmla="*/ 1029757 h 491"/>
              <a:gd name="T30" fmla="*/ 2471571 w 1136"/>
              <a:gd name="T31" fmla="*/ 1569042 h 491"/>
              <a:gd name="T32" fmla="*/ 1690189 w 1136"/>
              <a:gd name="T33" fmla="*/ 2182712 h 491"/>
              <a:gd name="T34" fmla="*/ 1038637 w 1136"/>
              <a:gd name="T35" fmla="*/ 2884714 h 491"/>
              <a:gd name="T36" fmla="*/ 536148 w 1136"/>
              <a:gd name="T37" fmla="*/ 3640178 h 491"/>
              <a:gd name="T38" fmla="*/ 197149 w 1136"/>
              <a:gd name="T39" fmla="*/ 4458405 h 491"/>
              <a:gd name="T40" fmla="*/ 28851 w 1136"/>
              <a:gd name="T41" fmla="*/ 5302202 h 491"/>
              <a:gd name="T42" fmla="*/ 7854689 w 1136"/>
              <a:gd name="T43" fmla="*/ 5722937 h 491"/>
              <a:gd name="T44" fmla="*/ 8999113 w 1136"/>
              <a:gd name="T45" fmla="*/ 5448646 h 491"/>
              <a:gd name="T46" fmla="*/ 9376580 w 1136"/>
              <a:gd name="T47" fmla="*/ 4958175 h 491"/>
              <a:gd name="T48" fmla="*/ 9898305 w 1136"/>
              <a:gd name="T49" fmla="*/ 4537438 h 491"/>
              <a:gd name="T50" fmla="*/ 10513793 w 1136"/>
              <a:gd name="T51" fmla="*/ 4209682 h 491"/>
              <a:gd name="T52" fmla="*/ 11213430 w 1136"/>
              <a:gd name="T53" fmla="*/ 3970258 h 491"/>
              <a:gd name="T54" fmla="*/ 11941918 w 1136"/>
              <a:gd name="T55" fmla="*/ 3849384 h 491"/>
              <a:gd name="T56" fmla="*/ 12699257 w 1136"/>
              <a:gd name="T57" fmla="*/ 3849384 h 491"/>
              <a:gd name="T58" fmla="*/ 13461405 w 1136"/>
              <a:gd name="T59" fmla="*/ 3974907 h 491"/>
              <a:gd name="T60" fmla="*/ 14161041 w 1136"/>
              <a:gd name="T61" fmla="*/ 4223630 h 491"/>
              <a:gd name="T62" fmla="*/ 14790955 w 1136"/>
              <a:gd name="T63" fmla="*/ 4579279 h 491"/>
              <a:gd name="T64" fmla="*/ 15295848 w 1136"/>
              <a:gd name="T65" fmla="*/ 5006989 h 491"/>
              <a:gd name="T66" fmla="*/ 15682932 w 1136"/>
              <a:gd name="T67" fmla="*/ 5523030 h 49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136"/>
              <a:gd name="T103" fmla="*/ 0 h 491"/>
              <a:gd name="T104" fmla="*/ 1136 w 1136"/>
              <a:gd name="T105" fmla="*/ 491 h 49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136" h="491">
                <a:moveTo>
                  <a:pt x="1135" y="473"/>
                </a:moveTo>
                <a:lnTo>
                  <a:pt x="1132" y="437"/>
                </a:lnTo>
                <a:lnTo>
                  <a:pt x="1126" y="401"/>
                </a:lnTo>
                <a:lnTo>
                  <a:pt x="1117" y="366"/>
                </a:lnTo>
                <a:lnTo>
                  <a:pt x="1104" y="331"/>
                </a:lnTo>
                <a:lnTo>
                  <a:pt x="1090" y="298"/>
                </a:lnTo>
                <a:lnTo>
                  <a:pt x="1072" y="264"/>
                </a:lnTo>
                <a:lnTo>
                  <a:pt x="1051" y="233"/>
                </a:lnTo>
                <a:lnTo>
                  <a:pt x="1027" y="203"/>
                </a:lnTo>
                <a:lnTo>
                  <a:pt x="1002" y="174"/>
                </a:lnTo>
                <a:lnTo>
                  <a:pt x="974" y="148"/>
                </a:lnTo>
                <a:lnTo>
                  <a:pt x="943" y="123"/>
                </a:lnTo>
                <a:lnTo>
                  <a:pt x="911" y="99"/>
                </a:lnTo>
                <a:lnTo>
                  <a:pt x="876" y="78"/>
                </a:lnTo>
                <a:lnTo>
                  <a:pt x="840" y="60"/>
                </a:lnTo>
                <a:lnTo>
                  <a:pt x="803" y="44"/>
                </a:lnTo>
                <a:lnTo>
                  <a:pt x="764" y="30"/>
                </a:lnTo>
                <a:lnTo>
                  <a:pt x="724" y="19"/>
                </a:lnTo>
                <a:lnTo>
                  <a:pt x="683" y="10"/>
                </a:lnTo>
                <a:lnTo>
                  <a:pt x="642" y="4"/>
                </a:lnTo>
                <a:lnTo>
                  <a:pt x="600" y="1"/>
                </a:lnTo>
                <a:lnTo>
                  <a:pt x="559" y="0"/>
                </a:lnTo>
                <a:lnTo>
                  <a:pt x="517" y="2"/>
                </a:lnTo>
                <a:lnTo>
                  <a:pt x="474" y="6"/>
                </a:lnTo>
                <a:lnTo>
                  <a:pt x="433" y="14"/>
                </a:lnTo>
                <a:lnTo>
                  <a:pt x="394" y="24"/>
                </a:lnTo>
                <a:lnTo>
                  <a:pt x="354" y="37"/>
                </a:lnTo>
                <a:lnTo>
                  <a:pt x="316" y="51"/>
                </a:lnTo>
                <a:lnTo>
                  <a:pt x="279" y="68"/>
                </a:lnTo>
                <a:lnTo>
                  <a:pt x="243" y="88"/>
                </a:lnTo>
                <a:lnTo>
                  <a:pt x="210" y="110"/>
                </a:lnTo>
                <a:lnTo>
                  <a:pt x="179" y="134"/>
                </a:lnTo>
                <a:lnTo>
                  <a:pt x="149" y="159"/>
                </a:lnTo>
                <a:lnTo>
                  <a:pt x="122" y="187"/>
                </a:lnTo>
                <a:lnTo>
                  <a:pt x="97" y="217"/>
                </a:lnTo>
                <a:lnTo>
                  <a:pt x="75" y="247"/>
                </a:lnTo>
                <a:lnTo>
                  <a:pt x="56" y="280"/>
                </a:lnTo>
                <a:lnTo>
                  <a:pt x="39" y="312"/>
                </a:lnTo>
                <a:lnTo>
                  <a:pt x="25" y="347"/>
                </a:lnTo>
                <a:lnTo>
                  <a:pt x="14" y="382"/>
                </a:lnTo>
                <a:lnTo>
                  <a:pt x="7" y="417"/>
                </a:lnTo>
                <a:lnTo>
                  <a:pt x="2" y="454"/>
                </a:lnTo>
                <a:lnTo>
                  <a:pt x="0" y="490"/>
                </a:lnTo>
                <a:lnTo>
                  <a:pt x="568" y="490"/>
                </a:lnTo>
                <a:lnTo>
                  <a:pt x="640" y="490"/>
                </a:lnTo>
                <a:lnTo>
                  <a:pt x="651" y="467"/>
                </a:lnTo>
                <a:lnTo>
                  <a:pt x="664" y="445"/>
                </a:lnTo>
                <a:lnTo>
                  <a:pt x="679" y="425"/>
                </a:lnTo>
                <a:lnTo>
                  <a:pt x="696" y="406"/>
                </a:lnTo>
                <a:lnTo>
                  <a:pt x="716" y="389"/>
                </a:lnTo>
                <a:lnTo>
                  <a:pt x="738" y="374"/>
                </a:lnTo>
                <a:lnTo>
                  <a:pt x="761" y="361"/>
                </a:lnTo>
                <a:lnTo>
                  <a:pt x="785" y="350"/>
                </a:lnTo>
                <a:lnTo>
                  <a:pt x="811" y="340"/>
                </a:lnTo>
                <a:lnTo>
                  <a:pt x="837" y="334"/>
                </a:lnTo>
                <a:lnTo>
                  <a:pt x="864" y="330"/>
                </a:lnTo>
                <a:lnTo>
                  <a:pt x="891" y="330"/>
                </a:lnTo>
                <a:lnTo>
                  <a:pt x="919" y="330"/>
                </a:lnTo>
                <a:lnTo>
                  <a:pt x="947" y="335"/>
                </a:lnTo>
                <a:lnTo>
                  <a:pt x="974" y="341"/>
                </a:lnTo>
                <a:lnTo>
                  <a:pt x="1000" y="351"/>
                </a:lnTo>
                <a:lnTo>
                  <a:pt x="1025" y="362"/>
                </a:lnTo>
                <a:lnTo>
                  <a:pt x="1048" y="375"/>
                </a:lnTo>
                <a:lnTo>
                  <a:pt x="1070" y="392"/>
                </a:lnTo>
                <a:lnTo>
                  <a:pt x="1090" y="410"/>
                </a:lnTo>
                <a:lnTo>
                  <a:pt x="1107" y="429"/>
                </a:lnTo>
                <a:lnTo>
                  <a:pt x="1122" y="451"/>
                </a:lnTo>
                <a:lnTo>
                  <a:pt x="1135" y="473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Foreclosure Law</a:t>
            </a:r>
            <a:endParaRPr lang="en-GB" sz="1400" dirty="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3" name="Freeform 5"/>
          <p:cNvSpPr>
            <a:spLocks/>
          </p:cNvSpPr>
          <p:nvPr/>
        </p:nvSpPr>
        <p:spPr bwMode="blackWhite">
          <a:xfrm>
            <a:off x="4980521" y="3258384"/>
            <a:ext cx="1094928" cy="2638264"/>
          </a:xfrm>
          <a:custGeom>
            <a:avLst/>
            <a:gdLst>
              <a:gd name="T0" fmla="*/ 6090193 w 493"/>
              <a:gd name="T1" fmla="*/ 30245 h 1134"/>
              <a:gd name="T2" fmla="*/ 5096416 w 493"/>
              <a:gd name="T3" fmla="*/ 209386 h 1134"/>
              <a:gd name="T4" fmla="*/ 4150763 w 493"/>
              <a:gd name="T5" fmla="*/ 523465 h 1134"/>
              <a:gd name="T6" fmla="*/ 3250830 w 493"/>
              <a:gd name="T7" fmla="*/ 986441 h 1134"/>
              <a:gd name="T8" fmla="*/ 2447145 w 493"/>
              <a:gd name="T9" fmla="*/ 1554110 h 1134"/>
              <a:gd name="T10" fmla="*/ 1710836 w 493"/>
              <a:gd name="T11" fmla="*/ 2233451 h 1134"/>
              <a:gd name="T12" fmla="*/ 1111683 w 493"/>
              <a:gd name="T13" fmla="*/ 3029118 h 1134"/>
              <a:gd name="T14" fmla="*/ 623216 w 493"/>
              <a:gd name="T15" fmla="*/ 3889927 h 1134"/>
              <a:gd name="T16" fmla="*/ 276718 w 493"/>
              <a:gd name="T17" fmla="*/ 4820532 h 1134"/>
              <a:gd name="T18" fmla="*/ 69781 w 493"/>
              <a:gd name="T19" fmla="*/ 5765095 h 1134"/>
              <a:gd name="T20" fmla="*/ 0 w 493"/>
              <a:gd name="T21" fmla="*/ 6751536 h 1134"/>
              <a:gd name="T22" fmla="*/ 96250 w 493"/>
              <a:gd name="T23" fmla="*/ 7724017 h 1134"/>
              <a:gd name="T24" fmla="*/ 346499 w 493"/>
              <a:gd name="T25" fmla="*/ 8687192 h 1134"/>
              <a:gd name="T26" fmla="*/ 726684 w 493"/>
              <a:gd name="T27" fmla="*/ 9592207 h 1134"/>
              <a:gd name="T28" fmla="*/ 1236807 w 493"/>
              <a:gd name="T29" fmla="*/ 10429751 h 1134"/>
              <a:gd name="T30" fmla="*/ 1872054 w 493"/>
              <a:gd name="T31" fmla="*/ 11195173 h 1134"/>
              <a:gd name="T32" fmla="*/ 2605958 w 493"/>
              <a:gd name="T33" fmla="*/ 11855902 h 1134"/>
              <a:gd name="T34" fmla="*/ 3457766 w 493"/>
              <a:gd name="T35" fmla="*/ 12402632 h 1134"/>
              <a:gd name="T36" fmla="*/ 4362512 w 493"/>
              <a:gd name="T37" fmla="*/ 12842342 h 1134"/>
              <a:gd name="T38" fmla="*/ 5329821 w 493"/>
              <a:gd name="T39" fmla="*/ 13123850 h 1134"/>
              <a:gd name="T40" fmla="*/ 6316379 w 493"/>
              <a:gd name="T41" fmla="*/ 13265767 h 1134"/>
              <a:gd name="T42" fmla="*/ 6824095 w 493"/>
              <a:gd name="T43" fmla="*/ 6637537 h 1134"/>
              <a:gd name="T44" fmla="*/ 6496847 w 493"/>
              <a:gd name="T45" fmla="*/ 5672035 h 1134"/>
              <a:gd name="T46" fmla="*/ 5909725 w 493"/>
              <a:gd name="T47" fmla="*/ 5343997 h 1134"/>
              <a:gd name="T48" fmla="*/ 5426071 w 493"/>
              <a:gd name="T49" fmla="*/ 4897307 h 1134"/>
              <a:gd name="T50" fmla="*/ 5021823 w 493"/>
              <a:gd name="T51" fmla="*/ 4380820 h 1134"/>
              <a:gd name="T52" fmla="*/ 4742698 w 493"/>
              <a:gd name="T53" fmla="*/ 3796866 h 1134"/>
              <a:gd name="T54" fmla="*/ 4605542 w 493"/>
              <a:gd name="T55" fmla="*/ 3175688 h 1134"/>
              <a:gd name="T56" fmla="*/ 4605542 w 493"/>
              <a:gd name="T57" fmla="*/ 2517285 h 1134"/>
              <a:gd name="T58" fmla="*/ 4761948 w 493"/>
              <a:gd name="T59" fmla="*/ 1886801 h 1134"/>
              <a:gd name="T60" fmla="*/ 5038666 w 493"/>
              <a:gd name="T61" fmla="*/ 1288887 h 1134"/>
              <a:gd name="T62" fmla="*/ 5454946 w 493"/>
              <a:gd name="T63" fmla="*/ 756116 h 1134"/>
              <a:gd name="T64" fmla="*/ 5981912 w 493"/>
              <a:gd name="T65" fmla="*/ 328038 h 1134"/>
              <a:gd name="T66" fmla="*/ 6593097 w 493"/>
              <a:gd name="T67" fmla="*/ 0 h 113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493"/>
              <a:gd name="T103" fmla="*/ 0 h 1134"/>
              <a:gd name="T104" fmla="*/ 493 w 493"/>
              <a:gd name="T105" fmla="*/ 1134 h 113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493" h="1134">
                <a:moveTo>
                  <a:pt x="475" y="0"/>
                </a:moveTo>
                <a:lnTo>
                  <a:pt x="439" y="3"/>
                </a:lnTo>
                <a:lnTo>
                  <a:pt x="403" y="9"/>
                </a:lnTo>
                <a:lnTo>
                  <a:pt x="367" y="18"/>
                </a:lnTo>
                <a:lnTo>
                  <a:pt x="333" y="30"/>
                </a:lnTo>
                <a:lnTo>
                  <a:pt x="299" y="45"/>
                </a:lnTo>
                <a:lnTo>
                  <a:pt x="266" y="63"/>
                </a:lnTo>
                <a:lnTo>
                  <a:pt x="234" y="84"/>
                </a:lnTo>
                <a:lnTo>
                  <a:pt x="204" y="107"/>
                </a:lnTo>
                <a:lnTo>
                  <a:pt x="176" y="133"/>
                </a:lnTo>
                <a:lnTo>
                  <a:pt x="148" y="161"/>
                </a:lnTo>
                <a:lnTo>
                  <a:pt x="123" y="191"/>
                </a:lnTo>
                <a:lnTo>
                  <a:pt x="101" y="224"/>
                </a:lnTo>
                <a:lnTo>
                  <a:pt x="80" y="258"/>
                </a:lnTo>
                <a:lnTo>
                  <a:pt x="61" y="294"/>
                </a:lnTo>
                <a:lnTo>
                  <a:pt x="45" y="332"/>
                </a:lnTo>
                <a:lnTo>
                  <a:pt x="31" y="370"/>
                </a:lnTo>
                <a:lnTo>
                  <a:pt x="20" y="411"/>
                </a:lnTo>
                <a:lnTo>
                  <a:pt x="11" y="451"/>
                </a:lnTo>
                <a:lnTo>
                  <a:pt x="5" y="492"/>
                </a:lnTo>
                <a:lnTo>
                  <a:pt x="1" y="534"/>
                </a:lnTo>
                <a:lnTo>
                  <a:pt x="0" y="576"/>
                </a:lnTo>
                <a:lnTo>
                  <a:pt x="3" y="617"/>
                </a:lnTo>
                <a:lnTo>
                  <a:pt x="7" y="659"/>
                </a:lnTo>
                <a:lnTo>
                  <a:pt x="14" y="701"/>
                </a:lnTo>
                <a:lnTo>
                  <a:pt x="25" y="741"/>
                </a:lnTo>
                <a:lnTo>
                  <a:pt x="37" y="780"/>
                </a:lnTo>
                <a:lnTo>
                  <a:pt x="52" y="818"/>
                </a:lnTo>
                <a:lnTo>
                  <a:pt x="69" y="855"/>
                </a:lnTo>
                <a:lnTo>
                  <a:pt x="89" y="890"/>
                </a:lnTo>
                <a:lnTo>
                  <a:pt x="111" y="924"/>
                </a:lnTo>
                <a:lnTo>
                  <a:pt x="135" y="955"/>
                </a:lnTo>
                <a:lnTo>
                  <a:pt x="161" y="984"/>
                </a:lnTo>
                <a:lnTo>
                  <a:pt x="188" y="1011"/>
                </a:lnTo>
                <a:lnTo>
                  <a:pt x="218" y="1036"/>
                </a:lnTo>
                <a:lnTo>
                  <a:pt x="249" y="1058"/>
                </a:lnTo>
                <a:lnTo>
                  <a:pt x="281" y="1078"/>
                </a:lnTo>
                <a:lnTo>
                  <a:pt x="314" y="1095"/>
                </a:lnTo>
                <a:lnTo>
                  <a:pt x="349" y="1108"/>
                </a:lnTo>
                <a:lnTo>
                  <a:pt x="384" y="1119"/>
                </a:lnTo>
                <a:lnTo>
                  <a:pt x="419" y="1126"/>
                </a:lnTo>
                <a:lnTo>
                  <a:pt x="455" y="1131"/>
                </a:lnTo>
                <a:lnTo>
                  <a:pt x="492" y="1133"/>
                </a:lnTo>
                <a:lnTo>
                  <a:pt x="492" y="566"/>
                </a:lnTo>
                <a:lnTo>
                  <a:pt x="492" y="494"/>
                </a:lnTo>
                <a:lnTo>
                  <a:pt x="468" y="484"/>
                </a:lnTo>
                <a:lnTo>
                  <a:pt x="447" y="470"/>
                </a:lnTo>
                <a:lnTo>
                  <a:pt x="426" y="456"/>
                </a:lnTo>
                <a:lnTo>
                  <a:pt x="408" y="438"/>
                </a:lnTo>
                <a:lnTo>
                  <a:pt x="391" y="418"/>
                </a:lnTo>
                <a:lnTo>
                  <a:pt x="375" y="397"/>
                </a:lnTo>
                <a:lnTo>
                  <a:pt x="362" y="374"/>
                </a:lnTo>
                <a:lnTo>
                  <a:pt x="351" y="349"/>
                </a:lnTo>
                <a:lnTo>
                  <a:pt x="342" y="324"/>
                </a:lnTo>
                <a:lnTo>
                  <a:pt x="336" y="298"/>
                </a:lnTo>
                <a:lnTo>
                  <a:pt x="332" y="271"/>
                </a:lnTo>
                <a:lnTo>
                  <a:pt x="331" y="243"/>
                </a:lnTo>
                <a:lnTo>
                  <a:pt x="332" y="215"/>
                </a:lnTo>
                <a:lnTo>
                  <a:pt x="336" y="188"/>
                </a:lnTo>
                <a:lnTo>
                  <a:pt x="343" y="161"/>
                </a:lnTo>
                <a:lnTo>
                  <a:pt x="352" y="135"/>
                </a:lnTo>
                <a:lnTo>
                  <a:pt x="363" y="110"/>
                </a:lnTo>
                <a:lnTo>
                  <a:pt x="377" y="86"/>
                </a:lnTo>
                <a:lnTo>
                  <a:pt x="393" y="65"/>
                </a:lnTo>
                <a:lnTo>
                  <a:pt x="412" y="45"/>
                </a:lnTo>
                <a:lnTo>
                  <a:pt x="431" y="28"/>
                </a:lnTo>
                <a:lnTo>
                  <a:pt x="452" y="12"/>
                </a:lnTo>
                <a:lnTo>
                  <a:pt x="475" y="0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round/>
            <a:headEnd/>
            <a:tailEnd/>
          </a:ln>
        </p:spPr>
        <p:txBody>
          <a:bodyPr vert="vert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Credit Information</a:t>
            </a:r>
            <a:endParaRPr lang="en-GB" sz="1400" dirty="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Freeform 6"/>
          <p:cNvSpPr>
            <a:spLocks/>
          </p:cNvSpPr>
          <p:nvPr/>
        </p:nvSpPr>
        <p:spPr bwMode="blackWhite">
          <a:xfrm>
            <a:off x="5578146" y="3643486"/>
            <a:ext cx="2520915" cy="1142886"/>
          </a:xfrm>
          <a:custGeom>
            <a:avLst/>
            <a:gdLst>
              <a:gd name="T0" fmla="*/ 45681 w 1136"/>
              <a:gd name="T1" fmla="*/ 616833 h 491"/>
              <a:gd name="T2" fmla="*/ 250042 w 1136"/>
              <a:gd name="T3" fmla="*/ 1466432 h 491"/>
              <a:gd name="T4" fmla="*/ 622701 w 1136"/>
              <a:gd name="T5" fmla="*/ 2264823 h 491"/>
              <a:gd name="T6" fmla="*/ 1158849 w 1136"/>
              <a:gd name="T7" fmla="*/ 3018988 h 491"/>
              <a:gd name="T8" fmla="*/ 1839252 w 1136"/>
              <a:gd name="T9" fmla="*/ 3719617 h 491"/>
              <a:gd name="T10" fmla="*/ 2649485 w 1136"/>
              <a:gd name="T11" fmla="*/ 4327139 h 491"/>
              <a:gd name="T12" fmla="*/ 3582335 w 1136"/>
              <a:gd name="T13" fmla="*/ 4843882 h 491"/>
              <a:gd name="T14" fmla="*/ 4589716 w 1136"/>
              <a:gd name="T15" fmla="*/ 5251225 h 491"/>
              <a:gd name="T16" fmla="*/ 5676438 w 1136"/>
              <a:gd name="T17" fmla="*/ 5546839 h 491"/>
              <a:gd name="T18" fmla="*/ 6808840 w 1136"/>
              <a:gd name="T19" fmla="*/ 5714431 h 491"/>
              <a:gd name="T20" fmla="*/ 7960477 w 1136"/>
              <a:gd name="T21" fmla="*/ 5763312 h 491"/>
              <a:gd name="T22" fmla="*/ 9121730 w 1136"/>
              <a:gd name="T23" fmla="*/ 5691154 h 491"/>
              <a:gd name="T24" fmla="*/ 10237304 w 1136"/>
              <a:gd name="T25" fmla="*/ 5483992 h 491"/>
              <a:gd name="T26" fmla="*/ 11316813 w 1136"/>
              <a:gd name="T27" fmla="*/ 5169756 h 491"/>
              <a:gd name="T28" fmla="*/ 12326598 w 1136"/>
              <a:gd name="T29" fmla="*/ 4727498 h 491"/>
              <a:gd name="T30" fmla="*/ 13211362 w 1136"/>
              <a:gd name="T31" fmla="*/ 4194462 h 491"/>
              <a:gd name="T32" fmla="*/ 14002361 w 1136"/>
              <a:gd name="T33" fmla="*/ 3561335 h 491"/>
              <a:gd name="T34" fmla="*/ 14649104 w 1136"/>
              <a:gd name="T35" fmla="*/ 2853724 h 491"/>
              <a:gd name="T36" fmla="*/ 15149189 w 1136"/>
              <a:gd name="T37" fmla="*/ 2092575 h 491"/>
              <a:gd name="T38" fmla="*/ 15495401 w 1136"/>
              <a:gd name="T39" fmla="*/ 1270908 h 491"/>
              <a:gd name="T40" fmla="*/ 15654081 w 1136"/>
              <a:gd name="T41" fmla="*/ 428291 h 491"/>
              <a:gd name="T42" fmla="*/ 7840264 w 1136"/>
              <a:gd name="T43" fmla="*/ 0 h 491"/>
              <a:gd name="T44" fmla="*/ 6686224 w 1136"/>
              <a:gd name="T45" fmla="*/ 253716 h 491"/>
              <a:gd name="T46" fmla="*/ 6294331 w 1136"/>
              <a:gd name="T47" fmla="*/ 726233 h 491"/>
              <a:gd name="T48" fmla="*/ 5748566 w 1136"/>
              <a:gd name="T49" fmla="*/ 1112626 h 491"/>
              <a:gd name="T50" fmla="*/ 5125865 w 1136"/>
              <a:gd name="T51" fmla="*/ 1396602 h 491"/>
              <a:gd name="T52" fmla="*/ 4414206 w 1136"/>
              <a:gd name="T53" fmla="*/ 1573505 h 491"/>
              <a:gd name="T54" fmla="*/ 3707356 w 1136"/>
              <a:gd name="T55" fmla="*/ 1622386 h 491"/>
              <a:gd name="T56" fmla="*/ 2899528 w 1136"/>
              <a:gd name="T57" fmla="*/ 1634025 h 491"/>
              <a:gd name="T58" fmla="*/ 2125358 w 1136"/>
              <a:gd name="T59" fmla="*/ 1510658 h 491"/>
              <a:gd name="T60" fmla="*/ 1396870 w 1136"/>
              <a:gd name="T61" fmla="*/ 1270908 h 491"/>
              <a:gd name="T62" fmla="*/ 747722 w 1136"/>
              <a:gd name="T63" fmla="*/ 900808 h 491"/>
              <a:gd name="T64" fmla="*/ 223595 w 1136"/>
              <a:gd name="T65" fmla="*/ 453896 h 491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36"/>
              <a:gd name="T100" fmla="*/ 0 h 491"/>
              <a:gd name="T101" fmla="*/ 1136 w 1136"/>
              <a:gd name="T102" fmla="*/ 491 h 491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36" h="491">
                <a:moveTo>
                  <a:pt x="0" y="17"/>
                </a:moveTo>
                <a:lnTo>
                  <a:pt x="3" y="53"/>
                </a:lnTo>
                <a:lnTo>
                  <a:pt x="9" y="89"/>
                </a:lnTo>
                <a:lnTo>
                  <a:pt x="18" y="125"/>
                </a:lnTo>
                <a:lnTo>
                  <a:pt x="31" y="159"/>
                </a:lnTo>
                <a:lnTo>
                  <a:pt x="45" y="193"/>
                </a:lnTo>
                <a:lnTo>
                  <a:pt x="63" y="226"/>
                </a:lnTo>
                <a:lnTo>
                  <a:pt x="84" y="257"/>
                </a:lnTo>
                <a:lnTo>
                  <a:pt x="108" y="287"/>
                </a:lnTo>
                <a:lnTo>
                  <a:pt x="133" y="316"/>
                </a:lnTo>
                <a:lnTo>
                  <a:pt x="161" y="343"/>
                </a:lnTo>
                <a:lnTo>
                  <a:pt x="192" y="368"/>
                </a:lnTo>
                <a:lnTo>
                  <a:pt x="224" y="391"/>
                </a:lnTo>
                <a:lnTo>
                  <a:pt x="259" y="412"/>
                </a:lnTo>
                <a:lnTo>
                  <a:pt x="295" y="430"/>
                </a:lnTo>
                <a:lnTo>
                  <a:pt x="332" y="447"/>
                </a:lnTo>
                <a:lnTo>
                  <a:pt x="371" y="460"/>
                </a:lnTo>
                <a:lnTo>
                  <a:pt x="411" y="472"/>
                </a:lnTo>
                <a:lnTo>
                  <a:pt x="452" y="480"/>
                </a:lnTo>
                <a:lnTo>
                  <a:pt x="493" y="486"/>
                </a:lnTo>
                <a:lnTo>
                  <a:pt x="534" y="489"/>
                </a:lnTo>
                <a:lnTo>
                  <a:pt x="576" y="490"/>
                </a:lnTo>
                <a:lnTo>
                  <a:pt x="618" y="489"/>
                </a:lnTo>
                <a:lnTo>
                  <a:pt x="660" y="484"/>
                </a:lnTo>
                <a:lnTo>
                  <a:pt x="701" y="476"/>
                </a:lnTo>
                <a:lnTo>
                  <a:pt x="741" y="467"/>
                </a:lnTo>
                <a:lnTo>
                  <a:pt x="781" y="454"/>
                </a:lnTo>
                <a:lnTo>
                  <a:pt x="819" y="440"/>
                </a:lnTo>
                <a:lnTo>
                  <a:pt x="856" y="422"/>
                </a:lnTo>
                <a:lnTo>
                  <a:pt x="892" y="402"/>
                </a:lnTo>
                <a:lnTo>
                  <a:pt x="925" y="381"/>
                </a:lnTo>
                <a:lnTo>
                  <a:pt x="956" y="357"/>
                </a:lnTo>
                <a:lnTo>
                  <a:pt x="986" y="331"/>
                </a:lnTo>
                <a:lnTo>
                  <a:pt x="1013" y="303"/>
                </a:lnTo>
                <a:lnTo>
                  <a:pt x="1038" y="274"/>
                </a:lnTo>
                <a:lnTo>
                  <a:pt x="1060" y="243"/>
                </a:lnTo>
                <a:lnTo>
                  <a:pt x="1079" y="211"/>
                </a:lnTo>
                <a:lnTo>
                  <a:pt x="1096" y="178"/>
                </a:lnTo>
                <a:lnTo>
                  <a:pt x="1110" y="143"/>
                </a:lnTo>
                <a:lnTo>
                  <a:pt x="1121" y="108"/>
                </a:lnTo>
                <a:lnTo>
                  <a:pt x="1128" y="73"/>
                </a:lnTo>
                <a:lnTo>
                  <a:pt x="1133" y="37"/>
                </a:lnTo>
                <a:lnTo>
                  <a:pt x="1135" y="0"/>
                </a:lnTo>
                <a:lnTo>
                  <a:pt x="567" y="0"/>
                </a:lnTo>
                <a:lnTo>
                  <a:pt x="495" y="0"/>
                </a:lnTo>
                <a:lnTo>
                  <a:pt x="484" y="22"/>
                </a:lnTo>
                <a:lnTo>
                  <a:pt x="470" y="43"/>
                </a:lnTo>
                <a:lnTo>
                  <a:pt x="455" y="62"/>
                </a:lnTo>
                <a:lnTo>
                  <a:pt x="436" y="80"/>
                </a:lnTo>
                <a:lnTo>
                  <a:pt x="416" y="95"/>
                </a:lnTo>
                <a:lnTo>
                  <a:pt x="394" y="108"/>
                </a:lnTo>
                <a:lnTo>
                  <a:pt x="371" y="119"/>
                </a:lnTo>
                <a:lnTo>
                  <a:pt x="346" y="128"/>
                </a:lnTo>
                <a:lnTo>
                  <a:pt x="320" y="134"/>
                </a:lnTo>
                <a:lnTo>
                  <a:pt x="295" y="137"/>
                </a:lnTo>
                <a:lnTo>
                  <a:pt x="268" y="138"/>
                </a:lnTo>
                <a:lnTo>
                  <a:pt x="238" y="140"/>
                </a:lnTo>
                <a:lnTo>
                  <a:pt x="210" y="139"/>
                </a:lnTo>
                <a:lnTo>
                  <a:pt x="181" y="136"/>
                </a:lnTo>
                <a:lnTo>
                  <a:pt x="154" y="129"/>
                </a:lnTo>
                <a:lnTo>
                  <a:pt x="126" y="119"/>
                </a:lnTo>
                <a:lnTo>
                  <a:pt x="101" y="108"/>
                </a:lnTo>
                <a:lnTo>
                  <a:pt x="76" y="94"/>
                </a:lnTo>
                <a:lnTo>
                  <a:pt x="54" y="77"/>
                </a:lnTo>
                <a:lnTo>
                  <a:pt x="34" y="60"/>
                </a:lnTo>
                <a:lnTo>
                  <a:pt x="16" y="39"/>
                </a:lnTo>
                <a:lnTo>
                  <a:pt x="0" y="17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Registration</a:t>
            </a:r>
            <a:endParaRPr lang="en-GB" sz="1400" dirty="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5" name="Freeform 7"/>
          <p:cNvSpPr>
            <a:spLocks/>
          </p:cNvSpPr>
          <p:nvPr/>
        </p:nvSpPr>
        <p:spPr bwMode="blackWhite">
          <a:xfrm>
            <a:off x="5943600" y="1416723"/>
            <a:ext cx="1100661" cy="2646028"/>
          </a:xfrm>
          <a:custGeom>
            <a:avLst/>
            <a:gdLst>
              <a:gd name="T0" fmla="*/ 778963 w 496"/>
              <a:gd name="T1" fmla="*/ 13318572 h 1137"/>
              <a:gd name="T2" fmla="*/ 1743051 w 496"/>
              <a:gd name="T3" fmla="*/ 13134724 h 1137"/>
              <a:gd name="T4" fmla="*/ 2668671 w 496"/>
              <a:gd name="T5" fmla="*/ 12832188 h 1137"/>
              <a:gd name="T6" fmla="*/ 3531781 w 496"/>
              <a:gd name="T7" fmla="*/ 12380711 h 1137"/>
              <a:gd name="T8" fmla="*/ 4358829 w 496"/>
              <a:gd name="T9" fmla="*/ 11840800 h 1137"/>
              <a:gd name="T10" fmla="*/ 5058454 w 496"/>
              <a:gd name="T11" fmla="*/ 11163585 h 1137"/>
              <a:gd name="T12" fmla="*/ 5676335 w 496"/>
              <a:gd name="T13" fmla="*/ 10411899 h 1137"/>
              <a:gd name="T14" fmla="*/ 6169198 w 496"/>
              <a:gd name="T15" fmla="*/ 9581089 h 1137"/>
              <a:gd name="T16" fmla="*/ 6525020 w 496"/>
              <a:gd name="T17" fmla="*/ 8687441 h 1137"/>
              <a:gd name="T18" fmla="*/ 6748612 w 496"/>
              <a:gd name="T19" fmla="*/ 7747252 h 1137"/>
              <a:gd name="T20" fmla="*/ 6835163 w 496"/>
              <a:gd name="T21" fmla="*/ 6783791 h 1137"/>
              <a:gd name="T22" fmla="*/ 6782270 w 496"/>
              <a:gd name="T23" fmla="*/ 5824985 h 1137"/>
              <a:gd name="T24" fmla="*/ 6577913 w 496"/>
              <a:gd name="T25" fmla="*/ 4882469 h 1137"/>
              <a:gd name="T26" fmla="*/ 6246132 w 496"/>
              <a:gd name="T27" fmla="*/ 3974859 h 1137"/>
              <a:gd name="T28" fmla="*/ 5774908 w 496"/>
              <a:gd name="T29" fmla="*/ 3125431 h 1137"/>
              <a:gd name="T30" fmla="*/ 5193090 w 496"/>
              <a:gd name="T31" fmla="*/ 2350473 h 1137"/>
              <a:gd name="T32" fmla="*/ 4512698 w 496"/>
              <a:gd name="T33" fmla="*/ 1666276 h 1137"/>
              <a:gd name="T34" fmla="*/ 3728926 w 496"/>
              <a:gd name="T35" fmla="*/ 1082148 h 1137"/>
              <a:gd name="T36" fmla="*/ 2865816 w 496"/>
              <a:gd name="T37" fmla="*/ 609727 h 1137"/>
              <a:gd name="T38" fmla="*/ 1947408 w 496"/>
              <a:gd name="T39" fmla="*/ 281591 h 1137"/>
              <a:gd name="T40" fmla="*/ 978513 w 496"/>
              <a:gd name="T41" fmla="*/ 76798 h 1137"/>
              <a:gd name="T42" fmla="*/ 0 w 496"/>
              <a:gd name="T43" fmla="*/ 0 h 1137"/>
              <a:gd name="T44" fmla="*/ 346206 w 496"/>
              <a:gd name="T45" fmla="*/ 7181743 h 1137"/>
              <a:gd name="T46" fmla="*/ 964087 w 496"/>
              <a:gd name="T47" fmla="*/ 7693727 h 1137"/>
              <a:gd name="T48" fmla="*/ 1493013 w 496"/>
              <a:gd name="T49" fmla="*/ 8289490 h 1137"/>
              <a:gd name="T50" fmla="*/ 1892112 w 496"/>
              <a:gd name="T51" fmla="*/ 8973687 h 1137"/>
              <a:gd name="T52" fmla="*/ 2163787 w 496"/>
              <a:gd name="T53" fmla="*/ 9723048 h 1137"/>
              <a:gd name="T54" fmla="*/ 2267168 w 496"/>
              <a:gd name="T55" fmla="*/ 10495678 h 1137"/>
              <a:gd name="T56" fmla="*/ 2197446 w 496"/>
              <a:gd name="T57" fmla="*/ 11140313 h 1137"/>
              <a:gd name="T58" fmla="*/ 1988280 w 496"/>
              <a:gd name="T59" fmla="*/ 11768657 h 1137"/>
              <a:gd name="T60" fmla="*/ 1642074 w 496"/>
              <a:gd name="T61" fmla="*/ 12329512 h 1137"/>
              <a:gd name="T62" fmla="*/ 1158828 w 496"/>
              <a:gd name="T63" fmla="*/ 12806588 h 1137"/>
              <a:gd name="T64" fmla="*/ 598648 w 496"/>
              <a:gd name="T65" fmla="*/ 13197558 h 113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496"/>
              <a:gd name="T100" fmla="*/ 0 h 1137"/>
              <a:gd name="T101" fmla="*/ 496 w 496"/>
              <a:gd name="T102" fmla="*/ 1137 h 1137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496" h="1137">
                <a:moveTo>
                  <a:pt x="20" y="1136"/>
                </a:moveTo>
                <a:lnTo>
                  <a:pt x="56" y="1134"/>
                </a:lnTo>
                <a:lnTo>
                  <a:pt x="91" y="1128"/>
                </a:lnTo>
                <a:lnTo>
                  <a:pt x="126" y="1119"/>
                </a:lnTo>
                <a:lnTo>
                  <a:pt x="160" y="1107"/>
                </a:lnTo>
                <a:lnTo>
                  <a:pt x="193" y="1093"/>
                </a:lnTo>
                <a:lnTo>
                  <a:pt x="225" y="1076"/>
                </a:lnTo>
                <a:lnTo>
                  <a:pt x="256" y="1055"/>
                </a:lnTo>
                <a:lnTo>
                  <a:pt x="287" y="1033"/>
                </a:lnTo>
                <a:lnTo>
                  <a:pt x="315" y="1008"/>
                </a:lnTo>
                <a:lnTo>
                  <a:pt x="341" y="981"/>
                </a:lnTo>
                <a:lnTo>
                  <a:pt x="366" y="951"/>
                </a:lnTo>
                <a:lnTo>
                  <a:pt x="390" y="920"/>
                </a:lnTo>
                <a:lnTo>
                  <a:pt x="411" y="887"/>
                </a:lnTo>
                <a:lnTo>
                  <a:pt x="429" y="852"/>
                </a:lnTo>
                <a:lnTo>
                  <a:pt x="446" y="816"/>
                </a:lnTo>
                <a:lnTo>
                  <a:pt x="460" y="779"/>
                </a:lnTo>
                <a:lnTo>
                  <a:pt x="472" y="740"/>
                </a:lnTo>
                <a:lnTo>
                  <a:pt x="481" y="700"/>
                </a:lnTo>
                <a:lnTo>
                  <a:pt x="488" y="660"/>
                </a:lnTo>
                <a:lnTo>
                  <a:pt x="492" y="619"/>
                </a:lnTo>
                <a:lnTo>
                  <a:pt x="495" y="578"/>
                </a:lnTo>
                <a:lnTo>
                  <a:pt x="494" y="537"/>
                </a:lnTo>
                <a:lnTo>
                  <a:pt x="491" y="496"/>
                </a:lnTo>
                <a:lnTo>
                  <a:pt x="485" y="456"/>
                </a:lnTo>
                <a:lnTo>
                  <a:pt x="476" y="416"/>
                </a:lnTo>
                <a:lnTo>
                  <a:pt x="465" y="377"/>
                </a:lnTo>
                <a:lnTo>
                  <a:pt x="452" y="339"/>
                </a:lnTo>
                <a:lnTo>
                  <a:pt x="436" y="302"/>
                </a:lnTo>
                <a:lnTo>
                  <a:pt x="418" y="266"/>
                </a:lnTo>
                <a:lnTo>
                  <a:pt x="399" y="232"/>
                </a:lnTo>
                <a:lnTo>
                  <a:pt x="376" y="200"/>
                </a:lnTo>
                <a:lnTo>
                  <a:pt x="352" y="170"/>
                </a:lnTo>
                <a:lnTo>
                  <a:pt x="327" y="142"/>
                </a:lnTo>
                <a:lnTo>
                  <a:pt x="299" y="115"/>
                </a:lnTo>
                <a:lnTo>
                  <a:pt x="270" y="92"/>
                </a:lnTo>
                <a:lnTo>
                  <a:pt x="239" y="71"/>
                </a:lnTo>
                <a:lnTo>
                  <a:pt x="207" y="52"/>
                </a:lnTo>
                <a:lnTo>
                  <a:pt x="175" y="37"/>
                </a:lnTo>
                <a:lnTo>
                  <a:pt x="141" y="24"/>
                </a:lnTo>
                <a:lnTo>
                  <a:pt x="106" y="14"/>
                </a:lnTo>
                <a:lnTo>
                  <a:pt x="71" y="7"/>
                </a:lnTo>
                <a:lnTo>
                  <a:pt x="36" y="2"/>
                </a:lnTo>
                <a:lnTo>
                  <a:pt x="0" y="0"/>
                </a:lnTo>
                <a:lnTo>
                  <a:pt x="0" y="594"/>
                </a:lnTo>
                <a:lnTo>
                  <a:pt x="25" y="612"/>
                </a:lnTo>
                <a:lnTo>
                  <a:pt x="49" y="632"/>
                </a:lnTo>
                <a:lnTo>
                  <a:pt x="70" y="655"/>
                </a:lnTo>
                <a:lnTo>
                  <a:pt x="91" y="680"/>
                </a:lnTo>
                <a:lnTo>
                  <a:pt x="108" y="706"/>
                </a:lnTo>
                <a:lnTo>
                  <a:pt x="124" y="735"/>
                </a:lnTo>
                <a:lnTo>
                  <a:pt x="137" y="765"/>
                </a:lnTo>
                <a:lnTo>
                  <a:pt x="148" y="796"/>
                </a:lnTo>
                <a:lnTo>
                  <a:pt x="156" y="828"/>
                </a:lnTo>
                <a:lnTo>
                  <a:pt x="161" y="860"/>
                </a:lnTo>
                <a:lnTo>
                  <a:pt x="164" y="894"/>
                </a:lnTo>
                <a:lnTo>
                  <a:pt x="164" y="921"/>
                </a:lnTo>
                <a:lnTo>
                  <a:pt x="159" y="949"/>
                </a:lnTo>
                <a:lnTo>
                  <a:pt x="153" y="976"/>
                </a:lnTo>
                <a:lnTo>
                  <a:pt x="144" y="1002"/>
                </a:lnTo>
                <a:lnTo>
                  <a:pt x="132" y="1027"/>
                </a:lnTo>
                <a:lnTo>
                  <a:pt x="119" y="1050"/>
                </a:lnTo>
                <a:lnTo>
                  <a:pt x="102" y="1072"/>
                </a:lnTo>
                <a:lnTo>
                  <a:pt x="84" y="1091"/>
                </a:lnTo>
                <a:lnTo>
                  <a:pt x="65" y="1109"/>
                </a:lnTo>
                <a:lnTo>
                  <a:pt x="43" y="1124"/>
                </a:lnTo>
                <a:lnTo>
                  <a:pt x="20" y="1136"/>
                </a:lnTo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round/>
            <a:headEnd/>
            <a:tailEnd/>
          </a:ln>
        </p:spPr>
        <p:txBody>
          <a:bodyPr vert="vert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Appraise</a:t>
            </a:r>
            <a:endParaRPr lang="en-US" altLang="zh-CN" sz="1400" dirty="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Oval 8"/>
          <p:cNvSpPr>
            <a:spLocks noChangeArrowheads="1"/>
          </p:cNvSpPr>
          <p:nvPr/>
        </p:nvSpPr>
        <p:spPr bwMode="blackWhite">
          <a:xfrm>
            <a:off x="5578818" y="3245523"/>
            <a:ext cx="828000" cy="82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sz="140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4600" y="6197024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sto MT" charset="0"/>
              </a:rPr>
              <a:t>The ability to appraise </a:t>
            </a:r>
            <a:r>
              <a:rPr lang="en-US" sz="1600" dirty="0" smtClean="0">
                <a:latin typeface="Calisto MT" charset="0"/>
              </a:rPr>
              <a:t>property</a:t>
            </a:r>
            <a:endParaRPr lang="en-US" sz="1600" dirty="0">
              <a:latin typeface="Calisto MT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sto MT" charset="0"/>
              </a:rPr>
              <a:t>Property registration </a:t>
            </a:r>
            <a:r>
              <a:rPr lang="en-US" sz="1600" dirty="0" smtClean="0">
                <a:latin typeface="Calisto MT" charset="0"/>
              </a:rPr>
              <a:t>systems</a:t>
            </a:r>
            <a:endParaRPr lang="en-US" sz="1600" dirty="0">
              <a:latin typeface="Calisto MT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0" y="6197025"/>
            <a:ext cx="41353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 sz="1600">
                <a:latin typeface="Calisto MT" charset="0"/>
              </a:defRPr>
            </a:lvl1pPr>
          </a:lstStyle>
          <a:p>
            <a:r>
              <a:rPr lang="en-US" dirty="0"/>
              <a:t>Access to borrower credit information</a:t>
            </a:r>
          </a:p>
          <a:p>
            <a:r>
              <a:rPr lang="en-US" dirty="0"/>
              <a:t>Effective Foreclosure laws</a:t>
            </a:r>
          </a:p>
        </p:txBody>
      </p:sp>
    </p:spTree>
    <p:extLst>
      <p:ext uri="{BB962C8B-B14F-4D97-AF65-F5344CB8AC3E}">
        <p14:creationId xmlns:p14="http://schemas.microsoft.com/office/powerpoint/2010/main" val="161221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charset="0"/>
              </a:rPr>
              <a:t>Housing Finance Systems Around the World</a:t>
            </a:r>
            <a:endParaRPr lang="en-US" dirty="0"/>
          </a:p>
        </p:txBody>
      </p:sp>
      <p:sp>
        <p:nvSpPr>
          <p:cNvPr id="17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HFS</a:t>
            </a:r>
            <a:endParaRPr lang="en-US" sz="1100" b="0" dirty="0">
              <a:solidFill>
                <a:schemeClr val="tx1"/>
              </a:solidFill>
            </a:endParaRPr>
          </a:p>
          <a:p>
            <a:endParaRPr lang="en-US" sz="1100" b="0" dirty="0" smtClean="0">
              <a:solidFill>
                <a:schemeClr val="tx1"/>
              </a:solidFill>
            </a:endParaRPr>
          </a:p>
          <a:p>
            <a:endParaRPr lang="en-US" sz="1100" b="0" dirty="0">
              <a:solidFill>
                <a:schemeClr val="tx1"/>
              </a:solidFill>
            </a:endParaRPr>
          </a:p>
          <a:p>
            <a:endParaRPr lang="en-US" sz="11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115"/>
              </p:ext>
            </p:extLst>
          </p:nvPr>
        </p:nvGraphicFramePr>
        <p:xfrm>
          <a:off x="2667000" y="1219200"/>
          <a:ext cx="6934199" cy="546735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866775"/>
                <a:gridCol w="657225"/>
                <a:gridCol w="914400"/>
                <a:gridCol w="762000"/>
                <a:gridCol w="914400"/>
                <a:gridCol w="1219200"/>
                <a:gridCol w="914400"/>
                <a:gridCol w="685799"/>
              </a:tblGrid>
              <a:tr h="12192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Loan-to-Value </a:t>
                      </a: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Ratio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Variable or </a:t>
                      </a:r>
                      <a:endParaRPr lang="en-US" sz="1400" b="0" i="0" u="none" strike="noStrike" dirty="0" smtClean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Fixed Rate</a:t>
                      </a:r>
                    </a:p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(Majority)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Mortgage Deductible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Fee-Free Prepayment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Government Guarantee or Mortgage Insurance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Capital Market Role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82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Recourse or </a:t>
                      </a:r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Non-Recourse</a:t>
                      </a:r>
                      <a:r>
                        <a:rPr lang="en-US" sz="14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Australia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Variable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Partial; full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from mid-2011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 lenders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Canada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Short-Term fixed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GMHC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Moderate, government presence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China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required for HPF loans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Loans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linked to compulsory savings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Germany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 with fixed limits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Covered bonds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Bonds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Spain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70-80%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Only for Low income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Covered bonds 64%;</a:t>
                      </a:r>
                    </a:p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ARM 36%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U.K.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Short-term fixed, then turn variable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if rate not disconnected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Insurance available for mortgagor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Grew 2000-2007;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now negligible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U.S.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80-90%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Both, currently mainly fixed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Primarily;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details vary by state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agencies involved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Highly developed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Non-recourse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67000" y="6774180"/>
            <a:ext cx="2971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Source: </a:t>
            </a:r>
            <a:r>
              <a:rPr lang="en-US" sz="800" dirty="0" err="1" smtClean="0"/>
              <a:t>Barhan</a:t>
            </a:r>
            <a:r>
              <a:rPr lang="en-US" sz="800" dirty="0" smtClean="0"/>
              <a:t>, Edelstein and Kroll, Editors 2011.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8577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AD275C"/>
      </a:accent2>
      <a:accent3>
        <a:srgbClr val="1B7A76"/>
      </a:accent3>
      <a:accent4>
        <a:srgbClr val="C8C42D"/>
      </a:accent4>
      <a:accent5>
        <a:srgbClr val="C7732D"/>
      </a:accent5>
      <a:accent6>
        <a:srgbClr val="74B629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13151</TotalTime>
  <Words>588</Words>
  <Application>Microsoft Office PowerPoint</Application>
  <PresentationFormat>Custom</PresentationFormat>
  <Paragraphs>133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 Primer on Mortgages and  Mortgage-backed Securities </vt:lpstr>
      <vt:lpstr>THE IMPORTANCE OF HOUSING</vt:lpstr>
      <vt:lpstr>The Central Role of Housing - I</vt:lpstr>
      <vt:lpstr>The Central Role of Housing - II</vt:lpstr>
      <vt:lpstr>THE STRUCTURE OF HOUSING FINANCE SYSTEMS</vt:lpstr>
      <vt:lpstr>Housing Finance System (HFS)</vt:lpstr>
      <vt:lpstr>HFSs Need a Good Legal and Informational Infrastructure</vt:lpstr>
      <vt:lpstr>Housing Finance Systems Around the World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564</cp:revision>
  <cp:lastPrinted>2015-07-02T14:12:03Z</cp:lastPrinted>
  <dcterms:created xsi:type="dcterms:W3CDTF">2015-05-21T20:34:11Z</dcterms:created>
  <dcterms:modified xsi:type="dcterms:W3CDTF">2016-05-17T15:19:44Z</dcterms:modified>
</cp:coreProperties>
</file>