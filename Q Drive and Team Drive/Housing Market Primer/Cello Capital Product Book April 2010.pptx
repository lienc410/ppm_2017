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0" r:id="rId1"/>
  </p:sldMasterIdLst>
  <p:notesMasterIdLst>
    <p:notesMasterId r:id="rId91"/>
  </p:notesMasterIdLst>
  <p:handoutMasterIdLst>
    <p:handoutMasterId r:id="rId92"/>
  </p:handoutMasterIdLst>
  <p:sldIdLst>
    <p:sldId id="291" r:id="rId2"/>
    <p:sldId id="303" r:id="rId3"/>
    <p:sldId id="304" r:id="rId4"/>
    <p:sldId id="305" r:id="rId5"/>
    <p:sldId id="306" r:id="rId6"/>
    <p:sldId id="307" r:id="rId7"/>
    <p:sldId id="308" r:id="rId8"/>
    <p:sldId id="309" r:id="rId9"/>
    <p:sldId id="311" r:id="rId10"/>
    <p:sldId id="310" r:id="rId11"/>
    <p:sldId id="313" r:id="rId12"/>
    <p:sldId id="314" r:id="rId13"/>
    <p:sldId id="315" r:id="rId14"/>
    <p:sldId id="316" r:id="rId15"/>
    <p:sldId id="317" r:id="rId16"/>
    <p:sldId id="318" r:id="rId17"/>
    <p:sldId id="319" r:id="rId18"/>
    <p:sldId id="320" r:id="rId19"/>
    <p:sldId id="321" r:id="rId20"/>
    <p:sldId id="322" r:id="rId21"/>
    <p:sldId id="323" r:id="rId22"/>
    <p:sldId id="324" r:id="rId23"/>
    <p:sldId id="325" r:id="rId24"/>
    <p:sldId id="326" r:id="rId25"/>
    <p:sldId id="327" r:id="rId26"/>
    <p:sldId id="328" r:id="rId27"/>
    <p:sldId id="329" r:id="rId28"/>
    <p:sldId id="330" r:id="rId29"/>
    <p:sldId id="332" r:id="rId30"/>
    <p:sldId id="333" r:id="rId31"/>
    <p:sldId id="334" r:id="rId32"/>
    <p:sldId id="335" r:id="rId33"/>
    <p:sldId id="336" r:id="rId34"/>
    <p:sldId id="337" r:id="rId35"/>
    <p:sldId id="338" r:id="rId36"/>
    <p:sldId id="339" r:id="rId37"/>
    <p:sldId id="340" r:id="rId38"/>
    <p:sldId id="341" r:id="rId39"/>
    <p:sldId id="302" r:id="rId40"/>
    <p:sldId id="352" r:id="rId41"/>
    <p:sldId id="343" r:id="rId42"/>
    <p:sldId id="344" r:id="rId43"/>
    <p:sldId id="345" r:id="rId44"/>
    <p:sldId id="346" r:id="rId45"/>
    <p:sldId id="347" r:id="rId46"/>
    <p:sldId id="348" r:id="rId47"/>
    <p:sldId id="349" r:id="rId48"/>
    <p:sldId id="350" r:id="rId49"/>
    <p:sldId id="351" r:id="rId50"/>
    <p:sldId id="353" r:id="rId51"/>
    <p:sldId id="387" r:id="rId52"/>
    <p:sldId id="354" r:id="rId53"/>
    <p:sldId id="355" r:id="rId54"/>
    <p:sldId id="356" r:id="rId55"/>
    <p:sldId id="388" r:id="rId56"/>
    <p:sldId id="357" r:id="rId57"/>
    <p:sldId id="358" r:id="rId58"/>
    <p:sldId id="359" r:id="rId59"/>
    <p:sldId id="360" r:id="rId60"/>
    <p:sldId id="361" r:id="rId61"/>
    <p:sldId id="362" r:id="rId62"/>
    <p:sldId id="363" r:id="rId63"/>
    <p:sldId id="364" r:id="rId64"/>
    <p:sldId id="365" r:id="rId65"/>
    <p:sldId id="366" r:id="rId66"/>
    <p:sldId id="367" r:id="rId67"/>
    <p:sldId id="368" r:id="rId68"/>
    <p:sldId id="369" r:id="rId69"/>
    <p:sldId id="370" r:id="rId70"/>
    <p:sldId id="371" r:id="rId71"/>
    <p:sldId id="372" r:id="rId72"/>
    <p:sldId id="373" r:id="rId73"/>
    <p:sldId id="374" r:id="rId74"/>
    <p:sldId id="375" r:id="rId75"/>
    <p:sldId id="376" r:id="rId76"/>
    <p:sldId id="377" r:id="rId77"/>
    <p:sldId id="378" r:id="rId78"/>
    <p:sldId id="379" r:id="rId79"/>
    <p:sldId id="380" r:id="rId80"/>
    <p:sldId id="381" r:id="rId81"/>
    <p:sldId id="382" r:id="rId82"/>
    <p:sldId id="383" r:id="rId83"/>
    <p:sldId id="384" r:id="rId84"/>
    <p:sldId id="385" r:id="rId85"/>
    <p:sldId id="386" r:id="rId86"/>
    <p:sldId id="389" r:id="rId87"/>
    <p:sldId id="390" r:id="rId88"/>
    <p:sldId id="391" r:id="rId89"/>
    <p:sldId id="392" r:id="rId90"/>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mn-cs"/>
      </a:defRPr>
    </a:lvl1pPr>
    <a:lvl2pPr marL="457200" algn="l" rtl="0" fontAlgn="base">
      <a:spcBef>
        <a:spcPct val="0"/>
      </a:spcBef>
      <a:spcAft>
        <a:spcPct val="0"/>
      </a:spcAft>
      <a:defRPr kern="1200">
        <a:solidFill>
          <a:schemeClr val="tx1"/>
        </a:solidFill>
        <a:latin typeface="Arial" charset="0"/>
        <a:ea typeface="ＭＳ Ｐゴシック" charset="0"/>
        <a:cs typeface="+mn-cs"/>
      </a:defRPr>
    </a:lvl2pPr>
    <a:lvl3pPr marL="914400" algn="l" rtl="0" fontAlgn="base">
      <a:spcBef>
        <a:spcPct val="0"/>
      </a:spcBef>
      <a:spcAft>
        <a:spcPct val="0"/>
      </a:spcAft>
      <a:defRPr kern="1200">
        <a:solidFill>
          <a:schemeClr val="tx1"/>
        </a:solidFill>
        <a:latin typeface="Arial" charset="0"/>
        <a:ea typeface="ＭＳ Ｐゴシック" charset="0"/>
        <a:cs typeface="+mn-cs"/>
      </a:defRPr>
    </a:lvl3pPr>
    <a:lvl4pPr marL="1371600" algn="l" rtl="0" fontAlgn="base">
      <a:spcBef>
        <a:spcPct val="0"/>
      </a:spcBef>
      <a:spcAft>
        <a:spcPct val="0"/>
      </a:spcAft>
      <a:defRPr kern="1200">
        <a:solidFill>
          <a:schemeClr val="tx1"/>
        </a:solidFill>
        <a:latin typeface="Arial" charset="0"/>
        <a:ea typeface="ＭＳ Ｐゴシック" charset="0"/>
        <a:cs typeface="+mn-cs"/>
      </a:defRPr>
    </a:lvl4pPr>
    <a:lvl5pPr marL="1828800" algn="l" rtl="0" fontAlgn="base">
      <a:spcBef>
        <a:spcPct val="0"/>
      </a:spcBef>
      <a:spcAft>
        <a:spcPct val="0"/>
      </a:spcAft>
      <a:defRPr kern="1200">
        <a:solidFill>
          <a:schemeClr val="tx1"/>
        </a:solidFill>
        <a:latin typeface="Arial" charset="0"/>
        <a:ea typeface="ＭＳ Ｐゴシック" charset="0"/>
        <a:cs typeface="+mn-cs"/>
      </a:defRPr>
    </a:lvl5pPr>
    <a:lvl6pPr marL="2286000" algn="l" defTabSz="457200" rtl="0" eaLnBrk="1" latinLnBrk="0" hangingPunct="1">
      <a:defRPr kern="1200">
        <a:solidFill>
          <a:schemeClr val="tx1"/>
        </a:solidFill>
        <a:latin typeface="Arial" charset="0"/>
        <a:ea typeface="ＭＳ Ｐゴシック" charset="0"/>
        <a:cs typeface="+mn-cs"/>
      </a:defRPr>
    </a:lvl6pPr>
    <a:lvl7pPr marL="2743200" algn="l" defTabSz="457200" rtl="0" eaLnBrk="1" latinLnBrk="0" hangingPunct="1">
      <a:defRPr kern="1200">
        <a:solidFill>
          <a:schemeClr val="tx1"/>
        </a:solidFill>
        <a:latin typeface="Arial" charset="0"/>
        <a:ea typeface="ＭＳ Ｐゴシック" charset="0"/>
        <a:cs typeface="+mn-cs"/>
      </a:defRPr>
    </a:lvl7pPr>
    <a:lvl8pPr marL="3200400" algn="l" defTabSz="457200" rtl="0" eaLnBrk="1" latinLnBrk="0" hangingPunct="1">
      <a:defRPr kern="1200">
        <a:solidFill>
          <a:schemeClr val="tx1"/>
        </a:solidFill>
        <a:latin typeface="Arial" charset="0"/>
        <a:ea typeface="ＭＳ Ｐゴシック" charset="0"/>
        <a:cs typeface="+mn-cs"/>
      </a:defRPr>
    </a:lvl8pPr>
    <a:lvl9pPr marL="3657600" algn="l" defTabSz="457200" rtl="0" eaLnBrk="1" latinLnBrk="0" hangingPunct="1">
      <a:defRPr kern="1200">
        <a:solidFill>
          <a:schemeClr val="tx1"/>
        </a:solidFill>
        <a:latin typeface="Arial" charset="0"/>
        <a:ea typeface="ＭＳ Ｐゴシック" charset="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80" autoAdjust="0"/>
    <p:restoredTop sz="93660" autoAdjust="0"/>
  </p:normalViewPr>
  <p:slideViewPr>
    <p:cSldViewPr snapToObjects="1">
      <p:cViewPr>
        <p:scale>
          <a:sx n="129" d="100"/>
          <a:sy n="129" d="100"/>
        </p:scale>
        <p:origin x="-840" y="-3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600"/>
    </p:cViewPr>
  </p:sorterViewPr>
  <p:notesViewPr>
    <p:cSldViewPr snapToObjects="1">
      <p:cViewPr varScale="1">
        <p:scale>
          <a:sx n="99" d="100"/>
          <a:sy n="99" d="100"/>
        </p:scale>
        <p:origin x="-2778" y="-102"/>
      </p:cViewPr>
      <p:guideLst>
        <p:guide orient="horz" pos="2928"/>
        <p:guide pos="2208"/>
      </p:guideLst>
    </p:cSldViewPr>
  </p:notesViewPr>
  <p:gridSpacing cx="38405" cy="384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2" tIns="46586" rIns="93172" bIns="46586" rtlCol="0"/>
          <a:lstStyle>
            <a:lvl1pPr algn="l" fontAlgn="auto">
              <a:spcBef>
                <a:spcPts val="0"/>
              </a:spcBef>
              <a:spcAft>
                <a:spcPts val="0"/>
              </a:spcAft>
              <a:defRPr sz="1300" smtClean="0">
                <a:latin typeface="+mn-lt"/>
                <a:ea typeface="+mn-ea"/>
              </a:defRPr>
            </a:lvl1pPr>
          </a:lstStyle>
          <a:p>
            <a:pPr>
              <a:defRPr/>
            </a:pPr>
            <a:r>
              <a:rPr lang="en-US"/>
              <a:t>Draft v1.1</a:t>
            </a:r>
          </a:p>
        </p:txBody>
      </p:sp>
      <p:sp>
        <p:nvSpPr>
          <p:cNvPr id="3" name="Date Placeholder 2"/>
          <p:cNvSpPr>
            <a:spLocks noGrp="1"/>
          </p:cNvSpPr>
          <p:nvPr>
            <p:ph type="dt" sz="quarter" idx="1"/>
          </p:nvPr>
        </p:nvSpPr>
        <p:spPr>
          <a:xfrm>
            <a:off x="3970338" y="0"/>
            <a:ext cx="3038475" cy="465138"/>
          </a:xfrm>
          <a:prstGeom prst="rect">
            <a:avLst/>
          </a:prstGeom>
        </p:spPr>
        <p:txBody>
          <a:bodyPr vert="horz" wrap="square" lIns="93172" tIns="46586" rIns="93172" bIns="46586" numCol="1" anchor="t" anchorCtr="0" compatLnSpc="1">
            <a:prstTxWarp prst="textNoShape">
              <a:avLst/>
            </a:prstTxWarp>
          </a:bodyPr>
          <a:lstStyle>
            <a:lvl1pPr algn="r">
              <a:defRPr sz="1300">
                <a:latin typeface="Calibri" charset="0"/>
              </a:defRPr>
            </a:lvl1pPr>
          </a:lstStyle>
          <a:p>
            <a:fld id="{20A8ED56-C25B-F44A-9CEA-6A7D80042934}" type="datetimeFigureOut">
              <a:rPr lang="en-US"/>
              <a:pPr/>
              <a:t>12/10/2015</a:t>
            </a:fld>
            <a:endParaRPr lang="en-US" dirty="0"/>
          </a:p>
        </p:txBody>
      </p:sp>
    </p:spTree>
    <p:extLst>
      <p:ext uri="{BB962C8B-B14F-4D97-AF65-F5344CB8AC3E}">
        <p14:creationId xmlns:p14="http://schemas.microsoft.com/office/powerpoint/2010/main" val="2098087158"/>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2" tIns="46586" rIns="93172" bIns="46586" rtlCol="0"/>
          <a:lstStyle>
            <a:lvl1pPr algn="l" fontAlgn="auto">
              <a:spcBef>
                <a:spcPts val="0"/>
              </a:spcBef>
              <a:spcAft>
                <a:spcPts val="0"/>
              </a:spcAft>
              <a:defRPr sz="1300" smtClean="0">
                <a:latin typeface="+mn-lt"/>
                <a:ea typeface="+mn-ea"/>
              </a:defRPr>
            </a:lvl1pPr>
          </a:lstStyle>
          <a:p>
            <a:pPr>
              <a:defRPr/>
            </a:pPr>
            <a:r>
              <a:rPr lang="en-US"/>
              <a:t>Draft v1.1</a:t>
            </a:r>
          </a:p>
        </p:txBody>
      </p:sp>
      <p:sp>
        <p:nvSpPr>
          <p:cNvPr id="3" name="Date Placeholder 2"/>
          <p:cNvSpPr>
            <a:spLocks noGrp="1"/>
          </p:cNvSpPr>
          <p:nvPr>
            <p:ph type="dt" idx="1"/>
          </p:nvPr>
        </p:nvSpPr>
        <p:spPr>
          <a:xfrm>
            <a:off x="3970338" y="0"/>
            <a:ext cx="3038475" cy="465138"/>
          </a:xfrm>
          <a:prstGeom prst="rect">
            <a:avLst/>
          </a:prstGeom>
        </p:spPr>
        <p:txBody>
          <a:bodyPr vert="horz" wrap="square" lIns="93172" tIns="46586" rIns="93172" bIns="46586" numCol="1" anchor="t" anchorCtr="0" compatLnSpc="1">
            <a:prstTxWarp prst="textNoShape">
              <a:avLst/>
            </a:prstTxWarp>
          </a:bodyPr>
          <a:lstStyle>
            <a:lvl1pPr algn="r">
              <a:defRPr sz="1300">
                <a:latin typeface="Calibri" charset="0"/>
              </a:defRPr>
            </a:lvl1pPr>
          </a:lstStyle>
          <a:p>
            <a:fld id="{E1A986B1-52A2-1844-8A45-4BDEC5B40445}" type="datetimeFigureOut">
              <a:rPr lang="en-US"/>
              <a:pPr/>
              <a:t>12/10/2015</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72" tIns="46586" rIns="93172" bIns="46586" rtlCol="0" anchor="ctr"/>
          <a:lstStyle/>
          <a:p>
            <a:pPr lvl="0"/>
            <a:endParaRPr lang="en-US" noProof="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72" tIns="46586" rIns="93172" bIns="46586"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829675"/>
            <a:ext cx="3038475" cy="465138"/>
          </a:xfrm>
          <a:prstGeom prst="rect">
            <a:avLst/>
          </a:prstGeom>
        </p:spPr>
        <p:txBody>
          <a:bodyPr vert="horz" lIns="93172" tIns="46586" rIns="93172" bIns="46586" rtlCol="0" anchor="b"/>
          <a:lstStyle>
            <a:lvl1pPr algn="l" fontAlgn="auto">
              <a:spcBef>
                <a:spcPts val="0"/>
              </a:spcBef>
              <a:spcAft>
                <a:spcPts val="0"/>
              </a:spcAft>
              <a:defRPr sz="13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wrap="square" lIns="93172" tIns="46586" rIns="93172" bIns="46586" numCol="1" anchor="b" anchorCtr="0" compatLnSpc="1">
            <a:prstTxWarp prst="textNoShape">
              <a:avLst/>
            </a:prstTxWarp>
          </a:bodyPr>
          <a:lstStyle>
            <a:lvl1pPr algn="r">
              <a:defRPr sz="1300">
                <a:latin typeface="Calibri" charset="0"/>
              </a:defRPr>
            </a:lvl1pPr>
          </a:lstStyle>
          <a:p>
            <a:fld id="{DC9FB7D8-2972-974E-8D2C-1551E134C2AA}" type="slidenum">
              <a:rPr lang="en-US"/>
              <a:pPr/>
              <a:t>‹#›</a:t>
            </a:fld>
            <a:endParaRPr lang="en-US"/>
          </a:p>
        </p:txBody>
      </p:sp>
    </p:spTree>
    <p:extLst>
      <p:ext uri="{BB962C8B-B14F-4D97-AF65-F5344CB8AC3E}">
        <p14:creationId xmlns:p14="http://schemas.microsoft.com/office/powerpoint/2010/main" val="4266810649"/>
      </p:ext>
    </p:extLst>
  </p:cSld>
  <p:clrMap bg1="lt1" tx1="dk1" bg2="lt2" tx2="dk2" accent1="accent1" accent2="accent2" accent3="accent3" accent4="accent4" accent5="accent5" accent6="accent6" hlink="hlink" folHlink="folHlink"/>
  <p:hf sldNum="0" ftr="0" dt="0"/>
  <p:notesStyle>
    <a:lvl1pPr algn="l" rtl="0" fontAlgn="base">
      <a:spcBef>
        <a:spcPct val="30000"/>
      </a:spcBef>
      <a:spcAft>
        <a:spcPct val="0"/>
      </a:spcAft>
      <a:defRPr sz="1200" kern="1200">
        <a:solidFill>
          <a:schemeClr val="tx1"/>
        </a:solidFill>
        <a:latin typeface="+mn-lt"/>
        <a:ea typeface="ＭＳ Ｐゴシック" charset="0"/>
        <a:cs typeface="+mn-cs"/>
      </a:defRPr>
    </a:lvl1pPr>
    <a:lvl2pPr marL="457200" algn="l" rtl="0" fontAlgn="base">
      <a:spcBef>
        <a:spcPct val="30000"/>
      </a:spcBef>
      <a:spcAft>
        <a:spcPct val="0"/>
      </a:spcAft>
      <a:defRPr sz="1200" kern="1200">
        <a:solidFill>
          <a:schemeClr val="tx1"/>
        </a:solidFill>
        <a:latin typeface="+mn-lt"/>
        <a:ea typeface="ＭＳ Ｐゴシック" charset="0"/>
        <a:cs typeface="+mn-cs"/>
      </a:defRPr>
    </a:lvl2pPr>
    <a:lvl3pPr marL="914400" algn="l" rtl="0" fontAlgn="base">
      <a:spcBef>
        <a:spcPct val="30000"/>
      </a:spcBef>
      <a:spcAft>
        <a:spcPct val="0"/>
      </a:spcAft>
      <a:defRPr sz="1200" kern="1200">
        <a:solidFill>
          <a:schemeClr val="tx1"/>
        </a:solidFill>
        <a:latin typeface="+mn-lt"/>
        <a:ea typeface="ＭＳ Ｐゴシック" charset="0"/>
        <a:cs typeface="+mn-cs"/>
      </a:defRPr>
    </a:lvl3pPr>
    <a:lvl4pPr marL="1371600" algn="l" rtl="0" fontAlgn="base">
      <a:spcBef>
        <a:spcPct val="30000"/>
      </a:spcBef>
      <a:spcAft>
        <a:spcPct val="0"/>
      </a:spcAft>
      <a:defRPr sz="1200" kern="1200">
        <a:solidFill>
          <a:schemeClr val="tx1"/>
        </a:solidFill>
        <a:latin typeface="+mn-lt"/>
        <a:ea typeface="ＭＳ Ｐゴシック" charset="0"/>
        <a:cs typeface="+mn-cs"/>
      </a:defRPr>
    </a:lvl4pPr>
    <a:lvl5pPr marL="1828800" algn="l" rtl="0" fontAlgn="base">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8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Calibri" charset="0"/>
              </a:rPr>
              <a:t>Retail v2.9</a:t>
            </a:r>
          </a:p>
        </p:txBody>
      </p:sp>
      <p:sp>
        <p:nvSpPr>
          <p:cNvPr id="28675" name="Header Placeholder 3"/>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fontAlgn="base">
              <a:spcBef>
                <a:spcPct val="0"/>
              </a:spcBef>
              <a:spcAft>
                <a:spcPct val="0"/>
              </a:spcAft>
            </a:pPr>
            <a:r>
              <a:rPr lang="en-US">
                <a:latin typeface="Calibri" charset="0"/>
              </a:rPr>
              <a:t>Draft v1.1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09923" name="Notes Placeholder 2"/>
          <p:cNvSpPr>
            <a:spLocks noGrp="1"/>
          </p:cNvSpPr>
          <p:nvPr>
            <p:ph type="body" idx="1"/>
          </p:nvPr>
        </p:nvSpPr>
        <p:spPr bwMode="auto">
          <a:xfrm>
            <a:off x="700088" y="4416425"/>
            <a:ext cx="5610225"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lIns="90929" tIns="45465" rIns="90929" bIns="45465" numCol="1" anchor="t" anchorCtr="0" compatLnSpc="1">
            <a:prstTxWarp prst="textNoShape">
              <a:avLst/>
            </a:prstTxWarp>
          </a:bodyPr>
          <a:lstStyle/>
          <a:p>
            <a:pPr>
              <a:spcBef>
                <a:spcPct val="0"/>
              </a:spcBef>
            </a:pPr>
            <a:endParaRPr lang="en-US">
              <a:latin typeface="Calibri" charset="0"/>
            </a:endParaRPr>
          </a:p>
        </p:txBody>
      </p:sp>
      <p:sp>
        <p:nvSpPr>
          <p:cNvPr id="209924" name="Slide Number Placeholder 3"/>
          <p:cNvSpPr txBox="1">
            <a:spLocks noGrp="1"/>
          </p:cNvSpPr>
          <p:nvPr/>
        </p:nvSpPr>
        <p:spPr bwMode="auto">
          <a:xfrm>
            <a:off x="3970338" y="8831263"/>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29" tIns="45465" rIns="90929" bIns="45465" anchor="b"/>
          <a:lstStyle>
            <a:lvl1pPr defTabSz="860425">
              <a:defRPr>
                <a:solidFill>
                  <a:schemeClr val="tx1"/>
                </a:solidFill>
                <a:latin typeface="Calisto MT" charset="0"/>
                <a:ea typeface="ＭＳ Ｐゴシック" charset="0"/>
              </a:defRPr>
            </a:lvl1pPr>
            <a:lvl2pPr marL="698500" indent="-268288" defTabSz="860425">
              <a:defRPr>
                <a:solidFill>
                  <a:schemeClr val="tx1"/>
                </a:solidFill>
                <a:latin typeface="Calisto MT" charset="0"/>
                <a:ea typeface="ＭＳ Ｐゴシック" charset="0"/>
              </a:defRPr>
            </a:lvl2pPr>
            <a:lvl3pPr marL="1074738" indent="-214313" defTabSz="860425">
              <a:defRPr>
                <a:solidFill>
                  <a:schemeClr val="tx1"/>
                </a:solidFill>
                <a:latin typeface="Calisto MT" charset="0"/>
                <a:ea typeface="ＭＳ Ｐゴシック" charset="0"/>
              </a:defRPr>
            </a:lvl3pPr>
            <a:lvl4pPr marL="1504950" indent="-214313" defTabSz="860425">
              <a:defRPr>
                <a:solidFill>
                  <a:schemeClr val="tx1"/>
                </a:solidFill>
                <a:latin typeface="Calisto MT" charset="0"/>
                <a:ea typeface="ＭＳ Ｐゴシック" charset="0"/>
              </a:defRPr>
            </a:lvl4pPr>
            <a:lvl5pPr marL="1935163" indent="-214313" defTabSz="860425">
              <a:defRPr>
                <a:solidFill>
                  <a:schemeClr val="tx1"/>
                </a:solidFill>
                <a:latin typeface="Calisto MT" charset="0"/>
                <a:ea typeface="ＭＳ Ｐゴシック" charset="0"/>
              </a:defRPr>
            </a:lvl5pPr>
            <a:lvl6pPr marL="2392363" indent="-214313" defTabSz="860425" fontAlgn="base">
              <a:spcBef>
                <a:spcPct val="0"/>
              </a:spcBef>
              <a:spcAft>
                <a:spcPct val="0"/>
              </a:spcAft>
              <a:defRPr>
                <a:solidFill>
                  <a:schemeClr val="tx1"/>
                </a:solidFill>
                <a:latin typeface="Calisto MT" charset="0"/>
                <a:ea typeface="ＭＳ Ｐゴシック" charset="0"/>
              </a:defRPr>
            </a:lvl6pPr>
            <a:lvl7pPr marL="2849563" indent="-214313" defTabSz="860425" fontAlgn="base">
              <a:spcBef>
                <a:spcPct val="0"/>
              </a:spcBef>
              <a:spcAft>
                <a:spcPct val="0"/>
              </a:spcAft>
              <a:defRPr>
                <a:solidFill>
                  <a:schemeClr val="tx1"/>
                </a:solidFill>
                <a:latin typeface="Calisto MT" charset="0"/>
                <a:ea typeface="ＭＳ Ｐゴシック" charset="0"/>
              </a:defRPr>
            </a:lvl7pPr>
            <a:lvl8pPr marL="3306763" indent="-214313" defTabSz="860425" fontAlgn="base">
              <a:spcBef>
                <a:spcPct val="0"/>
              </a:spcBef>
              <a:spcAft>
                <a:spcPct val="0"/>
              </a:spcAft>
              <a:defRPr>
                <a:solidFill>
                  <a:schemeClr val="tx1"/>
                </a:solidFill>
                <a:latin typeface="Calisto MT" charset="0"/>
                <a:ea typeface="ＭＳ Ｐゴシック" charset="0"/>
              </a:defRPr>
            </a:lvl8pPr>
            <a:lvl9pPr marL="3763963" indent="-214313" defTabSz="860425" fontAlgn="base">
              <a:spcBef>
                <a:spcPct val="0"/>
              </a:spcBef>
              <a:spcAft>
                <a:spcPct val="0"/>
              </a:spcAft>
              <a:defRPr>
                <a:solidFill>
                  <a:schemeClr val="tx1"/>
                </a:solidFill>
                <a:latin typeface="Calisto MT" charset="0"/>
                <a:ea typeface="ＭＳ Ｐゴシック" charset="0"/>
              </a:defRPr>
            </a:lvl9pPr>
          </a:lstStyle>
          <a:p>
            <a:pPr algn="r"/>
            <a:fld id="{5ABE1461-47B2-8C4F-BE5F-20D13A2EF0EF}" type="slidenum">
              <a:rPr lang="en-US" sz="1200">
                <a:latin typeface="Calibri" charset="0"/>
              </a:rPr>
              <a:pPr algn="r"/>
              <a:t>2</a:t>
            </a:fld>
            <a:endParaRPr lang="en-US" sz="1200">
              <a:latin typeface="Calibri"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1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1972" name="Header Placeholder 3"/>
          <p:cNvSpPr txBox="1">
            <a:spLocks noGrp="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2" tIns="46586" rIns="93172" bIns="46586"/>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300">
                <a:latin typeface="Calibri" charset="0"/>
              </a:rPr>
              <a:t>Draft v1.1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7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17092" name="Header Placeholder 3"/>
          <p:cNvSpPr txBox="1">
            <a:spLocks noGrp="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2" tIns="46586" rIns="93172" bIns="46586"/>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300">
                <a:latin typeface="Calibri" charset="0"/>
              </a:rPr>
              <a:t>Draft v1.1</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41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41668" name="Header Placeholder 3"/>
          <p:cNvSpPr txBox="1">
            <a:spLocks noGrp="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2" tIns="46586" rIns="93172" bIns="46586"/>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300">
                <a:latin typeface="Calibri" charset="0"/>
              </a:rPr>
              <a:t>Draft v1.1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508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50884" name="Header Placeholder 3"/>
          <p:cNvSpPr txBox="1">
            <a:spLocks noGrp="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2" tIns="46586" rIns="93172" bIns="46586"/>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300">
                <a:latin typeface="Calibri" charset="0"/>
              </a:rPr>
              <a:t>Draft v1.1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61123" name="Notes Placeholder 2"/>
          <p:cNvSpPr>
            <a:spLocks noGrp="1"/>
          </p:cNvSpPr>
          <p:nvPr>
            <p:ph type="body" idx="1"/>
          </p:nvPr>
        </p:nvSpPr>
        <p:spPr bwMode="auto">
          <a:xfrm>
            <a:off x="700088" y="4416425"/>
            <a:ext cx="5610225"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lIns="90929" tIns="45465" rIns="90929" bIns="45465" numCol="1" anchor="t" anchorCtr="0" compatLnSpc="1">
            <a:prstTxWarp prst="textNoShape">
              <a:avLst/>
            </a:prstTxWarp>
          </a:bodyPr>
          <a:lstStyle/>
          <a:p>
            <a:pPr>
              <a:spcBef>
                <a:spcPct val="0"/>
              </a:spcBef>
            </a:pPr>
            <a:endParaRPr lang="en-US">
              <a:latin typeface="Calibri" charset="0"/>
            </a:endParaRPr>
          </a:p>
        </p:txBody>
      </p:sp>
      <p:sp>
        <p:nvSpPr>
          <p:cNvPr id="261124" name="Header Placeholder 3"/>
          <p:cNvSpPr txBox="1">
            <a:spLocks noGrp="1"/>
          </p:cNvSpPr>
          <p:nvPr/>
        </p:nvSpPr>
        <p:spPr bwMode="auto">
          <a:xfrm>
            <a:off x="0" y="0"/>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929" tIns="45465" rIns="90929" bIns="45465"/>
          <a:lstStyle>
            <a:lvl1pPr defTabSz="860425">
              <a:defRPr>
                <a:solidFill>
                  <a:schemeClr val="tx1"/>
                </a:solidFill>
                <a:latin typeface="Calisto MT" charset="0"/>
                <a:ea typeface="ＭＳ Ｐゴシック" charset="0"/>
              </a:defRPr>
            </a:lvl1pPr>
            <a:lvl2pPr marL="698500" indent="-268288" defTabSz="860425">
              <a:defRPr>
                <a:solidFill>
                  <a:schemeClr val="tx1"/>
                </a:solidFill>
                <a:latin typeface="Calisto MT" charset="0"/>
                <a:ea typeface="ＭＳ Ｐゴシック" charset="0"/>
              </a:defRPr>
            </a:lvl2pPr>
            <a:lvl3pPr marL="1074738" indent="-214313" defTabSz="860425">
              <a:defRPr>
                <a:solidFill>
                  <a:schemeClr val="tx1"/>
                </a:solidFill>
                <a:latin typeface="Calisto MT" charset="0"/>
                <a:ea typeface="ＭＳ Ｐゴシック" charset="0"/>
              </a:defRPr>
            </a:lvl3pPr>
            <a:lvl4pPr marL="1504950" indent="-214313" defTabSz="860425">
              <a:defRPr>
                <a:solidFill>
                  <a:schemeClr val="tx1"/>
                </a:solidFill>
                <a:latin typeface="Calisto MT" charset="0"/>
                <a:ea typeface="ＭＳ Ｐゴシック" charset="0"/>
              </a:defRPr>
            </a:lvl4pPr>
            <a:lvl5pPr marL="1935163" indent="-214313" defTabSz="860425">
              <a:defRPr>
                <a:solidFill>
                  <a:schemeClr val="tx1"/>
                </a:solidFill>
                <a:latin typeface="Calisto MT" charset="0"/>
                <a:ea typeface="ＭＳ Ｐゴシック" charset="0"/>
              </a:defRPr>
            </a:lvl5pPr>
            <a:lvl6pPr marL="2392363" indent="-214313" defTabSz="860425" fontAlgn="base">
              <a:spcBef>
                <a:spcPct val="0"/>
              </a:spcBef>
              <a:spcAft>
                <a:spcPct val="0"/>
              </a:spcAft>
              <a:defRPr>
                <a:solidFill>
                  <a:schemeClr val="tx1"/>
                </a:solidFill>
                <a:latin typeface="Calisto MT" charset="0"/>
                <a:ea typeface="ＭＳ Ｐゴシック" charset="0"/>
              </a:defRPr>
            </a:lvl6pPr>
            <a:lvl7pPr marL="2849563" indent="-214313" defTabSz="860425" fontAlgn="base">
              <a:spcBef>
                <a:spcPct val="0"/>
              </a:spcBef>
              <a:spcAft>
                <a:spcPct val="0"/>
              </a:spcAft>
              <a:defRPr>
                <a:solidFill>
                  <a:schemeClr val="tx1"/>
                </a:solidFill>
                <a:latin typeface="Calisto MT" charset="0"/>
                <a:ea typeface="ＭＳ Ｐゴシック" charset="0"/>
              </a:defRPr>
            </a:lvl7pPr>
            <a:lvl8pPr marL="3306763" indent="-214313" defTabSz="860425" fontAlgn="base">
              <a:spcBef>
                <a:spcPct val="0"/>
              </a:spcBef>
              <a:spcAft>
                <a:spcPct val="0"/>
              </a:spcAft>
              <a:defRPr>
                <a:solidFill>
                  <a:schemeClr val="tx1"/>
                </a:solidFill>
                <a:latin typeface="Calisto MT" charset="0"/>
                <a:ea typeface="ＭＳ Ｐゴシック" charset="0"/>
              </a:defRPr>
            </a:lvl8pPr>
            <a:lvl9pPr marL="3763963" indent="-214313" defTabSz="860425" fontAlgn="base">
              <a:spcBef>
                <a:spcPct val="0"/>
              </a:spcBef>
              <a:spcAft>
                <a:spcPct val="0"/>
              </a:spcAft>
              <a:defRPr>
                <a:solidFill>
                  <a:schemeClr val="tx1"/>
                </a:solidFill>
                <a:latin typeface="Calisto MT" charset="0"/>
                <a:ea typeface="ＭＳ Ｐゴシック" charset="0"/>
              </a:defRPr>
            </a:lvl9pPr>
          </a:lstStyle>
          <a:p>
            <a:r>
              <a:rPr lang="en-US" sz="1200">
                <a:latin typeface="Calibri" charset="0"/>
              </a:rPr>
              <a:t>Draft v1.1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64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64196" name="Header Placeholder 3"/>
          <p:cNvSpPr txBox="1">
            <a:spLocks noGrp="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2" tIns="46586" rIns="93172" bIns="46586"/>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300">
                <a:latin typeface="Calibri" charset="0"/>
              </a:rPr>
              <a:t>Draft v1.1</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71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71364" name="Header Placeholder 3"/>
          <p:cNvSpPr txBox="1">
            <a:spLocks noGrp="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2" tIns="46586" rIns="93172" bIns="46586"/>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300">
                <a:latin typeface="Calibri" charset="0"/>
              </a:rPr>
              <a:t>Draft v1.1</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27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32771" name="Header Placeholder 3"/>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fontAlgn="base">
              <a:spcBef>
                <a:spcPct val="0"/>
              </a:spcBef>
              <a:spcAft>
                <a:spcPct val="0"/>
              </a:spcAft>
            </a:pPr>
            <a:r>
              <a:rPr lang="en-US">
                <a:latin typeface="Calibri" charset="0"/>
              </a:rPr>
              <a:t>Draft v1.1</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83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83652" name="Header Placeholder 3"/>
          <p:cNvSpPr txBox="1">
            <a:spLocks noGrp="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2" tIns="46586" rIns="93172" bIns="46586"/>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300">
                <a:latin typeface="Calibri" charset="0"/>
              </a:rPr>
              <a:t>Draft v1.1</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85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85700" name="Header Placeholder 3"/>
          <p:cNvSpPr txBox="1">
            <a:spLocks noGrp="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2" tIns="46586" rIns="93172" bIns="46586"/>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300">
                <a:latin typeface="Calibri" charset="0"/>
              </a:rPr>
              <a:t>Draft v1.1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89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89796" name="Header Placeholder 3"/>
          <p:cNvSpPr txBox="1">
            <a:spLocks noGrp="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2" tIns="46586" rIns="93172" bIns="46586"/>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300">
                <a:latin typeface="Calibri" charset="0"/>
              </a:rPr>
              <a:t>Draft v1.1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92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292868" name="Header Placeholder 3"/>
          <p:cNvSpPr txBox="1">
            <a:spLocks noGrp="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2" tIns="46586" rIns="93172" bIns="46586"/>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300">
                <a:latin typeface="Calibri" charset="0"/>
              </a:rPr>
              <a:t>Draft v1.1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05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305156" name="Header Placeholder 3"/>
          <p:cNvSpPr txBox="1">
            <a:spLocks noGrp="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2" tIns="46586" rIns="93172" bIns="46586"/>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300">
                <a:latin typeface="Calibri" charset="0"/>
              </a:rPr>
              <a:t>Draft v1.1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26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326660" name="Header Placeholder 3"/>
          <p:cNvSpPr txBox="1">
            <a:spLocks noGrp="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2" tIns="46586" rIns="93172" bIns="46586"/>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300">
                <a:latin typeface="Calibri" charset="0"/>
              </a:rPr>
              <a:t>Draft v1.1</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30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atin typeface="Calibri" charset="0"/>
            </a:endParaRPr>
          </a:p>
        </p:txBody>
      </p:sp>
      <p:sp>
        <p:nvSpPr>
          <p:cNvPr id="330756" name="Header Placeholder 3"/>
          <p:cNvSpPr txBox="1">
            <a:spLocks noGrp="1"/>
          </p:cNvSpPr>
          <p:nvPr/>
        </p:nvSpPr>
        <p:spPr bwMode="auto">
          <a:xfrm>
            <a:off x="0" y="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2" tIns="46586" rIns="93172" bIns="46586"/>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300">
                <a:latin typeface="Calibri" charset="0"/>
              </a:rPr>
              <a:t>Draft v1.1</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amp;C Custome Title Slide">
    <p:spTree>
      <p:nvGrpSpPr>
        <p:cNvPr id="1" name=""/>
        <p:cNvGrpSpPr/>
        <p:nvPr/>
      </p:nvGrpSpPr>
      <p:grpSpPr>
        <a:xfrm>
          <a:off x="0" y="0"/>
          <a:ext cx="0" cy="0"/>
          <a:chOff x="0" y="0"/>
          <a:chExt cx="0" cy="0"/>
        </a:xfrm>
      </p:grpSpPr>
      <p:cxnSp>
        <p:nvCxnSpPr>
          <p:cNvPr id="6" name="Straight Connector 12"/>
          <p:cNvCxnSpPr>
            <a:cxnSpLocks noChangeShapeType="1"/>
          </p:cNvCxnSpPr>
          <p:nvPr/>
        </p:nvCxnSpPr>
        <p:spPr bwMode="auto">
          <a:xfrm>
            <a:off x="452438" y="2492375"/>
            <a:ext cx="8189912" cy="1588"/>
          </a:xfrm>
          <a:prstGeom prst="line">
            <a:avLst/>
          </a:prstGeom>
          <a:noFill/>
          <a:ln w="15875">
            <a:solidFill>
              <a:schemeClr val="accent1"/>
            </a:solidFill>
            <a:miter lim="800000"/>
            <a:headEnd/>
            <a:tailEnd/>
          </a:ln>
        </p:spPr>
      </p:cxnSp>
      <p:cxnSp>
        <p:nvCxnSpPr>
          <p:cNvPr id="7" name="Straight Connector 14"/>
          <p:cNvCxnSpPr>
            <a:cxnSpLocks noChangeShapeType="1"/>
          </p:cNvCxnSpPr>
          <p:nvPr/>
        </p:nvCxnSpPr>
        <p:spPr bwMode="auto">
          <a:xfrm rot="5400000">
            <a:off x="6242050" y="3038475"/>
            <a:ext cx="1627188" cy="1588"/>
          </a:xfrm>
          <a:prstGeom prst="line">
            <a:avLst/>
          </a:prstGeom>
          <a:noFill/>
          <a:ln w="15875">
            <a:solidFill>
              <a:schemeClr val="accent1"/>
            </a:solidFill>
            <a:miter lim="800000"/>
            <a:headEnd/>
            <a:tailEnd/>
          </a:ln>
        </p:spPr>
      </p:cxnSp>
      <p:cxnSp>
        <p:nvCxnSpPr>
          <p:cNvPr id="8" name="Straight Connector 16"/>
          <p:cNvCxnSpPr>
            <a:cxnSpLocks noChangeShapeType="1"/>
          </p:cNvCxnSpPr>
          <p:nvPr/>
        </p:nvCxnSpPr>
        <p:spPr bwMode="auto">
          <a:xfrm rot="10800000">
            <a:off x="6134100" y="3633788"/>
            <a:ext cx="1157288" cy="1587"/>
          </a:xfrm>
          <a:prstGeom prst="line">
            <a:avLst/>
          </a:prstGeom>
          <a:noFill/>
          <a:ln w="15875">
            <a:solidFill>
              <a:schemeClr val="accent1"/>
            </a:solidFill>
            <a:miter lim="800000"/>
            <a:headEnd/>
            <a:tailEnd/>
          </a:ln>
        </p:spPr>
      </p:cxnSp>
      <p:cxnSp>
        <p:nvCxnSpPr>
          <p:cNvPr id="9" name="Straight Connector 18"/>
          <p:cNvCxnSpPr>
            <a:cxnSpLocks noChangeShapeType="1"/>
          </p:cNvCxnSpPr>
          <p:nvPr/>
        </p:nvCxnSpPr>
        <p:spPr bwMode="auto">
          <a:xfrm rot="5400000">
            <a:off x="6614319" y="5595144"/>
            <a:ext cx="898525" cy="1587"/>
          </a:xfrm>
          <a:prstGeom prst="line">
            <a:avLst/>
          </a:prstGeom>
          <a:noFill/>
          <a:ln w="15875">
            <a:solidFill>
              <a:schemeClr val="accent1"/>
            </a:solidFill>
            <a:miter lim="800000"/>
            <a:headEnd/>
            <a:tailEnd/>
          </a:ln>
        </p:spPr>
      </p:cxnSp>
      <p:cxnSp>
        <p:nvCxnSpPr>
          <p:cNvPr id="10" name="Straight Connector 19"/>
          <p:cNvCxnSpPr>
            <a:cxnSpLocks noChangeShapeType="1"/>
          </p:cNvCxnSpPr>
          <p:nvPr/>
        </p:nvCxnSpPr>
        <p:spPr bwMode="auto">
          <a:xfrm>
            <a:off x="452438" y="5848350"/>
            <a:ext cx="8189912" cy="1588"/>
          </a:xfrm>
          <a:prstGeom prst="line">
            <a:avLst/>
          </a:prstGeom>
          <a:noFill/>
          <a:ln w="15875">
            <a:solidFill>
              <a:schemeClr val="accent1"/>
            </a:solidFill>
            <a:miter lim="800000"/>
            <a:headEnd/>
            <a:tailEnd/>
          </a:ln>
        </p:spPr>
      </p:cxnSp>
      <p:cxnSp>
        <p:nvCxnSpPr>
          <p:cNvPr id="11" name="Straight Connector 13"/>
          <p:cNvCxnSpPr>
            <a:cxnSpLocks noChangeShapeType="1"/>
          </p:cNvCxnSpPr>
          <p:nvPr userDrawn="1"/>
        </p:nvCxnSpPr>
        <p:spPr bwMode="auto">
          <a:xfrm rot="5400000">
            <a:off x="-165100" y="1947863"/>
            <a:ext cx="1690687" cy="1588"/>
          </a:xfrm>
          <a:prstGeom prst="line">
            <a:avLst/>
          </a:prstGeom>
          <a:noFill/>
          <a:ln w="15875">
            <a:solidFill>
              <a:schemeClr val="accent1"/>
            </a:solidFill>
            <a:miter lim="800000"/>
            <a:headEnd/>
            <a:tailEnd/>
          </a:ln>
        </p:spPr>
      </p:cxnSp>
      <p:cxnSp>
        <p:nvCxnSpPr>
          <p:cNvPr id="12" name="Straight Connector 21"/>
          <p:cNvCxnSpPr>
            <a:cxnSpLocks noChangeShapeType="1"/>
          </p:cNvCxnSpPr>
          <p:nvPr userDrawn="1"/>
        </p:nvCxnSpPr>
        <p:spPr bwMode="auto">
          <a:xfrm>
            <a:off x="452438" y="2492375"/>
            <a:ext cx="8189912" cy="1588"/>
          </a:xfrm>
          <a:prstGeom prst="line">
            <a:avLst/>
          </a:prstGeom>
          <a:noFill/>
          <a:ln w="15875">
            <a:solidFill>
              <a:schemeClr val="accent1"/>
            </a:solidFill>
            <a:miter lim="800000"/>
            <a:headEnd/>
            <a:tailEnd/>
          </a:ln>
        </p:spPr>
      </p:cxnSp>
      <p:cxnSp>
        <p:nvCxnSpPr>
          <p:cNvPr id="13" name="Straight Connector 22"/>
          <p:cNvCxnSpPr>
            <a:cxnSpLocks noChangeShapeType="1"/>
          </p:cNvCxnSpPr>
          <p:nvPr userDrawn="1"/>
        </p:nvCxnSpPr>
        <p:spPr bwMode="auto">
          <a:xfrm rot="5400000">
            <a:off x="6242050" y="3038475"/>
            <a:ext cx="1627188" cy="1588"/>
          </a:xfrm>
          <a:prstGeom prst="line">
            <a:avLst/>
          </a:prstGeom>
          <a:noFill/>
          <a:ln w="15875">
            <a:solidFill>
              <a:schemeClr val="accent1"/>
            </a:solidFill>
            <a:miter lim="800000"/>
            <a:headEnd/>
            <a:tailEnd/>
          </a:ln>
        </p:spPr>
      </p:cxnSp>
      <p:cxnSp>
        <p:nvCxnSpPr>
          <p:cNvPr id="14" name="Straight Connector 23"/>
          <p:cNvCxnSpPr>
            <a:cxnSpLocks noChangeShapeType="1"/>
          </p:cNvCxnSpPr>
          <p:nvPr userDrawn="1"/>
        </p:nvCxnSpPr>
        <p:spPr bwMode="auto">
          <a:xfrm rot="10800000">
            <a:off x="6134100" y="3633788"/>
            <a:ext cx="1157288" cy="1587"/>
          </a:xfrm>
          <a:prstGeom prst="line">
            <a:avLst/>
          </a:prstGeom>
          <a:noFill/>
          <a:ln w="15875">
            <a:solidFill>
              <a:schemeClr val="accent1"/>
            </a:solidFill>
            <a:miter lim="800000"/>
            <a:headEnd/>
            <a:tailEnd/>
          </a:ln>
        </p:spPr>
      </p:cxnSp>
      <p:cxnSp>
        <p:nvCxnSpPr>
          <p:cNvPr id="15" name="Straight Connector 24"/>
          <p:cNvCxnSpPr>
            <a:cxnSpLocks noChangeShapeType="1"/>
          </p:cNvCxnSpPr>
          <p:nvPr userDrawn="1"/>
        </p:nvCxnSpPr>
        <p:spPr bwMode="auto">
          <a:xfrm rot="5400000">
            <a:off x="6614319" y="5595144"/>
            <a:ext cx="898525" cy="1587"/>
          </a:xfrm>
          <a:prstGeom prst="line">
            <a:avLst/>
          </a:prstGeom>
          <a:noFill/>
          <a:ln w="15875">
            <a:solidFill>
              <a:schemeClr val="accent1"/>
            </a:solidFill>
            <a:miter lim="800000"/>
            <a:headEnd/>
            <a:tailEnd/>
          </a:ln>
        </p:spPr>
      </p:cxnSp>
      <p:cxnSp>
        <p:nvCxnSpPr>
          <p:cNvPr id="16" name="Straight Connector 25"/>
          <p:cNvCxnSpPr>
            <a:cxnSpLocks noChangeShapeType="1"/>
          </p:cNvCxnSpPr>
          <p:nvPr userDrawn="1"/>
        </p:nvCxnSpPr>
        <p:spPr bwMode="auto">
          <a:xfrm>
            <a:off x="452438" y="5848350"/>
            <a:ext cx="8189912" cy="1588"/>
          </a:xfrm>
          <a:prstGeom prst="line">
            <a:avLst/>
          </a:prstGeom>
          <a:noFill/>
          <a:ln w="15875">
            <a:solidFill>
              <a:schemeClr val="accent1"/>
            </a:solidFill>
            <a:miter lim="800000"/>
            <a:headEnd/>
            <a:tailEnd/>
          </a:ln>
        </p:spPr>
      </p:cxnSp>
      <p:sp>
        <p:nvSpPr>
          <p:cNvPr id="17" name="TextBox 26"/>
          <p:cNvSpPr txBox="1"/>
          <p:nvPr userDrawn="1"/>
        </p:nvSpPr>
        <p:spPr>
          <a:xfrm>
            <a:off x="2590800" y="277813"/>
            <a:ext cx="3962400" cy="366712"/>
          </a:xfrm>
          <a:prstGeom prst="rect">
            <a:avLst/>
          </a:prstGeom>
          <a:noFill/>
        </p:spPr>
        <p:txBody>
          <a:bodyPr>
            <a:spAutoFit/>
          </a:bodyPr>
          <a:lstStyle/>
          <a:p>
            <a:pPr algn="ctr" fontAlgn="auto">
              <a:spcBef>
                <a:spcPts val="0"/>
              </a:spcBef>
              <a:spcAft>
                <a:spcPts val="0"/>
              </a:spcAft>
              <a:defRPr/>
            </a:pPr>
            <a:r>
              <a:rPr lang="en-US" sz="1200" dirty="0">
                <a:solidFill>
                  <a:srgbClr val="898989"/>
                </a:solidFill>
                <a:latin typeface="+mn-lt"/>
                <a:ea typeface="+mn-ea"/>
              </a:rPr>
              <a:t>Proprietary &amp; Confidential; Not For Distribution</a:t>
            </a:r>
          </a:p>
        </p:txBody>
      </p:sp>
      <p:pic>
        <p:nvPicPr>
          <p:cNvPr id="18" name="Picture 27" descr="cello_logo.eps"/>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58788" y="49213"/>
            <a:ext cx="455612"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Rectangle 3"/>
          <p:cNvSpPr>
            <a:spLocks noGrp="1" noChangeArrowheads="1"/>
          </p:cNvSpPr>
          <p:nvPr>
            <p:ph type="subTitle" idx="1"/>
          </p:nvPr>
        </p:nvSpPr>
        <p:spPr>
          <a:xfrm>
            <a:off x="685800" y="3126154"/>
            <a:ext cx="5399542" cy="1016000"/>
          </a:xfrm>
        </p:spPr>
        <p:txBody>
          <a:bodyPr anchor="ctr">
            <a:normAutofit/>
          </a:bodyPr>
          <a:lstStyle>
            <a:lvl1pPr marL="0" indent="0" algn="r">
              <a:buFont typeface="Wingdings" pitchFamily="2" charset="2"/>
              <a:buNone/>
              <a:defRPr sz="2200">
                <a:solidFill>
                  <a:schemeClr val="tx2"/>
                </a:solidFill>
              </a:defRPr>
            </a:lvl1pPr>
          </a:lstStyle>
          <a:p>
            <a:r>
              <a:rPr lang="en-US" dirty="0" smtClean="0"/>
              <a:t>Click to edit Master subtitle style</a:t>
            </a:r>
            <a:endParaRPr lang="en-US" dirty="0"/>
          </a:p>
        </p:txBody>
      </p:sp>
      <p:sp>
        <p:nvSpPr>
          <p:cNvPr id="9220" name="Rectangle 4"/>
          <p:cNvSpPr>
            <a:spLocks noGrp="1" noChangeArrowheads="1"/>
          </p:cNvSpPr>
          <p:nvPr>
            <p:ph type="ctrTitle" sz="quarter"/>
          </p:nvPr>
        </p:nvSpPr>
        <p:spPr>
          <a:xfrm>
            <a:off x="685800" y="1410032"/>
            <a:ext cx="7772400" cy="1143000"/>
          </a:xfrm>
        </p:spPr>
        <p:txBody>
          <a:bodyPr/>
          <a:lstStyle>
            <a:lvl1pPr algn="l">
              <a:defRPr sz="2800"/>
            </a:lvl1pPr>
          </a:lstStyle>
          <a:p>
            <a:r>
              <a:rPr lang="en-US" dirty="0" smtClean="0"/>
              <a:t>Click to edit Master title style</a:t>
            </a:r>
            <a:endParaRPr lang="en-US" dirty="0"/>
          </a:p>
        </p:txBody>
      </p:sp>
      <p:sp>
        <p:nvSpPr>
          <p:cNvPr id="32" name="Text Placeholder 31"/>
          <p:cNvSpPr>
            <a:spLocks noGrp="1"/>
          </p:cNvSpPr>
          <p:nvPr>
            <p:ph type="body" sz="quarter" idx="13"/>
          </p:nvPr>
        </p:nvSpPr>
        <p:spPr>
          <a:xfrm>
            <a:off x="7064374" y="5440680"/>
            <a:ext cx="1581912" cy="411480"/>
          </a:xfrm>
        </p:spPr>
        <p:txBody>
          <a:bodyPr>
            <a:noAutofit/>
          </a:bodyPr>
          <a:lstStyle>
            <a:lvl1pPr>
              <a:buFontTx/>
              <a:buNone/>
              <a:defRPr sz="1600" i="0"/>
            </a:lvl1pPr>
            <a:lvl2pPr>
              <a:buFontTx/>
              <a:buNone/>
              <a:defRPr/>
            </a:lvl2pPr>
            <a:lvl3pPr>
              <a:buFontTx/>
              <a:buNone/>
              <a:defRPr/>
            </a:lvl3pPr>
            <a:lvl4pPr>
              <a:buFontTx/>
              <a:buNone/>
              <a:defRPr/>
            </a:lvl4pPr>
            <a:lvl5pPr>
              <a:buFontTx/>
              <a:buNone/>
              <a:defRPr/>
            </a:lvl5pPr>
          </a:lstStyle>
          <a:p>
            <a:pPr lvl="0"/>
            <a:r>
              <a:rPr lang="en-US" dirty="0" smtClean="0"/>
              <a:t>Click to edit Master text styles</a:t>
            </a:r>
          </a:p>
        </p:txBody>
      </p:sp>
      <p:sp>
        <p:nvSpPr>
          <p:cNvPr id="34" name="Text Placeholder 33"/>
          <p:cNvSpPr>
            <a:spLocks noGrp="1"/>
          </p:cNvSpPr>
          <p:nvPr>
            <p:ph type="body" sz="quarter" idx="14"/>
          </p:nvPr>
        </p:nvSpPr>
        <p:spPr>
          <a:xfrm>
            <a:off x="685800" y="5440680"/>
            <a:ext cx="6373368" cy="411480"/>
          </a:xfrm>
        </p:spPr>
        <p:txBody>
          <a:bodyPr>
            <a:noAutofit/>
          </a:bodyPr>
          <a:lstStyle>
            <a:lvl1pPr algn="r">
              <a:buFontTx/>
              <a:buNone/>
              <a:defRPr sz="1600"/>
            </a:lvl1pPr>
            <a:lvl2pPr algn="r">
              <a:defRPr sz="1600"/>
            </a:lvl2pPr>
            <a:lvl3pPr algn="r">
              <a:defRPr sz="1600"/>
            </a:lvl3pPr>
            <a:lvl4pPr algn="r">
              <a:defRPr sz="1600"/>
            </a:lvl4pPr>
            <a:lvl5pPr algn="r">
              <a:defRPr sz="16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9" name="Date Placeholder 15"/>
          <p:cNvSpPr>
            <a:spLocks noGrp="1"/>
          </p:cNvSpPr>
          <p:nvPr>
            <p:ph type="dt" sz="half" idx="15"/>
          </p:nvPr>
        </p:nvSpPr>
        <p:spPr/>
        <p:txBody>
          <a:bodyPr/>
          <a:lstStyle>
            <a:lvl1pPr>
              <a:defRPr/>
            </a:lvl1pPr>
          </a:lstStyle>
          <a:p>
            <a:fld id="{A7731CA8-D598-4848-AC97-DC239DB5BB68}" type="datetime8">
              <a:rPr lang="en-US"/>
              <a:pPr/>
              <a:t>12/10/2015 5:04 PM</a:t>
            </a:fld>
            <a:endParaRPr lang="en-US"/>
          </a:p>
        </p:txBody>
      </p:sp>
      <p:sp>
        <p:nvSpPr>
          <p:cNvPr id="20" name="Slide Number Placeholder 17"/>
          <p:cNvSpPr>
            <a:spLocks noGrp="1"/>
          </p:cNvSpPr>
          <p:nvPr>
            <p:ph type="sldNum" sz="quarter" idx="16"/>
          </p:nvPr>
        </p:nvSpPr>
        <p:spPr/>
        <p:txBody>
          <a:bodyPr/>
          <a:lstStyle>
            <a:lvl1pPr>
              <a:defRPr/>
            </a:lvl1pPr>
          </a:lstStyle>
          <a:p>
            <a:fld id="{132218A9-DB71-ED47-97DB-5E00F05131AD}" type="slidenum">
              <a:rPr lang="en-US"/>
              <a:pPr/>
              <a:t>‹#›</a:t>
            </a:fld>
            <a:endParaRPr lang="en-US"/>
          </a:p>
        </p:txBody>
      </p:sp>
      <p:sp>
        <p:nvSpPr>
          <p:cNvPr id="21" name="Footer Placeholder 20"/>
          <p:cNvSpPr>
            <a:spLocks noGrp="1"/>
          </p:cNvSpPr>
          <p:nvPr>
            <p:ph type="ftr" sz="quarter" idx="17"/>
          </p:nvPr>
        </p:nvSpPr>
        <p:spPr/>
        <p:txBody>
          <a:bodyPr/>
          <a:lstStyle>
            <a:lvl1pPr>
              <a:defRPr/>
            </a:lvl1pPr>
          </a:lstStyle>
          <a:p>
            <a:r>
              <a:rPr lang="en-US"/>
              <a:t>©2010 Cello Capital Management, LLC</a:t>
            </a:r>
          </a:p>
        </p:txBody>
      </p:sp>
    </p:spTree>
    <p:extLst>
      <p:ext uri="{BB962C8B-B14F-4D97-AF65-F5344CB8AC3E}">
        <p14:creationId xmlns:p14="http://schemas.microsoft.com/office/powerpoint/2010/main" val="1954087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1200"/>
            </a:lvl1pPr>
            <a:lvl2pPr>
              <a:defRPr sz="1000"/>
            </a:lvl2pPr>
            <a:lvl3pPr>
              <a:defRPr sz="1000"/>
            </a:lvl3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Date Placeholder 3"/>
          <p:cNvSpPr>
            <a:spLocks noGrp="1"/>
          </p:cNvSpPr>
          <p:nvPr>
            <p:ph type="dt" sz="half" idx="10"/>
          </p:nvPr>
        </p:nvSpPr>
        <p:spPr/>
        <p:txBody>
          <a:bodyPr/>
          <a:lstStyle>
            <a:lvl1pPr>
              <a:defRPr/>
            </a:lvl1pPr>
          </a:lstStyle>
          <a:p>
            <a:fld id="{5625D006-9C0D-DA43-9BBE-F05711E19E9F}" type="datetime8">
              <a:rPr lang="en-US"/>
              <a:pPr/>
              <a:t>12/10/2015 5:04 PM</a:t>
            </a:fld>
            <a:endParaRPr lang="en-US"/>
          </a:p>
        </p:txBody>
      </p:sp>
      <p:sp>
        <p:nvSpPr>
          <p:cNvPr id="9" name="Footer Placeholder 4"/>
          <p:cNvSpPr>
            <a:spLocks noGrp="1"/>
          </p:cNvSpPr>
          <p:nvPr>
            <p:ph type="ftr" sz="quarter" idx="11"/>
          </p:nvPr>
        </p:nvSpPr>
        <p:spPr/>
        <p:txBody>
          <a:bodyPr/>
          <a:lstStyle>
            <a:lvl1pPr>
              <a:defRPr/>
            </a:lvl1pPr>
          </a:lstStyle>
          <a:p>
            <a:r>
              <a:rPr lang="en-US"/>
              <a:t>©2010 Cello Capital Management, LLC</a:t>
            </a:r>
          </a:p>
        </p:txBody>
      </p:sp>
      <p:sp>
        <p:nvSpPr>
          <p:cNvPr id="10" name="Slide Number Placeholder 5"/>
          <p:cNvSpPr>
            <a:spLocks noGrp="1"/>
          </p:cNvSpPr>
          <p:nvPr>
            <p:ph type="sldNum" sz="quarter" idx="12"/>
          </p:nvPr>
        </p:nvSpPr>
        <p:spPr/>
        <p:txBody>
          <a:bodyPr/>
          <a:lstStyle>
            <a:lvl1pPr>
              <a:defRPr/>
            </a:lvl1pPr>
          </a:lstStyle>
          <a:p>
            <a:fld id="{5E36E8DB-F257-1948-8EED-ABB9C04CFD4D}" type="slidenum">
              <a:rPr lang="en-US"/>
              <a:pPr/>
              <a:t>‹#›</a:t>
            </a:fld>
            <a:endParaRPr lang="en-US"/>
          </a:p>
        </p:txBody>
      </p:sp>
    </p:spTree>
    <p:extLst>
      <p:ext uri="{BB962C8B-B14F-4D97-AF65-F5344CB8AC3E}">
        <p14:creationId xmlns:p14="http://schemas.microsoft.com/office/powerpoint/2010/main" val="16328885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Content with Header, and Source">
    <p:spTree>
      <p:nvGrpSpPr>
        <p:cNvPr id="1" name=""/>
        <p:cNvGrpSpPr/>
        <p:nvPr/>
      </p:nvGrpSpPr>
      <p:grpSpPr>
        <a:xfrm>
          <a:off x="0" y="0"/>
          <a:ext cx="0" cy="0"/>
          <a:chOff x="0" y="0"/>
          <a:chExt cx="0" cy="0"/>
        </a:xfrm>
      </p:grpSpPr>
      <p:sp>
        <p:nvSpPr>
          <p:cNvPr id="6" name="TextBox 5"/>
          <p:cNvSpPr txBox="1"/>
          <p:nvPr/>
        </p:nvSpPr>
        <p:spPr>
          <a:xfrm>
            <a:off x="2590800" y="277813"/>
            <a:ext cx="3962400" cy="366712"/>
          </a:xfrm>
          <a:prstGeom prst="rect">
            <a:avLst/>
          </a:prstGeom>
          <a:noFill/>
        </p:spPr>
        <p:txBody>
          <a:bodyPr>
            <a:spAutoFit/>
          </a:bodyPr>
          <a:lstStyle/>
          <a:p>
            <a:pPr algn="ctr" fontAlgn="auto">
              <a:spcBef>
                <a:spcPts val="0"/>
              </a:spcBef>
              <a:spcAft>
                <a:spcPts val="0"/>
              </a:spcAft>
              <a:defRPr/>
            </a:pPr>
            <a:r>
              <a:rPr lang="en-US" sz="1200" dirty="0">
                <a:solidFill>
                  <a:srgbClr val="898989"/>
                </a:solidFill>
                <a:latin typeface="+mn-lt"/>
                <a:ea typeface="+mn-ea"/>
              </a:rPr>
              <a:t>Proprietary &amp; Confidential; Not For Distribution</a:t>
            </a:r>
          </a:p>
        </p:txBody>
      </p:sp>
      <p:pic>
        <p:nvPicPr>
          <p:cNvPr id="7" name="Picture 9" descr="cello_logo.eps"/>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58788" y="49213"/>
            <a:ext cx="455612"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6"/>
          <p:cNvCxnSpPr/>
          <p:nvPr/>
        </p:nvCxnSpPr>
        <p:spPr>
          <a:xfrm>
            <a:off x="457200" y="1446213"/>
            <a:ext cx="8229600"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9"/>
          <p:cNvCxnSpPr/>
          <p:nvPr userDrawn="1"/>
        </p:nvCxnSpPr>
        <p:spPr>
          <a:xfrm>
            <a:off x="457200" y="1446213"/>
            <a:ext cx="82296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lgn="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900873"/>
            <a:ext cx="8229600" cy="4182935"/>
          </a:xfrm>
        </p:spPr>
        <p:txBody>
          <a:bodyPr/>
          <a:lstStyle>
            <a:lvl1pPr>
              <a:defRPr sz="1200"/>
            </a:lvl1pPr>
            <a:lvl2pPr>
              <a:defRPr sz="1000"/>
            </a:lvl2pPr>
            <a:lvl3pPr>
              <a:defRPr sz="800"/>
            </a:lvl3pPr>
            <a:lvl4pPr>
              <a:defRPr sz="800"/>
            </a:lvl4pPr>
            <a:lvl5pPr>
              <a:defRPr sz="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ext Placeholder 7"/>
          <p:cNvSpPr>
            <a:spLocks noGrp="1"/>
          </p:cNvSpPr>
          <p:nvPr>
            <p:ph type="body" sz="quarter" idx="13"/>
          </p:nvPr>
        </p:nvSpPr>
        <p:spPr>
          <a:xfrm>
            <a:off x="457200" y="6096000"/>
            <a:ext cx="8229600" cy="228600"/>
          </a:xfrm>
        </p:spPr>
        <p:txBody>
          <a:bodyPr anchor="b">
            <a:noAutofit/>
          </a:bodyPr>
          <a:lstStyle>
            <a:lvl1pPr algn="l">
              <a:buFontTx/>
              <a:buNone/>
              <a:defRPr sz="600"/>
            </a:lvl1pPr>
          </a:lstStyle>
          <a:p>
            <a:pPr lvl="0"/>
            <a:r>
              <a:rPr lang="en-US" smtClean="0"/>
              <a:t>Click to edit Master text styles</a:t>
            </a:r>
          </a:p>
        </p:txBody>
      </p:sp>
      <p:sp>
        <p:nvSpPr>
          <p:cNvPr id="9" name="Text Placeholder 2"/>
          <p:cNvSpPr>
            <a:spLocks noGrp="1"/>
          </p:cNvSpPr>
          <p:nvPr>
            <p:ph type="body" idx="14"/>
          </p:nvPr>
        </p:nvSpPr>
        <p:spPr>
          <a:xfrm>
            <a:off x="457200" y="1535113"/>
            <a:ext cx="8229600" cy="365760"/>
          </a:xfrm>
          <a:solidFill>
            <a:schemeClr val="accent1"/>
          </a:solidFill>
        </p:spPr>
        <p:txBody>
          <a:bodyPr anchor="ctr">
            <a:normAutofit/>
          </a:bodyP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12" name="Date Placeholder 3"/>
          <p:cNvSpPr>
            <a:spLocks noGrp="1"/>
          </p:cNvSpPr>
          <p:nvPr>
            <p:ph type="dt" sz="half" idx="15"/>
          </p:nvPr>
        </p:nvSpPr>
        <p:spPr/>
        <p:txBody>
          <a:bodyPr/>
          <a:lstStyle>
            <a:lvl1pPr>
              <a:defRPr/>
            </a:lvl1pPr>
          </a:lstStyle>
          <a:p>
            <a:fld id="{235657C0-C6AC-6A44-B386-FCB25765B48C}" type="datetime8">
              <a:rPr lang="en-US"/>
              <a:pPr/>
              <a:t>12/10/2015 5:04 PM</a:t>
            </a:fld>
            <a:endParaRPr lang="en-US"/>
          </a:p>
        </p:txBody>
      </p:sp>
      <p:sp>
        <p:nvSpPr>
          <p:cNvPr id="13" name="Footer Placeholder 4"/>
          <p:cNvSpPr>
            <a:spLocks noGrp="1"/>
          </p:cNvSpPr>
          <p:nvPr>
            <p:ph type="ftr" sz="quarter" idx="16"/>
          </p:nvPr>
        </p:nvSpPr>
        <p:spPr/>
        <p:txBody>
          <a:bodyPr/>
          <a:lstStyle>
            <a:lvl1pPr>
              <a:defRPr/>
            </a:lvl1pPr>
          </a:lstStyle>
          <a:p>
            <a:r>
              <a:rPr lang="en-US"/>
              <a:t>©2010 Cello Capital Management, LLC</a:t>
            </a:r>
          </a:p>
        </p:txBody>
      </p:sp>
      <p:sp>
        <p:nvSpPr>
          <p:cNvPr id="14" name="Slide Number Placeholder 5"/>
          <p:cNvSpPr>
            <a:spLocks noGrp="1"/>
          </p:cNvSpPr>
          <p:nvPr>
            <p:ph type="sldNum" sz="quarter" idx="17"/>
          </p:nvPr>
        </p:nvSpPr>
        <p:spPr/>
        <p:txBody>
          <a:bodyPr/>
          <a:lstStyle>
            <a:lvl1pPr>
              <a:defRPr/>
            </a:lvl1pPr>
          </a:lstStyle>
          <a:p>
            <a:fld id="{38FE96D6-2CDD-D34D-B309-A1D9E1DF4E8F}" type="slidenum">
              <a:rPr lang="en-US"/>
              <a:pPr/>
              <a:t>‹#›</a:t>
            </a:fld>
            <a:endParaRPr lang="en-US"/>
          </a:p>
        </p:txBody>
      </p:sp>
    </p:spTree>
    <p:extLst>
      <p:ext uri="{BB962C8B-B14F-4D97-AF65-F5344CB8AC3E}">
        <p14:creationId xmlns:p14="http://schemas.microsoft.com/office/powerpoint/2010/main" val="2665682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2 Vertical Content with Header, and Source">
    <p:spTree>
      <p:nvGrpSpPr>
        <p:cNvPr id="1" name=""/>
        <p:cNvGrpSpPr/>
        <p:nvPr/>
      </p:nvGrpSpPr>
      <p:grpSpPr>
        <a:xfrm>
          <a:off x="0" y="0"/>
          <a:ext cx="0" cy="0"/>
          <a:chOff x="0" y="0"/>
          <a:chExt cx="0" cy="0"/>
        </a:xfrm>
      </p:grpSpPr>
      <p:sp>
        <p:nvSpPr>
          <p:cNvPr id="12" name="TextBox 11"/>
          <p:cNvSpPr txBox="1"/>
          <p:nvPr/>
        </p:nvSpPr>
        <p:spPr>
          <a:xfrm>
            <a:off x="2590800" y="277813"/>
            <a:ext cx="3962400" cy="366712"/>
          </a:xfrm>
          <a:prstGeom prst="rect">
            <a:avLst/>
          </a:prstGeom>
          <a:noFill/>
        </p:spPr>
        <p:txBody>
          <a:bodyPr>
            <a:spAutoFit/>
          </a:bodyPr>
          <a:lstStyle/>
          <a:p>
            <a:pPr algn="ctr" fontAlgn="auto">
              <a:spcBef>
                <a:spcPts val="0"/>
              </a:spcBef>
              <a:spcAft>
                <a:spcPts val="0"/>
              </a:spcAft>
              <a:defRPr/>
            </a:pPr>
            <a:r>
              <a:rPr lang="en-US" sz="1200" dirty="0">
                <a:solidFill>
                  <a:srgbClr val="898989"/>
                </a:solidFill>
                <a:latin typeface="+mn-lt"/>
                <a:ea typeface="+mn-ea"/>
              </a:rPr>
              <a:t>Proprietary &amp; Confidential; Not For Distribution</a:t>
            </a:r>
          </a:p>
        </p:txBody>
      </p:sp>
      <p:pic>
        <p:nvPicPr>
          <p:cNvPr id="13" name="Picture 9" descr="cello_logo.eps"/>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58788" y="49213"/>
            <a:ext cx="455612"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Connector 6"/>
          <p:cNvCxnSpPr/>
          <p:nvPr/>
        </p:nvCxnSpPr>
        <p:spPr>
          <a:xfrm>
            <a:off x="457200" y="1446213"/>
            <a:ext cx="8229600"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457200" y="1446213"/>
            <a:ext cx="82296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Content Placeholder 2"/>
          <p:cNvSpPr>
            <a:spLocks noGrp="1"/>
          </p:cNvSpPr>
          <p:nvPr>
            <p:ph idx="1"/>
          </p:nvPr>
        </p:nvSpPr>
        <p:spPr>
          <a:xfrm>
            <a:off x="457200" y="1900873"/>
            <a:ext cx="8229600" cy="1911096"/>
          </a:xfrm>
        </p:spPr>
        <p:txBody>
          <a:bodyPr/>
          <a:lstStyle>
            <a:lvl1pPr>
              <a:defRPr sz="1200"/>
            </a:lvl1pPr>
            <a:lvl2pPr>
              <a:defRPr sz="1000"/>
            </a:lvl2pPr>
            <a:lvl3pPr>
              <a:defRPr sz="800"/>
            </a:lvl3pPr>
            <a:lvl4pPr>
              <a:defRPr sz="800"/>
            </a:lvl4pPr>
            <a:lvl5pPr>
              <a:defRPr sz="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ext Placeholder 7"/>
          <p:cNvSpPr>
            <a:spLocks noGrp="1"/>
          </p:cNvSpPr>
          <p:nvPr>
            <p:ph type="body" sz="quarter" idx="13"/>
          </p:nvPr>
        </p:nvSpPr>
        <p:spPr>
          <a:xfrm>
            <a:off x="457200" y="6096000"/>
            <a:ext cx="8229600" cy="228600"/>
          </a:xfrm>
        </p:spPr>
        <p:txBody>
          <a:bodyPr anchor="b">
            <a:noAutofit/>
          </a:bodyPr>
          <a:lstStyle>
            <a:lvl1pPr algn="l">
              <a:buFontTx/>
              <a:buNone/>
              <a:defRPr sz="600"/>
            </a:lvl1pPr>
          </a:lstStyle>
          <a:p>
            <a:pPr lvl="0"/>
            <a:r>
              <a:rPr lang="en-US" smtClean="0"/>
              <a:t>Click to edit Master text styles</a:t>
            </a:r>
          </a:p>
        </p:txBody>
      </p:sp>
      <p:sp>
        <p:nvSpPr>
          <p:cNvPr id="9" name="Text Placeholder 2"/>
          <p:cNvSpPr>
            <a:spLocks noGrp="1"/>
          </p:cNvSpPr>
          <p:nvPr>
            <p:ph type="body" idx="14"/>
          </p:nvPr>
        </p:nvSpPr>
        <p:spPr>
          <a:xfrm>
            <a:off x="457200" y="1535113"/>
            <a:ext cx="8229600" cy="365760"/>
          </a:xfrm>
          <a:solidFill>
            <a:schemeClr val="accent1"/>
          </a:solidFill>
        </p:spPr>
        <p:txBody>
          <a:bodyPr anchor="ctr">
            <a:normAutofit/>
          </a:bodyP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10" name="Content Placeholder 2"/>
          <p:cNvSpPr>
            <a:spLocks noGrp="1"/>
          </p:cNvSpPr>
          <p:nvPr>
            <p:ph idx="15"/>
          </p:nvPr>
        </p:nvSpPr>
        <p:spPr>
          <a:xfrm>
            <a:off x="457200" y="4194810"/>
            <a:ext cx="8229600" cy="1911096"/>
          </a:xfrm>
        </p:spPr>
        <p:txBody>
          <a:bodyPr/>
          <a:lstStyle>
            <a:lvl1pPr>
              <a:defRPr sz="1200"/>
            </a:lvl1pPr>
            <a:lvl2pPr>
              <a:defRPr sz="1000"/>
            </a:lvl2pPr>
            <a:lvl3pPr>
              <a:defRPr sz="800"/>
            </a:lvl3pPr>
            <a:lvl4pPr>
              <a:defRPr sz="800"/>
            </a:lvl4pPr>
            <a:lvl5pPr>
              <a:defRPr sz="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2"/>
          <p:cNvSpPr>
            <a:spLocks noGrp="1"/>
          </p:cNvSpPr>
          <p:nvPr>
            <p:ph type="body" idx="16"/>
          </p:nvPr>
        </p:nvSpPr>
        <p:spPr>
          <a:xfrm>
            <a:off x="457200" y="3829050"/>
            <a:ext cx="8229600" cy="365760"/>
          </a:xfrm>
          <a:solidFill>
            <a:schemeClr val="accent1"/>
          </a:solidFill>
        </p:spPr>
        <p:txBody>
          <a:bodyPr anchor="ctr">
            <a:normAutofit/>
          </a:bodyP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16" name="Date Placeholder 3"/>
          <p:cNvSpPr>
            <a:spLocks noGrp="1"/>
          </p:cNvSpPr>
          <p:nvPr>
            <p:ph type="dt" sz="half" idx="17"/>
          </p:nvPr>
        </p:nvSpPr>
        <p:spPr/>
        <p:txBody>
          <a:bodyPr/>
          <a:lstStyle>
            <a:lvl1pPr>
              <a:defRPr/>
            </a:lvl1pPr>
          </a:lstStyle>
          <a:p>
            <a:fld id="{002FB221-6CC1-8B4E-94F8-B450D99A3149}" type="datetime8">
              <a:rPr lang="en-US"/>
              <a:pPr/>
              <a:t>12/10/2015 5:04 PM</a:t>
            </a:fld>
            <a:endParaRPr lang="en-US"/>
          </a:p>
        </p:txBody>
      </p:sp>
      <p:sp>
        <p:nvSpPr>
          <p:cNvPr id="17" name="Footer Placeholder 4"/>
          <p:cNvSpPr>
            <a:spLocks noGrp="1"/>
          </p:cNvSpPr>
          <p:nvPr>
            <p:ph type="ftr" sz="quarter" idx="18"/>
          </p:nvPr>
        </p:nvSpPr>
        <p:spPr/>
        <p:txBody>
          <a:bodyPr/>
          <a:lstStyle>
            <a:lvl1pPr>
              <a:defRPr/>
            </a:lvl1pPr>
          </a:lstStyle>
          <a:p>
            <a:r>
              <a:rPr lang="en-US"/>
              <a:t>©2010 Cello Capital Management, LLC</a:t>
            </a:r>
          </a:p>
        </p:txBody>
      </p:sp>
      <p:sp>
        <p:nvSpPr>
          <p:cNvPr id="18" name="Slide Number Placeholder 5"/>
          <p:cNvSpPr>
            <a:spLocks noGrp="1"/>
          </p:cNvSpPr>
          <p:nvPr>
            <p:ph type="sldNum" sz="quarter" idx="19"/>
          </p:nvPr>
        </p:nvSpPr>
        <p:spPr/>
        <p:txBody>
          <a:bodyPr/>
          <a:lstStyle>
            <a:lvl1pPr>
              <a:defRPr/>
            </a:lvl1pPr>
          </a:lstStyle>
          <a:p>
            <a:fld id="{3847BFF3-364F-B445-A0D0-CF9D2CFA0A04}" type="slidenum">
              <a:rPr lang="en-US"/>
              <a:pPr/>
              <a:t>‹#›</a:t>
            </a:fld>
            <a:endParaRPr lang="en-US"/>
          </a:p>
        </p:txBody>
      </p:sp>
    </p:spTree>
    <p:extLst>
      <p:ext uri="{BB962C8B-B14F-4D97-AF65-F5344CB8AC3E}">
        <p14:creationId xmlns:p14="http://schemas.microsoft.com/office/powerpoint/2010/main" val="313705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 Content with Source">
    <p:spTree>
      <p:nvGrpSpPr>
        <p:cNvPr id="1" name=""/>
        <p:cNvGrpSpPr/>
        <p:nvPr/>
      </p:nvGrpSpPr>
      <p:grpSpPr>
        <a:xfrm>
          <a:off x="0" y="0"/>
          <a:ext cx="0" cy="0"/>
          <a:chOff x="0" y="0"/>
          <a:chExt cx="0" cy="0"/>
        </a:xfrm>
      </p:grpSpPr>
      <p:sp>
        <p:nvSpPr>
          <p:cNvPr id="7" name="TextBox 6"/>
          <p:cNvSpPr txBox="1"/>
          <p:nvPr/>
        </p:nvSpPr>
        <p:spPr>
          <a:xfrm>
            <a:off x="2590800" y="277813"/>
            <a:ext cx="3962400" cy="366712"/>
          </a:xfrm>
          <a:prstGeom prst="rect">
            <a:avLst/>
          </a:prstGeom>
          <a:noFill/>
        </p:spPr>
        <p:txBody>
          <a:bodyPr>
            <a:spAutoFit/>
          </a:bodyPr>
          <a:lstStyle/>
          <a:p>
            <a:pPr algn="ctr" fontAlgn="auto">
              <a:spcBef>
                <a:spcPts val="0"/>
              </a:spcBef>
              <a:spcAft>
                <a:spcPts val="0"/>
              </a:spcAft>
              <a:defRPr/>
            </a:pPr>
            <a:r>
              <a:rPr lang="en-US" sz="1200" dirty="0">
                <a:solidFill>
                  <a:srgbClr val="898989"/>
                </a:solidFill>
                <a:latin typeface="+mn-lt"/>
                <a:ea typeface="+mn-ea"/>
              </a:rPr>
              <a:t>Proprietary &amp; Confidential; Not For Distribution</a:t>
            </a:r>
          </a:p>
        </p:txBody>
      </p:sp>
      <p:pic>
        <p:nvPicPr>
          <p:cNvPr id="8" name="Picture 9" descr="cello_logo.eps"/>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58788" y="49213"/>
            <a:ext cx="455612"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7"/>
          <p:cNvCxnSpPr/>
          <p:nvPr/>
        </p:nvCxnSpPr>
        <p:spPr>
          <a:xfrm>
            <a:off x="457200" y="1446213"/>
            <a:ext cx="8229600"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457200" y="1446213"/>
            <a:ext cx="82296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lgn="l">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457200" y="3846576"/>
            <a:ext cx="4038600" cy="2249424"/>
          </a:xfrm>
        </p:spPr>
        <p:txBody>
          <a:bodyPr/>
          <a:lstStyle>
            <a:lvl1pPr>
              <a:defRPr sz="1600"/>
            </a:lvl1pPr>
            <a:lvl2pPr>
              <a:defRPr sz="1200"/>
            </a:lvl2pPr>
            <a:lvl3pPr>
              <a:defRPr sz="1000"/>
            </a:lvl3pPr>
            <a:lvl4pPr>
              <a:defRPr sz="800"/>
            </a:lvl4pPr>
            <a:lvl5pPr>
              <a:defRPr sz="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Text Placeholder 7"/>
          <p:cNvSpPr>
            <a:spLocks noGrp="1"/>
          </p:cNvSpPr>
          <p:nvPr>
            <p:ph type="body" sz="quarter" idx="13"/>
          </p:nvPr>
        </p:nvSpPr>
        <p:spPr>
          <a:xfrm>
            <a:off x="457200" y="6096000"/>
            <a:ext cx="8229600" cy="228600"/>
          </a:xfrm>
        </p:spPr>
        <p:txBody>
          <a:bodyPr anchor="b">
            <a:noAutofit/>
          </a:bodyPr>
          <a:lstStyle>
            <a:lvl1pPr algn="l">
              <a:buFontTx/>
              <a:buNone/>
              <a:defRPr sz="600"/>
            </a:lvl1pPr>
          </a:lstStyle>
          <a:p>
            <a:pPr lvl="0"/>
            <a:r>
              <a:rPr lang="en-US" smtClean="0"/>
              <a:t>Click to edit Master text styles</a:t>
            </a:r>
          </a:p>
        </p:txBody>
      </p:sp>
      <p:sp>
        <p:nvSpPr>
          <p:cNvPr id="12" name="Content Placeholder 2"/>
          <p:cNvSpPr>
            <a:spLocks noGrp="1"/>
          </p:cNvSpPr>
          <p:nvPr>
            <p:ph sz="half" idx="15"/>
          </p:nvPr>
        </p:nvSpPr>
        <p:spPr>
          <a:xfrm>
            <a:off x="457200" y="1600200"/>
            <a:ext cx="8229600" cy="2249424"/>
          </a:xfrm>
        </p:spPr>
        <p:txBody>
          <a:bodyPr/>
          <a:lstStyle>
            <a:lvl1pPr>
              <a:defRPr sz="1600"/>
            </a:lvl1pPr>
            <a:lvl2pPr>
              <a:defRPr sz="1200"/>
            </a:lvl2pPr>
            <a:lvl3pPr>
              <a:defRPr sz="1000"/>
            </a:lvl3pPr>
            <a:lvl4pPr>
              <a:defRPr sz="800"/>
            </a:lvl4pPr>
            <a:lvl5pPr>
              <a:defRPr sz="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2"/>
          <p:cNvSpPr>
            <a:spLocks noGrp="1"/>
          </p:cNvSpPr>
          <p:nvPr>
            <p:ph sz="half" idx="16"/>
          </p:nvPr>
        </p:nvSpPr>
        <p:spPr>
          <a:xfrm>
            <a:off x="4648200" y="3846576"/>
            <a:ext cx="4038600" cy="2249424"/>
          </a:xfrm>
        </p:spPr>
        <p:txBody>
          <a:bodyPr/>
          <a:lstStyle>
            <a:lvl1pPr>
              <a:defRPr sz="1600"/>
            </a:lvl1pPr>
            <a:lvl2pPr>
              <a:defRPr sz="1200"/>
            </a:lvl2pPr>
            <a:lvl3pPr>
              <a:defRPr sz="1000"/>
            </a:lvl3pPr>
            <a:lvl4pPr>
              <a:defRPr sz="800"/>
            </a:lvl4pPr>
            <a:lvl5pPr>
              <a:defRPr sz="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Date Placeholder 4"/>
          <p:cNvSpPr>
            <a:spLocks noGrp="1"/>
          </p:cNvSpPr>
          <p:nvPr>
            <p:ph type="dt" sz="half" idx="17"/>
          </p:nvPr>
        </p:nvSpPr>
        <p:spPr/>
        <p:txBody>
          <a:bodyPr/>
          <a:lstStyle>
            <a:lvl1pPr>
              <a:defRPr/>
            </a:lvl1pPr>
          </a:lstStyle>
          <a:p>
            <a:fld id="{8506F89D-C11A-0948-80AB-6EA534C239D8}" type="datetime8">
              <a:rPr lang="en-US"/>
              <a:pPr/>
              <a:t>12/10/2015 5:04 PM</a:t>
            </a:fld>
            <a:endParaRPr lang="en-US"/>
          </a:p>
        </p:txBody>
      </p:sp>
      <p:sp>
        <p:nvSpPr>
          <p:cNvPr id="15" name="Footer Placeholder 5"/>
          <p:cNvSpPr>
            <a:spLocks noGrp="1"/>
          </p:cNvSpPr>
          <p:nvPr>
            <p:ph type="ftr" sz="quarter" idx="18"/>
          </p:nvPr>
        </p:nvSpPr>
        <p:spPr/>
        <p:txBody>
          <a:bodyPr/>
          <a:lstStyle>
            <a:lvl1pPr>
              <a:defRPr/>
            </a:lvl1pPr>
          </a:lstStyle>
          <a:p>
            <a:r>
              <a:rPr lang="en-US"/>
              <a:t>©2010 Cello Capital Management, LLC</a:t>
            </a:r>
          </a:p>
        </p:txBody>
      </p:sp>
      <p:sp>
        <p:nvSpPr>
          <p:cNvPr id="16" name="Slide Number Placeholder 6"/>
          <p:cNvSpPr>
            <a:spLocks noGrp="1"/>
          </p:cNvSpPr>
          <p:nvPr>
            <p:ph type="sldNum" sz="quarter" idx="19"/>
          </p:nvPr>
        </p:nvSpPr>
        <p:spPr/>
        <p:txBody>
          <a:bodyPr/>
          <a:lstStyle>
            <a:lvl1pPr>
              <a:defRPr/>
            </a:lvl1pPr>
          </a:lstStyle>
          <a:p>
            <a:fld id="{29653EB9-3876-F94B-A230-03AF9F35ED4E}" type="slidenum">
              <a:rPr lang="en-US"/>
              <a:pPr/>
              <a:t>‹#›</a:t>
            </a:fld>
            <a:endParaRPr lang="en-US"/>
          </a:p>
        </p:txBody>
      </p:sp>
    </p:spTree>
    <p:extLst>
      <p:ext uri="{BB962C8B-B14F-4D97-AF65-F5344CB8AC3E}">
        <p14:creationId xmlns:p14="http://schemas.microsoft.com/office/powerpoint/2010/main" val="3137814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ntent Over Each Other with Source">
    <p:spTree>
      <p:nvGrpSpPr>
        <p:cNvPr id="1" name=""/>
        <p:cNvGrpSpPr/>
        <p:nvPr/>
      </p:nvGrpSpPr>
      <p:grpSpPr>
        <a:xfrm>
          <a:off x="0" y="0"/>
          <a:ext cx="0" cy="0"/>
          <a:chOff x="0" y="0"/>
          <a:chExt cx="0" cy="0"/>
        </a:xfrm>
      </p:grpSpPr>
      <p:sp>
        <p:nvSpPr>
          <p:cNvPr id="6" name="TextBox 5"/>
          <p:cNvSpPr txBox="1"/>
          <p:nvPr/>
        </p:nvSpPr>
        <p:spPr>
          <a:xfrm>
            <a:off x="2590800" y="277813"/>
            <a:ext cx="3962400" cy="366712"/>
          </a:xfrm>
          <a:prstGeom prst="rect">
            <a:avLst/>
          </a:prstGeom>
          <a:noFill/>
        </p:spPr>
        <p:txBody>
          <a:bodyPr>
            <a:spAutoFit/>
          </a:bodyPr>
          <a:lstStyle/>
          <a:p>
            <a:pPr algn="ctr" fontAlgn="auto">
              <a:spcBef>
                <a:spcPts val="0"/>
              </a:spcBef>
              <a:spcAft>
                <a:spcPts val="0"/>
              </a:spcAft>
              <a:defRPr/>
            </a:pPr>
            <a:r>
              <a:rPr lang="en-US" sz="1200" dirty="0">
                <a:solidFill>
                  <a:srgbClr val="898989"/>
                </a:solidFill>
                <a:latin typeface="+mn-lt"/>
                <a:ea typeface="+mn-ea"/>
              </a:rPr>
              <a:t>Proprietary &amp; Confidential; Not For Distribution</a:t>
            </a:r>
          </a:p>
        </p:txBody>
      </p:sp>
      <p:pic>
        <p:nvPicPr>
          <p:cNvPr id="7" name="Picture 9" descr="cello_logo.eps"/>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58788" y="49213"/>
            <a:ext cx="455612"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p:cNvCxnSpPr/>
          <p:nvPr/>
        </p:nvCxnSpPr>
        <p:spPr>
          <a:xfrm>
            <a:off x="457200" y="1446213"/>
            <a:ext cx="8229600"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10"/>
          <p:cNvCxnSpPr/>
          <p:nvPr userDrawn="1"/>
        </p:nvCxnSpPr>
        <p:spPr>
          <a:xfrm>
            <a:off x="457200" y="1446213"/>
            <a:ext cx="82296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lgn="l">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457200" y="3846576"/>
            <a:ext cx="8229600" cy="2249424"/>
          </a:xfrm>
        </p:spPr>
        <p:txBody>
          <a:bodyPr/>
          <a:lstStyle>
            <a:lvl1pPr>
              <a:defRPr sz="1600"/>
            </a:lvl1pPr>
            <a:lvl2pPr>
              <a:defRPr sz="1200"/>
            </a:lvl2pPr>
            <a:lvl3pPr>
              <a:defRPr sz="1000"/>
            </a:lvl3pPr>
            <a:lvl4pPr>
              <a:defRPr sz="800"/>
            </a:lvl4pPr>
            <a:lvl5pPr>
              <a:defRPr sz="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Text Placeholder 7"/>
          <p:cNvSpPr>
            <a:spLocks noGrp="1"/>
          </p:cNvSpPr>
          <p:nvPr>
            <p:ph type="body" sz="quarter" idx="13"/>
          </p:nvPr>
        </p:nvSpPr>
        <p:spPr>
          <a:xfrm>
            <a:off x="457200" y="6096000"/>
            <a:ext cx="8229600" cy="228600"/>
          </a:xfrm>
        </p:spPr>
        <p:txBody>
          <a:bodyPr anchor="b">
            <a:noAutofit/>
          </a:bodyPr>
          <a:lstStyle>
            <a:lvl1pPr algn="l">
              <a:buFontTx/>
              <a:buNone/>
              <a:defRPr sz="600"/>
            </a:lvl1pPr>
          </a:lstStyle>
          <a:p>
            <a:pPr lvl="0"/>
            <a:r>
              <a:rPr lang="en-US" smtClean="0"/>
              <a:t>Click to edit Master text styles</a:t>
            </a:r>
          </a:p>
        </p:txBody>
      </p:sp>
      <p:sp>
        <p:nvSpPr>
          <p:cNvPr id="12" name="Content Placeholder 2"/>
          <p:cNvSpPr>
            <a:spLocks noGrp="1"/>
          </p:cNvSpPr>
          <p:nvPr>
            <p:ph sz="half" idx="15"/>
          </p:nvPr>
        </p:nvSpPr>
        <p:spPr>
          <a:xfrm>
            <a:off x="457200" y="1600200"/>
            <a:ext cx="8229600" cy="2249424"/>
          </a:xfrm>
        </p:spPr>
        <p:txBody>
          <a:bodyPr/>
          <a:lstStyle>
            <a:lvl1pPr>
              <a:defRPr sz="1600"/>
            </a:lvl1pPr>
            <a:lvl2pPr>
              <a:defRPr sz="1200"/>
            </a:lvl2pPr>
            <a:lvl3pPr>
              <a:defRPr sz="1000"/>
            </a:lvl3pPr>
            <a:lvl4pPr>
              <a:defRPr sz="800"/>
            </a:lvl4pPr>
            <a:lvl5pPr>
              <a:defRPr sz="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Date Placeholder 4"/>
          <p:cNvSpPr>
            <a:spLocks noGrp="1"/>
          </p:cNvSpPr>
          <p:nvPr>
            <p:ph type="dt" sz="half" idx="16"/>
          </p:nvPr>
        </p:nvSpPr>
        <p:spPr/>
        <p:txBody>
          <a:bodyPr/>
          <a:lstStyle>
            <a:lvl1pPr>
              <a:defRPr/>
            </a:lvl1pPr>
          </a:lstStyle>
          <a:p>
            <a:fld id="{E0354703-2636-DF43-8A44-A27F92CF7E2A}" type="datetime8">
              <a:rPr lang="en-US"/>
              <a:pPr/>
              <a:t>12/10/2015 5:04 PM</a:t>
            </a:fld>
            <a:endParaRPr lang="en-US"/>
          </a:p>
        </p:txBody>
      </p:sp>
      <p:sp>
        <p:nvSpPr>
          <p:cNvPr id="13" name="Footer Placeholder 5"/>
          <p:cNvSpPr>
            <a:spLocks noGrp="1"/>
          </p:cNvSpPr>
          <p:nvPr>
            <p:ph type="ftr" sz="quarter" idx="17"/>
          </p:nvPr>
        </p:nvSpPr>
        <p:spPr/>
        <p:txBody>
          <a:bodyPr/>
          <a:lstStyle>
            <a:lvl1pPr>
              <a:defRPr/>
            </a:lvl1pPr>
          </a:lstStyle>
          <a:p>
            <a:r>
              <a:rPr lang="en-US"/>
              <a:t>©2010 Cello Capital Management, LLC</a:t>
            </a:r>
          </a:p>
        </p:txBody>
      </p:sp>
      <p:sp>
        <p:nvSpPr>
          <p:cNvPr id="14" name="Slide Number Placeholder 6"/>
          <p:cNvSpPr>
            <a:spLocks noGrp="1"/>
          </p:cNvSpPr>
          <p:nvPr>
            <p:ph type="sldNum" sz="quarter" idx="18"/>
          </p:nvPr>
        </p:nvSpPr>
        <p:spPr/>
        <p:txBody>
          <a:bodyPr/>
          <a:lstStyle>
            <a:lvl1pPr>
              <a:defRPr/>
            </a:lvl1pPr>
          </a:lstStyle>
          <a:p>
            <a:fld id="{81BBEC13-A6DA-184E-888D-9CA3E711C2F0}" type="slidenum">
              <a:rPr lang="en-US"/>
              <a:pPr/>
              <a:t>‹#›</a:t>
            </a:fld>
            <a:endParaRPr lang="en-US"/>
          </a:p>
        </p:txBody>
      </p:sp>
    </p:spTree>
    <p:extLst>
      <p:ext uri="{BB962C8B-B14F-4D97-AF65-F5344CB8AC3E}">
        <p14:creationId xmlns:p14="http://schemas.microsoft.com/office/powerpoint/2010/main" val="2612598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our Content with Source">
    <p:spTree>
      <p:nvGrpSpPr>
        <p:cNvPr id="1" name=""/>
        <p:cNvGrpSpPr/>
        <p:nvPr/>
      </p:nvGrpSpPr>
      <p:grpSpPr>
        <a:xfrm>
          <a:off x="0" y="0"/>
          <a:ext cx="0" cy="0"/>
          <a:chOff x="0" y="0"/>
          <a:chExt cx="0" cy="0"/>
        </a:xfrm>
      </p:grpSpPr>
      <p:sp>
        <p:nvSpPr>
          <p:cNvPr id="8" name="TextBox 7"/>
          <p:cNvSpPr txBox="1"/>
          <p:nvPr/>
        </p:nvSpPr>
        <p:spPr>
          <a:xfrm>
            <a:off x="2590800" y="277813"/>
            <a:ext cx="3962400" cy="366712"/>
          </a:xfrm>
          <a:prstGeom prst="rect">
            <a:avLst/>
          </a:prstGeom>
          <a:noFill/>
        </p:spPr>
        <p:txBody>
          <a:bodyPr>
            <a:spAutoFit/>
          </a:bodyPr>
          <a:lstStyle/>
          <a:p>
            <a:pPr algn="ctr" fontAlgn="auto">
              <a:spcBef>
                <a:spcPts val="0"/>
              </a:spcBef>
              <a:spcAft>
                <a:spcPts val="0"/>
              </a:spcAft>
              <a:defRPr/>
            </a:pPr>
            <a:r>
              <a:rPr lang="en-US" sz="1200" dirty="0">
                <a:solidFill>
                  <a:srgbClr val="898989"/>
                </a:solidFill>
                <a:latin typeface="+mn-lt"/>
                <a:ea typeface="+mn-ea"/>
              </a:rPr>
              <a:t>Proprietary &amp; Confidential; Not For Distribution</a:t>
            </a:r>
          </a:p>
        </p:txBody>
      </p:sp>
      <p:pic>
        <p:nvPicPr>
          <p:cNvPr id="9" name="Picture 9" descr="cello_logo.eps"/>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58788" y="49213"/>
            <a:ext cx="455612"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Connector 7"/>
          <p:cNvCxnSpPr/>
          <p:nvPr/>
        </p:nvCxnSpPr>
        <p:spPr>
          <a:xfrm>
            <a:off x="457200" y="1446213"/>
            <a:ext cx="8229600"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3"/>
          <p:cNvCxnSpPr/>
          <p:nvPr userDrawn="1"/>
        </p:nvCxnSpPr>
        <p:spPr>
          <a:xfrm>
            <a:off x="457200" y="1446213"/>
            <a:ext cx="82296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lgn="l">
              <a:defRPr baseline="0"/>
            </a:lvl1pPr>
          </a:lstStyle>
          <a:p>
            <a:r>
              <a:rPr lang="en-US" smtClean="0"/>
              <a:t>Click to edit Master title style</a:t>
            </a:r>
            <a:endParaRPr lang="en-US" dirty="0"/>
          </a:p>
        </p:txBody>
      </p:sp>
      <p:sp>
        <p:nvSpPr>
          <p:cNvPr id="3" name="Content Placeholder 2"/>
          <p:cNvSpPr>
            <a:spLocks noGrp="1"/>
          </p:cNvSpPr>
          <p:nvPr>
            <p:ph sz="half" idx="1"/>
          </p:nvPr>
        </p:nvSpPr>
        <p:spPr>
          <a:xfrm>
            <a:off x="457200" y="1600201"/>
            <a:ext cx="4038600" cy="2249424"/>
          </a:xfrm>
        </p:spPr>
        <p:txBody>
          <a:bodyPr/>
          <a:lstStyle>
            <a:lvl1pPr>
              <a:defRPr sz="1600"/>
            </a:lvl1pPr>
            <a:lvl2pPr>
              <a:defRPr sz="1200"/>
            </a:lvl2pPr>
            <a:lvl3pPr>
              <a:defRPr sz="1000"/>
            </a:lvl3pPr>
            <a:lvl4pPr>
              <a:defRPr sz="800"/>
            </a:lvl4pPr>
            <a:lvl5pPr>
              <a:defRPr sz="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Text Placeholder 7"/>
          <p:cNvSpPr>
            <a:spLocks noGrp="1"/>
          </p:cNvSpPr>
          <p:nvPr>
            <p:ph type="body" sz="quarter" idx="13"/>
          </p:nvPr>
        </p:nvSpPr>
        <p:spPr>
          <a:xfrm>
            <a:off x="457200" y="6096000"/>
            <a:ext cx="8229600" cy="228600"/>
          </a:xfrm>
        </p:spPr>
        <p:txBody>
          <a:bodyPr anchor="b">
            <a:noAutofit/>
          </a:bodyPr>
          <a:lstStyle>
            <a:lvl1pPr algn="l">
              <a:buFontTx/>
              <a:buNone/>
              <a:defRPr sz="600"/>
            </a:lvl1pPr>
          </a:lstStyle>
          <a:p>
            <a:pPr lvl="0"/>
            <a:r>
              <a:rPr lang="en-US" smtClean="0"/>
              <a:t>Click to edit Master text styles</a:t>
            </a:r>
          </a:p>
        </p:txBody>
      </p:sp>
      <p:sp>
        <p:nvSpPr>
          <p:cNvPr id="12" name="Content Placeholder 2"/>
          <p:cNvSpPr>
            <a:spLocks noGrp="1"/>
          </p:cNvSpPr>
          <p:nvPr>
            <p:ph sz="half" idx="15"/>
          </p:nvPr>
        </p:nvSpPr>
        <p:spPr>
          <a:xfrm>
            <a:off x="4648200" y="1600200"/>
            <a:ext cx="4038600" cy="2249424"/>
          </a:xfrm>
        </p:spPr>
        <p:txBody>
          <a:bodyPr/>
          <a:lstStyle>
            <a:lvl1pPr>
              <a:defRPr sz="1600"/>
            </a:lvl1pPr>
            <a:lvl2pPr>
              <a:defRPr sz="1200"/>
            </a:lvl2pPr>
            <a:lvl3pPr>
              <a:defRPr sz="1000"/>
            </a:lvl3pPr>
            <a:lvl4pPr>
              <a:defRPr sz="800"/>
            </a:lvl4pPr>
            <a:lvl5pPr>
              <a:defRPr sz="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2"/>
          <p:cNvSpPr>
            <a:spLocks noGrp="1"/>
          </p:cNvSpPr>
          <p:nvPr>
            <p:ph sz="half" idx="16"/>
          </p:nvPr>
        </p:nvSpPr>
        <p:spPr>
          <a:xfrm>
            <a:off x="4648200" y="3846576"/>
            <a:ext cx="4038600" cy="2249424"/>
          </a:xfrm>
        </p:spPr>
        <p:txBody>
          <a:bodyPr/>
          <a:lstStyle>
            <a:lvl1pPr>
              <a:defRPr sz="1600"/>
            </a:lvl1pPr>
            <a:lvl2pPr>
              <a:defRPr sz="1200"/>
            </a:lvl2pPr>
            <a:lvl3pPr>
              <a:defRPr sz="1000"/>
            </a:lvl3pPr>
            <a:lvl4pPr>
              <a:defRPr sz="800"/>
            </a:lvl4pPr>
            <a:lvl5pPr>
              <a:defRPr sz="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2"/>
          <p:cNvSpPr>
            <a:spLocks noGrp="1"/>
          </p:cNvSpPr>
          <p:nvPr>
            <p:ph sz="half" idx="17"/>
          </p:nvPr>
        </p:nvSpPr>
        <p:spPr>
          <a:xfrm>
            <a:off x="457200" y="3846576"/>
            <a:ext cx="4038600" cy="2249424"/>
          </a:xfrm>
        </p:spPr>
        <p:txBody>
          <a:bodyPr/>
          <a:lstStyle>
            <a:lvl1pPr>
              <a:defRPr sz="1600"/>
            </a:lvl1pPr>
            <a:lvl2pPr>
              <a:defRPr sz="1200"/>
            </a:lvl2pPr>
            <a:lvl3pPr>
              <a:defRPr sz="1000"/>
            </a:lvl3pPr>
            <a:lvl4pPr>
              <a:defRPr sz="800"/>
            </a:lvl4pPr>
            <a:lvl5pPr>
              <a:defRPr sz="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6" name="Date Placeholder 4"/>
          <p:cNvSpPr>
            <a:spLocks noGrp="1"/>
          </p:cNvSpPr>
          <p:nvPr>
            <p:ph type="dt" sz="half" idx="18"/>
          </p:nvPr>
        </p:nvSpPr>
        <p:spPr/>
        <p:txBody>
          <a:bodyPr/>
          <a:lstStyle>
            <a:lvl1pPr>
              <a:defRPr/>
            </a:lvl1pPr>
          </a:lstStyle>
          <a:p>
            <a:fld id="{2F85620E-56FB-DC4B-B9B8-B22A06C9CBB1}" type="datetime8">
              <a:rPr lang="en-US"/>
              <a:pPr/>
              <a:t>12/10/2015 5:04 PM</a:t>
            </a:fld>
            <a:endParaRPr lang="en-US"/>
          </a:p>
        </p:txBody>
      </p:sp>
      <p:sp>
        <p:nvSpPr>
          <p:cNvPr id="17" name="Footer Placeholder 5"/>
          <p:cNvSpPr>
            <a:spLocks noGrp="1"/>
          </p:cNvSpPr>
          <p:nvPr>
            <p:ph type="ftr" sz="quarter" idx="19"/>
          </p:nvPr>
        </p:nvSpPr>
        <p:spPr/>
        <p:txBody>
          <a:bodyPr/>
          <a:lstStyle>
            <a:lvl1pPr>
              <a:defRPr/>
            </a:lvl1pPr>
          </a:lstStyle>
          <a:p>
            <a:r>
              <a:rPr lang="en-US"/>
              <a:t>©2010 Cello Capital Management, LLC</a:t>
            </a:r>
          </a:p>
        </p:txBody>
      </p:sp>
      <p:sp>
        <p:nvSpPr>
          <p:cNvPr id="18" name="Slide Number Placeholder 6"/>
          <p:cNvSpPr>
            <a:spLocks noGrp="1"/>
          </p:cNvSpPr>
          <p:nvPr>
            <p:ph type="sldNum" sz="quarter" idx="20"/>
          </p:nvPr>
        </p:nvSpPr>
        <p:spPr/>
        <p:txBody>
          <a:bodyPr/>
          <a:lstStyle>
            <a:lvl1pPr>
              <a:defRPr/>
            </a:lvl1pPr>
          </a:lstStyle>
          <a:p>
            <a:fld id="{C7313194-1698-3344-90BE-624933AA189E}" type="slidenum">
              <a:rPr lang="en-US"/>
              <a:pPr/>
              <a:t>‹#›</a:t>
            </a:fld>
            <a:endParaRPr lang="en-US"/>
          </a:p>
        </p:txBody>
      </p:sp>
    </p:spTree>
    <p:extLst>
      <p:ext uri="{BB962C8B-B14F-4D97-AF65-F5344CB8AC3E}">
        <p14:creationId xmlns:p14="http://schemas.microsoft.com/office/powerpoint/2010/main" val="384092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9334" name="Title Placeholder 1"/>
          <p:cNvSpPr>
            <a:spLocks noGrp="1"/>
          </p:cNvSpPr>
          <p:nvPr>
            <p:ph type="title"/>
          </p:nvPr>
        </p:nvSpPr>
        <p:spPr bwMode="auto">
          <a:xfrm>
            <a:off x="457200" y="644525"/>
            <a:ext cx="8229600"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9933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4"/>
          <p:cNvSpPr>
            <a:spLocks noGrp="1"/>
          </p:cNvSpPr>
          <p:nvPr>
            <p:ph type="dt" sz="half" idx="2"/>
          </p:nvPr>
        </p:nvSpPr>
        <p:spPr>
          <a:xfrm>
            <a:off x="457200" y="6356350"/>
            <a:ext cx="22860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sto MT" charset="0"/>
              </a:defRPr>
            </a:lvl1pPr>
          </a:lstStyle>
          <a:p>
            <a:fld id="{755E0405-D578-6041-8B08-B141DA8611E0}" type="datetime8">
              <a:rPr lang="en-US"/>
              <a:pPr/>
              <a:t>12/10/2015 5:04 PM</a:t>
            </a:fld>
            <a:endParaRPr lang="en-US"/>
          </a:p>
        </p:txBody>
      </p:sp>
      <p:sp>
        <p:nvSpPr>
          <p:cNvPr id="14" name="Footer Placeholder 5"/>
          <p:cNvSpPr>
            <a:spLocks noGrp="1"/>
          </p:cNvSpPr>
          <p:nvPr>
            <p:ph type="ftr" sz="quarter" idx="3"/>
          </p:nvPr>
        </p:nvSpPr>
        <p:spPr>
          <a:xfrm>
            <a:off x="2971800" y="6356350"/>
            <a:ext cx="32004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sto MT" charset="0"/>
              </a:defRPr>
            </a:lvl1pPr>
          </a:lstStyle>
          <a:p>
            <a:r>
              <a:rPr lang="en-US"/>
              <a:t>©2010 Cello Capital Management, LLC</a:t>
            </a:r>
          </a:p>
        </p:txBody>
      </p:sp>
      <p:sp>
        <p:nvSpPr>
          <p:cNvPr id="15" name="Slide Number Placeholder 6"/>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sto MT" charset="0"/>
              </a:defRPr>
            </a:lvl1pPr>
          </a:lstStyle>
          <a:p>
            <a:fld id="{1FBFA35C-B338-5C4B-BBBE-A74653C0AE76}"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Lst>
  <p:hf hdr="0" dt="0"/>
  <p:txStyles>
    <p:titleStyle>
      <a:lvl1pPr algn="ctr" rtl="0" fontAlgn="base">
        <a:spcBef>
          <a:spcPct val="0"/>
        </a:spcBef>
        <a:spcAft>
          <a:spcPct val="0"/>
        </a:spcAft>
        <a:defRPr sz="2200" kern="1200">
          <a:solidFill>
            <a:schemeClr val="tx1"/>
          </a:solidFill>
          <a:latin typeface="+mj-lt"/>
          <a:ea typeface="+mj-ea"/>
          <a:cs typeface="+mj-cs"/>
        </a:defRPr>
      </a:lvl1pPr>
      <a:lvl2pPr algn="ctr" rtl="0" fontAlgn="base">
        <a:spcBef>
          <a:spcPct val="0"/>
        </a:spcBef>
        <a:spcAft>
          <a:spcPct val="0"/>
        </a:spcAft>
        <a:defRPr sz="2200">
          <a:solidFill>
            <a:schemeClr val="tx1"/>
          </a:solidFill>
          <a:latin typeface="Calisto MT" charset="0"/>
          <a:ea typeface="ＭＳ Ｐゴシック" charset="0"/>
        </a:defRPr>
      </a:lvl2pPr>
      <a:lvl3pPr algn="ctr" rtl="0" fontAlgn="base">
        <a:spcBef>
          <a:spcPct val="0"/>
        </a:spcBef>
        <a:spcAft>
          <a:spcPct val="0"/>
        </a:spcAft>
        <a:defRPr sz="2200">
          <a:solidFill>
            <a:schemeClr val="tx1"/>
          </a:solidFill>
          <a:latin typeface="Calisto MT" charset="0"/>
          <a:ea typeface="ＭＳ Ｐゴシック" charset="0"/>
        </a:defRPr>
      </a:lvl3pPr>
      <a:lvl4pPr algn="ctr" rtl="0" fontAlgn="base">
        <a:spcBef>
          <a:spcPct val="0"/>
        </a:spcBef>
        <a:spcAft>
          <a:spcPct val="0"/>
        </a:spcAft>
        <a:defRPr sz="2200">
          <a:solidFill>
            <a:schemeClr val="tx1"/>
          </a:solidFill>
          <a:latin typeface="Calisto MT" charset="0"/>
          <a:ea typeface="ＭＳ Ｐゴシック" charset="0"/>
        </a:defRPr>
      </a:lvl4pPr>
      <a:lvl5pPr algn="ctr" rtl="0" fontAlgn="base">
        <a:spcBef>
          <a:spcPct val="0"/>
        </a:spcBef>
        <a:spcAft>
          <a:spcPct val="0"/>
        </a:spcAft>
        <a:defRPr sz="2200">
          <a:solidFill>
            <a:schemeClr val="tx1"/>
          </a:solidFill>
          <a:latin typeface="Calisto MT" charset="0"/>
          <a:ea typeface="ＭＳ Ｐゴシック" charset="0"/>
        </a:defRPr>
      </a:lvl5pPr>
      <a:lvl6pPr marL="457200" algn="ctr" rtl="0" fontAlgn="base">
        <a:spcBef>
          <a:spcPct val="0"/>
        </a:spcBef>
        <a:spcAft>
          <a:spcPct val="0"/>
        </a:spcAft>
        <a:defRPr sz="2200">
          <a:solidFill>
            <a:schemeClr val="tx1"/>
          </a:solidFill>
          <a:latin typeface="Calisto MT" charset="0"/>
          <a:ea typeface="ＭＳ Ｐゴシック" charset="0"/>
        </a:defRPr>
      </a:lvl6pPr>
      <a:lvl7pPr marL="914400" algn="ctr" rtl="0" fontAlgn="base">
        <a:spcBef>
          <a:spcPct val="0"/>
        </a:spcBef>
        <a:spcAft>
          <a:spcPct val="0"/>
        </a:spcAft>
        <a:defRPr sz="2200">
          <a:solidFill>
            <a:schemeClr val="tx1"/>
          </a:solidFill>
          <a:latin typeface="Calisto MT" charset="0"/>
          <a:ea typeface="ＭＳ Ｐゴシック" charset="0"/>
        </a:defRPr>
      </a:lvl7pPr>
      <a:lvl8pPr marL="1371600" algn="ctr" rtl="0" fontAlgn="base">
        <a:spcBef>
          <a:spcPct val="0"/>
        </a:spcBef>
        <a:spcAft>
          <a:spcPct val="0"/>
        </a:spcAft>
        <a:defRPr sz="2200">
          <a:solidFill>
            <a:schemeClr val="tx1"/>
          </a:solidFill>
          <a:latin typeface="Calisto MT" charset="0"/>
          <a:ea typeface="ＭＳ Ｐゴシック" charset="0"/>
        </a:defRPr>
      </a:lvl8pPr>
      <a:lvl9pPr marL="1828800" algn="ctr" rtl="0" fontAlgn="base">
        <a:spcBef>
          <a:spcPct val="0"/>
        </a:spcBef>
        <a:spcAft>
          <a:spcPct val="0"/>
        </a:spcAft>
        <a:defRPr sz="2200">
          <a:solidFill>
            <a:schemeClr val="tx1"/>
          </a:solidFill>
          <a:latin typeface="Calisto MT" charset="0"/>
          <a:ea typeface="ＭＳ Ｐゴシック" charset="0"/>
        </a:defRPr>
      </a:lvl9pPr>
    </p:titleStyle>
    <p:bodyStyle>
      <a:lvl1pPr marL="342900" indent="-342900" algn="l" rtl="0" fontAlgn="base">
        <a:lnSpc>
          <a:spcPct val="150000"/>
        </a:lnSpc>
        <a:spcBef>
          <a:spcPct val="0"/>
        </a:spcBef>
        <a:spcAft>
          <a:spcPct val="0"/>
        </a:spcAft>
        <a:buFont typeface="Arial" charset="0"/>
        <a:buChar char="•"/>
        <a:defRPr sz="1200" kern="1200">
          <a:solidFill>
            <a:schemeClr val="tx1"/>
          </a:solidFill>
          <a:latin typeface="+mn-lt"/>
          <a:ea typeface="+mn-ea"/>
          <a:cs typeface="+mn-cs"/>
        </a:defRPr>
      </a:lvl1pPr>
      <a:lvl2pPr marL="742950" indent="-285750" algn="l" rtl="0" fontAlgn="base">
        <a:lnSpc>
          <a:spcPct val="150000"/>
        </a:lnSpc>
        <a:spcBef>
          <a:spcPct val="0"/>
        </a:spcBef>
        <a:spcAft>
          <a:spcPct val="0"/>
        </a:spcAft>
        <a:buFont typeface="Arial" charset="0"/>
        <a:buChar char="–"/>
        <a:defRPr sz="1000" kern="1200">
          <a:solidFill>
            <a:schemeClr val="tx1"/>
          </a:solidFill>
          <a:latin typeface="+mn-lt"/>
          <a:ea typeface="+mn-ea"/>
          <a:cs typeface="+mn-cs"/>
        </a:defRPr>
      </a:lvl2pPr>
      <a:lvl3pPr marL="1143000" indent="-228600" algn="l" rtl="0" fontAlgn="base">
        <a:lnSpc>
          <a:spcPct val="150000"/>
        </a:lnSpc>
        <a:spcBef>
          <a:spcPct val="0"/>
        </a:spcBef>
        <a:spcAft>
          <a:spcPct val="0"/>
        </a:spcAft>
        <a:buFont typeface="Arial" charset="0"/>
        <a:buChar char="•"/>
        <a:defRPr sz="1000" kern="1200">
          <a:solidFill>
            <a:schemeClr val="tx1"/>
          </a:solidFill>
          <a:latin typeface="+mn-lt"/>
          <a:ea typeface="+mn-ea"/>
          <a:cs typeface="+mn-cs"/>
        </a:defRPr>
      </a:lvl3pPr>
      <a:lvl4pPr marL="1600200" indent="-228600" algn="l" rtl="0" fontAlgn="base">
        <a:lnSpc>
          <a:spcPct val="150000"/>
        </a:lnSpc>
        <a:spcBef>
          <a:spcPct val="0"/>
        </a:spcBef>
        <a:spcAft>
          <a:spcPct val="0"/>
        </a:spcAft>
        <a:buFont typeface="Arial" charset="0"/>
        <a:buChar char="–"/>
        <a:defRPr sz="1000" kern="1200">
          <a:solidFill>
            <a:schemeClr val="tx1"/>
          </a:solidFill>
          <a:latin typeface="+mn-lt"/>
          <a:ea typeface="+mn-ea"/>
          <a:cs typeface="+mn-cs"/>
        </a:defRPr>
      </a:lvl4pPr>
      <a:lvl5pPr marL="2057400" indent="-228600" algn="l" rtl="0" fontAlgn="base">
        <a:lnSpc>
          <a:spcPct val="150000"/>
        </a:lnSpc>
        <a:spcBef>
          <a:spcPct val="0"/>
        </a:spcBef>
        <a:spcAft>
          <a:spcPct val="0"/>
        </a:spcAft>
        <a:buFont typeface="Arial" charset="0"/>
        <a:buChar char="»"/>
        <a:defRPr sz="1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wmf"/><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21.png"/><Relationship Id="rId4" Type="http://schemas.openxmlformats.org/officeDocument/2006/relationships/oleObject" Target="../embeddings/oleObject1.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ubtitle 1"/>
          <p:cNvSpPr>
            <a:spLocks noGrp="1"/>
          </p:cNvSpPr>
          <p:nvPr>
            <p:ph type="subTitle" idx="1"/>
          </p:nvPr>
        </p:nvSpPr>
        <p:spPr>
          <a:xfrm>
            <a:off x="685800" y="3125788"/>
            <a:ext cx="5399088" cy="1016000"/>
          </a:xfrm>
        </p:spPr>
        <p:txBody>
          <a:bodyPr>
            <a:normAutofit fontScale="92500"/>
          </a:bodyPr>
          <a:lstStyle/>
          <a:p>
            <a:pPr>
              <a:buFont typeface="Wingdings" charset="0"/>
              <a:buNone/>
            </a:pPr>
            <a:r>
              <a:rPr lang="en-US" dirty="0">
                <a:latin typeface="Calisto MT" charset="0"/>
              </a:rPr>
              <a:t>A Primer on </a:t>
            </a:r>
            <a:r>
              <a:rPr lang="en-US" dirty="0" smtClean="0">
                <a:latin typeface="Calisto MT" charset="0"/>
              </a:rPr>
              <a:t>Mortgages and Mortgage-backed </a:t>
            </a:r>
            <a:r>
              <a:rPr lang="en-US" dirty="0">
                <a:latin typeface="Calisto MT" charset="0"/>
              </a:rPr>
              <a:t>Securities</a:t>
            </a:r>
          </a:p>
        </p:txBody>
      </p:sp>
      <p:sp>
        <p:nvSpPr>
          <p:cNvPr id="27650" name="Title 2"/>
          <p:cNvSpPr>
            <a:spLocks noGrp="1"/>
          </p:cNvSpPr>
          <p:nvPr>
            <p:ph type="ctrTitle" sz="quarter"/>
          </p:nvPr>
        </p:nvSpPr>
        <p:spPr>
          <a:xfrm>
            <a:off x="685800" y="1409700"/>
            <a:ext cx="7772400" cy="1143000"/>
          </a:xfrm>
        </p:spPr>
        <p:txBody>
          <a:bodyPr/>
          <a:lstStyle/>
          <a:p>
            <a:r>
              <a:rPr lang="en-US">
                <a:latin typeface="Calisto MT" charset="0"/>
              </a:rPr>
              <a:t>Cello Capital Management, LLC</a:t>
            </a:r>
          </a:p>
        </p:txBody>
      </p:sp>
      <p:sp>
        <p:nvSpPr>
          <p:cNvPr id="8" name="Slide Number Placeholder 7"/>
          <p:cNvSpPr>
            <a:spLocks noGrp="1"/>
          </p:cNvSpPr>
          <p:nvPr>
            <p:ph type="sldNum" sz="quarter" idx="16"/>
          </p:nvPr>
        </p:nvSpPr>
        <p:spPr/>
        <p:txBody>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fld id="{C99205C6-96A7-7E46-814F-EA8E9D3BB7B7}" type="slidenum">
              <a:rPr lang="en-US">
                <a:solidFill>
                  <a:srgbClr val="898989"/>
                </a:solidFill>
              </a:rPr>
              <a:pPr/>
              <a:t>1</a:t>
            </a:fld>
            <a:endParaRPr lang="en-US">
              <a:solidFill>
                <a:srgbClr val="898989"/>
              </a:solidFill>
            </a:endParaRPr>
          </a:p>
        </p:txBody>
      </p:sp>
      <p:sp>
        <p:nvSpPr>
          <p:cNvPr id="5" name="Footer Placeholder 4"/>
          <p:cNvSpPr>
            <a:spLocks noGrp="1"/>
          </p:cNvSpPr>
          <p:nvPr>
            <p:ph type="ftr" sz="quarter" idx="17"/>
          </p:nvPr>
        </p:nvSpPr>
        <p:spPr/>
        <p:txBody>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a:solidFill>
                  <a:srgbClr val="898989"/>
                </a:solidFill>
              </a:rPr>
              <a:t>©2010 Cello Capital Management, LLC</a:t>
            </a:r>
          </a:p>
        </p:txBody>
      </p:sp>
      <p:sp>
        <p:nvSpPr>
          <p:cNvPr id="27653" name="Text Placeholder 5"/>
          <p:cNvSpPr>
            <a:spLocks noGrp="1"/>
          </p:cNvSpPr>
          <p:nvPr>
            <p:ph type="body" sz="quarter" idx="13"/>
          </p:nvPr>
        </p:nvSpPr>
        <p:spPr>
          <a:xfrm>
            <a:off x="7064375" y="5440363"/>
            <a:ext cx="1581150" cy="411162"/>
          </a:xfrm>
        </p:spPr>
        <p:txBody>
          <a:bodyPr/>
          <a:lstStyle/>
          <a:p>
            <a:r>
              <a:rPr lang="en-US">
                <a:latin typeface="Calisto MT" charset="0"/>
              </a:rPr>
              <a:t>April 2010</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Title 1"/>
          <p:cNvSpPr>
            <a:spLocks noGrp="1"/>
          </p:cNvSpPr>
          <p:nvPr>
            <p:ph type="title" idx="4294967295"/>
          </p:nvPr>
        </p:nvSpPr>
        <p:spPr/>
        <p:txBody>
          <a:bodyPr/>
          <a:lstStyle/>
          <a:p>
            <a:pPr algn="l"/>
            <a:r>
              <a:rPr lang="en-US" dirty="0">
                <a:latin typeface="Calisto MT" charset="0"/>
              </a:rPr>
              <a:t>Table of Contents</a:t>
            </a:r>
          </a:p>
        </p:txBody>
      </p:sp>
      <p:sp>
        <p:nvSpPr>
          <p:cNvPr id="208899" name="Content Placeholder 2"/>
          <p:cNvSpPr>
            <a:spLocks noGrp="1"/>
          </p:cNvSpPr>
          <p:nvPr>
            <p:ph idx="4294967295"/>
          </p:nvPr>
        </p:nvSpPr>
        <p:spPr/>
        <p:txBody>
          <a:bodyPr/>
          <a:lstStyle/>
          <a:p>
            <a:pPr marL="406400" indent="-406400">
              <a:buFont typeface="Calibri" charset="0"/>
              <a:buAutoNum type="romanUcPeriod"/>
            </a:pPr>
            <a:r>
              <a:rPr lang="en-US" dirty="0">
                <a:latin typeface="Calisto MT" charset="0"/>
              </a:rPr>
              <a:t>The Importance of Housing</a:t>
            </a:r>
          </a:p>
          <a:p>
            <a:pPr marL="406400" indent="-406400">
              <a:buFont typeface="Calibri" charset="0"/>
              <a:buAutoNum type="romanUcPeriod"/>
            </a:pPr>
            <a:r>
              <a:rPr lang="en-US" dirty="0">
                <a:latin typeface="Calisto MT" charset="0"/>
              </a:rPr>
              <a:t>The Structure of Housing Finance Systems</a:t>
            </a:r>
          </a:p>
          <a:p>
            <a:pPr marL="406400" indent="-406400">
              <a:buFont typeface="Calibri" charset="0"/>
              <a:buAutoNum type="romanUcPeriod"/>
            </a:pPr>
            <a:r>
              <a:rPr lang="en-US" dirty="0">
                <a:latin typeface="Calisto MT" charset="0"/>
              </a:rPr>
              <a:t>An Introduction to Mortgages </a:t>
            </a:r>
          </a:p>
          <a:p>
            <a:pPr marL="406400" indent="-406400">
              <a:buFont typeface="Calibri" charset="0"/>
              <a:buAutoNum type="romanUcPeriod"/>
            </a:pPr>
            <a:r>
              <a:rPr lang="en-US" dirty="0">
                <a:latin typeface="Calisto MT" charset="0"/>
              </a:rPr>
              <a:t>The U.S. Mortgage Market	</a:t>
            </a:r>
          </a:p>
          <a:p>
            <a:pPr marL="406400" indent="-406400">
              <a:buFont typeface="Calibri" charset="0"/>
              <a:buAutoNum type="romanUcPeriod"/>
            </a:pPr>
            <a:r>
              <a:rPr lang="en-US" dirty="0">
                <a:latin typeface="Calisto MT" charset="0"/>
              </a:rPr>
              <a:t>An Introduction to Mortgage-backed Securities</a:t>
            </a:r>
          </a:p>
          <a:p>
            <a:pPr marL="406400" indent="-406400">
              <a:buFont typeface="Calibri" charset="0"/>
              <a:buAutoNum type="romanUcPeriod"/>
            </a:pPr>
            <a:r>
              <a:rPr lang="en-US" dirty="0">
                <a:latin typeface="Calisto MT" charset="0"/>
              </a:rPr>
              <a:t> The U.S. Mortgage-backed Securities Market</a:t>
            </a:r>
            <a:endParaRPr lang="en-US" sz="600" dirty="0">
              <a:latin typeface="Calisto MT" charset="0"/>
            </a:endParaRPr>
          </a:p>
          <a:p>
            <a:pPr marL="406400" indent="-406400">
              <a:buFont typeface="Calibri" charset="0"/>
              <a:buAutoNum type="romanUcPeriod"/>
            </a:pPr>
            <a:r>
              <a:rPr lang="en-US" dirty="0">
                <a:latin typeface="Calisto MT" charset="0"/>
              </a:rPr>
              <a:t> The Agencies: </a:t>
            </a:r>
            <a:r>
              <a:rPr lang="en-US" dirty="0" err="1">
                <a:latin typeface="Calisto MT" charset="0"/>
              </a:rPr>
              <a:t>Ginnie</a:t>
            </a:r>
            <a:r>
              <a:rPr lang="en-US" dirty="0">
                <a:latin typeface="Calisto MT" charset="0"/>
              </a:rPr>
              <a:t> Mae</a:t>
            </a:r>
            <a:endParaRPr lang="en-US" sz="600" dirty="0">
              <a:latin typeface="Calisto MT" charset="0"/>
            </a:endParaRPr>
          </a:p>
          <a:p>
            <a:pPr marL="406400" indent="-406400">
              <a:buFont typeface="Calibri" charset="0"/>
              <a:buAutoNum type="romanUcPeriod"/>
            </a:pPr>
            <a:r>
              <a:rPr lang="en-US" dirty="0">
                <a:latin typeface="Calisto MT" charset="0"/>
              </a:rPr>
              <a:t> The Agencies: Fannie Mae and Freddie Mac</a:t>
            </a:r>
            <a:endParaRPr lang="en-US" sz="600" dirty="0">
              <a:latin typeface="Calisto MT" charset="0"/>
            </a:endParaRPr>
          </a:p>
          <a:p>
            <a:pPr marL="406400" indent="-406400">
              <a:buFont typeface="Calibri" charset="0"/>
              <a:buAutoNum type="romanUcPeriod"/>
            </a:pPr>
            <a:r>
              <a:rPr lang="en-US" dirty="0">
                <a:latin typeface="Calisto MT" charset="0"/>
              </a:rPr>
              <a:t> Agency Pass-</a:t>
            </a:r>
            <a:r>
              <a:rPr lang="en-US" dirty="0" err="1">
                <a:latin typeface="Calisto MT" charset="0"/>
              </a:rPr>
              <a:t>throughs</a:t>
            </a:r>
            <a:endParaRPr lang="en-US" sz="600" dirty="0">
              <a:latin typeface="Calisto MT" charset="0"/>
            </a:endParaRPr>
          </a:p>
          <a:p>
            <a:pPr marL="406400" indent="-406400">
              <a:buFont typeface="Calibri" charset="0"/>
              <a:buAutoNum type="romanUcPeriod"/>
            </a:pPr>
            <a:r>
              <a:rPr lang="en-US" dirty="0">
                <a:latin typeface="Calisto MT" charset="0"/>
              </a:rPr>
              <a:t> Agency CMOs</a:t>
            </a:r>
            <a:endParaRPr lang="en-US" sz="600" dirty="0">
              <a:latin typeface="Calisto MT" charset="0"/>
            </a:endParaRPr>
          </a:p>
          <a:p>
            <a:pPr marL="406400" indent="-406400">
              <a:buFont typeface="Calibri" charset="0"/>
              <a:buAutoNum type="romanUcPeriod"/>
            </a:pPr>
            <a:r>
              <a:rPr lang="en-US" dirty="0">
                <a:latin typeface="Calisto MT" charset="0"/>
              </a:rPr>
              <a:t> Prepayments</a:t>
            </a:r>
            <a:endParaRPr lang="en-US" sz="600" dirty="0">
              <a:latin typeface="Calisto MT" charset="0"/>
            </a:endParaRPr>
          </a:p>
          <a:p>
            <a:pPr marL="406400" indent="-406400">
              <a:buFont typeface="Calibri" charset="0"/>
              <a:buAutoNum type="romanUcPeriod"/>
            </a:pPr>
            <a:endParaRPr lang="en-US" sz="600" dirty="0">
              <a:latin typeface="Calisto MT" charset="0"/>
            </a:endParaRPr>
          </a:p>
          <a:p>
            <a:pPr marL="406400" indent="-406400">
              <a:buFont typeface="Calibri" charset="0"/>
              <a:buAutoNum type="romanUcPeriod"/>
            </a:pPr>
            <a:endParaRPr lang="en-US" sz="600" dirty="0">
              <a:latin typeface="Calisto MT" charset="0"/>
            </a:endParaRPr>
          </a:p>
          <a:p>
            <a:pPr marL="406400" indent="-406400">
              <a:buFont typeface="Calibri" charset="0"/>
              <a:buAutoNum type="romanUcPeriod"/>
            </a:pPr>
            <a:endParaRPr lang="en-US" sz="600" dirty="0">
              <a:latin typeface="Calisto MT" charset="0"/>
            </a:endParaRPr>
          </a:p>
          <a:p>
            <a:pPr marL="406400" indent="-406400">
              <a:buFont typeface="Calibri" charset="0"/>
              <a:buAutoNum type="romanUcPeriod"/>
            </a:pPr>
            <a:endParaRPr lang="en-US" sz="600" dirty="0">
              <a:latin typeface="Calisto MT" charset="0"/>
            </a:endParaRPr>
          </a:p>
          <a:p>
            <a:pPr marL="406400" indent="-406400">
              <a:buFont typeface="Calibri" charset="0"/>
              <a:buAutoNum type="romanUcPeriod"/>
            </a:pPr>
            <a:endParaRPr lang="en-US" sz="600" dirty="0">
              <a:latin typeface="Calisto MT" charset="0"/>
            </a:endParaRPr>
          </a:p>
          <a:p>
            <a:pPr marL="406400" indent="-406400">
              <a:buFont typeface="Calibri" charset="0"/>
              <a:buAutoNum type="romanUcPeriod"/>
            </a:pPr>
            <a:endParaRPr lang="en-US" sz="600" dirty="0">
              <a:latin typeface="Calisto MT" charset="0"/>
            </a:endParaRPr>
          </a:p>
          <a:p>
            <a:pPr marL="406400" indent="-406400">
              <a:buFont typeface="Calibri" charset="0"/>
              <a:buAutoNum type="romanUcPeriod"/>
            </a:pPr>
            <a:endParaRPr lang="en-US" sz="600" dirty="0">
              <a:latin typeface="Calisto MT" charset="0"/>
            </a:endParaRPr>
          </a:p>
          <a:p>
            <a:pPr marL="406400" indent="-406400">
              <a:buFont typeface="Calibri" charset="0"/>
              <a:buAutoNum type="romanUcPeriod"/>
            </a:pPr>
            <a:endParaRPr lang="en-US" sz="600" dirty="0">
              <a:latin typeface="Calisto MT" charset="0"/>
            </a:endParaRPr>
          </a:p>
          <a:p>
            <a:pPr marL="406400" indent="-406400">
              <a:buFont typeface="Calibri" charset="0"/>
              <a:buNone/>
            </a:pPr>
            <a:endParaRPr lang="en-US" sz="600" dirty="0">
              <a:latin typeface="Calisto MT" charset="0"/>
            </a:endParaRP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84830C0E-AD51-A34A-8F6A-CE97D43976F2}" type="slidenum">
              <a:rPr lang="en-US" sz="1200">
                <a:solidFill>
                  <a:srgbClr val="898989"/>
                </a:solidFill>
                <a:latin typeface="Verdana" charset="0"/>
              </a:rPr>
              <a:pPr algn="r"/>
              <a:t>2</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22313" y="4406900"/>
            <a:ext cx="7772400" cy="1362075"/>
          </a:xfrm>
        </p:spPr>
        <p:txBody>
          <a:bodyPr anchor="t">
            <a:normAutofit/>
          </a:bodyPr>
          <a:lstStyle/>
          <a:p>
            <a:pPr algn="l"/>
            <a:r>
              <a:rPr lang="en-US" sz="2400" b="1">
                <a:latin typeface="Calisto MT" charset="0"/>
              </a:rPr>
              <a:t>THE IMPORTANCE OF HOUSING</a:t>
            </a: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07C9F660-7B4A-1F44-96D9-0B67B6077E9B}" type="slidenum">
              <a:rPr lang="en-US" sz="1200">
                <a:solidFill>
                  <a:srgbClr val="898989"/>
                </a:solidFill>
              </a:rPr>
              <a:pPr algn="r"/>
              <a:t>3</a:t>
            </a:fld>
            <a:endParaRPr lang="en-US" sz="1200">
              <a:solidFill>
                <a:srgbClr val="898989"/>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itle 1"/>
          <p:cNvSpPr>
            <a:spLocks noGrp="1"/>
          </p:cNvSpPr>
          <p:nvPr>
            <p:ph type="title" idx="4294967295"/>
          </p:nvPr>
        </p:nvSpPr>
        <p:spPr/>
        <p:txBody>
          <a:bodyPr/>
          <a:lstStyle/>
          <a:p>
            <a:pPr algn="l"/>
            <a:r>
              <a:rPr lang="en-US">
                <a:latin typeface="Calisto MT" charset="0"/>
              </a:rPr>
              <a:t>The Central Role of Housing - I</a:t>
            </a:r>
          </a:p>
        </p:txBody>
      </p:sp>
      <p:sp>
        <p:nvSpPr>
          <p:cNvPr id="212995" name="Content Placeholder 2"/>
          <p:cNvSpPr>
            <a:spLocks noGrp="1"/>
          </p:cNvSpPr>
          <p:nvPr>
            <p:ph type="body" idx="4294967295"/>
          </p:nvPr>
        </p:nvSpPr>
        <p:spPr/>
        <p:txBody>
          <a:bodyPr/>
          <a:lstStyle/>
          <a:p>
            <a:r>
              <a:rPr lang="en-US">
                <a:latin typeface="Calisto MT" charset="0"/>
              </a:rPr>
              <a:t>The provision of affordable and adequate housing is a key policy objective for governments</a:t>
            </a:r>
          </a:p>
          <a:p>
            <a:pPr lvl="1"/>
            <a:r>
              <a:rPr lang="en-US">
                <a:latin typeface="Calisto MT" charset="0"/>
              </a:rPr>
              <a:t>The homeownership rate in the U.S. has averaged 68.4% over the last 5 years</a:t>
            </a:r>
          </a:p>
          <a:p>
            <a:r>
              <a:rPr lang="en-US">
                <a:latin typeface="Calisto MT" charset="0"/>
              </a:rPr>
              <a:t>Housing is the largest asset for most households</a:t>
            </a:r>
          </a:p>
          <a:p>
            <a:pPr lvl="1"/>
            <a:r>
              <a:rPr lang="en-US">
                <a:latin typeface="Calisto MT" charset="0"/>
              </a:rPr>
              <a:t>In 2007, the primary residence accounted for 32% of total family assets</a:t>
            </a:r>
          </a:p>
          <a:p>
            <a:r>
              <a:rPr lang="en-US">
                <a:latin typeface="Calisto MT" charset="0"/>
              </a:rPr>
              <a:t>Mortgages are the largest liability for most households</a:t>
            </a:r>
          </a:p>
          <a:p>
            <a:pPr lvl="1"/>
            <a:r>
              <a:rPr lang="en-US">
                <a:latin typeface="Calisto MT" charset="0"/>
              </a:rPr>
              <a:t>Debt secured by the primary residence comprises 75% of all household debt (as of 2007)</a:t>
            </a:r>
          </a:p>
          <a:p>
            <a:r>
              <a:rPr lang="en-US">
                <a:latin typeface="Calisto MT" charset="0"/>
              </a:rPr>
              <a:t>Housing-related economic activity (construction, renovation, services related to real estate transactions and financing) represents a significant share of GDP and employment</a:t>
            </a:r>
          </a:p>
          <a:p>
            <a:pPr lvl="1"/>
            <a:r>
              <a:rPr lang="en-US">
                <a:latin typeface="Calisto MT" charset="0"/>
              </a:rPr>
              <a:t>The Residential fixed investment share of GDP is 2.7% (as of Q1 2009)</a:t>
            </a:r>
          </a:p>
          <a:p>
            <a:pPr lvl="1"/>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EF6EF1DD-D988-3D46-91DF-9FD65A0063F7}" type="slidenum">
              <a:rPr lang="en-US" sz="1200">
                <a:solidFill>
                  <a:srgbClr val="898989"/>
                </a:solidFill>
                <a:latin typeface="Verdana" charset="0"/>
              </a:rPr>
              <a:pPr algn="r"/>
              <a:t>4</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Title 1"/>
          <p:cNvSpPr>
            <a:spLocks noGrp="1"/>
          </p:cNvSpPr>
          <p:nvPr>
            <p:ph type="title" idx="4294967295"/>
          </p:nvPr>
        </p:nvSpPr>
        <p:spPr/>
        <p:txBody>
          <a:bodyPr/>
          <a:lstStyle/>
          <a:p>
            <a:pPr algn="l"/>
            <a:r>
              <a:rPr lang="en-US">
                <a:latin typeface="Calisto MT" charset="0"/>
              </a:rPr>
              <a:t>The Central Role of Housing - II</a:t>
            </a:r>
          </a:p>
        </p:txBody>
      </p:sp>
      <p:sp>
        <p:nvSpPr>
          <p:cNvPr id="214019" name="Content Placeholder 2"/>
          <p:cNvSpPr>
            <a:spLocks noGrp="1"/>
          </p:cNvSpPr>
          <p:nvPr>
            <p:ph idx="4294967295"/>
          </p:nvPr>
        </p:nvSpPr>
        <p:spPr/>
        <p:txBody>
          <a:bodyPr/>
          <a:lstStyle/>
          <a:p>
            <a:r>
              <a:rPr lang="en-US">
                <a:latin typeface="Calisto MT" charset="0"/>
              </a:rPr>
              <a:t>Capital Markets: Securitization has introduced strong linkages between the housing market and the broader financial market</a:t>
            </a:r>
          </a:p>
          <a:p>
            <a:pPr lvl="1"/>
            <a:r>
              <a:rPr lang="en-US">
                <a:latin typeface="Calisto MT" charset="0"/>
              </a:rPr>
              <a:t>In the U.S., approximately 75% of all newly originated residential mortgages are securitized </a:t>
            </a:r>
          </a:p>
          <a:p>
            <a:r>
              <a:rPr lang="en-US">
                <a:latin typeface="Calisto MT" charset="0"/>
              </a:rPr>
              <a:t>Macroeconomic Stability: Key financial intermediaries have large and levered exposures to real estate and mortgages</a:t>
            </a:r>
          </a:p>
          <a:p>
            <a:pPr lvl="1"/>
            <a:r>
              <a:rPr lang="en-US">
                <a:latin typeface="Calisto MT" charset="0"/>
              </a:rPr>
              <a:t>Commercial banks have significant exposure to real estate/mortgage loans</a:t>
            </a:r>
          </a:p>
          <a:p>
            <a:r>
              <a:rPr lang="en-US">
                <a:latin typeface="Calisto MT" charset="0"/>
              </a:rPr>
              <a:t>Monetary Policy: The valuation of mortgages &amp; houses (which depend on interest rates and home prices among other factors) has profound consequences of the behavior of both institutions and individuals</a:t>
            </a:r>
          </a:p>
          <a:p>
            <a:pPr lvl="1"/>
            <a:r>
              <a:rPr lang="en-US">
                <a:latin typeface="Calisto MT" charset="0"/>
              </a:rPr>
              <a:t>Commercial banks typically tighten lending standards when house prices fall</a:t>
            </a:r>
          </a:p>
          <a:p>
            <a:pPr lvl="1"/>
            <a:r>
              <a:rPr lang="en-US">
                <a:latin typeface="Calisto MT" charset="0"/>
              </a:rPr>
              <a:t>Consumer spending shows a strong correlation with the direction of house prices </a:t>
            </a:r>
          </a:p>
          <a:p>
            <a:pPr lvl="1"/>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8E94ABED-EC7A-114E-BEE4-BFFF6CD1C364}" type="slidenum">
              <a:rPr lang="en-US" sz="1200">
                <a:solidFill>
                  <a:srgbClr val="898989"/>
                </a:solidFill>
                <a:latin typeface="Verdana" charset="0"/>
              </a:rPr>
              <a:pPr algn="r"/>
              <a:t>5</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itle 1"/>
          <p:cNvSpPr>
            <a:spLocks noGrp="1"/>
          </p:cNvSpPr>
          <p:nvPr>
            <p:ph type="title" idx="4294967295"/>
          </p:nvPr>
        </p:nvSpPr>
        <p:spPr/>
        <p:txBody>
          <a:bodyPr/>
          <a:lstStyle/>
          <a:p>
            <a:pPr algn="l"/>
            <a:r>
              <a:rPr lang="en-US">
                <a:latin typeface="Calisto MT" charset="0"/>
              </a:rPr>
              <a:t>Key Macro Questions in Housing</a:t>
            </a:r>
          </a:p>
        </p:txBody>
      </p:sp>
      <p:sp>
        <p:nvSpPr>
          <p:cNvPr id="215043" name="Content Placeholder 2"/>
          <p:cNvSpPr>
            <a:spLocks noGrp="1"/>
          </p:cNvSpPr>
          <p:nvPr>
            <p:ph idx="4294967295"/>
          </p:nvPr>
        </p:nvSpPr>
        <p:spPr/>
        <p:txBody>
          <a:bodyPr/>
          <a:lstStyle/>
          <a:p>
            <a:r>
              <a:rPr lang="en-US">
                <a:latin typeface="Calisto MT" charset="0"/>
              </a:rPr>
              <a:t>What are the determinants of house prices?</a:t>
            </a:r>
          </a:p>
          <a:p>
            <a:pPr lvl="1">
              <a:buFont typeface="Arial" charset="0"/>
              <a:buNone/>
            </a:pPr>
            <a:endParaRPr lang="en-US">
              <a:latin typeface="Calisto MT" charset="0"/>
            </a:endParaRPr>
          </a:p>
          <a:p>
            <a:r>
              <a:rPr lang="en-US">
                <a:latin typeface="Calisto MT" charset="0"/>
              </a:rPr>
              <a:t>What impact do house price changes have for the economy?</a:t>
            </a:r>
          </a:p>
          <a:p>
            <a:endParaRPr lang="en-US">
              <a:latin typeface="Calisto MT" charset="0"/>
            </a:endParaRPr>
          </a:p>
          <a:p>
            <a:r>
              <a:rPr lang="en-US">
                <a:latin typeface="Calisto MT" charset="0"/>
              </a:rPr>
              <a:t>What role does housing play in recessions and recoveries (</a:t>
            </a:r>
            <a:r>
              <a:rPr lang="ja-JP" altLang="en-US">
                <a:latin typeface="Calisto MT" charset="0"/>
              </a:rPr>
              <a:t>“</a:t>
            </a:r>
            <a:r>
              <a:rPr lang="en-US">
                <a:latin typeface="Calisto MT" charset="0"/>
              </a:rPr>
              <a:t>business cycle</a:t>
            </a:r>
            <a:r>
              <a:rPr lang="ja-JP" altLang="en-US">
                <a:latin typeface="Calisto MT" charset="0"/>
              </a:rPr>
              <a:t>”</a:t>
            </a:r>
            <a:r>
              <a:rPr lang="en-US">
                <a:latin typeface="Calisto MT" charset="0"/>
              </a:rPr>
              <a:t> developments)?</a:t>
            </a:r>
          </a:p>
          <a:p>
            <a:endParaRPr lang="en-US">
              <a:latin typeface="Calisto MT" charset="0"/>
            </a:endParaRPr>
          </a:p>
          <a:p>
            <a:r>
              <a:rPr lang="en-US">
                <a:latin typeface="Calisto MT" charset="0"/>
              </a:rPr>
              <a:t>What role do house prices play in influencing consumer behavior?</a:t>
            </a:r>
          </a:p>
          <a:p>
            <a:pPr lvl="1"/>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68D8E131-4CCD-4146-8DDA-0859053485D3}" type="slidenum">
              <a:rPr lang="en-US" sz="1200">
                <a:solidFill>
                  <a:srgbClr val="898989"/>
                </a:solidFill>
                <a:latin typeface="Verdana" charset="0"/>
              </a:rPr>
              <a:pPr algn="r"/>
              <a:t>6</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22313" y="4406900"/>
            <a:ext cx="7772400" cy="1362075"/>
          </a:xfrm>
        </p:spPr>
        <p:txBody>
          <a:bodyPr anchor="t">
            <a:normAutofit/>
          </a:bodyPr>
          <a:lstStyle/>
          <a:p>
            <a:pPr algn="l"/>
            <a:r>
              <a:rPr lang="en-US" sz="2400" b="1">
                <a:latin typeface="Calisto MT" charset="0"/>
              </a:rPr>
              <a:t>THE STRUCTURE OF HOUSING FINANCE SYSTEMS</a:t>
            </a:r>
          </a:p>
        </p:txBody>
      </p:sp>
      <p:sp>
        <p:nvSpPr>
          <p:cNvPr id="11" name="Text Placeholder 10"/>
          <p:cNvSpPr>
            <a:spLocks noGrp="1"/>
          </p:cNvSpPr>
          <p:nvPr>
            <p:ph type="body" idx="4294967295"/>
          </p:nvPr>
        </p:nvSpPr>
        <p:spPr>
          <a:xfrm>
            <a:off x="722313" y="2906713"/>
            <a:ext cx="7772400" cy="1500187"/>
          </a:xfrm>
        </p:spPr>
        <p:txBody>
          <a:bodyPr anchor="b">
            <a:normAutofit/>
          </a:bodyPr>
          <a:lstStyle/>
          <a:p>
            <a:pPr marL="0" indent="0">
              <a:buFont typeface="Arial" charset="0"/>
              <a:buNone/>
            </a:pPr>
            <a:endParaRPr lang="en-US" sz="1300" b="1">
              <a:latin typeface="Calisto MT"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DBF38809-186C-2844-BB22-B3956E8D6818}" type="slidenum">
              <a:rPr lang="en-US" sz="1200">
                <a:solidFill>
                  <a:srgbClr val="898989"/>
                </a:solidFill>
              </a:rPr>
              <a:pPr algn="r"/>
              <a:t>7</a:t>
            </a:fld>
            <a:endParaRPr lang="en-US" sz="1200">
              <a:solidFill>
                <a:srgbClr val="898989"/>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Title 1"/>
          <p:cNvSpPr>
            <a:spLocks noGrp="1"/>
          </p:cNvSpPr>
          <p:nvPr>
            <p:ph type="title" idx="4294967295"/>
          </p:nvPr>
        </p:nvSpPr>
        <p:spPr/>
        <p:txBody>
          <a:bodyPr/>
          <a:lstStyle/>
          <a:p>
            <a:pPr algn="l"/>
            <a:r>
              <a:rPr lang="en-US">
                <a:latin typeface="Calisto MT" charset="0"/>
              </a:rPr>
              <a:t>Housing Finance Systems (HFS)</a:t>
            </a:r>
          </a:p>
        </p:txBody>
      </p:sp>
      <p:sp>
        <p:nvSpPr>
          <p:cNvPr id="226307" name="Content Placeholder 2"/>
          <p:cNvSpPr>
            <a:spLocks noGrp="1"/>
          </p:cNvSpPr>
          <p:nvPr>
            <p:ph idx="4294967295"/>
          </p:nvPr>
        </p:nvSpPr>
        <p:spPr/>
        <p:txBody>
          <a:bodyPr/>
          <a:lstStyle/>
          <a:p>
            <a:r>
              <a:rPr lang="en-US">
                <a:latin typeface="Calisto MT" charset="0"/>
              </a:rPr>
              <a:t>Housing Finance Systems are necessary because houses are expensive: The average house costs approximately 4x annual income in the U.S. </a:t>
            </a:r>
          </a:p>
          <a:p>
            <a:endParaRPr lang="en-US">
              <a:latin typeface="Calisto MT" charset="0"/>
            </a:endParaRPr>
          </a:p>
          <a:p>
            <a:r>
              <a:rPr lang="en-US">
                <a:latin typeface="Calisto MT" charset="0"/>
              </a:rPr>
              <a:t>Financing of housing occurs through mortgages.</a:t>
            </a:r>
          </a:p>
          <a:p>
            <a:endParaRPr lang="en-US">
              <a:latin typeface="Calisto MT" charset="0"/>
            </a:endParaRPr>
          </a:p>
          <a:p>
            <a:r>
              <a:rPr lang="en-US">
                <a:latin typeface="Calisto MT" charset="0"/>
              </a:rPr>
              <a:t>Housing Finance Systems deliver 3 basic housing-related services to the general population through financial intermediaries: lending, funding, and servicing of mortgages.</a:t>
            </a:r>
          </a:p>
          <a:p>
            <a:endParaRPr lang="en-US">
              <a:latin typeface="Calisto MT" charset="0"/>
            </a:endParaRPr>
          </a:p>
          <a:p>
            <a:r>
              <a:rPr lang="en-US">
                <a:latin typeface="Calisto MT" charset="0"/>
              </a:rPr>
              <a:t>The Government supports the Housing Finance System through tax laws and Federal Housing Policy</a:t>
            </a:r>
          </a:p>
          <a:p>
            <a:endParaRPr lang="en-US">
              <a:latin typeface="Calisto MT" charset="0"/>
            </a:endParaRPr>
          </a:p>
          <a:p>
            <a:endParaRPr lang="en-US">
              <a:latin typeface="Calisto MT" charset="0"/>
            </a:endParaRPr>
          </a:p>
          <a:p>
            <a:pPr lvl="1"/>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91F5020B-9DDB-B24D-B0C2-84260FB2E8B6}" type="slidenum">
              <a:rPr lang="en-US" sz="1200">
                <a:solidFill>
                  <a:srgbClr val="898989"/>
                </a:solidFill>
                <a:latin typeface="Verdana" charset="0"/>
              </a:rPr>
              <a:pPr algn="r"/>
              <a:t>8</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Title 1"/>
          <p:cNvSpPr>
            <a:spLocks noGrp="1"/>
          </p:cNvSpPr>
          <p:nvPr>
            <p:ph type="title" idx="4294967295"/>
          </p:nvPr>
        </p:nvSpPr>
        <p:spPr/>
        <p:txBody>
          <a:bodyPr/>
          <a:lstStyle/>
          <a:p>
            <a:pPr algn="l"/>
            <a:r>
              <a:rPr lang="en-US">
                <a:latin typeface="Calisto MT" charset="0"/>
              </a:rPr>
              <a:t>HFSs Need a Good Legal and Informational Infrastructure</a:t>
            </a:r>
          </a:p>
        </p:txBody>
      </p:sp>
      <p:sp>
        <p:nvSpPr>
          <p:cNvPr id="228355" name="Content Placeholder 2"/>
          <p:cNvSpPr>
            <a:spLocks noGrp="1"/>
          </p:cNvSpPr>
          <p:nvPr>
            <p:ph idx="4294967295"/>
          </p:nvPr>
        </p:nvSpPr>
        <p:spPr/>
        <p:txBody>
          <a:bodyPr/>
          <a:lstStyle/>
          <a:p>
            <a:r>
              <a:rPr lang="en-US">
                <a:latin typeface="Calisto MT" charset="0"/>
              </a:rPr>
              <a:t>The ability to appraise property</a:t>
            </a:r>
          </a:p>
          <a:p>
            <a:endParaRPr lang="en-US">
              <a:latin typeface="Calisto MT" charset="0"/>
            </a:endParaRPr>
          </a:p>
          <a:p>
            <a:r>
              <a:rPr lang="en-US">
                <a:latin typeface="Calisto MT" charset="0"/>
              </a:rPr>
              <a:t>Property registration systems</a:t>
            </a:r>
          </a:p>
          <a:p>
            <a:endParaRPr lang="en-US">
              <a:latin typeface="Calisto MT" charset="0"/>
            </a:endParaRPr>
          </a:p>
          <a:p>
            <a:r>
              <a:rPr lang="en-US">
                <a:latin typeface="Calisto MT" charset="0"/>
              </a:rPr>
              <a:t>Access to borrower credit information</a:t>
            </a:r>
          </a:p>
          <a:p>
            <a:endParaRPr lang="en-US">
              <a:latin typeface="Calisto MT" charset="0"/>
            </a:endParaRPr>
          </a:p>
          <a:p>
            <a:r>
              <a:rPr lang="en-US">
                <a:latin typeface="Calisto MT" charset="0"/>
              </a:rPr>
              <a:t>Effective Foreclosure laws</a:t>
            </a:r>
          </a:p>
          <a:p>
            <a:endParaRPr lang="en-US">
              <a:latin typeface="Calisto MT" charset="0"/>
            </a:endParaRPr>
          </a:p>
          <a:p>
            <a:endParaRPr lang="en-US">
              <a:latin typeface="Calisto MT" charset="0"/>
            </a:endParaRPr>
          </a:p>
          <a:p>
            <a:pPr lvl="1"/>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5A01A403-4066-5141-BADE-1EDA3126402E}" type="slidenum">
              <a:rPr lang="en-US" sz="1200">
                <a:solidFill>
                  <a:srgbClr val="898989"/>
                </a:solidFill>
                <a:latin typeface="Verdana" charset="0"/>
              </a:rPr>
              <a:pPr algn="r"/>
              <a:t>9</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Title 1"/>
          <p:cNvSpPr>
            <a:spLocks noGrp="1"/>
          </p:cNvSpPr>
          <p:nvPr>
            <p:ph type="title" idx="4294967295"/>
          </p:nvPr>
        </p:nvSpPr>
        <p:spPr/>
        <p:txBody>
          <a:bodyPr/>
          <a:lstStyle/>
          <a:p>
            <a:pPr algn="l"/>
            <a:r>
              <a:rPr lang="en-US">
                <a:latin typeface="Calisto MT" charset="0"/>
              </a:rPr>
              <a:t>Housing Finance Systems Around the World</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6F70F0D2-F987-1441-ACBC-2CDA58E2775D}" type="slidenum">
              <a:rPr lang="en-US" sz="1200">
                <a:solidFill>
                  <a:srgbClr val="898989"/>
                </a:solidFill>
                <a:latin typeface="Verdana" charset="0"/>
              </a:rPr>
              <a:pPr algn="r"/>
              <a:t>10</a:t>
            </a:fld>
            <a:endParaRPr lang="en-US" sz="1200">
              <a:solidFill>
                <a:srgbClr val="898989"/>
              </a:solidFill>
              <a:latin typeface="Verdana" charset="0"/>
            </a:endParaRPr>
          </a:p>
        </p:txBody>
      </p:sp>
      <p:pic>
        <p:nvPicPr>
          <p:cNvPr id="227335" name="Picture 7"/>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36688" y="1755775"/>
            <a:ext cx="6188075" cy="405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Title 1"/>
          <p:cNvSpPr>
            <a:spLocks noGrp="1"/>
          </p:cNvSpPr>
          <p:nvPr>
            <p:ph type="title" idx="4294967295"/>
          </p:nvPr>
        </p:nvSpPr>
        <p:spPr/>
        <p:txBody>
          <a:bodyPr/>
          <a:lstStyle/>
          <a:p>
            <a:pPr algn="l"/>
            <a:r>
              <a:rPr lang="en-US">
                <a:latin typeface="Calisto MT" charset="0"/>
              </a:rPr>
              <a:t>Historical Evolution of the U.S. Housing Finance System - I</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EEF5F725-3A0A-3F41-A47D-901455AFA38E}" type="slidenum">
              <a:rPr lang="en-US" sz="1200">
                <a:solidFill>
                  <a:srgbClr val="898989"/>
                </a:solidFill>
                <a:latin typeface="Verdana" charset="0"/>
              </a:rPr>
              <a:pPr algn="r"/>
              <a:t>11</a:t>
            </a:fld>
            <a:endParaRPr lang="en-US" sz="1200">
              <a:solidFill>
                <a:srgbClr val="898989"/>
              </a:solidFill>
              <a:latin typeface="Verdana" charset="0"/>
            </a:endParaRPr>
          </a:p>
        </p:txBody>
      </p:sp>
      <p:sp>
        <p:nvSpPr>
          <p:cNvPr id="230407" name="Text Box 7"/>
          <p:cNvSpPr txBox="1">
            <a:spLocks noChangeArrowheads="1"/>
          </p:cNvSpPr>
          <p:nvPr/>
        </p:nvSpPr>
        <p:spPr bwMode="auto">
          <a:xfrm>
            <a:off x="533400" y="5851525"/>
            <a:ext cx="17176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000" i="1"/>
              <a:t>Source: HUD, Cello Capital</a:t>
            </a:r>
          </a:p>
        </p:txBody>
      </p:sp>
      <p:pic>
        <p:nvPicPr>
          <p:cNvPr id="230408"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33400" y="1570038"/>
            <a:ext cx="7958138" cy="428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Title 1"/>
          <p:cNvSpPr>
            <a:spLocks noGrp="1"/>
          </p:cNvSpPr>
          <p:nvPr>
            <p:ph type="title" idx="4294967295"/>
          </p:nvPr>
        </p:nvSpPr>
        <p:spPr/>
        <p:txBody>
          <a:bodyPr/>
          <a:lstStyle/>
          <a:p>
            <a:pPr algn="l"/>
            <a:r>
              <a:rPr lang="en-US">
                <a:latin typeface="Calisto MT" charset="0"/>
              </a:rPr>
              <a:t>Historical Evolution of the U.S. Housing Finance System - II</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514FED29-CE47-8145-BA6C-5487DEB90AC2}" type="slidenum">
              <a:rPr lang="en-US" sz="1200">
                <a:solidFill>
                  <a:srgbClr val="898989"/>
                </a:solidFill>
                <a:latin typeface="Verdana" charset="0"/>
              </a:rPr>
              <a:pPr algn="r"/>
              <a:t>12</a:t>
            </a:fld>
            <a:endParaRPr lang="en-US" sz="1200">
              <a:solidFill>
                <a:srgbClr val="898989"/>
              </a:solidFill>
              <a:latin typeface="Verdana" charset="0"/>
            </a:endParaRPr>
          </a:p>
        </p:txBody>
      </p:sp>
      <p:sp>
        <p:nvSpPr>
          <p:cNvPr id="231431" name="Text Box 7"/>
          <p:cNvSpPr txBox="1">
            <a:spLocks noChangeArrowheads="1"/>
          </p:cNvSpPr>
          <p:nvPr/>
        </p:nvSpPr>
        <p:spPr bwMode="auto">
          <a:xfrm>
            <a:off x="533400" y="5715000"/>
            <a:ext cx="17176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000" i="1"/>
              <a:t>Source: HUD, Cello Capital</a:t>
            </a:r>
          </a:p>
        </p:txBody>
      </p:sp>
      <p:pic>
        <p:nvPicPr>
          <p:cNvPr id="231432"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92138" y="1747838"/>
            <a:ext cx="7958137" cy="3967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Title 1"/>
          <p:cNvSpPr>
            <a:spLocks noGrp="1"/>
          </p:cNvSpPr>
          <p:nvPr>
            <p:ph type="title" idx="4294967295"/>
          </p:nvPr>
        </p:nvSpPr>
        <p:spPr/>
        <p:txBody>
          <a:bodyPr/>
          <a:lstStyle/>
          <a:p>
            <a:pPr algn="l"/>
            <a:r>
              <a:rPr lang="en-US">
                <a:latin typeface="Calisto MT" charset="0"/>
              </a:rPr>
              <a:t>Historical Evolution of the U.S. Housing Finance System - III</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11A3EDF3-9A25-294B-9DCF-CB26BC867E70}" type="slidenum">
              <a:rPr lang="en-US" sz="1200">
                <a:solidFill>
                  <a:srgbClr val="898989"/>
                </a:solidFill>
                <a:latin typeface="Verdana" charset="0"/>
              </a:rPr>
              <a:pPr algn="r"/>
              <a:t>13</a:t>
            </a:fld>
            <a:endParaRPr lang="en-US" sz="1200">
              <a:solidFill>
                <a:srgbClr val="898989"/>
              </a:solidFill>
              <a:latin typeface="Verdana" charset="0"/>
            </a:endParaRPr>
          </a:p>
        </p:txBody>
      </p:sp>
      <p:pic>
        <p:nvPicPr>
          <p:cNvPr id="232456"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92138" y="2549525"/>
            <a:ext cx="7958137" cy="175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22313" y="4406900"/>
            <a:ext cx="7772400" cy="1362075"/>
          </a:xfrm>
        </p:spPr>
        <p:txBody>
          <a:bodyPr anchor="t">
            <a:normAutofit/>
          </a:bodyPr>
          <a:lstStyle/>
          <a:p>
            <a:pPr algn="l"/>
            <a:r>
              <a:rPr lang="en-US" sz="2400" b="1">
                <a:latin typeface="Calisto MT" charset="0"/>
              </a:rPr>
              <a:t>AN INTRODUCTION TO MORTGAGES</a:t>
            </a:r>
          </a:p>
        </p:txBody>
      </p:sp>
      <p:sp>
        <p:nvSpPr>
          <p:cNvPr id="11" name="Text Placeholder 10"/>
          <p:cNvSpPr>
            <a:spLocks noGrp="1"/>
          </p:cNvSpPr>
          <p:nvPr>
            <p:ph type="body" idx="4294967295"/>
          </p:nvPr>
        </p:nvSpPr>
        <p:spPr>
          <a:xfrm>
            <a:off x="722313" y="2906713"/>
            <a:ext cx="7772400" cy="1500187"/>
          </a:xfrm>
        </p:spPr>
        <p:txBody>
          <a:bodyPr anchor="b">
            <a:normAutofit/>
          </a:bodyPr>
          <a:lstStyle/>
          <a:p>
            <a:pPr marL="0" indent="0">
              <a:buFont typeface="Arial" charset="0"/>
              <a:buNone/>
            </a:pPr>
            <a:endParaRPr lang="en-US" sz="1300" b="1">
              <a:latin typeface="Calisto MT"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4C6F5943-0913-1445-8BD7-84D52C80F117}" type="slidenum">
              <a:rPr lang="en-US" sz="1200">
                <a:solidFill>
                  <a:srgbClr val="898989"/>
                </a:solidFill>
              </a:rPr>
              <a:pPr algn="r"/>
              <a:t>14</a:t>
            </a:fld>
            <a:endParaRPr lang="en-US" sz="1200">
              <a:solidFill>
                <a:srgbClr val="898989"/>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Title 1"/>
          <p:cNvSpPr>
            <a:spLocks noGrp="1"/>
          </p:cNvSpPr>
          <p:nvPr>
            <p:ph type="title" idx="4294967295"/>
          </p:nvPr>
        </p:nvSpPr>
        <p:spPr/>
        <p:txBody>
          <a:bodyPr/>
          <a:lstStyle/>
          <a:p>
            <a:pPr algn="l"/>
            <a:r>
              <a:rPr lang="en-US">
                <a:latin typeface="Calisto MT" charset="0"/>
              </a:rPr>
              <a:t>Introducing Mortgages</a:t>
            </a:r>
          </a:p>
        </p:txBody>
      </p:sp>
      <p:sp>
        <p:nvSpPr>
          <p:cNvPr id="242691" name="Content Placeholder 2"/>
          <p:cNvSpPr>
            <a:spLocks noGrp="1"/>
          </p:cNvSpPr>
          <p:nvPr>
            <p:ph idx="4294967295"/>
          </p:nvPr>
        </p:nvSpPr>
        <p:spPr/>
        <p:txBody>
          <a:bodyPr/>
          <a:lstStyle/>
          <a:p>
            <a:r>
              <a:rPr lang="en-US" dirty="0">
                <a:latin typeface="Calisto MT" charset="0"/>
              </a:rPr>
              <a:t>A mortgage is a loan that is collateralized by real estate. Like any loan, a mortgage can be described by a collection of basic characteristics:</a:t>
            </a:r>
          </a:p>
          <a:p>
            <a:pPr lvl="1"/>
            <a:r>
              <a:rPr lang="en-US" b="1" dirty="0">
                <a:latin typeface="Calisto MT" charset="0"/>
              </a:rPr>
              <a:t>Loan Amount: </a:t>
            </a:r>
            <a:r>
              <a:rPr lang="en-US" dirty="0">
                <a:latin typeface="Calisto MT" charset="0"/>
              </a:rPr>
              <a:t>The amount of money borrowed</a:t>
            </a:r>
          </a:p>
          <a:p>
            <a:pPr lvl="1"/>
            <a:r>
              <a:rPr lang="en-US" b="1" dirty="0">
                <a:latin typeface="Calisto MT" charset="0"/>
              </a:rPr>
              <a:t>Loan Term: </a:t>
            </a:r>
            <a:r>
              <a:rPr lang="en-US" dirty="0">
                <a:latin typeface="Calisto MT" charset="0"/>
              </a:rPr>
              <a:t>The length of time over which the loan is scheduled to be repaid</a:t>
            </a:r>
          </a:p>
          <a:p>
            <a:pPr lvl="1"/>
            <a:r>
              <a:rPr lang="en-US" b="1" dirty="0">
                <a:latin typeface="Calisto MT" charset="0"/>
              </a:rPr>
              <a:t>Repayment Schedule:</a:t>
            </a:r>
            <a:r>
              <a:rPr lang="en-US" dirty="0">
                <a:latin typeface="Calisto MT" charset="0"/>
              </a:rPr>
              <a:t> Typically, mortgage loans get paid off in monthly installments</a:t>
            </a:r>
          </a:p>
          <a:p>
            <a:pPr lvl="1"/>
            <a:r>
              <a:rPr lang="en-US" b="1" dirty="0">
                <a:latin typeface="Calisto MT" charset="0"/>
              </a:rPr>
              <a:t>Contract Interest Rate: </a:t>
            </a:r>
            <a:r>
              <a:rPr lang="en-US" dirty="0">
                <a:latin typeface="Calisto MT" charset="0"/>
              </a:rPr>
              <a:t>The rate charged to the borrower for borrowing the money</a:t>
            </a:r>
          </a:p>
          <a:p>
            <a:r>
              <a:rPr lang="en-US" dirty="0">
                <a:latin typeface="Calisto MT" charset="0"/>
              </a:rPr>
              <a:t>In the U.S., borrowers have the option of repaying the loan before its maturity without penalty. This is known as a </a:t>
            </a:r>
            <a:r>
              <a:rPr lang="en-US" b="1" dirty="0">
                <a:latin typeface="Calisto MT" charset="0"/>
              </a:rPr>
              <a:t>prepayment</a:t>
            </a:r>
            <a:r>
              <a:rPr lang="en-US" dirty="0">
                <a:latin typeface="Calisto MT" charset="0"/>
              </a:rPr>
              <a:t>.</a:t>
            </a:r>
          </a:p>
          <a:p>
            <a:r>
              <a:rPr lang="en-US" dirty="0">
                <a:latin typeface="Calisto MT" charset="0"/>
              </a:rPr>
              <a:t>There are two risks associated with giving somebody a mortgage:</a:t>
            </a:r>
          </a:p>
          <a:p>
            <a:pPr lvl="1"/>
            <a:r>
              <a:rPr lang="en-US" b="1" dirty="0">
                <a:latin typeface="Calisto MT" charset="0"/>
              </a:rPr>
              <a:t>Default risk:</a:t>
            </a:r>
            <a:r>
              <a:rPr lang="en-US" dirty="0">
                <a:latin typeface="Calisto MT" charset="0"/>
              </a:rPr>
              <a:t> The borrower may not repay the loan</a:t>
            </a:r>
          </a:p>
          <a:p>
            <a:pPr lvl="1"/>
            <a:r>
              <a:rPr lang="en-US" b="1" dirty="0">
                <a:latin typeface="Calisto MT" charset="0"/>
              </a:rPr>
              <a:t>Market risk: </a:t>
            </a:r>
            <a:r>
              <a:rPr lang="en-US" dirty="0">
                <a:latin typeface="Calisto MT" charset="0"/>
              </a:rPr>
              <a:t>Market interest rates may change. The borrower</a:t>
            </a:r>
            <a:r>
              <a:rPr lang="ja-JP" altLang="en-US" dirty="0">
                <a:latin typeface="Calisto MT" charset="0"/>
              </a:rPr>
              <a:t>’</a:t>
            </a:r>
            <a:r>
              <a:rPr lang="en-US" dirty="0">
                <a:latin typeface="Calisto MT" charset="0"/>
              </a:rPr>
              <a:t>s option to prepay their loan means that a change in interest rates is usually unfavorable to the mortgage lender.</a:t>
            </a:r>
            <a:endParaRPr lang="en-US" b="1" dirty="0">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F2367B5E-9A70-2741-85E9-786418A135A8}" type="slidenum">
              <a:rPr lang="en-US" sz="1200">
                <a:solidFill>
                  <a:srgbClr val="898989"/>
                </a:solidFill>
                <a:latin typeface="Verdana" charset="0"/>
              </a:rPr>
              <a:pPr algn="r"/>
              <a:t>15</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itle 1"/>
          <p:cNvSpPr>
            <a:spLocks noGrp="1"/>
          </p:cNvSpPr>
          <p:nvPr>
            <p:ph type="title" idx="4294967295"/>
          </p:nvPr>
        </p:nvSpPr>
        <p:spPr/>
        <p:txBody>
          <a:bodyPr/>
          <a:lstStyle/>
          <a:p>
            <a:pPr algn="l"/>
            <a:r>
              <a:rPr lang="en-US">
                <a:latin typeface="Calisto MT" charset="0"/>
              </a:rPr>
              <a:t>Several Different Property Types Collateralize Mortgages</a:t>
            </a:r>
          </a:p>
        </p:txBody>
      </p:sp>
      <p:sp>
        <p:nvSpPr>
          <p:cNvPr id="243715" name="Content Placeholder 2"/>
          <p:cNvSpPr>
            <a:spLocks noGrp="1"/>
          </p:cNvSpPr>
          <p:nvPr>
            <p:ph idx="4294967295"/>
          </p:nvPr>
        </p:nvSpPr>
        <p:spPr/>
        <p:txBody>
          <a:bodyPr/>
          <a:lstStyle/>
          <a:p>
            <a:r>
              <a:rPr lang="en-US">
                <a:latin typeface="Calisto MT" charset="0"/>
              </a:rPr>
              <a:t>The following property types can serve as collateral for mortgages:</a:t>
            </a:r>
          </a:p>
          <a:p>
            <a:pPr lvl="1"/>
            <a:r>
              <a:rPr lang="en-US">
                <a:latin typeface="Calisto MT" charset="0"/>
              </a:rPr>
              <a:t>Residential real estate</a:t>
            </a:r>
          </a:p>
          <a:p>
            <a:pPr lvl="2"/>
            <a:r>
              <a:rPr lang="en-US">
                <a:latin typeface="Calisto MT" charset="0"/>
              </a:rPr>
              <a:t>Single-family (one-to-four family) homes</a:t>
            </a:r>
          </a:p>
          <a:p>
            <a:pPr lvl="2"/>
            <a:r>
              <a:rPr lang="en-US">
                <a:latin typeface="Calisto MT" charset="0"/>
              </a:rPr>
              <a:t>Multi-family (more than four families) homes (condominiums, cooperatives)</a:t>
            </a:r>
          </a:p>
          <a:p>
            <a:pPr lvl="1"/>
            <a:r>
              <a:rPr lang="en-US">
                <a:latin typeface="Calisto MT" charset="0"/>
              </a:rPr>
              <a:t>Non-residential real estate</a:t>
            </a:r>
          </a:p>
          <a:p>
            <a:pPr lvl="2"/>
            <a:r>
              <a:rPr lang="en-US">
                <a:latin typeface="Calisto MT" charset="0"/>
              </a:rPr>
              <a:t>Commercial (office buildings, shopping centers, hospitals, apartment buildings)</a:t>
            </a:r>
          </a:p>
          <a:p>
            <a:pPr lvl="2"/>
            <a:r>
              <a:rPr lang="en-US">
                <a:latin typeface="Calisto MT" charset="0"/>
              </a:rPr>
              <a:t>Farm properties</a:t>
            </a:r>
          </a:p>
          <a:p>
            <a:r>
              <a:rPr lang="en-US">
                <a:latin typeface="Calisto MT" charset="0"/>
              </a:rPr>
              <a:t>Single-family housing and the mortgages on these houses (</a:t>
            </a:r>
            <a:r>
              <a:rPr lang="ja-JP" altLang="en-US">
                <a:latin typeface="Calisto MT" charset="0"/>
              </a:rPr>
              <a:t>“</a:t>
            </a:r>
            <a:r>
              <a:rPr lang="en-US">
                <a:latin typeface="Calisto MT" charset="0"/>
              </a:rPr>
              <a:t>home mortgages</a:t>
            </a:r>
            <a:r>
              <a:rPr lang="ja-JP" altLang="en-US">
                <a:latin typeface="Calisto MT" charset="0"/>
              </a:rPr>
              <a:t>”</a:t>
            </a:r>
            <a:r>
              <a:rPr lang="en-US">
                <a:latin typeface="Calisto MT" charset="0"/>
              </a:rPr>
              <a:t>) form the most important part of the U.S. housing/mortgage market.</a:t>
            </a:r>
          </a:p>
          <a:p>
            <a:pPr lvl="2"/>
            <a:endParaRPr lang="en-US">
              <a:latin typeface="Calisto MT" charset="0"/>
            </a:endParaRPr>
          </a:p>
          <a:p>
            <a:endParaRPr lang="en-US">
              <a:latin typeface="Calisto MT" charset="0"/>
            </a:endParaRPr>
          </a:p>
          <a:p>
            <a:endParaRPr lang="en-US">
              <a:latin typeface="Calisto MT" charset="0"/>
            </a:endParaRPr>
          </a:p>
          <a:p>
            <a:pPr lvl="1"/>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0401B9C1-EAFF-EF49-A499-3CE8ED4AB6AE}" type="slidenum">
              <a:rPr lang="en-US" sz="1200">
                <a:solidFill>
                  <a:srgbClr val="898989"/>
                </a:solidFill>
                <a:latin typeface="Verdana" charset="0"/>
              </a:rPr>
              <a:pPr algn="r"/>
              <a:t>16</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Title 1"/>
          <p:cNvSpPr>
            <a:spLocks noGrp="1"/>
          </p:cNvSpPr>
          <p:nvPr>
            <p:ph type="title" idx="4294967295"/>
          </p:nvPr>
        </p:nvSpPr>
        <p:spPr/>
        <p:txBody>
          <a:bodyPr/>
          <a:lstStyle/>
          <a:p>
            <a:pPr algn="l"/>
            <a:r>
              <a:rPr lang="en-US">
                <a:latin typeface="Calisto MT" charset="0"/>
              </a:rPr>
              <a:t> Single-Family Home Mortgages Dominate the Market</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CAECF647-F3D5-C040-BB57-5A28025C919A}" type="slidenum">
              <a:rPr lang="en-US" sz="1200">
                <a:solidFill>
                  <a:srgbClr val="898989"/>
                </a:solidFill>
                <a:latin typeface="Verdana" charset="0"/>
              </a:rPr>
              <a:pPr algn="r"/>
              <a:t>17</a:t>
            </a:fld>
            <a:endParaRPr lang="en-US" sz="1200">
              <a:solidFill>
                <a:srgbClr val="898989"/>
              </a:solidFill>
              <a:latin typeface="Verdana" charset="0"/>
            </a:endParaRPr>
          </a:p>
        </p:txBody>
      </p:sp>
      <p:sp>
        <p:nvSpPr>
          <p:cNvPr id="244742" name="Text Box 6"/>
          <p:cNvSpPr txBox="1">
            <a:spLocks noChangeArrowheads="1"/>
          </p:cNvSpPr>
          <p:nvPr/>
        </p:nvSpPr>
        <p:spPr bwMode="auto">
          <a:xfrm>
            <a:off x="2830513" y="5172075"/>
            <a:ext cx="3494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Total Mortgage Debt = $14.6 trillion*</a:t>
            </a:r>
          </a:p>
        </p:txBody>
      </p:sp>
      <p:pic>
        <p:nvPicPr>
          <p:cNvPr id="244743" name="Picture 7"/>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84325" y="1565275"/>
            <a:ext cx="5973763" cy="3725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44744" name="Text Box 8"/>
          <p:cNvSpPr txBox="1">
            <a:spLocks noChangeArrowheads="1"/>
          </p:cNvSpPr>
          <p:nvPr/>
        </p:nvSpPr>
        <p:spPr bwMode="auto">
          <a:xfrm>
            <a:off x="457200" y="5830888"/>
            <a:ext cx="1800225"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000"/>
              <a:t>*As of Q1 2009. </a:t>
            </a:r>
          </a:p>
          <a:p>
            <a:pPr>
              <a:spcBef>
                <a:spcPct val="50000"/>
              </a:spcBef>
            </a:pPr>
            <a:r>
              <a:rPr lang="en-US" sz="1000"/>
              <a:t>Source: Federal Reserve</a:t>
            </a: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Title 1"/>
          <p:cNvSpPr>
            <a:spLocks noGrp="1"/>
          </p:cNvSpPr>
          <p:nvPr>
            <p:ph type="title" idx="4294967295"/>
          </p:nvPr>
        </p:nvSpPr>
        <p:spPr/>
        <p:txBody>
          <a:bodyPr/>
          <a:lstStyle/>
          <a:p>
            <a:pPr algn="l"/>
            <a:r>
              <a:rPr lang="en-US">
                <a:latin typeface="Calisto MT" charset="0"/>
              </a:rPr>
              <a:t>Popular Mortgage Contract Types in the U.S.</a:t>
            </a:r>
          </a:p>
        </p:txBody>
      </p:sp>
      <p:sp>
        <p:nvSpPr>
          <p:cNvPr id="245763" name="Content Placeholder 2"/>
          <p:cNvSpPr>
            <a:spLocks noGrp="1"/>
          </p:cNvSpPr>
          <p:nvPr>
            <p:ph idx="4294967295"/>
          </p:nvPr>
        </p:nvSpPr>
        <p:spPr/>
        <p:txBody>
          <a:bodyPr/>
          <a:lstStyle/>
          <a:p>
            <a:r>
              <a:rPr lang="en-US">
                <a:latin typeface="Calisto MT" charset="0"/>
              </a:rPr>
              <a:t>Fixed-rate Mortgages (FRMs):</a:t>
            </a:r>
          </a:p>
          <a:p>
            <a:pPr lvl="1"/>
            <a:r>
              <a:rPr lang="en-US">
                <a:latin typeface="Calisto MT" charset="0"/>
              </a:rPr>
              <a:t>30-year or 15-year term </a:t>
            </a:r>
          </a:p>
          <a:p>
            <a:pPr lvl="1"/>
            <a:r>
              <a:rPr lang="en-US">
                <a:latin typeface="Calisto MT" charset="0"/>
              </a:rPr>
              <a:t>Equal monthly payments</a:t>
            </a:r>
          </a:p>
          <a:p>
            <a:pPr lvl="1"/>
            <a:r>
              <a:rPr lang="en-US">
                <a:latin typeface="Calisto MT" charset="0"/>
              </a:rPr>
              <a:t>Fixed contract rate</a:t>
            </a:r>
          </a:p>
          <a:p>
            <a:r>
              <a:rPr lang="en-US">
                <a:latin typeface="Calisto MT" charset="0"/>
              </a:rPr>
              <a:t>Adjustable-rate Mortgages (ARMs):</a:t>
            </a:r>
          </a:p>
          <a:p>
            <a:pPr lvl="1"/>
            <a:r>
              <a:rPr lang="en-US">
                <a:latin typeface="Calisto MT" charset="0"/>
              </a:rPr>
              <a:t>Most popular product is </a:t>
            </a:r>
            <a:r>
              <a:rPr lang="en-US" b="1">
                <a:latin typeface="Calisto MT" charset="0"/>
              </a:rPr>
              <a:t>5/1 Hybrid ARM</a:t>
            </a:r>
            <a:r>
              <a:rPr lang="en-US">
                <a:latin typeface="Calisto MT" charset="0"/>
              </a:rPr>
              <a:t> – a fixed contract rate for 5 years followed by a contract rate that can vary depending upon market rates</a:t>
            </a:r>
          </a:p>
          <a:p>
            <a:pPr lvl="1"/>
            <a:r>
              <a:rPr lang="en-US">
                <a:latin typeface="Calisto MT" charset="0"/>
              </a:rPr>
              <a:t>Monthly payments can change over the term of the mortgage</a:t>
            </a:r>
          </a:p>
          <a:p>
            <a:pPr lvl="2"/>
            <a:endParaRPr lang="en-US">
              <a:latin typeface="Calisto MT" charset="0"/>
            </a:endParaRPr>
          </a:p>
          <a:p>
            <a:endParaRPr lang="en-US">
              <a:latin typeface="Calisto MT" charset="0"/>
            </a:endParaRPr>
          </a:p>
          <a:p>
            <a:endParaRPr lang="en-US">
              <a:latin typeface="Calisto MT" charset="0"/>
            </a:endParaRPr>
          </a:p>
          <a:p>
            <a:pPr lvl="1"/>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D8470190-ED3E-4B45-B474-F542AD93B3F6}" type="slidenum">
              <a:rPr lang="en-US" sz="1200">
                <a:solidFill>
                  <a:srgbClr val="898989"/>
                </a:solidFill>
                <a:latin typeface="Verdana" charset="0"/>
              </a:rPr>
              <a:pPr algn="r"/>
              <a:t>18</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Title 1"/>
          <p:cNvSpPr>
            <a:spLocks noGrp="1"/>
          </p:cNvSpPr>
          <p:nvPr>
            <p:ph type="title" idx="4294967295"/>
          </p:nvPr>
        </p:nvSpPr>
        <p:spPr/>
        <p:txBody>
          <a:bodyPr/>
          <a:lstStyle/>
          <a:p>
            <a:pPr algn="l"/>
            <a:r>
              <a:rPr lang="en-US">
                <a:latin typeface="Calisto MT" charset="0"/>
              </a:rPr>
              <a:t>Fixed-Rate Mortgages Are The Most Popular Product By Far</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A34124D5-D679-BB47-9620-7B6781E682AE}" type="slidenum">
              <a:rPr lang="en-US" sz="1200">
                <a:solidFill>
                  <a:srgbClr val="898989"/>
                </a:solidFill>
                <a:latin typeface="Verdana" charset="0"/>
              </a:rPr>
              <a:pPr algn="r"/>
              <a:t>19</a:t>
            </a:fld>
            <a:endParaRPr lang="en-US" sz="1200">
              <a:solidFill>
                <a:srgbClr val="898989"/>
              </a:solidFill>
              <a:latin typeface="Verdana" charset="0"/>
            </a:endParaRPr>
          </a:p>
        </p:txBody>
      </p:sp>
      <p:sp>
        <p:nvSpPr>
          <p:cNvPr id="246791" name="Text Box 7"/>
          <p:cNvSpPr txBox="1">
            <a:spLocks noChangeArrowheads="1"/>
          </p:cNvSpPr>
          <p:nvPr/>
        </p:nvSpPr>
        <p:spPr bwMode="auto">
          <a:xfrm>
            <a:off x="533400" y="5715000"/>
            <a:ext cx="135731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000" i="1"/>
              <a:t>Source: Freddie Mac</a:t>
            </a:r>
          </a:p>
        </p:txBody>
      </p:sp>
      <p:pic>
        <p:nvPicPr>
          <p:cNvPr id="246792"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22438" y="1657350"/>
            <a:ext cx="5699125"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itle 1"/>
          <p:cNvSpPr>
            <a:spLocks noGrp="1"/>
          </p:cNvSpPr>
          <p:nvPr>
            <p:ph type="title" idx="4294967295"/>
          </p:nvPr>
        </p:nvSpPr>
        <p:spPr/>
        <p:txBody>
          <a:bodyPr/>
          <a:lstStyle/>
          <a:p>
            <a:pPr algn="l"/>
            <a:r>
              <a:rPr lang="en-US">
                <a:latin typeface="Calisto MT" charset="0"/>
              </a:rPr>
              <a:t>How Fixed-Rate Mortgage Payments Work</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8FB60AC7-D8DF-5E4B-A6A0-62ED3B931E2B}" type="slidenum">
              <a:rPr lang="en-US" sz="1200">
                <a:solidFill>
                  <a:srgbClr val="898989"/>
                </a:solidFill>
                <a:latin typeface="Verdana" charset="0"/>
              </a:rPr>
              <a:pPr algn="r"/>
              <a:t>20</a:t>
            </a:fld>
            <a:endParaRPr lang="en-US" sz="1200">
              <a:solidFill>
                <a:srgbClr val="898989"/>
              </a:solidFill>
              <a:latin typeface="Verdana" charset="0"/>
            </a:endParaRPr>
          </a:p>
        </p:txBody>
      </p:sp>
      <p:pic>
        <p:nvPicPr>
          <p:cNvPr id="247814"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01788" y="1692275"/>
            <a:ext cx="4524375" cy="456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Title 1"/>
          <p:cNvSpPr>
            <a:spLocks noGrp="1"/>
          </p:cNvSpPr>
          <p:nvPr>
            <p:ph type="title" idx="4294967295"/>
          </p:nvPr>
        </p:nvSpPr>
        <p:spPr/>
        <p:txBody>
          <a:bodyPr/>
          <a:lstStyle/>
          <a:p>
            <a:pPr algn="l"/>
            <a:r>
              <a:rPr lang="en-US">
                <a:latin typeface="Calisto MT" charset="0"/>
              </a:rPr>
              <a:t>Homeowners Can Prepay Mortgage For Several Reasons</a:t>
            </a:r>
          </a:p>
        </p:txBody>
      </p:sp>
      <p:sp>
        <p:nvSpPr>
          <p:cNvPr id="248835" name="Content Placeholder 2"/>
          <p:cNvSpPr>
            <a:spLocks noGrp="1"/>
          </p:cNvSpPr>
          <p:nvPr>
            <p:ph idx="4294967295"/>
          </p:nvPr>
        </p:nvSpPr>
        <p:spPr/>
        <p:txBody>
          <a:bodyPr/>
          <a:lstStyle/>
          <a:p>
            <a:r>
              <a:rPr lang="en-US" sz="1000" b="1">
                <a:latin typeface="Calisto MT" charset="0"/>
              </a:rPr>
              <a:t>Home Sales (Turnover)</a:t>
            </a:r>
          </a:p>
          <a:p>
            <a:pPr lvl="1"/>
            <a:r>
              <a:rPr lang="en-US">
                <a:latin typeface="Calisto MT" charset="0"/>
              </a:rPr>
              <a:t>Selling a home results in a prepayment of the existing mortgage</a:t>
            </a:r>
          </a:p>
          <a:p>
            <a:r>
              <a:rPr lang="en-US" sz="1000" b="1">
                <a:latin typeface="Calisto MT" charset="0"/>
              </a:rPr>
              <a:t>Refinancing</a:t>
            </a:r>
          </a:p>
          <a:p>
            <a:pPr lvl="1"/>
            <a:r>
              <a:rPr lang="en-US">
                <a:latin typeface="Calisto MT" charset="0"/>
              </a:rPr>
              <a:t>The existing mortgage is replaced with a new one to take advantage of lower interest rates</a:t>
            </a:r>
          </a:p>
          <a:p>
            <a:pPr lvl="1"/>
            <a:r>
              <a:rPr lang="en-US">
                <a:latin typeface="Calisto MT" charset="0"/>
              </a:rPr>
              <a:t>Sometimes mortgages are refinanced to extract equity from the home (cash-out refinance)</a:t>
            </a:r>
          </a:p>
          <a:p>
            <a:r>
              <a:rPr lang="en-US" sz="1000" b="1">
                <a:latin typeface="Calisto MT" charset="0"/>
              </a:rPr>
              <a:t>Defaults</a:t>
            </a:r>
          </a:p>
          <a:p>
            <a:pPr lvl="1"/>
            <a:r>
              <a:rPr lang="en-US">
                <a:latin typeface="Calisto MT" charset="0"/>
              </a:rPr>
              <a:t>The foreclosure of a home will result in a prepayment of the underlying mortgage. </a:t>
            </a:r>
          </a:p>
          <a:p>
            <a:r>
              <a:rPr lang="en-US" sz="1000" b="1">
                <a:latin typeface="Calisto MT" charset="0"/>
              </a:rPr>
              <a:t>Curtailments</a:t>
            </a:r>
          </a:p>
          <a:p>
            <a:pPr lvl="1"/>
            <a:r>
              <a:rPr lang="en-US">
                <a:latin typeface="Calisto MT" charset="0"/>
              </a:rPr>
              <a:t>Sending more than the scheduled payment each month will terminate the mortgage before its due date. A curtailment is often called a partial prepayment.</a:t>
            </a:r>
          </a:p>
          <a:p>
            <a:pPr>
              <a:buFont typeface="Arial" charset="0"/>
              <a:buNone/>
            </a:pPr>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102C124F-34B8-624D-BC7D-449404C4A39B}" type="slidenum">
              <a:rPr lang="en-US" sz="1200">
                <a:solidFill>
                  <a:srgbClr val="898989"/>
                </a:solidFill>
                <a:latin typeface="Verdana" charset="0"/>
              </a:rPr>
              <a:pPr algn="r"/>
              <a:t>21</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22313" y="4406900"/>
            <a:ext cx="7772400" cy="1362075"/>
          </a:xfrm>
        </p:spPr>
        <p:txBody>
          <a:bodyPr anchor="t">
            <a:normAutofit/>
          </a:bodyPr>
          <a:lstStyle/>
          <a:p>
            <a:pPr algn="l"/>
            <a:r>
              <a:rPr lang="en-US" sz="2400" b="1">
                <a:latin typeface="Calisto MT" charset="0"/>
              </a:rPr>
              <a:t>THE U.S. MORTGAGE MARKET</a:t>
            </a:r>
          </a:p>
        </p:txBody>
      </p:sp>
      <p:sp>
        <p:nvSpPr>
          <p:cNvPr id="11" name="Text Placeholder 10"/>
          <p:cNvSpPr>
            <a:spLocks noGrp="1"/>
          </p:cNvSpPr>
          <p:nvPr>
            <p:ph type="body" idx="4294967295"/>
          </p:nvPr>
        </p:nvSpPr>
        <p:spPr>
          <a:xfrm>
            <a:off x="722313" y="2906713"/>
            <a:ext cx="7772400" cy="1500187"/>
          </a:xfrm>
        </p:spPr>
        <p:txBody>
          <a:bodyPr anchor="b">
            <a:normAutofit/>
          </a:bodyPr>
          <a:lstStyle/>
          <a:p>
            <a:pPr marL="0" indent="0">
              <a:buFont typeface="Arial" charset="0"/>
              <a:buNone/>
            </a:pPr>
            <a:endParaRPr lang="en-US" sz="1300" b="1">
              <a:latin typeface="Calisto MT"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B2A85AAE-51E9-FE40-9837-1A2B823608FB}" type="slidenum">
              <a:rPr lang="en-US" sz="1200">
                <a:solidFill>
                  <a:srgbClr val="898989"/>
                </a:solidFill>
              </a:rPr>
              <a:pPr algn="r"/>
              <a:t>22</a:t>
            </a:fld>
            <a:endParaRPr lang="en-US" sz="1200">
              <a:solidFill>
                <a:srgbClr val="898989"/>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Title 1"/>
          <p:cNvSpPr>
            <a:spLocks noGrp="1"/>
          </p:cNvSpPr>
          <p:nvPr>
            <p:ph type="title" idx="4294967295"/>
          </p:nvPr>
        </p:nvSpPr>
        <p:spPr/>
        <p:txBody>
          <a:bodyPr/>
          <a:lstStyle/>
          <a:p>
            <a:pPr algn="l"/>
            <a:r>
              <a:rPr lang="en-US">
                <a:latin typeface="Calisto MT" charset="0"/>
              </a:rPr>
              <a:t>Special Features of the U.S. Mortgage Market</a:t>
            </a:r>
          </a:p>
        </p:txBody>
      </p:sp>
      <p:sp>
        <p:nvSpPr>
          <p:cNvPr id="251907" name="Content Placeholder 2"/>
          <p:cNvSpPr>
            <a:spLocks noGrp="1"/>
          </p:cNvSpPr>
          <p:nvPr>
            <p:ph idx="4294967295"/>
          </p:nvPr>
        </p:nvSpPr>
        <p:spPr/>
        <p:txBody>
          <a:bodyPr/>
          <a:lstStyle/>
          <a:p>
            <a:r>
              <a:rPr lang="en-US" dirty="0">
                <a:latin typeface="Calisto MT" charset="0"/>
              </a:rPr>
              <a:t>The U.S. has a very large mortgage market: </a:t>
            </a:r>
          </a:p>
          <a:p>
            <a:pPr lvl="1"/>
            <a:r>
              <a:rPr lang="en-US" dirty="0">
                <a:latin typeface="Calisto MT" charset="0"/>
              </a:rPr>
              <a:t>Homeownership rate of 68%</a:t>
            </a:r>
          </a:p>
          <a:p>
            <a:pPr lvl="1"/>
            <a:r>
              <a:rPr lang="en-US" dirty="0">
                <a:latin typeface="Calisto MT" charset="0"/>
              </a:rPr>
              <a:t>70% of all homeowners have a mortgage</a:t>
            </a:r>
          </a:p>
          <a:p>
            <a:pPr lvl="1"/>
            <a:r>
              <a:rPr lang="en-US" dirty="0">
                <a:latin typeface="Calisto MT" charset="0"/>
              </a:rPr>
              <a:t>Outstanding residential mortgage debt is more than $10 trillion.</a:t>
            </a:r>
          </a:p>
          <a:p>
            <a:r>
              <a:rPr lang="en-US" dirty="0">
                <a:latin typeface="Calisto MT" charset="0"/>
              </a:rPr>
              <a:t>Securitization is the main channel for funding mortgages:</a:t>
            </a:r>
          </a:p>
          <a:p>
            <a:pPr lvl="1"/>
            <a:r>
              <a:rPr lang="en-US" dirty="0">
                <a:latin typeface="Calisto MT" charset="0"/>
              </a:rPr>
              <a:t>Approximately 75% of all residential mortgages are funded through the capital markets</a:t>
            </a:r>
          </a:p>
          <a:p>
            <a:pPr lvl="1"/>
            <a:r>
              <a:rPr lang="en-US" dirty="0">
                <a:latin typeface="Calisto MT" charset="0"/>
              </a:rPr>
              <a:t>Remaining non-securitized mortgages are typically held on portfolio by commercial banks and funded through deposits and other sources of funding. </a:t>
            </a:r>
          </a:p>
          <a:p>
            <a:pPr lvl="1"/>
            <a:r>
              <a:rPr lang="en-US" dirty="0">
                <a:latin typeface="Calisto MT" charset="0"/>
              </a:rPr>
              <a:t>There is little to no use of covered bonds currently</a:t>
            </a:r>
          </a:p>
          <a:p>
            <a:r>
              <a:rPr lang="en-US" dirty="0">
                <a:latin typeface="Calisto MT" charset="0"/>
              </a:rPr>
              <a:t>Government Agencies play a critical role in the mortgage market</a:t>
            </a:r>
          </a:p>
          <a:p>
            <a:pPr lvl="1"/>
            <a:r>
              <a:rPr lang="en-US" dirty="0">
                <a:latin typeface="Calisto MT" charset="0"/>
              </a:rPr>
              <a:t>Government organizations: FHA, </a:t>
            </a:r>
            <a:r>
              <a:rPr lang="en-US" dirty="0" err="1">
                <a:latin typeface="Calisto MT" charset="0"/>
              </a:rPr>
              <a:t>Ginnie</a:t>
            </a:r>
            <a:r>
              <a:rPr lang="en-US" dirty="0">
                <a:latin typeface="Calisto MT" charset="0"/>
              </a:rPr>
              <a:t> Mae, Treasury, Federal Reserve</a:t>
            </a:r>
          </a:p>
          <a:p>
            <a:pPr lvl="1"/>
            <a:r>
              <a:rPr lang="en-US" dirty="0">
                <a:latin typeface="Calisto MT" charset="0"/>
              </a:rPr>
              <a:t>Quasi-governmental organizations: Fannie Mae, Freddie Mac, Federal Home Loan Banks</a:t>
            </a:r>
          </a:p>
          <a:p>
            <a:endParaRPr lang="en-US" dirty="0">
              <a:latin typeface="Calisto MT" charset="0"/>
            </a:endParaRPr>
          </a:p>
          <a:p>
            <a:pPr lvl="1"/>
            <a:endParaRPr lang="en-US" dirty="0">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365489BB-1D37-DE49-80DB-14098744262F}" type="slidenum">
              <a:rPr lang="en-US" sz="1200">
                <a:solidFill>
                  <a:srgbClr val="898989"/>
                </a:solidFill>
                <a:latin typeface="Verdana" charset="0"/>
              </a:rPr>
              <a:pPr algn="r"/>
              <a:t>23</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Title 1"/>
          <p:cNvSpPr>
            <a:spLocks noGrp="1"/>
          </p:cNvSpPr>
          <p:nvPr>
            <p:ph type="title" idx="4294967295"/>
          </p:nvPr>
        </p:nvSpPr>
        <p:spPr/>
        <p:txBody>
          <a:bodyPr/>
          <a:lstStyle/>
          <a:p>
            <a:pPr algn="l"/>
            <a:r>
              <a:rPr lang="en-US">
                <a:latin typeface="Calisto MT" charset="0"/>
              </a:rPr>
              <a:t>The U.S. Has High Homeownership Rates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D7C45D74-10A7-6F48-8A0B-5B1C7F3E68A6}" type="slidenum">
              <a:rPr lang="en-US" sz="1200">
                <a:solidFill>
                  <a:srgbClr val="898989"/>
                </a:solidFill>
                <a:latin typeface="Verdana" charset="0"/>
              </a:rPr>
              <a:pPr algn="r"/>
              <a:t>24</a:t>
            </a:fld>
            <a:endParaRPr lang="en-US" sz="1200">
              <a:solidFill>
                <a:srgbClr val="898989"/>
              </a:solidFill>
              <a:latin typeface="Verdana" charset="0"/>
            </a:endParaRPr>
          </a:p>
        </p:txBody>
      </p:sp>
      <p:sp>
        <p:nvSpPr>
          <p:cNvPr id="252935" name="Text Box 7"/>
          <p:cNvSpPr txBox="1">
            <a:spLocks noChangeArrowheads="1"/>
          </p:cNvSpPr>
          <p:nvPr/>
        </p:nvSpPr>
        <p:spPr bwMode="auto">
          <a:xfrm>
            <a:off x="533400" y="5715000"/>
            <a:ext cx="180498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000" i="1"/>
              <a:t>Source: U.S. Census Bureau</a:t>
            </a:r>
          </a:p>
        </p:txBody>
      </p:sp>
      <p:pic>
        <p:nvPicPr>
          <p:cNvPr id="252936"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16000" y="1676400"/>
            <a:ext cx="7110413"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Title 1"/>
          <p:cNvSpPr>
            <a:spLocks noGrp="1"/>
          </p:cNvSpPr>
          <p:nvPr>
            <p:ph type="title" idx="4294967295"/>
          </p:nvPr>
        </p:nvSpPr>
        <p:spPr/>
        <p:txBody>
          <a:bodyPr/>
          <a:lstStyle/>
          <a:p>
            <a:pPr algn="l"/>
            <a:r>
              <a:rPr lang="en-US">
                <a:latin typeface="Calisto MT" charset="0"/>
              </a:rPr>
              <a:t>The U.S. Has A Very Large Residential Mortgage Market</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E821EB3E-CAF8-BD42-B5C3-CA2DAD877D52}" type="slidenum">
              <a:rPr lang="en-US" sz="1200">
                <a:solidFill>
                  <a:srgbClr val="898989"/>
                </a:solidFill>
                <a:latin typeface="Verdana" charset="0"/>
              </a:rPr>
              <a:pPr algn="r"/>
              <a:t>25</a:t>
            </a:fld>
            <a:endParaRPr lang="en-US" sz="1200">
              <a:solidFill>
                <a:srgbClr val="898989"/>
              </a:solidFill>
              <a:latin typeface="Verdana" charset="0"/>
            </a:endParaRPr>
          </a:p>
        </p:txBody>
      </p:sp>
      <p:sp>
        <p:nvSpPr>
          <p:cNvPr id="253959" name="Text Box 7"/>
          <p:cNvSpPr txBox="1">
            <a:spLocks noChangeArrowheads="1"/>
          </p:cNvSpPr>
          <p:nvPr/>
        </p:nvSpPr>
        <p:spPr bwMode="auto">
          <a:xfrm>
            <a:off x="457200" y="5516563"/>
            <a:ext cx="1589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000" i="1"/>
              <a:t>Dollars in trillions</a:t>
            </a:r>
          </a:p>
          <a:p>
            <a:r>
              <a:rPr lang="en-US" sz="1000" i="1"/>
              <a:t>Source: Federal Reserve</a:t>
            </a:r>
          </a:p>
        </p:txBody>
      </p:sp>
      <p:pic>
        <p:nvPicPr>
          <p:cNvPr id="253960"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16000" y="1676400"/>
            <a:ext cx="7110413"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Title 1"/>
          <p:cNvSpPr>
            <a:spLocks noGrp="1"/>
          </p:cNvSpPr>
          <p:nvPr>
            <p:ph type="title" idx="4294967295"/>
          </p:nvPr>
        </p:nvSpPr>
        <p:spPr/>
        <p:txBody>
          <a:bodyPr/>
          <a:lstStyle/>
          <a:p>
            <a:pPr algn="l"/>
            <a:r>
              <a:rPr lang="en-US">
                <a:latin typeface="Calisto MT" charset="0"/>
              </a:rPr>
              <a:t>The Growth Rate of Residential Mortgage Debt Has Been Strong Until Recently</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CB84EFDB-C584-B447-8C14-390AB40CDAAF}" type="slidenum">
              <a:rPr lang="en-US" sz="1200">
                <a:solidFill>
                  <a:srgbClr val="898989"/>
                </a:solidFill>
                <a:latin typeface="Verdana" charset="0"/>
              </a:rPr>
              <a:pPr algn="r"/>
              <a:t>26</a:t>
            </a:fld>
            <a:endParaRPr lang="en-US" sz="1200">
              <a:solidFill>
                <a:srgbClr val="898989"/>
              </a:solidFill>
              <a:latin typeface="Verdana" charset="0"/>
            </a:endParaRPr>
          </a:p>
        </p:txBody>
      </p:sp>
      <p:sp>
        <p:nvSpPr>
          <p:cNvPr id="254983" name="Text Box 7"/>
          <p:cNvSpPr txBox="1">
            <a:spLocks noChangeArrowheads="1"/>
          </p:cNvSpPr>
          <p:nvPr/>
        </p:nvSpPr>
        <p:spPr bwMode="auto">
          <a:xfrm>
            <a:off x="457200" y="5516563"/>
            <a:ext cx="1589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endParaRPr lang="en-US" sz="1000" i="1"/>
          </a:p>
          <a:p>
            <a:r>
              <a:rPr lang="en-US" sz="1000" i="1"/>
              <a:t>Source: Federal Reserve</a:t>
            </a:r>
          </a:p>
        </p:txBody>
      </p:sp>
      <p:pic>
        <p:nvPicPr>
          <p:cNvPr id="254984"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16000" y="1676400"/>
            <a:ext cx="7110413"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Title 1"/>
          <p:cNvSpPr>
            <a:spLocks noGrp="1"/>
          </p:cNvSpPr>
          <p:nvPr>
            <p:ph type="title" idx="4294967295"/>
          </p:nvPr>
        </p:nvSpPr>
        <p:spPr/>
        <p:txBody>
          <a:bodyPr/>
          <a:lstStyle/>
          <a:p>
            <a:pPr algn="l"/>
            <a:r>
              <a:rPr lang="en-US">
                <a:latin typeface="Calisto MT" charset="0"/>
              </a:rPr>
              <a:t>The U.S. Housing Finance System Consists of a Primary and a Secondary Mortgage Market </a:t>
            </a:r>
          </a:p>
        </p:txBody>
      </p:sp>
      <p:sp>
        <p:nvSpPr>
          <p:cNvPr id="256003" name="Content Placeholder 2"/>
          <p:cNvSpPr>
            <a:spLocks noGrp="1"/>
          </p:cNvSpPr>
          <p:nvPr>
            <p:ph idx="4294967295"/>
          </p:nvPr>
        </p:nvSpPr>
        <p:spPr/>
        <p:txBody>
          <a:bodyPr/>
          <a:lstStyle/>
          <a:p>
            <a:r>
              <a:rPr lang="en-US" dirty="0">
                <a:latin typeface="Calisto MT" charset="0"/>
              </a:rPr>
              <a:t>The </a:t>
            </a:r>
            <a:r>
              <a:rPr lang="en-US" b="1" dirty="0">
                <a:latin typeface="Calisto MT" charset="0"/>
              </a:rPr>
              <a:t>Primary Mortgage Market</a:t>
            </a:r>
            <a:r>
              <a:rPr lang="en-US" dirty="0">
                <a:latin typeface="Calisto MT" charset="0"/>
              </a:rPr>
              <a:t> is where mortgages are originated by depository institutions such as commercial banks or thrifts who have expertise in underwriting new mortgage loans.</a:t>
            </a:r>
          </a:p>
          <a:p>
            <a:r>
              <a:rPr lang="en-US" dirty="0">
                <a:latin typeface="Calisto MT" charset="0"/>
              </a:rPr>
              <a:t>The </a:t>
            </a:r>
            <a:r>
              <a:rPr lang="en-US" b="1" dirty="0">
                <a:latin typeface="Calisto MT" charset="0"/>
              </a:rPr>
              <a:t>Secondary Mortgage Market </a:t>
            </a:r>
            <a:r>
              <a:rPr lang="en-US" dirty="0">
                <a:latin typeface="Calisto MT" charset="0"/>
              </a:rPr>
              <a:t>is where the newly originated mortgages are sold to an end-investor. The basic idea behind a secondary mortgage market is to tap the capital markets as a long-term funding source for the mortgage market.</a:t>
            </a:r>
          </a:p>
          <a:p>
            <a:r>
              <a:rPr lang="en-US" dirty="0">
                <a:latin typeface="Calisto MT" charset="0"/>
              </a:rPr>
              <a:t>Secondary mortgage market transactions are accomplished by combining purchased mortgages to form a </a:t>
            </a:r>
            <a:r>
              <a:rPr lang="en-US" b="1" dirty="0">
                <a:latin typeface="Calisto MT" charset="0"/>
              </a:rPr>
              <a:t>mortgage pool</a:t>
            </a:r>
            <a:r>
              <a:rPr lang="en-US" dirty="0">
                <a:latin typeface="Calisto MT" charset="0"/>
              </a:rPr>
              <a:t> (this process is called </a:t>
            </a:r>
            <a:r>
              <a:rPr lang="en-US" b="1" dirty="0">
                <a:latin typeface="Calisto MT" charset="0"/>
              </a:rPr>
              <a:t>securitization</a:t>
            </a:r>
            <a:r>
              <a:rPr lang="en-US" dirty="0">
                <a:latin typeface="Calisto MT" charset="0"/>
              </a:rPr>
              <a:t>) and then selling pro-rated shares in the cash flows of this pool as mortgage securities (hence the term </a:t>
            </a:r>
            <a:r>
              <a:rPr lang="en-US" b="1" dirty="0">
                <a:latin typeface="Calisto MT" charset="0"/>
              </a:rPr>
              <a:t>mortgage-backed security</a:t>
            </a:r>
            <a:r>
              <a:rPr lang="en-US" i="1" dirty="0">
                <a:latin typeface="Calisto MT" charset="0"/>
              </a:rPr>
              <a:t> </a:t>
            </a:r>
            <a:r>
              <a:rPr lang="en-US" dirty="0">
                <a:latin typeface="Calisto MT" charset="0"/>
              </a:rPr>
              <a:t>or </a:t>
            </a:r>
            <a:r>
              <a:rPr lang="en-US" b="1" dirty="0">
                <a:latin typeface="Calisto MT" charset="0"/>
              </a:rPr>
              <a:t>MBS</a:t>
            </a:r>
            <a:r>
              <a:rPr lang="en-US" dirty="0">
                <a:latin typeface="Calisto MT" charset="0"/>
              </a:rPr>
              <a:t>).</a:t>
            </a:r>
            <a:endParaRPr lang="en-US" b="1" dirty="0">
              <a:latin typeface="Calisto MT" charset="0"/>
            </a:endParaRPr>
          </a:p>
          <a:p>
            <a:endParaRPr lang="en-US" dirty="0">
              <a:latin typeface="Calisto MT" charset="0"/>
            </a:endParaRPr>
          </a:p>
          <a:p>
            <a:pPr lvl="1"/>
            <a:endParaRPr lang="en-US" dirty="0">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7EFA82E4-B577-054F-AFD9-76E939DCD5F7}" type="slidenum">
              <a:rPr lang="en-US" sz="1200">
                <a:solidFill>
                  <a:srgbClr val="898989"/>
                </a:solidFill>
                <a:latin typeface="Verdana" charset="0"/>
              </a:rPr>
              <a:pPr algn="r"/>
              <a:t>27</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Title 1"/>
          <p:cNvSpPr>
            <a:spLocks noGrp="1"/>
          </p:cNvSpPr>
          <p:nvPr>
            <p:ph type="title" idx="4294967295"/>
          </p:nvPr>
        </p:nvSpPr>
        <p:spPr/>
        <p:txBody>
          <a:bodyPr/>
          <a:lstStyle/>
          <a:p>
            <a:pPr algn="l"/>
            <a:r>
              <a:rPr lang="en-US">
                <a:latin typeface="Calisto MT" charset="0"/>
              </a:rPr>
              <a:t>Securitization Plays a Crucial Role in U.S. Mortgage Markets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F2154842-18B5-BD48-B1AC-EA437336B155}" type="slidenum">
              <a:rPr lang="en-US" sz="1200">
                <a:solidFill>
                  <a:srgbClr val="898989"/>
                </a:solidFill>
                <a:latin typeface="Verdana" charset="0"/>
              </a:rPr>
              <a:pPr algn="r"/>
              <a:t>28</a:t>
            </a:fld>
            <a:endParaRPr lang="en-US" sz="1200">
              <a:solidFill>
                <a:srgbClr val="898989"/>
              </a:solidFill>
              <a:latin typeface="Verdana" charset="0"/>
            </a:endParaRPr>
          </a:p>
        </p:txBody>
      </p:sp>
      <p:sp>
        <p:nvSpPr>
          <p:cNvPr id="257031" name="Text Box 7"/>
          <p:cNvSpPr txBox="1">
            <a:spLocks noChangeArrowheads="1"/>
          </p:cNvSpPr>
          <p:nvPr/>
        </p:nvSpPr>
        <p:spPr bwMode="auto">
          <a:xfrm>
            <a:off x="533400" y="5715000"/>
            <a:ext cx="204311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000" i="1"/>
              <a:t>Source: Inside Mortgage Finance</a:t>
            </a:r>
          </a:p>
        </p:txBody>
      </p:sp>
      <p:pic>
        <p:nvPicPr>
          <p:cNvPr id="257032"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16000" y="1676400"/>
            <a:ext cx="7110413"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Title 1"/>
          <p:cNvSpPr>
            <a:spLocks noGrp="1"/>
          </p:cNvSpPr>
          <p:nvPr>
            <p:ph type="title" idx="4294967295"/>
          </p:nvPr>
        </p:nvSpPr>
        <p:spPr/>
        <p:txBody>
          <a:bodyPr/>
          <a:lstStyle/>
          <a:p>
            <a:pPr algn="l"/>
            <a:r>
              <a:rPr lang="en-US">
                <a:latin typeface="Calisto MT" charset="0"/>
              </a:rPr>
              <a:t>The </a:t>
            </a:r>
            <a:r>
              <a:rPr lang="ja-JP" altLang="en-US">
                <a:latin typeface="Calisto MT" charset="0"/>
              </a:rPr>
              <a:t>“</a:t>
            </a:r>
            <a:r>
              <a:rPr lang="en-US">
                <a:latin typeface="Calisto MT" charset="0"/>
              </a:rPr>
              <a:t>Agencies</a:t>
            </a:r>
            <a:r>
              <a:rPr lang="ja-JP" altLang="en-US">
                <a:latin typeface="Calisto MT" charset="0"/>
              </a:rPr>
              <a:t>”</a:t>
            </a:r>
            <a:r>
              <a:rPr lang="en-US">
                <a:latin typeface="Calisto MT" charset="0"/>
              </a:rPr>
              <a:t> Play an Significant Role in the U.S. Mortgage Market</a:t>
            </a:r>
          </a:p>
        </p:txBody>
      </p:sp>
      <p:sp>
        <p:nvSpPr>
          <p:cNvPr id="259075" name="Content Placeholder 2"/>
          <p:cNvSpPr>
            <a:spLocks noGrp="1"/>
          </p:cNvSpPr>
          <p:nvPr>
            <p:ph idx="4294967295"/>
          </p:nvPr>
        </p:nvSpPr>
        <p:spPr/>
        <p:txBody>
          <a:bodyPr/>
          <a:lstStyle/>
          <a:p>
            <a:r>
              <a:rPr lang="en-US" dirty="0">
                <a:latin typeface="Calisto MT" charset="0"/>
              </a:rPr>
              <a:t>Since the 1930s, 3 institutions have been created by the U.S. Congress to develop a secondary market for mortgages.</a:t>
            </a:r>
          </a:p>
          <a:p>
            <a:pPr lvl="1"/>
            <a:r>
              <a:rPr lang="en-US" b="1" dirty="0">
                <a:latin typeface="Calisto MT" charset="0"/>
              </a:rPr>
              <a:t>Government National Mortgage Association (</a:t>
            </a:r>
            <a:r>
              <a:rPr lang="en-US" b="1" dirty="0" err="1">
                <a:latin typeface="Calisto MT" charset="0"/>
              </a:rPr>
              <a:t>Ginnie</a:t>
            </a:r>
            <a:r>
              <a:rPr lang="en-US" b="1" dirty="0">
                <a:latin typeface="Calisto MT" charset="0"/>
              </a:rPr>
              <a:t> Mae, GNMA) [1968]</a:t>
            </a:r>
          </a:p>
          <a:p>
            <a:pPr lvl="2"/>
            <a:r>
              <a:rPr lang="en-US" dirty="0">
                <a:latin typeface="Calisto MT" charset="0"/>
              </a:rPr>
              <a:t>Guarantees fully and timely payments of principal and interest on GNMA MBS</a:t>
            </a:r>
          </a:p>
          <a:p>
            <a:pPr lvl="2"/>
            <a:r>
              <a:rPr lang="en-US" dirty="0">
                <a:latin typeface="Calisto MT" charset="0"/>
              </a:rPr>
              <a:t>Guarantee is backed by the full faith and credit of the U.S. Government</a:t>
            </a:r>
          </a:p>
          <a:p>
            <a:pPr lvl="1"/>
            <a:r>
              <a:rPr lang="en-US" b="1" dirty="0">
                <a:latin typeface="Calisto MT" charset="0"/>
              </a:rPr>
              <a:t>Federal National Mortgage Association (Fannie Mae, FNMA) [1938, 1968]</a:t>
            </a:r>
          </a:p>
          <a:p>
            <a:pPr lvl="2"/>
            <a:r>
              <a:rPr lang="en-US" dirty="0">
                <a:latin typeface="Calisto MT" charset="0"/>
              </a:rPr>
              <a:t>Guarantees fully and timely payment of both principal and interest on FNMA MBS</a:t>
            </a:r>
          </a:p>
          <a:p>
            <a:pPr lvl="2"/>
            <a:r>
              <a:rPr lang="en-US" dirty="0">
                <a:latin typeface="Calisto MT" charset="0"/>
              </a:rPr>
              <a:t>Implicit Government guarantee</a:t>
            </a:r>
          </a:p>
          <a:p>
            <a:pPr lvl="1"/>
            <a:r>
              <a:rPr lang="en-US" b="1" dirty="0">
                <a:latin typeface="Calisto MT" charset="0"/>
              </a:rPr>
              <a:t>Federal Home Loan Mortgage Corporation (Freddie Mac, FHLMC) [1970]</a:t>
            </a:r>
          </a:p>
          <a:p>
            <a:pPr lvl="2"/>
            <a:r>
              <a:rPr lang="en-US" dirty="0">
                <a:latin typeface="Calisto MT" charset="0"/>
              </a:rPr>
              <a:t>Guarantees full and timely payments of both principal and interest on FHLMC MBS</a:t>
            </a:r>
          </a:p>
          <a:p>
            <a:pPr lvl="2"/>
            <a:r>
              <a:rPr lang="en-US" dirty="0">
                <a:latin typeface="Calisto MT" charset="0"/>
              </a:rPr>
              <a:t>Implicit Government guarantee</a:t>
            </a:r>
          </a:p>
          <a:p>
            <a:pPr lvl="2"/>
            <a:endParaRPr lang="en-US" b="1" dirty="0">
              <a:latin typeface="Calisto MT" charset="0"/>
            </a:endParaRPr>
          </a:p>
          <a:p>
            <a:endParaRPr lang="en-US" dirty="0">
              <a:latin typeface="Calisto MT" charset="0"/>
            </a:endParaRPr>
          </a:p>
          <a:p>
            <a:endParaRPr lang="en-US" dirty="0">
              <a:latin typeface="Calisto MT" charset="0"/>
            </a:endParaRPr>
          </a:p>
          <a:p>
            <a:pPr lvl="1"/>
            <a:endParaRPr lang="en-US" dirty="0">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176BD1F3-F3FA-1E4C-8912-2305CB1D227E}" type="slidenum">
              <a:rPr lang="en-US" sz="1200">
                <a:solidFill>
                  <a:srgbClr val="898989"/>
                </a:solidFill>
                <a:latin typeface="Verdana" charset="0"/>
              </a:rPr>
              <a:pPr algn="r"/>
              <a:t>29</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TextBox 85"/>
          <p:cNvSpPr txBox="1">
            <a:spLocks noChangeArrowheads="1"/>
          </p:cNvSpPr>
          <p:nvPr/>
        </p:nvSpPr>
        <p:spPr bwMode="auto">
          <a:xfrm>
            <a:off x="5135563" y="2128838"/>
            <a:ext cx="16160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800">
                <a:latin typeface="Verdana" charset="0"/>
              </a:rPr>
              <a:t>Mortgage-Backed Security</a:t>
            </a:r>
          </a:p>
          <a:p>
            <a:pPr algn="ctr"/>
            <a:r>
              <a:rPr lang="en-US" sz="800">
                <a:latin typeface="Verdana" charset="0"/>
              </a:rPr>
              <a:t>(</a:t>
            </a:r>
            <a:r>
              <a:rPr lang="ja-JP" altLang="en-US" sz="800">
                <a:latin typeface="Verdana" charset="0"/>
              </a:rPr>
              <a:t>“</a:t>
            </a:r>
            <a:r>
              <a:rPr lang="en-US" sz="800">
                <a:latin typeface="Verdana" charset="0"/>
              </a:rPr>
              <a:t>MBS</a:t>
            </a:r>
            <a:r>
              <a:rPr lang="ja-JP" altLang="en-US" sz="800">
                <a:latin typeface="Verdana" charset="0"/>
              </a:rPr>
              <a:t>”</a:t>
            </a:r>
            <a:r>
              <a:rPr lang="en-US" sz="800">
                <a:latin typeface="Verdana" charset="0"/>
              </a:rPr>
              <a:t>)</a:t>
            </a:r>
          </a:p>
        </p:txBody>
      </p:sp>
      <p:grpSp>
        <p:nvGrpSpPr>
          <p:cNvPr id="260103" name="Group 62"/>
          <p:cNvGrpSpPr>
            <a:grpSpLocks/>
          </p:cNvGrpSpPr>
          <p:nvPr/>
        </p:nvGrpSpPr>
        <p:grpSpPr bwMode="auto">
          <a:xfrm>
            <a:off x="1274763" y="1671638"/>
            <a:ext cx="1108075" cy="1192212"/>
            <a:chOff x="1274802" y="1600202"/>
            <a:chExt cx="1107996" cy="1191399"/>
          </a:xfrm>
        </p:grpSpPr>
        <p:pic>
          <p:nvPicPr>
            <p:cNvPr id="260104" name="Picture 16" descr="C:\Documents and Settings\Owner\Local Settings\Temporary Internet Files\Content.IE5\E1AARP1L\MCBD05082_0000[1].wmf"/>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371600" y="1600202"/>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0105" name="TextBox 61"/>
            <p:cNvSpPr txBox="1">
              <a:spLocks noChangeArrowheads="1"/>
            </p:cNvSpPr>
            <p:nvPr/>
          </p:nvSpPr>
          <p:spPr bwMode="auto">
            <a:xfrm>
              <a:off x="1274802" y="2514602"/>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chemeClr val="accent1"/>
                  </a:solidFill>
                  <a:latin typeface="Verdana" charset="0"/>
                </a:rPr>
                <a:t>Homeowner</a:t>
              </a:r>
            </a:p>
          </p:txBody>
        </p:sp>
      </p:grpSp>
      <p:grpSp>
        <p:nvGrpSpPr>
          <p:cNvPr id="260106" name="Group 64"/>
          <p:cNvGrpSpPr>
            <a:grpSpLocks/>
          </p:cNvGrpSpPr>
          <p:nvPr/>
        </p:nvGrpSpPr>
        <p:grpSpPr bwMode="auto">
          <a:xfrm>
            <a:off x="3905250" y="1671638"/>
            <a:ext cx="1352550" cy="1192212"/>
            <a:chOff x="3904544" y="1600202"/>
            <a:chExt cx="1353256" cy="1191399"/>
          </a:xfrm>
        </p:grpSpPr>
        <p:pic>
          <p:nvPicPr>
            <p:cNvPr id="260107" name="Picture 9" descr="Filename: j0440380.png&#10;Keywords: architecture, banking, banking industry ...&#10;File Size: 52 KB"/>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114800" y="1600202"/>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0108" name="TextBox 63"/>
            <p:cNvSpPr txBox="1">
              <a:spLocks noChangeArrowheads="1"/>
            </p:cNvSpPr>
            <p:nvPr/>
          </p:nvSpPr>
          <p:spPr bwMode="auto">
            <a:xfrm>
              <a:off x="3904544" y="2514602"/>
              <a:ext cx="135325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chemeClr val="accent1"/>
                  </a:solidFill>
                  <a:latin typeface="Verdana" charset="0"/>
                </a:rPr>
                <a:t>Mortgage Bank</a:t>
              </a:r>
            </a:p>
          </p:txBody>
        </p:sp>
      </p:grpSp>
      <p:sp>
        <p:nvSpPr>
          <p:cNvPr id="260109" name="TextBox 65"/>
          <p:cNvSpPr txBox="1">
            <a:spLocks noChangeArrowheads="1"/>
          </p:cNvSpPr>
          <p:nvPr/>
        </p:nvSpPr>
        <p:spPr bwMode="auto">
          <a:xfrm>
            <a:off x="6629400" y="2589213"/>
            <a:ext cx="14843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chemeClr val="accent1"/>
                </a:solidFill>
                <a:latin typeface="Verdana" charset="0"/>
              </a:rPr>
              <a:t>Federal Agencies</a:t>
            </a:r>
          </a:p>
        </p:txBody>
      </p:sp>
      <p:grpSp>
        <p:nvGrpSpPr>
          <p:cNvPr id="260110" name="Group 67"/>
          <p:cNvGrpSpPr>
            <a:grpSpLocks/>
          </p:cNvGrpSpPr>
          <p:nvPr/>
        </p:nvGrpSpPr>
        <p:grpSpPr bwMode="auto">
          <a:xfrm>
            <a:off x="3898900" y="4414838"/>
            <a:ext cx="1346200" cy="1192212"/>
            <a:chOff x="3898450" y="3429000"/>
            <a:chExt cx="1347100" cy="1191399"/>
          </a:xfrm>
        </p:grpSpPr>
        <p:pic>
          <p:nvPicPr>
            <p:cNvPr id="260111" name="Picture 32" descr="http://www.fotosearch.com/bthumb/CSP/CSP126/k1260586.jpg"/>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114801" y="3429000"/>
              <a:ext cx="914399"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0112" name="TextBox 66"/>
            <p:cNvSpPr txBox="1">
              <a:spLocks noChangeArrowheads="1"/>
            </p:cNvSpPr>
            <p:nvPr/>
          </p:nvSpPr>
          <p:spPr bwMode="auto">
            <a:xfrm>
              <a:off x="3898450" y="4343400"/>
              <a:ext cx="13471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1200">
                  <a:solidFill>
                    <a:schemeClr val="accent1"/>
                  </a:solidFill>
                  <a:latin typeface="Verdana" charset="0"/>
                </a:rPr>
                <a:t>Broker-Dealers</a:t>
              </a:r>
            </a:p>
          </p:txBody>
        </p:sp>
      </p:grpSp>
      <p:grpSp>
        <p:nvGrpSpPr>
          <p:cNvPr id="260113" name="Group 87"/>
          <p:cNvGrpSpPr>
            <a:grpSpLocks/>
          </p:cNvGrpSpPr>
          <p:nvPr/>
        </p:nvGrpSpPr>
        <p:grpSpPr bwMode="auto">
          <a:xfrm>
            <a:off x="1362075" y="4414838"/>
            <a:ext cx="914400" cy="1192212"/>
            <a:chOff x="1362189" y="3429000"/>
            <a:chExt cx="914400" cy="1191399"/>
          </a:xfrm>
        </p:grpSpPr>
        <p:pic>
          <p:nvPicPr>
            <p:cNvPr id="260114" name="Picture 15" descr="Filename: j0440396.png&#10;Keywords: bills, briefcases, cash ...&#10;File Size: 76 KB"/>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1362189" y="34290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0115" name="TextBox 68"/>
            <p:cNvSpPr txBox="1">
              <a:spLocks noChangeArrowheads="1"/>
            </p:cNvSpPr>
            <p:nvPr/>
          </p:nvSpPr>
          <p:spPr bwMode="auto">
            <a:xfrm>
              <a:off x="1370187" y="4343400"/>
              <a:ext cx="9064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chemeClr val="accent1"/>
                  </a:solidFill>
                  <a:latin typeface="Verdana" charset="0"/>
                </a:rPr>
                <a:t>Investors</a:t>
              </a:r>
            </a:p>
          </p:txBody>
        </p:sp>
      </p:grpSp>
      <p:cxnSp>
        <p:nvCxnSpPr>
          <p:cNvPr id="71" name="Straight Arrow Connector 70"/>
          <p:cNvCxnSpPr/>
          <p:nvPr/>
        </p:nvCxnSpPr>
        <p:spPr>
          <a:xfrm>
            <a:off x="2382838" y="1936750"/>
            <a:ext cx="157797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rot="10800000">
            <a:off x="2382838" y="2128838"/>
            <a:ext cx="1577975"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0118" name="TextBox 79"/>
          <p:cNvSpPr txBox="1">
            <a:spLocks noChangeArrowheads="1"/>
          </p:cNvSpPr>
          <p:nvPr/>
        </p:nvSpPr>
        <p:spPr bwMode="auto">
          <a:xfrm>
            <a:off x="2438400" y="1638300"/>
            <a:ext cx="15224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800">
                <a:latin typeface="Verdana" charset="0"/>
              </a:rPr>
              <a:t>Mortgage Loan becomes asset of bank</a:t>
            </a:r>
          </a:p>
        </p:txBody>
      </p:sp>
      <p:cxnSp>
        <p:nvCxnSpPr>
          <p:cNvPr id="84" name="Straight Arrow Connector 83"/>
          <p:cNvCxnSpPr/>
          <p:nvPr/>
        </p:nvCxnSpPr>
        <p:spPr>
          <a:xfrm>
            <a:off x="5135563" y="1938338"/>
            <a:ext cx="1616075"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rot="10800000" flipV="1">
            <a:off x="5135563" y="2128838"/>
            <a:ext cx="1616075"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0121" name="TextBox 86"/>
          <p:cNvSpPr txBox="1">
            <a:spLocks noChangeArrowheads="1"/>
          </p:cNvSpPr>
          <p:nvPr/>
        </p:nvSpPr>
        <p:spPr bwMode="auto">
          <a:xfrm>
            <a:off x="5257800" y="1747838"/>
            <a:ext cx="1371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800">
                <a:latin typeface="Verdana" charset="0"/>
              </a:rPr>
              <a:t>Mortgage Loan</a:t>
            </a:r>
          </a:p>
        </p:txBody>
      </p:sp>
      <p:cxnSp>
        <p:nvCxnSpPr>
          <p:cNvPr id="90" name="Straight Arrow Connector 89"/>
          <p:cNvCxnSpPr/>
          <p:nvPr/>
        </p:nvCxnSpPr>
        <p:spPr>
          <a:xfrm>
            <a:off x="2382838" y="4832350"/>
            <a:ext cx="157797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rot="10800000">
            <a:off x="2382838" y="5060950"/>
            <a:ext cx="157797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0124" name="TextBox 91"/>
          <p:cNvSpPr txBox="1">
            <a:spLocks noChangeArrowheads="1"/>
          </p:cNvSpPr>
          <p:nvPr/>
        </p:nvSpPr>
        <p:spPr bwMode="auto">
          <a:xfrm>
            <a:off x="2933700" y="5076825"/>
            <a:ext cx="5207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800">
                <a:latin typeface="Verdana" charset="0"/>
              </a:rPr>
              <a:t>MBS</a:t>
            </a:r>
          </a:p>
        </p:txBody>
      </p:sp>
      <p:cxnSp>
        <p:nvCxnSpPr>
          <p:cNvPr id="112" name="Straight Arrow Connector 111"/>
          <p:cNvCxnSpPr/>
          <p:nvPr/>
        </p:nvCxnSpPr>
        <p:spPr>
          <a:xfrm rot="5400000">
            <a:off x="3898900" y="3703638"/>
            <a:ext cx="157638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p:nvPr/>
        </p:nvCxnSpPr>
        <p:spPr>
          <a:xfrm rot="16200000">
            <a:off x="3670300" y="3703638"/>
            <a:ext cx="157638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0127" name="TextBox 114"/>
          <p:cNvSpPr txBox="1">
            <a:spLocks noChangeArrowheads="1"/>
          </p:cNvSpPr>
          <p:nvPr/>
        </p:nvSpPr>
        <p:spPr bwMode="auto">
          <a:xfrm>
            <a:off x="4686300" y="3614738"/>
            <a:ext cx="495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sz="800">
                <a:latin typeface="Verdana" charset="0"/>
              </a:rPr>
              <a:t>MBS</a:t>
            </a:r>
          </a:p>
        </p:txBody>
      </p:sp>
      <p:pic>
        <p:nvPicPr>
          <p:cNvPr id="260128" name="Picture 33" descr="C:\Documents and Settings\Owner\My Documents\My Pictures\Microsoft Clip Organizer\MCj04403910000[1].png"/>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2997200" y="212883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0129" name="Picture 33" descr="C:\Documents and Settings\Owner\My Documents\My Pictures\Microsoft Clip Organizer\MCj04403910000[1].png"/>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4000500" y="350043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0130" name="Picture 33" descr="C:\Documents and Settings\Owner\My Documents\My Pictures\Microsoft Clip Organizer\MCj04403910000[1].png"/>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2933700" y="437673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0131" name="TextBox 124"/>
          <p:cNvSpPr txBox="1">
            <a:spLocks noChangeArrowheads="1"/>
          </p:cNvSpPr>
          <p:nvPr/>
        </p:nvSpPr>
        <p:spPr bwMode="auto">
          <a:xfrm>
            <a:off x="2667000" y="3505200"/>
            <a:ext cx="1295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175">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just"/>
            <a:r>
              <a:rPr lang="en-US" sz="800" dirty="0">
                <a:latin typeface="Verdana" charset="0"/>
              </a:rPr>
              <a:t>The bank sells the </a:t>
            </a:r>
            <a:r>
              <a:rPr lang="ja-JP" altLang="en-US" sz="800" dirty="0">
                <a:latin typeface="Verdana" charset="0"/>
              </a:rPr>
              <a:t>“</a:t>
            </a:r>
            <a:r>
              <a:rPr lang="en-US" sz="800" dirty="0">
                <a:latin typeface="Verdana" charset="0"/>
              </a:rPr>
              <a:t>Pass-Through</a:t>
            </a:r>
            <a:r>
              <a:rPr lang="ja-JP" altLang="en-US" sz="800" dirty="0">
                <a:latin typeface="Verdana" charset="0"/>
              </a:rPr>
              <a:t>”</a:t>
            </a:r>
            <a:r>
              <a:rPr lang="en-US" sz="800" dirty="0">
                <a:latin typeface="Verdana" charset="0"/>
              </a:rPr>
              <a:t> MBS freeing up capital for new lending</a:t>
            </a:r>
          </a:p>
        </p:txBody>
      </p:sp>
      <p:sp>
        <p:nvSpPr>
          <p:cNvPr id="260132" name="TextBox 125"/>
          <p:cNvSpPr txBox="1">
            <a:spLocks noChangeArrowheads="1"/>
          </p:cNvSpPr>
          <p:nvPr/>
        </p:nvSpPr>
        <p:spPr bwMode="auto">
          <a:xfrm>
            <a:off x="1143000" y="2924175"/>
            <a:ext cx="1333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just"/>
            <a:r>
              <a:rPr lang="en-US" sz="800">
                <a:latin typeface="Verdana" charset="0"/>
              </a:rPr>
              <a:t>A borrower takes out a mortgage to buy a home or to refinance an existing mortgage</a:t>
            </a:r>
          </a:p>
        </p:txBody>
      </p:sp>
      <p:sp>
        <p:nvSpPr>
          <p:cNvPr id="260133" name="TextBox 126"/>
          <p:cNvSpPr txBox="1">
            <a:spLocks noChangeArrowheads="1"/>
          </p:cNvSpPr>
          <p:nvPr/>
        </p:nvSpPr>
        <p:spPr bwMode="auto">
          <a:xfrm>
            <a:off x="6400800" y="2901950"/>
            <a:ext cx="1866900"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just"/>
            <a:r>
              <a:rPr lang="en-US" sz="800">
                <a:latin typeface="Verdana" charset="0"/>
              </a:rPr>
              <a:t>The bank delivers the mortgage to one of the Federal Agencies and in exchange receives a </a:t>
            </a:r>
            <a:r>
              <a:rPr lang="ja-JP" altLang="en-US" sz="800">
                <a:latin typeface="Verdana" charset="0"/>
              </a:rPr>
              <a:t>“</a:t>
            </a:r>
            <a:r>
              <a:rPr lang="en-US" sz="800">
                <a:latin typeface="Verdana" charset="0"/>
              </a:rPr>
              <a:t>Pass-Through</a:t>
            </a:r>
            <a:r>
              <a:rPr lang="ja-JP" altLang="en-US" sz="800">
                <a:latin typeface="Verdana" charset="0"/>
              </a:rPr>
              <a:t>”</a:t>
            </a:r>
            <a:r>
              <a:rPr lang="en-US" sz="800">
                <a:latin typeface="Verdana" charset="0"/>
              </a:rPr>
              <a:t>  MBS backed by the Agencies</a:t>
            </a:r>
            <a:r>
              <a:rPr lang="ja-JP" altLang="en-US" sz="800">
                <a:latin typeface="Verdana" charset="0"/>
              </a:rPr>
              <a:t>’</a:t>
            </a:r>
            <a:r>
              <a:rPr lang="en-US" sz="800">
                <a:latin typeface="Verdana" charset="0"/>
              </a:rPr>
              <a:t> credit guarantee.  In return for the credit guarantee, the Agencies collect a fee by keeping part of the monthly payment made by the borrower </a:t>
            </a:r>
          </a:p>
        </p:txBody>
      </p:sp>
      <p:sp>
        <p:nvSpPr>
          <p:cNvPr id="260134" name="TextBox 127"/>
          <p:cNvSpPr txBox="1">
            <a:spLocks noChangeArrowheads="1"/>
          </p:cNvSpPr>
          <p:nvPr/>
        </p:nvSpPr>
        <p:spPr bwMode="auto">
          <a:xfrm>
            <a:off x="3314700" y="5557838"/>
            <a:ext cx="2514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175">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just"/>
            <a:r>
              <a:rPr lang="en-US" sz="800">
                <a:latin typeface="Verdana" charset="0"/>
              </a:rPr>
              <a:t>Broker-Dealer can either sell the </a:t>
            </a:r>
            <a:r>
              <a:rPr lang="ja-JP" altLang="en-US" sz="800">
                <a:latin typeface="Verdana" charset="0"/>
              </a:rPr>
              <a:t>“</a:t>
            </a:r>
            <a:r>
              <a:rPr lang="en-US" sz="800">
                <a:latin typeface="Verdana" charset="0"/>
              </a:rPr>
              <a:t>Pass-Through</a:t>
            </a:r>
            <a:r>
              <a:rPr lang="ja-JP" altLang="en-US" sz="800">
                <a:latin typeface="Verdana" charset="0"/>
              </a:rPr>
              <a:t>”</a:t>
            </a:r>
            <a:r>
              <a:rPr lang="en-US" sz="800">
                <a:latin typeface="Verdana" charset="0"/>
              </a:rPr>
              <a:t> MBS to investors or structure the </a:t>
            </a:r>
            <a:r>
              <a:rPr lang="ja-JP" altLang="en-US" sz="800">
                <a:latin typeface="Verdana" charset="0"/>
              </a:rPr>
              <a:t>“</a:t>
            </a:r>
            <a:r>
              <a:rPr lang="en-US" sz="800">
                <a:latin typeface="Verdana" charset="0"/>
              </a:rPr>
              <a:t>Pass-Throughs</a:t>
            </a:r>
            <a:r>
              <a:rPr lang="ja-JP" altLang="en-US" sz="800">
                <a:latin typeface="Verdana" charset="0"/>
              </a:rPr>
              <a:t>”</a:t>
            </a:r>
            <a:r>
              <a:rPr lang="en-US" sz="800">
                <a:latin typeface="Verdana" charset="0"/>
              </a:rPr>
              <a:t> into Collateralized Mortgage Obligations (</a:t>
            </a:r>
            <a:r>
              <a:rPr lang="ja-JP" altLang="en-US" sz="800">
                <a:latin typeface="Verdana" charset="0"/>
              </a:rPr>
              <a:t>“</a:t>
            </a:r>
            <a:r>
              <a:rPr lang="en-US" sz="800">
                <a:latin typeface="Verdana" charset="0"/>
              </a:rPr>
              <a:t>CMOs</a:t>
            </a:r>
            <a:r>
              <a:rPr lang="ja-JP" altLang="en-US" sz="800">
                <a:latin typeface="Verdana" charset="0"/>
              </a:rPr>
              <a:t>”</a:t>
            </a:r>
            <a:r>
              <a:rPr lang="en-US" sz="800">
                <a:latin typeface="Verdana" charset="0"/>
              </a:rPr>
              <a:t>) and sell those to investors</a:t>
            </a:r>
          </a:p>
        </p:txBody>
      </p:sp>
      <p:pic>
        <p:nvPicPr>
          <p:cNvPr id="260135" name="Picture 46" descr="Agencies Logo.png"/>
          <p:cNvPicPr>
            <a:picLocks noChangeAspect="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6858000" y="1866900"/>
            <a:ext cx="9144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Title 1"/>
          <p:cNvSpPr>
            <a:spLocks noGrp="1"/>
          </p:cNvSpPr>
          <p:nvPr>
            <p:ph type="title" idx="4294967295"/>
          </p:nvPr>
        </p:nvSpPr>
        <p:spPr/>
        <p:txBody>
          <a:bodyPr/>
          <a:lstStyle/>
          <a:p>
            <a:pPr algn="l"/>
            <a:r>
              <a:rPr lang="en-US">
                <a:latin typeface="Calisto MT" charset="0"/>
              </a:rPr>
              <a:t>Loan Limits</a:t>
            </a:r>
          </a:p>
        </p:txBody>
      </p:sp>
      <p:sp>
        <p:nvSpPr>
          <p:cNvPr id="262147" name="Content Placeholder 2"/>
          <p:cNvSpPr>
            <a:spLocks noGrp="1"/>
          </p:cNvSpPr>
          <p:nvPr>
            <p:ph idx="4294967295"/>
          </p:nvPr>
        </p:nvSpPr>
        <p:spPr/>
        <p:txBody>
          <a:bodyPr/>
          <a:lstStyle/>
          <a:p>
            <a:r>
              <a:rPr lang="en-US">
                <a:latin typeface="Calisto MT" charset="0"/>
              </a:rPr>
              <a:t>FNMA and FHLMC are restricted by law to purchasing single-family loans with balances below a specific amount known as the </a:t>
            </a:r>
            <a:r>
              <a:rPr lang="en-US" b="1">
                <a:latin typeface="Calisto MT" charset="0"/>
              </a:rPr>
              <a:t>conforming loan limit</a:t>
            </a:r>
            <a:r>
              <a:rPr lang="en-US">
                <a:latin typeface="Calisto MT" charset="0"/>
              </a:rPr>
              <a:t>. Loans with balances above this limit are known as </a:t>
            </a:r>
            <a:r>
              <a:rPr lang="en-US" b="1">
                <a:latin typeface="Calisto MT" charset="0"/>
              </a:rPr>
              <a:t>jumbo loans</a:t>
            </a:r>
            <a:r>
              <a:rPr lang="en-US">
                <a:latin typeface="Calisto MT" charset="0"/>
              </a:rPr>
              <a:t>.</a:t>
            </a:r>
          </a:p>
          <a:p>
            <a:r>
              <a:rPr lang="en-US">
                <a:latin typeface="Calisto MT" charset="0"/>
              </a:rPr>
              <a:t>The national conforming loan limit for single-family mortgages is currently $417,000 (as of 2009) for most areas in the U.S. but can be higher in certain high-cost cities and countries.</a:t>
            </a:r>
          </a:p>
          <a:p>
            <a:r>
              <a:rPr lang="en-US">
                <a:latin typeface="Calisto MT" charset="0"/>
              </a:rPr>
              <a:t>Loan limits for high-cost areas in 2009 are set at 115% of the local median house price and cannot exceed 150% of the standard limit ($625,500 for a 1-unit house).</a:t>
            </a:r>
          </a:p>
          <a:p>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7E814454-DFFE-C242-BDF4-23CFDD2BF158}" type="slidenum">
              <a:rPr lang="en-US" sz="1200">
                <a:solidFill>
                  <a:srgbClr val="898989"/>
                </a:solidFill>
                <a:latin typeface="Verdana" charset="0"/>
              </a:rPr>
              <a:pPr algn="r"/>
              <a:t>31</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22313" y="4406900"/>
            <a:ext cx="7772400" cy="1362075"/>
          </a:xfrm>
        </p:spPr>
        <p:txBody>
          <a:bodyPr anchor="t">
            <a:normAutofit/>
          </a:bodyPr>
          <a:lstStyle/>
          <a:p>
            <a:pPr algn="l"/>
            <a:r>
              <a:rPr lang="en-US" sz="2400" b="1">
                <a:latin typeface="Calisto MT" charset="0"/>
              </a:rPr>
              <a:t>INTRODUCTION TO MORTGAGE-BACKED SECURITIES</a:t>
            </a:r>
          </a:p>
        </p:txBody>
      </p:sp>
      <p:sp>
        <p:nvSpPr>
          <p:cNvPr id="11" name="Text Placeholder 10"/>
          <p:cNvSpPr>
            <a:spLocks noGrp="1"/>
          </p:cNvSpPr>
          <p:nvPr>
            <p:ph type="body" idx="4294967295"/>
          </p:nvPr>
        </p:nvSpPr>
        <p:spPr>
          <a:xfrm>
            <a:off x="722313" y="2906713"/>
            <a:ext cx="7772400" cy="1500187"/>
          </a:xfrm>
        </p:spPr>
        <p:txBody>
          <a:bodyPr anchor="b">
            <a:normAutofit/>
          </a:bodyPr>
          <a:lstStyle/>
          <a:p>
            <a:pPr marL="0" indent="0">
              <a:buFont typeface="Arial" charset="0"/>
              <a:buNone/>
            </a:pPr>
            <a:endParaRPr lang="en-US" sz="1300" b="1">
              <a:latin typeface="Calisto MT"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1B0E8E48-3A72-034F-8500-29EC13160C17}" type="slidenum">
              <a:rPr lang="en-US" sz="1200">
                <a:solidFill>
                  <a:srgbClr val="898989"/>
                </a:solidFill>
              </a:rPr>
              <a:pPr algn="r"/>
              <a:t>32</a:t>
            </a:fld>
            <a:endParaRPr lang="en-US" sz="1200">
              <a:solidFill>
                <a:srgbClr val="898989"/>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Title 1"/>
          <p:cNvSpPr>
            <a:spLocks noGrp="1"/>
          </p:cNvSpPr>
          <p:nvPr>
            <p:ph type="title" idx="4294967295"/>
          </p:nvPr>
        </p:nvSpPr>
        <p:spPr/>
        <p:txBody>
          <a:bodyPr/>
          <a:lstStyle/>
          <a:p>
            <a:pPr algn="l"/>
            <a:r>
              <a:rPr lang="en-US">
                <a:latin typeface="Calisto MT" charset="0"/>
              </a:rPr>
              <a:t>What is a Mortgage-Backed Security (MBS)?</a:t>
            </a:r>
          </a:p>
        </p:txBody>
      </p:sp>
      <p:sp>
        <p:nvSpPr>
          <p:cNvPr id="265219" name="Content Placeholder 2"/>
          <p:cNvSpPr>
            <a:spLocks noGrp="1"/>
          </p:cNvSpPr>
          <p:nvPr>
            <p:ph idx="4294967295"/>
          </p:nvPr>
        </p:nvSpPr>
        <p:spPr/>
        <p:txBody>
          <a:bodyPr/>
          <a:lstStyle/>
          <a:p>
            <a:r>
              <a:rPr lang="en-US">
                <a:latin typeface="Calisto MT" charset="0"/>
              </a:rPr>
              <a:t>An MBS is a fixed-income security that represents a claim on a pool of mortgage loans, typically on residential properties</a:t>
            </a:r>
          </a:p>
          <a:p>
            <a:r>
              <a:rPr lang="en-US">
                <a:latin typeface="Calisto MT" charset="0"/>
              </a:rPr>
              <a:t>MBSs are created by aggregating a number of mortgages with similar amounts, terms, rates, and structure into a single pool.</a:t>
            </a:r>
          </a:p>
          <a:p>
            <a:r>
              <a:rPr lang="en-US">
                <a:latin typeface="Calisto MT" charset="0"/>
              </a:rPr>
              <a:t>An MBS is issued with a face amount equal to the cumulative outstanding principal balance of the mortgages (original balance).</a:t>
            </a:r>
          </a:p>
          <a:p>
            <a:r>
              <a:rPr lang="en-US">
                <a:latin typeface="Calisto MT" charset="0"/>
              </a:rPr>
              <a:t>Since the mortgages underlying a pool may not have identical characteristics, the properties of an MBS are often described using weighted averages:</a:t>
            </a:r>
          </a:p>
          <a:p>
            <a:pPr lvl="1"/>
            <a:r>
              <a:rPr lang="en-US">
                <a:latin typeface="Calisto MT" charset="0"/>
              </a:rPr>
              <a:t>WAM: weighted average maturity</a:t>
            </a:r>
          </a:p>
          <a:p>
            <a:pPr lvl="1"/>
            <a:r>
              <a:rPr lang="en-US">
                <a:latin typeface="Calisto MT" charset="0"/>
              </a:rPr>
              <a:t>WAC: weighted average coupon</a:t>
            </a:r>
          </a:p>
          <a:p>
            <a:pPr lvl="1"/>
            <a:r>
              <a:rPr lang="en-US">
                <a:latin typeface="Calisto MT" charset="0"/>
              </a:rPr>
              <a:t>WALA: weighted average loan age</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82CB9918-A8C9-2E49-BDE3-B9ABABF42504}" type="slidenum">
              <a:rPr lang="en-US" sz="1200">
                <a:solidFill>
                  <a:srgbClr val="898989"/>
                </a:solidFill>
                <a:latin typeface="Verdana" charset="0"/>
              </a:rPr>
              <a:pPr algn="r"/>
              <a:t>33</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Title 1"/>
          <p:cNvSpPr>
            <a:spLocks noGrp="1"/>
          </p:cNvSpPr>
          <p:nvPr>
            <p:ph type="title" idx="4294967295"/>
          </p:nvPr>
        </p:nvSpPr>
        <p:spPr/>
        <p:txBody>
          <a:bodyPr/>
          <a:lstStyle/>
          <a:p>
            <a:pPr algn="l"/>
            <a:r>
              <a:rPr lang="en-US">
                <a:latin typeface="Calisto MT" charset="0"/>
              </a:rPr>
              <a:t>Mortgage-backed Securities Are Bonds</a:t>
            </a:r>
          </a:p>
        </p:txBody>
      </p:sp>
      <p:sp>
        <p:nvSpPr>
          <p:cNvPr id="266243" name="Content Placeholder 2"/>
          <p:cNvSpPr>
            <a:spLocks noGrp="1"/>
          </p:cNvSpPr>
          <p:nvPr>
            <p:ph idx="4294967295"/>
          </p:nvPr>
        </p:nvSpPr>
        <p:spPr/>
        <p:txBody>
          <a:bodyPr/>
          <a:lstStyle/>
          <a:p>
            <a:r>
              <a:rPr lang="en-US">
                <a:latin typeface="Calisto MT" charset="0"/>
              </a:rPr>
              <a:t>Like any bond, the returns on an MBS are determined by the timing and amount of principal payments</a:t>
            </a:r>
          </a:p>
          <a:p>
            <a:r>
              <a:rPr lang="en-US">
                <a:latin typeface="Calisto MT" charset="0"/>
              </a:rPr>
              <a:t>The guarantee of </a:t>
            </a:r>
            <a:r>
              <a:rPr lang="ja-JP" altLang="en-US">
                <a:latin typeface="Calisto MT" charset="0"/>
              </a:rPr>
              <a:t>“</a:t>
            </a:r>
            <a:r>
              <a:rPr lang="en-US">
                <a:latin typeface="Calisto MT" charset="0"/>
              </a:rPr>
              <a:t>full and timely payment of principal and interest</a:t>
            </a:r>
            <a:r>
              <a:rPr lang="ja-JP" altLang="en-US">
                <a:latin typeface="Calisto MT" charset="0"/>
              </a:rPr>
              <a:t>”</a:t>
            </a:r>
            <a:r>
              <a:rPr lang="en-US">
                <a:latin typeface="Calisto MT" charset="0"/>
              </a:rPr>
              <a:t> by the U.S. Agencies (Ginnie Mae, Fannie Mae, Freddie Mac) means that investors in Agency MBS only have to worry about the timing of their cash flows </a:t>
            </a:r>
          </a:p>
          <a:p>
            <a:r>
              <a:rPr lang="en-US">
                <a:latin typeface="Calisto MT" charset="0"/>
              </a:rPr>
              <a:t>Investors in Non-Agency MBS have exposure to credit risk because there is no Agency guarantee.</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D5125107-ED88-EF46-AAA2-2148BFAAE47E}" type="slidenum">
              <a:rPr lang="en-US" sz="1200">
                <a:solidFill>
                  <a:srgbClr val="898989"/>
                </a:solidFill>
                <a:latin typeface="Verdana" charset="0"/>
              </a:rPr>
              <a:pPr algn="r"/>
              <a:t>34</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Title 1"/>
          <p:cNvSpPr>
            <a:spLocks noGrp="1"/>
          </p:cNvSpPr>
          <p:nvPr>
            <p:ph type="title" idx="4294967295"/>
          </p:nvPr>
        </p:nvSpPr>
        <p:spPr/>
        <p:txBody>
          <a:bodyPr/>
          <a:lstStyle/>
          <a:p>
            <a:pPr algn="l"/>
            <a:r>
              <a:rPr lang="en-US">
                <a:latin typeface="Calisto MT" charset="0"/>
              </a:rPr>
              <a:t>The U.S. Mortgage-backed Securities Sector is the Largest Fixed Income Capital Market in the World</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EB0D6AA1-3B24-3F43-8C4B-49AD23D674EC}" type="slidenum">
              <a:rPr lang="en-US" sz="1200">
                <a:solidFill>
                  <a:srgbClr val="898989"/>
                </a:solidFill>
                <a:latin typeface="Verdana" charset="0"/>
              </a:rPr>
              <a:pPr algn="r"/>
              <a:t>35</a:t>
            </a:fld>
            <a:endParaRPr lang="en-US" sz="1200">
              <a:solidFill>
                <a:srgbClr val="898989"/>
              </a:solidFill>
              <a:latin typeface="Verdana" charset="0"/>
            </a:endParaRPr>
          </a:p>
        </p:txBody>
      </p:sp>
      <p:sp>
        <p:nvSpPr>
          <p:cNvPr id="267271" name="Text Box 7"/>
          <p:cNvSpPr txBox="1">
            <a:spLocks noChangeArrowheads="1"/>
          </p:cNvSpPr>
          <p:nvPr/>
        </p:nvSpPr>
        <p:spPr bwMode="auto">
          <a:xfrm>
            <a:off x="457200" y="5516563"/>
            <a:ext cx="1041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000" i="1"/>
              <a:t>*As of Q3 2008</a:t>
            </a:r>
          </a:p>
          <a:p>
            <a:r>
              <a:rPr lang="en-US" sz="1000" i="1"/>
              <a:t>Source: SIFMA</a:t>
            </a:r>
          </a:p>
        </p:txBody>
      </p:sp>
      <p:pic>
        <p:nvPicPr>
          <p:cNvPr id="267272"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16000" y="1676400"/>
            <a:ext cx="7110413"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67273" name="Text Box 9"/>
          <p:cNvSpPr txBox="1">
            <a:spLocks noChangeArrowheads="1"/>
          </p:cNvSpPr>
          <p:nvPr/>
        </p:nvSpPr>
        <p:spPr bwMode="auto">
          <a:xfrm>
            <a:off x="2590800" y="5059363"/>
            <a:ext cx="38242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sz="1400" b="1"/>
              <a:t>Total U.S. Bond Market Debt = $33.2 trillion</a:t>
            </a: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Title 1"/>
          <p:cNvSpPr>
            <a:spLocks noGrp="1"/>
          </p:cNvSpPr>
          <p:nvPr>
            <p:ph type="title" idx="4294967295"/>
          </p:nvPr>
        </p:nvSpPr>
        <p:spPr/>
        <p:txBody>
          <a:bodyPr/>
          <a:lstStyle/>
          <a:p>
            <a:pPr algn="l"/>
            <a:r>
              <a:rPr lang="en-US">
                <a:latin typeface="Calisto MT" charset="0"/>
              </a:rPr>
              <a:t>The Mortgage-backed Securities Market Offers a Range of Investment Options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157F7123-70E7-3D40-B5B8-4F4E06670162}" type="slidenum">
              <a:rPr lang="en-US" sz="1200">
                <a:solidFill>
                  <a:srgbClr val="898989"/>
                </a:solidFill>
                <a:latin typeface="Verdana" charset="0"/>
              </a:rPr>
              <a:pPr algn="r"/>
              <a:t>36</a:t>
            </a:fld>
            <a:endParaRPr lang="en-US" sz="1200">
              <a:solidFill>
                <a:srgbClr val="898989"/>
              </a:solidFill>
              <a:latin typeface="Verdana" charset="0"/>
            </a:endParaRPr>
          </a:p>
        </p:txBody>
      </p:sp>
      <p:pic>
        <p:nvPicPr>
          <p:cNvPr id="268294"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46213" y="1847850"/>
            <a:ext cx="6251575" cy="376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itle 1"/>
          <p:cNvSpPr>
            <a:spLocks noGrp="1"/>
          </p:cNvSpPr>
          <p:nvPr>
            <p:ph type="title" idx="4294967295"/>
          </p:nvPr>
        </p:nvSpPr>
        <p:spPr/>
        <p:txBody>
          <a:bodyPr/>
          <a:lstStyle/>
          <a:p>
            <a:pPr algn="l"/>
            <a:r>
              <a:rPr lang="en-US">
                <a:latin typeface="Calisto MT" charset="0"/>
              </a:rPr>
              <a:t>A Mortgage-backed Securities Fund Can Play an Important Role in a Bond Portfolio</a:t>
            </a:r>
          </a:p>
        </p:txBody>
      </p:sp>
      <p:sp>
        <p:nvSpPr>
          <p:cNvPr id="269315" name="Content Placeholder 2"/>
          <p:cNvSpPr>
            <a:spLocks noGrp="1"/>
          </p:cNvSpPr>
          <p:nvPr>
            <p:ph idx="4294967295"/>
          </p:nvPr>
        </p:nvSpPr>
        <p:spPr/>
        <p:txBody>
          <a:bodyPr/>
          <a:lstStyle/>
          <a:p>
            <a:r>
              <a:rPr lang="en-US">
                <a:latin typeface="Calisto MT" charset="0"/>
              </a:rPr>
              <a:t>MBS offer a yield premium over Treasury securities and other benchmark fixed income products</a:t>
            </a:r>
          </a:p>
          <a:p>
            <a:r>
              <a:rPr lang="en-US">
                <a:latin typeface="Calisto MT" charset="0"/>
              </a:rPr>
              <a:t>A well-executed </a:t>
            </a:r>
            <a:r>
              <a:rPr lang="ja-JP" altLang="en-US">
                <a:latin typeface="Calisto MT" charset="0"/>
              </a:rPr>
              <a:t>“</a:t>
            </a:r>
            <a:r>
              <a:rPr lang="en-US">
                <a:latin typeface="Calisto MT" charset="0"/>
              </a:rPr>
              <a:t>relative value</a:t>
            </a:r>
            <a:r>
              <a:rPr lang="ja-JP" altLang="en-US">
                <a:latin typeface="Calisto MT" charset="0"/>
              </a:rPr>
              <a:t>”</a:t>
            </a:r>
            <a:r>
              <a:rPr lang="en-US">
                <a:latin typeface="Calisto MT" charset="0"/>
              </a:rPr>
              <a:t> strategy in MBS will show low correlation with the general factors that drive bond returns</a:t>
            </a:r>
          </a:p>
          <a:p>
            <a:r>
              <a:rPr lang="en-US">
                <a:latin typeface="Calisto MT" charset="0"/>
              </a:rPr>
              <a:t>Investing in Agency MBS allows investors to minimize their exposure to credit risk while still targeting returns above those on Treasuries</a:t>
            </a:r>
          </a:p>
          <a:p>
            <a:r>
              <a:rPr lang="en-US">
                <a:latin typeface="Calisto MT" charset="0"/>
              </a:rPr>
              <a:t>An MBS Fund can thus provide enhanced returns and the opportunity to diversify a fixed-income portfolio</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E10408DD-7A65-CE49-81A2-90DB658D7B1C}" type="slidenum">
              <a:rPr lang="en-US" sz="1200">
                <a:solidFill>
                  <a:srgbClr val="898989"/>
                </a:solidFill>
                <a:latin typeface="Verdana" charset="0"/>
              </a:rPr>
              <a:pPr algn="r"/>
              <a:t>37</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22313" y="4406900"/>
            <a:ext cx="7772400" cy="1362075"/>
          </a:xfrm>
        </p:spPr>
        <p:txBody>
          <a:bodyPr anchor="t">
            <a:normAutofit/>
          </a:bodyPr>
          <a:lstStyle/>
          <a:p>
            <a:pPr algn="l"/>
            <a:r>
              <a:rPr lang="en-US" sz="2400" b="1">
                <a:latin typeface="Calisto MT" charset="0"/>
              </a:rPr>
              <a:t>THE U.S. MORTGAGE-BACKED SECURITIES MARKET</a:t>
            </a:r>
          </a:p>
        </p:txBody>
      </p:sp>
      <p:sp>
        <p:nvSpPr>
          <p:cNvPr id="11" name="Text Placeholder 10"/>
          <p:cNvSpPr>
            <a:spLocks noGrp="1"/>
          </p:cNvSpPr>
          <p:nvPr>
            <p:ph type="body" idx="4294967295"/>
          </p:nvPr>
        </p:nvSpPr>
        <p:spPr>
          <a:xfrm>
            <a:off x="722313" y="2906713"/>
            <a:ext cx="7772400" cy="1500187"/>
          </a:xfrm>
        </p:spPr>
        <p:txBody>
          <a:bodyPr anchor="b">
            <a:normAutofit/>
          </a:bodyPr>
          <a:lstStyle/>
          <a:p>
            <a:pPr marL="0" indent="0">
              <a:buFont typeface="Arial" charset="0"/>
              <a:buNone/>
            </a:pPr>
            <a:endParaRPr lang="en-US" sz="1300" b="1">
              <a:latin typeface="Calisto MT"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641B331C-958D-4E48-87BD-A076A6EFE3AB}" type="slidenum">
              <a:rPr lang="en-US" sz="1200">
                <a:solidFill>
                  <a:srgbClr val="898989"/>
                </a:solidFill>
              </a:rPr>
              <a:pPr algn="r"/>
              <a:t>38</a:t>
            </a:fld>
            <a:endParaRPr lang="en-US" sz="1200">
              <a:solidFill>
                <a:srgbClr val="898989"/>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6"/>
          <p:cNvSpPr>
            <a:spLocks noGrp="1"/>
          </p:cNvSpPr>
          <p:nvPr>
            <p:ph type="title"/>
          </p:nvPr>
        </p:nvSpPr>
        <p:spPr/>
        <p:txBody>
          <a:bodyPr/>
          <a:lstStyle/>
          <a:p>
            <a:r>
              <a:rPr lang="en-US">
                <a:latin typeface="Calisto MT" charset="0"/>
              </a:rPr>
              <a:t>The U.S. MBS Sector Consists of Several Large Sub-sectors</a:t>
            </a:r>
          </a:p>
        </p:txBody>
      </p:sp>
      <p:graphicFrame>
        <p:nvGraphicFramePr>
          <p:cNvPr id="31746" name="Content Placeholder 20"/>
          <p:cNvGraphicFramePr>
            <a:graphicFrameLocks noGrp="1"/>
          </p:cNvGraphicFramePr>
          <p:nvPr>
            <p:ph idx="1"/>
          </p:nvPr>
        </p:nvGraphicFramePr>
        <p:xfrm>
          <a:off x="457200" y="1900238"/>
          <a:ext cx="8229600" cy="4183062"/>
        </p:xfrm>
        <a:graphic>
          <a:graphicData uri="http://schemas.openxmlformats.org/presentationml/2006/ole">
            <mc:AlternateContent xmlns:mc="http://schemas.openxmlformats.org/markup-compatibility/2006">
              <mc:Choice xmlns:v="urn:schemas-microsoft-com:vml" Requires="v">
                <p:oleObj spid="_x0000_s31762" r:id="rId4" imgW="8230313" imgH="4182218" progId="Excel.Chart.8">
                  <p:embed/>
                </p:oleObj>
              </mc:Choice>
              <mc:Fallback>
                <p:oleObj r:id="rId4" imgW="8230313" imgH="4182218" progId="Excel.Chart.8">
                  <p:embed/>
                  <p:pic>
                    <p:nvPicPr>
                      <p:cNvPr id="0" name="Content Placeholder 20"/>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1900238"/>
                        <a:ext cx="8229600" cy="4183062"/>
                      </a:xfrm>
                      <a:prstGeom prst="rect">
                        <a:avLst/>
                      </a:prstGeom>
                    </p:spPr>
                  </p:pic>
                </p:oleObj>
              </mc:Fallback>
            </mc:AlternateContent>
          </a:graphicData>
        </a:graphic>
      </p:graphicFrame>
      <p:sp>
        <p:nvSpPr>
          <p:cNvPr id="4" name="Footer Placeholder 3"/>
          <p:cNvSpPr>
            <a:spLocks noGrp="1"/>
          </p:cNvSpPr>
          <p:nvPr>
            <p:ph type="ftr" sz="quarter" idx="16"/>
          </p:nvPr>
        </p:nvSpPr>
        <p:spPr/>
        <p:txBody>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r>
              <a:rPr lang="en-US">
                <a:solidFill>
                  <a:srgbClr val="898989"/>
                </a:solidFill>
              </a:rPr>
              <a:t>©2010 Cello Capital Management, LLC</a:t>
            </a:r>
          </a:p>
        </p:txBody>
      </p:sp>
      <p:sp>
        <p:nvSpPr>
          <p:cNvPr id="5" name="Slide Number Placeholder 4"/>
          <p:cNvSpPr>
            <a:spLocks noGrp="1"/>
          </p:cNvSpPr>
          <p:nvPr>
            <p:ph type="sldNum" sz="quarter" idx="17"/>
          </p:nvPr>
        </p:nvSpPr>
        <p:spPr/>
        <p:txBody>
          <a:bodyP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fld id="{F4840974-7E0F-4947-B60D-CD549A709E5A}" type="slidenum">
              <a:rPr lang="en-US">
                <a:solidFill>
                  <a:srgbClr val="898989"/>
                </a:solidFill>
              </a:rPr>
              <a:pPr/>
              <a:t>39</a:t>
            </a:fld>
            <a:endParaRPr lang="en-US">
              <a:solidFill>
                <a:srgbClr val="898989"/>
              </a:solidFill>
            </a:endParaRPr>
          </a:p>
        </p:txBody>
      </p:sp>
      <p:sp>
        <p:nvSpPr>
          <p:cNvPr id="31749" name="Text Placeholder 7"/>
          <p:cNvSpPr>
            <a:spLocks noGrp="1"/>
          </p:cNvSpPr>
          <p:nvPr>
            <p:ph type="body" sz="quarter" idx="13"/>
          </p:nvPr>
        </p:nvSpPr>
        <p:spPr/>
        <p:txBody>
          <a:bodyPr/>
          <a:lstStyle/>
          <a:p>
            <a:r>
              <a:rPr lang="en-US">
                <a:latin typeface="Calisto MT" charset="0"/>
              </a:rPr>
              <a:t>Source:  Securities Industry and Financial Markets Association</a:t>
            </a:r>
          </a:p>
        </p:txBody>
      </p:sp>
      <p:sp>
        <p:nvSpPr>
          <p:cNvPr id="9" name="Text Placeholder 8"/>
          <p:cNvSpPr>
            <a:spLocks noGrp="1"/>
          </p:cNvSpPr>
          <p:nvPr>
            <p:ph type="body" idx="14"/>
          </p:nvPr>
        </p:nvSpPr>
        <p:spPr>
          <a:xfrm>
            <a:off x="457200" y="1535113"/>
            <a:ext cx="8229600" cy="365125"/>
          </a:xfrm>
        </p:spPr>
        <p:txBody>
          <a:bodyPr rtlCol="0">
            <a:normAutofit lnSpcReduction="10000"/>
          </a:bodyPr>
          <a:lstStyle/>
          <a:p>
            <a:pPr fontAlgn="auto">
              <a:spcBef>
                <a:spcPts val="0"/>
              </a:spcBef>
              <a:spcAft>
                <a:spcPts val="0"/>
              </a:spcAft>
              <a:buFont typeface="Arial" pitchFamily="34" charset="0"/>
              <a:buNone/>
              <a:defRPr/>
            </a:pPr>
            <a:r>
              <a:rPr lang="en-US" dirty="0" smtClean="0">
                <a:ea typeface="+mn-ea"/>
              </a:rPr>
              <a:t>The $34 Trillion U.S. Bond Market by Sector ($ Trillion)</a:t>
            </a:r>
            <a:endParaRPr lang="en-US" dirty="0">
              <a:ea typeface="+mn-ea"/>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Content Placeholder 8"/>
          <p:cNvSpPr>
            <a:spLocks noGrp="1"/>
          </p:cNvSpPr>
          <p:nvPr>
            <p:ph sz="half" idx="4294967295"/>
          </p:nvPr>
        </p:nvSpPr>
        <p:spPr>
          <a:xfrm>
            <a:off x="4646613" y="1965325"/>
            <a:ext cx="4038600" cy="4110038"/>
          </a:xfrm>
        </p:spPr>
        <p:txBody>
          <a:bodyPr/>
          <a:lstStyle/>
          <a:p>
            <a:r>
              <a:rPr lang="en-US">
                <a:latin typeface="Calisto MT" charset="0"/>
              </a:rPr>
              <a:t>CMOs are tranches of structured deals backed by Pass-Throughs</a:t>
            </a:r>
          </a:p>
          <a:p>
            <a:r>
              <a:rPr lang="en-US">
                <a:latin typeface="Calisto MT" charset="0"/>
              </a:rPr>
              <a:t>CMOs were initially created to address two key investor concerns with Pass-throughs</a:t>
            </a:r>
          </a:p>
          <a:p>
            <a:pPr lvl="1"/>
            <a:r>
              <a:rPr lang="en-US">
                <a:latin typeface="Calisto MT" charset="0"/>
              </a:rPr>
              <a:t>Average life</a:t>
            </a:r>
          </a:p>
          <a:p>
            <a:pPr lvl="1"/>
            <a:r>
              <a:rPr lang="en-US">
                <a:latin typeface="Calisto MT" charset="0"/>
              </a:rPr>
              <a:t>Variability of cash flows</a:t>
            </a:r>
          </a:p>
          <a:p>
            <a:r>
              <a:rPr lang="en-US">
                <a:latin typeface="Calisto MT" charset="0"/>
              </a:rPr>
              <a:t>CMOs reallocate the prepayment risk of the underlying collateral</a:t>
            </a:r>
          </a:p>
          <a:p>
            <a:r>
              <a:rPr lang="en-US">
                <a:latin typeface="Calisto MT" charset="0"/>
              </a:rPr>
              <a:t>Virtually any customization of cash flows is possible</a:t>
            </a:r>
          </a:p>
          <a:p>
            <a:pPr lvl="1"/>
            <a:r>
              <a:rPr lang="en-US">
                <a:latin typeface="Calisto MT" charset="0"/>
              </a:rPr>
              <a:t>Bond structures include Sequentials, PACs, Supports, TACs, Zs, VADMs, Floaters, Inverse Floaters, TTIBs, IOs, POs, Inverse IOs, TTIB IOs, etc.</a:t>
            </a:r>
          </a:p>
          <a:p>
            <a:endParaRPr lang="en-US">
              <a:latin typeface="Calisto MT" charset="0"/>
            </a:endParaRPr>
          </a:p>
        </p:txBody>
      </p:sp>
      <p:sp>
        <p:nvSpPr>
          <p:cNvPr id="282627" name="Title 1"/>
          <p:cNvSpPr>
            <a:spLocks noGrp="1"/>
          </p:cNvSpPr>
          <p:nvPr>
            <p:ph type="title" idx="4294967295"/>
          </p:nvPr>
        </p:nvSpPr>
        <p:spPr/>
        <p:txBody>
          <a:bodyPr/>
          <a:lstStyle/>
          <a:p>
            <a:pPr algn="l"/>
            <a:r>
              <a:rPr lang="en-US">
                <a:latin typeface="Calisto MT" charset="0"/>
              </a:rPr>
              <a:t>Evolution Of Mortgage-Backed Securities</a:t>
            </a:r>
          </a:p>
        </p:txBody>
      </p:sp>
      <p:sp>
        <p:nvSpPr>
          <p:cNvPr id="282628" name="Content Placeholder 2"/>
          <p:cNvSpPr>
            <a:spLocks noGrp="1"/>
          </p:cNvSpPr>
          <p:nvPr>
            <p:ph sz="half" idx="4294967295"/>
          </p:nvPr>
        </p:nvSpPr>
        <p:spPr>
          <a:xfrm>
            <a:off x="457200" y="1965325"/>
            <a:ext cx="4038600" cy="4110038"/>
          </a:xfrm>
        </p:spPr>
        <p:txBody>
          <a:bodyPr/>
          <a:lstStyle/>
          <a:p>
            <a:r>
              <a:rPr lang="en-US">
                <a:latin typeface="Calisto MT" charset="0"/>
              </a:rPr>
              <a:t>Pass-throughs are the simplest mortgage-backed security and represent an ownership interest in a pool of mortgage loans</a:t>
            </a:r>
          </a:p>
          <a:p>
            <a:r>
              <a:rPr lang="en-US">
                <a:latin typeface="Calisto MT" charset="0"/>
              </a:rPr>
              <a:t>Investors receive a pro-rata share of the principal and interest payments on the underlying mortgages</a:t>
            </a:r>
          </a:p>
          <a:p>
            <a:r>
              <a:rPr lang="en-US">
                <a:latin typeface="Calisto MT" charset="0"/>
              </a:rPr>
              <a:t>The credit quality of Agency Pass-throughs is guaranteed by the Agencies and enhanced by the underlying home as collateral</a:t>
            </a:r>
          </a:p>
          <a:p>
            <a:r>
              <a:rPr lang="en-US">
                <a:latin typeface="Calisto MT" charset="0"/>
              </a:rPr>
              <a:t>Agency Pass-throughs are exposed to prepayment, interest rate, volatility, and spread risk</a:t>
            </a:r>
          </a:p>
          <a:p>
            <a:r>
              <a:rPr lang="en-US">
                <a:latin typeface="Calisto MT" charset="0"/>
              </a:rPr>
              <a:t>Pass-throughs trade on a </a:t>
            </a:r>
            <a:r>
              <a:rPr lang="ja-JP" altLang="en-US">
                <a:latin typeface="Calisto MT" charset="0"/>
              </a:rPr>
              <a:t>“</a:t>
            </a:r>
            <a:r>
              <a:rPr lang="en-US">
                <a:latin typeface="Calisto MT" charset="0"/>
              </a:rPr>
              <a:t>To Be Announced</a:t>
            </a:r>
            <a:r>
              <a:rPr lang="ja-JP" altLang="en-US">
                <a:latin typeface="Calisto MT" charset="0"/>
              </a:rPr>
              <a:t>”</a:t>
            </a:r>
            <a:r>
              <a:rPr lang="en-US">
                <a:latin typeface="Calisto MT" charset="0"/>
              </a:rPr>
              <a:t> (TBA) (~90% of the market) or Specified Pool basis</a:t>
            </a:r>
          </a:p>
          <a:p>
            <a:endParaRPr lang="en-US">
              <a:latin typeface="Calisto MT" charset="0"/>
            </a:endParaRPr>
          </a:p>
        </p:txBody>
      </p:sp>
      <p:sp>
        <p:nvSpPr>
          <p:cNvPr id="11" name="Footer Placeholder 10"/>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D5450EFB-BA9A-F34E-9020-5CD713B65E24}" type="slidenum">
              <a:rPr lang="en-US" sz="1200">
                <a:solidFill>
                  <a:srgbClr val="898989"/>
                </a:solidFill>
              </a:rPr>
              <a:pPr algn="r"/>
              <a:t>40</a:t>
            </a:fld>
            <a:endParaRPr lang="en-US" sz="1200">
              <a:solidFill>
                <a:srgbClr val="898989"/>
              </a:solidFill>
            </a:endParaRPr>
          </a:p>
        </p:txBody>
      </p:sp>
      <p:sp>
        <p:nvSpPr>
          <p:cNvPr id="282631" name="Text Placeholder 18"/>
          <p:cNvSpPr>
            <a:spLocks noGrp="1"/>
          </p:cNvSpPr>
          <p:nvPr>
            <p:ph type="body" sz="quarter" idx="4294967295"/>
          </p:nvPr>
        </p:nvSpPr>
        <p:spPr>
          <a:xfrm>
            <a:off x="457200" y="6096000"/>
            <a:ext cx="8229600" cy="228600"/>
          </a:xfrm>
        </p:spPr>
        <p:txBody>
          <a:bodyPr anchor="b"/>
          <a:lstStyle/>
          <a:p>
            <a:pPr>
              <a:buFontTx/>
              <a:buNone/>
            </a:pPr>
            <a:endParaRPr lang="en-US" sz="600">
              <a:latin typeface="Calisto MT" charset="0"/>
            </a:endParaRPr>
          </a:p>
        </p:txBody>
      </p:sp>
      <p:sp>
        <p:nvSpPr>
          <p:cNvPr id="282632" name="Text Placeholder 7"/>
          <p:cNvSpPr>
            <a:spLocks noGrp="1"/>
          </p:cNvSpPr>
          <p:nvPr>
            <p:ph type="body" idx="4294967295"/>
          </p:nvPr>
        </p:nvSpPr>
        <p:spPr>
          <a:xfrm>
            <a:off x="457200" y="1600200"/>
            <a:ext cx="4040188" cy="365125"/>
          </a:xfrm>
          <a:solidFill>
            <a:schemeClr val="accent1"/>
          </a:solidFill>
        </p:spPr>
        <p:txBody>
          <a:bodyPr anchor="ctr"/>
          <a:lstStyle/>
          <a:p>
            <a:pPr marL="0" indent="0" algn="ctr">
              <a:buFont typeface="Arial" charset="0"/>
              <a:buNone/>
            </a:pPr>
            <a:r>
              <a:rPr lang="ja-JP" altLang="en-US" b="1">
                <a:solidFill>
                  <a:schemeClr val="bg1"/>
                </a:solidFill>
                <a:latin typeface="Calisto MT" charset="0"/>
              </a:rPr>
              <a:t>“</a:t>
            </a:r>
            <a:r>
              <a:rPr lang="en-US" b="1">
                <a:solidFill>
                  <a:schemeClr val="bg1"/>
                </a:solidFill>
                <a:latin typeface="Calisto MT" charset="0"/>
              </a:rPr>
              <a:t>Pass-Throughs</a:t>
            </a:r>
            <a:r>
              <a:rPr lang="ja-JP" altLang="en-US" b="1">
                <a:solidFill>
                  <a:schemeClr val="bg1"/>
                </a:solidFill>
                <a:latin typeface="Calisto MT" charset="0"/>
              </a:rPr>
              <a:t>”</a:t>
            </a:r>
            <a:r>
              <a:rPr lang="en-US" b="1">
                <a:solidFill>
                  <a:schemeClr val="bg1"/>
                </a:solidFill>
                <a:latin typeface="Calisto MT" charset="0"/>
              </a:rPr>
              <a:t> </a:t>
            </a:r>
          </a:p>
        </p:txBody>
      </p:sp>
      <p:sp>
        <p:nvSpPr>
          <p:cNvPr id="282633" name="Text Placeholder 9"/>
          <p:cNvSpPr>
            <a:spLocks noGrp="1"/>
          </p:cNvSpPr>
          <p:nvPr>
            <p:ph type="body" idx="4294967295"/>
          </p:nvPr>
        </p:nvSpPr>
        <p:spPr>
          <a:xfrm>
            <a:off x="4646613" y="1600200"/>
            <a:ext cx="4040187" cy="365125"/>
          </a:xfrm>
          <a:solidFill>
            <a:schemeClr val="accent1"/>
          </a:solidFill>
        </p:spPr>
        <p:txBody>
          <a:bodyPr anchor="ctr"/>
          <a:lstStyle/>
          <a:p>
            <a:pPr marL="0" indent="0" algn="ctr">
              <a:buFont typeface="Arial" charset="0"/>
              <a:buNone/>
            </a:pPr>
            <a:r>
              <a:rPr lang="en-US" b="1">
                <a:solidFill>
                  <a:schemeClr val="bg1"/>
                </a:solidFill>
                <a:latin typeface="Calisto MT" charset="0"/>
              </a:rPr>
              <a:t>Collateralized Mortgage Obligations (</a:t>
            </a:r>
            <a:r>
              <a:rPr lang="ja-JP" altLang="en-US" b="1">
                <a:solidFill>
                  <a:schemeClr val="bg1"/>
                </a:solidFill>
                <a:latin typeface="Calisto MT" charset="0"/>
              </a:rPr>
              <a:t>“</a:t>
            </a:r>
            <a:r>
              <a:rPr lang="en-US" b="1">
                <a:solidFill>
                  <a:schemeClr val="bg1"/>
                </a:solidFill>
                <a:latin typeface="Calisto MT" charset="0"/>
              </a:rPr>
              <a:t>CMOs</a:t>
            </a:r>
            <a:r>
              <a:rPr lang="ja-JP" altLang="en-US" b="1">
                <a:solidFill>
                  <a:schemeClr val="bg1"/>
                </a:solidFill>
                <a:latin typeface="Calisto MT" charset="0"/>
              </a:rPr>
              <a:t>”</a:t>
            </a:r>
            <a:r>
              <a:rPr lang="en-US" b="1">
                <a:solidFill>
                  <a:schemeClr val="bg1"/>
                </a:solidFill>
                <a:latin typeface="Calisto MT" charset="0"/>
              </a:rPr>
              <a:t>)</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Title 1"/>
          <p:cNvSpPr>
            <a:spLocks noGrp="1"/>
          </p:cNvSpPr>
          <p:nvPr>
            <p:ph type="title" idx="4294967295"/>
          </p:nvPr>
        </p:nvSpPr>
        <p:spPr/>
        <p:txBody>
          <a:bodyPr/>
          <a:lstStyle/>
          <a:p>
            <a:pPr algn="l"/>
            <a:r>
              <a:rPr lang="en-US">
                <a:latin typeface="Calisto MT" charset="0"/>
              </a:rPr>
              <a:t>The Agency Pass-Through Market Offers Excellent Liquidity</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5597605C-7923-2E4E-91ED-833A36F9C81D}" type="slidenum">
              <a:rPr lang="en-US" sz="1200">
                <a:solidFill>
                  <a:srgbClr val="898989"/>
                </a:solidFill>
                <a:latin typeface="Verdana" charset="0"/>
              </a:rPr>
              <a:pPr algn="r"/>
              <a:t>41</a:t>
            </a:fld>
            <a:endParaRPr lang="en-US" sz="1200">
              <a:solidFill>
                <a:srgbClr val="898989"/>
              </a:solidFill>
              <a:latin typeface="Verdana" charset="0"/>
            </a:endParaRPr>
          </a:p>
        </p:txBody>
      </p:sp>
      <p:pic>
        <p:nvPicPr>
          <p:cNvPr id="273415" name="Picture 7"/>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16000" y="1676400"/>
            <a:ext cx="7110413"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73416" name="Text Box 8"/>
          <p:cNvSpPr txBox="1">
            <a:spLocks noChangeArrowheads="1"/>
          </p:cNvSpPr>
          <p:nvPr/>
        </p:nvSpPr>
        <p:spPr bwMode="auto">
          <a:xfrm>
            <a:off x="533400" y="5715000"/>
            <a:ext cx="2173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000" i="1"/>
              <a:t>*As of Q1 2009</a:t>
            </a:r>
          </a:p>
          <a:p>
            <a:r>
              <a:rPr lang="en-US" sz="1000" i="1"/>
              <a:t>Source: New York Federal Reserve</a:t>
            </a: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Title 1"/>
          <p:cNvSpPr>
            <a:spLocks noGrp="1"/>
          </p:cNvSpPr>
          <p:nvPr>
            <p:ph type="title" idx="4294967295"/>
          </p:nvPr>
        </p:nvSpPr>
        <p:spPr/>
        <p:txBody>
          <a:bodyPr/>
          <a:lstStyle/>
          <a:p>
            <a:pPr algn="l"/>
            <a:r>
              <a:rPr lang="en-US">
                <a:latin typeface="Calisto MT" charset="0"/>
              </a:rPr>
              <a:t>MBS Enjoy Sponsorship from Key Institutional Investors</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BB5A76B6-0358-D64B-947A-8A5D07A16869}" type="slidenum">
              <a:rPr lang="en-US" sz="1200">
                <a:solidFill>
                  <a:srgbClr val="898989"/>
                </a:solidFill>
                <a:latin typeface="Verdana" charset="0"/>
              </a:rPr>
              <a:pPr algn="r"/>
              <a:t>42</a:t>
            </a:fld>
            <a:endParaRPr lang="en-US" sz="1200">
              <a:solidFill>
                <a:srgbClr val="898989"/>
              </a:solidFill>
              <a:latin typeface="Verdana" charset="0"/>
            </a:endParaRPr>
          </a:p>
        </p:txBody>
      </p:sp>
      <p:sp>
        <p:nvSpPr>
          <p:cNvPr id="274439" name="Text Box 7"/>
          <p:cNvSpPr txBox="1">
            <a:spLocks noChangeArrowheads="1"/>
          </p:cNvSpPr>
          <p:nvPr/>
        </p:nvSpPr>
        <p:spPr bwMode="auto">
          <a:xfrm>
            <a:off x="533400" y="5715000"/>
            <a:ext cx="30305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000" i="1"/>
              <a:t>*As of Q4 2008</a:t>
            </a:r>
          </a:p>
          <a:p>
            <a:r>
              <a:rPr lang="en-US" sz="1000" i="1"/>
              <a:t>Source: Banc of America Securities – Merrill Lynch</a:t>
            </a:r>
          </a:p>
        </p:txBody>
      </p:sp>
      <p:pic>
        <p:nvPicPr>
          <p:cNvPr id="274440"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43050" y="1417638"/>
            <a:ext cx="5657850" cy="444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Title 1"/>
          <p:cNvSpPr>
            <a:spLocks noGrp="1"/>
          </p:cNvSpPr>
          <p:nvPr>
            <p:ph type="title" idx="4294967295"/>
          </p:nvPr>
        </p:nvSpPr>
        <p:spPr/>
        <p:txBody>
          <a:bodyPr/>
          <a:lstStyle/>
          <a:p>
            <a:pPr algn="l"/>
            <a:r>
              <a:rPr lang="en-US">
                <a:latin typeface="Calisto MT" charset="0"/>
              </a:rPr>
              <a:t>Overview of the Pass-Through Subsector: Product Characteristics</a:t>
            </a:r>
          </a:p>
        </p:txBody>
      </p:sp>
      <p:sp>
        <p:nvSpPr>
          <p:cNvPr id="275459" name="Content Placeholder 2"/>
          <p:cNvSpPr>
            <a:spLocks noGrp="1"/>
          </p:cNvSpPr>
          <p:nvPr>
            <p:ph idx="4294967295"/>
          </p:nvPr>
        </p:nvSpPr>
        <p:spPr/>
        <p:txBody>
          <a:bodyPr/>
          <a:lstStyle/>
          <a:p>
            <a:r>
              <a:rPr lang="en-US">
                <a:latin typeface="Calisto MT" charset="0"/>
              </a:rPr>
              <a:t>Pass-throughs are the simplest mortgage-backed security and represent an ownership interest in a pool of mortgage loans.</a:t>
            </a:r>
          </a:p>
          <a:p>
            <a:r>
              <a:rPr lang="en-US">
                <a:latin typeface="Calisto MT" charset="0"/>
              </a:rPr>
              <a:t>Investors receive a pro-rata share of the principal and interest payments on the underlying mortgages</a:t>
            </a:r>
          </a:p>
          <a:p>
            <a:r>
              <a:rPr lang="en-US">
                <a:latin typeface="Calisto MT" charset="0"/>
              </a:rPr>
              <a:t>Agency Pass-throughs are exposed to interest rate and prepayment risk but have no exposure to credit risk</a:t>
            </a:r>
          </a:p>
          <a:p>
            <a:r>
              <a:rPr lang="en-US">
                <a:latin typeface="Calisto MT" charset="0"/>
              </a:rPr>
              <a:t>The credit quality of Agency Pass-throughs is guaranteed by the Agencies and enhanced by the underlying home as collateral</a:t>
            </a:r>
          </a:p>
          <a:p>
            <a:r>
              <a:rPr lang="en-US">
                <a:latin typeface="Calisto MT" charset="0"/>
              </a:rPr>
              <a:t>Pass-throughs trade on a </a:t>
            </a:r>
            <a:r>
              <a:rPr lang="ja-JP" altLang="en-US">
                <a:latin typeface="Calisto MT" charset="0"/>
              </a:rPr>
              <a:t>“</a:t>
            </a:r>
            <a:r>
              <a:rPr lang="en-US">
                <a:latin typeface="Calisto MT" charset="0"/>
              </a:rPr>
              <a:t>To Be Announced</a:t>
            </a:r>
            <a:r>
              <a:rPr lang="ja-JP" altLang="en-US">
                <a:latin typeface="Calisto MT" charset="0"/>
              </a:rPr>
              <a:t>”</a:t>
            </a:r>
            <a:r>
              <a:rPr lang="en-US">
                <a:latin typeface="Calisto MT" charset="0"/>
              </a:rPr>
              <a:t> (TBA) (~90% of the market) or Specified Pool basis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46B3ADC3-56E4-CC46-BCEF-C7086124BDFC}" type="slidenum">
              <a:rPr lang="en-US" sz="1200">
                <a:solidFill>
                  <a:srgbClr val="898989"/>
                </a:solidFill>
                <a:latin typeface="Verdana" charset="0"/>
              </a:rPr>
              <a:pPr algn="r"/>
              <a:t>43</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Title 1"/>
          <p:cNvSpPr>
            <a:spLocks noGrp="1"/>
          </p:cNvSpPr>
          <p:nvPr>
            <p:ph type="title" idx="4294967295"/>
          </p:nvPr>
        </p:nvSpPr>
        <p:spPr/>
        <p:txBody>
          <a:bodyPr/>
          <a:lstStyle/>
          <a:p>
            <a:pPr algn="l"/>
            <a:r>
              <a:rPr lang="en-US">
                <a:latin typeface="Calisto MT" charset="0"/>
              </a:rPr>
              <a:t>Overview of the Pass-Through Subsector: Market Dynamics</a:t>
            </a:r>
          </a:p>
        </p:txBody>
      </p:sp>
      <p:sp>
        <p:nvSpPr>
          <p:cNvPr id="276483" name="Content Placeholder 2"/>
          <p:cNvSpPr>
            <a:spLocks noGrp="1"/>
          </p:cNvSpPr>
          <p:nvPr>
            <p:ph idx="4294967295"/>
          </p:nvPr>
        </p:nvSpPr>
        <p:spPr/>
        <p:txBody>
          <a:bodyPr/>
          <a:lstStyle/>
          <a:p>
            <a:r>
              <a:rPr lang="en-US">
                <a:latin typeface="Calisto MT" charset="0"/>
              </a:rPr>
              <a:t>Pass-through MBS are subject to basis risk relative to Agency Debt, Swaps, and Treasuries.</a:t>
            </a:r>
          </a:p>
          <a:p>
            <a:r>
              <a:rPr lang="en-US">
                <a:latin typeface="Calisto MT" charset="0"/>
              </a:rPr>
              <a:t>Pass-through markets are linked to the markets for Interest-rate Swaps, Treasuries, and Interest-rate Options.</a:t>
            </a:r>
          </a:p>
          <a:p>
            <a:r>
              <a:rPr lang="en-US">
                <a:latin typeface="Calisto MT" charset="0"/>
              </a:rPr>
              <a:t>Pass-throughs are the primary hedging instrument for most structured MBS products.</a:t>
            </a:r>
          </a:p>
          <a:p>
            <a:r>
              <a:rPr lang="en-US">
                <a:latin typeface="Calisto MT" charset="0"/>
              </a:rPr>
              <a:t>Trade examples include:</a:t>
            </a:r>
          </a:p>
          <a:p>
            <a:pPr lvl="1"/>
            <a:r>
              <a:rPr lang="en-US">
                <a:latin typeface="Calisto MT" charset="0"/>
              </a:rPr>
              <a:t>Basis trades between mortgages and treasuries</a:t>
            </a:r>
          </a:p>
          <a:p>
            <a:pPr lvl="1"/>
            <a:r>
              <a:rPr lang="en-US">
                <a:latin typeface="Calisto MT" charset="0"/>
              </a:rPr>
              <a:t>Dollar rolls as a financing alternative</a:t>
            </a:r>
          </a:p>
          <a:p>
            <a:pPr lvl="1"/>
            <a:r>
              <a:rPr lang="en-US">
                <a:latin typeface="Calisto MT" charset="0"/>
              </a:rPr>
              <a:t>Hedging Agency CMO, Whole loan, and Non-Agency CMO positions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AE9EC6A9-F669-4D4D-8211-BF13674BC22F}" type="slidenum">
              <a:rPr lang="en-US" sz="1200">
                <a:solidFill>
                  <a:srgbClr val="898989"/>
                </a:solidFill>
                <a:latin typeface="Verdana" charset="0"/>
              </a:rPr>
              <a:pPr algn="r"/>
              <a:t>44</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Title 1"/>
          <p:cNvSpPr>
            <a:spLocks noGrp="1"/>
          </p:cNvSpPr>
          <p:nvPr>
            <p:ph type="title" idx="4294967295"/>
          </p:nvPr>
        </p:nvSpPr>
        <p:spPr/>
        <p:txBody>
          <a:bodyPr/>
          <a:lstStyle/>
          <a:p>
            <a:pPr algn="l"/>
            <a:r>
              <a:rPr lang="en-US">
                <a:latin typeface="Calisto MT" charset="0"/>
              </a:rPr>
              <a:t>Overview of the Agency CMO Subsector: Product Characteristics</a:t>
            </a:r>
          </a:p>
        </p:txBody>
      </p:sp>
      <p:sp>
        <p:nvSpPr>
          <p:cNvPr id="277507" name="Content Placeholder 2"/>
          <p:cNvSpPr>
            <a:spLocks noGrp="1"/>
          </p:cNvSpPr>
          <p:nvPr>
            <p:ph idx="4294967295"/>
          </p:nvPr>
        </p:nvSpPr>
        <p:spPr/>
        <p:txBody>
          <a:bodyPr/>
          <a:lstStyle/>
          <a:p>
            <a:r>
              <a:rPr lang="en-US">
                <a:latin typeface="Calisto MT" charset="0"/>
              </a:rPr>
              <a:t>CMOs were initially created to address two key investor concerns with Pass-throughs</a:t>
            </a:r>
          </a:p>
          <a:p>
            <a:pPr lvl="1"/>
            <a:r>
              <a:rPr lang="en-US">
                <a:latin typeface="Calisto MT" charset="0"/>
              </a:rPr>
              <a:t>Average life</a:t>
            </a:r>
          </a:p>
          <a:p>
            <a:pPr lvl="1"/>
            <a:r>
              <a:rPr lang="en-US">
                <a:latin typeface="Calisto MT" charset="0"/>
              </a:rPr>
              <a:t>Uncertainty of cash flows</a:t>
            </a:r>
          </a:p>
          <a:p>
            <a:r>
              <a:rPr lang="en-US">
                <a:latin typeface="Calisto MT" charset="0"/>
              </a:rPr>
              <a:t>CMOs reallocate the prepayment risk of the underlying collateral</a:t>
            </a:r>
          </a:p>
          <a:p>
            <a:r>
              <a:rPr lang="en-US">
                <a:latin typeface="Calisto MT" charset="0"/>
              </a:rPr>
              <a:t>Tremendous customization of cash flows possible</a:t>
            </a:r>
          </a:p>
          <a:p>
            <a:r>
              <a:rPr lang="en-US">
                <a:latin typeface="Calisto MT" charset="0"/>
              </a:rPr>
              <a:t>Structures include Sequentials, PACs, Supports, TACs, Zs, VADMs, Floaters, Inverse Floaters, TTIBs, IOs, POs, Inverse IOs, TTIB IOs, etc.</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53221C79-49FA-AA4A-82C7-6E0F0637C881}" type="slidenum">
              <a:rPr lang="en-US" sz="1200">
                <a:solidFill>
                  <a:srgbClr val="898989"/>
                </a:solidFill>
                <a:latin typeface="Verdana" charset="0"/>
              </a:rPr>
              <a:pPr algn="r"/>
              <a:t>45</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Title 1"/>
          <p:cNvSpPr>
            <a:spLocks noGrp="1"/>
          </p:cNvSpPr>
          <p:nvPr>
            <p:ph type="title" idx="4294967295"/>
          </p:nvPr>
        </p:nvSpPr>
        <p:spPr/>
        <p:txBody>
          <a:bodyPr/>
          <a:lstStyle/>
          <a:p>
            <a:pPr algn="l"/>
            <a:r>
              <a:rPr lang="en-US">
                <a:latin typeface="Calisto MT" charset="0"/>
              </a:rPr>
              <a:t>Overview of the Agency CMO Subsector: Market Dynamics</a:t>
            </a:r>
          </a:p>
        </p:txBody>
      </p:sp>
      <p:sp>
        <p:nvSpPr>
          <p:cNvPr id="278531" name="Content Placeholder 2"/>
          <p:cNvSpPr>
            <a:spLocks noGrp="1"/>
          </p:cNvSpPr>
          <p:nvPr>
            <p:ph idx="4294967295"/>
          </p:nvPr>
        </p:nvSpPr>
        <p:spPr/>
        <p:txBody>
          <a:bodyPr/>
          <a:lstStyle/>
          <a:p>
            <a:r>
              <a:rPr lang="en-US">
                <a:latin typeface="Calisto MT" charset="0"/>
              </a:rPr>
              <a:t>Approximately $1.3 trillion in outstanding CMOs with $130bb issued in 2008 (YTD issuance for 1H 2009 is ~$100bb)</a:t>
            </a:r>
          </a:p>
          <a:p>
            <a:r>
              <a:rPr lang="en-US">
                <a:latin typeface="Calisto MT" charset="0"/>
              </a:rPr>
              <a:t>CMOs represent key holdings for most MBS investors</a:t>
            </a:r>
          </a:p>
          <a:p>
            <a:r>
              <a:rPr lang="en-US">
                <a:latin typeface="Calisto MT" charset="0"/>
              </a:rPr>
              <a:t>Principal risk-taking business centered around structuring and trading</a:t>
            </a:r>
          </a:p>
          <a:p>
            <a:r>
              <a:rPr lang="en-US">
                <a:latin typeface="Calisto MT" charset="0"/>
              </a:rPr>
              <a:t>Structuring techniques developed in the Agency CMO market have been applied to other asset classes from ABS to CDOs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EF21E1DA-42FD-AF4B-99B2-AA047D37BD18}" type="slidenum">
              <a:rPr lang="en-US" sz="1200">
                <a:solidFill>
                  <a:srgbClr val="898989"/>
                </a:solidFill>
                <a:latin typeface="Verdana" charset="0"/>
              </a:rPr>
              <a:pPr algn="r"/>
              <a:t>46</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Title 1"/>
          <p:cNvSpPr>
            <a:spLocks noGrp="1"/>
          </p:cNvSpPr>
          <p:nvPr>
            <p:ph type="title" idx="4294967295"/>
          </p:nvPr>
        </p:nvSpPr>
        <p:spPr/>
        <p:txBody>
          <a:bodyPr/>
          <a:lstStyle/>
          <a:p>
            <a:pPr algn="l"/>
            <a:r>
              <a:rPr lang="en-US">
                <a:latin typeface="Calisto MT" charset="0"/>
              </a:rPr>
              <a:t>Overview of the Whole Loan and Non-Agency CMO Subsector: Product Characteristics</a:t>
            </a:r>
          </a:p>
        </p:txBody>
      </p:sp>
      <p:sp>
        <p:nvSpPr>
          <p:cNvPr id="279555" name="Content Placeholder 2"/>
          <p:cNvSpPr>
            <a:spLocks noGrp="1"/>
          </p:cNvSpPr>
          <p:nvPr>
            <p:ph idx="4294967295"/>
          </p:nvPr>
        </p:nvSpPr>
        <p:spPr/>
        <p:txBody>
          <a:bodyPr/>
          <a:lstStyle/>
          <a:p>
            <a:r>
              <a:rPr lang="en-US">
                <a:latin typeface="Calisto MT" charset="0"/>
              </a:rPr>
              <a:t>Prime mortgages not securitized by the GSEs</a:t>
            </a:r>
          </a:p>
          <a:p>
            <a:pPr lvl="1"/>
            <a:r>
              <a:rPr lang="en-US">
                <a:latin typeface="Calisto MT" charset="0"/>
              </a:rPr>
              <a:t>Typically for maximum loan amounts greater than $417,000 (Jumbo loans)</a:t>
            </a:r>
          </a:p>
          <a:p>
            <a:pPr lvl="1"/>
            <a:r>
              <a:rPr lang="en-US">
                <a:latin typeface="Calisto MT" charset="0"/>
              </a:rPr>
              <a:t>Borrowers that don</a:t>
            </a:r>
            <a:r>
              <a:rPr lang="ja-JP" altLang="en-US">
                <a:latin typeface="Calisto MT" charset="0"/>
              </a:rPr>
              <a:t>’</a:t>
            </a:r>
            <a:r>
              <a:rPr lang="en-US">
                <a:latin typeface="Calisto MT" charset="0"/>
              </a:rPr>
              <a:t>t qualify for conforming loans because of Documentation/LTV/FICO/Occupancy Status (Alt-A loans)</a:t>
            </a:r>
          </a:p>
          <a:p>
            <a:r>
              <a:rPr lang="en-US">
                <a:latin typeface="Calisto MT" charset="0"/>
              </a:rPr>
              <a:t>Loans trade either as whole loans or are securitized as CMOs</a:t>
            </a:r>
          </a:p>
          <a:p>
            <a:r>
              <a:rPr lang="en-US">
                <a:latin typeface="Calisto MT" charset="0"/>
              </a:rPr>
              <a:t>Non-agency CMOs have:</a:t>
            </a:r>
          </a:p>
          <a:p>
            <a:pPr lvl="1"/>
            <a:r>
              <a:rPr lang="en-US">
                <a:latin typeface="Calisto MT" charset="0"/>
              </a:rPr>
              <a:t>Explicit credit tranching</a:t>
            </a:r>
          </a:p>
          <a:p>
            <a:pPr lvl="1"/>
            <a:r>
              <a:rPr lang="en-US">
                <a:latin typeface="Calisto MT" charset="0"/>
              </a:rPr>
              <a:t>AAAs that can be structured using the same technology used in Agency CMOs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BE4C0CF2-BAB2-4445-AE05-1FF39D70E1D1}" type="slidenum">
              <a:rPr lang="en-US" sz="1200">
                <a:solidFill>
                  <a:srgbClr val="898989"/>
                </a:solidFill>
                <a:latin typeface="Verdana" charset="0"/>
              </a:rPr>
              <a:pPr algn="r"/>
              <a:t>47</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Title 1"/>
          <p:cNvSpPr>
            <a:spLocks noGrp="1"/>
          </p:cNvSpPr>
          <p:nvPr>
            <p:ph type="title" idx="4294967295"/>
          </p:nvPr>
        </p:nvSpPr>
        <p:spPr/>
        <p:txBody>
          <a:bodyPr/>
          <a:lstStyle/>
          <a:p>
            <a:pPr algn="l"/>
            <a:r>
              <a:rPr lang="en-US">
                <a:latin typeface="Calisto MT" charset="0"/>
              </a:rPr>
              <a:t>Overview of the Whole Loan and Non-Agency CMO Subsector: Market Dynamics</a:t>
            </a:r>
          </a:p>
        </p:txBody>
      </p:sp>
      <p:sp>
        <p:nvSpPr>
          <p:cNvPr id="280579" name="Content Placeholder 2"/>
          <p:cNvSpPr>
            <a:spLocks noGrp="1"/>
          </p:cNvSpPr>
          <p:nvPr>
            <p:ph idx="4294967295"/>
          </p:nvPr>
        </p:nvSpPr>
        <p:spPr/>
        <p:txBody>
          <a:bodyPr/>
          <a:lstStyle/>
          <a:p>
            <a:r>
              <a:rPr lang="en-US">
                <a:latin typeface="Calisto MT" charset="0"/>
              </a:rPr>
              <a:t>Approximately $2 trillion in outstanding CMOs with approximately $30 bb issued in 1H 2009 (almost all in ReREMIC form)</a:t>
            </a:r>
          </a:p>
          <a:p>
            <a:r>
              <a:rPr lang="en-US">
                <a:latin typeface="Calisto MT" charset="0"/>
              </a:rPr>
              <a:t>Heavily dependent on access to loan origination</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29794398-FE8C-634B-8366-17D2A77DAF5D}" type="slidenum">
              <a:rPr lang="en-US" sz="1200">
                <a:solidFill>
                  <a:srgbClr val="898989"/>
                </a:solidFill>
                <a:latin typeface="Verdana" charset="0"/>
              </a:rPr>
              <a:pPr algn="r"/>
              <a:t>48</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Title 1"/>
          <p:cNvSpPr>
            <a:spLocks noGrp="1"/>
          </p:cNvSpPr>
          <p:nvPr>
            <p:ph type="title" idx="4294967295"/>
          </p:nvPr>
        </p:nvSpPr>
        <p:spPr/>
        <p:txBody>
          <a:bodyPr/>
          <a:lstStyle/>
          <a:p>
            <a:pPr algn="l"/>
            <a:r>
              <a:rPr lang="en-US">
                <a:latin typeface="Calisto MT" charset="0"/>
              </a:rPr>
              <a:t>Risks Associated with MBS Investments</a:t>
            </a:r>
          </a:p>
        </p:txBody>
      </p:sp>
      <p:sp>
        <p:nvSpPr>
          <p:cNvPr id="281603" name="Content Placeholder 2"/>
          <p:cNvSpPr>
            <a:spLocks noGrp="1"/>
          </p:cNvSpPr>
          <p:nvPr>
            <p:ph idx="4294967295"/>
          </p:nvPr>
        </p:nvSpPr>
        <p:spPr/>
        <p:txBody>
          <a:bodyPr/>
          <a:lstStyle/>
          <a:p>
            <a:r>
              <a:rPr lang="en-US" b="1">
                <a:latin typeface="Calisto MT" charset="0"/>
              </a:rPr>
              <a:t>Interest Rate Risk</a:t>
            </a:r>
          </a:p>
          <a:p>
            <a:pPr lvl="1"/>
            <a:r>
              <a:rPr lang="en-US">
                <a:latin typeface="Calisto MT" charset="0"/>
              </a:rPr>
              <a:t>The value of a bond changes with interest rates</a:t>
            </a:r>
          </a:p>
          <a:p>
            <a:r>
              <a:rPr lang="en-US" b="1">
                <a:latin typeface="Calisto MT" charset="0"/>
              </a:rPr>
              <a:t>Prepayment Risk</a:t>
            </a:r>
          </a:p>
          <a:p>
            <a:pPr lvl="1"/>
            <a:r>
              <a:rPr lang="en-US">
                <a:latin typeface="Calisto MT" charset="0"/>
              </a:rPr>
              <a:t>Homeowner prepayment behavior can change as conditions in the mortgage industry evolve</a:t>
            </a:r>
          </a:p>
          <a:p>
            <a:r>
              <a:rPr lang="en-US" b="1">
                <a:latin typeface="Calisto MT" charset="0"/>
              </a:rPr>
              <a:t>Basis Risk</a:t>
            </a:r>
          </a:p>
          <a:p>
            <a:pPr lvl="1"/>
            <a:r>
              <a:rPr lang="en-US">
                <a:latin typeface="Calisto MT" charset="0"/>
              </a:rPr>
              <a:t>The risk premium offered by MBS over Treasuries and Swaps can change</a:t>
            </a:r>
            <a:r>
              <a:rPr lang="en-US" b="1">
                <a:latin typeface="Calisto MT" charset="0"/>
              </a:rPr>
              <a:t> </a:t>
            </a:r>
          </a:p>
          <a:p>
            <a:r>
              <a:rPr lang="en-US" b="1">
                <a:latin typeface="Calisto MT" charset="0"/>
              </a:rPr>
              <a:t>Credit Risk</a:t>
            </a:r>
          </a:p>
          <a:p>
            <a:pPr lvl="1"/>
            <a:r>
              <a:rPr lang="en-US">
                <a:latin typeface="Calisto MT" charset="0"/>
              </a:rPr>
              <a:t>The value of a non-agency MBS depends on the expected trajectory of home prices and unemployment (among other factors)</a:t>
            </a:r>
          </a:p>
          <a:p>
            <a:r>
              <a:rPr lang="en-US" b="1">
                <a:latin typeface="Calisto MT" charset="0"/>
              </a:rPr>
              <a:t>Liquidity Risk</a:t>
            </a:r>
          </a:p>
          <a:p>
            <a:pPr lvl="1"/>
            <a:r>
              <a:rPr lang="en-US">
                <a:latin typeface="Calisto MT" charset="0"/>
              </a:rPr>
              <a:t>The secondary market for MBS may from time to time charge significant concessions for selling bonds over a short period of time</a:t>
            </a:r>
          </a:p>
          <a:p>
            <a:pPr>
              <a:buFont typeface="Arial" charset="0"/>
              <a:buNone/>
            </a:pPr>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4A32BC48-9A25-5C44-9C29-BA83AAFE0390}" type="slidenum">
              <a:rPr lang="en-US" sz="1200">
                <a:solidFill>
                  <a:srgbClr val="898989"/>
                </a:solidFill>
                <a:latin typeface="Verdana" charset="0"/>
              </a:rPr>
              <a:pPr algn="r"/>
              <a:t>49</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22313" y="4406900"/>
            <a:ext cx="7772400" cy="1362075"/>
          </a:xfrm>
        </p:spPr>
        <p:txBody>
          <a:bodyPr anchor="t">
            <a:normAutofit/>
          </a:bodyPr>
          <a:lstStyle/>
          <a:p>
            <a:pPr algn="l"/>
            <a:r>
              <a:rPr lang="en-US" sz="2400" b="1">
                <a:latin typeface="Calisto MT" charset="0"/>
              </a:rPr>
              <a:t>THE AGENCIES: GINNIE MAE</a:t>
            </a:r>
          </a:p>
        </p:txBody>
      </p:sp>
      <p:sp>
        <p:nvSpPr>
          <p:cNvPr id="11" name="Text Placeholder 10"/>
          <p:cNvSpPr>
            <a:spLocks noGrp="1"/>
          </p:cNvSpPr>
          <p:nvPr>
            <p:ph type="body" idx="4294967295"/>
          </p:nvPr>
        </p:nvSpPr>
        <p:spPr>
          <a:xfrm>
            <a:off x="722313" y="2906713"/>
            <a:ext cx="7772400" cy="1500187"/>
          </a:xfrm>
        </p:spPr>
        <p:txBody>
          <a:bodyPr anchor="b">
            <a:normAutofit/>
          </a:bodyPr>
          <a:lstStyle/>
          <a:p>
            <a:pPr marL="0" indent="0">
              <a:buFont typeface="Arial" charset="0"/>
              <a:buNone/>
            </a:pPr>
            <a:endParaRPr lang="en-US" sz="1300" b="1">
              <a:latin typeface="Calisto MT"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FF70D436-12BF-3944-B282-7287E8E974F0}" type="slidenum">
              <a:rPr lang="en-US" sz="1200">
                <a:solidFill>
                  <a:srgbClr val="898989"/>
                </a:solidFill>
              </a:rPr>
              <a:pPr algn="r"/>
              <a:t>50</a:t>
            </a:fld>
            <a:endParaRPr lang="en-US" sz="1200">
              <a:solidFill>
                <a:srgbClr val="898989"/>
              </a:solidFill>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Title 1"/>
          <p:cNvSpPr>
            <a:spLocks noGrp="1"/>
          </p:cNvSpPr>
          <p:nvPr>
            <p:ph type="title" idx="4294967295"/>
          </p:nvPr>
        </p:nvSpPr>
        <p:spPr/>
        <p:txBody>
          <a:bodyPr/>
          <a:lstStyle/>
          <a:p>
            <a:pPr algn="l"/>
            <a:r>
              <a:rPr lang="en-US">
                <a:latin typeface="Calisto MT" charset="0"/>
              </a:rPr>
              <a:t>Ginnie Mae</a:t>
            </a:r>
          </a:p>
        </p:txBody>
      </p:sp>
      <p:sp>
        <p:nvSpPr>
          <p:cNvPr id="323587" name="Content Placeholder 2"/>
          <p:cNvSpPr>
            <a:spLocks noGrp="1"/>
          </p:cNvSpPr>
          <p:nvPr>
            <p:ph idx="4294967295"/>
          </p:nvPr>
        </p:nvSpPr>
        <p:spPr/>
        <p:txBody>
          <a:bodyPr/>
          <a:lstStyle/>
          <a:p>
            <a:r>
              <a:rPr lang="en-US">
                <a:latin typeface="Calisto MT" charset="0"/>
              </a:rPr>
              <a:t>Ginnie Mae (GNMA) is a government-owned corporation within the Department of Housing and Development (HUD) that was created in 1968 and is the guarantor of full and timely payment of principal and interest on approximately $400bb single-family MBS.</a:t>
            </a:r>
          </a:p>
          <a:p>
            <a:r>
              <a:rPr lang="en-US">
                <a:latin typeface="Calisto MT" charset="0"/>
              </a:rPr>
              <a:t>The GNMA guarantee is backed by the </a:t>
            </a:r>
            <a:r>
              <a:rPr lang="en-US" b="1">
                <a:latin typeface="Calisto MT" charset="0"/>
              </a:rPr>
              <a:t>full faith and credit of the United States</a:t>
            </a:r>
            <a:r>
              <a:rPr lang="en-US">
                <a:latin typeface="Calisto MT" charset="0"/>
              </a:rPr>
              <a:t>. Thus, GNMA MBS offer the same credit quality as U.S. Treasuries.</a:t>
            </a:r>
          </a:p>
          <a:p>
            <a:r>
              <a:rPr lang="en-US">
                <a:latin typeface="Calisto MT" charset="0"/>
              </a:rPr>
              <a:t> GNMA-guaranteed MBS are the dominant source of capital markets financing for mortgage loans insured or guaranteed by the following Federal Housing institutions: FHA, Department of Veterans Affairs (VA), the Rural Housing Service (RHS), and the Office of Public and Indian Housing (PIH).</a:t>
            </a:r>
          </a:p>
          <a:p>
            <a:endParaRPr lang="en-US">
              <a:latin typeface="Calisto MT" charset="0"/>
            </a:endParaRPr>
          </a:p>
          <a:p>
            <a:pPr lvl="1"/>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500F7196-493B-4A40-BC13-9CCC2BB06109}" type="slidenum">
              <a:rPr lang="en-US" sz="1200">
                <a:solidFill>
                  <a:srgbClr val="898989"/>
                </a:solidFill>
                <a:latin typeface="Verdana" charset="0"/>
              </a:rPr>
              <a:pPr algn="r"/>
              <a:t>51</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Title 1"/>
          <p:cNvSpPr>
            <a:spLocks noGrp="1"/>
          </p:cNvSpPr>
          <p:nvPr>
            <p:ph type="title" idx="4294967295"/>
          </p:nvPr>
        </p:nvSpPr>
        <p:spPr/>
        <p:txBody>
          <a:bodyPr/>
          <a:lstStyle/>
          <a:p>
            <a:pPr algn="l"/>
            <a:r>
              <a:rPr lang="en-US">
                <a:latin typeface="Calisto MT" charset="0"/>
              </a:rPr>
              <a:t>The Ginnie Mae Securitization Process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0C8813AC-8FF8-BB48-AFF6-B1A219C5BA86}" type="slidenum">
              <a:rPr lang="en-US" sz="1200">
                <a:solidFill>
                  <a:srgbClr val="898989"/>
                </a:solidFill>
                <a:latin typeface="Verdana" charset="0"/>
              </a:rPr>
              <a:pPr algn="r"/>
              <a:t>52</a:t>
            </a:fld>
            <a:endParaRPr lang="en-US" sz="1200">
              <a:solidFill>
                <a:srgbClr val="898989"/>
              </a:solidFill>
              <a:latin typeface="Verdana" charset="0"/>
            </a:endParaRPr>
          </a:p>
        </p:txBody>
      </p:sp>
      <p:sp>
        <p:nvSpPr>
          <p:cNvPr id="286727" name="Text Box 7"/>
          <p:cNvSpPr txBox="1">
            <a:spLocks noChangeArrowheads="1"/>
          </p:cNvSpPr>
          <p:nvPr/>
        </p:nvSpPr>
        <p:spPr bwMode="auto">
          <a:xfrm>
            <a:off x="533400" y="5715000"/>
            <a:ext cx="13001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000" i="1"/>
              <a:t>Source: Ginnie Mae</a:t>
            </a:r>
          </a:p>
        </p:txBody>
      </p:sp>
      <p:pic>
        <p:nvPicPr>
          <p:cNvPr id="286728"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212975" y="1593850"/>
            <a:ext cx="4003675" cy="412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Title 1"/>
          <p:cNvSpPr>
            <a:spLocks noGrp="1"/>
          </p:cNvSpPr>
          <p:nvPr>
            <p:ph type="title" idx="4294967295"/>
          </p:nvPr>
        </p:nvSpPr>
        <p:spPr/>
        <p:txBody>
          <a:bodyPr/>
          <a:lstStyle/>
          <a:p>
            <a:pPr algn="l"/>
            <a:r>
              <a:rPr lang="en-US">
                <a:latin typeface="Calisto MT" charset="0"/>
              </a:rPr>
              <a:t>The Ginnie Mae Guarantee</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5032312C-4CCA-3745-80F7-1DC1E634173C}" type="slidenum">
              <a:rPr lang="en-US" sz="1200">
                <a:solidFill>
                  <a:srgbClr val="898989"/>
                </a:solidFill>
                <a:latin typeface="Verdana" charset="0"/>
              </a:rPr>
              <a:pPr algn="r"/>
              <a:t>53</a:t>
            </a:fld>
            <a:endParaRPr lang="en-US" sz="1200">
              <a:solidFill>
                <a:srgbClr val="898989"/>
              </a:solidFill>
              <a:latin typeface="Verdana" charset="0"/>
            </a:endParaRPr>
          </a:p>
        </p:txBody>
      </p:sp>
      <p:sp>
        <p:nvSpPr>
          <p:cNvPr id="287751" name="Text Box 7"/>
          <p:cNvSpPr txBox="1">
            <a:spLocks noChangeArrowheads="1"/>
          </p:cNvSpPr>
          <p:nvPr/>
        </p:nvSpPr>
        <p:spPr bwMode="auto">
          <a:xfrm>
            <a:off x="533400" y="5715000"/>
            <a:ext cx="196691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000" i="1"/>
              <a:t>Source: Ginnie Mae Prospectus</a:t>
            </a:r>
          </a:p>
        </p:txBody>
      </p:sp>
      <p:pic>
        <p:nvPicPr>
          <p:cNvPr id="287752"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244725" y="1666875"/>
            <a:ext cx="4516438" cy="398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22313" y="4406900"/>
            <a:ext cx="7772400" cy="1362075"/>
          </a:xfrm>
        </p:spPr>
        <p:txBody>
          <a:bodyPr anchor="t">
            <a:normAutofit/>
          </a:bodyPr>
          <a:lstStyle/>
          <a:p>
            <a:pPr algn="l"/>
            <a:r>
              <a:rPr lang="en-US" sz="2400" b="1">
                <a:latin typeface="Calisto MT" charset="0"/>
              </a:rPr>
              <a:t>THE AGENCIES: FANNIE MAE AND FREDDIE MAC</a:t>
            </a:r>
          </a:p>
        </p:txBody>
      </p:sp>
      <p:sp>
        <p:nvSpPr>
          <p:cNvPr id="11" name="Text Placeholder 10"/>
          <p:cNvSpPr>
            <a:spLocks noGrp="1"/>
          </p:cNvSpPr>
          <p:nvPr>
            <p:ph type="body" idx="4294967295"/>
          </p:nvPr>
        </p:nvSpPr>
        <p:spPr>
          <a:xfrm>
            <a:off x="722313" y="2906713"/>
            <a:ext cx="7772400" cy="1500187"/>
          </a:xfrm>
        </p:spPr>
        <p:txBody>
          <a:bodyPr anchor="b">
            <a:normAutofit/>
          </a:bodyPr>
          <a:lstStyle/>
          <a:p>
            <a:pPr marL="0" indent="0">
              <a:buFont typeface="Arial" charset="0"/>
              <a:buNone/>
            </a:pPr>
            <a:endParaRPr lang="en-US" sz="1300" b="1">
              <a:latin typeface="Calisto MT"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BA82D144-CA8E-E843-ABAB-FFBB882AE1B6}" type="slidenum">
              <a:rPr lang="en-US" sz="1200">
                <a:solidFill>
                  <a:srgbClr val="898989"/>
                </a:solidFill>
              </a:rPr>
              <a:pPr algn="r"/>
              <a:t>54</a:t>
            </a:fld>
            <a:endParaRPr lang="en-US" sz="1200">
              <a:solidFill>
                <a:srgbClr val="898989"/>
              </a:solidFill>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Title 1"/>
          <p:cNvSpPr>
            <a:spLocks noGrp="1"/>
          </p:cNvSpPr>
          <p:nvPr>
            <p:ph type="title" idx="4294967295"/>
          </p:nvPr>
        </p:nvSpPr>
        <p:spPr/>
        <p:txBody>
          <a:bodyPr/>
          <a:lstStyle/>
          <a:p>
            <a:pPr algn="l"/>
            <a:r>
              <a:rPr lang="en-US">
                <a:latin typeface="Calisto MT" charset="0"/>
              </a:rPr>
              <a:t>Fannie Mae and Freddie Mac</a:t>
            </a:r>
          </a:p>
        </p:txBody>
      </p:sp>
      <p:sp>
        <p:nvSpPr>
          <p:cNvPr id="324611" name="Content Placeholder 2"/>
          <p:cNvSpPr>
            <a:spLocks noGrp="1"/>
          </p:cNvSpPr>
          <p:nvPr>
            <p:ph idx="4294967295"/>
          </p:nvPr>
        </p:nvSpPr>
        <p:spPr/>
        <p:txBody>
          <a:bodyPr/>
          <a:lstStyle/>
          <a:p>
            <a:r>
              <a:rPr lang="en-US">
                <a:latin typeface="Calisto MT" charset="0"/>
              </a:rPr>
              <a:t>Fannie Mae (FNMA) and Freddie Mac (FHLMC) were created by Congress to provide liquidity, stability, and affordability to the mortgage market. FNMA and FHLMC buy mortgages from lenders and either hold these mortgages in portfolio or package the loans into mortgage-backed securities (MBS) that are sold to the public. Lenders use the cash raised by selling mortgages to engage in further lending.</a:t>
            </a:r>
          </a:p>
          <a:p>
            <a:r>
              <a:rPr lang="en-US">
                <a:latin typeface="Calisto MT" charset="0"/>
              </a:rPr>
              <a:t>By packaging mortgages into MBS and guaranteeing the timely payment of principal and interest on the underlying mortgages, FNMA and FHLMC attract investors to the secondary mortgage markets who do not want exposure to credit risk.</a:t>
            </a:r>
          </a:p>
          <a:p>
            <a:endParaRPr lang="en-US">
              <a:latin typeface="Calisto MT" charset="0"/>
            </a:endParaRPr>
          </a:p>
          <a:p>
            <a:endParaRPr lang="en-US">
              <a:latin typeface="Calisto MT" charset="0"/>
            </a:endParaRPr>
          </a:p>
          <a:p>
            <a:endParaRPr lang="en-US">
              <a:latin typeface="Calisto MT" charset="0"/>
            </a:endParaRPr>
          </a:p>
          <a:p>
            <a:pPr lvl="1"/>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EFC89130-EEBD-7F4E-A062-CBB6AF8BD6CB}" type="slidenum">
              <a:rPr lang="en-US" sz="1200">
                <a:solidFill>
                  <a:srgbClr val="898989"/>
                </a:solidFill>
                <a:latin typeface="Verdana" charset="0"/>
              </a:rPr>
              <a:pPr algn="r"/>
              <a:t>55</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Title 1"/>
          <p:cNvSpPr>
            <a:spLocks noGrp="1"/>
          </p:cNvSpPr>
          <p:nvPr>
            <p:ph type="title" idx="4294967295"/>
          </p:nvPr>
        </p:nvSpPr>
        <p:spPr/>
        <p:txBody>
          <a:bodyPr/>
          <a:lstStyle/>
          <a:p>
            <a:pPr algn="l"/>
            <a:r>
              <a:rPr lang="en-US">
                <a:latin typeface="Calisto MT" charset="0"/>
              </a:rPr>
              <a:t>GSE Retained Mortgage Portfolios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A2D8A46B-791F-2042-B939-599513517244}" type="slidenum">
              <a:rPr lang="en-US" sz="1200">
                <a:solidFill>
                  <a:srgbClr val="898989"/>
                </a:solidFill>
                <a:latin typeface="Verdana" charset="0"/>
              </a:rPr>
              <a:pPr algn="r"/>
              <a:t>56</a:t>
            </a:fld>
            <a:endParaRPr lang="en-US" sz="1200">
              <a:solidFill>
                <a:srgbClr val="898989"/>
              </a:solidFill>
              <a:latin typeface="Verdana" charset="0"/>
            </a:endParaRPr>
          </a:p>
        </p:txBody>
      </p:sp>
      <p:sp>
        <p:nvSpPr>
          <p:cNvPr id="290823" name="Text Box 7"/>
          <p:cNvSpPr txBox="1">
            <a:spLocks noChangeArrowheads="1"/>
          </p:cNvSpPr>
          <p:nvPr/>
        </p:nvSpPr>
        <p:spPr bwMode="auto">
          <a:xfrm>
            <a:off x="533400" y="5715000"/>
            <a:ext cx="9858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000" i="1"/>
              <a:t>Source: FHFA</a:t>
            </a:r>
          </a:p>
        </p:txBody>
      </p:sp>
      <p:pic>
        <p:nvPicPr>
          <p:cNvPr id="290824"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16000" y="1676400"/>
            <a:ext cx="7110413"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22313" y="4406900"/>
            <a:ext cx="7772400" cy="1362075"/>
          </a:xfrm>
        </p:spPr>
        <p:txBody>
          <a:bodyPr anchor="t">
            <a:normAutofit/>
          </a:bodyPr>
          <a:lstStyle/>
          <a:p>
            <a:pPr algn="l"/>
            <a:r>
              <a:rPr lang="en-US" sz="2400" b="1">
                <a:latin typeface="Calisto MT" charset="0"/>
              </a:rPr>
              <a:t>AGENCY PASS-THROUGHS</a:t>
            </a:r>
          </a:p>
        </p:txBody>
      </p:sp>
      <p:sp>
        <p:nvSpPr>
          <p:cNvPr id="11" name="Text Placeholder 10"/>
          <p:cNvSpPr>
            <a:spLocks noGrp="1"/>
          </p:cNvSpPr>
          <p:nvPr>
            <p:ph type="body" idx="4294967295"/>
          </p:nvPr>
        </p:nvSpPr>
        <p:spPr>
          <a:xfrm>
            <a:off x="722313" y="2906713"/>
            <a:ext cx="7772400" cy="1500187"/>
          </a:xfrm>
        </p:spPr>
        <p:txBody>
          <a:bodyPr anchor="b">
            <a:normAutofit/>
          </a:bodyPr>
          <a:lstStyle/>
          <a:p>
            <a:pPr marL="0" indent="0">
              <a:buFont typeface="Arial" charset="0"/>
              <a:buNone/>
            </a:pPr>
            <a:endParaRPr lang="en-US" sz="1300" b="1">
              <a:latin typeface="Calisto MT"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A862A803-00A0-3943-99EF-5846FB4071C8}" type="slidenum">
              <a:rPr lang="en-US" sz="1200">
                <a:solidFill>
                  <a:srgbClr val="898989"/>
                </a:solidFill>
              </a:rPr>
              <a:pPr algn="r"/>
              <a:t>57</a:t>
            </a:fld>
            <a:endParaRPr lang="en-US" sz="1200">
              <a:solidFill>
                <a:srgbClr val="898989"/>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Title 1"/>
          <p:cNvSpPr>
            <a:spLocks noGrp="1"/>
          </p:cNvSpPr>
          <p:nvPr>
            <p:ph type="title" idx="4294967295"/>
          </p:nvPr>
        </p:nvSpPr>
        <p:spPr/>
        <p:txBody>
          <a:bodyPr/>
          <a:lstStyle/>
          <a:p>
            <a:pPr algn="l"/>
            <a:r>
              <a:rPr lang="en-US">
                <a:latin typeface="Calisto MT" charset="0"/>
              </a:rPr>
              <a:t>Pass-through Characteristics</a:t>
            </a:r>
          </a:p>
        </p:txBody>
      </p:sp>
      <p:sp>
        <p:nvSpPr>
          <p:cNvPr id="293891" name="Content Placeholder 2"/>
          <p:cNvSpPr>
            <a:spLocks noGrp="1"/>
          </p:cNvSpPr>
          <p:nvPr>
            <p:ph idx="4294967295"/>
          </p:nvPr>
        </p:nvSpPr>
        <p:spPr/>
        <p:txBody>
          <a:bodyPr/>
          <a:lstStyle/>
          <a:p>
            <a:r>
              <a:rPr lang="en-US" b="1">
                <a:latin typeface="Calisto MT" charset="0"/>
              </a:rPr>
              <a:t>Issuer: </a:t>
            </a:r>
            <a:r>
              <a:rPr lang="en-US">
                <a:latin typeface="Calisto MT" charset="0"/>
              </a:rPr>
              <a:t>The agency that guarantees the pool, or the MBS issuer in the case of non-agencies</a:t>
            </a:r>
            <a:endParaRPr lang="en-US" b="1">
              <a:latin typeface="Calisto MT" charset="0"/>
            </a:endParaRPr>
          </a:p>
          <a:p>
            <a:r>
              <a:rPr lang="en-US" b="1">
                <a:latin typeface="Calisto MT" charset="0"/>
              </a:rPr>
              <a:t>Loan Type: </a:t>
            </a:r>
            <a:r>
              <a:rPr lang="en-US">
                <a:latin typeface="Calisto MT" charset="0"/>
              </a:rPr>
              <a:t>The original term (30-yr, 15-yr, etc.) and the coupon type (fixed-rate, ARM, hybrid ARM)</a:t>
            </a:r>
          </a:p>
          <a:p>
            <a:r>
              <a:rPr lang="en-US" b="1">
                <a:latin typeface="Calisto MT" charset="0"/>
              </a:rPr>
              <a:t>Coupon: </a:t>
            </a:r>
            <a:r>
              <a:rPr lang="en-US">
                <a:latin typeface="Calisto MT" charset="0"/>
              </a:rPr>
              <a:t>The net coupon in  the case of fixed-rate pass-throughs, or the index, net spread and net current reset in the case of ARMs.</a:t>
            </a:r>
          </a:p>
          <a:p>
            <a:r>
              <a:rPr lang="en-US" b="1">
                <a:latin typeface="Calisto MT" charset="0"/>
              </a:rPr>
              <a:t>Weighted-average coupon (WAC):</a:t>
            </a:r>
            <a:r>
              <a:rPr lang="en-US">
                <a:latin typeface="Calisto MT" charset="0"/>
              </a:rPr>
              <a:t> The weighted-average coupon rate of the underlying mortgage loans or pools that serve as collateral for a security</a:t>
            </a:r>
          </a:p>
          <a:p>
            <a:r>
              <a:rPr lang="en-US" b="1">
                <a:latin typeface="Calisto MT" charset="0"/>
              </a:rPr>
              <a:t>Weighted-average loan age (WALA): </a:t>
            </a:r>
            <a:r>
              <a:rPr lang="en-US">
                <a:latin typeface="Calisto MT" charset="0"/>
              </a:rPr>
              <a:t>The weighted average of months since the average origination date of the mortgages in a pass-through pool</a:t>
            </a:r>
          </a:p>
          <a:p>
            <a:r>
              <a:rPr lang="en-US" b="1">
                <a:latin typeface="Calisto MT" charset="0"/>
              </a:rPr>
              <a:t>Weighted-average maturity (WAM): </a:t>
            </a:r>
            <a:r>
              <a:rPr lang="en-US">
                <a:latin typeface="Calisto MT" charset="0"/>
              </a:rPr>
              <a:t>The weighted average of the remaining term to maturity of the underlying mortgages</a:t>
            </a:r>
            <a:endParaRPr lang="en-US" b="1">
              <a:latin typeface="Calisto MT" charset="0"/>
            </a:endParaRPr>
          </a:p>
          <a:p>
            <a:endParaRPr lang="en-US" b="1">
              <a:latin typeface="Calisto MT" charset="0"/>
            </a:endParaRPr>
          </a:p>
          <a:p>
            <a:pPr lvl="1"/>
            <a:endParaRPr lang="en-US" b="1">
              <a:latin typeface="Calisto MT" charset="0"/>
            </a:endParaRPr>
          </a:p>
          <a:p>
            <a:pPr>
              <a:buFont typeface="Arial" charset="0"/>
              <a:buNone/>
            </a:pPr>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D91DB9C7-8861-BE4A-90CA-4CDC132F58D5}" type="slidenum">
              <a:rPr lang="en-US" sz="1200">
                <a:solidFill>
                  <a:srgbClr val="898989"/>
                </a:solidFill>
                <a:latin typeface="Verdana" charset="0"/>
              </a:rPr>
              <a:pPr algn="r"/>
              <a:t>58</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Title 1"/>
          <p:cNvSpPr>
            <a:spLocks noGrp="1"/>
          </p:cNvSpPr>
          <p:nvPr>
            <p:ph type="title" idx="4294967295"/>
          </p:nvPr>
        </p:nvSpPr>
        <p:spPr/>
        <p:txBody>
          <a:bodyPr/>
          <a:lstStyle/>
          <a:p>
            <a:pPr algn="l"/>
            <a:r>
              <a:rPr lang="en-US">
                <a:latin typeface="Calisto MT" charset="0"/>
              </a:rPr>
              <a:t>Cash Flows on a Pass-through Pool</a:t>
            </a:r>
          </a:p>
        </p:txBody>
      </p:sp>
      <p:sp>
        <p:nvSpPr>
          <p:cNvPr id="294915" name="Content Placeholder 2"/>
          <p:cNvSpPr>
            <a:spLocks noGrp="1"/>
          </p:cNvSpPr>
          <p:nvPr>
            <p:ph idx="4294967295"/>
          </p:nvPr>
        </p:nvSpPr>
        <p:spPr/>
        <p:txBody>
          <a:bodyPr/>
          <a:lstStyle/>
          <a:p>
            <a:endParaRPr lang="en-US" sz="1000" b="1">
              <a:latin typeface="Calisto MT" charset="0"/>
            </a:endParaRPr>
          </a:p>
          <a:p>
            <a:pPr lvl="1"/>
            <a:endParaRPr lang="en-US" b="1">
              <a:latin typeface="Calisto MT" charset="0"/>
            </a:endParaRPr>
          </a:p>
          <a:p>
            <a:pPr>
              <a:buFont typeface="Arial" charset="0"/>
              <a:buNone/>
            </a:pPr>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C544A4C8-32A5-EF45-A6C4-6A41F44B22A6}" type="slidenum">
              <a:rPr lang="en-US" sz="1200">
                <a:solidFill>
                  <a:srgbClr val="898989"/>
                </a:solidFill>
                <a:latin typeface="Verdana" charset="0"/>
              </a:rPr>
              <a:pPr algn="r"/>
              <a:t>59</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Title 1"/>
          <p:cNvSpPr>
            <a:spLocks noGrp="1"/>
          </p:cNvSpPr>
          <p:nvPr>
            <p:ph type="title" idx="4294967295"/>
          </p:nvPr>
        </p:nvSpPr>
        <p:spPr/>
        <p:txBody>
          <a:bodyPr/>
          <a:lstStyle/>
          <a:p>
            <a:pPr algn="l"/>
            <a:r>
              <a:rPr lang="en-US">
                <a:latin typeface="Calisto MT" charset="0"/>
              </a:rPr>
              <a:t>Weighted-average Life Profile of a Pass-through Pool</a:t>
            </a:r>
          </a:p>
        </p:txBody>
      </p:sp>
      <p:sp>
        <p:nvSpPr>
          <p:cNvPr id="295939" name="Content Placeholder 2"/>
          <p:cNvSpPr>
            <a:spLocks noGrp="1"/>
          </p:cNvSpPr>
          <p:nvPr>
            <p:ph idx="4294967295"/>
          </p:nvPr>
        </p:nvSpPr>
        <p:spPr/>
        <p:txBody>
          <a:bodyPr/>
          <a:lstStyle/>
          <a:p>
            <a:endParaRPr lang="en-US" sz="1000" b="1">
              <a:latin typeface="Calisto MT" charset="0"/>
            </a:endParaRPr>
          </a:p>
          <a:p>
            <a:pPr lvl="1"/>
            <a:endParaRPr lang="en-US" b="1">
              <a:latin typeface="Calisto MT" charset="0"/>
            </a:endParaRPr>
          </a:p>
          <a:p>
            <a:pPr>
              <a:buFont typeface="Arial" charset="0"/>
              <a:buNone/>
            </a:pPr>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2DDACCB6-A86E-C04D-BD2A-D3E5A6508207}" type="slidenum">
              <a:rPr lang="en-US" sz="1200">
                <a:solidFill>
                  <a:srgbClr val="898989"/>
                </a:solidFill>
                <a:latin typeface="Verdana" charset="0"/>
              </a:rPr>
              <a:pPr algn="r"/>
              <a:t>60</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Title 1"/>
          <p:cNvSpPr>
            <a:spLocks noGrp="1"/>
          </p:cNvSpPr>
          <p:nvPr>
            <p:ph type="title" idx="4294967295"/>
          </p:nvPr>
        </p:nvSpPr>
        <p:spPr/>
        <p:txBody>
          <a:bodyPr/>
          <a:lstStyle/>
          <a:p>
            <a:pPr algn="l"/>
            <a:r>
              <a:rPr lang="en-US">
                <a:latin typeface="Calisto MT" charset="0"/>
              </a:rPr>
              <a:t>Yield Profile of a Pass-through Pool</a:t>
            </a:r>
          </a:p>
        </p:txBody>
      </p:sp>
      <p:sp>
        <p:nvSpPr>
          <p:cNvPr id="296963" name="Content Placeholder 2"/>
          <p:cNvSpPr>
            <a:spLocks noGrp="1"/>
          </p:cNvSpPr>
          <p:nvPr>
            <p:ph idx="4294967295"/>
          </p:nvPr>
        </p:nvSpPr>
        <p:spPr/>
        <p:txBody>
          <a:bodyPr/>
          <a:lstStyle/>
          <a:p>
            <a:endParaRPr lang="en-US" sz="1000" b="1">
              <a:latin typeface="Calisto MT" charset="0"/>
            </a:endParaRPr>
          </a:p>
          <a:p>
            <a:pPr lvl="1"/>
            <a:endParaRPr lang="en-US" b="1">
              <a:latin typeface="Calisto MT" charset="0"/>
            </a:endParaRPr>
          </a:p>
          <a:p>
            <a:pPr>
              <a:buFont typeface="Arial" charset="0"/>
              <a:buNone/>
            </a:pPr>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2A5EE9FC-8ACF-224A-8213-863BECB2931C}" type="slidenum">
              <a:rPr lang="en-US" sz="1200">
                <a:solidFill>
                  <a:srgbClr val="898989"/>
                </a:solidFill>
                <a:latin typeface="Verdana" charset="0"/>
              </a:rPr>
              <a:pPr algn="r"/>
              <a:t>61</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Title 1"/>
          <p:cNvSpPr>
            <a:spLocks noGrp="1"/>
          </p:cNvSpPr>
          <p:nvPr>
            <p:ph type="title" idx="4294967295"/>
          </p:nvPr>
        </p:nvSpPr>
        <p:spPr/>
        <p:txBody>
          <a:bodyPr/>
          <a:lstStyle/>
          <a:p>
            <a:pPr algn="l"/>
            <a:r>
              <a:rPr lang="en-US">
                <a:latin typeface="Calisto MT" charset="0"/>
              </a:rPr>
              <a:t>The Pass-Through MBS TBA Market - I</a:t>
            </a:r>
          </a:p>
        </p:txBody>
      </p:sp>
      <p:sp>
        <p:nvSpPr>
          <p:cNvPr id="297987" name="Content Placeholder 2"/>
          <p:cNvSpPr>
            <a:spLocks noGrp="1"/>
          </p:cNvSpPr>
          <p:nvPr>
            <p:ph idx="4294967295"/>
          </p:nvPr>
        </p:nvSpPr>
        <p:spPr/>
        <p:txBody>
          <a:bodyPr/>
          <a:lstStyle/>
          <a:p>
            <a:r>
              <a:rPr lang="ja-JP" altLang="en-US">
                <a:latin typeface="Calisto MT" charset="0"/>
              </a:rPr>
              <a:t>“</a:t>
            </a:r>
            <a:r>
              <a:rPr lang="en-US">
                <a:latin typeface="Calisto MT" charset="0"/>
              </a:rPr>
              <a:t>To Be Announced</a:t>
            </a:r>
            <a:r>
              <a:rPr lang="ja-JP" altLang="en-US">
                <a:latin typeface="Calisto MT" charset="0"/>
              </a:rPr>
              <a:t>”</a:t>
            </a:r>
            <a:r>
              <a:rPr lang="en-US">
                <a:latin typeface="Calisto MT" charset="0"/>
              </a:rPr>
              <a:t> or </a:t>
            </a:r>
            <a:r>
              <a:rPr lang="ja-JP" altLang="en-US">
                <a:latin typeface="Calisto MT" charset="0"/>
              </a:rPr>
              <a:t>“</a:t>
            </a:r>
            <a:r>
              <a:rPr lang="en-US">
                <a:latin typeface="Calisto MT" charset="0"/>
              </a:rPr>
              <a:t>TBA trading</a:t>
            </a:r>
            <a:r>
              <a:rPr lang="ja-JP" altLang="en-US">
                <a:latin typeface="Calisto MT" charset="0"/>
              </a:rPr>
              <a:t>”</a:t>
            </a:r>
            <a:r>
              <a:rPr lang="en-US">
                <a:latin typeface="Calisto MT" charset="0"/>
              </a:rPr>
              <a:t> is the most common method of buying and selling MBS Pass-through pools and accounts for over 90% of pass-through  trading</a:t>
            </a:r>
          </a:p>
          <a:p>
            <a:r>
              <a:rPr lang="en-US">
                <a:latin typeface="Calisto MT" charset="0"/>
              </a:rPr>
              <a:t>Under a TBA transaction, the pass-through pool being purchased or sold has a future settlement date agreed upon by both parties. Specific details are set including product type, coupon rate, settlement date, price and par amount of the securities. However, the actual identity and number of mortgage pools is not given until 2 business days (</a:t>
            </a:r>
            <a:r>
              <a:rPr lang="ja-JP" altLang="en-US">
                <a:latin typeface="Calisto MT" charset="0"/>
              </a:rPr>
              <a:t>“</a:t>
            </a:r>
            <a:r>
              <a:rPr lang="en-US">
                <a:latin typeface="Calisto MT" charset="0"/>
              </a:rPr>
              <a:t>48 hour day</a:t>
            </a:r>
            <a:r>
              <a:rPr lang="ja-JP" altLang="en-US">
                <a:latin typeface="Calisto MT" charset="0"/>
              </a:rPr>
              <a:t>”</a:t>
            </a:r>
            <a:r>
              <a:rPr lang="en-US">
                <a:latin typeface="Calisto MT" charset="0"/>
              </a:rPr>
              <a:t>) before the settlement date.</a:t>
            </a:r>
          </a:p>
          <a:p>
            <a:r>
              <a:rPr lang="en-US">
                <a:latin typeface="Calisto MT" charset="0"/>
              </a:rPr>
              <a:t>TBA trading is used in the pass-through market because many pass-through pools have the same characteristics and are more or less interchangeable. Thus, rather than having to trade individual securities with $1mm balances, investors can effectively execute trades of $100mm or more in this market without specifying the details of the security being traded because these securities will have </a:t>
            </a:r>
            <a:r>
              <a:rPr lang="ja-JP" altLang="en-US">
                <a:latin typeface="Calisto MT" charset="0"/>
              </a:rPr>
              <a:t>“</a:t>
            </a:r>
            <a:r>
              <a:rPr lang="en-US">
                <a:latin typeface="Calisto MT" charset="0"/>
              </a:rPr>
              <a:t>substantially similar</a:t>
            </a:r>
            <a:r>
              <a:rPr lang="ja-JP" altLang="en-US">
                <a:latin typeface="Calisto MT" charset="0"/>
              </a:rPr>
              <a:t>”</a:t>
            </a:r>
            <a:r>
              <a:rPr lang="en-US">
                <a:latin typeface="Calisto MT" charset="0"/>
              </a:rPr>
              <a:t> characteristics</a:t>
            </a:r>
          </a:p>
          <a:p>
            <a:pPr>
              <a:buFont typeface="Arial" charset="0"/>
              <a:buNone/>
            </a:pPr>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6561DF2F-D6BD-184C-BC4F-9C257DBD16AC}" type="slidenum">
              <a:rPr lang="en-US" sz="1200">
                <a:solidFill>
                  <a:srgbClr val="898989"/>
                </a:solidFill>
                <a:latin typeface="Verdana" charset="0"/>
              </a:rPr>
              <a:pPr algn="r"/>
              <a:t>62</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Title 1"/>
          <p:cNvSpPr>
            <a:spLocks noGrp="1"/>
          </p:cNvSpPr>
          <p:nvPr>
            <p:ph type="title" idx="4294967295"/>
          </p:nvPr>
        </p:nvSpPr>
        <p:spPr/>
        <p:txBody>
          <a:bodyPr/>
          <a:lstStyle/>
          <a:p>
            <a:pPr algn="l"/>
            <a:r>
              <a:rPr lang="en-US">
                <a:latin typeface="Calisto MT" charset="0"/>
              </a:rPr>
              <a:t>The Pass-Through MBS TBA Market - II</a:t>
            </a:r>
          </a:p>
        </p:txBody>
      </p:sp>
      <p:sp>
        <p:nvSpPr>
          <p:cNvPr id="299011" name="Content Placeholder 2"/>
          <p:cNvSpPr>
            <a:spLocks noGrp="1"/>
          </p:cNvSpPr>
          <p:nvPr>
            <p:ph idx="4294967295"/>
          </p:nvPr>
        </p:nvSpPr>
        <p:spPr/>
        <p:txBody>
          <a:bodyPr/>
          <a:lstStyle/>
          <a:p>
            <a:r>
              <a:rPr lang="en-US">
                <a:latin typeface="Calisto MT" charset="0"/>
              </a:rPr>
              <a:t>SIFMA (previously The Bond Market Association) plays an important role in MBS pass-through trading by establishing guidelines for trading TBAs. These </a:t>
            </a:r>
            <a:r>
              <a:rPr lang="ja-JP" altLang="en-US">
                <a:latin typeface="Calisto MT" charset="0"/>
              </a:rPr>
              <a:t>“</a:t>
            </a:r>
            <a:r>
              <a:rPr lang="en-US">
                <a:latin typeface="Calisto MT" charset="0"/>
              </a:rPr>
              <a:t>Good Delivery</a:t>
            </a:r>
            <a:r>
              <a:rPr lang="ja-JP" altLang="en-US">
                <a:latin typeface="Calisto MT" charset="0"/>
              </a:rPr>
              <a:t>”</a:t>
            </a:r>
            <a:r>
              <a:rPr lang="en-US">
                <a:latin typeface="Calisto MT" charset="0"/>
              </a:rPr>
              <a:t> guidelines establish a common set of terms and conditions for each TBA trade. For example, when trading a collection of MBS pools, there is an allowable variance of 0.01% of the principal bought or sold – the sellers may actually deliver between 99.99% and 100.01% of the face amount on the settlement date.</a:t>
            </a:r>
          </a:p>
          <a:p>
            <a:r>
              <a:rPr lang="en-US">
                <a:latin typeface="Calisto MT" charset="0"/>
              </a:rPr>
              <a:t>The liquidity, interchangeability (</a:t>
            </a:r>
            <a:r>
              <a:rPr lang="ja-JP" altLang="en-US">
                <a:latin typeface="Calisto MT" charset="0"/>
              </a:rPr>
              <a:t>“</a:t>
            </a:r>
            <a:r>
              <a:rPr lang="en-US">
                <a:latin typeface="Calisto MT" charset="0"/>
              </a:rPr>
              <a:t>fungibility</a:t>
            </a:r>
            <a:r>
              <a:rPr lang="ja-JP" altLang="en-US">
                <a:latin typeface="Calisto MT" charset="0"/>
              </a:rPr>
              <a:t>”</a:t>
            </a:r>
            <a:r>
              <a:rPr lang="en-US">
                <a:latin typeface="Calisto MT" charset="0"/>
              </a:rPr>
              <a:t>), and efficiency of MBS TBA markets make it one of the largest and most active fixed-income markets in the world.</a:t>
            </a:r>
          </a:p>
          <a:p>
            <a:pPr>
              <a:buFont typeface="Arial" charset="0"/>
              <a:buNone/>
            </a:pPr>
            <a:endParaRPr lang="en-US">
              <a:latin typeface="Calisto MT" charset="0"/>
            </a:endParaRPr>
          </a:p>
          <a:p>
            <a:pPr>
              <a:buFont typeface="Arial" charset="0"/>
              <a:buNone/>
            </a:pPr>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C623DDF2-6B9A-2048-B75D-B5424DDD9956}" type="slidenum">
              <a:rPr lang="en-US" sz="1200">
                <a:solidFill>
                  <a:srgbClr val="898989"/>
                </a:solidFill>
                <a:latin typeface="Verdana" charset="0"/>
              </a:rPr>
              <a:pPr algn="r"/>
              <a:t>63</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Title 1"/>
          <p:cNvSpPr>
            <a:spLocks noGrp="1"/>
          </p:cNvSpPr>
          <p:nvPr>
            <p:ph type="title" idx="4294967295"/>
          </p:nvPr>
        </p:nvSpPr>
        <p:spPr/>
        <p:txBody>
          <a:bodyPr/>
          <a:lstStyle/>
          <a:p>
            <a:pPr algn="l"/>
            <a:r>
              <a:rPr lang="en-US">
                <a:latin typeface="Calisto MT" charset="0"/>
              </a:rPr>
              <a:t>The Pass-Through MBS Specified Pool Market</a:t>
            </a:r>
          </a:p>
        </p:txBody>
      </p:sp>
      <p:sp>
        <p:nvSpPr>
          <p:cNvPr id="300035" name="Content Placeholder 2"/>
          <p:cNvSpPr>
            <a:spLocks noGrp="1"/>
          </p:cNvSpPr>
          <p:nvPr>
            <p:ph idx="4294967295"/>
          </p:nvPr>
        </p:nvSpPr>
        <p:spPr/>
        <p:txBody>
          <a:bodyPr/>
          <a:lstStyle/>
          <a:p>
            <a:r>
              <a:rPr lang="en-US">
                <a:latin typeface="Calisto MT" charset="0"/>
              </a:rPr>
              <a:t>Some pass-through securities are still trade on a specified basis with the buyer and seller specifying the amounts and identities of the pools being purchased or sold.</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4E92AAAB-D9EE-064B-AAB4-3AB422852F07}" type="slidenum">
              <a:rPr lang="en-US" sz="1200">
                <a:solidFill>
                  <a:srgbClr val="898989"/>
                </a:solidFill>
                <a:latin typeface="Verdana" charset="0"/>
              </a:rPr>
              <a:pPr algn="r"/>
              <a:t>64</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Title 1"/>
          <p:cNvSpPr>
            <a:spLocks noGrp="1"/>
          </p:cNvSpPr>
          <p:nvPr>
            <p:ph type="title" idx="4294967295"/>
          </p:nvPr>
        </p:nvSpPr>
        <p:spPr/>
        <p:txBody>
          <a:bodyPr/>
          <a:lstStyle/>
          <a:p>
            <a:pPr algn="l"/>
            <a:r>
              <a:rPr lang="en-US">
                <a:latin typeface="Calisto MT" charset="0"/>
              </a:rPr>
              <a:t>The Pass-Through Dollar Roll Market - I</a:t>
            </a:r>
          </a:p>
        </p:txBody>
      </p:sp>
      <p:sp>
        <p:nvSpPr>
          <p:cNvPr id="301059" name="Content Placeholder 2"/>
          <p:cNvSpPr>
            <a:spLocks noGrp="1"/>
          </p:cNvSpPr>
          <p:nvPr>
            <p:ph idx="4294967295"/>
          </p:nvPr>
        </p:nvSpPr>
        <p:spPr/>
        <p:txBody>
          <a:bodyPr/>
          <a:lstStyle/>
          <a:p>
            <a:r>
              <a:rPr lang="en-US">
                <a:latin typeface="Calisto MT" charset="0"/>
              </a:rPr>
              <a:t>A </a:t>
            </a:r>
            <a:r>
              <a:rPr lang="ja-JP" altLang="en-US">
                <a:latin typeface="Calisto MT" charset="0"/>
              </a:rPr>
              <a:t>“</a:t>
            </a:r>
            <a:r>
              <a:rPr lang="en-US">
                <a:latin typeface="Calisto MT" charset="0"/>
              </a:rPr>
              <a:t>Dollar Roll</a:t>
            </a:r>
            <a:r>
              <a:rPr lang="ja-JP" altLang="en-US">
                <a:latin typeface="Calisto MT" charset="0"/>
              </a:rPr>
              <a:t>”</a:t>
            </a:r>
            <a:r>
              <a:rPr lang="en-US">
                <a:latin typeface="Calisto MT" charset="0"/>
              </a:rPr>
              <a:t> is a short-term funding technique using for Pass-throughs.</a:t>
            </a:r>
          </a:p>
          <a:p>
            <a:r>
              <a:rPr lang="en-US">
                <a:latin typeface="Calisto MT" charset="0"/>
              </a:rPr>
              <a:t>The seller of the dollar roll agrees to sell Pass-throughs at an agreed-upon price on a specified date and buy back a </a:t>
            </a:r>
            <a:r>
              <a:rPr lang="ja-JP" altLang="en-US">
                <a:latin typeface="Calisto MT" charset="0"/>
              </a:rPr>
              <a:t>“</a:t>
            </a:r>
            <a:r>
              <a:rPr lang="en-US">
                <a:latin typeface="Calisto MT" charset="0"/>
              </a:rPr>
              <a:t>similar</a:t>
            </a:r>
            <a:r>
              <a:rPr lang="ja-JP" altLang="en-US">
                <a:latin typeface="Calisto MT" charset="0"/>
              </a:rPr>
              <a:t>”</a:t>
            </a:r>
            <a:r>
              <a:rPr lang="en-US">
                <a:latin typeface="Calisto MT" charset="0"/>
              </a:rPr>
              <a:t> security at a specified future date. The seller receives the use of funds for the specified time period but is not entitled to monthly cash flows from the mortgage security during the roll period.</a:t>
            </a:r>
          </a:p>
          <a:p>
            <a:r>
              <a:rPr lang="en-US">
                <a:latin typeface="Calisto MT" charset="0"/>
              </a:rPr>
              <a:t>The buyer agrees to buy the pass-through at an agreed-upon price and sell back a similar security at a specified future date. The buyer is the owner of the security for that time period and as the owner is entitled to all the cash flows during that period. Unlike a repo/reverse repo transaction, at the end of the transaction, the buyer is only required to resell a </a:t>
            </a:r>
            <a:r>
              <a:rPr lang="ja-JP" altLang="en-US">
                <a:latin typeface="Calisto MT" charset="0"/>
              </a:rPr>
              <a:t>“</a:t>
            </a:r>
            <a:r>
              <a:rPr lang="en-US">
                <a:latin typeface="Calisto MT" charset="0"/>
              </a:rPr>
              <a:t>substantially similar</a:t>
            </a:r>
            <a:r>
              <a:rPr lang="ja-JP" altLang="en-US">
                <a:latin typeface="Calisto MT" charset="0"/>
              </a:rPr>
              <a:t>”</a:t>
            </a:r>
            <a:r>
              <a:rPr lang="en-US">
                <a:latin typeface="Calisto MT" charset="0"/>
              </a:rPr>
              <a:t> security to the seller.</a:t>
            </a:r>
          </a:p>
          <a:p>
            <a:pPr>
              <a:buFont typeface="Arial" charset="0"/>
              <a:buNone/>
            </a:pPr>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F26F41DD-E916-B143-B888-C4248D36A2EB}" type="slidenum">
              <a:rPr lang="en-US" sz="1200">
                <a:solidFill>
                  <a:srgbClr val="898989"/>
                </a:solidFill>
                <a:latin typeface="Verdana" charset="0"/>
              </a:rPr>
              <a:pPr algn="r"/>
              <a:t>65</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Title 1"/>
          <p:cNvSpPr>
            <a:spLocks noGrp="1"/>
          </p:cNvSpPr>
          <p:nvPr>
            <p:ph type="title" idx="4294967295"/>
          </p:nvPr>
        </p:nvSpPr>
        <p:spPr/>
        <p:txBody>
          <a:bodyPr/>
          <a:lstStyle/>
          <a:p>
            <a:pPr algn="l"/>
            <a:r>
              <a:rPr lang="en-US">
                <a:latin typeface="Calisto MT" charset="0"/>
              </a:rPr>
              <a:t>The Pass-Through Dollar Roll Market - II</a:t>
            </a:r>
          </a:p>
        </p:txBody>
      </p:sp>
      <p:sp>
        <p:nvSpPr>
          <p:cNvPr id="302083" name="Content Placeholder 2"/>
          <p:cNvSpPr>
            <a:spLocks noGrp="1"/>
          </p:cNvSpPr>
          <p:nvPr>
            <p:ph idx="4294967295"/>
          </p:nvPr>
        </p:nvSpPr>
        <p:spPr/>
        <p:txBody>
          <a:bodyPr/>
          <a:lstStyle/>
          <a:p>
            <a:r>
              <a:rPr lang="en-US">
                <a:latin typeface="Calisto MT" charset="0"/>
              </a:rPr>
              <a:t>The </a:t>
            </a:r>
            <a:r>
              <a:rPr lang="ja-JP" altLang="en-US">
                <a:latin typeface="Calisto MT" charset="0"/>
              </a:rPr>
              <a:t>“</a:t>
            </a:r>
            <a:r>
              <a:rPr lang="en-US">
                <a:latin typeface="Calisto MT" charset="0"/>
              </a:rPr>
              <a:t>drop</a:t>
            </a:r>
            <a:r>
              <a:rPr lang="ja-JP" altLang="en-US">
                <a:latin typeface="Calisto MT" charset="0"/>
              </a:rPr>
              <a:t>”</a:t>
            </a:r>
            <a:r>
              <a:rPr lang="en-US">
                <a:latin typeface="Calisto MT" charset="0"/>
              </a:rPr>
              <a:t> on a dollar roll transaction is the difference between the price of the mortgage security on the two settlement dates. The drop is expressed in 32nds. The drop can be viewed as the price that the buyer of the dollar rolls pays to the seller for the right to own the mortgage security and receive its cash flows during the term of the transaction.</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BA81EAA7-F531-C54C-B93A-7C3C154C7D4F}" type="slidenum">
              <a:rPr lang="en-US" sz="1200">
                <a:solidFill>
                  <a:srgbClr val="898989"/>
                </a:solidFill>
                <a:latin typeface="Verdana" charset="0"/>
              </a:rPr>
              <a:pPr algn="r"/>
              <a:t>66</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Title 1"/>
          <p:cNvSpPr>
            <a:spLocks noGrp="1"/>
          </p:cNvSpPr>
          <p:nvPr>
            <p:ph type="title" idx="4294967295"/>
          </p:nvPr>
        </p:nvSpPr>
        <p:spPr/>
        <p:txBody>
          <a:bodyPr/>
          <a:lstStyle/>
          <a:p>
            <a:pPr algn="l"/>
            <a:r>
              <a:rPr lang="en-US">
                <a:latin typeface="Calisto MT" charset="0"/>
              </a:rPr>
              <a:t>Dollar Roll Calculations</a:t>
            </a:r>
          </a:p>
        </p:txBody>
      </p:sp>
      <p:sp>
        <p:nvSpPr>
          <p:cNvPr id="303107" name="Content Placeholder 2"/>
          <p:cNvSpPr>
            <a:spLocks noGrp="1"/>
          </p:cNvSpPr>
          <p:nvPr>
            <p:ph idx="4294967295"/>
          </p:nvPr>
        </p:nvSpPr>
        <p:spPr/>
        <p:txBody>
          <a:bodyPr/>
          <a:lstStyle/>
          <a:p>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49072404-6C8B-5A49-B3EC-EC1091C2D38C}" type="slidenum">
              <a:rPr lang="en-US" sz="1200">
                <a:solidFill>
                  <a:srgbClr val="898989"/>
                </a:solidFill>
                <a:latin typeface="Verdana" charset="0"/>
              </a:rPr>
              <a:pPr algn="r"/>
              <a:t>67</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22313" y="4406900"/>
            <a:ext cx="7772400" cy="1362075"/>
          </a:xfrm>
        </p:spPr>
        <p:txBody>
          <a:bodyPr anchor="t">
            <a:normAutofit/>
          </a:bodyPr>
          <a:lstStyle/>
          <a:p>
            <a:pPr algn="l"/>
            <a:r>
              <a:rPr lang="en-US" sz="2400" b="1">
                <a:latin typeface="Calisto MT" charset="0"/>
              </a:rPr>
              <a:t>AGENCY CMOs</a:t>
            </a:r>
          </a:p>
        </p:txBody>
      </p:sp>
      <p:sp>
        <p:nvSpPr>
          <p:cNvPr id="11" name="Text Placeholder 10"/>
          <p:cNvSpPr>
            <a:spLocks noGrp="1"/>
          </p:cNvSpPr>
          <p:nvPr>
            <p:ph type="body" idx="4294967295"/>
          </p:nvPr>
        </p:nvSpPr>
        <p:spPr>
          <a:xfrm>
            <a:off x="722313" y="2906713"/>
            <a:ext cx="7772400" cy="1500187"/>
          </a:xfrm>
        </p:spPr>
        <p:txBody>
          <a:bodyPr anchor="b">
            <a:normAutofit/>
          </a:bodyPr>
          <a:lstStyle/>
          <a:p>
            <a:pPr marL="0" indent="0">
              <a:buFont typeface="Arial" charset="0"/>
              <a:buNone/>
            </a:pPr>
            <a:endParaRPr lang="en-US" sz="1300" b="1">
              <a:latin typeface="Calisto MT"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4B4B5A7D-FC94-7E43-BEE8-922F680CAFA5}" type="slidenum">
              <a:rPr lang="en-US" sz="1200">
                <a:solidFill>
                  <a:srgbClr val="898989"/>
                </a:solidFill>
              </a:rPr>
              <a:pPr algn="r"/>
              <a:t>68</a:t>
            </a:fld>
            <a:endParaRPr lang="en-US" sz="1200">
              <a:solidFill>
                <a:srgbClr val="898989"/>
              </a:solidFill>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Title 1"/>
          <p:cNvSpPr>
            <a:spLocks noGrp="1"/>
          </p:cNvSpPr>
          <p:nvPr>
            <p:ph type="title" idx="4294967295"/>
          </p:nvPr>
        </p:nvSpPr>
        <p:spPr/>
        <p:txBody>
          <a:bodyPr/>
          <a:lstStyle/>
          <a:p>
            <a:pPr algn="l"/>
            <a:r>
              <a:rPr lang="en-US">
                <a:latin typeface="Calisto MT" charset="0"/>
              </a:rPr>
              <a:t>A Brief Overview of CMOs</a:t>
            </a:r>
          </a:p>
        </p:txBody>
      </p:sp>
      <p:sp>
        <p:nvSpPr>
          <p:cNvPr id="306179" name="Content Placeholder 2"/>
          <p:cNvSpPr>
            <a:spLocks noGrp="1"/>
          </p:cNvSpPr>
          <p:nvPr>
            <p:ph idx="4294967295"/>
          </p:nvPr>
        </p:nvSpPr>
        <p:spPr/>
        <p:txBody>
          <a:bodyPr/>
          <a:lstStyle/>
          <a:p>
            <a:r>
              <a:rPr lang="en-US" sz="1000">
                <a:latin typeface="Calisto MT" charset="0"/>
              </a:rPr>
              <a:t> </a:t>
            </a:r>
            <a:r>
              <a:rPr lang="en-US">
                <a:latin typeface="Calisto MT" charset="0"/>
              </a:rPr>
              <a:t>CMOs are created by redistributing the principal and interest cash flows on a collection of mortgage pools over different bond classes (tranches).</a:t>
            </a:r>
          </a:p>
          <a:p>
            <a:r>
              <a:rPr lang="en-US">
                <a:latin typeface="Calisto MT" charset="0"/>
              </a:rPr>
              <a:t>The first Agency CMO was issued in 1983 and the market has grown rapidly since then with issuance typically averaging more than $100bb a year. High rates of CMO issuance usually correspond to periods of heavy refinancing activity and/or a steep yield curve.</a:t>
            </a:r>
          </a:p>
          <a:p>
            <a:r>
              <a:rPr lang="en-US">
                <a:latin typeface="Calisto MT" charset="0"/>
              </a:rPr>
              <a:t>There are approximately $1.3 trillion in Agency CMOs outstanding as of 2009 which makes the CMO sector one of the largest fixed-income markets in the world.</a:t>
            </a:r>
          </a:p>
          <a:p>
            <a:r>
              <a:rPr lang="en-US">
                <a:latin typeface="Calisto MT" charset="0"/>
              </a:rPr>
              <a:t>A broad range of investors participate in the CMO sector because it is possible to create CMO bond classes with risk profiles that support a number of different needs. </a:t>
            </a:r>
          </a:p>
          <a:p>
            <a:pPr>
              <a:buFont typeface="Arial" charset="0"/>
              <a:buNone/>
            </a:pPr>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4E4536A1-12E8-FE45-B0B9-11D0AF21774A}" type="slidenum">
              <a:rPr lang="en-US" sz="1200">
                <a:solidFill>
                  <a:srgbClr val="898989"/>
                </a:solidFill>
                <a:latin typeface="Verdana" charset="0"/>
              </a:rPr>
              <a:pPr algn="r"/>
              <a:t>69</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Title 1"/>
          <p:cNvSpPr>
            <a:spLocks noGrp="1"/>
          </p:cNvSpPr>
          <p:nvPr>
            <p:ph type="title" idx="4294967295"/>
          </p:nvPr>
        </p:nvSpPr>
        <p:spPr/>
        <p:txBody>
          <a:bodyPr/>
          <a:lstStyle/>
          <a:p>
            <a:pPr algn="l"/>
            <a:r>
              <a:rPr lang="en-US">
                <a:latin typeface="Calisto MT" charset="0"/>
              </a:rPr>
              <a:t>Agency CMOs versus Private-label CMOs - I</a:t>
            </a:r>
          </a:p>
        </p:txBody>
      </p:sp>
      <p:sp>
        <p:nvSpPr>
          <p:cNvPr id="307203" name="Content Placeholder 2"/>
          <p:cNvSpPr>
            <a:spLocks noGrp="1"/>
          </p:cNvSpPr>
          <p:nvPr>
            <p:ph idx="4294967295"/>
          </p:nvPr>
        </p:nvSpPr>
        <p:spPr/>
        <p:txBody>
          <a:bodyPr/>
          <a:lstStyle/>
          <a:p>
            <a:r>
              <a:rPr lang="en-US">
                <a:latin typeface="Calisto MT" charset="0"/>
              </a:rPr>
              <a:t>Agency CMOs carry the same guarantee as Agency Pass-throughs. The guarantee of the Agency means that that there is no need for credit enhancement in these structures. Instead, cash flow structuring focuses on creating bonds with different levels of market risk.</a:t>
            </a:r>
          </a:p>
          <a:p>
            <a:r>
              <a:rPr lang="en-US">
                <a:latin typeface="Calisto MT" charset="0"/>
              </a:rPr>
              <a:t>Non-agency CMOs are not guaranteed by the Agencies and therefore need to be credit enhanced. This enhancement is either provided </a:t>
            </a:r>
            <a:r>
              <a:rPr lang="ja-JP" altLang="en-US">
                <a:latin typeface="Calisto MT" charset="0"/>
              </a:rPr>
              <a:t>“</a:t>
            </a:r>
            <a:r>
              <a:rPr lang="en-US">
                <a:latin typeface="Calisto MT" charset="0"/>
              </a:rPr>
              <a:t>internally</a:t>
            </a:r>
            <a:r>
              <a:rPr lang="ja-JP" altLang="en-US">
                <a:latin typeface="Calisto MT" charset="0"/>
              </a:rPr>
              <a:t>”</a:t>
            </a:r>
            <a:r>
              <a:rPr lang="en-US">
                <a:latin typeface="Calisto MT" charset="0"/>
              </a:rPr>
              <a:t> through cash flow structuring to create </a:t>
            </a:r>
            <a:r>
              <a:rPr lang="ja-JP" altLang="en-US">
                <a:latin typeface="Calisto MT" charset="0"/>
              </a:rPr>
              <a:t>“</a:t>
            </a:r>
            <a:r>
              <a:rPr lang="en-US">
                <a:latin typeface="Calisto MT" charset="0"/>
              </a:rPr>
              <a:t>senior/subordinate</a:t>
            </a:r>
            <a:r>
              <a:rPr lang="ja-JP" altLang="en-US">
                <a:latin typeface="Calisto MT" charset="0"/>
              </a:rPr>
              <a:t>”</a:t>
            </a:r>
            <a:r>
              <a:rPr lang="en-US">
                <a:latin typeface="Calisto MT" charset="0"/>
              </a:rPr>
              <a:t> and </a:t>
            </a:r>
            <a:r>
              <a:rPr lang="ja-JP" altLang="en-US">
                <a:latin typeface="Calisto MT" charset="0"/>
              </a:rPr>
              <a:t>“</a:t>
            </a:r>
            <a:r>
              <a:rPr lang="en-US">
                <a:latin typeface="Calisto MT" charset="0"/>
              </a:rPr>
              <a:t>over-collateralization</a:t>
            </a:r>
            <a:r>
              <a:rPr lang="ja-JP" altLang="en-US">
                <a:latin typeface="Calisto MT" charset="0"/>
              </a:rPr>
              <a:t>”</a:t>
            </a:r>
            <a:r>
              <a:rPr lang="en-US">
                <a:latin typeface="Calisto MT" charset="0"/>
              </a:rPr>
              <a:t> structures or </a:t>
            </a:r>
            <a:r>
              <a:rPr lang="ja-JP" altLang="en-US">
                <a:latin typeface="Calisto MT" charset="0"/>
              </a:rPr>
              <a:t>“</a:t>
            </a:r>
            <a:r>
              <a:rPr lang="en-US">
                <a:latin typeface="Calisto MT" charset="0"/>
              </a:rPr>
              <a:t>externally</a:t>
            </a:r>
            <a:r>
              <a:rPr lang="ja-JP" altLang="en-US">
                <a:latin typeface="Calisto MT" charset="0"/>
              </a:rPr>
              <a:t>”</a:t>
            </a:r>
            <a:r>
              <a:rPr lang="en-US">
                <a:latin typeface="Calisto MT" charset="0"/>
              </a:rPr>
              <a:t> through insurance guarantees.</a:t>
            </a:r>
          </a:p>
          <a:p>
            <a:pPr>
              <a:buFont typeface="Arial" charset="0"/>
              <a:buNone/>
            </a:pPr>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D1A5559B-54F6-2744-93DE-C605AEC8418F}" type="slidenum">
              <a:rPr lang="en-US" sz="1200">
                <a:solidFill>
                  <a:srgbClr val="898989"/>
                </a:solidFill>
                <a:latin typeface="Verdana" charset="0"/>
              </a:rPr>
              <a:pPr algn="r"/>
              <a:t>70</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Title 1"/>
          <p:cNvSpPr>
            <a:spLocks noGrp="1"/>
          </p:cNvSpPr>
          <p:nvPr>
            <p:ph type="title" idx="4294967295"/>
          </p:nvPr>
        </p:nvSpPr>
        <p:spPr/>
        <p:txBody>
          <a:bodyPr/>
          <a:lstStyle/>
          <a:p>
            <a:pPr algn="l"/>
            <a:r>
              <a:rPr lang="en-US">
                <a:latin typeface="Calisto MT" charset="0"/>
              </a:rPr>
              <a:t>Agency CMOs versus Private-label CMOs - II</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560C437C-4878-9543-AA77-CD3387F15C62}" type="slidenum">
              <a:rPr lang="en-US" sz="1200">
                <a:solidFill>
                  <a:srgbClr val="898989"/>
                </a:solidFill>
                <a:latin typeface="Verdana" charset="0"/>
              </a:rPr>
              <a:pPr algn="r"/>
              <a:t>71</a:t>
            </a:fld>
            <a:endParaRPr lang="en-US" sz="1200">
              <a:solidFill>
                <a:srgbClr val="898989"/>
              </a:solidFill>
              <a:latin typeface="Verdana" charset="0"/>
            </a:endParaRPr>
          </a:p>
        </p:txBody>
      </p:sp>
      <p:pic>
        <p:nvPicPr>
          <p:cNvPr id="308230"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836738" y="2087563"/>
            <a:ext cx="4716462" cy="321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Title 1"/>
          <p:cNvSpPr>
            <a:spLocks noGrp="1"/>
          </p:cNvSpPr>
          <p:nvPr>
            <p:ph type="title" idx="4294967295"/>
          </p:nvPr>
        </p:nvSpPr>
        <p:spPr/>
        <p:txBody>
          <a:bodyPr/>
          <a:lstStyle/>
          <a:p>
            <a:pPr algn="l"/>
            <a:r>
              <a:rPr lang="en-US">
                <a:latin typeface="Calisto MT" charset="0"/>
              </a:rPr>
              <a:t>The Agency CMO Market Remains Active Despite the Credit Crisis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875B9DAA-099A-4B42-882B-9ABC22026AD2}" type="slidenum">
              <a:rPr lang="en-US" sz="1200">
                <a:solidFill>
                  <a:srgbClr val="898989"/>
                </a:solidFill>
                <a:latin typeface="Verdana" charset="0"/>
              </a:rPr>
              <a:pPr algn="r"/>
              <a:t>72</a:t>
            </a:fld>
            <a:endParaRPr lang="en-US" sz="1200">
              <a:solidFill>
                <a:srgbClr val="898989"/>
              </a:solidFill>
              <a:latin typeface="Verdana" charset="0"/>
            </a:endParaRPr>
          </a:p>
        </p:txBody>
      </p:sp>
      <p:sp>
        <p:nvSpPr>
          <p:cNvPr id="309254" name="Text Box 6"/>
          <p:cNvSpPr txBox="1">
            <a:spLocks noChangeArrowheads="1"/>
          </p:cNvSpPr>
          <p:nvPr/>
        </p:nvSpPr>
        <p:spPr bwMode="auto">
          <a:xfrm>
            <a:off x="533400" y="5715000"/>
            <a:ext cx="2505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sz="1000" i="1"/>
              <a:t>*As of Q2 2009</a:t>
            </a:r>
          </a:p>
          <a:p>
            <a:r>
              <a:rPr lang="en-US" sz="1000" i="1"/>
              <a:t>Source: Bank of America/Merrill Lynch</a:t>
            </a:r>
          </a:p>
        </p:txBody>
      </p:sp>
      <p:pic>
        <p:nvPicPr>
          <p:cNvPr id="309255" name="Picture 7"/>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06563" y="1766888"/>
            <a:ext cx="5730875" cy="3322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Title 1"/>
          <p:cNvSpPr>
            <a:spLocks noGrp="1"/>
          </p:cNvSpPr>
          <p:nvPr>
            <p:ph type="title" idx="4294967295"/>
          </p:nvPr>
        </p:nvSpPr>
        <p:spPr/>
        <p:txBody>
          <a:bodyPr/>
          <a:lstStyle/>
          <a:p>
            <a:pPr algn="l"/>
            <a:r>
              <a:rPr lang="en-US">
                <a:latin typeface="Calisto MT" charset="0"/>
              </a:rPr>
              <a:t>A Significant Pool of Agency CMOs with Customized Characteristics is Available for Investors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49531BBF-5053-2146-98CC-5438F094E2D6}" type="slidenum">
              <a:rPr lang="en-US" sz="1200">
                <a:solidFill>
                  <a:srgbClr val="898989"/>
                </a:solidFill>
                <a:latin typeface="Verdana" charset="0"/>
              </a:rPr>
              <a:pPr algn="r"/>
              <a:t>73</a:t>
            </a:fld>
            <a:endParaRPr lang="en-US" sz="1200">
              <a:solidFill>
                <a:srgbClr val="898989"/>
              </a:solidFill>
              <a:latin typeface="Verdana" charset="0"/>
            </a:endParaRPr>
          </a:p>
        </p:txBody>
      </p:sp>
      <p:pic>
        <p:nvPicPr>
          <p:cNvPr id="310278"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70038" y="1744663"/>
            <a:ext cx="6003925" cy="336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310279" name="Text Box 7"/>
          <p:cNvSpPr txBox="1">
            <a:spLocks noChangeArrowheads="1"/>
          </p:cNvSpPr>
          <p:nvPr/>
        </p:nvSpPr>
        <p:spPr bwMode="auto">
          <a:xfrm>
            <a:off x="533400" y="5715000"/>
            <a:ext cx="1041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000" i="1"/>
              <a:t>*As of Q1 2009</a:t>
            </a:r>
          </a:p>
          <a:p>
            <a:r>
              <a:rPr lang="en-US" sz="1000" i="1"/>
              <a:t>Source: SIFMA</a:t>
            </a: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Title 1"/>
          <p:cNvSpPr>
            <a:spLocks noGrp="1"/>
          </p:cNvSpPr>
          <p:nvPr>
            <p:ph type="title" idx="4294967295"/>
          </p:nvPr>
        </p:nvSpPr>
        <p:spPr/>
        <p:txBody>
          <a:bodyPr/>
          <a:lstStyle/>
          <a:p>
            <a:pPr algn="l"/>
            <a:r>
              <a:rPr lang="en-US">
                <a:latin typeface="Calisto MT" charset="0"/>
              </a:rPr>
              <a:t>A Number of Different Methods Are Used to Create CMOs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4F075EB6-DE37-3C49-9A1E-8CC6F766983F}" type="slidenum">
              <a:rPr lang="en-US" sz="1200">
                <a:solidFill>
                  <a:srgbClr val="898989"/>
                </a:solidFill>
                <a:latin typeface="Verdana" charset="0"/>
              </a:rPr>
              <a:pPr algn="r"/>
              <a:t>74</a:t>
            </a:fld>
            <a:endParaRPr lang="en-US" sz="1200">
              <a:solidFill>
                <a:srgbClr val="898989"/>
              </a:solidFill>
              <a:latin typeface="Verdana" charset="0"/>
            </a:endParaRPr>
          </a:p>
        </p:txBody>
      </p:sp>
      <p:pic>
        <p:nvPicPr>
          <p:cNvPr id="311302"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98525" y="1946275"/>
            <a:ext cx="6856413" cy="326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311303" name="Text Box 7"/>
          <p:cNvSpPr txBox="1">
            <a:spLocks noChangeArrowheads="1"/>
          </p:cNvSpPr>
          <p:nvPr/>
        </p:nvSpPr>
        <p:spPr bwMode="auto">
          <a:xfrm>
            <a:off x="533400" y="5715000"/>
            <a:ext cx="2505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en-US" sz="1000" i="1"/>
          </a:p>
          <a:p>
            <a:r>
              <a:rPr lang="en-US" sz="1000" i="1"/>
              <a:t>Source: Bank of America/Merrill Lynch</a:t>
            </a: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Title 1"/>
          <p:cNvSpPr>
            <a:spLocks noGrp="1"/>
          </p:cNvSpPr>
          <p:nvPr>
            <p:ph type="title" idx="4294967295"/>
          </p:nvPr>
        </p:nvSpPr>
        <p:spPr/>
        <p:txBody>
          <a:bodyPr/>
          <a:lstStyle/>
          <a:p>
            <a:pPr algn="l"/>
            <a:r>
              <a:rPr lang="en-US">
                <a:latin typeface="Calisto MT" charset="0"/>
              </a:rPr>
              <a:t>CMO Types: Sequentials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1C9CC337-2E40-2F44-A1F7-0793D052B504}" type="slidenum">
              <a:rPr lang="en-US" sz="1200">
                <a:solidFill>
                  <a:srgbClr val="898989"/>
                </a:solidFill>
                <a:latin typeface="Verdana" charset="0"/>
              </a:rPr>
              <a:pPr algn="r"/>
              <a:t>75</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Title 1"/>
          <p:cNvSpPr>
            <a:spLocks noGrp="1"/>
          </p:cNvSpPr>
          <p:nvPr>
            <p:ph type="title" idx="4294967295"/>
          </p:nvPr>
        </p:nvSpPr>
        <p:spPr/>
        <p:txBody>
          <a:bodyPr/>
          <a:lstStyle/>
          <a:p>
            <a:pPr algn="l"/>
            <a:r>
              <a:rPr lang="en-US">
                <a:latin typeface="Calisto MT" charset="0"/>
              </a:rPr>
              <a:t>CMO Types: PACs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3435B8A0-65A4-EF49-8F94-8D5CC7839388}" type="slidenum">
              <a:rPr lang="en-US" sz="1200">
                <a:solidFill>
                  <a:srgbClr val="898989"/>
                </a:solidFill>
                <a:latin typeface="Verdana" charset="0"/>
              </a:rPr>
              <a:pPr algn="r"/>
              <a:t>76</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Title 1"/>
          <p:cNvSpPr>
            <a:spLocks noGrp="1"/>
          </p:cNvSpPr>
          <p:nvPr>
            <p:ph type="title" idx="4294967295"/>
          </p:nvPr>
        </p:nvSpPr>
        <p:spPr/>
        <p:txBody>
          <a:bodyPr/>
          <a:lstStyle/>
          <a:p>
            <a:pPr algn="l"/>
            <a:r>
              <a:rPr lang="en-US">
                <a:latin typeface="Calisto MT" charset="0"/>
              </a:rPr>
              <a:t>CMO Types: Z Bonds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7DBFB672-B078-AD4F-B8CD-754AA6E82E40}" type="slidenum">
              <a:rPr lang="en-US" sz="1200">
                <a:solidFill>
                  <a:srgbClr val="898989"/>
                </a:solidFill>
                <a:latin typeface="Verdana" charset="0"/>
              </a:rPr>
              <a:pPr algn="r"/>
              <a:t>77</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Title 1"/>
          <p:cNvSpPr>
            <a:spLocks noGrp="1"/>
          </p:cNvSpPr>
          <p:nvPr>
            <p:ph type="title" idx="4294967295"/>
          </p:nvPr>
        </p:nvSpPr>
        <p:spPr/>
        <p:txBody>
          <a:bodyPr/>
          <a:lstStyle/>
          <a:p>
            <a:pPr algn="l"/>
            <a:r>
              <a:rPr lang="en-US">
                <a:latin typeface="Calisto MT" charset="0"/>
              </a:rPr>
              <a:t>CMO Types: VADMs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C886E797-92D2-4C4E-94DD-28C6F6CAC918}" type="slidenum">
              <a:rPr lang="en-US" sz="1200">
                <a:solidFill>
                  <a:srgbClr val="898989"/>
                </a:solidFill>
                <a:latin typeface="Verdana" charset="0"/>
              </a:rPr>
              <a:pPr algn="r"/>
              <a:t>78</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Title 1"/>
          <p:cNvSpPr>
            <a:spLocks noGrp="1"/>
          </p:cNvSpPr>
          <p:nvPr>
            <p:ph type="title" idx="4294967295"/>
          </p:nvPr>
        </p:nvSpPr>
        <p:spPr/>
        <p:txBody>
          <a:bodyPr/>
          <a:lstStyle/>
          <a:p>
            <a:pPr algn="l"/>
            <a:r>
              <a:rPr lang="en-US">
                <a:latin typeface="Calisto MT" charset="0"/>
              </a:rPr>
              <a:t>CMO Types: Mortgage Derivatives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7E6B758D-2D2E-5147-99FE-BE20A3683B0F}" type="slidenum">
              <a:rPr lang="en-US" sz="1200">
                <a:solidFill>
                  <a:srgbClr val="898989"/>
                </a:solidFill>
                <a:latin typeface="Verdana" charset="0"/>
              </a:rPr>
              <a:pPr algn="r"/>
              <a:t>79</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Title 1"/>
          <p:cNvSpPr>
            <a:spLocks noGrp="1"/>
          </p:cNvSpPr>
          <p:nvPr>
            <p:ph type="title" idx="4294967295"/>
          </p:nvPr>
        </p:nvSpPr>
        <p:spPr/>
        <p:txBody>
          <a:bodyPr/>
          <a:lstStyle/>
          <a:p>
            <a:pPr algn="l"/>
            <a:r>
              <a:rPr lang="en-US">
                <a:latin typeface="Calisto MT" charset="0"/>
              </a:rPr>
              <a:t>Mortgage Derivatives: IO/PO</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F14BA989-B349-A648-9721-1F8E93E0EEF7}" type="slidenum">
              <a:rPr lang="en-US" sz="1200">
                <a:solidFill>
                  <a:srgbClr val="898989"/>
                </a:solidFill>
                <a:latin typeface="Verdana" charset="0"/>
              </a:rPr>
              <a:pPr algn="r"/>
              <a:t>80</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Title 1"/>
          <p:cNvSpPr>
            <a:spLocks noGrp="1"/>
          </p:cNvSpPr>
          <p:nvPr>
            <p:ph type="title" idx="4294967295"/>
          </p:nvPr>
        </p:nvSpPr>
        <p:spPr/>
        <p:txBody>
          <a:bodyPr/>
          <a:lstStyle/>
          <a:p>
            <a:pPr algn="l"/>
            <a:r>
              <a:rPr lang="en-US">
                <a:latin typeface="Calisto MT" charset="0"/>
              </a:rPr>
              <a:t>Mortgage Derivatives: Floaters/Inverse Floaters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F5B8C90C-FCDF-EB4B-B90C-AF2E582926D6}" type="slidenum">
              <a:rPr lang="en-US" sz="1200">
                <a:solidFill>
                  <a:srgbClr val="898989"/>
                </a:solidFill>
                <a:latin typeface="Verdana" charset="0"/>
              </a:rPr>
              <a:pPr algn="r"/>
              <a:t>81</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Title 1"/>
          <p:cNvSpPr>
            <a:spLocks noGrp="1"/>
          </p:cNvSpPr>
          <p:nvPr>
            <p:ph type="title" idx="4294967295"/>
          </p:nvPr>
        </p:nvSpPr>
        <p:spPr/>
        <p:txBody>
          <a:bodyPr/>
          <a:lstStyle/>
          <a:p>
            <a:pPr algn="l"/>
            <a:r>
              <a:rPr lang="en-US">
                <a:latin typeface="Calisto MT" charset="0"/>
              </a:rPr>
              <a:t>The Agency CMO Sector Receives Sponsorship from a Broad Range of Investors</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C25B5401-4F16-A345-9EAA-6C9FE53B6656}" type="slidenum">
              <a:rPr lang="en-US" sz="1200">
                <a:solidFill>
                  <a:srgbClr val="898989"/>
                </a:solidFill>
                <a:latin typeface="Verdana" charset="0"/>
              </a:rPr>
              <a:pPr algn="r"/>
              <a:t>82</a:t>
            </a:fld>
            <a:endParaRPr lang="en-US" sz="1200">
              <a:solidFill>
                <a:srgbClr val="898989"/>
              </a:solidFill>
              <a:latin typeface="Verdana" charset="0"/>
            </a:endParaRPr>
          </a:p>
        </p:txBody>
      </p:sp>
      <p:pic>
        <p:nvPicPr>
          <p:cNvPr id="319494"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571750" y="1627188"/>
            <a:ext cx="4000500" cy="360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319495" name="Text Box 7"/>
          <p:cNvSpPr txBox="1">
            <a:spLocks noChangeArrowheads="1"/>
          </p:cNvSpPr>
          <p:nvPr/>
        </p:nvSpPr>
        <p:spPr bwMode="auto">
          <a:xfrm>
            <a:off x="533400" y="5715000"/>
            <a:ext cx="2505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en-US" sz="1000" i="1"/>
          </a:p>
          <a:p>
            <a:r>
              <a:rPr lang="en-US" sz="1000" i="1"/>
              <a:t>Source: Bank of America/Merrill Lynch</a:t>
            </a: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Title 1"/>
          <p:cNvSpPr>
            <a:spLocks noGrp="1"/>
          </p:cNvSpPr>
          <p:nvPr>
            <p:ph type="title" idx="4294967295"/>
          </p:nvPr>
        </p:nvSpPr>
        <p:spPr/>
        <p:txBody>
          <a:bodyPr/>
          <a:lstStyle/>
          <a:p>
            <a:pPr algn="l"/>
            <a:r>
              <a:rPr lang="en-US">
                <a:latin typeface="Calisto MT" charset="0"/>
              </a:rPr>
              <a:t>CMO Settlement and Payment Dates</a:t>
            </a:r>
          </a:p>
        </p:txBody>
      </p:sp>
      <p:sp>
        <p:nvSpPr>
          <p:cNvPr id="320515" name="Content Placeholder 2"/>
          <p:cNvSpPr>
            <a:spLocks noGrp="1"/>
          </p:cNvSpPr>
          <p:nvPr>
            <p:ph idx="4294967295"/>
          </p:nvPr>
        </p:nvSpPr>
        <p:spPr/>
        <p:txBody>
          <a:bodyPr/>
          <a:lstStyle/>
          <a:p>
            <a:r>
              <a:rPr lang="ja-JP" altLang="en-US">
                <a:latin typeface="Calisto MT" charset="0"/>
              </a:rPr>
              <a:t>“</a:t>
            </a:r>
            <a:r>
              <a:rPr lang="en-US">
                <a:latin typeface="Calisto MT" charset="0"/>
              </a:rPr>
              <a:t>New issue</a:t>
            </a:r>
            <a:r>
              <a:rPr lang="ja-JP" altLang="en-US">
                <a:latin typeface="Calisto MT" charset="0"/>
              </a:rPr>
              <a:t>”</a:t>
            </a:r>
            <a:r>
              <a:rPr lang="en-US">
                <a:latin typeface="Calisto MT" charset="0"/>
              </a:rPr>
              <a:t> CMOs may take a month to settle because of the time required to assemble the underlying pools, deposit them with the trustee, and complete other legal and reporting requirements. In the secondary market, CMO transactions typically settle in 3 business days.</a:t>
            </a:r>
          </a:p>
          <a:p>
            <a:r>
              <a:rPr lang="en-US">
                <a:latin typeface="Calisto MT" charset="0"/>
              </a:rPr>
              <a:t>As with any mortgage security, there is a payment delay between the collection of payments made by the holders of the underlying loans and when these payments are distributed to investors. </a:t>
            </a:r>
            <a:r>
              <a:rPr lang="ja-JP" altLang="en-US">
                <a:latin typeface="Calisto MT" charset="0"/>
              </a:rPr>
              <a:t>“</a:t>
            </a:r>
            <a:r>
              <a:rPr lang="en-US">
                <a:latin typeface="Calisto MT" charset="0"/>
              </a:rPr>
              <a:t>Payment dates</a:t>
            </a:r>
            <a:r>
              <a:rPr lang="ja-JP" altLang="en-US">
                <a:latin typeface="Calisto MT" charset="0"/>
              </a:rPr>
              <a:t>”</a:t>
            </a:r>
            <a:r>
              <a:rPr lang="en-US">
                <a:latin typeface="Calisto MT" charset="0"/>
              </a:rPr>
              <a:t> for CMO tranches are defined in the prospectus and usually the 15</a:t>
            </a:r>
            <a:r>
              <a:rPr lang="en-US" baseline="30000">
                <a:latin typeface="Calisto MT" charset="0"/>
              </a:rPr>
              <a:t>th</a:t>
            </a:r>
            <a:r>
              <a:rPr lang="en-US">
                <a:latin typeface="Calisto MT" charset="0"/>
              </a:rPr>
              <a:t> or 25</a:t>
            </a:r>
            <a:r>
              <a:rPr lang="en-US" baseline="30000">
                <a:latin typeface="Calisto MT" charset="0"/>
              </a:rPr>
              <a:t>th</a:t>
            </a:r>
            <a:r>
              <a:rPr lang="en-US">
                <a:latin typeface="Calisto MT" charset="0"/>
              </a:rPr>
              <a:t> day of the month following the record date.</a:t>
            </a:r>
          </a:p>
          <a:p>
            <a:r>
              <a:rPr lang="en-US">
                <a:latin typeface="Calisto MT" charset="0"/>
              </a:rPr>
              <a:t>Depending on when the CMO transaction settles, the investor may wait up to two months for the first payment – this delay is explicitly accounted for in the yield of the purchased bond. Once the first payment is received, future payments will be made monthly.</a:t>
            </a:r>
          </a:p>
          <a:p>
            <a:pPr>
              <a:buFont typeface="Arial" charset="0"/>
              <a:buNone/>
            </a:pPr>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AAA883B4-FCA7-2344-80B0-9AE12388BD14}" type="slidenum">
              <a:rPr lang="en-US" sz="1200">
                <a:solidFill>
                  <a:srgbClr val="898989"/>
                </a:solidFill>
                <a:latin typeface="Verdana" charset="0"/>
              </a:rPr>
              <a:pPr algn="r"/>
              <a:t>83</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Title 1"/>
          <p:cNvSpPr>
            <a:spLocks noGrp="1"/>
          </p:cNvSpPr>
          <p:nvPr>
            <p:ph type="title" idx="4294967295"/>
          </p:nvPr>
        </p:nvSpPr>
        <p:spPr/>
        <p:txBody>
          <a:bodyPr/>
          <a:lstStyle/>
          <a:p>
            <a:pPr algn="l"/>
            <a:r>
              <a:rPr lang="en-US">
                <a:latin typeface="Calisto MT" charset="0"/>
              </a:rPr>
              <a:t>Liquidity of Agency CMOs</a:t>
            </a:r>
          </a:p>
        </p:txBody>
      </p:sp>
      <p:sp>
        <p:nvSpPr>
          <p:cNvPr id="321539" name="Content Placeholder 2"/>
          <p:cNvSpPr>
            <a:spLocks noGrp="1"/>
          </p:cNvSpPr>
          <p:nvPr>
            <p:ph idx="4294967295"/>
          </p:nvPr>
        </p:nvSpPr>
        <p:spPr/>
        <p:txBody>
          <a:bodyPr/>
          <a:lstStyle/>
          <a:p>
            <a:r>
              <a:rPr lang="en-US">
                <a:latin typeface="Calisto MT" charset="0"/>
              </a:rPr>
              <a:t>The minimum investment for a CMO varies depending upon the bond but most tranches sold to individual investors require a minimum investment of $1000.</a:t>
            </a:r>
          </a:p>
          <a:p>
            <a:r>
              <a:rPr lang="en-US">
                <a:latin typeface="Calisto MT" charset="0"/>
              </a:rPr>
              <a:t>A national network of MBS dealers makes markets in Agency CMOs. CMO transactions are typically executed over-the-counter, rather than through an exchange. Dealers include their own spread or profit in the net cost of the transaction. These spreads may be wider than spreads in the Treasury or Pass-through markets since the latter markets are more liquid.</a:t>
            </a:r>
          </a:p>
          <a:p>
            <a:r>
              <a:rPr lang="en-US">
                <a:latin typeface="Calisto MT" charset="0"/>
              </a:rPr>
              <a:t>Although there is an active secondary market for Agency CMOs, liquidity in the sector can vary widely. Consequently, a forced sale may take place at a substantial discount to the marked price.</a:t>
            </a:r>
          </a:p>
          <a:p>
            <a:pPr>
              <a:buFont typeface="Arial" charset="0"/>
              <a:buNone/>
            </a:pPr>
            <a:endParaRPr lang="en-US">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15C5C93C-8478-514D-B4EC-3085721B8705}" type="slidenum">
              <a:rPr lang="en-US" sz="1200">
                <a:solidFill>
                  <a:srgbClr val="898989"/>
                </a:solidFill>
                <a:latin typeface="Verdana" charset="0"/>
              </a:rPr>
              <a:pPr algn="r"/>
              <a:t>84</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Title 1"/>
          <p:cNvSpPr>
            <a:spLocks noGrp="1"/>
          </p:cNvSpPr>
          <p:nvPr>
            <p:ph type="title" idx="4294967295"/>
          </p:nvPr>
        </p:nvSpPr>
        <p:spPr/>
        <p:txBody>
          <a:bodyPr/>
          <a:lstStyle/>
          <a:p>
            <a:pPr algn="l"/>
            <a:r>
              <a:rPr lang="en-US">
                <a:latin typeface="Calisto MT" charset="0"/>
              </a:rPr>
              <a:t>Taxation of Agency CMOs</a:t>
            </a:r>
          </a:p>
        </p:txBody>
      </p:sp>
      <p:sp>
        <p:nvSpPr>
          <p:cNvPr id="322563" name="Content Placeholder 2"/>
          <p:cNvSpPr>
            <a:spLocks noGrp="1"/>
          </p:cNvSpPr>
          <p:nvPr>
            <p:ph idx="4294967295"/>
          </p:nvPr>
        </p:nvSpPr>
        <p:spPr/>
        <p:txBody>
          <a:bodyPr/>
          <a:lstStyle/>
          <a:p>
            <a:r>
              <a:rPr lang="en-US">
                <a:latin typeface="Calisto MT" charset="0"/>
              </a:rPr>
              <a:t>The interest portion of payments to CMO investors is subject to federal, state, and local income taxes. </a:t>
            </a:r>
          </a:p>
          <a:p>
            <a:r>
              <a:rPr lang="en-US">
                <a:latin typeface="Calisto MT" charset="0"/>
              </a:rPr>
              <a:t>If the purchase price of the CMO is par then any CMO payment that represents the return of principal is not taxable.</a:t>
            </a:r>
          </a:p>
          <a:p>
            <a:r>
              <a:rPr lang="en-US">
                <a:latin typeface="Calisto MT" charset="0"/>
              </a:rPr>
              <a:t>If a new CMO  is issued at a discount from the face amount then different rules apply. The difference between the face amount of the bond and the discount is called the Original Issue Discount (OID). OID is considered to be a form of interest and a portion of the OID is treated as interest earned by the holder each year.</a:t>
            </a:r>
          </a:p>
          <a:p>
            <a:r>
              <a:rPr lang="en-US">
                <a:latin typeface="Calisto MT" charset="0"/>
              </a:rPr>
              <a:t>A market discount refers to bonds that were originally issued at par but are purchased in the market for less than par. This market discount amount can also potentially be included in the investor</a:t>
            </a:r>
            <a:r>
              <a:rPr lang="ja-JP" altLang="en-US">
                <a:latin typeface="Calisto MT" charset="0"/>
              </a:rPr>
              <a:t>’</a:t>
            </a:r>
            <a:r>
              <a:rPr lang="en-US">
                <a:latin typeface="Calisto MT" charset="0"/>
              </a:rPr>
              <a:t>s income, either over the life of the bond, or upon disposition of the bond from sale or redemption.</a:t>
            </a:r>
          </a:p>
          <a:p>
            <a:pPr>
              <a:buFont typeface="Arial" charset="0"/>
              <a:buNone/>
            </a:pPr>
            <a:endParaRPr lang="en-US">
              <a:latin typeface="Calisto MT" charset="0"/>
            </a:endParaRPr>
          </a:p>
          <a:p>
            <a:endParaRPr lang="en-US" sz="1000">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432FADEB-195D-1741-A854-1A75565A73D5}" type="slidenum">
              <a:rPr lang="en-US" sz="1200">
                <a:solidFill>
                  <a:srgbClr val="898989"/>
                </a:solidFill>
                <a:latin typeface="Verdana" charset="0"/>
              </a:rPr>
              <a:pPr algn="r"/>
              <a:t>85</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22313" y="4406900"/>
            <a:ext cx="7772400" cy="1362075"/>
          </a:xfrm>
        </p:spPr>
        <p:txBody>
          <a:bodyPr anchor="t">
            <a:normAutofit/>
          </a:bodyPr>
          <a:lstStyle/>
          <a:p>
            <a:pPr algn="l"/>
            <a:r>
              <a:rPr lang="en-US" sz="2400" b="1">
                <a:latin typeface="Calisto MT" charset="0"/>
              </a:rPr>
              <a:t>PREPAYMENTS</a:t>
            </a:r>
          </a:p>
        </p:txBody>
      </p:sp>
      <p:sp>
        <p:nvSpPr>
          <p:cNvPr id="11" name="Text Placeholder 10"/>
          <p:cNvSpPr>
            <a:spLocks noGrp="1"/>
          </p:cNvSpPr>
          <p:nvPr>
            <p:ph type="body" idx="4294967295"/>
          </p:nvPr>
        </p:nvSpPr>
        <p:spPr>
          <a:xfrm>
            <a:off x="722313" y="2906713"/>
            <a:ext cx="7772400" cy="1500187"/>
          </a:xfrm>
        </p:spPr>
        <p:txBody>
          <a:bodyPr anchor="b">
            <a:normAutofit/>
          </a:bodyPr>
          <a:lstStyle/>
          <a:p>
            <a:pPr marL="0" indent="0">
              <a:buFont typeface="Arial" charset="0"/>
              <a:buNone/>
            </a:pPr>
            <a:endParaRPr lang="en-US" sz="1300" b="1">
              <a:latin typeface="Calisto MT"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B8050538-BA67-9B48-BDE1-5749ECE5417E}" type="slidenum">
              <a:rPr lang="en-US" sz="1200">
                <a:solidFill>
                  <a:srgbClr val="898989"/>
                </a:solidFill>
              </a:rPr>
              <a:pPr algn="r"/>
              <a:t>86</a:t>
            </a:fld>
            <a:endParaRPr lang="en-US" sz="1200">
              <a:solidFill>
                <a:srgbClr val="898989"/>
              </a:solidFill>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Title 1"/>
          <p:cNvSpPr>
            <a:spLocks noGrp="1"/>
          </p:cNvSpPr>
          <p:nvPr>
            <p:ph type="title" idx="4294967295"/>
          </p:nvPr>
        </p:nvSpPr>
        <p:spPr/>
        <p:txBody>
          <a:bodyPr/>
          <a:lstStyle/>
          <a:p>
            <a:pPr algn="l"/>
            <a:r>
              <a:rPr lang="en-US">
                <a:latin typeface="Calisto MT" charset="0"/>
              </a:rPr>
              <a:t>Measuring Prepayment Rates</a:t>
            </a:r>
          </a:p>
        </p:txBody>
      </p:sp>
      <p:sp>
        <p:nvSpPr>
          <p:cNvPr id="327683" name="Content Placeholder 2"/>
          <p:cNvSpPr>
            <a:spLocks noGrp="1"/>
          </p:cNvSpPr>
          <p:nvPr>
            <p:ph idx="4294967295"/>
          </p:nvPr>
        </p:nvSpPr>
        <p:spPr/>
        <p:txBody>
          <a:bodyPr/>
          <a:lstStyle/>
          <a:p>
            <a:r>
              <a:rPr lang="en-US">
                <a:latin typeface="Calisto MT" charset="0"/>
              </a:rPr>
              <a:t>Monthly payments passed through to MBS investors consist of scheduled principal, interest, and </a:t>
            </a:r>
            <a:r>
              <a:rPr lang="en-US" b="1">
                <a:latin typeface="Calisto MT" charset="0"/>
              </a:rPr>
              <a:t>unscheduled principal</a:t>
            </a:r>
            <a:r>
              <a:rPr lang="en-US">
                <a:latin typeface="Calisto MT" charset="0"/>
              </a:rPr>
              <a:t>.</a:t>
            </a:r>
          </a:p>
          <a:p>
            <a:r>
              <a:rPr lang="en-US">
                <a:latin typeface="Calisto MT" charset="0"/>
              </a:rPr>
              <a:t>Unscheduled principal = prepayments</a:t>
            </a:r>
          </a:p>
          <a:p>
            <a:r>
              <a:rPr lang="en-US">
                <a:latin typeface="Calisto MT" charset="0"/>
              </a:rPr>
              <a:t>Prepayment ($) for a month = Scheduled Principal Balance – Actual Principal Balance</a:t>
            </a:r>
          </a:p>
          <a:p>
            <a:r>
              <a:rPr lang="en-US">
                <a:latin typeface="Calisto MT" charset="0"/>
              </a:rPr>
              <a:t>Prepayment Rate (%) for a month = Prepayment/Scheduled Principal Balance</a:t>
            </a:r>
          </a:p>
          <a:p>
            <a:r>
              <a:rPr lang="en-US">
                <a:latin typeface="Calisto MT" charset="0"/>
              </a:rPr>
              <a:t>The monthly prepayment rate is also known as the </a:t>
            </a:r>
            <a:r>
              <a:rPr lang="en-US" b="1">
                <a:latin typeface="Calisto MT" charset="0"/>
              </a:rPr>
              <a:t>Single Monthly Mortality Rate (SMM)</a:t>
            </a:r>
          </a:p>
          <a:p>
            <a:r>
              <a:rPr lang="en-US" b="1">
                <a:latin typeface="Calisto MT" charset="0"/>
              </a:rPr>
              <a:t>SMM </a:t>
            </a:r>
            <a:r>
              <a:rPr lang="en-US">
                <a:latin typeface="Calisto MT" charset="0"/>
              </a:rPr>
              <a:t>= Fraction of the loans outstanding at the beginning of the month that were terminated because of prepayments</a:t>
            </a:r>
          </a:p>
          <a:p>
            <a:r>
              <a:rPr lang="en-US" b="1">
                <a:latin typeface="Calisto MT" charset="0"/>
              </a:rPr>
              <a:t>Conditional Prepayment Rate (CPR) </a:t>
            </a:r>
            <a:r>
              <a:rPr lang="en-US">
                <a:latin typeface="Calisto MT" charset="0"/>
              </a:rPr>
              <a:t>= Annualized SMM</a:t>
            </a:r>
          </a:p>
          <a:p>
            <a:r>
              <a:rPr lang="en-US">
                <a:latin typeface="Calisto MT" charset="0"/>
              </a:rPr>
              <a:t>CPR = (1 – (1-SMM)^12) * 100</a:t>
            </a:r>
            <a:endParaRPr lang="en-US" b="1">
              <a:latin typeface="Calisto MT" charset="0"/>
            </a:endParaRP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00FB6692-A8A7-6242-A185-0369613373FA}" type="slidenum">
              <a:rPr lang="en-US" sz="1200">
                <a:solidFill>
                  <a:srgbClr val="898989"/>
                </a:solidFill>
                <a:latin typeface="Verdana" charset="0"/>
              </a:rPr>
              <a:pPr algn="r"/>
              <a:t>87</a:t>
            </a:fld>
            <a:endParaRPr lang="en-US" sz="1200">
              <a:solidFill>
                <a:srgbClr val="898989"/>
              </a:solidFill>
              <a:latin typeface="Verdana" charset="0"/>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Title 1"/>
          <p:cNvSpPr>
            <a:spLocks noGrp="1"/>
          </p:cNvSpPr>
          <p:nvPr>
            <p:ph type="title" idx="4294967295"/>
          </p:nvPr>
        </p:nvSpPr>
        <p:spPr/>
        <p:txBody>
          <a:bodyPr/>
          <a:lstStyle/>
          <a:p>
            <a:pPr algn="l"/>
            <a:r>
              <a:rPr lang="en-US">
                <a:latin typeface="Calisto MT" charset="0"/>
              </a:rPr>
              <a:t>The Prepayment S-Curve: A Guideline for How Borrowers Prepay</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BB9ED425-A6D2-DA45-8FFD-E9938EB293B2}" type="slidenum">
              <a:rPr lang="en-US" sz="1200">
                <a:solidFill>
                  <a:srgbClr val="898989"/>
                </a:solidFill>
                <a:latin typeface="Verdana" charset="0"/>
              </a:rPr>
              <a:pPr algn="r"/>
              <a:t>88</a:t>
            </a:fld>
            <a:endParaRPr lang="en-US" sz="1200">
              <a:solidFill>
                <a:srgbClr val="898989"/>
              </a:solidFill>
              <a:latin typeface="Verdana" charset="0"/>
            </a:endParaRPr>
          </a:p>
        </p:txBody>
      </p:sp>
      <p:pic>
        <p:nvPicPr>
          <p:cNvPr id="328710"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47788" y="1679575"/>
            <a:ext cx="6446837" cy="349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328711" name="Text Box 7"/>
          <p:cNvSpPr txBox="1">
            <a:spLocks noChangeArrowheads="1"/>
          </p:cNvSpPr>
          <p:nvPr/>
        </p:nvSpPr>
        <p:spPr bwMode="auto">
          <a:xfrm>
            <a:off x="533400" y="5715000"/>
            <a:ext cx="2505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en-US" sz="1000" i="1"/>
          </a:p>
          <a:p>
            <a:r>
              <a:rPr lang="en-US" sz="1000" i="1"/>
              <a:t>Source: Cello Capital</a:t>
            </a: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Title 1"/>
          <p:cNvSpPr>
            <a:spLocks noGrp="1"/>
          </p:cNvSpPr>
          <p:nvPr>
            <p:ph type="title" idx="4294967295"/>
          </p:nvPr>
        </p:nvSpPr>
        <p:spPr/>
        <p:txBody>
          <a:bodyPr/>
          <a:lstStyle/>
          <a:p>
            <a:pPr algn="l"/>
            <a:r>
              <a:rPr lang="en-US">
                <a:latin typeface="Calisto MT" charset="0"/>
              </a:rPr>
              <a:t>Rider A:  Important Notes</a:t>
            </a:r>
          </a:p>
        </p:txBody>
      </p:sp>
      <p:sp>
        <p:nvSpPr>
          <p:cNvPr id="3" name="Content Placeholder 2"/>
          <p:cNvSpPr>
            <a:spLocks noGrp="1"/>
          </p:cNvSpPr>
          <p:nvPr>
            <p:ph idx="4294967295"/>
          </p:nvPr>
        </p:nvSpPr>
        <p:spPr/>
        <p:txBody>
          <a:bodyPr>
            <a:normAutofit/>
          </a:bodyPr>
          <a:lstStyle/>
          <a:p>
            <a:pPr marL="0" indent="0">
              <a:lnSpc>
                <a:spcPct val="130000"/>
              </a:lnSpc>
              <a:buFont typeface="Arial" charset="0"/>
              <a:buNone/>
            </a:pPr>
            <a:r>
              <a:rPr lang="en-US" sz="800">
                <a:latin typeface="Calisto MT" charset="0"/>
              </a:rPr>
              <a:t>THIS DOCUMENT IS NOT AN OFFER TO SELL OR THE SOLICITATION OF AN OFFER TO BUY SHARES OF THE FUND.  AN OFFERING OF INTERESTS WILL BE MADE ONLY BY MEANS OF A CONFIDENTIAL PRIVATE PLACEMENT MEMORANDUM  AND ONLY TO QUALIFIED INVESTORS IN JURISDICTIONS WHERE PERMITTED BY LAW.</a:t>
            </a:r>
          </a:p>
          <a:p>
            <a:pPr marL="0" indent="0">
              <a:lnSpc>
                <a:spcPct val="130000"/>
              </a:lnSpc>
              <a:buFont typeface="Arial" charset="0"/>
              <a:buNone/>
            </a:pPr>
            <a:r>
              <a:rPr lang="en-US" sz="800">
                <a:latin typeface="Calisto MT" charset="0"/>
              </a:rPr>
              <a:t> </a:t>
            </a:r>
          </a:p>
          <a:p>
            <a:pPr marL="0" indent="0">
              <a:lnSpc>
                <a:spcPct val="130000"/>
              </a:lnSpc>
              <a:buFont typeface="Arial" charset="0"/>
              <a:buNone/>
            </a:pPr>
            <a:r>
              <a:rPr lang="en-US" sz="800">
                <a:latin typeface="Calisto MT" charset="0"/>
              </a:rPr>
              <a:t>An investment in the Fund is speculative and involves a high degree of risk.  The Fund will have substantial limitations on investors</a:t>
            </a:r>
            <a:r>
              <a:rPr lang="ja-JP" altLang="en-US" sz="800">
                <a:latin typeface="Calisto MT" charset="0"/>
              </a:rPr>
              <a:t>’</a:t>
            </a:r>
            <a:r>
              <a:rPr lang="en-US" sz="800">
                <a:latin typeface="Calisto MT" charset="0"/>
              </a:rPr>
              <a:t> ability to redeem or transfer their shares, and no secondary market for the Fund</a:t>
            </a:r>
            <a:r>
              <a:rPr lang="ja-JP" altLang="en-US" sz="800">
                <a:latin typeface="Calisto MT" charset="0"/>
              </a:rPr>
              <a:t>’</a:t>
            </a:r>
            <a:r>
              <a:rPr lang="en-US" sz="800">
                <a:latin typeface="Calisto MT" charset="0"/>
              </a:rPr>
              <a:t>s shares exists or will develop.  All of these risks, and other important risks, are described in detail in the Fund</a:t>
            </a:r>
            <a:r>
              <a:rPr lang="ja-JP" altLang="en-US" sz="800">
                <a:latin typeface="Calisto MT" charset="0"/>
              </a:rPr>
              <a:t>’</a:t>
            </a:r>
            <a:r>
              <a:rPr lang="en-US" sz="800">
                <a:latin typeface="Calisto MT" charset="0"/>
              </a:rPr>
              <a:t>s Confidential Private Placement Memorandum.  Prospective investors are strongly urged to review this Confidential Private Placement Memorandum carefully and consult with their own financial, legal and tax advisors, </a:t>
            </a:r>
            <a:r>
              <a:rPr lang="en-US" sz="800" b="1">
                <a:latin typeface="Calisto MT" charset="0"/>
              </a:rPr>
              <a:t>before</a:t>
            </a:r>
            <a:r>
              <a:rPr lang="en-US" sz="800">
                <a:latin typeface="Calisto MT" charset="0"/>
              </a:rPr>
              <a:t> investing.</a:t>
            </a:r>
          </a:p>
          <a:p>
            <a:pPr marL="0" indent="0">
              <a:lnSpc>
                <a:spcPct val="130000"/>
              </a:lnSpc>
              <a:buFont typeface="Arial" charset="0"/>
              <a:buNone/>
            </a:pPr>
            <a:r>
              <a:rPr lang="en-US" sz="800">
                <a:latin typeface="Calisto MT" charset="0"/>
              </a:rPr>
              <a:t> </a:t>
            </a:r>
          </a:p>
          <a:p>
            <a:pPr marL="0" indent="0">
              <a:lnSpc>
                <a:spcPct val="130000"/>
              </a:lnSpc>
              <a:buFont typeface="Arial" charset="0"/>
              <a:buNone/>
            </a:pPr>
            <a:r>
              <a:rPr lang="en-US" sz="800">
                <a:latin typeface="Calisto MT" charset="0"/>
              </a:rPr>
              <a:t>There can be no assurances that the Fund will have a return on invested capital similar to the returns of other accounts managed by Antoine Schetritt because, among other reasons, there may be differences in investment policies, economic conditions, regulatory climate, portfolio size, leverage and expenses.  </a:t>
            </a:r>
            <a:r>
              <a:rPr lang="en-US" sz="800" b="1">
                <a:latin typeface="Calisto MT" charset="0"/>
              </a:rPr>
              <a:t>The fact that other accounts managed by Antoine Schetritt have realized gains in the past is not an indication that the Fund</a:t>
            </a:r>
            <a:r>
              <a:rPr lang="en-US" sz="800">
                <a:latin typeface="Calisto MT" charset="0"/>
              </a:rPr>
              <a:t> </a:t>
            </a:r>
            <a:r>
              <a:rPr lang="en-US" sz="800" b="1">
                <a:latin typeface="Calisto MT" charset="0"/>
              </a:rPr>
              <a:t>will realize any gains in the future.  Prior performance is not necessarily indicative of future results.</a:t>
            </a:r>
            <a:endParaRPr lang="en-US" sz="800">
              <a:latin typeface="Calisto MT" charset="0"/>
            </a:endParaRPr>
          </a:p>
          <a:p>
            <a:pPr marL="0" indent="0">
              <a:lnSpc>
                <a:spcPct val="130000"/>
              </a:lnSpc>
              <a:buFont typeface="Arial" charset="0"/>
              <a:buNone/>
            </a:pPr>
            <a:r>
              <a:rPr lang="en-US" sz="800">
                <a:latin typeface="Calisto MT" charset="0"/>
              </a:rPr>
              <a:t> </a:t>
            </a:r>
          </a:p>
          <a:p>
            <a:pPr marL="0" indent="0">
              <a:lnSpc>
                <a:spcPct val="130000"/>
              </a:lnSpc>
              <a:buFont typeface="Arial" charset="0"/>
              <a:buNone/>
            </a:pPr>
            <a:r>
              <a:rPr lang="en-US" sz="800">
                <a:latin typeface="Calisto MT" charset="0"/>
              </a:rPr>
              <a:t>The Trade Examples shown herein do not represent actual trades made by Cello Capital Management, LLC (</a:t>
            </a:r>
            <a:r>
              <a:rPr lang="ja-JP" altLang="en-US" sz="800">
                <a:latin typeface="Calisto MT" charset="0"/>
              </a:rPr>
              <a:t>“</a:t>
            </a:r>
            <a:r>
              <a:rPr lang="en-US" sz="800">
                <a:latin typeface="Calisto MT" charset="0"/>
              </a:rPr>
              <a:t>CCM</a:t>
            </a:r>
            <a:r>
              <a:rPr lang="ja-JP" altLang="en-US" sz="800">
                <a:latin typeface="Calisto MT" charset="0"/>
              </a:rPr>
              <a:t>”</a:t>
            </a:r>
            <a:r>
              <a:rPr lang="en-US" sz="800">
                <a:latin typeface="Calisto MT" charset="0"/>
              </a:rPr>
              <a:t>) or the Fund.  They are meant only to illustrate the types of opportunities CCM will seek for the Fund.  There can be no assurances that any such opportunities will be available to the Fund or that CCM will be able to identify such opportunities in a timely manner.</a:t>
            </a:r>
          </a:p>
          <a:p>
            <a:pPr marL="0" indent="0">
              <a:lnSpc>
                <a:spcPct val="130000"/>
              </a:lnSpc>
              <a:buFont typeface="Arial" charset="0"/>
              <a:buNone/>
            </a:pPr>
            <a:r>
              <a:rPr lang="en-US" sz="800">
                <a:latin typeface="Calisto MT" charset="0"/>
              </a:rPr>
              <a:t> </a:t>
            </a:r>
          </a:p>
          <a:p>
            <a:pPr marL="0" indent="0">
              <a:lnSpc>
                <a:spcPct val="130000"/>
              </a:lnSpc>
              <a:buFont typeface="Arial" charset="0"/>
              <a:buNone/>
            </a:pPr>
            <a:r>
              <a:rPr lang="en-US" sz="800">
                <a:latin typeface="Calisto MT" charset="0"/>
              </a:rPr>
              <a:t>This document contains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invest based on these forward-looking statements and projections.</a:t>
            </a:r>
          </a:p>
          <a:p>
            <a:pPr marL="0" indent="0">
              <a:lnSpc>
                <a:spcPct val="130000"/>
              </a:lnSpc>
              <a:buFont typeface="Arial" charset="0"/>
              <a:buNone/>
            </a:pPr>
            <a:r>
              <a:rPr lang="en-US" sz="800">
                <a:latin typeface="Calisto MT" charset="0"/>
              </a:rPr>
              <a:t> </a:t>
            </a:r>
          </a:p>
          <a:p>
            <a:pPr marL="0" indent="0">
              <a:lnSpc>
                <a:spcPct val="130000"/>
              </a:lnSpc>
              <a:buFont typeface="Arial" charset="0"/>
              <a:buNone/>
            </a:pPr>
            <a:r>
              <a:rPr lang="en-US" sz="800">
                <a:latin typeface="Calisto MT" charset="0"/>
              </a:rPr>
              <a:t>Certain information contained herein has been supplied to CCM by third parties.  While CCM believes such sources are reliable, it cannot guarantee the accuracy of any such information and does not represent that such information is accurate or complete.</a:t>
            </a:r>
          </a:p>
          <a:p>
            <a:pPr marL="0" indent="0">
              <a:lnSpc>
                <a:spcPct val="130000"/>
              </a:lnSpc>
              <a:buFont typeface="Arial" charset="0"/>
              <a:buNone/>
            </a:pPr>
            <a:endParaRPr lang="en-US" sz="800">
              <a:latin typeface="Calisto MT" charset="0"/>
            </a:endParaRPr>
          </a:p>
        </p:txBody>
      </p:sp>
      <p:sp>
        <p:nvSpPr>
          <p:cNvPr id="6" name="Slide Number Placeholder 5"/>
          <p:cNvSpPr txBox="1">
            <a:spLocks noGrp="1"/>
          </p:cNvSpPr>
          <p:nvPr/>
        </p:nvSpPr>
        <p:spPr>
          <a:xfrm>
            <a:off x="6553200" y="6356350"/>
            <a:ext cx="21336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r"/>
            <a:fld id="{6E647609-F9CC-3348-8421-CB86D0347548}" type="slidenum">
              <a:rPr lang="en-US" sz="1200">
                <a:solidFill>
                  <a:srgbClr val="898989"/>
                </a:solidFill>
              </a:rPr>
              <a:pPr algn="r"/>
              <a:t>89</a:t>
            </a:fld>
            <a:endParaRPr lang="en-US" sz="1200">
              <a:solidFill>
                <a:srgbClr val="898989"/>
              </a:solidFill>
            </a:endParaRPr>
          </a:p>
        </p:txBody>
      </p:sp>
      <p:sp>
        <p:nvSpPr>
          <p:cNvPr id="7" name="Footer Placeholder 6"/>
          <p:cNvSpPr txBox="1">
            <a:spLocks noGrp="1"/>
          </p:cNvSpPr>
          <p:nvPr/>
        </p:nvSpPr>
        <p:spPr>
          <a:xfrm>
            <a:off x="2971800" y="6356350"/>
            <a:ext cx="3200400" cy="365125"/>
          </a:xfrm>
          <a:prstGeom prst="rect">
            <a:avLst/>
          </a:prstGeom>
          <a:noFill/>
        </p:spPr>
        <p:txBody>
          <a:bodyPr anchor="ctr"/>
          <a:lstStyle>
            <a:lvl1pPr>
              <a:defRPr>
                <a:solidFill>
                  <a:schemeClr val="tx1"/>
                </a:solidFill>
                <a:latin typeface="Calisto MT" charset="0"/>
                <a:ea typeface="ＭＳ Ｐゴシック" charset="0"/>
              </a:defRPr>
            </a:lvl1pPr>
            <a:lvl2pPr marL="742950" indent="-285750">
              <a:defRPr>
                <a:solidFill>
                  <a:schemeClr val="tx1"/>
                </a:solidFill>
                <a:latin typeface="Calisto MT" charset="0"/>
                <a:ea typeface="ＭＳ Ｐゴシック" charset="0"/>
              </a:defRPr>
            </a:lvl2pPr>
            <a:lvl3pPr marL="1143000" indent="-228600">
              <a:defRPr>
                <a:solidFill>
                  <a:schemeClr val="tx1"/>
                </a:solidFill>
                <a:latin typeface="Calisto MT" charset="0"/>
                <a:ea typeface="ＭＳ Ｐゴシック" charset="0"/>
              </a:defRPr>
            </a:lvl3pPr>
            <a:lvl4pPr marL="1600200" indent="-228600">
              <a:defRPr>
                <a:solidFill>
                  <a:schemeClr val="tx1"/>
                </a:solidFill>
                <a:latin typeface="Calisto MT" charset="0"/>
                <a:ea typeface="ＭＳ Ｐゴシック" charset="0"/>
              </a:defRPr>
            </a:lvl4pPr>
            <a:lvl5pPr marL="2057400" indent="-228600">
              <a:defRPr>
                <a:solidFill>
                  <a:schemeClr val="tx1"/>
                </a:solidFill>
                <a:latin typeface="Calisto MT" charset="0"/>
                <a:ea typeface="ＭＳ Ｐゴシック" charset="0"/>
              </a:defRPr>
            </a:lvl5pPr>
            <a:lvl6pPr marL="2514600" indent="-228600" fontAlgn="base">
              <a:spcBef>
                <a:spcPct val="0"/>
              </a:spcBef>
              <a:spcAft>
                <a:spcPct val="0"/>
              </a:spcAft>
              <a:defRPr>
                <a:solidFill>
                  <a:schemeClr val="tx1"/>
                </a:solidFill>
                <a:latin typeface="Calisto MT" charset="0"/>
                <a:ea typeface="ＭＳ Ｐゴシック" charset="0"/>
              </a:defRPr>
            </a:lvl6pPr>
            <a:lvl7pPr marL="2971800" indent="-228600" fontAlgn="base">
              <a:spcBef>
                <a:spcPct val="0"/>
              </a:spcBef>
              <a:spcAft>
                <a:spcPct val="0"/>
              </a:spcAft>
              <a:defRPr>
                <a:solidFill>
                  <a:schemeClr val="tx1"/>
                </a:solidFill>
                <a:latin typeface="Calisto MT" charset="0"/>
                <a:ea typeface="ＭＳ Ｐゴシック" charset="0"/>
              </a:defRPr>
            </a:lvl7pPr>
            <a:lvl8pPr marL="3429000" indent="-228600" fontAlgn="base">
              <a:spcBef>
                <a:spcPct val="0"/>
              </a:spcBef>
              <a:spcAft>
                <a:spcPct val="0"/>
              </a:spcAft>
              <a:defRPr>
                <a:solidFill>
                  <a:schemeClr val="tx1"/>
                </a:solidFill>
                <a:latin typeface="Calisto MT" charset="0"/>
                <a:ea typeface="ＭＳ Ｐゴシック" charset="0"/>
              </a:defRPr>
            </a:lvl8pPr>
            <a:lvl9pPr marL="3886200" indent="-228600" fontAlgn="base">
              <a:spcBef>
                <a:spcPct val="0"/>
              </a:spcBef>
              <a:spcAft>
                <a:spcPct val="0"/>
              </a:spcAft>
              <a:defRPr>
                <a:solidFill>
                  <a:schemeClr val="tx1"/>
                </a:solidFill>
                <a:latin typeface="Calisto MT" charset="0"/>
                <a:ea typeface="ＭＳ Ｐゴシック" charset="0"/>
              </a:defRPr>
            </a:lvl9pPr>
          </a:lstStyle>
          <a:p>
            <a:pPr algn="ctr"/>
            <a:r>
              <a:rPr lang="en-US" sz="1200">
                <a:solidFill>
                  <a:srgbClr val="898989"/>
                </a:solidFill>
              </a:rPr>
              <a:t>©2010 Cello Capital Management, LLC</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Cello Capital">
  <a:themeElements>
    <a:clrScheme name="Cello 2">
      <a:dk1>
        <a:srgbClr val="000000"/>
      </a:dk1>
      <a:lt1>
        <a:srgbClr val="FFFFFF"/>
      </a:lt1>
      <a:dk2>
        <a:srgbClr val="2D3988"/>
      </a:dk2>
      <a:lt2>
        <a:srgbClr val="EEECE1"/>
      </a:lt2>
      <a:accent1>
        <a:srgbClr val="2E398A"/>
      </a:accent1>
      <a:accent2>
        <a:srgbClr val="C8C42D"/>
      </a:accent2>
      <a:accent3>
        <a:srgbClr val="AD275C"/>
      </a:accent3>
      <a:accent4>
        <a:srgbClr val="74B629"/>
      </a:accent4>
      <a:accent5>
        <a:srgbClr val="C7732D"/>
      </a:accent5>
      <a:accent6>
        <a:srgbClr val="1B7A76"/>
      </a:accent6>
      <a:hlink>
        <a:srgbClr val="2D3988"/>
      </a:hlink>
      <a:folHlink>
        <a:srgbClr val="800080"/>
      </a:folHlink>
    </a:clrScheme>
    <a:fontScheme name="1_Cello Capital">
      <a:majorFont>
        <a:latin typeface=""/>
        <a:ea typeface="ＭＳ Ｐゴシック"/>
        <a:cs typeface=""/>
      </a:majorFont>
      <a:minorFont>
        <a:latin typeface=""/>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pPr>
      <a:bodyPr wrap="square" lIns="0" tIns="0" rIns="0" bIns="0" rtlCol="0" anchor="ctr">
        <a:spAutoFit/>
      </a:bodyPr>
      <a:lstStyle>
        <a:defPPr algn="ctr">
          <a:defRPr sz="800" dirty="0" smtClean="0">
            <a:solidFill>
              <a:schemeClr val="accent1"/>
            </a:solidFill>
          </a:defRPr>
        </a:defPPr>
      </a:lstStyle>
      <a:style>
        <a:lnRef idx="2">
          <a:schemeClr val="accent1"/>
        </a:lnRef>
        <a:fillRef idx="1">
          <a:schemeClr val="lt1"/>
        </a:fillRef>
        <a:effectRef idx="0">
          <a:schemeClr val="accent1"/>
        </a:effectRef>
        <a:fontRef idx="minor">
          <a:schemeClr val="dk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Cello Capital</Template>
  <TotalTime>10164</TotalTime>
  <Words>5516</Words>
  <Application>Microsoft Office PowerPoint</Application>
  <PresentationFormat>On-screen Show (4:3)</PresentationFormat>
  <Paragraphs>586</Paragraphs>
  <Slides>89</Slides>
  <Notes>17</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89</vt:i4>
      </vt:variant>
    </vt:vector>
  </HeadingPairs>
  <TitlesOfParts>
    <vt:vector size="91" baseType="lpstr">
      <vt:lpstr>1_Cello Capital</vt:lpstr>
      <vt:lpstr>Microsoft Excel Chart</vt:lpstr>
      <vt:lpstr>Cello Capital Management, LLC</vt:lpstr>
      <vt:lpstr>Table of Contents</vt:lpstr>
      <vt:lpstr>THE IMPORTANCE OF HOUSING</vt:lpstr>
      <vt:lpstr>The Central Role of Housing - I</vt:lpstr>
      <vt:lpstr>The Central Role of Housing - II</vt:lpstr>
      <vt:lpstr>Key Macro Questions in Housing</vt:lpstr>
      <vt:lpstr>THE STRUCTURE OF HOUSING FINANCE SYSTEMS</vt:lpstr>
      <vt:lpstr>Housing Finance Systems (HFS)</vt:lpstr>
      <vt:lpstr>HFSs Need a Good Legal and Informational Infrastructure</vt:lpstr>
      <vt:lpstr>Housing Finance Systems Around the World</vt:lpstr>
      <vt:lpstr>Historical Evolution of the U.S. Housing Finance System - I</vt:lpstr>
      <vt:lpstr>Historical Evolution of the U.S. Housing Finance System - II</vt:lpstr>
      <vt:lpstr>Historical Evolution of the U.S. Housing Finance System - III</vt:lpstr>
      <vt:lpstr>AN INTRODUCTION TO MORTGAGES</vt:lpstr>
      <vt:lpstr>Introducing Mortgages</vt:lpstr>
      <vt:lpstr>Several Different Property Types Collateralize Mortgages</vt:lpstr>
      <vt:lpstr> Single-Family Home Mortgages Dominate the Market</vt:lpstr>
      <vt:lpstr>Popular Mortgage Contract Types in the U.S.</vt:lpstr>
      <vt:lpstr>Fixed-Rate Mortgages Are The Most Popular Product By Far</vt:lpstr>
      <vt:lpstr>How Fixed-Rate Mortgage Payments Work</vt:lpstr>
      <vt:lpstr>Homeowners Can Prepay Mortgage For Several Reasons</vt:lpstr>
      <vt:lpstr>THE U.S. MORTGAGE MARKET</vt:lpstr>
      <vt:lpstr>Special Features of the U.S. Mortgage Market</vt:lpstr>
      <vt:lpstr>The U.S. Has High Homeownership Rates</vt:lpstr>
      <vt:lpstr>The U.S. Has A Very Large Residential Mortgage Market</vt:lpstr>
      <vt:lpstr>The Growth Rate of Residential Mortgage Debt Has Been Strong Until Recently</vt:lpstr>
      <vt:lpstr>The U.S. Housing Finance System Consists of a Primary and a Secondary Mortgage Market </vt:lpstr>
      <vt:lpstr>Securitization Plays a Crucial Role in U.S. Mortgage Markets</vt:lpstr>
      <vt:lpstr>The “Agencies” Play an Significant Role in the U.S. Mortgage Market</vt:lpstr>
      <vt:lpstr>PowerPoint Presentation</vt:lpstr>
      <vt:lpstr>Loan Limits</vt:lpstr>
      <vt:lpstr>INTRODUCTION TO MORTGAGE-BACKED SECURITIES</vt:lpstr>
      <vt:lpstr>What is a Mortgage-Backed Security (MBS)?</vt:lpstr>
      <vt:lpstr>Mortgage-backed Securities Are Bonds</vt:lpstr>
      <vt:lpstr>The U.S. Mortgage-backed Securities Sector is the Largest Fixed Income Capital Market in the World</vt:lpstr>
      <vt:lpstr>The Mortgage-backed Securities Market Offers a Range of Investment Options</vt:lpstr>
      <vt:lpstr>A Mortgage-backed Securities Fund Can Play an Important Role in a Bond Portfolio</vt:lpstr>
      <vt:lpstr>THE U.S. MORTGAGE-BACKED SECURITIES MARKET</vt:lpstr>
      <vt:lpstr>The U.S. MBS Sector Consists of Several Large Sub-sectors</vt:lpstr>
      <vt:lpstr>Evolution Of Mortgage-Backed Securities</vt:lpstr>
      <vt:lpstr>The Agency Pass-Through Market Offers Excellent Liquidity</vt:lpstr>
      <vt:lpstr>MBS Enjoy Sponsorship from Key Institutional Investors</vt:lpstr>
      <vt:lpstr>Overview of the Pass-Through Subsector: Product Characteristics</vt:lpstr>
      <vt:lpstr>Overview of the Pass-Through Subsector: Market Dynamics</vt:lpstr>
      <vt:lpstr>Overview of the Agency CMO Subsector: Product Characteristics</vt:lpstr>
      <vt:lpstr>Overview of the Agency CMO Subsector: Market Dynamics</vt:lpstr>
      <vt:lpstr>Overview of the Whole Loan and Non-Agency CMO Subsector: Product Characteristics</vt:lpstr>
      <vt:lpstr>Overview of the Whole Loan and Non-Agency CMO Subsector: Market Dynamics</vt:lpstr>
      <vt:lpstr>Risks Associated with MBS Investments</vt:lpstr>
      <vt:lpstr>THE AGENCIES: GINNIE MAE</vt:lpstr>
      <vt:lpstr>Ginnie Mae</vt:lpstr>
      <vt:lpstr>The Ginnie Mae Securitization Process</vt:lpstr>
      <vt:lpstr>The Ginnie Mae Guarantee</vt:lpstr>
      <vt:lpstr>THE AGENCIES: FANNIE MAE AND FREDDIE MAC</vt:lpstr>
      <vt:lpstr>Fannie Mae and Freddie Mac</vt:lpstr>
      <vt:lpstr>GSE Retained Mortgage Portfolios</vt:lpstr>
      <vt:lpstr>AGENCY PASS-THROUGHS</vt:lpstr>
      <vt:lpstr>Pass-through Characteristics</vt:lpstr>
      <vt:lpstr>Cash Flows on a Pass-through Pool</vt:lpstr>
      <vt:lpstr>Weighted-average Life Profile of a Pass-through Pool</vt:lpstr>
      <vt:lpstr>Yield Profile of a Pass-through Pool</vt:lpstr>
      <vt:lpstr>The Pass-Through MBS TBA Market - I</vt:lpstr>
      <vt:lpstr>The Pass-Through MBS TBA Market - II</vt:lpstr>
      <vt:lpstr>The Pass-Through MBS Specified Pool Market</vt:lpstr>
      <vt:lpstr>The Pass-Through Dollar Roll Market - I</vt:lpstr>
      <vt:lpstr>The Pass-Through Dollar Roll Market - II</vt:lpstr>
      <vt:lpstr>Dollar Roll Calculations</vt:lpstr>
      <vt:lpstr>AGENCY CMOs</vt:lpstr>
      <vt:lpstr>A Brief Overview of CMOs</vt:lpstr>
      <vt:lpstr>Agency CMOs versus Private-label CMOs - I</vt:lpstr>
      <vt:lpstr>Agency CMOs versus Private-label CMOs - II</vt:lpstr>
      <vt:lpstr>The Agency CMO Market Remains Active Despite the Credit Crisis</vt:lpstr>
      <vt:lpstr>A Significant Pool of Agency CMOs with Customized Characteristics is Available for Investors</vt:lpstr>
      <vt:lpstr>A Number of Different Methods Are Used to Create CMOs</vt:lpstr>
      <vt:lpstr>CMO Types: Sequentials</vt:lpstr>
      <vt:lpstr>CMO Types: PACs</vt:lpstr>
      <vt:lpstr>CMO Types: Z Bonds</vt:lpstr>
      <vt:lpstr>CMO Types: VADMs</vt:lpstr>
      <vt:lpstr>CMO Types: Mortgage Derivatives</vt:lpstr>
      <vt:lpstr>Mortgage Derivatives: IO/PO</vt:lpstr>
      <vt:lpstr>Mortgage Derivatives: Floaters/Inverse Floaters</vt:lpstr>
      <vt:lpstr>The Agency CMO Sector Receives Sponsorship from a Broad Range of Investors</vt:lpstr>
      <vt:lpstr>CMO Settlement and Payment Dates</vt:lpstr>
      <vt:lpstr>Liquidity of Agency CMOs</vt:lpstr>
      <vt:lpstr>Taxation of Agency CMOs</vt:lpstr>
      <vt:lpstr>PREPAYMENTS</vt:lpstr>
      <vt:lpstr>Measuring Prepayment Rates</vt:lpstr>
      <vt:lpstr>The Prepayment S-Curve: A Guideline for How Borrowers Prepay</vt:lpstr>
      <vt:lpstr>Rider A:  Important Notes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A&amp;C INVESTMENT MANAGEMENT LLC</dc:title>
  <dc:creator>Antoine Schetritt</dc:creator>
  <cp:lastModifiedBy>Sharad Chaudhary</cp:lastModifiedBy>
  <cp:revision>869</cp:revision>
  <cp:lastPrinted>2010-03-20T21:04:25Z</cp:lastPrinted>
  <dcterms:created xsi:type="dcterms:W3CDTF">2010-03-21T03:18:09Z</dcterms:created>
  <dcterms:modified xsi:type="dcterms:W3CDTF">2015-12-10T22:56:01Z</dcterms:modified>
</cp:coreProperties>
</file>