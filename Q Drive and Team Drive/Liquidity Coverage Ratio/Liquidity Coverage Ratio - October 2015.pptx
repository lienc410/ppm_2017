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4.xml" ContentType="application/vnd.openxmlformats-officedocument.presentationml.slideLayout+xml"/>
  <Override PartName="/ppt/theme/theme9.xml" ContentType="application/vnd.openxmlformats-officedocument.theme+xml"/>
  <Override PartName="/ppt/slideLayouts/slideLayout15.xml" ContentType="application/vnd.openxmlformats-officedocument.presentationml.slideLayout+xml"/>
  <Override PartName="/ppt/theme/theme10.xml" ContentType="application/vnd.openxmlformats-officedocument.theme+xml"/>
  <Override PartName="/ppt/slideLayouts/slideLayout16.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14.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15.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16.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17.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18.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 id="2147483860" r:id="rId16"/>
    <p:sldMasterId id="2147483866" r:id="rId17"/>
    <p:sldMasterId id="2147483872" r:id="rId18"/>
    <p:sldMasterId id="2147483879" r:id="rId19"/>
  </p:sldMasterIdLst>
  <p:notesMasterIdLst>
    <p:notesMasterId r:id="rId26"/>
  </p:notesMasterIdLst>
  <p:handoutMasterIdLst>
    <p:handoutMasterId r:id="rId27"/>
  </p:handoutMasterIdLst>
  <p:sldIdLst>
    <p:sldId id="433" r:id="rId20"/>
    <p:sldId id="596" r:id="rId21"/>
    <p:sldId id="594" r:id="rId22"/>
    <p:sldId id="597" r:id="rId23"/>
    <p:sldId id="598" r:id="rId24"/>
    <p:sldId id="504" r:id="rId25"/>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extLst>
    <p:ext uri="{EFAFB233-063F-42B5-8137-9DF3F51BA10A}">
      <p15:sldGuideLst xmlns="" xmlns:p15="http://schemas.microsoft.com/office/powerpoint/2012/main">
        <p15:guide id="1" orient="horz" pos="3872">
          <p15:clr>
            <a:srgbClr val="A4A3A4"/>
          </p15:clr>
        </p15:guide>
        <p15:guide id="2" orient="horz" pos="1976">
          <p15:clr>
            <a:srgbClr val="A4A3A4"/>
          </p15:clr>
        </p15:guide>
        <p15:guide id="3" orient="horz" pos="797">
          <p15:clr>
            <a:srgbClr val="A4A3A4"/>
          </p15:clr>
        </p15:guide>
        <p15:guide id="4" orient="horz" pos="981">
          <p15:clr>
            <a:srgbClr val="A4A3A4"/>
          </p15:clr>
        </p15:guide>
        <p15:guide id="5" orient="horz" pos="4327">
          <p15:clr>
            <a:srgbClr val="A4A3A4"/>
          </p15:clr>
        </p15:guide>
        <p15:guide id="6" orient="horz" pos="145">
          <p15:clr>
            <a:srgbClr val="A4A3A4"/>
          </p15:clr>
        </p15:guide>
        <p15:guide id="7" pos="5282">
          <p15:clr>
            <a:srgbClr val="A4A3A4"/>
          </p15:clr>
        </p15:guide>
        <p15:guide id="8" pos="126">
          <p15:clr>
            <a:srgbClr val="A4A3A4"/>
          </p15:clr>
        </p15:guide>
        <p15:guide id="9" pos="5046">
          <p15:clr>
            <a:srgbClr val="A4A3A4"/>
          </p15:clr>
        </p15:guide>
        <p15:guide id="10" pos="1973">
          <p15:clr>
            <a:srgbClr val="A4A3A4"/>
          </p15:clr>
        </p15:guide>
        <p15:guide id="11" pos="3396">
          <p15:clr>
            <a:srgbClr val="A4A3A4"/>
          </p15:clr>
        </p15:guide>
        <p15:guide id="12" pos="3165">
          <p15:clr>
            <a:srgbClr val="A4A3A4"/>
          </p15:clr>
        </p15:guide>
        <p15:guide id="13" pos="1575">
          <p15:clr>
            <a:srgbClr val="A4A3A4"/>
          </p15:clr>
        </p15:guide>
        <p15:guide id="14" pos="1055">
          <p15:clr>
            <a:srgbClr val="A4A3A4"/>
          </p15:clr>
        </p15:guide>
      </p15:sldGuideLst>
    </p:ext>
    <p:ext uri="{2D200454-40CA-4A62-9FC3-DE9A4176ACB9}">
      <p15:notesGuideLst xmlns="" xmlns:p15="http://schemas.microsoft.com/office/powerpoint/2012/main">
        <p15:guide id="1" orient="horz" pos="2905" userDrawn="1">
          <p15:clr>
            <a:srgbClr val="A4A3A4"/>
          </p15:clr>
        </p15:guide>
        <p15:guide id="2" pos="218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732D"/>
    <a:srgbClr val="2E398A"/>
    <a:srgbClr val="74B629"/>
    <a:srgbClr val="000000"/>
    <a:srgbClr val="968880"/>
    <a:srgbClr val="203353"/>
    <a:srgbClr val="533D2D"/>
    <a:srgbClr val="533D23"/>
    <a:srgbClr val="996633"/>
    <a:srgbClr val="8C2B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49" autoAdjust="0"/>
    <p:restoredTop sz="95011" autoAdjust="0"/>
  </p:normalViewPr>
  <p:slideViewPr>
    <p:cSldViewPr snapToGrid="0" snapToObjects="1">
      <p:cViewPr>
        <p:scale>
          <a:sx n="110" d="100"/>
          <a:sy n="110" d="100"/>
        </p:scale>
        <p:origin x="-192" y="-72"/>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2.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6.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5.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4.xml"/><Relationship Id="rId28"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3.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oleObject" Target="file:///\\ccmnydc1\users$\sharad.chaudhary\My%20Documents\Cello%20Research\Liquidity%20Coverage%20Ratio\HQLA%20update%20tabl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2"/>
          <c:order val="0"/>
          <c:tx>
            <c:strRef>
              <c:f>'Cash&amp;Deposits'!$E$5</c:f>
              <c:strCache>
                <c:ptCount val="1"/>
                <c:pt idx="0">
                  <c:v>Excess Reserves ($bn)</c:v>
                </c:pt>
              </c:strCache>
            </c:strRef>
          </c:tx>
          <c:spPr>
            <a:ln>
              <a:solidFill>
                <a:schemeClr val="accent1"/>
              </a:solidFill>
            </a:ln>
          </c:spPr>
          <c:marker>
            <c:symbol val="none"/>
          </c:marker>
          <c:cat>
            <c:numRef>
              <c:f>'Cash&amp;Deposits'!$B$6:$B$304</c:f>
              <c:numCache>
                <c:formatCode>m/d/yyyy</c:formatCode>
                <c:ptCount val="299"/>
                <c:pt idx="0">
                  <c:v>42270</c:v>
                </c:pt>
                <c:pt idx="1">
                  <c:v>42263</c:v>
                </c:pt>
                <c:pt idx="2">
                  <c:v>42256</c:v>
                </c:pt>
                <c:pt idx="3">
                  <c:v>42249</c:v>
                </c:pt>
                <c:pt idx="4">
                  <c:v>42242</c:v>
                </c:pt>
                <c:pt idx="5">
                  <c:v>42235</c:v>
                </c:pt>
                <c:pt idx="6">
                  <c:v>42228</c:v>
                </c:pt>
                <c:pt idx="7">
                  <c:v>42221</c:v>
                </c:pt>
                <c:pt idx="8">
                  <c:v>42214</c:v>
                </c:pt>
                <c:pt idx="9">
                  <c:v>42207</c:v>
                </c:pt>
                <c:pt idx="10">
                  <c:v>42200</c:v>
                </c:pt>
                <c:pt idx="11">
                  <c:v>42193</c:v>
                </c:pt>
                <c:pt idx="12">
                  <c:v>42186</c:v>
                </c:pt>
                <c:pt idx="13">
                  <c:v>42179</c:v>
                </c:pt>
                <c:pt idx="14">
                  <c:v>42172</c:v>
                </c:pt>
                <c:pt idx="15">
                  <c:v>42165</c:v>
                </c:pt>
                <c:pt idx="16">
                  <c:v>42158</c:v>
                </c:pt>
                <c:pt idx="17">
                  <c:v>42151</c:v>
                </c:pt>
                <c:pt idx="18">
                  <c:v>42144</c:v>
                </c:pt>
                <c:pt idx="19">
                  <c:v>42137</c:v>
                </c:pt>
                <c:pt idx="20">
                  <c:v>42130</c:v>
                </c:pt>
                <c:pt idx="21">
                  <c:v>42123</c:v>
                </c:pt>
                <c:pt idx="22">
                  <c:v>42116</c:v>
                </c:pt>
                <c:pt idx="23">
                  <c:v>42109</c:v>
                </c:pt>
                <c:pt idx="24">
                  <c:v>42102</c:v>
                </c:pt>
                <c:pt idx="25">
                  <c:v>42095</c:v>
                </c:pt>
                <c:pt idx="26">
                  <c:v>42088</c:v>
                </c:pt>
                <c:pt idx="27">
                  <c:v>42081</c:v>
                </c:pt>
                <c:pt idx="28">
                  <c:v>42074</c:v>
                </c:pt>
                <c:pt idx="29">
                  <c:v>42067</c:v>
                </c:pt>
                <c:pt idx="30">
                  <c:v>42060</c:v>
                </c:pt>
                <c:pt idx="31">
                  <c:v>42053</c:v>
                </c:pt>
                <c:pt idx="32">
                  <c:v>42046</c:v>
                </c:pt>
                <c:pt idx="33">
                  <c:v>42039</c:v>
                </c:pt>
                <c:pt idx="34">
                  <c:v>42032</c:v>
                </c:pt>
                <c:pt idx="35">
                  <c:v>42025</c:v>
                </c:pt>
                <c:pt idx="36">
                  <c:v>42018</c:v>
                </c:pt>
                <c:pt idx="37">
                  <c:v>42011</c:v>
                </c:pt>
                <c:pt idx="38">
                  <c:v>42004</c:v>
                </c:pt>
                <c:pt idx="39">
                  <c:v>41997</c:v>
                </c:pt>
                <c:pt idx="40">
                  <c:v>41990</c:v>
                </c:pt>
                <c:pt idx="41">
                  <c:v>41983</c:v>
                </c:pt>
                <c:pt idx="42">
                  <c:v>41976</c:v>
                </c:pt>
                <c:pt idx="43">
                  <c:v>41969</c:v>
                </c:pt>
                <c:pt idx="44">
                  <c:v>41962</c:v>
                </c:pt>
                <c:pt idx="45">
                  <c:v>41955</c:v>
                </c:pt>
                <c:pt idx="46">
                  <c:v>41948</c:v>
                </c:pt>
                <c:pt idx="47">
                  <c:v>41941</c:v>
                </c:pt>
                <c:pt idx="48">
                  <c:v>41934</c:v>
                </c:pt>
                <c:pt idx="49">
                  <c:v>41927</c:v>
                </c:pt>
                <c:pt idx="50">
                  <c:v>41920</c:v>
                </c:pt>
                <c:pt idx="51">
                  <c:v>41913</c:v>
                </c:pt>
                <c:pt idx="52">
                  <c:v>41906</c:v>
                </c:pt>
                <c:pt idx="53">
                  <c:v>41899</c:v>
                </c:pt>
                <c:pt idx="54">
                  <c:v>41892</c:v>
                </c:pt>
                <c:pt idx="55">
                  <c:v>41885</c:v>
                </c:pt>
                <c:pt idx="56">
                  <c:v>41878</c:v>
                </c:pt>
                <c:pt idx="57">
                  <c:v>41871</c:v>
                </c:pt>
                <c:pt idx="58">
                  <c:v>41864</c:v>
                </c:pt>
                <c:pt idx="59">
                  <c:v>41857</c:v>
                </c:pt>
                <c:pt idx="60">
                  <c:v>41850</c:v>
                </c:pt>
                <c:pt idx="61">
                  <c:v>41843</c:v>
                </c:pt>
                <c:pt idx="62">
                  <c:v>41836</c:v>
                </c:pt>
                <c:pt idx="63">
                  <c:v>41829</c:v>
                </c:pt>
                <c:pt idx="64">
                  <c:v>41822</c:v>
                </c:pt>
                <c:pt idx="65">
                  <c:v>41815</c:v>
                </c:pt>
                <c:pt idx="66">
                  <c:v>41808</c:v>
                </c:pt>
                <c:pt idx="67">
                  <c:v>41801</c:v>
                </c:pt>
                <c:pt idx="68">
                  <c:v>41794</c:v>
                </c:pt>
                <c:pt idx="69">
                  <c:v>41787</c:v>
                </c:pt>
                <c:pt idx="70">
                  <c:v>41780</c:v>
                </c:pt>
                <c:pt idx="71">
                  <c:v>41773</c:v>
                </c:pt>
                <c:pt idx="72">
                  <c:v>41766</c:v>
                </c:pt>
                <c:pt idx="73">
                  <c:v>41759</c:v>
                </c:pt>
                <c:pt idx="74">
                  <c:v>41752</c:v>
                </c:pt>
                <c:pt idx="75">
                  <c:v>41745</c:v>
                </c:pt>
                <c:pt idx="76">
                  <c:v>41738</c:v>
                </c:pt>
                <c:pt idx="77">
                  <c:v>41731</c:v>
                </c:pt>
                <c:pt idx="78">
                  <c:v>41724</c:v>
                </c:pt>
                <c:pt idx="79">
                  <c:v>41717</c:v>
                </c:pt>
                <c:pt idx="80">
                  <c:v>41710</c:v>
                </c:pt>
                <c:pt idx="81">
                  <c:v>41703</c:v>
                </c:pt>
                <c:pt idx="82">
                  <c:v>41696</c:v>
                </c:pt>
                <c:pt idx="83">
                  <c:v>41689</c:v>
                </c:pt>
                <c:pt idx="84">
                  <c:v>41682</c:v>
                </c:pt>
                <c:pt idx="85">
                  <c:v>41675</c:v>
                </c:pt>
                <c:pt idx="86">
                  <c:v>41668</c:v>
                </c:pt>
                <c:pt idx="87">
                  <c:v>41661</c:v>
                </c:pt>
                <c:pt idx="88">
                  <c:v>41654</c:v>
                </c:pt>
                <c:pt idx="89">
                  <c:v>41647</c:v>
                </c:pt>
                <c:pt idx="90">
                  <c:v>41640</c:v>
                </c:pt>
                <c:pt idx="91">
                  <c:v>41633</c:v>
                </c:pt>
                <c:pt idx="92">
                  <c:v>41626</c:v>
                </c:pt>
                <c:pt idx="93">
                  <c:v>41619</c:v>
                </c:pt>
                <c:pt idx="94">
                  <c:v>41612</c:v>
                </c:pt>
                <c:pt idx="95">
                  <c:v>41605</c:v>
                </c:pt>
                <c:pt idx="96">
                  <c:v>41598</c:v>
                </c:pt>
                <c:pt idx="97">
                  <c:v>41591</c:v>
                </c:pt>
                <c:pt idx="98">
                  <c:v>41584</c:v>
                </c:pt>
                <c:pt idx="99">
                  <c:v>41577</c:v>
                </c:pt>
                <c:pt idx="100">
                  <c:v>41570</c:v>
                </c:pt>
                <c:pt idx="101">
                  <c:v>41563</c:v>
                </c:pt>
                <c:pt idx="102">
                  <c:v>41556</c:v>
                </c:pt>
                <c:pt idx="103">
                  <c:v>41549</c:v>
                </c:pt>
                <c:pt idx="104">
                  <c:v>41542</c:v>
                </c:pt>
                <c:pt idx="105">
                  <c:v>41535</c:v>
                </c:pt>
                <c:pt idx="106">
                  <c:v>41528</c:v>
                </c:pt>
                <c:pt idx="107">
                  <c:v>41521</c:v>
                </c:pt>
                <c:pt idx="108">
                  <c:v>41514</c:v>
                </c:pt>
                <c:pt idx="109">
                  <c:v>41507</c:v>
                </c:pt>
                <c:pt idx="110">
                  <c:v>41500</c:v>
                </c:pt>
                <c:pt idx="111">
                  <c:v>41493</c:v>
                </c:pt>
                <c:pt idx="112">
                  <c:v>41486</c:v>
                </c:pt>
                <c:pt idx="113">
                  <c:v>41479</c:v>
                </c:pt>
                <c:pt idx="114">
                  <c:v>41472</c:v>
                </c:pt>
                <c:pt idx="115">
                  <c:v>41465</c:v>
                </c:pt>
                <c:pt idx="116">
                  <c:v>41458</c:v>
                </c:pt>
                <c:pt idx="117">
                  <c:v>41451</c:v>
                </c:pt>
                <c:pt idx="118">
                  <c:v>41444</c:v>
                </c:pt>
                <c:pt idx="119">
                  <c:v>41437</c:v>
                </c:pt>
                <c:pt idx="120">
                  <c:v>41430</c:v>
                </c:pt>
                <c:pt idx="121">
                  <c:v>41423</c:v>
                </c:pt>
                <c:pt idx="122">
                  <c:v>41416</c:v>
                </c:pt>
                <c:pt idx="123">
                  <c:v>41409</c:v>
                </c:pt>
                <c:pt idx="124">
                  <c:v>41402</c:v>
                </c:pt>
                <c:pt idx="125">
                  <c:v>41395</c:v>
                </c:pt>
                <c:pt idx="126">
                  <c:v>41388</c:v>
                </c:pt>
                <c:pt idx="127">
                  <c:v>41381</c:v>
                </c:pt>
                <c:pt idx="128">
                  <c:v>41374</c:v>
                </c:pt>
                <c:pt idx="129">
                  <c:v>41367</c:v>
                </c:pt>
                <c:pt idx="130">
                  <c:v>41360</c:v>
                </c:pt>
                <c:pt idx="131">
                  <c:v>41353</c:v>
                </c:pt>
                <c:pt idx="132">
                  <c:v>41346</c:v>
                </c:pt>
                <c:pt idx="133">
                  <c:v>41339</c:v>
                </c:pt>
                <c:pt idx="134">
                  <c:v>41332</c:v>
                </c:pt>
                <c:pt idx="135">
                  <c:v>41325</c:v>
                </c:pt>
                <c:pt idx="136">
                  <c:v>41318</c:v>
                </c:pt>
                <c:pt idx="137">
                  <c:v>41311</c:v>
                </c:pt>
                <c:pt idx="138">
                  <c:v>41304</c:v>
                </c:pt>
                <c:pt idx="139">
                  <c:v>41297</c:v>
                </c:pt>
                <c:pt idx="140">
                  <c:v>41290</c:v>
                </c:pt>
                <c:pt idx="141">
                  <c:v>41283</c:v>
                </c:pt>
                <c:pt idx="142">
                  <c:v>41276</c:v>
                </c:pt>
                <c:pt idx="143">
                  <c:v>41269</c:v>
                </c:pt>
                <c:pt idx="144">
                  <c:v>41262</c:v>
                </c:pt>
                <c:pt idx="145">
                  <c:v>41255</c:v>
                </c:pt>
                <c:pt idx="146">
                  <c:v>41248</c:v>
                </c:pt>
                <c:pt idx="147">
                  <c:v>41241</c:v>
                </c:pt>
                <c:pt idx="148">
                  <c:v>41234</c:v>
                </c:pt>
                <c:pt idx="149">
                  <c:v>41227</c:v>
                </c:pt>
                <c:pt idx="150">
                  <c:v>41220</c:v>
                </c:pt>
                <c:pt idx="151">
                  <c:v>41213</c:v>
                </c:pt>
                <c:pt idx="152">
                  <c:v>41206</c:v>
                </c:pt>
                <c:pt idx="153">
                  <c:v>41199</c:v>
                </c:pt>
                <c:pt idx="154">
                  <c:v>41192</c:v>
                </c:pt>
                <c:pt idx="155">
                  <c:v>41185</c:v>
                </c:pt>
                <c:pt idx="156">
                  <c:v>41178</c:v>
                </c:pt>
                <c:pt idx="157">
                  <c:v>41171</c:v>
                </c:pt>
                <c:pt idx="158">
                  <c:v>41164</c:v>
                </c:pt>
                <c:pt idx="159">
                  <c:v>41157</c:v>
                </c:pt>
                <c:pt idx="160">
                  <c:v>41150</c:v>
                </c:pt>
                <c:pt idx="161">
                  <c:v>41143</c:v>
                </c:pt>
                <c:pt idx="162">
                  <c:v>41136</c:v>
                </c:pt>
                <c:pt idx="163">
                  <c:v>41129</c:v>
                </c:pt>
                <c:pt idx="164">
                  <c:v>41122</c:v>
                </c:pt>
                <c:pt idx="165">
                  <c:v>41115</c:v>
                </c:pt>
                <c:pt idx="166">
                  <c:v>41108</c:v>
                </c:pt>
                <c:pt idx="167">
                  <c:v>41101</c:v>
                </c:pt>
                <c:pt idx="168">
                  <c:v>41094</c:v>
                </c:pt>
                <c:pt idx="169">
                  <c:v>41087</c:v>
                </c:pt>
                <c:pt idx="170">
                  <c:v>41080</c:v>
                </c:pt>
                <c:pt idx="171">
                  <c:v>41073</c:v>
                </c:pt>
                <c:pt idx="172">
                  <c:v>41066</c:v>
                </c:pt>
                <c:pt idx="173">
                  <c:v>41059</c:v>
                </c:pt>
                <c:pt idx="174">
                  <c:v>41052</c:v>
                </c:pt>
                <c:pt idx="175">
                  <c:v>41045</c:v>
                </c:pt>
                <c:pt idx="176">
                  <c:v>41038</c:v>
                </c:pt>
                <c:pt idx="177">
                  <c:v>41031</c:v>
                </c:pt>
                <c:pt idx="178">
                  <c:v>41024</c:v>
                </c:pt>
                <c:pt idx="179">
                  <c:v>41017</c:v>
                </c:pt>
                <c:pt idx="180">
                  <c:v>41010</c:v>
                </c:pt>
                <c:pt idx="181">
                  <c:v>41003</c:v>
                </c:pt>
                <c:pt idx="182">
                  <c:v>40996</c:v>
                </c:pt>
                <c:pt idx="183">
                  <c:v>40989</c:v>
                </c:pt>
                <c:pt idx="184">
                  <c:v>40982</c:v>
                </c:pt>
                <c:pt idx="185">
                  <c:v>40975</c:v>
                </c:pt>
                <c:pt idx="186">
                  <c:v>40968</c:v>
                </c:pt>
                <c:pt idx="187">
                  <c:v>40961</c:v>
                </c:pt>
                <c:pt idx="188">
                  <c:v>40954</c:v>
                </c:pt>
                <c:pt idx="189">
                  <c:v>40947</c:v>
                </c:pt>
                <c:pt idx="190">
                  <c:v>40940</c:v>
                </c:pt>
                <c:pt idx="191">
                  <c:v>40933</c:v>
                </c:pt>
                <c:pt idx="192">
                  <c:v>40926</c:v>
                </c:pt>
                <c:pt idx="193">
                  <c:v>40919</c:v>
                </c:pt>
                <c:pt idx="194">
                  <c:v>40912</c:v>
                </c:pt>
                <c:pt idx="195">
                  <c:v>40905</c:v>
                </c:pt>
                <c:pt idx="196">
                  <c:v>40898</c:v>
                </c:pt>
                <c:pt idx="197">
                  <c:v>40891</c:v>
                </c:pt>
                <c:pt idx="198">
                  <c:v>40884</c:v>
                </c:pt>
                <c:pt idx="199">
                  <c:v>40877</c:v>
                </c:pt>
                <c:pt idx="200">
                  <c:v>40870</c:v>
                </c:pt>
                <c:pt idx="201">
                  <c:v>40863</c:v>
                </c:pt>
                <c:pt idx="202">
                  <c:v>40856</c:v>
                </c:pt>
                <c:pt idx="203">
                  <c:v>40849</c:v>
                </c:pt>
                <c:pt idx="204">
                  <c:v>40842</c:v>
                </c:pt>
                <c:pt idx="205">
                  <c:v>40835</c:v>
                </c:pt>
                <c:pt idx="206">
                  <c:v>40828</c:v>
                </c:pt>
                <c:pt idx="207">
                  <c:v>40821</c:v>
                </c:pt>
                <c:pt idx="208">
                  <c:v>40814</c:v>
                </c:pt>
                <c:pt idx="209">
                  <c:v>40807</c:v>
                </c:pt>
                <c:pt idx="210">
                  <c:v>40800</c:v>
                </c:pt>
                <c:pt idx="211">
                  <c:v>40793</c:v>
                </c:pt>
                <c:pt idx="212">
                  <c:v>40786</c:v>
                </c:pt>
                <c:pt idx="213">
                  <c:v>40779</c:v>
                </c:pt>
                <c:pt idx="214">
                  <c:v>40772</c:v>
                </c:pt>
                <c:pt idx="215">
                  <c:v>40765</c:v>
                </c:pt>
                <c:pt idx="216">
                  <c:v>40758</c:v>
                </c:pt>
                <c:pt idx="217">
                  <c:v>40751</c:v>
                </c:pt>
                <c:pt idx="218">
                  <c:v>40744</c:v>
                </c:pt>
                <c:pt idx="219">
                  <c:v>40737</c:v>
                </c:pt>
                <c:pt idx="220">
                  <c:v>40730</c:v>
                </c:pt>
                <c:pt idx="221">
                  <c:v>40723</c:v>
                </c:pt>
                <c:pt idx="222">
                  <c:v>40716</c:v>
                </c:pt>
                <c:pt idx="223">
                  <c:v>40709</c:v>
                </c:pt>
                <c:pt idx="224">
                  <c:v>40702</c:v>
                </c:pt>
                <c:pt idx="225">
                  <c:v>40695</c:v>
                </c:pt>
                <c:pt idx="226">
                  <c:v>40688</c:v>
                </c:pt>
                <c:pt idx="227">
                  <c:v>40681</c:v>
                </c:pt>
                <c:pt idx="228">
                  <c:v>40674</c:v>
                </c:pt>
                <c:pt idx="229">
                  <c:v>40667</c:v>
                </c:pt>
                <c:pt idx="230">
                  <c:v>40660</c:v>
                </c:pt>
                <c:pt idx="231">
                  <c:v>40653</c:v>
                </c:pt>
                <c:pt idx="232">
                  <c:v>40646</c:v>
                </c:pt>
                <c:pt idx="233">
                  <c:v>40639</c:v>
                </c:pt>
                <c:pt idx="234">
                  <c:v>40632</c:v>
                </c:pt>
                <c:pt idx="235">
                  <c:v>40625</c:v>
                </c:pt>
                <c:pt idx="236">
                  <c:v>40618</c:v>
                </c:pt>
                <c:pt idx="237">
                  <c:v>40611</c:v>
                </c:pt>
                <c:pt idx="238">
                  <c:v>40604</c:v>
                </c:pt>
                <c:pt idx="239">
                  <c:v>40597</c:v>
                </c:pt>
                <c:pt idx="240">
                  <c:v>40590</c:v>
                </c:pt>
                <c:pt idx="241">
                  <c:v>40583</c:v>
                </c:pt>
                <c:pt idx="242">
                  <c:v>40576</c:v>
                </c:pt>
                <c:pt idx="243">
                  <c:v>40569</c:v>
                </c:pt>
                <c:pt idx="244">
                  <c:v>40562</c:v>
                </c:pt>
                <c:pt idx="245">
                  <c:v>40555</c:v>
                </c:pt>
                <c:pt idx="246">
                  <c:v>40548</c:v>
                </c:pt>
                <c:pt idx="247">
                  <c:v>40541</c:v>
                </c:pt>
                <c:pt idx="248">
                  <c:v>40534</c:v>
                </c:pt>
                <c:pt idx="249">
                  <c:v>40527</c:v>
                </c:pt>
                <c:pt idx="250">
                  <c:v>40520</c:v>
                </c:pt>
                <c:pt idx="251">
                  <c:v>40513</c:v>
                </c:pt>
                <c:pt idx="252">
                  <c:v>40506</c:v>
                </c:pt>
                <c:pt idx="253">
                  <c:v>40499</c:v>
                </c:pt>
                <c:pt idx="254">
                  <c:v>40492</c:v>
                </c:pt>
                <c:pt idx="255">
                  <c:v>40485</c:v>
                </c:pt>
                <c:pt idx="256">
                  <c:v>40478</c:v>
                </c:pt>
                <c:pt idx="257">
                  <c:v>40471</c:v>
                </c:pt>
                <c:pt idx="258">
                  <c:v>40464</c:v>
                </c:pt>
                <c:pt idx="259">
                  <c:v>40457</c:v>
                </c:pt>
                <c:pt idx="260">
                  <c:v>40450</c:v>
                </c:pt>
                <c:pt idx="261">
                  <c:v>40443</c:v>
                </c:pt>
                <c:pt idx="262">
                  <c:v>40436</c:v>
                </c:pt>
                <c:pt idx="263">
                  <c:v>40429</c:v>
                </c:pt>
                <c:pt idx="264">
                  <c:v>40422</c:v>
                </c:pt>
                <c:pt idx="265">
                  <c:v>40415</c:v>
                </c:pt>
                <c:pt idx="266">
                  <c:v>40408</c:v>
                </c:pt>
                <c:pt idx="267">
                  <c:v>40401</c:v>
                </c:pt>
                <c:pt idx="268">
                  <c:v>40394</c:v>
                </c:pt>
                <c:pt idx="269">
                  <c:v>40387</c:v>
                </c:pt>
                <c:pt idx="270">
                  <c:v>40380</c:v>
                </c:pt>
                <c:pt idx="271">
                  <c:v>40373</c:v>
                </c:pt>
                <c:pt idx="272">
                  <c:v>40366</c:v>
                </c:pt>
                <c:pt idx="273">
                  <c:v>40359</c:v>
                </c:pt>
                <c:pt idx="274">
                  <c:v>40352</c:v>
                </c:pt>
                <c:pt idx="275">
                  <c:v>40345</c:v>
                </c:pt>
                <c:pt idx="276">
                  <c:v>40338</c:v>
                </c:pt>
                <c:pt idx="277">
                  <c:v>40331</c:v>
                </c:pt>
                <c:pt idx="278">
                  <c:v>40324</c:v>
                </c:pt>
                <c:pt idx="279">
                  <c:v>40317</c:v>
                </c:pt>
                <c:pt idx="280">
                  <c:v>40310</c:v>
                </c:pt>
                <c:pt idx="281">
                  <c:v>40303</c:v>
                </c:pt>
                <c:pt idx="282">
                  <c:v>40296</c:v>
                </c:pt>
                <c:pt idx="283">
                  <c:v>40289</c:v>
                </c:pt>
                <c:pt idx="284">
                  <c:v>40282</c:v>
                </c:pt>
                <c:pt idx="285">
                  <c:v>40275</c:v>
                </c:pt>
                <c:pt idx="286">
                  <c:v>40268</c:v>
                </c:pt>
                <c:pt idx="287">
                  <c:v>40261</c:v>
                </c:pt>
                <c:pt idx="288">
                  <c:v>40254</c:v>
                </c:pt>
                <c:pt idx="289">
                  <c:v>40247</c:v>
                </c:pt>
                <c:pt idx="290">
                  <c:v>40240</c:v>
                </c:pt>
                <c:pt idx="291">
                  <c:v>40233</c:v>
                </c:pt>
                <c:pt idx="292">
                  <c:v>40226</c:v>
                </c:pt>
                <c:pt idx="293">
                  <c:v>40219</c:v>
                </c:pt>
                <c:pt idx="294">
                  <c:v>40212</c:v>
                </c:pt>
                <c:pt idx="295">
                  <c:v>40205</c:v>
                </c:pt>
                <c:pt idx="296">
                  <c:v>40198</c:v>
                </c:pt>
                <c:pt idx="297">
                  <c:v>40191</c:v>
                </c:pt>
                <c:pt idx="298">
                  <c:v>40184</c:v>
                </c:pt>
              </c:numCache>
            </c:numRef>
          </c:cat>
          <c:val>
            <c:numRef>
              <c:f>'Cash&amp;Deposits'!$E$6:$E$304</c:f>
              <c:numCache>
                <c:formatCode>General</c:formatCode>
                <c:ptCount val="299"/>
                <c:pt idx="0">
                  <c:v>2471.0059999999999</c:v>
                </c:pt>
                <c:pt idx="1">
                  <c:v>2629.2170000000001</c:v>
                </c:pt>
                <c:pt idx="2">
                  <c:v>2629.2170000000001</c:v>
                </c:pt>
                <c:pt idx="3">
                  <c:v>2578.1559999999999</c:v>
                </c:pt>
                <c:pt idx="4">
                  <c:v>2578.1559999999999</c:v>
                </c:pt>
                <c:pt idx="5">
                  <c:v>2455.6869999999999</c:v>
                </c:pt>
                <c:pt idx="6">
                  <c:v>2455.6869999999999</c:v>
                </c:pt>
                <c:pt idx="7">
                  <c:v>2511.6559999999999</c:v>
                </c:pt>
                <c:pt idx="8">
                  <c:v>2511.6559999999999</c:v>
                </c:pt>
                <c:pt idx="9">
                  <c:v>2537.0819999999999</c:v>
                </c:pt>
                <c:pt idx="10">
                  <c:v>2537.0819999999999</c:v>
                </c:pt>
                <c:pt idx="11">
                  <c:v>2418.1469999999999</c:v>
                </c:pt>
                <c:pt idx="12">
                  <c:v>2418.1469999999999</c:v>
                </c:pt>
                <c:pt idx="13">
                  <c:v>2488.373</c:v>
                </c:pt>
                <c:pt idx="14">
                  <c:v>2488.373</c:v>
                </c:pt>
                <c:pt idx="15">
                  <c:v>2461.1570000000002</c:v>
                </c:pt>
                <c:pt idx="16">
                  <c:v>2461.1570000000002</c:v>
                </c:pt>
                <c:pt idx="17">
                  <c:v>2476.6030000000001</c:v>
                </c:pt>
                <c:pt idx="18">
                  <c:v>2476.6030000000001</c:v>
                </c:pt>
                <c:pt idx="19">
                  <c:v>2518.0740000000001</c:v>
                </c:pt>
                <c:pt idx="20">
                  <c:v>2518.0740000000001</c:v>
                </c:pt>
                <c:pt idx="21">
                  <c:v>2536.5529999999999</c:v>
                </c:pt>
                <c:pt idx="22">
                  <c:v>2536.5529999999999</c:v>
                </c:pt>
                <c:pt idx="23">
                  <c:v>2683.7159999999999</c:v>
                </c:pt>
                <c:pt idx="24">
                  <c:v>2683.7159999999999</c:v>
                </c:pt>
                <c:pt idx="25">
                  <c:v>2592.8919999999998</c:v>
                </c:pt>
                <c:pt idx="26">
                  <c:v>2592.8919999999998</c:v>
                </c:pt>
                <c:pt idx="27">
                  <c:v>2648.5790000000002</c:v>
                </c:pt>
                <c:pt idx="28">
                  <c:v>2648.5790000000002</c:v>
                </c:pt>
                <c:pt idx="29">
                  <c:v>2326.8069999999998</c:v>
                </c:pt>
                <c:pt idx="30">
                  <c:v>2326.8069999999998</c:v>
                </c:pt>
                <c:pt idx="31">
                  <c:v>2416.9740000000002</c:v>
                </c:pt>
                <c:pt idx="32">
                  <c:v>2416.9740000000002</c:v>
                </c:pt>
                <c:pt idx="33">
                  <c:v>2577.8270000000002</c:v>
                </c:pt>
                <c:pt idx="34">
                  <c:v>2577.8270000000002</c:v>
                </c:pt>
                <c:pt idx="35">
                  <c:v>2649.2910000000002</c:v>
                </c:pt>
                <c:pt idx="36">
                  <c:v>2649.2910000000002</c:v>
                </c:pt>
                <c:pt idx="37">
                  <c:v>2502.9250000000002</c:v>
                </c:pt>
                <c:pt idx="38">
                  <c:v>2502.9250000000002</c:v>
                </c:pt>
                <c:pt idx="39">
                  <c:v>2655.5509999999999</c:v>
                </c:pt>
                <c:pt idx="40">
                  <c:v>2655.5509999999999</c:v>
                </c:pt>
                <c:pt idx="41">
                  <c:v>2354.364</c:v>
                </c:pt>
                <c:pt idx="42">
                  <c:v>2354.364</c:v>
                </c:pt>
                <c:pt idx="43">
                  <c:v>2413.884</c:v>
                </c:pt>
                <c:pt idx="44">
                  <c:v>2413.884</c:v>
                </c:pt>
                <c:pt idx="45">
                  <c:v>2481.9</c:v>
                </c:pt>
                <c:pt idx="46">
                  <c:v>2481.9</c:v>
                </c:pt>
                <c:pt idx="47">
                  <c:v>2566.7829999999999</c:v>
                </c:pt>
                <c:pt idx="48">
                  <c:v>2566.7829999999999</c:v>
                </c:pt>
                <c:pt idx="49">
                  <c:v>2693.4830000000002</c:v>
                </c:pt>
                <c:pt idx="50">
                  <c:v>2693.4830000000002</c:v>
                </c:pt>
                <c:pt idx="51">
                  <c:v>2632.386</c:v>
                </c:pt>
                <c:pt idx="52">
                  <c:v>2632.386</c:v>
                </c:pt>
                <c:pt idx="53">
                  <c:v>2717.43</c:v>
                </c:pt>
                <c:pt idx="54">
                  <c:v>2717.43</c:v>
                </c:pt>
                <c:pt idx="55">
                  <c:v>2685.576</c:v>
                </c:pt>
                <c:pt idx="56">
                  <c:v>2685.576</c:v>
                </c:pt>
                <c:pt idx="57">
                  <c:v>2706.5079999999998</c:v>
                </c:pt>
                <c:pt idx="58">
                  <c:v>2706.5079999999998</c:v>
                </c:pt>
                <c:pt idx="59">
                  <c:v>2711.0940000000001</c:v>
                </c:pt>
                <c:pt idx="60">
                  <c:v>2711.0940000000001</c:v>
                </c:pt>
                <c:pt idx="61">
                  <c:v>2632.6030000000001</c:v>
                </c:pt>
                <c:pt idx="62">
                  <c:v>2632.6030000000001</c:v>
                </c:pt>
                <c:pt idx="63">
                  <c:v>2517.4070000000002</c:v>
                </c:pt>
                <c:pt idx="64">
                  <c:v>2517.4070000000002</c:v>
                </c:pt>
                <c:pt idx="65">
                  <c:v>2589.9369999999999</c:v>
                </c:pt>
                <c:pt idx="66">
                  <c:v>2589.9369999999999</c:v>
                </c:pt>
                <c:pt idx="67">
                  <c:v>2614.6529999999998</c:v>
                </c:pt>
                <c:pt idx="68">
                  <c:v>2614.6529999999998</c:v>
                </c:pt>
                <c:pt idx="69">
                  <c:v>2554.3809999999999</c:v>
                </c:pt>
                <c:pt idx="70">
                  <c:v>2554.3809999999999</c:v>
                </c:pt>
                <c:pt idx="71">
                  <c:v>2536.799</c:v>
                </c:pt>
                <c:pt idx="72">
                  <c:v>2536.799</c:v>
                </c:pt>
                <c:pt idx="73">
                  <c:v>2538.116</c:v>
                </c:pt>
                <c:pt idx="74">
                  <c:v>2538.116</c:v>
                </c:pt>
                <c:pt idx="75">
                  <c:v>2631.26</c:v>
                </c:pt>
                <c:pt idx="76">
                  <c:v>2631.26</c:v>
                </c:pt>
                <c:pt idx="77">
                  <c:v>2516.8560000000002</c:v>
                </c:pt>
                <c:pt idx="78">
                  <c:v>2516.8560000000002</c:v>
                </c:pt>
                <c:pt idx="79">
                  <c:v>2574.1559999999999</c:v>
                </c:pt>
                <c:pt idx="80">
                  <c:v>2574.1559999999999</c:v>
                </c:pt>
                <c:pt idx="81">
                  <c:v>2528.1529999999998</c:v>
                </c:pt>
                <c:pt idx="82">
                  <c:v>2528.1529999999998</c:v>
                </c:pt>
                <c:pt idx="83">
                  <c:v>2532.547</c:v>
                </c:pt>
                <c:pt idx="84">
                  <c:v>2532.547</c:v>
                </c:pt>
                <c:pt idx="85">
                  <c:v>2450.9250000000002</c:v>
                </c:pt>
                <c:pt idx="86">
                  <c:v>2450.9250000000002</c:v>
                </c:pt>
                <c:pt idx="87">
                  <c:v>2449.634</c:v>
                </c:pt>
                <c:pt idx="88">
                  <c:v>2449.634</c:v>
                </c:pt>
                <c:pt idx="89">
                  <c:v>2342.076</c:v>
                </c:pt>
                <c:pt idx="90">
                  <c:v>2342.076</c:v>
                </c:pt>
                <c:pt idx="91">
                  <c:v>2428.7159999999999</c:v>
                </c:pt>
                <c:pt idx="92">
                  <c:v>2428.7159999999999</c:v>
                </c:pt>
                <c:pt idx="93">
                  <c:v>2440.7539999999999</c:v>
                </c:pt>
                <c:pt idx="94">
                  <c:v>2440.7539999999999</c:v>
                </c:pt>
                <c:pt idx="95">
                  <c:v>2395.1559999999999</c:v>
                </c:pt>
                <c:pt idx="96">
                  <c:v>2395.1559999999999</c:v>
                </c:pt>
                <c:pt idx="97">
                  <c:v>2378.5729999999999</c:v>
                </c:pt>
                <c:pt idx="98">
                  <c:v>2378.5729999999999</c:v>
                </c:pt>
                <c:pt idx="99">
                  <c:v>2317.7979999999998</c:v>
                </c:pt>
                <c:pt idx="100">
                  <c:v>2317.7979999999998</c:v>
                </c:pt>
                <c:pt idx="101">
                  <c:v>2305.9960000000001</c:v>
                </c:pt>
                <c:pt idx="102">
                  <c:v>2305.9960000000001</c:v>
                </c:pt>
                <c:pt idx="103">
                  <c:v>2221.9490000000001</c:v>
                </c:pt>
                <c:pt idx="104">
                  <c:v>2221.9490000000001</c:v>
                </c:pt>
                <c:pt idx="105">
                  <c:v>2218.4360000000001</c:v>
                </c:pt>
                <c:pt idx="106">
                  <c:v>2218.4360000000001</c:v>
                </c:pt>
                <c:pt idx="107">
                  <c:v>2173.67</c:v>
                </c:pt>
                <c:pt idx="108">
                  <c:v>2173.67</c:v>
                </c:pt>
                <c:pt idx="109">
                  <c:v>2123.0070000000001</c:v>
                </c:pt>
                <c:pt idx="110">
                  <c:v>2123.0070000000001</c:v>
                </c:pt>
                <c:pt idx="111">
                  <c:v>2098.7249999999999</c:v>
                </c:pt>
                <c:pt idx="112">
                  <c:v>2098.7249999999999</c:v>
                </c:pt>
                <c:pt idx="113">
                  <c:v>2031.0719999999999</c:v>
                </c:pt>
                <c:pt idx="114">
                  <c:v>2031.0719999999999</c:v>
                </c:pt>
                <c:pt idx="115">
                  <c:v>1983.2719999999999</c:v>
                </c:pt>
                <c:pt idx="116">
                  <c:v>1983.2719999999999</c:v>
                </c:pt>
                <c:pt idx="117">
                  <c:v>1922.55</c:v>
                </c:pt>
                <c:pt idx="118">
                  <c:v>1922.55</c:v>
                </c:pt>
                <c:pt idx="119">
                  <c:v>1963.277</c:v>
                </c:pt>
                <c:pt idx="120">
                  <c:v>1963.277</c:v>
                </c:pt>
                <c:pt idx="121">
                  <c:v>1897.0530000000001</c:v>
                </c:pt>
                <c:pt idx="122">
                  <c:v>1897.0530000000001</c:v>
                </c:pt>
                <c:pt idx="123">
                  <c:v>1823.3209999999999</c:v>
                </c:pt>
                <c:pt idx="124">
                  <c:v>1823.3209999999999</c:v>
                </c:pt>
                <c:pt idx="125">
                  <c:v>1751.9829999999999</c:v>
                </c:pt>
                <c:pt idx="126">
                  <c:v>1751.9829999999999</c:v>
                </c:pt>
                <c:pt idx="127">
                  <c:v>1793.5419999999999</c:v>
                </c:pt>
                <c:pt idx="128">
                  <c:v>1793.5419999999999</c:v>
                </c:pt>
                <c:pt idx="129">
                  <c:v>1726.5519999999999</c:v>
                </c:pt>
                <c:pt idx="130">
                  <c:v>1726.5519999999999</c:v>
                </c:pt>
                <c:pt idx="131">
                  <c:v>1697.2909999999999</c:v>
                </c:pt>
                <c:pt idx="132">
                  <c:v>1697.2909999999999</c:v>
                </c:pt>
                <c:pt idx="133">
                  <c:v>1648.1030000000001</c:v>
                </c:pt>
                <c:pt idx="134">
                  <c:v>1648.1030000000001</c:v>
                </c:pt>
                <c:pt idx="135">
                  <c:v>1615.4380000000001</c:v>
                </c:pt>
                <c:pt idx="136">
                  <c:v>1615.4380000000001</c:v>
                </c:pt>
                <c:pt idx="137">
                  <c:v>1578.1849999999999</c:v>
                </c:pt>
                <c:pt idx="138">
                  <c:v>1578.1849999999999</c:v>
                </c:pt>
                <c:pt idx="139">
                  <c:v>1521.89</c:v>
                </c:pt>
                <c:pt idx="140">
                  <c:v>1521.89</c:v>
                </c:pt>
                <c:pt idx="141">
                  <c:v>1463.479</c:v>
                </c:pt>
                <c:pt idx="142">
                  <c:v>1463.479</c:v>
                </c:pt>
                <c:pt idx="143">
                  <c:v>1452.682</c:v>
                </c:pt>
                <c:pt idx="144">
                  <c:v>1452.682</c:v>
                </c:pt>
                <c:pt idx="145">
                  <c:v>1463.864</c:v>
                </c:pt>
                <c:pt idx="146">
                  <c:v>1463.864</c:v>
                </c:pt>
                <c:pt idx="147">
                  <c:v>1427.751</c:v>
                </c:pt>
                <c:pt idx="148">
                  <c:v>1427.751</c:v>
                </c:pt>
                <c:pt idx="149">
                  <c:v>1438.7760000000001</c:v>
                </c:pt>
                <c:pt idx="150">
                  <c:v>1438.7760000000001</c:v>
                </c:pt>
                <c:pt idx="151">
                  <c:v>1422.92</c:v>
                </c:pt>
                <c:pt idx="152">
                  <c:v>1422.92</c:v>
                </c:pt>
                <c:pt idx="153">
                  <c:v>1423.71</c:v>
                </c:pt>
                <c:pt idx="154">
                  <c:v>1423.71</c:v>
                </c:pt>
                <c:pt idx="155">
                  <c:v>1371.2370000000001</c:v>
                </c:pt>
                <c:pt idx="156">
                  <c:v>1371.2370000000001</c:v>
                </c:pt>
                <c:pt idx="157">
                  <c:v>1424.684</c:v>
                </c:pt>
                <c:pt idx="158">
                  <c:v>1424.684</c:v>
                </c:pt>
                <c:pt idx="159">
                  <c:v>1450.82</c:v>
                </c:pt>
                <c:pt idx="160">
                  <c:v>1450.82</c:v>
                </c:pt>
                <c:pt idx="161">
                  <c:v>1480.8489999999999</c:v>
                </c:pt>
                <c:pt idx="162">
                  <c:v>1480.8489999999999</c:v>
                </c:pt>
                <c:pt idx="163">
                  <c:v>1502.63</c:v>
                </c:pt>
                <c:pt idx="164">
                  <c:v>1502.63</c:v>
                </c:pt>
                <c:pt idx="165">
                  <c:v>1490.8989999999999</c:v>
                </c:pt>
                <c:pt idx="166">
                  <c:v>1490.8989999999999</c:v>
                </c:pt>
                <c:pt idx="167">
                  <c:v>1459.9549999999999</c:v>
                </c:pt>
                <c:pt idx="168">
                  <c:v>1459.9549999999999</c:v>
                </c:pt>
                <c:pt idx="169">
                  <c:v>1428.4190000000001</c:v>
                </c:pt>
                <c:pt idx="170">
                  <c:v>1428.4190000000001</c:v>
                </c:pt>
                <c:pt idx="171">
                  <c:v>1492.6489999999999</c:v>
                </c:pt>
                <c:pt idx="172">
                  <c:v>1492.6489999999999</c:v>
                </c:pt>
                <c:pt idx="173">
                  <c:v>1463.8889999999999</c:v>
                </c:pt>
                <c:pt idx="174">
                  <c:v>1463.8889999999999</c:v>
                </c:pt>
                <c:pt idx="175">
                  <c:v>1452.739</c:v>
                </c:pt>
                <c:pt idx="176">
                  <c:v>1452.739</c:v>
                </c:pt>
                <c:pt idx="177">
                  <c:v>1459.723</c:v>
                </c:pt>
                <c:pt idx="178">
                  <c:v>1459.723</c:v>
                </c:pt>
                <c:pt idx="179">
                  <c:v>1511.933</c:v>
                </c:pt>
                <c:pt idx="180">
                  <c:v>1511.933</c:v>
                </c:pt>
                <c:pt idx="181">
                  <c:v>1490.9359999999999</c:v>
                </c:pt>
                <c:pt idx="182">
                  <c:v>1490.9359999999999</c:v>
                </c:pt>
                <c:pt idx="183">
                  <c:v>1507.6880000000001</c:v>
                </c:pt>
                <c:pt idx="184">
                  <c:v>1507.6880000000001</c:v>
                </c:pt>
                <c:pt idx="185">
                  <c:v>1548.867</c:v>
                </c:pt>
                <c:pt idx="186">
                  <c:v>1548.867</c:v>
                </c:pt>
                <c:pt idx="187">
                  <c:v>1582.789</c:v>
                </c:pt>
                <c:pt idx="188">
                  <c:v>1582.789</c:v>
                </c:pt>
                <c:pt idx="189">
                  <c:v>1537.7190000000001</c:v>
                </c:pt>
                <c:pt idx="190">
                  <c:v>1537.7190000000001</c:v>
                </c:pt>
                <c:pt idx="191">
                  <c:v>1511.299</c:v>
                </c:pt>
                <c:pt idx="192">
                  <c:v>1511.299</c:v>
                </c:pt>
                <c:pt idx="193">
                  <c:v>1526.239</c:v>
                </c:pt>
                <c:pt idx="194">
                  <c:v>1526.239</c:v>
                </c:pt>
                <c:pt idx="195">
                  <c:v>1473.85</c:v>
                </c:pt>
                <c:pt idx="196">
                  <c:v>1473.85</c:v>
                </c:pt>
                <c:pt idx="197">
                  <c:v>1531.0119999999999</c:v>
                </c:pt>
                <c:pt idx="198">
                  <c:v>1531.0119999999999</c:v>
                </c:pt>
                <c:pt idx="199">
                  <c:v>1463.261</c:v>
                </c:pt>
                <c:pt idx="200">
                  <c:v>1463.261</c:v>
                </c:pt>
                <c:pt idx="201">
                  <c:v>1534.8019999999999</c:v>
                </c:pt>
                <c:pt idx="202">
                  <c:v>1534.8019999999999</c:v>
                </c:pt>
                <c:pt idx="203">
                  <c:v>1518.05</c:v>
                </c:pt>
                <c:pt idx="204">
                  <c:v>1518.05</c:v>
                </c:pt>
                <c:pt idx="205">
                  <c:v>1574.4659999999999</c:v>
                </c:pt>
                <c:pt idx="206">
                  <c:v>1574.4659999999999</c:v>
                </c:pt>
                <c:pt idx="207">
                  <c:v>1544.163</c:v>
                </c:pt>
                <c:pt idx="208">
                  <c:v>1544.163</c:v>
                </c:pt>
                <c:pt idx="209">
                  <c:v>1550.95</c:v>
                </c:pt>
                <c:pt idx="210">
                  <c:v>1550.95</c:v>
                </c:pt>
                <c:pt idx="211">
                  <c:v>1571.0830000000001</c:v>
                </c:pt>
                <c:pt idx="212">
                  <c:v>1571.0830000000001</c:v>
                </c:pt>
                <c:pt idx="213">
                  <c:v>1580.2560000000001</c:v>
                </c:pt>
                <c:pt idx="214">
                  <c:v>1580.2560000000001</c:v>
                </c:pt>
                <c:pt idx="215">
                  <c:v>1604.4290000000001</c:v>
                </c:pt>
                <c:pt idx="216">
                  <c:v>1604.4290000000001</c:v>
                </c:pt>
                <c:pt idx="217">
                  <c:v>1610.4</c:v>
                </c:pt>
                <c:pt idx="218">
                  <c:v>1610.4</c:v>
                </c:pt>
                <c:pt idx="219">
                  <c:v>1637.002</c:v>
                </c:pt>
                <c:pt idx="220">
                  <c:v>1637.002</c:v>
                </c:pt>
                <c:pt idx="221">
                  <c:v>1569.953</c:v>
                </c:pt>
                <c:pt idx="222">
                  <c:v>1569.953</c:v>
                </c:pt>
                <c:pt idx="223">
                  <c:v>1612.366</c:v>
                </c:pt>
                <c:pt idx="224">
                  <c:v>1612.366</c:v>
                </c:pt>
                <c:pt idx="225">
                  <c:v>1551.009</c:v>
                </c:pt>
                <c:pt idx="226">
                  <c:v>1551.009</c:v>
                </c:pt>
                <c:pt idx="227">
                  <c:v>1504.3330000000001</c:v>
                </c:pt>
                <c:pt idx="228">
                  <c:v>1504.3330000000001</c:v>
                </c:pt>
                <c:pt idx="229">
                  <c:v>1435.5129999999999</c:v>
                </c:pt>
                <c:pt idx="230">
                  <c:v>1435.5129999999999</c:v>
                </c:pt>
                <c:pt idx="231">
                  <c:v>1476.875</c:v>
                </c:pt>
                <c:pt idx="232">
                  <c:v>1476.875</c:v>
                </c:pt>
                <c:pt idx="233">
                  <c:v>1433.7070000000001</c:v>
                </c:pt>
                <c:pt idx="234">
                  <c:v>1433.7070000000001</c:v>
                </c:pt>
                <c:pt idx="235">
                  <c:v>1368.586</c:v>
                </c:pt>
                <c:pt idx="236">
                  <c:v>1368.586</c:v>
                </c:pt>
                <c:pt idx="237">
                  <c:v>1296.8219999999999</c:v>
                </c:pt>
                <c:pt idx="238">
                  <c:v>1296.8219999999999</c:v>
                </c:pt>
                <c:pt idx="239">
                  <c:v>1218.5139999999999</c:v>
                </c:pt>
                <c:pt idx="240">
                  <c:v>1218.5139999999999</c:v>
                </c:pt>
                <c:pt idx="241">
                  <c:v>1093.6310000000001</c:v>
                </c:pt>
                <c:pt idx="242">
                  <c:v>1093.6310000000001</c:v>
                </c:pt>
                <c:pt idx="243">
                  <c:v>1042.9849999999999</c:v>
                </c:pt>
                <c:pt idx="244">
                  <c:v>1042.9849999999999</c:v>
                </c:pt>
                <c:pt idx="245">
                  <c:v>1011.261</c:v>
                </c:pt>
                <c:pt idx="246">
                  <c:v>1011.261</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numCache>
            </c:numRef>
          </c:val>
          <c:smooth val="0"/>
        </c:ser>
        <c:dLbls>
          <c:showLegendKey val="0"/>
          <c:showVal val="0"/>
          <c:showCatName val="0"/>
          <c:showSerName val="0"/>
          <c:showPercent val="0"/>
          <c:showBubbleSize val="0"/>
        </c:dLbls>
        <c:marker val="1"/>
        <c:smooth val="0"/>
        <c:axId val="155261184"/>
        <c:axId val="155602944"/>
      </c:lineChart>
      <c:dateAx>
        <c:axId val="155261184"/>
        <c:scaling>
          <c:orientation val="minMax"/>
        </c:scaling>
        <c:delete val="0"/>
        <c:axPos val="b"/>
        <c:numFmt formatCode="m/d/yyyy" sourceLinked="1"/>
        <c:majorTickMark val="out"/>
        <c:minorTickMark val="none"/>
        <c:tickLblPos val="nextTo"/>
        <c:crossAx val="155602944"/>
        <c:crosses val="autoZero"/>
        <c:auto val="1"/>
        <c:lblOffset val="100"/>
        <c:baseTimeUnit val="days"/>
        <c:majorUnit val="6"/>
        <c:majorTimeUnit val="months"/>
      </c:dateAx>
      <c:valAx>
        <c:axId val="155602944"/>
        <c:scaling>
          <c:orientation val="minMax"/>
        </c:scaling>
        <c:delete val="0"/>
        <c:axPos val="l"/>
        <c:title>
          <c:tx>
            <c:rich>
              <a:bodyPr rot="-5400000" vert="horz"/>
              <a:lstStyle/>
              <a:p>
                <a:pPr>
                  <a:defRPr/>
                </a:pPr>
                <a:r>
                  <a:rPr lang="en-US"/>
                  <a:t>Excess Reserves ($bb)</a:t>
                </a:r>
              </a:p>
            </c:rich>
          </c:tx>
          <c:layout/>
          <c:overlay val="0"/>
        </c:title>
        <c:numFmt formatCode="General" sourceLinked="1"/>
        <c:majorTickMark val="out"/>
        <c:minorTickMark val="none"/>
        <c:tickLblPos val="nextTo"/>
        <c:crossAx val="155261184"/>
        <c:crosses val="autoZero"/>
        <c:crossBetween val="between"/>
      </c:valAx>
      <c:spPr>
        <a:ln>
          <a:noFill/>
        </a:ln>
      </c:spPr>
    </c:plotArea>
    <c:plotVisOnly val="1"/>
    <c:dispBlanksAs val="gap"/>
    <c:showDLblsOverMax val="0"/>
  </c:chart>
  <c:spPr>
    <a:ln>
      <a:noFill/>
    </a:ln>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2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7"/>
            <a:ext cx="5546725" cy="4147189"/>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268"/>
            <a:fld id="{1FE077EC-684A-4FD9-A6C3-9AE90D8B81D6}" type="slidenum">
              <a:rPr lang="en-US" smtClean="0"/>
              <a:pPr defTabSz="911268"/>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3</a:t>
            </a:fld>
            <a:endParaRPr lang="en-US" dirty="0"/>
          </a:p>
        </p:txBody>
      </p:sp>
    </p:spTree>
    <p:extLst>
      <p:ext uri="{BB962C8B-B14F-4D97-AF65-F5344CB8AC3E}">
        <p14:creationId xmlns:p14="http://schemas.microsoft.com/office/powerpoint/2010/main" val="468882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4</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5</a:t>
            </a:fld>
            <a:endParaRPr lang="en-US" dirty="0"/>
          </a:p>
        </p:txBody>
      </p:sp>
    </p:spTree>
    <p:extLst>
      <p:ext uri="{BB962C8B-B14F-4D97-AF65-F5344CB8AC3E}">
        <p14:creationId xmlns:p14="http://schemas.microsoft.com/office/powerpoint/2010/main" val="2452062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117281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5719005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83693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8391447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5322527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3333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6878901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78607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31981658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315712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17509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0461596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283501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6436720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4013545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38293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95564" indent="-195564">
              <a:lnSpc>
                <a:spcPct val="100000"/>
              </a:lnSpc>
              <a:spcAft>
                <a:spcPts val="649"/>
              </a:spcAft>
              <a:buClr>
                <a:schemeClr val="bg2"/>
              </a:buClr>
              <a:buFont typeface="Arial" pitchFamily="34" charset="0"/>
              <a:buChar char="•"/>
              <a:defRPr>
                <a:latin typeface="Calisto MT" pitchFamily="18" charset="0"/>
                <a:cs typeface="Arial" pitchFamily="34" charset="0"/>
              </a:defRPr>
            </a:lvl1pPr>
            <a:lvl2pPr marL="478612" indent="-185270">
              <a:lnSpc>
                <a:spcPct val="100000"/>
              </a:lnSpc>
              <a:spcAft>
                <a:spcPts val="649"/>
              </a:spcAft>
              <a:buClr>
                <a:schemeClr val="bg2"/>
              </a:buClr>
              <a:buFont typeface="Arial" pitchFamily="34" charset="0"/>
              <a:buChar char="−"/>
              <a:tabLst>
                <a:tab pos="478612" algn="l"/>
              </a:tabLst>
              <a:defRPr sz="1262">
                <a:latin typeface="Calisto MT" pitchFamily="18" charset="0"/>
                <a:cs typeface="Arial" pitchFamily="34" charset="0"/>
              </a:defRPr>
            </a:lvl2pPr>
            <a:lvl3pPr marL="576396" indent="-97782">
              <a:lnSpc>
                <a:spcPct val="100000"/>
              </a:lnSpc>
              <a:buClr>
                <a:schemeClr val="bg2"/>
              </a:buClr>
              <a:buFont typeface="Arial" pitchFamily="34" charset="0"/>
              <a:buChar char="•"/>
              <a:defRPr>
                <a:latin typeface="Calisto MT" pitchFamily="18" charset="0"/>
                <a:cs typeface="Arial" pitchFamily="34" charset="0"/>
              </a:defRPr>
            </a:lvl3pPr>
            <a:lvl4pPr marL="773671" indent="-197277">
              <a:lnSpc>
                <a:spcPct val="100000"/>
              </a:lnSpc>
              <a:buClr>
                <a:schemeClr val="bg2"/>
              </a:buClr>
              <a:buFont typeface="Arial" pitchFamily="34" charset="0"/>
              <a:buChar char="•"/>
              <a:defRPr>
                <a:latin typeface="Calisto MT" pitchFamily="18" charset="0"/>
                <a:cs typeface="Arial" pitchFamily="34" charset="0"/>
              </a:defRPr>
            </a:lvl4pPr>
            <a:lvl5pPr marL="746224" indent="-130375">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8805" tIns="49403" rIns="98805" bIns="49403" numCol="1" anchor="t" anchorCtr="0" compatLnSpc="1">
            <a:prstTxWarp prst="textNoShape">
              <a:avLst/>
            </a:prstTxWarp>
          </a:bodyPr>
          <a:lstStyle/>
          <a:p>
            <a:pPr defTabSz="1005134" fontAlgn="auto">
              <a:spcBef>
                <a:spcPts val="0"/>
              </a:spcBef>
              <a:spcAft>
                <a:spcPts val="0"/>
              </a:spcAft>
            </a:pPr>
            <a:endParaRPr lang="en-US" sz="1747">
              <a:solidFill>
                <a:srgbClr val="FFFFFF"/>
              </a:solidFill>
              <a:latin typeface="Calibri"/>
            </a:endParaRPr>
          </a:p>
        </p:txBody>
      </p:sp>
      <p:sp>
        <p:nvSpPr>
          <p:cNvPr id="7" name="Rectangle 27"/>
          <p:cNvSpPr>
            <a:spLocks noGrp="1" noChangeArrowheads="1"/>
          </p:cNvSpPr>
          <p:nvPr>
            <p:ph type="sldNum" sz="quarter" idx="4"/>
          </p:nvPr>
        </p:nvSpPr>
        <p:spPr>
          <a:xfrm>
            <a:off x="8670716" y="7404219"/>
            <a:ext cx="975207" cy="256673"/>
          </a:xfrm>
          <a:prstGeom prst="rect">
            <a:avLst/>
          </a:prstGeom>
          <a:noFill/>
          <a:ln/>
        </p:spPr>
        <p:txBody>
          <a:bodyPr anchor="ctr" anchorCtr="0">
            <a:spAutoFit/>
          </a:bodyPr>
          <a:lstStyle>
            <a:lvl1pPr>
              <a:defRPr lang="en-US" sz="1068" cap="small" baseline="0" smtClean="0">
                <a:solidFill>
                  <a:schemeClr val="tx1"/>
                </a:solidFill>
                <a:latin typeface="Calisto MT" pitchFamily="18" charset="0"/>
              </a:defRPr>
            </a:lvl1pPr>
          </a:lstStyle>
          <a:p>
            <a:pPr defTabSz="1005134"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1005134"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53" baseline="0"/>
            </a:lvl1pPr>
          </a:lstStyle>
          <a:p>
            <a:pPr lvl="0"/>
            <a:endParaRPr lang="en-US" dirty="0" smtClean="0"/>
          </a:p>
        </p:txBody>
      </p:sp>
      <p:sp>
        <p:nvSpPr>
          <p:cNvPr id="6" name="Text Placeholder 8"/>
          <p:cNvSpPr>
            <a:spLocks noGrp="1"/>
          </p:cNvSpPr>
          <p:nvPr>
            <p:ph type="body" sz="quarter" idx="10" hasCustomPrompt="1"/>
          </p:nvPr>
        </p:nvSpPr>
        <p:spPr>
          <a:xfrm>
            <a:off x="187100" y="6981679"/>
            <a:ext cx="9629154" cy="226580"/>
          </a:xfrm>
        </p:spPr>
        <p:txBody>
          <a:bodyPr wrap="square" anchor="b" anchorCtr="0">
            <a:spAutoFit/>
          </a:bodyPr>
          <a:lstStyle>
            <a:lvl1pPr marL="0" indent="0">
              <a:buNone/>
              <a:defRPr sz="873"/>
            </a:lvl1pPr>
          </a:lstStyle>
          <a:p>
            <a:pPr lvl="0"/>
            <a:r>
              <a:rPr lang="en-US" dirty="0" smtClean="0"/>
              <a:t>Click to add footnote</a:t>
            </a:r>
            <a:endParaRPr lang="en-US" dirty="0"/>
          </a:p>
        </p:txBody>
      </p:sp>
    </p:spTree>
    <p:extLst>
      <p:ext uri="{BB962C8B-B14F-4D97-AF65-F5344CB8AC3E}">
        <p14:creationId xmlns:p14="http://schemas.microsoft.com/office/powerpoint/2010/main" val="1179749059"/>
      </p:ext>
    </p:extLst>
  </p:cSld>
  <p:clrMapOvr>
    <a:masterClrMapping/>
  </p:clrMapOvr>
  <p:transition>
    <p:fade/>
  </p:transition>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2630378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566843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4833213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2481901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3148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89823" indent="-189823">
              <a:lnSpc>
                <a:spcPct val="100000"/>
              </a:lnSpc>
              <a:spcAft>
                <a:spcPts val="630"/>
              </a:spcAft>
              <a:buClr>
                <a:schemeClr val="bg2"/>
              </a:buClr>
              <a:buFont typeface="Arial" pitchFamily="34" charset="0"/>
              <a:buChar char="•"/>
              <a:defRPr>
                <a:latin typeface="Calisto MT" pitchFamily="18" charset="0"/>
                <a:cs typeface="Arial" pitchFamily="34" charset="0"/>
              </a:defRPr>
            </a:lvl1pPr>
            <a:lvl2pPr marL="464560" indent="-179830">
              <a:lnSpc>
                <a:spcPct val="100000"/>
              </a:lnSpc>
              <a:spcAft>
                <a:spcPts val="630"/>
              </a:spcAft>
              <a:buClr>
                <a:schemeClr val="bg2"/>
              </a:buClr>
              <a:buFont typeface="Arial" pitchFamily="34" charset="0"/>
              <a:buChar char="−"/>
              <a:tabLst>
                <a:tab pos="464560" algn="l"/>
              </a:tabLst>
              <a:defRPr sz="1225">
                <a:latin typeface="Calisto MT" pitchFamily="18" charset="0"/>
                <a:cs typeface="Arial" pitchFamily="34" charset="0"/>
              </a:defRPr>
            </a:lvl2pPr>
            <a:lvl3pPr marL="559473" indent="-94911">
              <a:lnSpc>
                <a:spcPct val="100000"/>
              </a:lnSpc>
              <a:buClr>
                <a:schemeClr val="bg2"/>
              </a:buClr>
              <a:buFont typeface="Arial" pitchFamily="34" charset="0"/>
              <a:buChar char="•"/>
              <a:defRPr>
                <a:latin typeface="Calisto MT" pitchFamily="18" charset="0"/>
                <a:cs typeface="Arial" pitchFamily="34" charset="0"/>
              </a:defRPr>
            </a:lvl3pPr>
            <a:lvl4pPr marL="750956" indent="-191485">
              <a:lnSpc>
                <a:spcPct val="100000"/>
              </a:lnSpc>
              <a:buClr>
                <a:schemeClr val="bg2"/>
              </a:buClr>
              <a:buFont typeface="Arial" pitchFamily="34" charset="0"/>
              <a:buChar char="•"/>
              <a:defRPr>
                <a:latin typeface="Calisto MT" pitchFamily="18" charset="0"/>
                <a:cs typeface="Arial" pitchFamily="34" charset="0"/>
              </a:defRPr>
            </a:lvl4pPr>
            <a:lvl5pPr marL="724315" indent="-126547">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5899" tIns="47950" rIns="95899" bIns="47950" numCol="1" anchor="t" anchorCtr="0" compatLnSpc="1">
            <a:prstTxWarp prst="textNoShape">
              <a:avLst/>
            </a:prstTxWarp>
          </a:bodyPr>
          <a:lstStyle/>
          <a:p>
            <a:pPr defTabSz="975623" fontAlgn="auto">
              <a:spcBef>
                <a:spcPts val="0"/>
              </a:spcBef>
              <a:spcAft>
                <a:spcPts val="0"/>
              </a:spcAft>
            </a:pPr>
            <a:endParaRPr lang="en-US" sz="1696">
              <a:solidFill>
                <a:srgbClr val="FFFFFF"/>
              </a:solidFill>
              <a:latin typeface="Calibri"/>
            </a:endParaRPr>
          </a:p>
        </p:txBody>
      </p:sp>
      <p:sp>
        <p:nvSpPr>
          <p:cNvPr id="7" name="Rectangle 27"/>
          <p:cNvSpPr>
            <a:spLocks noGrp="1" noChangeArrowheads="1"/>
          </p:cNvSpPr>
          <p:nvPr>
            <p:ph type="sldNum" sz="quarter" idx="4"/>
          </p:nvPr>
        </p:nvSpPr>
        <p:spPr>
          <a:xfrm>
            <a:off x="8670716" y="7406689"/>
            <a:ext cx="975207" cy="251736"/>
          </a:xfrm>
          <a:prstGeom prst="rect">
            <a:avLst/>
          </a:prstGeom>
          <a:noFill/>
          <a:ln/>
        </p:spPr>
        <p:txBody>
          <a:bodyPr anchor="ctr" anchorCtr="0">
            <a:spAutoFit/>
          </a:bodyPr>
          <a:lstStyle>
            <a:lvl1pPr>
              <a:defRPr lang="en-US" sz="1036" cap="small" baseline="0" smtClean="0">
                <a:solidFill>
                  <a:schemeClr val="tx1"/>
                </a:solidFill>
                <a:latin typeface="Calisto MT" pitchFamily="18" charset="0"/>
              </a:defRPr>
            </a:lvl1pPr>
          </a:lstStyle>
          <a:p>
            <a:pPr defTabSz="975623"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975623"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07" baseline="0"/>
            </a:lvl1pPr>
          </a:lstStyle>
          <a:p>
            <a:pPr lvl="0"/>
            <a:endParaRPr lang="en-US" dirty="0" smtClean="0"/>
          </a:p>
        </p:txBody>
      </p:sp>
      <p:sp>
        <p:nvSpPr>
          <p:cNvPr id="6" name="Text Placeholder 8"/>
          <p:cNvSpPr>
            <a:spLocks noGrp="1"/>
          </p:cNvSpPr>
          <p:nvPr>
            <p:ph type="body" sz="quarter" idx="10" hasCustomPrompt="1"/>
          </p:nvPr>
        </p:nvSpPr>
        <p:spPr>
          <a:xfrm>
            <a:off x="187100" y="6985655"/>
            <a:ext cx="9629154" cy="222605"/>
          </a:xfrm>
        </p:spPr>
        <p:txBody>
          <a:bodyPr wrap="square" anchor="b" anchorCtr="0">
            <a:spAutoFit/>
          </a:bodyPr>
          <a:lstStyle>
            <a:lvl1pPr marL="0" indent="0">
              <a:buNone/>
              <a:defRPr sz="847"/>
            </a:lvl1pPr>
          </a:lstStyle>
          <a:p>
            <a:pPr lvl="0"/>
            <a:r>
              <a:rPr lang="en-US" dirty="0" smtClean="0"/>
              <a:t>Click to add footnote</a:t>
            </a:r>
            <a:endParaRPr lang="en-US" dirty="0"/>
          </a:p>
        </p:txBody>
      </p:sp>
    </p:spTree>
    <p:extLst>
      <p:ext uri="{BB962C8B-B14F-4D97-AF65-F5344CB8AC3E}">
        <p14:creationId xmlns:p14="http://schemas.microsoft.com/office/powerpoint/2010/main" val="2524172039"/>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1.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4.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5.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6.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9.xml"/><Relationship Id="rId7" Type="http://schemas.openxmlformats.org/officeDocument/2006/relationships/image" Target="../media/image1.png"/><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theme" Target="../theme/theme14.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4.xml"/><Relationship Id="rId7" Type="http://schemas.openxmlformats.org/officeDocument/2006/relationships/image" Target="../media/image1.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15.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29.xml"/><Relationship Id="rId7" Type="http://schemas.openxmlformats.org/officeDocument/2006/relationships/image" Target="../media/image1.png"/><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theme" Target="../theme/theme16.xml"/><Relationship Id="rId5" Type="http://schemas.openxmlformats.org/officeDocument/2006/relationships/slideLayout" Target="../slideLayouts/slideLayout31.xml"/><Relationship Id="rId4" Type="http://schemas.openxmlformats.org/officeDocument/2006/relationships/slideLayout" Target="../slideLayouts/slideLayout30.xml"/></Relationships>
</file>

<file path=ppt/slideMasters/_rels/slideMaster17.xml.rels><?xml version="1.0" encoding="UTF-8" standalone="yes"?>
<Relationships xmlns="http://schemas.openxmlformats.org/package/2006/relationships"><Relationship Id="rId3" Type="http://schemas.openxmlformats.org/officeDocument/2006/relationships/slideLayout" Target="../slideLayouts/slideLayout34.xml"/><Relationship Id="rId7" Type="http://schemas.openxmlformats.org/officeDocument/2006/relationships/image" Target="../media/image1.png"/><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theme" Target="../theme/theme17.xml"/><Relationship Id="rId5" Type="http://schemas.openxmlformats.org/officeDocument/2006/relationships/slideLayout" Target="../slideLayouts/slideLayout36.xml"/><Relationship Id="rId4" Type="http://schemas.openxmlformats.org/officeDocument/2006/relationships/slideLayout" Target="../slideLayouts/slideLayout35.xml"/></Relationships>
</file>

<file path=ppt/slideMasters/_rels/slideMaster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9.xml"/><Relationship Id="rId7" Type="http://schemas.openxmlformats.org/officeDocument/2006/relationships/theme" Target="../theme/theme1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s>
</file>

<file path=ppt/slideMasters/_rels/slideMaster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45.xml"/><Relationship Id="rId7" Type="http://schemas.openxmlformats.org/officeDocument/2006/relationships/theme" Target="../theme/theme19.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5" Type="http://schemas.openxmlformats.org/officeDocument/2006/relationships/slideLayout" Target="../slideLayouts/slideLayout47.xml"/><Relationship Id="rId4"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4"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 id="2147483886" r:id="rId2"/>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2683468"/>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365761"/>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92751"/>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436001"/>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321171" y="6084608"/>
            <a:ext cx="6370526"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LCR and GNMA CMO Issuance</a:t>
            </a:r>
            <a:endParaRPr lang="en-US" sz="3100" dirty="0">
              <a:solidFill>
                <a:srgbClr val="968880"/>
              </a:solidFill>
              <a:latin typeface="Calibri" pitchFamily="34" charset="0"/>
            </a:endParaRPr>
          </a:p>
          <a:p>
            <a:pPr algn="r" defTabSz="1018586"/>
            <a:r>
              <a:rPr lang="en-US" dirty="0" smtClean="0">
                <a:solidFill>
                  <a:schemeClr val="tx2"/>
                </a:solidFill>
                <a:latin typeface="Calibri" pitchFamily="34" charset="0"/>
              </a:rPr>
              <a:t>October 2015</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TERMS</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 </a:t>
            </a:r>
            <a:r>
              <a:rPr lang="en-US" sz="1200" b="1" dirty="0" smtClean="0"/>
              <a:t>Liquidity Coverage Ratio (LCR) </a:t>
            </a:r>
            <a:r>
              <a:rPr lang="en-US" sz="1200" dirty="0" smtClean="0"/>
              <a:t>aims to ensure that banks have an adequate store of </a:t>
            </a:r>
            <a:r>
              <a:rPr lang="en-US" sz="1200" b="1" dirty="0" smtClean="0"/>
              <a:t>high-quality liquid assets (HQLA)</a:t>
            </a:r>
            <a:r>
              <a:rPr lang="en-US" sz="1200" dirty="0" smtClean="0"/>
              <a:t> that can be easily and immediately converted into cash in order to meet liquidity needs for a 30 calendar day stress scenario. The stress scenario is specified by the appropriate regulatory bodies.</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dirty="0" smtClean="0"/>
              <a:t>The Basel Committee calls for the LCR to remain at or above 100%, except during a pronounced period of stress, when liquidity can be temporarily drawn down.</a:t>
            </a:r>
            <a:endParaRPr lang="en-US" sz="1200" b="0" dirty="0" smtClean="0">
              <a:solidFill>
                <a:schemeClr val="tx1"/>
              </a:solidFill>
              <a:latin typeface="+mn-lt"/>
            </a:endParaRPr>
          </a:p>
        </p:txBody>
      </p:sp>
      <p:sp>
        <p:nvSpPr>
          <p:cNvPr id="7" name="Rectangle 6"/>
          <p:cNvSpPr/>
          <p:nvPr/>
        </p:nvSpPr>
        <p:spPr>
          <a:xfrm>
            <a:off x="2903220" y="1420595"/>
            <a:ext cx="6629400" cy="82295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a:off x="2903220" y="1420594"/>
            <a:ext cx="6629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903220" y="1066800"/>
            <a:ext cx="6629400" cy="338554"/>
          </a:xfrm>
          <a:prstGeom prst="rect">
            <a:avLst/>
          </a:prstGeom>
          <a:noFill/>
        </p:spPr>
        <p:txBody>
          <a:bodyPr wrap="square" rtlCol="0">
            <a:spAutoFit/>
          </a:bodyPr>
          <a:lstStyle/>
          <a:p>
            <a:r>
              <a:rPr lang="en-US" sz="1600" b="1" dirty="0" smtClean="0">
                <a:solidFill>
                  <a:schemeClr val="accent1"/>
                </a:solidFill>
                <a:latin typeface="Calibri" panose="020F0502020204030204" pitchFamily="34" charset="0"/>
              </a:rPr>
              <a:t>High-quality Liquid Assets (HQLA)</a:t>
            </a:r>
            <a:endParaRPr lang="en-US" sz="1600" b="1" dirty="0">
              <a:solidFill>
                <a:schemeClr val="accent1"/>
              </a:solidFill>
              <a:latin typeface="Calibri" panose="020F0502020204030204" pitchFamily="34" charset="0"/>
            </a:endParaRPr>
          </a:p>
        </p:txBody>
      </p:sp>
      <p:sp>
        <p:nvSpPr>
          <p:cNvPr id="14" name="TextBox 13"/>
          <p:cNvSpPr txBox="1"/>
          <p:nvPr/>
        </p:nvSpPr>
        <p:spPr>
          <a:xfrm>
            <a:off x="2903220" y="1420594"/>
            <a:ext cx="6629400" cy="523220"/>
          </a:xfrm>
          <a:prstGeom prst="rect">
            <a:avLst/>
          </a:prstGeom>
          <a:noFill/>
        </p:spPr>
        <p:txBody>
          <a:bodyPr wrap="square" rtlCol="0">
            <a:spAutoFit/>
          </a:bodyPr>
          <a:lstStyle/>
          <a:p>
            <a:r>
              <a:rPr lang="en-US" sz="1400" dirty="0" smtClean="0">
                <a:latin typeface="Calibri" panose="020F0502020204030204" pitchFamily="34" charset="0"/>
              </a:rPr>
              <a:t>HQLA assets are characterized as being more likely to generate funds (cash) without incurring large discounts in a “fire-sale” stress environment</a:t>
            </a:r>
          </a:p>
        </p:txBody>
      </p:sp>
      <p:sp>
        <p:nvSpPr>
          <p:cNvPr id="22" name="Rectangle 21"/>
          <p:cNvSpPr/>
          <p:nvPr/>
        </p:nvSpPr>
        <p:spPr>
          <a:xfrm>
            <a:off x="2903220" y="2603332"/>
            <a:ext cx="6629400" cy="822959"/>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p:cNvCxnSpPr/>
          <p:nvPr/>
        </p:nvCxnSpPr>
        <p:spPr>
          <a:xfrm>
            <a:off x="2903220" y="2603331"/>
            <a:ext cx="6629400" cy="0"/>
          </a:xfrm>
          <a:prstGeom prst="line">
            <a:avLst/>
          </a:prstGeom>
          <a:ln w="381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903220" y="2603331"/>
            <a:ext cx="6629400" cy="523220"/>
          </a:xfrm>
          <a:prstGeom prst="rect">
            <a:avLst/>
          </a:prstGeom>
          <a:noFill/>
        </p:spPr>
        <p:txBody>
          <a:bodyPr wrap="square" rtlCol="0">
            <a:spAutoFit/>
          </a:bodyPr>
          <a:lstStyle/>
          <a:p>
            <a:r>
              <a:rPr lang="en-US" sz="1400" dirty="0" smtClean="0">
                <a:latin typeface="Calibri" panose="020F0502020204030204" pitchFamily="34" charset="0"/>
              </a:rPr>
              <a:t>Total expected cash outflows minus total expected cash inflows in the specified stress scenario for the subsequent 30 calendar days</a:t>
            </a:r>
          </a:p>
        </p:txBody>
      </p:sp>
      <p:sp>
        <p:nvSpPr>
          <p:cNvPr id="26" name="Rectangle 25"/>
          <p:cNvSpPr/>
          <p:nvPr/>
        </p:nvSpPr>
        <p:spPr>
          <a:xfrm>
            <a:off x="2903220" y="3780086"/>
            <a:ext cx="6629400" cy="82295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p:cNvCxnSpPr/>
          <p:nvPr/>
        </p:nvCxnSpPr>
        <p:spPr>
          <a:xfrm>
            <a:off x="2903220" y="3780085"/>
            <a:ext cx="6629400"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p:cNvSpPr txBox="1"/>
              <p:nvPr/>
            </p:nvSpPr>
            <p:spPr>
              <a:xfrm>
                <a:off x="2903220" y="3780085"/>
                <a:ext cx="6629400" cy="1408399"/>
              </a:xfrm>
              <a:prstGeom prst="rect">
                <a:avLst/>
              </a:prstGeom>
              <a:solidFill>
                <a:schemeClr val="accent1">
                  <a:lumMod val="20000"/>
                  <a:lumOff val="80000"/>
                </a:schemeClr>
              </a:solidFill>
            </p:spPr>
            <p:txBody>
              <a:bodyPr wrap="square" rtlCol="0">
                <a:spAutoFit/>
              </a:bodyPr>
              <a:lstStyle/>
              <a:p>
                <a:pPr marL="285750" indent="-285750">
                  <a:buFont typeface="Arial" panose="020B0604020202020204" pitchFamily="34" charset="0"/>
                  <a:buChar char="•"/>
                </a:pPr>
                <a:r>
                  <a:rPr lang="en-US" sz="1400" b="0" dirty="0" smtClean="0">
                    <a:latin typeface="+mj-lt"/>
                  </a:rPr>
                  <a:t>LCR = </a:t>
                </a:r>
                <a14:m>
                  <m:oMath xmlns:m="http://schemas.openxmlformats.org/officeDocument/2006/math">
                    <m:f>
                      <m:fPr>
                        <m:ctrlPr>
                          <a:rPr lang="en-US" sz="1400" b="0" i="1" smtClean="0">
                            <a:latin typeface="Cambria Math"/>
                          </a:rPr>
                        </m:ctrlPr>
                      </m:fPr>
                      <m:num>
                        <m:r>
                          <a:rPr lang="en-US" sz="1400" b="0" i="1" smtClean="0">
                            <a:latin typeface="Cambria Math"/>
                          </a:rPr>
                          <m:t>𝐻𝑄𝐿𝐴</m:t>
                        </m:r>
                      </m:num>
                      <m:den>
                        <m:r>
                          <a:rPr lang="en-US" sz="1400" b="0" i="1" smtClean="0">
                            <a:latin typeface="Cambria Math"/>
                          </a:rPr>
                          <m:t>30 </m:t>
                        </m:r>
                        <m:r>
                          <a:rPr lang="en-US" sz="1400" b="0" i="1" smtClean="0">
                            <a:latin typeface="Cambria Math"/>
                          </a:rPr>
                          <m:t>𝑐𝑎𝑙𝑒𝑛𝑑𝑎𝑟</m:t>
                        </m:r>
                        <m:r>
                          <a:rPr lang="en-US" sz="1400" b="0" i="1" smtClean="0">
                            <a:latin typeface="Cambria Math"/>
                          </a:rPr>
                          <m:t> </m:t>
                        </m:r>
                        <m:r>
                          <a:rPr lang="en-US" sz="1400" b="0" i="1" smtClean="0">
                            <a:latin typeface="Cambria Math"/>
                          </a:rPr>
                          <m:t>𝑑𝑎𝑦</m:t>
                        </m:r>
                        <m:r>
                          <a:rPr lang="en-US" sz="1400" b="0" i="1" smtClean="0">
                            <a:latin typeface="Cambria Math"/>
                          </a:rPr>
                          <m:t> </m:t>
                        </m:r>
                        <m:r>
                          <a:rPr lang="en-US" sz="1400" b="0" i="1" smtClean="0">
                            <a:latin typeface="Cambria Math"/>
                          </a:rPr>
                          <m:t>𝑁𝐶𝑂𝐹</m:t>
                        </m:r>
                      </m:den>
                    </m:f>
                  </m:oMath>
                </a14:m>
                <a:r>
                  <a:rPr lang="en-US" sz="1400" dirty="0" smtClean="0">
                    <a:latin typeface="+mj-lt"/>
                  </a:rPr>
                  <a:t> ≥  100%</a:t>
                </a:r>
              </a:p>
              <a:p>
                <a:pPr marL="285750" indent="-285750">
                  <a:buFont typeface="Arial" panose="020B0604020202020204" pitchFamily="34" charset="0"/>
                  <a:buChar char="•"/>
                </a:pPr>
                <a:r>
                  <a:rPr lang="en-US" sz="1400" dirty="0" smtClean="0">
                    <a:latin typeface="+mj-lt"/>
                  </a:rPr>
                  <a:t>HQLA consists of Level 1 and Level 2 assets</a:t>
                </a:r>
              </a:p>
              <a:p>
                <a:pPr marL="285750" indent="-285750">
                  <a:buFont typeface="Arial" panose="020B0604020202020204" pitchFamily="34" charset="0"/>
                  <a:buChar char="•"/>
                </a:pPr>
                <a:r>
                  <a:rPr lang="en-US" sz="1400" dirty="0" smtClean="0">
                    <a:latin typeface="+mj-lt"/>
                  </a:rPr>
                  <a:t>HQLA restrictions:</a:t>
                </a:r>
              </a:p>
              <a:p>
                <a:pPr marL="793276" lvl="1" indent="-285750">
                  <a:buFont typeface="Arial" panose="020B0604020202020204" pitchFamily="34" charset="0"/>
                  <a:buChar char="•"/>
                </a:pPr>
                <a:r>
                  <a:rPr lang="en-US" sz="1200" dirty="0" smtClean="0">
                    <a:latin typeface="+mj-lt"/>
                  </a:rPr>
                  <a:t>15% Haircut on Level 2A assets, 25-50% Haircut on Level 2B assets</a:t>
                </a:r>
              </a:p>
              <a:p>
                <a:pPr marL="793276" lvl="1" indent="-285750">
                  <a:buFont typeface="Arial" panose="020B0604020202020204" pitchFamily="34" charset="0"/>
                  <a:buChar char="•"/>
                </a:pPr>
                <a:r>
                  <a:rPr lang="en-US" sz="1200" dirty="0" smtClean="0">
                    <a:latin typeface="+mj-lt"/>
                  </a:rPr>
                  <a:t>After haircuts, Level 2 assets capped at 40% of HQLA, Level 2B assets capped at 15% of all HQLA</a:t>
                </a:r>
              </a:p>
            </p:txBody>
          </p:sp>
        </mc:Choice>
        <mc:Fallback xmlns="">
          <p:sp>
            <p:nvSpPr>
              <p:cNvPr id="29" name="TextBox 28"/>
              <p:cNvSpPr txBox="1">
                <a:spLocks noRot="1" noChangeAspect="1" noMove="1" noResize="1" noEditPoints="1" noAdjustHandles="1" noChangeArrowheads="1" noChangeShapeType="1" noTextEdit="1"/>
              </p:cNvSpPr>
              <p:nvPr/>
            </p:nvSpPr>
            <p:spPr>
              <a:xfrm>
                <a:off x="2903220" y="3780085"/>
                <a:ext cx="6629400" cy="1408399"/>
              </a:xfrm>
              <a:prstGeom prst="rect">
                <a:avLst/>
              </a:prstGeom>
              <a:blipFill rotWithShape="1">
                <a:blip r:embed="rId3"/>
                <a:stretch>
                  <a:fillRect l="-92" b="-2597"/>
                </a:stretch>
              </a:blipFill>
            </p:spPr>
            <p:txBody>
              <a:bodyPr/>
              <a:lstStyle/>
              <a:p>
                <a:r>
                  <a:rPr lang="en-US">
                    <a:noFill/>
                  </a:rPr>
                  <a:t> </a:t>
                </a:r>
              </a:p>
            </p:txBody>
          </p:sp>
        </mc:Fallback>
      </mc:AlternateContent>
      <p:sp>
        <p:nvSpPr>
          <p:cNvPr id="39" name="TextBox 38"/>
          <p:cNvSpPr txBox="1"/>
          <p:nvPr/>
        </p:nvSpPr>
        <p:spPr>
          <a:xfrm>
            <a:off x="2903220" y="2286000"/>
            <a:ext cx="6629400" cy="338554"/>
          </a:xfrm>
          <a:prstGeom prst="rect">
            <a:avLst/>
          </a:prstGeom>
          <a:noFill/>
        </p:spPr>
        <p:txBody>
          <a:bodyPr wrap="square" rtlCol="0">
            <a:spAutoFit/>
          </a:bodyPr>
          <a:lstStyle/>
          <a:p>
            <a:r>
              <a:rPr lang="en-US" sz="1600" b="1" dirty="0" smtClean="0">
                <a:solidFill>
                  <a:schemeClr val="accent5">
                    <a:lumMod val="50000"/>
                  </a:schemeClr>
                </a:solidFill>
                <a:latin typeface="Calibri" panose="020F0502020204030204" pitchFamily="34" charset="0"/>
              </a:rPr>
              <a:t>Total Net Cash Flows (NCOF)</a:t>
            </a:r>
            <a:endParaRPr lang="en-US" sz="1600" b="1" dirty="0">
              <a:solidFill>
                <a:schemeClr val="accent5">
                  <a:lumMod val="50000"/>
                </a:schemeClr>
              </a:solidFill>
              <a:latin typeface="Calibri" panose="020F0502020204030204" pitchFamily="34" charset="0"/>
            </a:endParaRPr>
          </a:p>
        </p:txBody>
      </p:sp>
      <p:sp>
        <p:nvSpPr>
          <p:cNvPr id="40" name="TextBox 39"/>
          <p:cNvSpPr txBox="1"/>
          <p:nvPr/>
        </p:nvSpPr>
        <p:spPr>
          <a:xfrm>
            <a:off x="2903220" y="3441532"/>
            <a:ext cx="6629400" cy="338554"/>
          </a:xfrm>
          <a:prstGeom prst="rect">
            <a:avLst/>
          </a:prstGeom>
          <a:noFill/>
        </p:spPr>
        <p:txBody>
          <a:bodyPr wrap="square" rtlCol="0">
            <a:spAutoFit/>
          </a:bodyPr>
          <a:lstStyle/>
          <a:p>
            <a:r>
              <a:rPr lang="en-US" sz="1600" b="1" dirty="0" smtClean="0">
                <a:solidFill>
                  <a:schemeClr val="accent2">
                    <a:lumMod val="75000"/>
                  </a:schemeClr>
                </a:solidFill>
                <a:latin typeface="Calibri" panose="020F0502020204030204" pitchFamily="34" charset="0"/>
              </a:rPr>
              <a:t>Liquidity Coverage Ratio (LCR)</a:t>
            </a:r>
            <a:endParaRPr lang="en-US" sz="1600" b="1" dirty="0">
              <a:solidFill>
                <a:schemeClr val="accent2">
                  <a:lumMod val="75000"/>
                </a:schemeClr>
              </a:solidFill>
              <a:latin typeface="Calibri" panose="020F0502020204030204" pitchFamily="34" charset="0"/>
            </a:endParaRPr>
          </a:p>
        </p:txBody>
      </p:sp>
    </p:spTree>
    <p:extLst>
      <p:ext uri="{BB962C8B-B14F-4D97-AF65-F5344CB8AC3E}">
        <p14:creationId xmlns:p14="http://schemas.microsoft.com/office/powerpoint/2010/main" val="18963433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CATEGORIES OF HQLAs</a:t>
            </a:r>
            <a:endParaRPr lang="en-US" sz="1200" b="0" dirty="0"/>
          </a:p>
        </p:txBody>
      </p:sp>
      <p:sp>
        <p:nvSpPr>
          <p:cNvPr id="3" name="TextBox 2"/>
          <p:cNvSpPr txBox="1"/>
          <p:nvPr/>
        </p:nvSpPr>
        <p:spPr>
          <a:xfrm>
            <a:off x="145657" y="1218129"/>
            <a:ext cx="2168665" cy="7063472"/>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Assets are considered to be HQLA if they can be easily and immediately converted into cash at little or no loss of value. The liquidity of an asset depends on the underlying stress scenario, the volume that needs to be sold, and the time frame involved.  HQLA assets are expected to more or less retain their liquidity (i.e., not suffer from a substantial price discount) even in a fire-sale stress scenario.</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HQLA assets must be </a:t>
            </a:r>
            <a:r>
              <a:rPr lang="en-US" sz="1200" b="1" dirty="0" smtClean="0">
                <a:latin typeface="Calibri" panose="020F0502020204030204" pitchFamily="34" charset="0"/>
              </a:rPr>
              <a:t>unencumbered </a:t>
            </a:r>
            <a:r>
              <a:rPr lang="en-US" sz="1200" dirty="0" smtClean="0">
                <a:latin typeface="Calibri" panose="020F0502020204030204" pitchFamily="34" charset="0"/>
              </a:rPr>
              <a:t> -- free of legal, regulatory, contractual, or other restrictions on the ability of the bank to liquidate, sell, transfer, or assign the asset.</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HQLAs cannot be pledged to secure, collateralize, or credit-enhance  any transaction, nor be designated to cover operational costs (such as rents or salaries).</a:t>
            </a: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HQLA DEFINITIONS </a:t>
            </a:r>
          </a:p>
        </p:txBody>
      </p:sp>
      <p:graphicFrame>
        <p:nvGraphicFramePr>
          <p:cNvPr id="14" name="Table 13"/>
          <p:cNvGraphicFramePr>
            <a:graphicFrameLocks noGrp="1"/>
          </p:cNvGraphicFramePr>
          <p:nvPr>
            <p:extLst>
              <p:ext uri="{D42A27DB-BD31-4B8C-83A1-F6EECF244321}">
                <p14:modId xmlns:p14="http://schemas.microsoft.com/office/powerpoint/2010/main" val="3789906042"/>
              </p:ext>
            </p:extLst>
          </p:nvPr>
        </p:nvGraphicFramePr>
        <p:xfrm>
          <a:off x="2655727" y="2349207"/>
          <a:ext cx="2284333" cy="4396649"/>
        </p:xfrm>
        <a:graphic>
          <a:graphicData uri="http://schemas.openxmlformats.org/drawingml/2006/table">
            <a:tbl>
              <a:tblPr bandRow="1">
                <a:tableStyleId>{5C22544A-7EE6-4342-B048-85BDC9FD1C3A}</a:tableStyleId>
              </a:tblPr>
              <a:tblGrid>
                <a:gridCol w="2284333"/>
              </a:tblGrid>
              <a:tr h="580389">
                <a:tc>
                  <a:txBody>
                    <a:bodyPr/>
                    <a:lstStyle/>
                    <a:p>
                      <a:pPr algn="ctr"/>
                      <a:r>
                        <a:rPr lang="en-US" sz="1400" b="1" dirty="0" smtClean="0"/>
                        <a:t>Level</a:t>
                      </a:r>
                      <a:r>
                        <a:rPr lang="en-US" sz="1400" b="1" baseline="0" dirty="0" smtClean="0"/>
                        <a:t> 1</a:t>
                      </a:r>
                      <a:endParaRPr lang="en-US" sz="1400" b="1" dirty="0"/>
                    </a:p>
                  </a:txBody>
                  <a:tcPr anchor="ctr">
                    <a:solidFill>
                      <a:schemeClr val="accent1">
                        <a:lumMod val="40000"/>
                        <a:lumOff val="60000"/>
                      </a:schemeClr>
                    </a:solidFill>
                  </a:tcPr>
                </a:tc>
              </a:tr>
              <a:tr h="3816260">
                <a:tc>
                  <a:txBody>
                    <a:bodyPr/>
                    <a:lstStyle/>
                    <a:p>
                      <a:pPr marL="285750" indent="-285750" algn="l">
                        <a:buFont typeface="Arial" panose="020B0604020202020204" pitchFamily="34" charset="0"/>
                        <a:buChar char="•"/>
                      </a:pPr>
                      <a:r>
                        <a:rPr lang="en-US" sz="1200" b="0" dirty="0" smtClean="0"/>
                        <a:t>Cash (Coins and banknotes)</a:t>
                      </a:r>
                    </a:p>
                    <a:p>
                      <a:pPr marL="285750" indent="-285750" algn="l">
                        <a:buFont typeface="Arial" panose="020B0604020202020204" pitchFamily="34" charset="0"/>
                        <a:buChar char="•"/>
                      </a:pPr>
                      <a:r>
                        <a:rPr lang="en-US" sz="1200" b="0" dirty="0" smtClean="0"/>
                        <a:t>Central</a:t>
                      </a:r>
                      <a:r>
                        <a:rPr lang="en-US" sz="1200" b="0" baseline="0" dirty="0" smtClean="0"/>
                        <a:t> bank reserves, including required reserves, to the extent that central bank policies allow them to be drawn down in times of stress</a:t>
                      </a:r>
                      <a:endParaRPr lang="en-US" sz="1200" b="0" dirty="0" smtClean="0"/>
                    </a:p>
                    <a:p>
                      <a:pPr marL="285750" indent="-285750" algn="l">
                        <a:buFont typeface="Arial" panose="020B0604020202020204" pitchFamily="34" charset="0"/>
                        <a:buChar char="•"/>
                      </a:pPr>
                      <a:r>
                        <a:rPr lang="en-US" sz="1200" b="0" dirty="0" smtClean="0"/>
                        <a:t>Marketable</a:t>
                      </a:r>
                      <a:r>
                        <a:rPr lang="en-US" sz="1200" b="0" baseline="0" dirty="0" smtClean="0"/>
                        <a:t> securities representing claims on or guaranteed by sovereigns, central banks, multilateral development banks, or other public sector entities, if they are assigned a 0% risk weighting under the Basel II framework and meet other qualifying conditions (</a:t>
                      </a:r>
                      <a:r>
                        <a:rPr lang="en-US" sz="1200" b="1" baseline="0" dirty="0" smtClean="0"/>
                        <a:t>U.S. Treasuries</a:t>
                      </a:r>
                      <a:r>
                        <a:rPr lang="en-US" sz="1200" b="0" baseline="0" dirty="0" smtClean="0"/>
                        <a:t>, </a:t>
                      </a:r>
                      <a:r>
                        <a:rPr lang="en-US" sz="1200" b="1" baseline="0" dirty="0" smtClean="0"/>
                        <a:t>GNMA MBS</a:t>
                      </a:r>
                      <a:r>
                        <a:rPr lang="en-US" sz="1200" b="0" baseline="0" dirty="0" smtClean="0"/>
                        <a:t>)</a:t>
                      </a:r>
                      <a:endParaRPr lang="en-US" sz="1200" b="0" dirty="0" smtClean="0"/>
                    </a:p>
                    <a:p>
                      <a:pPr marL="285750" indent="-285750" algn="l">
                        <a:buFont typeface="Arial" panose="020B0604020202020204" pitchFamily="34" charset="0"/>
                        <a:buChar char="•"/>
                      </a:pPr>
                      <a:endParaRPr lang="en-US" sz="1400" b="1" dirty="0" smtClean="0"/>
                    </a:p>
                    <a:p>
                      <a:pPr marL="285750" indent="-285750" algn="l">
                        <a:buFont typeface="Arial" panose="020B0604020202020204" pitchFamily="34" charset="0"/>
                        <a:buChar char="•"/>
                      </a:pPr>
                      <a:endParaRPr lang="en-US" sz="1400" b="1" dirty="0"/>
                    </a:p>
                  </a:txBody>
                  <a:tcPr anchor="ctr">
                    <a:solidFill>
                      <a:schemeClr val="accent2">
                        <a:lumMod val="20000"/>
                        <a:lumOff val="80000"/>
                      </a:schemeClr>
                    </a:solid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565443530"/>
              </p:ext>
            </p:extLst>
          </p:nvPr>
        </p:nvGraphicFramePr>
        <p:xfrm>
          <a:off x="5042369" y="2349207"/>
          <a:ext cx="2284333" cy="4396649"/>
        </p:xfrm>
        <a:graphic>
          <a:graphicData uri="http://schemas.openxmlformats.org/drawingml/2006/table">
            <a:tbl>
              <a:tblPr bandRow="1">
                <a:tableStyleId>{5C22544A-7EE6-4342-B048-85BDC9FD1C3A}</a:tableStyleId>
              </a:tblPr>
              <a:tblGrid>
                <a:gridCol w="2284333"/>
              </a:tblGrid>
              <a:tr h="580389">
                <a:tc>
                  <a:txBody>
                    <a:bodyPr/>
                    <a:lstStyle/>
                    <a:p>
                      <a:pPr algn="ctr"/>
                      <a:r>
                        <a:rPr lang="en-US" sz="1400" b="1" dirty="0" smtClean="0"/>
                        <a:t>Level</a:t>
                      </a:r>
                      <a:r>
                        <a:rPr lang="en-US" sz="1400" b="1" baseline="0" dirty="0" smtClean="0"/>
                        <a:t> 2A</a:t>
                      </a:r>
                      <a:endParaRPr lang="en-US" sz="1400" b="1" dirty="0"/>
                    </a:p>
                  </a:txBody>
                  <a:tcPr anchor="ctr">
                    <a:solidFill>
                      <a:schemeClr val="accent1">
                        <a:lumMod val="40000"/>
                        <a:lumOff val="60000"/>
                      </a:schemeClr>
                    </a:solidFill>
                  </a:tcPr>
                </a:tc>
              </a:tr>
              <a:tr h="3816260">
                <a:tc>
                  <a:txBody>
                    <a:bodyPr/>
                    <a:lstStyle/>
                    <a:p>
                      <a:pPr marL="285750" indent="-285750" algn="l">
                        <a:buFont typeface="Arial" panose="020B0604020202020204" pitchFamily="34" charset="0"/>
                        <a:buChar char="•"/>
                      </a:pPr>
                      <a:r>
                        <a:rPr lang="en-US" sz="1200" b="0" dirty="0" smtClean="0"/>
                        <a:t>Marketable</a:t>
                      </a:r>
                      <a:r>
                        <a:rPr lang="en-US" sz="1200" b="0" baseline="0" dirty="0" smtClean="0"/>
                        <a:t> securities representing claims on or guaranteed by sovereigns, multilateral development banks, or other public sector entities if they been assigned a 20% risk weight under the Basel II framework and meet certain other qualifying conditions (</a:t>
                      </a:r>
                      <a:r>
                        <a:rPr lang="en-US" sz="1200" b="1" baseline="0" dirty="0" smtClean="0"/>
                        <a:t>FN/FH MBS</a:t>
                      </a:r>
                      <a:r>
                        <a:rPr lang="en-US" sz="1200" b="0" baseline="0" dirty="0" smtClean="0"/>
                        <a:t>)</a:t>
                      </a:r>
                      <a:endParaRPr lang="en-US" sz="1200" b="0" dirty="0" smtClean="0"/>
                    </a:p>
                    <a:p>
                      <a:pPr marL="285750" indent="-285750" algn="l">
                        <a:buFont typeface="Arial" panose="020B0604020202020204" pitchFamily="34" charset="0"/>
                        <a:buChar char="•"/>
                      </a:pPr>
                      <a:r>
                        <a:rPr lang="en-US" sz="1200" b="0" dirty="0" smtClean="0"/>
                        <a:t>Corporate</a:t>
                      </a:r>
                      <a:r>
                        <a:rPr lang="en-US" sz="1200" b="0" baseline="0" dirty="0" smtClean="0"/>
                        <a:t> debt securities, including commercial paper, and covered bonds that have received a minimum AA- credit rating or the equivalent, if they have </a:t>
                      </a:r>
                      <a:r>
                        <a:rPr lang="en-US" sz="1200" b="0" i="1" baseline="0" dirty="0" smtClean="0"/>
                        <a:t>not</a:t>
                      </a:r>
                      <a:r>
                        <a:rPr lang="en-US" sz="1200" b="0" baseline="0" dirty="0" smtClean="0"/>
                        <a:t> been issued by a financial institution and meet certain other qualifying conditions</a:t>
                      </a:r>
                      <a:endParaRPr lang="en-US" sz="1200" b="0" dirty="0" smtClean="0"/>
                    </a:p>
                    <a:p>
                      <a:pPr marL="285750" indent="-285750" algn="l">
                        <a:buFont typeface="Arial" panose="020B0604020202020204" pitchFamily="34" charset="0"/>
                        <a:buChar char="•"/>
                      </a:pPr>
                      <a:endParaRPr lang="en-US" sz="1400" b="1" dirty="0"/>
                    </a:p>
                  </a:txBody>
                  <a:tcPr anchor="ctr">
                    <a:solidFill>
                      <a:schemeClr val="accent2">
                        <a:lumMod val="20000"/>
                        <a:lumOff val="80000"/>
                      </a:schemeClr>
                    </a:solid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2121166025"/>
              </p:ext>
            </p:extLst>
          </p:nvPr>
        </p:nvGraphicFramePr>
        <p:xfrm>
          <a:off x="7412127" y="2349207"/>
          <a:ext cx="2284333" cy="4508291"/>
        </p:xfrm>
        <a:graphic>
          <a:graphicData uri="http://schemas.openxmlformats.org/drawingml/2006/table">
            <a:tbl>
              <a:tblPr bandRow="1">
                <a:tableStyleId>{5C22544A-7EE6-4342-B048-85BDC9FD1C3A}</a:tableStyleId>
              </a:tblPr>
              <a:tblGrid>
                <a:gridCol w="2284333"/>
              </a:tblGrid>
              <a:tr h="545891">
                <a:tc>
                  <a:txBody>
                    <a:bodyPr/>
                    <a:lstStyle/>
                    <a:p>
                      <a:pPr algn="ctr"/>
                      <a:r>
                        <a:rPr lang="en-US" sz="1400" b="1" dirty="0" smtClean="0"/>
                        <a:t>Level</a:t>
                      </a:r>
                      <a:r>
                        <a:rPr lang="en-US" sz="1400" b="1" baseline="0" dirty="0" smtClean="0"/>
                        <a:t> 2B</a:t>
                      </a:r>
                      <a:endParaRPr lang="en-US" sz="1400" b="1" dirty="0"/>
                    </a:p>
                  </a:txBody>
                  <a:tcPr anchor="ctr">
                    <a:solidFill>
                      <a:schemeClr val="accent1">
                        <a:lumMod val="40000"/>
                        <a:lumOff val="60000"/>
                      </a:schemeClr>
                    </a:solidFill>
                  </a:tcPr>
                </a:tc>
              </a:tr>
              <a:tr h="3850758">
                <a:tc>
                  <a:txBody>
                    <a:bodyPr/>
                    <a:lstStyle/>
                    <a:p>
                      <a:pPr marL="285750" indent="-285750" algn="l">
                        <a:buFont typeface="Arial" panose="020B0604020202020204" pitchFamily="34" charset="0"/>
                        <a:buChar char="•"/>
                      </a:pPr>
                      <a:r>
                        <a:rPr lang="en-US" sz="1200" b="0" dirty="0" smtClean="0"/>
                        <a:t>RMBS</a:t>
                      </a:r>
                      <a:r>
                        <a:rPr lang="en-US" sz="1200" b="0" baseline="0" dirty="0" smtClean="0"/>
                        <a:t> where the underlying mortgages have an average maximum LTV of 80% at issuance and where the securitizations are subject to “risk retention” regulations</a:t>
                      </a:r>
                      <a:endParaRPr lang="en-US" sz="1200" b="0" dirty="0" smtClean="0"/>
                    </a:p>
                    <a:p>
                      <a:pPr marL="285750" indent="-285750" algn="l">
                        <a:buFont typeface="Arial" panose="020B0604020202020204" pitchFamily="34" charset="0"/>
                        <a:buChar char="•"/>
                      </a:pPr>
                      <a:r>
                        <a:rPr lang="en-US" sz="1200" b="0" dirty="0" smtClean="0"/>
                        <a:t>Corporate</a:t>
                      </a:r>
                      <a:r>
                        <a:rPr lang="en-US" sz="1200" b="0" baseline="0" dirty="0" smtClean="0"/>
                        <a:t> debt securities, including commercial paper, if they have not been issued by a financial institution , have received the equivalent of between an A+ and BBB- crediting rating, and meet other qualifying conditions.</a:t>
                      </a:r>
                    </a:p>
                    <a:p>
                      <a:pPr marL="285750" indent="-285750" algn="l">
                        <a:buFont typeface="Arial" panose="020B0604020202020204" pitchFamily="34" charset="0"/>
                        <a:buChar char="•"/>
                      </a:pPr>
                      <a:r>
                        <a:rPr lang="en-US" sz="1200" b="0" baseline="0" dirty="0" smtClean="0"/>
                        <a:t>Common equity if it has </a:t>
                      </a:r>
                      <a:r>
                        <a:rPr lang="en-US" sz="1200" b="0" i="1" baseline="0" dirty="0" smtClean="0"/>
                        <a:t>not</a:t>
                      </a:r>
                      <a:r>
                        <a:rPr lang="en-US" sz="1200" b="0" baseline="0" dirty="0" smtClean="0"/>
                        <a:t> been issued by a financial institution, is exchange traded and centrally cleared, and meets other qualifying conditions</a:t>
                      </a:r>
                      <a:endParaRPr lang="en-US" sz="1200" b="0" dirty="0" smtClean="0"/>
                    </a:p>
                    <a:p>
                      <a:pPr marL="285750" indent="-285750" algn="l">
                        <a:buFont typeface="Arial" panose="020B0604020202020204" pitchFamily="34" charset="0"/>
                        <a:buChar char="•"/>
                      </a:pPr>
                      <a:endParaRPr lang="en-US" sz="1400" b="1" dirty="0"/>
                    </a:p>
                  </a:txBody>
                  <a:tcPr anchor="ctr">
                    <a:solidFill>
                      <a:schemeClr val="accent2">
                        <a:lumMod val="20000"/>
                        <a:lumOff val="80000"/>
                      </a:schemeClr>
                    </a:solidFill>
                  </a:tcPr>
                </a:tc>
              </a:tr>
            </a:tbl>
          </a:graphicData>
        </a:graphic>
      </p:graphicFrame>
    </p:spTree>
    <p:extLst>
      <p:ext uri="{BB962C8B-B14F-4D97-AF65-F5344CB8AC3E}">
        <p14:creationId xmlns:p14="http://schemas.microsoft.com/office/powerpoint/2010/main" val="3223835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HQLA TRENDS</a:t>
            </a:r>
            <a:endParaRPr lang="en-US" sz="1200" b="0" dirty="0"/>
          </a:p>
        </p:txBody>
      </p:sp>
      <p:sp>
        <p:nvSpPr>
          <p:cNvPr id="3" name="TextBox 2"/>
          <p:cNvSpPr txBox="1"/>
          <p:nvPr/>
        </p:nvSpPr>
        <p:spPr>
          <a:xfrm>
            <a:off x="145657" y="1218129"/>
            <a:ext cx="2168665" cy="6878806"/>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The tables show a time series of Level 1 (Reserves, GNMA MBS, and Treasuries) and Level 2 (Fannie Mae/Freddie Mac MBS) assets for banks with total assets more than $250bb and banks with assets between $50-250bb respectively. The total HQLA is calculated by applying a 15% haircut to Level 2 assets and adding them to Level 1 assets.</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tables show that:</a:t>
            </a:r>
          </a:p>
          <a:p>
            <a:pPr>
              <a:lnSpc>
                <a:spcPct val="100000"/>
              </a:lnSpc>
              <a:spcBef>
                <a:spcPts val="0"/>
              </a:spcBef>
            </a:pPr>
            <a:endParaRPr lang="en-US" sz="1200" dirty="0">
              <a:latin typeface="Calibri" panose="020F0502020204030204" pitchFamily="34" charset="0"/>
            </a:endParaRPr>
          </a:p>
          <a:p>
            <a:pPr marL="228600" indent="-228600">
              <a:lnSpc>
                <a:spcPct val="100000"/>
              </a:lnSpc>
              <a:spcBef>
                <a:spcPts val="0"/>
              </a:spcBef>
              <a:buAutoNum type="arabicParenBoth"/>
            </a:pPr>
            <a:r>
              <a:rPr lang="en-US" sz="1200" dirty="0" smtClean="0">
                <a:latin typeface="Calibri" panose="020F0502020204030204" pitchFamily="34" charset="0"/>
              </a:rPr>
              <a:t>Small banks have a significantly lower share of HQLAs</a:t>
            </a:r>
          </a:p>
          <a:p>
            <a:pPr marL="228600" indent="-228600">
              <a:lnSpc>
                <a:spcPct val="100000"/>
              </a:lnSpc>
              <a:spcBef>
                <a:spcPts val="0"/>
              </a:spcBef>
              <a:buAutoNum type="arabicParenBoth"/>
            </a:pPr>
            <a:r>
              <a:rPr lang="en-US" sz="1200" dirty="0" smtClean="0">
                <a:latin typeface="Calibri" panose="020F0502020204030204" pitchFamily="34" charset="0"/>
              </a:rPr>
              <a:t>There has been no discernible difference in the behavior of large banks with respect to GNMAs since the implementation of LCR. However, small banks have been ramping up their holdings of GNMAs.</a:t>
            </a:r>
          </a:p>
          <a:p>
            <a:pPr>
              <a:lnSpc>
                <a:spcPct val="100000"/>
              </a:lnSpc>
              <a:spcBef>
                <a:spcPts val="0"/>
              </a:spcBef>
            </a:pPr>
            <a:endParaRPr lang="en-US" sz="1200" dirty="0">
              <a:latin typeface="Calibri" panose="020F0502020204030204" pitchFamily="34" charset="0"/>
            </a:endParaRPr>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HQLA ASSET GROWTH FOR U.S. BANKS </a:t>
            </a:r>
          </a:p>
        </p:txBody>
      </p:sp>
      <p:sp>
        <p:nvSpPr>
          <p:cNvPr id="4" name="TextBox 3"/>
          <p:cNvSpPr txBox="1"/>
          <p:nvPr/>
        </p:nvSpPr>
        <p:spPr>
          <a:xfrm>
            <a:off x="2409212" y="6961518"/>
            <a:ext cx="1558938" cy="230832"/>
          </a:xfrm>
          <a:prstGeom prst="rect">
            <a:avLst/>
          </a:prstGeom>
          <a:noFill/>
        </p:spPr>
        <p:txBody>
          <a:bodyPr wrap="square" rtlCol="0">
            <a:spAutoFit/>
          </a:bodyPr>
          <a:lstStyle/>
          <a:p>
            <a:r>
              <a:rPr lang="en-US" sz="900" dirty="0" smtClean="0">
                <a:latin typeface="Calibri" panose="020F0502020204030204" pitchFamily="34" charset="0"/>
              </a:rPr>
              <a:t>Source: Citi Research</a:t>
            </a:r>
            <a:endParaRPr lang="en-US" sz="900" dirty="0">
              <a:latin typeface="Calibri" panose="020F0502020204030204" pitchFamily="34" charset="0"/>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7221" y="1975449"/>
            <a:ext cx="7179239" cy="48652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7764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TRENDS IN EXCESS RESERVES</a:t>
            </a:r>
            <a:endParaRPr lang="en-US" sz="1200" b="0" dirty="0"/>
          </a:p>
        </p:txBody>
      </p:sp>
      <p:sp>
        <p:nvSpPr>
          <p:cNvPr id="3" name="TextBox 2"/>
          <p:cNvSpPr txBox="1"/>
          <p:nvPr/>
        </p:nvSpPr>
        <p:spPr>
          <a:xfrm>
            <a:off x="145657" y="1218129"/>
            <a:ext cx="2168665" cy="7432804"/>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About 45-60% of Level 1 assets held by banks continue to be Reserves/Cash. As the figure shows, the U.S. domestic banking system currently holds more than $2.5 trillion in excess reserves. As the Fed starts to reduce its balance sheet over the next few years, the implication is that reserves will decline and need to be replaced by either Treasuries or GNMAs.</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These GNMAs will likely correspond to short vanilla CMOs since they have to be reasonable cash-substitutes.</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However, conventional wisdom holds that the Fed will not be able to reduce its balance sheet through sales (in order not to roil UST and MBS markets) and will pursue a strategy that focuses on ceasing to roll securities as they mature and on raising IOER. In this scenario, reduction in excess reserves is expected to be gradual.</a:t>
            </a:r>
          </a:p>
          <a:p>
            <a:pPr>
              <a:lnSpc>
                <a:spcPct val="100000"/>
              </a:lnSpc>
              <a:spcBef>
                <a:spcPts val="0"/>
              </a:spcBef>
            </a:pPr>
            <a:endParaRPr lang="en-US" sz="1200" dirty="0">
              <a:latin typeface="Calibri" panose="020F0502020204030204" pitchFamily="34" charset="0"/>
            </a:endParaRPr>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EXCESS RESERVES FOR U.S. BANKS</a:t>
            </a:r>
          </a:p>
          <a:p>
            <a:pPr algn="ctr"/>
            <a:r>
              <a:rPr lang="en-US" sz="1300" dirty="0" smtClean="0">
                <a:solidFill>
                  <a:srgbClr val="FFFFFF"/>
                </a:solidFill>
              </a:rPr>
              <a:t>(January 2010 – September 2015) </a:t>
            </a:r>
          </a:p>
        </p:txBody>
      </p:sp>
      <p:sp>
        <p:nvSpPr>
          <p:cNvPr id="4" name="TextBox 3"/>
          <p:cNvSpPr txBox="1"/>
          <p:nvPr/>
        </p:nvSpPr>
        <p:spPr>
          <a:xfrm>
            <a:off x="2472699" y="6939687"/>
            <a:ext cx="1558938" cy="230832"/>
          </a:xfrm>
          <a:prstGeom prst="rect">
            <a:avLst/>
          </a:prstGeom>
          <a:noFill/>
        </p:spPr>
        <p:txBody>
          <a:bodyPr wrap="square" rtlCol="0">
            <a:spAutoFit/>
          </a:bodyPr>
          <a:lstStyle/>
          <a:p>
            <a:r>
              <a:rPr lang="en-US" sz="900" dirty="0" smtClean="0">
                <a:latin typeface="Calibri" panose="020F0502020204030204" pitchFamily="34" charset="0"/>
              </a:rPr>
              <a:t>Source: Citi Research</a:t>
            </a:r>
            <a:endParaRPr lang="en-US" sz="900" dirty="0">
              <a:latin typeface="Calibri" panose="020F0502020204030204" pitchFamily="34" charset="0"/>
            </a:endParaRPr>
          </a:p>
        </p:txBody>
      </p:sp>
      <p:graphicFrame>
        <p:nvGraphicFramePr>
          <p:cNvPr id="17" name="Chart 16"/>
          <p:cNvGraphicFramePr>
            <a:graphicFrameLocks/>
          </p:cNvGraphicFramePr>
          <p:nvPr>
            <p:extLst>
              <p:ext uri="{D42A27DB-BD31-4B8C-83A1-F6EECF244321}">
                <p14:modId xmlns:p14="http://schemas.microsoft.com/office/powerpoint/2010/main" val="2550266316"/>
              </p:ext>
            </p:extLst>
          </p:nvPr>
        </p:nvGraphicFramePr>
        <p:xfrm>
          <a:off x="2536166" y="2027208"/>
          <a:ext cx="7160293" cy="489522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4424209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Rectangle 2"/>
          <p:cNvSpPr>
            <a:spLocks noGrp="1" noChangeArrowheads="1"/>
          </p:cNvSpPr>
          <p:nvPr>
            <p:ph type="title"/>
          </p:nvPr>
        </p:nvSpPr>
        <p:spPr>
          <a:xfrm>
            <a:off x="2524287" y="268819"/>
            <a:ext cx="7280116" cy="644102"/>
          </a:xfrm>
        </p:spPr>
        <p:txBody>
          <a:bodyPr/>
          <a:lstStyle/>
          <a:p>
            <a:r>
              <a:rPr lang="en-US" dirty="0" smtClean="0"/>
              <a:t>DISCLOSURES</a:t>
            </a:r>
            <a:br>
              <a:rPr lang="en-US" dirty="0" smtClean="0"/>
            </a:br>
            <a:r>
              <a:rPr lang="en-US" sz="1200" b="0" dirty="0"/>
              <a:t>Important Notes</a:t>
            </a:r>
            <a:endParaRPr lang="en-US" sz="1200" b="0" dirty="0">
              <a:solidFill>
                <a:srgbClr val="FFFFFF"/>
              </a:solidFill>
            </a:endParaRPr>
          </a:p>
        </p:txBody>
      </p:sp>
      <p:sp>
        <p:nvSpPr>
          <p:cNvPr id="5" name="Rectangle 3"/>
          <p:cNvSpPr txBox="1">
            <a:spLocks noChangeArrowheads="1"/>
          </p:cNvSpPr>
          <p:nvPr/>
        </p:nvSpPr>
        <p:spPr bwMode="auto">
          <a:xfrm>
            <a:off x="266701" y="1414674"/>
            <a:ext cx="9525000" cy="5702405"/>
          </a:xfrm>
          <a:prstGeom prst="rect">
            <a:avLst/>
          </a:prstGeom>
          <a:noFill/>
          <a:ln w="9525">
            <a:noFill/>
            <a:miter lim="800000"/>
            <a:headEnd/>
            <a:tailEnd/>
          </a:ln>
        </p:spPr>
        <p:txBody>
          <a:bodyPr vert="horz" wrap="square" lIns="101847" tIns="50923" rIns="101847" bIns="50923" numCol="2" spcCol="274256" anchor="t" anchorCtr="0" compatLnSpc="1">
            <a:prstTxWarp prst="textNoShape">
              <a:avLst/>
            </a:prstTxWarp>
          </a:bodyPr>
          <a:lstStyle/>
          <a:p>
            <a:pPr defTabSz="914187" eaLnBrk="0" hangingPunct="0">
              <a:spcBef>
                <a:spcPct val="110000"/>
              </a:spcBef>
              <a:buClr>
                <a:schemeClr val="tx2"/>
              </a:buClr>
              <a:defRPr/>
            </a:pPr>
            <a:r>
              <a:rPr lang="en-US" sz="1100" kern="0" dirty="0">
                <a:latin typeface="+mn-lt"/>
              </a:rPr>
              <a:t>THIS DOCUMENT IS NOT AN OFFER TO SELL OR THE SOLICITATION OF AN OFFER TO BUY SHARES OF THE FUND. AN OFFERING OF INTERESTS WILL BE MADE ONLY BY MEANS OF A CONFIDENTIAL PRIVATE PLACEMENT MEMORANDUM AND ONLY TO QUALIFIED INVESTORS IN JURISDICTIONS WHERE PERMITTED BY LAW. PAST PERFORMANCE IS NO GUARANTEE OF FUTURE PERFORMANCE. </a:t>
            </a:r>
          </a:p>
          <a:p>
            <a:pPr defTabSz="914187" eaLnBrk="0" hangingPunct="0">
              <a:spcBef>
                <a:spcPct val="110000"/>
              </a:spcBef>
              <a:buClr>
                <a:schemeClr val="tx2"/>
              </a:buClr>
              <a:defRPr/>
            </a:pPr>
            <a:r>
              <a:rPr lang="en-US" sz="1100" kern="0" dirty="0">
                <a:latin typeface="+mn-lt"/>
              </a:rPr>
              <a:t>An investment in the Fund is speculative and involves a high degree of risk. The Fund will have substantial limitations on investors’ ability to redeem or transfer their shares, and no secondary market for the Fund’s shares exists or will develop. All of these risks, and other important risks, are described in detail in the Fund’s Confidential Private Placement Memorandum. Prospective investors are strongly urged to review this Confidential Private Placement Memorandum carefully and consult with their own financial, legal and tax advisors, before investing. </a:t>
            </a:r>
          </a:p>
          <a:p>
            <a:pPr defTabSz="914187" eaLnBrk="0" hangingPunct="0">
              <a:spcBef>
                <a:spcPct val="110000"/>
              </a:spcBef>
              <a:buClr>
                <a:schemeClr val="tx2"/>
              </a:buClr>
              <a:defRPr/>
            </a:pPr>
            <a:r>
              <a:rPr lang="en-US" sz="1100" kern="0" dirty="0">
                <a:latin typeface="+mn-lt"/>
              </a:rPr>
              <a:t>Portions of this document may contain commentary and/or data based on certain current assumptions by Cello Capital Management, </a:t>
            </a:r>
            <a:r>
              <a:rPr lang="en-US" sz="1100" kern="0" dirty="0" smtClean="0">
                <a:latin typeface="+mn-lt"/>
              </a:rPr>
              <a:t>LP(“</a:t>
            </a:r>
            <a:r>
              <a:rPr lang="en-US" sz="1100" kern="0" dirty="0">
                <a:latin typeface="+mn-lt"/>
              </a:rPr>
              <a:t>Cello”), which are subject to change at any time, as well as Cello's internal complex calculations. If one or more of these assumptions or calculations is incorrect, the information contained herein may unintentionally be inaccurate. </a:t>
            </a:r>
          </a:p>
          <a:p>
            <a:pPr defTabSz="914187" eaLnBrk="0" hangingPunct="0">
              <a:spcBef>
                <a:spcPct val="110000"/>
              </a:spcBef>
              <a:buClr>
                <a:schemeClr val="tx2"/>
              </a:buClr>
              <a:defRPr/>
            </a:pPr>
            <a:r>
              <a:rPr lang="en-US" sz="1100" kern="0" dirty="0">
                <a:latin typeface="+mn-lt"/>
              </a:rPr>
              <a:t>Certain information contained herein may have been obtained by Cello from third parties. While Cello believes such sources are reliable, Cello has not verified the accuracy of such information and shall not be liable for any errors in such information or for any actions taken in reliance thereon.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Performance results referenced in this document </a:t>
            </a:r>
            <a:r>
              <a:rPr lang="en-US" sz="1100" kern="0" dirty="0">
                <a:latin typeface="+mn-lt"/>
              </a:rPr>
              <a:t>are provided for an investor in Class A1a shares of Cello Fixed Income Master Fund, LP (the “Master Fund</a:t>
            </a:r>
            <a:r>
              <a:rPr lang="en-US" sz="1100" kern="0" dirty="0" smtClean="0">
                <a:latin typeface="+mn-lt"/>
              </a:rPr>
              <a:t>”). Unless otherwise noted. Performance </a:t>
            </a:r>
            <a:r>
              <a:rPr lang="en-US" sz="1100" kern="0" dirty="0">
                <a:latin typeface="+mn-lt"/>
              </a:rPr>
              <a:t>reflects all income. Class A1a shares launched on January 1, 2012, and returns for periods prior thereto have been adjusted to reflect the management fees and performance allocations chargeable to Class A1a </a:t>
            </a:r>
            <a:r>
              <a:rPr lang="en-US" sz="1100" kern="0" dirty="0" smtClean="0">
                <a:latin typeface="+mn-lt"/>
              </a:rPr>
              <a:t>shares.</a:t>
            </a:r>
            <a:endParaRPr lang="en-US" sz="1100" kern="0" dirty="0">
              <a:latin typeface="+mn-lt"/>
            </a:endParaRPr>
          </a:p>
          <a:p>
            <a:pPr defTabSz="914187" eaLnBrk="0" hangingPunct="0">
              <a:spcBef>
                <a:spcPct val="110000"/>
              </a:spcBef>
              <a:buClr>
                <a:schemeClr val="tx2"/>
              </a:buClr>
              <a:defRPr/>
            </a:pPr>
            <a:endParaRPr lang="en-US" sz="1100" kern="0" dirty="0"/>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algn="just" eaLnBrk="0" hangingPunct="0">
              <a:spcBef>
                <a:spcPts val="0"/>
              </a:spcBef>
              <a:spcAft>
                <a:spcPts val="0"/>
              </a:spcAft>
              <a:defRPr/>
            </a:pPr>
            <a:r>
              <a:rPr lang="en-US" sz="1100" kern="0" dirty="0" smtClean="0">
                <a:latin typeface="+mn-lt"/>
              </a:rPr>
              <a:t>The </a:t>
            </a:r>
            <a:r>
              <a:rPr lang="en-US" sz="1100" kern="0" dirty="0">
                <a:latin typeface="+mn-lt"/>
              </a:rPr>
              <a:t>Credit Suisse Fixed Income Arbitrage Hedge Fund Index is a subset of the Credit Suisse Hedge Fund Index that measures the aggregate performance of fixed income arbitrage funds. The Fixed Income Arb Index, which includes mortgage-backed securities, is part of Dow Jones Credit Suisse Hedge Fund Index. </a:t>
            </a:r>
            <a:r>
              <a:rPr lang="en-US" sz="1100" kern="0" dirty="0" smtClean="0">
                <a:latin typeface="+mn-lt"/>
              </a:rPr>
              <a:t> The </a:t>
            </a:r>
            <a:r>
              <a:rPr lang="en-US" sz="1100" kern="0" dirty="0">
                <a:latin typeface="+mn-lt"/>
              </a:rPr>
              <a:t>Barclays U.S. Aggregate Index represents securities that are SEC-registered, taxable, and dollar denominated. The index covers the U.S. investment grade fixed rate bond market, with index components for government and corporate securities, mortgage pass-through securities, and asset-backed securities. </a:t>
            </a:r>
            <a:r>
              <a:rPr lang="en-US" sz="1100" kern="0" dirty="0" smtClean="0">
                <a:latin typeface="+mn-lt"/>
              </a:rPr>
              <a:t>The Credit </a:t>
            </a:r>
            <a:r>
              <a:rPr lang="en-US" sz="1100" kern="0" dirty="0">
                <a:latin typeface="+mn-lt"/>
              </a:rPr>
              <a:t>Suisse All Hedge Index is an asset-weighted hedge fund </a:t>
            </a:r>
            <a:r>
              <a:rPr lang="en-US" sz="1100" kern="0" dirty="0" smtClean="0">
                <a:latin typeface="+mn-lt"/>
              </a:rPr>
              <a:t>index. The S&amp;P </a:t>
            </a:r>
            <a:r>
              <a:rPr lang="en-US" sz="1100" kern="0" dirty="0">
                <a:latin typeface="+mn-lt"/>
              </a:rPr>
              <a:t>500 is an equity index based on the market capitalizations of 500 large US </a:t>
            </a:r>
            <a:r>
              <a:rPr lang="en-US" sz="1100" kern="0" dirty="0" smtClean="0">
                <a:latin typeface="+mn-lt"/>
              </a:rPr>
              <a:t>companies.</a:t>
            </a:r>
            <a:endParaRPr lang="en-US" sz="1100" kern="0" dirty="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also contain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a:t>
            </a:r>
            <a:r>
              <a:rPr lang="en-US" sz="1100" kern="0" dirty="0" smtClean="0">
                <a:latin typeface="+mn-lt"/>
              </a:rPr>
              <a:t>invest based </a:t>
            </a:r>
            <a:r>
              <a:rPr lang="en-US" sz="1100" kern="0" dirty="0">
                <a:latin typeface="+mn-lt"/>
              </a:rPr>
              <a:t>on these forward-looking statements and projections.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contain references to certain internal Cello procedures and policies which are subject to change at any time. </a:t>
            </a:r>
          </a:p>
          <a:p>
            <a:pPr defTabSz="914187" eaLnBrk="0" hangingPunct="0">
              <a:spcBef>
                <a:spcPct val="110000"/>
              </a:spcBef>
              <a:buClr>
                <a:schemeClr val="tx2"/>
              </a:buClr>
              <a:defRPr/>
            </a:pPr>
            <a:r>
              <a:rPr lang="en-US" sz="1100" kern="0" dirty="0">
                <a:latin typeface="+mn-lt"/>
              </a:rPr>
              <a:t>No information or material contained herein may be reproduced, transmitted, displayed or commercially exploited without the prior written consent of Cello. </a:t>
            </a:r>
            <a:r>
              <a:rPr lang="en-US" sz="1100" kern="0" dirty="0" smtClean="0">
                <a:latin typeface="+mn-lt"/>
              </a:rPr>
              <a:t>All </a:t>
            </a:r>
            <a:r>
              <a:rPr lang="en-US" sz="1100" kern="0" dirty="0">
                <a:latin typeface="+mn-lt"/>
              </a:rPr>
              <a:t>rights are reserved</a:t>
            </a:r>
            <a:r>
              <a:rPr lang="en-US" sz="1100" kern="0" dirty="0" smtClean="0">
                <a:latin typeface="+mn-lt"/>
              </a:rPr>
              <a:t>.</a:t>
            </a: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a:latin typeface="+mn-l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8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9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0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1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79395</TotalTime>
  <Words>1380</Words>
  <Application>Microsoft Office PowerPoint</Application>
  <PresentationFormat>Custom</PresentationFormat>
  <Paragraphs>103</Paragraphs>
  <Slides>6</Slides>
  <Notes>5</Notes>
  <HiddenSlides>0</HiddenSlides>
  <MMClips>0</MMClips>
  <ScaleCrop>false</ScaleCrop>
  <HeadingPairs>
    <vt:vector size="4" baseType="variant">
      <vt:variant>
        <vt:lpstr>Theme</vt:lpstr>
      </vt:variant>
      <vt:variant>
        <vt:i4>19</vt:i4>
      </vt:variant>
      <vt:variant>
        <vt:lpstr>Slide Titles</vt:lpstr>
      </vt:variant>
      <vt:variant>
        <vt:i4>6</vt:i4>
      </vt:variant>
    </vt:vector>
  </HeadingPairs>
  <TitlesOfParts>
    <vt:vector size="25"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8_Custom Design</vt:lpstr>
      <vt:lpstr>9_Custom Design</vt:lpstr>
      <vt:lpstr>10_Custom Design</vt:lpstr>
      <vt:lpstr>11_Custom Design</vt:lpstr>
      <vt:lpstr>PowerPoint Presentation</vt:lpstr>
      <vt:lpstr>KEY TERMS</vt:lpstr>
      <vt:lpstr>CATEGORIES OF HQLAs</vt:lpstr>
      <vt:lpstr>HQLA TRENDS</vt:lpstr>
      <vt:lpstr>TRENDS IN EXCESS RESERVES</vt:lpstr>
      <vt:lpstr>DISCLOSURES Important Notes</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2336</cp:revision>
  <cp:lastPrinted>2015-08-06T15:23:44Z</cp:lastPrinted>
  <dcterms:created xsi:type="dcterms:W3CDTF">2011-07-07T12:37:32Z</dcterms:created>
  <dcterms:modified xsi:type="dcterms:W3CDTF">2015-11-04T18:05:42Z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