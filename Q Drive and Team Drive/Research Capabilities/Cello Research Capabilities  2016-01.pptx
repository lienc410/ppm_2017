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4.xml" ContentType="application/vnd.openxmlformats-officedocument.presentationml.slideLayout+xml"/>
  <Override PartName="/ppt/theme/theme9.xml" ContentType="application/vnd.openxmlformats-officedocument.theme+xml"/>
  <Override PartName="/ppt/slideLayouts/slideLayout15.xml" ContentType="application/vnd.openxmlformats-officedocument.presentationml.slideLayout+xml"/>
  <Override PartName="/ppt/theme/theme10.xml" ContentType="application/vnd.openxmlformats-officedocument.theme+xml"/>
  <Override PartName="/ppt/slideLayouts/slideLayout16.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theme/themeOverride1.xml" ContentType="application/vnd.openxmlformats-officedocument.themeOverride+xml"/>
  <Override PartName="/ppt/charts/chart4.xml" ContentType="application/vnd.openxmlformats-officedocument.drawingml.chart+xml"/>
  <Override PartName="/ppt/tags/tag1.xml" ContentType="application/vnd.openxmlformats-officedocument.presentationml.tags+xml"/>
  <Override PartName="/ppt/notesSlides/notesSlide4.xml" ContentType="application/vnd.openxmlformats-officedocument.presentationml.notesSlide+xml"/>
  <Override PartName="/ppt/charts/chart5.xml" ContentType="application/vnd.openxmlformats-officedocument.drawingml.chart+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Lst>
  <p:notesMasterIdLst>
    <p:notesMasterId r:id="rId33"/>
  </p:notesMasterIdLst>
  <p:handoutMasterIdLst>
    <p:handoutMasterId r:id="rId34"/>
  </p:handoutMasterIdLst>
  <p:sldIdLst>
    <p:sldId id="433" r:id="rId14"/>
    <p:sldId id="614" r:id="rId15"/>
    <p:sldId id="615" r:id="rId16"/>
    <p:sldId id="616" r:id="rId17"/>
    <p:sldId id="617" r:id="rId18"/>
    <p:sldId id="620" r:id="rId19"/>
    <p:sldId id="631" r:id="rId20"/>
    <p:sldId id="632" r:id="rId21"/>
    <p:sldId id="633" r:id="rId22"/>
    <p:sldId id="634" r:id="rId23"/>
    <p:sldId id="635" r:id="rId24"/>
    <p:sldId id="626" r:id="rId25"/>
    <p:sldId id="627" r:id="rId26"/>
    <p:sldId id="623" r:id="rId27"/>
    <p:sldId id="630" r:id="rId28"/>
    <p:sldId id="629" r:id="rId29"/>
    <p:sldId id="622" r:id="rId30"/>
    <p:sldId id="618" r:id="rId31"/>
    <p:sldId id="628" r:id="rId32"/>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644" indent="1769" algn="l" rtl="0" fontAlgn="base">
      <a:spcBef>
        <a:spcPct val="0"/>
      </a:spcBef>
      <a:spcAft>
        <a:spcPct val="0"/>
      </a:spcAft>
      <a:defRPr kern="1200">
        <a:solidFill>
          <a:schemeClr val="tx1"/>
        </a:solidFill>
        <a:latin typeface="Cambria" pitchFamily="18" charset="0"/>
        <a:ea typeface="+mn-ea"/>
        <a:cs typeface="+mn-cs"/>
      </a:defRPr>
    </a:lvl2pPr>
    <a:lvl3pPr marL="1017056" indent="1769" algn="l" rtl="0" fontAlgn="base">
      <a:spcBef>
        <a:spcPct val="0"/>
      </a:spcBef>
      <a:spcAft>
        <a:spcPct val="0"/>
      </a:spcAft>
      <a:defRPr kern="1200">
        <a:solidFill>
          <a:schemeClr val="tx1"/>
        </a:solidFill>
        <a:latin typeface="Cambria" pitchFamily="18" charset="0"/>
        <a:ea typeface="+mn-ea"/>
        <a:cs typeface="+mn-cs"/>
      </a:defRPr>
    </a:lvl3pPr>
    <a:lvl4pPr marL="1526468" indent="1769" algn="l" rtl="0" fontAlgn="base">
      <a:spcBef>
        <a:spcPct val="0"/>
      </a:spcBef>
      <a:spcAft>
        <a:spcPct val="0"/>
      </a:spcAft>
      <a:defRPr kern="1200">
        <a:solidFill>
          <a:schemeClr val="tx1"/>
        </a:solidFill>
        <a:latin typeface="Cambria" pitchFamily="18" charset="0"/>
        <a:ea typeface="+mn-ea"/>
        <a:cs typeface="+mn-cs"/>
      </a:defRPr>
    </a:lvl4pPr>
    <a:lvl5pPr marL="2035881" indent="1769" algn="l" rtl="0" fontAlgn="base">
      <a:spcBef>
        <a:spcPct val="0"/>
      </a:spcBef>
      <a:spcAft>
        <a:spcPct val="0"/>
      </a:spcAft>
      <a:defRPr kern="1200">
        <a:solidFill>
          <a:schemeClr val="tx1"/>
        </a:solidFill>
        <a:latin typeface="Cambria" pitchFamily="18" charset="0"/>
        <a:ea typeface="+mn-ea"/>
        <a:cs typeface="+mn-cs"/>
      </a:defRPr>
    </a:lvl5pPr>
    <a:lvl6pPr marL="2547061" algn="l" defTabSz="1018824" rtl="0" eaLnBrk="1" latinLnBrk="0" hangingPunct="1">
      <a:defRPr kern="1200">
        <a:solidFill>
          <a:schemeClr val="tx1"/>
        </a:solidFill>
        <a:latin typeface="Cambria" pitchFamily="18" charset="0"/>
        <a:ea typeface="+mn-ea"/>
        <a:cs typeface="+mn-cs"/>
      </a:defRPr>
    </a:lvl6pPr>
    <a:lvl7pPr marL="3056473" algn="l" defTabSz="1018824" rtl="0" eaLnBrk="1" latinLnBrk="0" hangingPunct="1">
      <a:defRPr kern="1200">
        <a:solidFill>
          <a:schemeClr val="tx1"/>
        </a:solidFill>
        <a:latin typeface="Cambria" pitchFamily="18" charset="0"/>
        <a:ea typeface="+mn-ea"/>
        <a:cs typeface="+mn-cs"/>
      </a:defRPr>
    </a:lvl7pPr>
    <a:lvl8pPr marL="3565886" algn="l" defTabSz="1018824" rtl="0" eaLnBrk="1" latinLnBrk="0" hangingPunct="1">
      <a:defRPr kern="1200">
        <a:solidFill>
          <a:schemeClr val="tx1"/>
        </a:solidFill>
        <a:latin typeface="Cambria" pitchFamily="18" charset="0"/>
        <a:ea typeface="+mn-ea"/>
        <a:cs typeface="+mn-cs"/>
      </a:defRPr>
    </a:lvl8pPr>
    <a:lvl9pPr marL="4075298" algn="l" defTabSz="1018824"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398A"/>
    <a:srgbClr val="EFEBE4"/>
    <a:srgbClr val="203353"/>
    <a:srgbClr val="968880"/>
    <a:srgbClr val="533D2D"/>
    <a:srgbClr val="533D23"/>
    <a:srgbClr val="996633"/>
    <a:srgbClr val="8C2B18"/>
    <a:srgbClr val="090909"/>
    <a:srgbClr val="E519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791" autoAdjust="0"/>
    <p:restoredTop sz="95014" autoAdjust="0"/>
  </p:normalViewPr>
  <p:slideViewPr>
    <p:cSldViewPr snapToGrid="0">
      <p:cViewPr>
        <p:scale>
          <a:sx n="100" d="100"/>
          <a:sy n="100" d="100"/>
        </p:scale>
        <p:origin x="-1644" y="-1122"/>
      </p:cViewPr>
      <p:guideLst>
        <p:guide orient="horz" pos="1265"/>
        <p:guide orient="horz" pos="4754"/>
        <p:guide orient="horz" pos="797"/>
        <p:guide orient="horz" pos="969"/>
        <p:guide orient="horz" pos="4386"/>
        <p:guide orient="horz" pos="145"/>
        <p:guide pos="5286"/>
        <p:guide pos="150"/>
        <p:guide pos="6192"/>
        <p:guide pos="6335"/>
        <p:guide/>
        <p:guide pos="3159"/>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0"/>
    </p:cViewPr>
  </p:sorterViewPr>
  <p:notesViewPr>
    <p:cSldViewPr snapToGrid="0">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5.xml"/><Relationship Id="rId26" Type="http://schemas.openxmlformats.org/officeDocument/2006/relationships/slide" Target="slides/slide13.xml"/><Relationship Id="rId3" Type="http://schemas.openxmlformats.org/officeDocument/2006/relationships/slideMaster" Target="slideMasters/slideMaster3.xml"/><Relationship Id="rId21" Type="http://schemas.openxmlformats.org/officeDocument/2006/relationships/slide" Target="slides/slide8.xml"/><Relationship Id="rId34" Type="http://schemas.openxmlformats.org/officeDocument/2006/relationships/handoutMaster" Target="handoutMasters/handoutMaster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3.xml"/><Relationship Id="rId20" Type="http://schemas.openxmlformats.org/officeDocument/2006/relationships/slide" Target="slides/slide7.xml"/><Relationship Id="rId29"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6.xml"/><Relationship Id="rId31" Type="http://schemas.openxmlformats.org/officeDocument/2006/relationships/slide" Target="slides/slide1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oleObject" Target="file:///\\CELLO-NAS2\sharad.chaudhary\Investment%20Process\Data%20for%20Investment%20Proces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ELLO-NAS2\sharad.chaudhary\Investment%20Process\Data%20for%20Investment%20Process.xlsx" TargetMode="External"/></Relationships>
</file>

<file path=ppt/charts/_rels/chart3.xml.rels><?xml version="1.0" encoding="UTF-8" standalone="yes"?>
<Relationships xmlns="http://schemas.openxmlformats.org/package/2006/relationships"><Relationship Id="rId2" Type="http://schemas.openxmlformats.org/officeDocument/2006/relationships/oleObject" Target="file:///C:\Users\Sharad\Downloads\Jumbo%20Geo%20Curve.xlsx" TargetMode="External"/><Relationship Id="rId1" Type="http://schemas.openxmlformats.org/officeDocument/2006/relationships/themeOverride" Target="../theme/themeOverride1.xml"/></Relationships>
</file>

<file path=ppt/charts/_rels/chart4.xml.rels><?xml version="1.0" encoding="UTF-8" standalone="yes"?>
<Relationships xmlns="http://schemas.openxmlformats.org/package/2006/relationships"><Relationship Id="rId1" Type="http://schemas.openxmlformats.org/officeDocument/2006/relationships/oleObject" Target="file:///\\ccmnydc1\cello-share-nas$\IT\Production\Daily%20Reports\Primary%20Market\11.Refinanceable%20Percentage%20Master.xlsm"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cmnydc1\inv-relations$\Cello%20Marketing%20Materials\Fixed%20Income%20Fund\Drafts\Monthly%20Market%20Update\Universe%20Credit%20Availability%20with%20Non-Agency.xlsm"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9861601127752203E-2"/>
          <c:y val="4.8393410432260801E-2"/>
          <c:w val="0.90885752782385887"/>
          <c:h val="0.69919814478645792"/>
        </c:manualLayout>
      </c:layout>
      <c:lineChart>
        <c:grouping val="standard"/>
        <c:varyColors val="0"/>
        <c:ser>
          <c:idx val="1"/>
          <c:order val="0"/>
          <c:tx>
            <c:strRef>
              <c:f>'GNMA SCurves by Regime'!$C$1</c:f>
              <c:strCache>
                <c:ptCount val="1"/>
                <c:pt idx="0">
                  <c:v>Jan 2007 - Jan 2010</c:v>
                </c:pt>
              </c:strCache>
            </c:strRef>
          </c:tx>
          <c:marker>
            <c:symbol val="none"/>
          </c:marker>
          <c:cat>
            <c:numRef>
              <c:f>'GNMA SCurves by Regime'!$B$2:$B$11</c:f>
              <c:numCache>
                <c:formatCode>General</c:formatCode>
                <c:ptCount val="10"/>
                <c:pt idx="0">
                  <c:v>-0.5</c:v>
                </c:pt>
                <c:pt idx="1">
                  <c:v>-0.25</c:v>
                </c:pt>
                <c:pt idx="2">
                  <c:v>0</c:v>
                </c:pt>
                <c:pt idx="3">
                  <c:v>0.25</c:v>
                </c:pt>
                <c:pt idx="4">
                  <c:v>0.5</c:v>
                </c:pt>
                <c:pt idx="5">
                  <c:v>0.75</c:v>
                </c:pt>
                <c:pt idx="6">
                  <c:v>1</c:v>
                </c:pt>
                <c:pt idx="7">
                  <c:v>1.25</c:v>
                </c:pt>
                <c:pt idx="8">
                  <c:v>1.5</c:v>
                </c:pt>
                <c:pt idx="9">
                  <c:v>1.75</c:v>
                </c:pt>
              </c:numCache>
            </c:numRef>
          </c:cat>
          <c:val>
            <c:numRef>
              <c:f>'GNMA SCurves by Regime'!$C$2:$C$11</c:f>
              <c:numCache>
                <c:formatCode>_(* #,##0.00_);_(* \(#,##0.00\);_(* "-"??_);_(@_)</c:formatCode>
                <c:ptCount val="10"/>
                <c:pt idx="0">
                  <c:v>4</c:v>
                </c:pt>
                <c:pt idx="1">
                  <c:v>5.09</c:v>
                </c:pt>
                <c:pt idx="2">
                  <c:v>7.6</c:v>
                </c:pt>
                <c:pt idx="3">
                  <c:v>15.6</c:v>
                </c:pt>
                <c:pt idx="4">
                  <c:v>12.6</c:v>
                </c:pt>
                <c:pt idx="5">
                  <c:v>21.9</c:v>
                </c:pt>
                <c:pt idx="6">
                  <c:v>24.9</c:v>
                </c:pt>
                <c:pt idx="7">
                  <c:v>26.8</c:v>
                </c:pt>
                <c:pt idx="8">
                  <c:v>30.1</c:v>
                </c:pt>
              </c:numCache>
            </c:numRef>
          </c:val>
          <c:smooth val="0"/>
        </c:ser>
        <c:ser>
          <c:idx val="2"/>
          <c:order val="1"/>
          <c:tx>
            <c:strRef>
              <c:f>'GNMA SCurves by Regime'!$D$1</c:f>
              <c:strCache>
                <c:ptCount val="1"/>
                <c:pt idx="0">
                  <c:v>Jan 2010 - Jun 2012</c:v>
                </c:pt>
              </c:strCache>
            </c:strRef>
          </c:tx>
          <c:spPr>
            <a:ln>
              <a:solidFill>
                <a:schemeClr val="tx2"/>
              </a:solidFill>
            </a:ln>
          </c:spPr>
          <c:marker>
            <c:symbol val="none"/>
          </c:marker>
          <c:cat>
            <c:numRef>
              <c:f>'GNMA SCurves by Regime'!$B$2:$B$11</c:f>
              <c:numCache>
                <c:formatCode>General</c:formatCode>
                <c:ptCount val="10"/>
                <c:pt idx="0">
                  <c:v>-0.5</c:v>
                </c:pt>
                <c:pt idx="1">
                  <c:v>-0.25</c:v>
                </c:pt>
                <c:pt idx="2">
                  <c:v>0</c:v>
                </c:pt>
                <c:pt idx="3">
                  <c:v>0.25</c:v>
                </c:pt>
                <c:pt idx="4">
                  <c:v>0.5</c:v>
                </c:pt>
                <c:pt idx="5">
                  <c:v>0.75</c:v>
                </c:pt>
                <c:pt idx="6">
                  <c:v>1</c:v>
                </c:pt>
                <c:pt idx="7">
                  <c:v>1.25</c:v>
                </c:pt>
                <c:pt idx="8">
                  <c:v>1.5</c:v>
                </c:pt>
                <c:pt idx="9">
                  <c:v>1.75</c:v>
                </c:pt>
              </c:numCache>
            </c:numRef>
          </c:cat>
          <c:val>
            <c:numRef>
              <c:f>'GNMA SCurves by Regime'!$D$2:$D$11</c:f>
              <c:numCache>
                <c:formatCode>General</c:formatCode>
                <c:ptCount val="10"/>
                <c:pt idx="2" formatCode="_(* #,##0.00_);_(* \(#,##0.00\);_(* &quot;-&quot;??_);_(@_)">
                  <c:v>7.6</c:v>
                </c:pt>
                <c:pt idx="3" formatCode="_(* #,##0.00_);_(* \(#,##0.00\);_(* &quot;-&quot;??_);_(@_)">
                  <c:v>7.1</c:v>
                </c:pt>
                <c:pt idx="4" formatCode="_(* #,##0.00_);_(* \(#,##0.00\);_(* &quot;-&quot;??_);_(@_)">
                  <c:v>10</c:v>
                </c:pt>
                <c:pt idx="5" formatCode="_(* #,##0.00_);_(* \(#,##0.00\);_(* &quot;-&quot;??_);_(@_)">
                  <c:v>12.1</c:v>
                </c:pt>
                <c:pt idx="6" formatCode="_(* #,##0.00_);_(* \(#,##0.00\);_(* &quot;-&quot;??_);_(@_)">
                  <c:v>13.3</c:v>
                </c:pt>
                <c:pt idx="7" formatCode="_(* #,##0.00_);_(* \(#,##0.00\);_(* &quot;-&quot;??_);_(@_)">
                  <c:v>14.7</c:v>
                </c:pt>
                <c:pt idx="8" formatCode="_(* #,##0.00_);_(* \(#,##0.00\);_(* &quot;-&quot;??_);_(@_)">
                  <c:v>15.1</c:v>
                </c:pt>
                <c:pt idx="9" formatCode="_(* #,##0.00_);_(* \(#,##0.00\);_(* &quot;-&quot;??_);_(@_)">
                  <c:v>13.3</c:v>
                </c:pt>
              </c:numCache>
            </c:numRef>
          </c:val>
          <c:smooth val="0"/>
        </c:ser>
        <c:dLbls>
          <c:showLegendKey val="0"/>
          <c:showVal val="0"/>
          <c:showCatName val="0"/>
          <c:showSerName val="0"/>
          <c:showPercent val="0"/>
          <c:showBubbleSize val="0"/>
        </c:dLbls>
        <c:marker val="1"/>
        <c:smooth val="0"/>
        <c:axId val="153862912"/>
        <c:axId val="133546752"/>
      </c:lineChart>
      <c:catAx>
        <c:axId val="153862912"/>
        <c:scaling>
          <c:orientation val="minMax"/>
        </c:scaling>
        <c:delete val="0"/>
        <c:axPos val="b"/>
        <c:title>
          <c:tx>
            <c:rich>
              <a:bodyPr/>
              <a:lstStyle/>
              <a:p>
                <a:pPr>
                  <a:defRPr/>
                </a:pPr>
                <a:r>
                  <a:rPr lang="en-US"/>
                  <a:t>Incentive (%)</a:t>
                </a:r>
              </a:p>
            </c:rich>
          </c:tx>
          <c:layout/>
          <c:overlay val="0"/>
        </c:title>
        <c:numFmt formatCode="#,##0.00" sourceLinked="0"/>
        <c:majorTickMark val="cross"/>
        <c:minorTickMark val="none"/>
        <c:tickLblPos val="low"/>
        <c:crossAx val="133546752"/>
        <c:crosses val="autoZero"/>
        <c:auto val="1"/>
        <c:lblAlgn val="ctr"/>
        <c:lblOffset val="100"/>
        <c:noMultiLvlLbl val="0"/>
      </c:catAx>
      <c:valAx>
        <c:axId val="133546752"/>
        <c:scaling>
          <c:orientation val="minMax"/>
        </c:scaling>
        <c:delete val="0"/>
        <c:axPos val="l"/>
        <c:title>
          <c:tx>
            <c:rich>
              <a:bodyPr rot="-5400000" vert="horz"/>
              <a:lstStyle/>
              <a:p>
                <a:pPr>
                  <a:defRPr/>
                </a:pPr>
                <a:r>
                  <a:rPr lang="en-US"/>
                  <a:t>CPR (%)</a:t>
                </a:r>
              </a:p>
            </c:rich>
          </c:tx>
          <c:layout>
            <c:manualLayout>
              <c:xMode val="edge"/>
              <c:yMode val="edge"/>
              <c:x val="0.15277777777777779"/>
              <c:y val="0.23318970545348497"/>
            </c:manualLayout>
          </c:layout>
          <c:overlay val="0"/>
        </c:title>
        <c:numFmt formatCode="#,##0" sourceLinked="0"/>
        <c:majorTickMark val="out"/>
        <c:minorTickMark val="none"/>
        <c:tickLblPos val="nextTo"/>
        <c:crossAx val="153862912"/>
        <c:crossesAt val="3"/>
        <c:crossBetween val="midCat"/>
      </c:valAx>
    </c:plotArea>
    <c:legend>
      <c:legendPos val="b"/>
      <c:layout/>
      <c:overlay val="0"/>
    </c:legend>
    <c:plotVisOnly val="1"/>
    <c:dispBlanksAs val="gap"/>
    <c:showDLblsOverMax val="0"/>
  </c:chart>
  <c:spPr>
    <a:ln>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6"/>
          <c:order val="0"/>
          <c:tx>
            <c:v>CQ</c:v>
          </c:tx>
          <c:marker>
            <c:symbol val="none"/>
          </c:marker>
          <c:cat>
            <c:numRef>
              <c:f>'Sector Prepayments'!$A$14:$A$28</c:f>
              <c:numCache>
                <c:formatCode>[$-409]mmm\-yy;@</c:formatCode>
                <c:ptCount val="15"/>
                <c:pt idx="0">
                  <c:v>40909</c:v>
                </c:pt>
                <c:pt idx="1">
                  <c:v>40940</c:v>
                </c:pt>
                <c:pt idx="2">
                  <c:v>40969</c:v>
                </c:pt>
                <c:pt idx="3">
                  <c:v>41000</c:v>
                </c:pt>
                <c:pt idx="4">
                  <c:v>41030</c:v>
                </c:pt>
                <c:pt idx="5">
                  <c:v>41061</c:v>
                </c:pt>
                <c:pt idx="6">
                  <c:v>41091</c:v>
                </c:pt>
                <c:pt idx="7">
                  <c:v>41122</c:v>
                </c:pt>
                <c:pt idx="8">
                  <c:v>41153</c:v>
                </c:pt>
                <c:pt idx="9">
                  <c:v>41183</c:v>
                </c:pt>
                <c:pt idx="10">
                  <c:v>41214</c:v>
                </c:pt>
                <c:pt idx="11">
                  <c:v>41244</c:v>
                </c:pt>
                <c:pt idx="12">
                  <c:v>41275</c:v>
                </c:pt>
                <c:pt idx="13">
                  <c:v>41306</c:v>
                </c:pt>
                <c:pt idx="14">
                  <c:v>41334</c:v>
                </c:pt>
              </c:numCache>
            </c:numRef>
          </c:cat>
          <c:val>
            <c:numRef>
              <c:f>'Sector Prepayments'!$B$14:$B$28</c:f>
              <c:numCache>
                <c:formatCode>0.0</c:formatCode>
                <c:ptCount val="15"/>
                <c:pt idx="0">
                  <c:v>2.96</c:v>
                </c:pt>
                <c:pt idx="1">
                  <c:v>2.72</c:v>
                </c:pt>
                <c:pt idx="2">
                  <c:v>2.4900000000000002</c:v>
                </c:pt>
                <c:pt idx="3">
                  <c:v>2.4500000000000002</c:v>
                </c:pt>
                <c:pt idx="4">
                  <c:v>2.42</c:v>
                </c:pt>
                <c:pt idx="5">
                  <c:v>2.82</c:v>
                </c:pt>
                <c:pt idx="6">
                  <c:v>3.38</c:v>
                </c:pt>
                <c:pt idx="7">
                  <c:v>2.68</c:v>
                </c:pt>
                <c:pt idx="8">
                  <c:v>2.9</c:v>
                </c:pt>
                <c:pt idx="9">
                  <c:v>2.73</c:v>
                </c:pt>
                <c:pt idx="10">
                  <c:v>2.8</c:v>
                </c:pt>
                <c:pt idx="11">
                  <c:v>2.73</c:v>
                </c:pt>
                <c:pt idx="12">
                  <c:v>2.71</c:v>
                </c:pt>
                <c:pt idx="13">
                  <c:v>2.94</c:v>
                </c:pt>
                <c:pt idx="14">
                  <c:v>2.94</c:v>
                </c:pt>
              </c:numCache>
            </c:numRef>
          </c:val>
          <c:smooth val="0"/>
        </c:ser>
        <c:ser>
          <c:idx val="8"/>
          <c:order val="1"/>
          <c:tx>
            <c:v>Jumbo</c:v>
          </c:tx>
          <c:spPr>
            <a:ln>
              <a:solidFill>
                <a:schemeClr val="bg2">
                  <a:lumMod val="50000"/>
                </a:schemeClr>
              </a:solidFill>
            </a:ln>
          </c:spPr>
          <c:marker>
            <c:symbol val="none"/>
          </c:marker>
          <c:cat>
            <c:numRef>
              <c:f>'Sector Prepayments'!$A$14:$A$28</c:f>
              <c:numCache>
                <c:formatCode>[$-409]mmm\-yy;@</c:formatCode>
                <c:ptCount val="15"/>
                <c:pt idx="0">
                  <c:v>40909</c:v>
                </c:pt>
                <c:pt idx="1">
                  <c:v>40940</c:v>
                </c:pt>
                <c:pt idx="2">
                  <c:v>40969</c:v>
                </c:pt>
                <c:pt idx="3">
                  <c:v>41000</c:v>
                </c:pt>
                <c:pt idx="4">
                  <c:v>41030</c:v>
                </c:pt>
                <c:pt idx="5">
                  <c:v>41061</c:v>
                </c:pt>
                <c:pt idx="6">
                  <c:v>41091</c:v>
                </c:pt>
                <c:pt idx="7">
                  <c:v>41122</c:v>
                </c:pt>
                <c:pt idx="8">
                  <c:v>41153</c:v>
                </c:pt>
                <c:pt idx="9">
                  <c:v>41183</c:v>
                </c:pt>
                <c:pt idx="10">
                  <c:v>41214</c:v>
                </c:pt>
                <c:pt idx="11">
                  <c:v>41244</c:v>
                </c:pt>
                <c:pt idx="12">
                  <c:v>41275</c:v>
                </c:pt>
                <c:pt idx="13">
                  <c:v>41306</c:v>
                </c:pt>
                <c:pt idx="14">
                  <c:v>41334</c:v>
                </c:pt>
              </c:numCache>
            </c:numRef>
          </c:cat>
          <c:val>
            <c:numRef>
              <c:f>'Sector Prepayments'!$C$14:$C$28</c:f>
              <c:numCache>
                <c:formatCode>0.0</c:formatCode>
                <c:ptCount val="15"/>
                <c:pt idx="0">
                  <c:v>25.38</c:v>
                </c:pt>
                <c:pt idx="1">
                  <c:v>25.45</c:v>
                </c:pt>
                <c:pt idx="2">
                  <c:v>34.56</c:v>
                </c:pt>
                <c:pt idx="3">
                  <c:v>34.380000000000003</c:v>
                </c:pt>
                <c:pt idx="4">
                  <c:v>27.27</c:v>
                </c:pt>
                <c:pt idx="5">
                  <c:v>27.8</c:v>
                </c:pt>
                <c:pt idx="6">
                  <c:v>33.5</c:v>
                </c:pt>
                <c:pt idx="7">
                  <c:v>40.76</c:v>
                </c:pt>
                <c:pt idx="8">
                  <c:v>45.59</c:v>
                </c:pt>
                <c:pt idx="9">
                  <c:v>41.76</c:v>
                </c:pt>
                <c:pt idx="10">
                  <c:v>44.93</c:v>
                </c:pt>
                <c:pt idx="11">
                  <c:v>45.04</c:v>
                </c:pt>
                <c:pt idx="12">
                  <c:v>47</c:v>
                </c:pt>
                <c:pt idx="13">
                  <c:v>45.56</c:v>
                </c:pt>
                <c:pt idx="14">
                  <c:v>37.840000000000003</c:v>
                </c:pt>
              </c:numCache>
            </c:numRef>
          </c:val>
          <c:smooth val="0"/>
        </c:ser>
        <c:dLbls>
          <c:showLegendKey val="0"/>
          <c:showVal val="0"/>
          <c:showCatName val="0"/>
          <c:showSerName val="0"/>
          <c:showPercent val="0"/>
          <c:showBubbleSize val="0"/>
        </c:dLbls>
        <c:marker val="1"/>
        <c:smooth val="0"/>
        <c:axId val="133629056"/>
        <c:axId val="133630592"/>
      </c:lineChart>
      <c:lineChart>
        <c:grouping val="standard"/>
        <c:varyColors val="0"/>
        <c:ser>
          <c:idx val="16"/>
          <c:order val="2"/>
          <c:tx>
            <c:v>Mortgage Rate</c:v>
          </c:tx>
          <c:spPr>
            <a:ln>
              <a:solidFill>
                <a:srgbClr val="C00000"/>
              </a:solidFill>
              <a:prstDash val="sysDash"/>
            </a:ln>
          </c:spPr>
          <c:marker>
            <c:symbol val="none"/>
          </c:marker>
          <c:cat>
            <c:numRef>
              <c:f>'Sector Prepayments'!$A$14:$A$28</c:f>
              <c:numCache>
                <c:formatCode>[$-409]mmm\-yy;@</c:formatCode>
                <c:ptCount val="15"/>
                <c:pt idx="0">
                  <c:v>40909</c:v>
                </c:pt>
                <c:pt idx="1">
                  <c:v>40940</c:v>
                </c:pt>
                <c:pt idx="2">
                  <c:v>40969</c:v>
                </c:pt>
                <c:pt idx="3">
                  <c:v>41000</c:v>
                </c:pt>
                <c:pt idx="4">
                  <c:v>41030</c:v>
                </c:pt>
                <c:pt idx="5">
                  <c:v>41061</c:v>
                </c:pt>
                <c:pt idx="6">
                  <c:v>41091</c:v>
                </c:pt>
                <c:pt idx="7">
                  <c:v>41122</c:v>
                </c:pt>
                <c:pt idx="8">
                  <c:v>41153</c:v>
                </c:pt>
                <c:pt idx="9">
                  <c:v>41183</c:v>
                </c:pt>
                <c:pt idx="10">
                  <c:v>41214</c:v>
                </c:pt>
                <c:pt idx="11">
                  <c:v>41244</c:v>
                </c:pt>
                <c:pt idx="12">
                  <c:v>41275</c:v>
                </c:pt>
                <c:pt idx="13">
                  <c:v>41306</c:v>
                </c:pt>
                <c:pt idx="14">
                  <c:v>41334</c:v>
                </c:pt>
              </c:numCache>
            </c:numRef>
          </c:cat>
          <c:val>
            <c:numRef>
              <c:f>'Sector Prepayments'!$E$14:$E$28</c:f>
              <c:numCache>
                <c:formatCode>0.00</c:formatCode>
                <c:ptCount val="15"/>
                <c:pt idx="0">
                  <c:v>3.99</c:v>
                </c:pt>
                <c:pt idx="1">
                  <c:v>3.96</c:v>
                </c:pt>
                <c:pt idx="2">
                  <c:v>3.92</c:v>
                </c:pt>
                <c:pt idx="3">
                  <c:v>3.89</c:v>
                </c:pt>
                <c:pt idx="4">
                  <c:v>3.95</c:v>
                </c:pt>
                <c:pt idx="5">
                  <c:v>3.91</c:v>
                </c:pt>
                <c:pt idx="6">
                  <c:v>3.8</c:v>
                </c:pt>
                <c:pt idx="7">
                  <c:v>3.68</c:v>
                </c:pt>
                <c:pt idx="8">
                  <c:v>3.55</c:v>
                </c:pt>
                <c:pt idx="9">
                  <c:v>3.6</c:v>
                </c:pt>
                <c:pt idx="10">
                  <c:v>3.47</c:v>
                </c:pt>
                <c:pt idx="11">
                  <c:v>3.38</c:v>
                </c:pt>
                <c:pt idx="12">
                  <c:v>3.35</c:v>
                </c:pt>
                <c:pt idx="13">
                  <c:v>3.35</c:v>
                </c:pt>
                <c:pt idx="14">
                  <c:v>3.41</c:v>
                </c:pt>
              </c:numCache>
            </c:numRef>
          </c:val>
          <c:smooth val="0"/>
        </c:ser>
        <c:dLbls>
          <c:showLegendKey val="0"/>
          <c:showVal val="0"/>
          <c:showCatName val="0"/>
          <c:showSerName val="0"/>
          <c:showPercent val="0"/>
          <c:showBubbleSize val="0"/>
        </c:dLbls>
        <c:marker val="1"/>
        <c:smooth val="0"/>
        <c:axId val="133634688"/>
        <c:axId val="133632768"/>
      </c:lineChart>
      <c:dateAx>
        <c:axId val="133629056"/>
        <c:scaling>
          <c:orientation val="minMax"/>
        </c:scaling>
        <c:delete val="0"/>
        <c:axPos val="b"/>
        <c:numFmt formatCode="[$-409]mmm\-yy;@" sourceLinked="1"/>
        <c:majorTickMark val="out"/>
        <c:minorTickMark val="none"/>
        <c:tickLblPos val="nextTo"/>
        <c:crossAx val="133630592"/>
        <c:crosses val="autoZero"/>
        <c:auto val="1"/>
        <c:lblOffset val="100"/>
        <c:baseTimeUnit val="months"/>
      </c:dateAx>
      <c:valAx>
        <c:axId val="133630592"/>
        <c:scaling>
          <c:orientation val="minMax"/>
        </c:scaling>
        <c:delete val="0"/>
        <c:axPos val="l"/>
        <c:title>
          <c:tx>
            <c:rich>
              <a:bodyPr rot="-5400000" vert="horz"/>
              <a:lstStyle/>
              <a:p>
                <a:pPr>
                  <a:defRPr/>
                </a:pPr>
                <a:r>
                  <a:rPr lang="en-US"/>
                  <a:t>CPR(%)</a:t>
                </a:r>
              </a:p>
            </c:rich>
          </c:tx>
          <c:layout/>
          <c:overlay val="0"/>
        </c:title>
        <c:numFmt formatCode="0" sourceLinked="0"/>
        <c:majorTickMark val="out"/>
        <c:minorTickMark val="none"/>
        <c:tickLblPos val="nextTo"/>
        <c:crossAx val="133629056"/>
        <c:crosses val="autoZero"/>
        <c:crossBetween val="between"/>
      </c:valAx>
      <c:valAx>
        <c:axId val="133632768"/>
        <c:scaling>
          <c:orientation val="minMax"/>
          <c:max val="4.25"/>
          <c:min val="3.25"/>
        </c:scaling>
        <c:delete val="0"/>
        <c:axPos val="r"/>
        <c:title>
          <c:tx>
            <c:rich>
              <a:bodyPr rot="-5400000" vert="horz"/>
              <a:lstStyle/>
              <a:p>
                <a:pPr>
                  <a:defRPr/>
                </a:pPr>
                <a:r>
                  <a:rPr lang="en-US"/>
                  <a:t>Mortgage Rate (%)</a:t>
                </a:r>
              </a:p>
            </c:rich>
          </c:tx>
          <c:layout/>
          <c:overlay val="0"/>
        </c:title>
        <c:numFmt formatCode="0.00" sourceLinked="1"/>
        <c:majorTickMark val="out"/>
        <c:minorTickMark val="none"/>
        <c:tickLblPos val="nextTo"/>
        <c:crossAx val="133634688"/>
        <c:crosses val="max"/>
        <c:crossBetween val="between"/>
        <c:majorUnit val="0.25"/>
      </c:valAx>
      <c:dateAx>
        <c:axId val="133634688"/>
        <c:scaling>
          <c:orientation val="minMax"/>
        </c:scaling>
        <c:delete val="1"/>
        <c:axPos val="b"/>
        <c:numFmt formatCode="[$-409]mmm\-yy;@" sourceLinked="1"/>
        <c:majorTickMark val="out"/>
        <c:minorTickMark val="none"/>
        <c:tickLblPos val="nextTo"/>
        <c:crossAx val="133632768"/>
        <c:crosses val="autoZero"/>
        <c:auto val="1"/>
        <c:lblOffset val="100"/>
        <c:baseTimeUnit val="months"/>
      </c:dateAx>
      <c:spPr>
        <a:ln>
          <a:noFill/>
        </a:ln>
      </c:spPr>
    </c:plotArea>
    <c:legend>
      <c:legendPos val="b"/>
      <c:layout/>
      <c:overlay val="0"/>
    </c:legend>
    <c:plotVisOnly val="1"/>
    <c:dispBlanksAs val="gap"/>
    <c:showDLblsOverMax val="0"/>
  </c:chart>
  <c:spPr>
    <a:ln>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scatterChart>
        <c:scatterStyle val="smoothMarker"/>
        <c:varyColors val="0"/>
        <c:ser>
          <c:idx val="0"/>
          <c:order val="0"/>
          <c:tx>
            <c:v>100% CA</c:v>
          </c:tx>
          <c:spPr>
            <a:ln>
              <a:solidFill>
                <a:srgbClr val="203353"/>
              </a:solidFill>
            </a:ln>
          </c:spPr>
          <c:marker>
            <c:symbol val="none"/>
          </c:marker>
          <c:xVal>
            <c:numRef>
              <c:f>'[Jumbo Geo Curve.xlsx]Data'!$D$2:$D$6</c:f>
              <c:numCache>
                <c:formatCode>General</c:formatCode>
                <c:ptCount val="5"/>
                <c:pt idx="0">
                  <c:v>-37</c:v>
                </c:pt>
                <c:pt idx="1">
                  <c:v>11</c:v>
                </c:pt>
                <c:pt idx="2">
                  <c:v>48</c:v>
                </c:pt>
                <c:pt idx="3">
                  <c:v>90</c:v>
                </c:pt>
                <c:pt idx="4">
                  <c:v>128</c:v>
                </c:pt>
              </c:numCache>
            </c:numRef>
          </c:xVal>
          <c:yVal>
            <c:numRef>
              <c:f>'[Jumbo Geo Curve.xlsx]Data'!$K$2:$K$6</c:f>
              <c:numCache>
                <c:formatCode>General</c:formatCode>
                <c:ptCount val="5"/>
                <c:pt idx="0">
                  <c:v>4.54</c:v>
                </c:pt>
                <c:pt idx="1">
                  <c:v>27.88</c:v>
                </c:pt>
                <c:pt idx="2">
                  <c:v>42.82</c:v>
                </c:pt>
                <c:pt idx="3">
                  <c:v>48.6</c:v>
                </c:pt>
                <c:pt idx="4">
                  <c:v>45.92</c:v>
                </c:pt>
              </c:numCache>
            </c:numRef>
          </c:yVal>
          <c:smooth val="1"/>
        </c:ser>
        <c:ser>
          <c:idx val="1"/>
          <c:order val="1"/>
          <c:tx>
            <c:v>0% CA</c:v>
          </c:tx>
          <c:spPr>
            <a:ln>
              <a:solidFill>
                <a:srgbClr val="EFEBE4">
                  <a:lumMod val="50000"/>
                </a:srgbClr>
              </a:solidFill>
            </a:ln>
          </c:spPr>
          <c:marker>
            <c:symbol val="none"/>
          </c:marker>
          <c:xVal>
            <c:numRef>
              <c:f>'[Jumbo Geo Curve.xlsx]Data'!$D$7:$D$11</c:f>
              <c:numCache>
                <c:formatCode>General</c:formatCode>
                <c:ptCount val="5"/>
                <c:pt idx="0">
                  <c:v>-35</c:v>
                </c:pt>
                <c:pt idx="1">
                  <c:v>10</c:v>
                </c:pt>
                <c:pt idx="2">
                  <c:v>48</c:v>
                </c:pt>
                <c:pt idx="3">
                  <c:v>90</c:v>
                </c:pt>
                <c:pt idx="4">
                  <c:v>128</c:v>
                </c:pt>
              </c:numCache>
            </c:numRef>
          </c:xVal>
          <c:yVal>
            <c:numRef>
              <c:f>'[Jumbo Geo Curve.xlsx]Data'!$K$7:$K$11</c:f>
              <c:numCache>
                <c:formatCode>General</c:formatCode>
                <c:ptCount val="5"/>
                <c:pt idx="0">
                  <c:v>2.52</c:v>
                </c:pt>
                <c:pt idx="1">
                  <c:v>12.59</c:v>
                </c:pt>
                <c:pt idx="2">
                  <c:v>28.31</c:v>
                </c:pt>
                <c:pt idx="3">
                  <c:v>39.9</c:v>
                </c:pt>
                <c:pt idx="4">
                  <c:v>53.38</c:v>
                </c:pt>
              </c:numCache>
            </c:numRef>
          </c:yVal>
          <c:smooth val="1"/>
        </c:ser>
        <c:ser>
          <c:idx val="2"/>
          <c:order val="2"/>
          <c:tx>
            <c:v>100% CA shifted by 40bp</c:v>
          </c:tx>
          <c:spPr>
            <a:ln>
              <a:solidFill>
                <a:srgbClr val="EFEBE4">
                  <a:lumMod val="25000"/>
                </a:srgbClr>
              </a:solidFill>
              <a:prstDash val="sysDash"/>
            </a:ln>
          </c:spPr>
          <c:marker>
            <c:symbol val="none"/>
          </c:marker>
          <c:xVal>
            <c:numRef>
              <c:f>'[Jumbo Geo Curve.xlsx]Data'!$P$2:$P$6</c:f>
              <c:numCache>
                <c:formatCode>General</c:formatCode>
                <c:ptCount val="5"/>
                <c:pt idx="0">
                  <c:v>3</c:v>
                </c:pt>
                <c:pt idx="1">
                  <c:v>51</c:v>
                </c:pt>
                <c:pt idx="2">
                  <c:v>88</c:v>
                </c:pt>
                <c:pt idx="3">
                  <c:v>130</c:v>
                </c:pt>
                <c:pt idx="4">
                  <c:v>168</c:v>
                </c:pt>
              </c:numCache>
            </c:numRef>
          </c:xVal>
          <c:yVal>
            <c:numRef>
              <c:f>'[Jumbo Geo Curve.xlsx]Data'!$K$2:$K$6</c:f>
              <c:numCache>
                <c:formatCode>General</c:formatCode>
                <c:ptCount val="5"/>
                <c:pt idx="0">
                  <c:v>4.54</c:v>
                </c:pt>
                <c:pt idx="1">
                  <c:v>27.88</c:v>
                </c:pt>
                <c:pt idx="2">
                  <c:v>42.82</c:v>
                </c:pt>
                <c:pt idx="3">
                  <c:v>48.6</c:v>
                </c:pt>
                <c:pt idx="4">
                  <c:v>45.92</c:v>
                </c:pt>
              </c:numCache>
            </c:numRef>
          </c:yVal>
          <c:smooth val="1"/>
        </c:ser>
        <c:dLbls>
          <c:showLegendKey val="0"/>
          <c:showVal val="0"/>
          <c:showCatName val="0"/>
          <c:showSerName val="0"/>
          <c:showPercent val="0"/>
          <c:showBubbleSize val="0"/>
        </c:dLbls>
        <c:axId val="133683456"/>
        <c:axId val="134340992"/>
      </c:scatterChart>
      <c:valAx>
        <c:axId val="133683456"/>
        <c:scaling>
          <c:orientation val="minMax"/>
          <c:max val="125"/>
        </c:scaling>
        <c:delete val="0"/>
        <c:axPos val="b"/>
        <c:title>
          <c:tx>
            <c:rich>
              <a:bodyPr/>
              <a:lstStyle/>
              <a:p>
                <a:pPr>
                  <a:defRPr/>
                </a:pPr>
                <a:r>
                  <a:rPr lang="en-US" sz="1200"/>
                  <a:t>Incentive (bp</a:t>
                </a:r>
                <a:r>
                  <a:rPr lang="en-US"/>
                  <a:t>)</a:t>
                </a:r>
              </a:p>
            </c:rich>
          </c:tx>
          <c:layout>
            <c:manualLayout>
              <c:xMode val="edge"/>
              <c:yMode val="edge"/>
              <c:x val="0.43692224312668881"/>
              <c:y val="0.82222378627252601"/>
            </c:manualLayout>
          </c:layout>
          <c:overlay val="0"/>
        </c:title>
        <c:numFmt formatCode="General" sourceLinked="1"/>
        <c:majorTickMark val="none"/>
        <c:minorTickMark val="none"/>
        <c:tickLblPos val="nextTo"/>
        <c:crossAx val="134340992"/>
        <c:crosses val="autoZero"/>
        <c:crossBetween val="midCat"/>
        <c:majorUnit val="25"/>
      </c:valAx>
      <c:valAx>
        <c:axId val="134340992"/>
        <c:scaling>
          <c:orientation val="minMax"/>
          <c:max val="70"/>
        </c:scaling>
        <c:delete val="0"/>
        <c:axPos val="l"/>
        <c:majorGridlines>
          <c:spPr>
            <a:ln>
              <a:prstDash val="sysDash"/>
            </a:ln>
          </c:spPr>
        </c:majorGridlines>
        <c:title>
          <c:tx>
            <c:rich>
              <a:bodyPr/>
              <a:lstStyle/>
              <a:p>
                <a:pPr>
                  <a:defRPr/>
                </a:pPr>
                <a:r>
                  <a:rPr lang="en-US" sz="1200"/>
                  <a:t>CPR (%)</a:t>
                </a:r>
              </a:p>
            </c:rich>
          </c:tx>
          <c:layout>
            <c:manualLayout>
              <c:xMode val="edge"/>
              <c:yMode val="edge"/>
              <c:x val="1.376597836774828E-2"/>
              <c:y val="0.36595521928474023"/>
            </c:manualLayout>
          </c:layout>
          <c:overlay val="0"/>
        </c:title>
        <c:numFmt formatCode="General" sourceLinked="1"/>
        <c:majorTickMark val="none"/>
        <c:minorTickMark val="none"/>
        <c:tickLblPos val="low"/>
        <c:crossAx val="133683456"/>
        <c:crosses val="autoZero"/>
        <c:crossBetween val="midCat"/>
      </c:valAx>
    </c:plotArea>
    <c:legend>
      <c:legendPos val="b"/>
      <c:layout/>
      <c:overlay val="0"/>
    </c:legend>
    <c:plotVisOnly val="1"/>
    <c:dispBlanksAs val="gap"/>
    <c:showDLblsOverMax val="0"/>
  </c:chart>
  <c:spPr>
    <a:ln>
      <a:noFill/>
    </a:ln>
  </c:sp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2"/>
          <c:order val="2"/>
          <c:tx>
            <c:strRef>
              <c:f>Query!$E$2</c:f>
              <c:strCache>
                <c:ptCount val="1"/>
                <c:pt idx="0">
                  <c:v>With Lowest Rate</c:v>
                </c:pt>
              </c:strCache>
            </c:strRef>
          </c:tx>
          <c:spPr>
            <a:solidFill>
              <a:srgbClr val="C7732D"/>
            </a:solidFill>
            <a:ln>
              <a:noFill/>
            </a:ln>
          </c:spPr>
          <c:invertIfNegative val="0"/>
          <c:cat>
            <c:numRef>
              <c:f>Query!$B$3:$B$259</c:f>
              <c:numCache>
                <c:formatCode>m/d/yyyy</c:formatCode>
                <c:ptCount val="257"/>
                <c:pt idx="0">
                  <c:v>42341</c:v>
                </c:pt>
                <c:pt idx="1">
                  <c:v>42333</c:v>
                </c:pt>
                <c:pt idx="2">
                  <c:v>42327</c:v>
                </c:pt>
                <c:pt idx="3">
                  <c:v>42320</c:v>
                </c:pt>
                <c:pt idx="4">
                  <c:v>42313</c:v>
                </c:pt>
                <c:pt idx="5">
                  <c:v>42306</c:v>
                </c:pt>
                <c:pt idx="6">
                  <c:v>42299</c:v>
                </c:pt>
                <c:pt idx="7">
                  <c:v>42292</c:v>
                </c:pt>
                <c:pt idx="8">
                  <c:v>42285</c:v>
                </c:pt>
                <c:pt idx="9">
                  <c:v>42278</c:v>
                </c:pt>
                <c:pt idx="10">
                  <c:v>42271</c:v>
                </c:pt>
                <c:pt idx="11">
                  <c:v>42264</c:v>
                </c:pt>
                <c:pt idx="12">
                  <c:v>42257</c:v>
                </c:pt>
                <c:pt idx="13">
                  <c:v>42250</c:v>
                </c:pt>
                <c:pt idx="14">
                  <c:v>42243</c:v>
                </c:pt>
                <c:pt idx="15">
                  <c:v>42236</c:v>
                </c:pt>
                <c:pt idx="16">
                  <c:v>42229</c:v>
                </c:pt>
                <c:pt idx="17">
                  <c:v>42222</c:v>
                </c:pt>
                <c:pt idx="18">
                  <c:v>42215</c:v>
                </c:pt>
                <c:pt idx="19">
                  <c:v>42208</c:v>
                </c:pt>
                <c:pt idx="20">
                  <c:v>42201</c:v>
                </c:pt>
                <c:pt idx="21">
                  <c:v>42194</c:v>
                </c:pt>
                <c:pt idx="22">
                  <c:v>42187</c:v>
                </c:pt>
                <c:pt idx="23">
                  <c:v>42180</c:v>
                </c:pt>
                <c:pt idx="24">
                  <c:v>42173</c:v>
                </c:pt>
                <c:pt idx="25">
                  <c:v>42166</c:v>
                </c:pt>
                <c:pt idx="26">
                  <c:v>42159</c:v>
                </c:pt>
                <c:pt idx="27">
                  <c:v>42152</c:v>
                </c:pt>
                <c:pt idx="28">
                  <c:v>42145</c:v>
                </c:pt>
                <c:pt idx="29">
                  <c:v>42138</c:v>
                </c:pt>
                <c:pt idx="30">
                  <c:v>42131</c:v>
                </c:pt>
                <c:pt idx="31">
                  <c:v>42124</c:v>
                </c:pt>
                <c:pt idx="32">
                  <c:v>42117</c:v>
                </c:pt>
                <c:pt idx="33">
                  <c:v>42110</c:v>
                </c:pt>
                <c:pt idx="34">
                  <c:v>42103</c:v>
                </c:pt>
                <c:pt idx="35">
                  <c:v>42096</c:v>
                </c:pt>
                <c:pt idx="36">
                  <c:v>42089</c:v>
                </c:pt>
                <c:pt idx="37">
                  <c:v>42082</c:v>
                </c:pt>
                <c:pt idx="38">
                  <c:v>42075</c:v>
                </c:pt>
                <c:pt idx="39">
                  <c:v>42068</c:v>
                </c:pt>
                <c:pt idx="40">
                  <c:v>42061</c:v>
                </c:pt>
                <c:pt idx="41">
                  <c:v>42054</c:v>
                </c:pt>
                <c:pt idx="42">
                  <c:v>42047</c:v>
                </c:pt>
                <c:pt idx="43">
                  <c:v>42040</c:v>
                </c:pt>
                <c:pt idx="44">
                  <c:v>42033</c:v>
                </c:pt>
                <c:pt idx="45">
                  <c:v>42026</c:v>
                </c:pt>
                <c:pt idx="46">
                  <c:v>42019</c:v>
                </c:pt>
                <c:pt idx="47">
                  <c:v>42012</c:v>
                </c:pt>
                <c:pt idx="48">
                  <c:v>42004</c:v>
                </c:pt>
                <c:pt idx="49">
                  <c:v>41997</c:v>
                </c:pt>
                <c:pt idx="50">
                  <c:v>41991</c:v>
                </c:pt>
                <c:pt idx="51">
                  <c:v>41984</c:v>
                </c:pt>
                <c:pt idx="52">
                  <c:v>41977</c:v>
                </c:pt>
                <c:pt idx="53">
                  <c:v>41969</c:v>
                </c:pt>
                <c:pt idx="54">
                  <c:v>41963</c:v>
                </c:pt>
                <c:pt idx="55">
                  <c:v>41956</c:v>
                </c:pt>
                <c:pt idx="56">
                  <c:v>41949</c:v>
                </c:pt>
                <c:pt idx="57">
                  <c:v>41942</c:v>
                </c:pt>
                <c:pt idx="58">
                  <c:v>41935</c:v>
                </c:pt>
                <c:pt idx="59">
                  <c:v>41928</c:v>
                </c:pt>
                <c:pt idx="60">
                  <c:v>41921</c:v>
                </c:pt>
                <c:pt idx="61">
                  <c:v>41914</c:v>
                </c:pt>
                <c:pt idx="62">
                  <c:v>41907</c:v>
                </c:pt>
                <c:pt idx="63">
                  <c:v>41900</c:v>
                </c:pt>
                <c:pt idx="64">
                  <c:v>41893</c:v>
                </c:pt>
                <c:pt idx="65">
                  <c:v>41886</c:v>
                </c:pt>
                <c:pt idx="66">
                  <c:v>41879</c:v>
                </c:pt>
                <c:pt idx="67">
                  <c:v>41872</c:v>
                </c:pt>
                <c:pt idx="68">
                  <c:v>41865</c:v>
                </c:pt>
                <c:pt idx="69">
                  <c:v>41858</c:v>
                </c:pt>
                <c:pt idx="70">
                  <c:v>41851</c:v>
                </c:pt>
                <c:pt idx="71">
                  <c:v>41844</c:v>
                </c:pt>
                <c:pt idx="72">
                  <c:v>41837</c:v>
                </c:pt>
                <c:pt idx="73">
                  <c:v>41830</c:v>
                </c:pt>
                <c:pt idx="74">
                  <c:v>41823</c:v>
                </c:pt>
                <c:pt idx="75">
                  <c:v>41816</c:v>
                </c:pt>
                <c:pt idx="76">
                  <c:v>41809</c:v>
                </c:pt>
                <c:pt idx="77">
                  <c:v>41802</c:v>
                </c:pt>
                <c:pt idx="78">
                  <c:v>41795</c:v>
                </c:pt>
                <c:pt idx="79">
                  <c:v>41788</c:v>
                </c:pt>
                <c:pt idx="80">
                  <c:v>41781</c:v>
                </c:pt>
                <c:pt idx="81">
                  <c:v>41774</c:v>
                </c:pt>
                <c:pt idx="82">
                  <c:v>41767</c:v>
                </c:pt>
                <c:pt idx="83">
                  <c:v>41760</c:v>
                </c:pt>
                <c:pt idx="84">
                  <c:v>41753</c:v>
                </c:pt>
                <c:pt idx="85">
                  <c:v>41746</c:v>
                </c:pt>
                <c:pt idx="86">
                  <c:v>41739</c:v>
                </c:pt>
                <c:pt idx="87">
                  <c:v>41732</c:v>
                </c:pt>
                <c:pt idx="88">
                  <c:v>41725</c:v>
                </c:pt>
                <c:pt idx="89">
                  <c:v>41718</c:v>
                </c:pt>
                <c:pt idx="90">
                  <c:v>41711</c:v>
                </c:pt>
                <c:pt idx="91">
                  <c:v>41704</c:v>
                </c:pt>
                <c:pt idx="92">
                  <c:v>41697</c:v>
                </c:pt>
                <c:pt idx="93">
                  <c:v>41690</c:v>
                </c:pt>
                <c:pt idx="94">
                  <c:v>41683</c:v>
                </c:pt>
                <c:pt idx="95">
                  <c:v>41676</c:v>
                </c:pt>
                <c:pt idx="96">
                  <c:v>41669</c:v>
                </c:pt>
                <c:pt idx="97">
                  <c:v>41662</c:v>
                </c:pt>
                <c:pt idx="98">
                  <c:v>41655</c:v>
                </c:pt>
                <c:pt idx="99">
                  <c:v>41648</c:v>
                </c:pt>
                <c:pt idx="100">
                  <c:v>41641</c:v>
                </c:pt>
                <c:pt idx="101">
                  <c:v>41634</c:v>
                </c:pt>
                <c:pt idx="102">
                  <c:v>41627</c:v>
                </c:pt>
                <c:pt idx="103">
                  <c:v>41620</c:v>
                </c:pt>
                <c:pt idx="104">
                  <c:v>41613</c:v>
                </c:pt>
                <c:pt idx="105">
                  <c:v>41605</c:v>
                </c:pt>
                <c:pt idx="106">
                  <c:v>41599</c:v>
                </c:pt>
                <c:pt idx="107">
                  <c:v>41592</c:v>
                </c:pt>
                <c:pt idx="108">
                  <c:v>41585</c:v>
                </c:pt>
                <c:pt idx="109">
                  <c:v>41578</c:v>
                </c:pt>
                <c:pt idx="110">
                  <c:v>41571</c:v>
                </c:pt>
                <c:pt idx="111">
                  <c:v>41564</c:v>
                </c:pt>
                <c:pt idx="112">
                  <c:v>41557</c:v>
                </c:pt>
                <c:pt idx="113">
                  <c:v>41550</c:v>
                </c:pt>
                <c:pt idx="114">
                  <c:v>41543</c:v>
                </c:pt>
                <c:pt idx="115">
                  <c:v>41536</c:v>
                </c:pt>
                <c:pt idx="116">
                  <c:v>41529</c:v>
                </c:pt>
                <c:pt idx="117">
                  <c:v>41522</c:v>
                </c:pt>
                <c:pt idx="118">
                  <c:v>41515</c:v>
                </c:pt>
                <c:pt idx="119">
                  <c:v>41508</c:v>
                </c:pt>
                <c:pt idx="120">
                  <c:v>41501</c:v>
                </c:pt>
                <c:pt idx="121">
                  <c:v>41494</c:v>
                </c:pt>
                <c:pt idx="122">
                  <c:v>41487</c:v>
                </c:pt>
                <c:pt idx="123">
                  <c:v>41480</c:v>
                </c:pt>
                <c:pt idx="124">
                  <c:v>41473</c:v>
                </c:pt>
                <c:pt idx="125">
                  <c:v>41466</c:v>
                </c:pt>
                <c:pt idx="126">
                  <c:v>41458</c:v>
                </c:pt>
                <c:pt idx="127">
                  <c:v>41452</c:v>
                </c:pt>
                <c:pt idx="128">
                  <c:v>41445</c:v>
                </c:pt>
                <c:pt idx="129">
                  <c:v>41438</c:v>
                </c:pt>
                <c:pt idx="130">
                  <c:v>41431</c:v>
                </c:pt>
                <c:pt idx="131">
                  <c:v>41424</c:v>
                </c:pt>
                <c:pt idx="132">
                  <c:v>41417</c:v>
                </c:pt>
                <c:pt idx="133">
                  <c:v>41410</c:v>
                </c:pt>
                <c:pt idx="134">
                  <c:v>41403</c:v>
                </c:pt>
                <c:pt idx="135">
                  <c:v>41396</c:v>
                </c:pt>
                <c:pt idx="136">
                  <c:v>41389</c:v>
                </c:pt>
                <c:pt idx="137">
                  <c:v>41382</c:v>
                </c:pt>
                <c:pt idx="138">
                  <c:v>41375</c:v>
                </c:pt>
                <c:pt idx="139">
                  <c:v>41368</c:v>
                </c:pt>
                <c:pt idx="140">
                  <c:v>41361</c:v>
                </c:pt>
                <c:pt idx="141">
                  <c:v>41354</c:v>
                </c:pt>
                <c:pt idx="142">
                  <c:v>41347</c:v>
                </c:pt>
                <c:pt idx="143">
                  <c:v>41340</c:v>
                </c:pt>
                <c:pt idx="144">
                  <c:v>41333</c:v>
                </c:pt>
                <c:pt idx="145">
                  <c:v>41326</c:v>
                </c:pt>
                <c:pt idx="146">
                  <c:v>41319</c:v>
                </c:pt>
                <c:pt idx="147">
                  <c:v>41312</c:v>
                </c:pt>
                <c:pt idx="148">
                  <c:v>41305</c:v>
                </c:pt>
                <c:pt idx="149">
                  <c:v>41298</c:v>
                </c:pt>
                <c:pt idx="150">
                  <c:v>41291</c:v>
                </c:pt>
                <c:pt idx="151">
                  <c:v>41284</c:v>
                </c:pt>
                <c:pt idx="152">
                  <c:v>41277</c:v>
                </c:pt>
                <c:pt idx="153">
                  <c:v>41270</c:v>
                </c:pt>
                <c:pt idx="154">
                  <c:v>41263</c:v>
                </c:pt>
                <c:pt idx="155">
                  <c:v>41256</c:v>
                </c:pt>
                <c:pt idx="156">
                  <c:v>41249</c:v>
                </c:pt>
                <c:pt idx="157">
                  <c:v>41242</c:v>
                </c:pt>
                <c:pt idx="158">
                  <c:v>41234</c:v>
                </c:pt>
                <c:pt idx="159">
                  <c:v>41228</c:v>
                </c:pt>
                <c:pt idx="160">
                  <c:v>41221</c:v>
                </c:pt>
                <c:pt idx="161">
                  <c:v>41214</c:v>
                </c:pt>
                <c:pt idx="162">
                  <c:v>41207</c:v>
                </c:pt>
                <c:pt idx="163">
                  <c:v>41200</c:v>
                </c:pt>
                <c:pt idx="164">
                  <c:v>41193</c:v>
                </c:pt>
                <c:pt idx="165">
                  <c:v>41186</c:v>
                </c:pt>
                <c:pt idx="166">
                  <c:v>41179</c:v>
                </c:pt>
                <c:pt idx="167">
                  <c:v>41172</c:v>
                </c:pt>
                <c:pt idx="168">
                  <c:v>41165</c:v>
                </c:pt>
                <c:pt idx="169">
                  <c:v>41158</c:v>
                </c:pt>
                <c:pt idx="170">
                  <c:v>41151</c:v>
                </c:pt>
                <c:pt idx="171">
                  <c:v>41144</c:v>
                </c:pt>
                <c:pt idx="172">
                  <c:v>41137</c:v>
                </c:pt>
                <c:pt idx="173">
                  <c:v>41130</c:v>
                </c:pt>
                <c:pt idx="174">
                  <c:v>41123</c:v>
                </c:pt>
                <c:pt idx="175">
                  <c:v>41116</c:v>
                </c:pt>
                <c:pt idx="176">
                  <c:v>41109</c:v>
                </c:pt>
                <c:pt idx="177">
                  <c:v>41102</c:v>
                </c:pt>
                <c:pt idx="178">
                  <c:v>41095</c:v>
                </c:pt>
                <c:pt idx="179">
                  <c:v>41088</c:v>
                </c:pt>
                <c:pt idx="180">
                  <c:v>41081</c:v>
                </c:pt>
                <c:pt idx="181">
                  <c:v>41074</c:v>
                </c:pt>
                <c:pt idx="182">
                  <c:v>41067</c:v>
                </c:pt>
                <c:pt idx="183">
                  <c:v>41060</c:v>
                </c:pt>
                <c:pt idx="184">
                  <c:v>41053</c:v>
                </c:pt>
                <c:pt idx="185">
                  <c:v>41046</c:v>
                </c:pt>
                <c:pt idx="186">
                  <c:v>41039</c:v>
                </c:pt>
                <c:pt idx="187">
                  <c:v>41032</c:v>
                </c:pt>
                <c:pt idx="188">
                  <c:v>41025</c:v>
                </c:pt>
                <c:pt idx="189">
                  <c:v>41018</c:v>
                </c:pt>
                <c:pt idx="190">
                  <c:v>41011</c:v>
                </c:pt>
                <c:pt idx="191">
                  <c:v>41004</c:v>
                </c:pt>
                <c:pt idx="192">
                  <c:v>40997</c:v>
                </c:pt>
                <c:pt idx="193">
                  <c:v>40990</c:v>
                </c:pt>
                <c:pt idx="194">
                  <c:v>40983</c:v>
                </c:pt>
                <c:pt idx="195">
                  <c:v>40976</c:v>
                </c:pt>
                <c:pt idx="196">
                  <c:v>40969</c:v>
                </c:pt>
                <c:pt idx="197">
                  <c:v>40962</c:v>
                </c:pt>
                <c:pt idx="198">
                  <c:v>40955</c:v>
                </c:pt>
                <c:pt idx="199">
                  <c:v>40948</c:v>
                </c:pt>
                <c:pt idx="200">
                  <c:v>40941</c:v>
                </c:pt>
                <c:pt idx="201">
                  <c:v>40934</c:v>
                </c:pt>
                <c:pt idx="202">
                  <c:v>40927</c:v>
                </c:pt>
                <c:pt idx="203">
                  <c:v>40920</c:v>
                </c:pt>
                <c:pt idx="204">
                  <c:v>40913</c:v>
                </c:pt>
                <c:pt idx="205">
                  <c:v>40906</c:v>
                </c:pt>
                <c:pt idx="206">
                  <c:v>40899</c:v>
                </c:pt>
                <c:pt idx="207">
                  <c:v>40892</c:v>
                </c:pt>
                <c:pt idx="208">
                  <c:v>40885</c:v>
                </c:pt>
                <c:pt idx="209">
                  <c:v>40878</c:v>
                </c:pt>
                <c:pt idx="210">
                  <c:v>40870</c:v>
                </c:pt>
                <c:pt idx="211">
                  <c:v>40864</c:v>
                </c:pt>
                <c:pt idx="212">
                  <c:v>40857</c:v>
                </c:pt>
                <c:pt idx="213">
                  <c:v>40850</c:v>
                </c:pt>
                <c:pt idx="214">
                  <c:v>40843</c:v>
                </c:pt>
                <c:pt idx="215">
                  <c:v>40836</c:v>
                </c:pt>
                <c:pt idx="216">
                  <c:v>40829</c:v>
                </c:pt>
                <c:pt idx="217">
                  <c:v>40822</c:v>
                </c:pt>
                <c:pt idx="218">
                  <c:v>40815</c:v>
                </c:pt>
                <c:pt idx="219">
                  <c:v>40808</c:v>
                </c:pt>
                <c:pt idx="220">
                  <c:v>40801</c:v>
                </c:pt>
                <c:pt idx="221">
                  <c:v>40794</c:v>
                </c:pt>
                <c:pt idx="222">
                  <c:v>40787</c:v>
                </c:pt>
                <c:pt idx="223">
                  <c:v>40780</c:v>
                </c:pt>
                <c:pt idx="224">
                  <c:v>40773</c:v>
                </c:pt>
                <c:pt idx="225">
                  <c:v>40766</c:v>
                </c:pt>
                <c:pt idx="226">
                  <c:v>40759</c:v>
                </c:pt>
                <c:pt idx="227">
                  <c:v>40752</c:v>
                </c:pt>
                <c:pt idx="228">
                  <c:v>40745</c:v>
                </c:pt>
                <c:pt idx="229">
                  <c:v>40738</c:v>
                </c:pt>
                <c:pt idx="230">
                  <c:v>40731</c:v>
                </c:pt>
                <c:pt idx="231">
                  <c:v>40724</c:v>
                </c:pt>
                <c:pt idx="232">
                  <c:v>40717</c:v>
                </c:pt>
                <c:pt idx="233">
                  <c:v>40710</c:v>
                </c:pt>
                <c:pt idx="234">
                  <c:v>40703</c:v>
                </c:pt>
                <c:pt idx="235">
                  <c:v>40696</c:v>
                </c:pt>
                <c:pt idx="236">
                  <c:v>40689</c:v>
                </c:pt>
                <c:pt idx="237">
                  <c:v>40682</c:v>
                </c:pt>
                <c:pt idx="238">
                  <c:v>40675</c:v>
                </c:pt>
                <c:pt idx="239">
                  <c:v>40668</c:v>
                </c:pt>
                <c:pt idx="240">
                  <c:v>40661</c:v>
                </c:pt>
                <c:pt idx="241">
                  <c:v>40654</c:v>
                </c:pt>
                <c:pt idx="242">
                  <c:v>40647</c:v>
                </c:pt>
                <c:pt idx="243">
                  <c:v>40640</c:v>
                </c:pt>
                <c:pt idx="244">
                  <c:v>40633</c:v>
                </c:pt>
                <c:pt idx="245">
                  <c:v>40626</c:v>
                </c:pt>
                <c:pt idx="246">
                  <c:v>40619</c:v>
                </c:pt>
                <c:pt idx="247">
                  <c:v>40612</c:v>
                </c:pt>
                <c:pt idx="248">
                  <c:v>40605</c:v>
                </c:pt>
                <c:pt idx="249">
                  <c:v>40598</c:v>
                </c:pt>
                <c:pt idx="250">
                  <c:v>40591</c:v>
                </c:pt>
                <c:pt idx="251">
                  <c:v>40584</c:v>
                </c:pt>
                <c:pt idx="252">
                  <c:v>40577</c:v>
                </c:pt>
                <c:pt idx="253">
                  <c:v>40570</c:v>
                </c:pt>
                <c:pt idx="254">
                  <c:v>40563</c:v>
                </c:pt>
                <c:pt idx="255">
                  <c:v>40556</c:v>
                </c:pt>
                <c:pt idx="256">
                  <c:v>40549</c:v>
                </c:pt>
              </c:numCache>
            </c:numRef>
          </c:cat>
          <c:val>
            <c:numRef>
              <c:f>Query!$E$3:$E$259</c:f>
              <c:numCache>
                <c:formatCode>0.00%</c:formatCode>
                <c:ptCount val="257"/>
                <c:pt idx="0">
                  <c:v>0</c:v>
                </c:pt>
                <c:pt idx="1">
                  <c:v>0</c:v>
                </c:pt>
                <c:pt idx="2">
                  <c:v>0</c:v>
                </c:pt>
                <c:pt idx="3">
                  <c:v>0</c:v>
                </c:pt>
                <c:pt idx="4">
                  <c:v>0</c:v>
                </c:pt>
                <c:pt idx="5">
                  <c:v>0</c:v>
                </c:pt>
                <c:pt idx="6">
                  <c:v>0</c:v>
                </c:pt>
                <c:pt idx="7">
                  <c:v>0</c:v>
                </c:pt>
                <c:pt idx="8">
                  <c:v>1.4441528640997686E-2</c:v>
                </c:pt>
                <c:pt idx="9">
                  <c:v>2.9859537173618188E-3</c:v>
                </c:pt>
                <c:pt idx="10">
                  <c:v>1.3173079222055612E-3</c:v>
                </c:pt>
                <c:pt idx="11">
                  <c:v>0</c:v>
                </c:pt>
                <c:pt idx="12">
                  <c:v>0</c:v>
                </c:pt>
                <c:pt idx="13">
                  <c:v>0</c:v>
                </c:pt>
                <c:pt idx="14">
                  <c:v>3.1195278145772281E-3</c:v>
                </c:pt>
                <c:pt idx="15">
                  <c:v>0</c:v>
                </c:pt>
                <c:pt idx="16">
                  <c:v>0</c:v>
                </c:pt>
                <c:pt idx="17">
                  <c:v>6.2347278968544445E-4</c:v>
                </c:pt>
                <c:pt idx="18">
                  <c:v>1.9969014490481407E-4</c:v>
                </c:pt>
                <c:pt idx="19">
                  <c:v>1.4184158649271941E-4</c:v>
                </c:pt>
                <c:pt idx="20">
                  <c:v>0</c:v>
                </c:pt>
                <c:pt idx="21">
                  <c:v>1.4184380661503394E-4</c:v>
                </c:pt>
                <c:pt idx="22">
                  <c:v>0</c:v>
                </c:pt>
                <c:pt idx="23">
                  <c:v>0</c:v>
                </c:pt>
                <c:pt idx="24">
                  <c:v>0</c:v>
                </c:pt>
                <c:pt idx="25">
                  <c:v>0</c:v>
                </c:pt>
                <c:pt idx="26">
                  <c:v>0</c:v>
                </c:pt>
                <c:pt idx="27">
                  <c:v>0</c:v>
                </c:pt>
                <c:pt idx="28">
                  <c:v>0</c:v>
                </c:pt>
                <c:pt idx="29">
                  <c:v>0</c:v>
                </c:pt>
                <c:pt idx="30">
                  <c:v>0</c:v>
                </c:pt>
                <c:pt idx="31">
                  <c:v>0</c:v>
                </c:pt>
                <c:pt idx="32">
                  <c:v>3.9431628666260904E-3</c:v>
                </c:pt>
                <c:pt idx="33">
                  <c:v>0</c:v>
                </c:pt>
                <c:pt idx="34">
                  <c:v>3.87908393633439E-3</c:v>
                </c:pt>
                <c:pt idx="35">
                  <c:v>0</c:v>
                </c:pt>
                <c:pt idx="36">
                  <c:v>9.60298428502188E-4</c:v>
                </c:pt>
                <c:pt idx="37">
                  <c:v>0</c:v>
                </c:pt>
                <c:pt idx="38">
                  <c:v>0</c:v>
                </c:pt>
                <c:pt idx="39">
                  <c:v>0</c:v>
                </c:pt>
                <c:pt idx="40">
                  <c:v>0</c:v>
                </c:pt>
                <c:pt idx="41">
                  <c:v>0</c:v>
                </c:pt>
                <c:pt idx="42">
                  <c:v>0</c:v>
                </c:pt>
                <c:pt idx="43">
                  <c:v>0.17933240004933601</c:v>
                </c:pt>
                <c:pt idx="44">
                  <c:v>0</c:v>
                </c:pt>
                <c:pt idx="45">
                  <c:v>0.17811212012226099</c:v>
                </c:pt>
                <c:pt idx="46">
                  <c:v>0.177765501913389</c:v>
                </c:pt>
                <c:pt idx="47">
                  <c:v>0.14268475210645201</c:v>
                </c:pt>
                <c:pt idx="48">
                  <c:v>0</c:v>
                </c:pt>
                <c:pt idx="49">
                  <c:v>0</c:v>
                </c:pt>
                <c:pt idx="50">
                  <c:v>0.127103043508559</c:v>
                </c:pt>
                <c:pt idx="51">
                  <c:v>0</c:v>
                </c:pt>
                <c:pt idx="52">
                  <c:v>0.106230521131833</c:v>
                </c:pt>
                <c:pt idx="53">
                  <c:v>1.9601498700341099E-3</c:v>
                </c:pt>
                <c:pt idx="54">
                  <c:v>1.9465534524820899E-3</c:v>
                </c:pt>
                <c:pt idx="55">
                  <c:v>1.4902494177175701E-3</c:v>
                </c:pt>
                <c:pt idx="56">
                  <c:v>0</c:v>
                </c:pt>
                <c:pt idx="57">
                  <c:v>0</c:v>
                </c:pt>
                <c:pt idx="58">
                  <c:v>0.103644934949105</c:v>
                </c:pt>
                <c:pt idx="59">
                  <c:v>9.0356790924596503E-2</c:v>
                </c:pt>
                <c:pt idx="60">
                  <c:v>1.00775509847578E-3</c:v>
                </c:pt>
                <c:pt idx="61">
                  <c:v>0</c:v>
                </c:pt>
                <c:pt idx="62">
                  <c:v>0</c:v>
                </c:pt>
                <c:pt idx="63">
                  <c:v>0</c:v>
                </c:pt>
                <c:pt idx="64">
                  <c:v>0</c:v>
                </c:pt>
                <c:pt idx="65">
                  <c:v>0</c:v>
                </c:pt>
                <c:pt idx="66">
                  <c:v>0</c:v>
                </c:pt>
                <c:pt idx="67">
                  <c:v>5.44200843584444E-2</c:v>
                </c:pt>
                <c:pt idx="68">
                  <c:v>5.9130346511517896E-4</c:v>
                </c:pt>
                <c:pt idx="69">
                  <c:v>0</c:v>
                </c:pt>
                <c:pt idx="70">
                  <c:v>0</c:v>
                </c:pt>
                <c:pt idx="71">
                  <c:v>0</c:v>
                </c:pt>
                <c:pt idx="72">
                  <c:v>0</c:v>
                </c:pt>
                <c:pt idx="73">
                  <c:v>0</c:v>
                </c:pt>
                <c:pt idx="74">
                  <c:v>4.9242422986382497E-2</c:v>
                </c:pt>
                <c:pt idx="75">
                  <c:v>0</c:v>
                </c:pt>
                <c:pt idx="76">
                  <c:v>0</c:v>
                </c:pt>
                <c:pt idx="77">
                  <c:v>0</c:v>
                </c:pt>
                <c:pt idx="78">
                  <c:v>3.2896088379140397E-2</c:v>
                </c:pt>
                <c:pt idx="79">
                  <c:v>2.8641136811507002E-2</c:v>
                </c:pt>
                <c:pt idx="80">
                  <c:v>1.7600292816905099E-2</c:v>
                </c:pt>
                <c:pt idx="81">
                  <c:v>1.3390108612719401E-2</c:v>
                </c:pt>
                <c:pt idx="82">
                  <c:v>1.33698656511534E-2</c:v>
                </c:pt>
                <c:pt idx="83">
                  <c:v>0</c:v>
                </c:pt>
                <c:pt idx="84">
                  <c:v>0</c:v>
                </c:pt>
                <c:pt idx="85">
                  <c:v>1.3569924293908599E-3</c:v>
                </c:pt>
                <c:pt idx="86">
                  <c:v>3.2608018628066501E-4</c:v>
                </c:pt>
                <c:pt idx="87">
                  <c:v>0</c:v>
                </c:pt>
                <c:pt idx="88">
                  <c:v>0</c:v>
                </c:pt>
                <c:pt idx="89">
                  <c:v>0</c:v>
                </c:pt>
                <c:pt idx="90">
                  <c:v>0</c:v>
                </c:pt>
                <c:pt idx="91">
                  <c:v>0</c:v>
                </c:pt>
                <c:pt idx="92">
                  <c:v>0</c:v>
                </c:pt>
                <c:pt idx="93">
                  <c:v>0</c:v>
                </c:pt>
                <c:pt idx="94">
                  <c:v>0</c:v>
                </c:pt>
                <c:pt idx="95">
                  <c:v>1.56502134325395E-3</c:v>
                </c:pt>
                <c:pt idx="96">
                  <c:v>9.04155248858617E-4</c:v>
                </c:pt>
                <c:pt idx="97">
                  <c:v>4.3538471617421198E-4</c:v>
                </c:pt>
                <c:pt idx="98">
                  <c:v>4.3244857845843099E-4</c:v>
                </c:pt>
                <c:pt idx="99">
                  <c:v>1.04165660314928E-4</c:v>
                </c:pt>
                <c:pt idx="100">
                  <c:v>0</c:v>
                </c:pt>
                <c:pt idx="101">
                  <c:v>0</c:v>
                </c:pt>
                <c:pt idx="102">
                  <c:v>0</c:v>
                </c:pt>
                <c:pt idx="103">
                  <c:v>0</c:v>
                </c:pt>
                <c:pt idx="104">
                  <c:v>0</c:v>
                </c:pt>
                <c:pt idx="105">
                  <c:v>0</c:v>
                </c:pt>
                <c:pt idx="106">
                  <c:v>0</c:v>
                </c:pt>
                <c:pt idx="107">
                  <c:v>0</c:v>
                </c:pt>
                <c:pt idx="108">
                  <c:v>0</c:v>
                </c:pt>
                <c:pt idx="109">
                  <c:v>6.1587902327108696E-3</c:v>
                </c:pt>
                <c:pt idx="110">
                  <c:v>4.7022607373106203E-3</c:v>
                </c:pt>
                <c:pt idx="111">
                  <c:v>0</c:v>
                </c:pt>
                <c:pt idx="112">
                  <c:v>0</c:v>
                </c:pt>
                <c:pt idx="113">
                  <c:v>1.7927762872913E-3</c:v>
                </c:pt>
                <c:pt idx="114">
                  <c:v>8.9334697556313401E-4</c:v>
                </c:pt>
                <c:pt idx="115">
                  <c:v>1.2070812662829E-4</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9.3714860500272602E-3</c:v>
                </c:pt>
                <c:pt idx="136">
                  <c:v>0</c:v>
                </c:pt>
                <c:pt idx="137">
                  <c:v>5.4959854023419203E-3</c:v>
                </c:pt>
                <c:pt idx="138">
                  <c:v>3.9681299102296798E-3</c:v>
                </c:pt>
                <c:pt idx="139">
                  <c:v>0</c:v>
                </c:pt>
                <c:pt idx="140">
                  <c:v>0</c:v>
                </c:pt>
                <c:pt idx="141">
                  <c:v>0</c:v>
                </c:pt>
                <c:pt idx="142">
                  <c:v>0</c:v>
                </c:pt>
                <c:pt idx="143">
                  <c:v>7.62863846133132E-4</c:v>
                </c:pt>
                <c:pt idx="144">
                  <c:v>5.5309707563809801E-4</c:v>
                </c:pt>
                <c:pt idx="145">
                  <c:v>0</c:v>
                </c:pt>
                <c:pt idx="146">
                  <c:v>5.4993651942507197E-4</c:v>
                </c:pt>
                <c:pt idx="147">
                  <c:v>0</c:v>
                </c:pt>
                <c:pt idx="148">
                  <c:v>0</c:v>
                </c:pt>
                <c:pt idx="149">
                  <c:v>0</c:v>
                </c:pt>
                <c:pt idx="150">
                  <c:v>0</c:v>
                </c:pt>
                <c:pt idx="151">
                  <c:v>0</c:v>
                </c:pt>
                <c:pt idx="152">
                  <c:v>0</c:v>
                </c:pt>
                <c:pt idx="153">
                  <c:v>0</c:v>
                </c:pt>
                <c:pt idx="154">
                  <c:v>0</c:v>
                </c:pt>
                <c:pt idx="155">
                  <c:v>1.92397129365898E-3</c:v>
                </c:pt>
                <c:pt idx="156">
                  <c:v>0</c:v>
                </c:pt>
                <c:pt idx="157">
                  <c:v>0</c:v>
                </c:pt>
                <c:pt idx="158">
                  <c:v>0.88870182147749199</c:v>
                </c:pt>
                <c:pt idx="159">
                  <c:v>3.6805392889150699E-3</c:v>
                </c:pt>
                <c:pt idx="160">
                  <c:v>0</c:v>
                </c:pt>
                <c:pt idx="161">
                  <c:v>0</c:v>
                </c:pt>
                <c:pt idx="162">
                  <c:v>0</c:v>
                </c:pt>
                <c:pt idx="163">
                  <c:v>0</c:v>
                </c:pt>
                <c:pt idx="164">
                  <c:v>0</c:v>
                </c:pt>
                <c:pt idx="165">
                  <c:v>0.89337068210282</c:v>
                </c:pt>
                <c:pt idx="166">
                  <c:v>0.91307424668051995</c:v>
                </c:pt>
                <c:pt idx="167">
                  <c:v>0.87391634150534703</c:v>
                </c:pt>
                <c:pt idx="168">
                  <c:v>3.4287960012666001E-3</c:v>
                </c:pt>
                <c:pt idx="169">
                  <c:v>0</c:v>
                </c:pt>
                <c:pt idx="170">
                  <c:v>0</c:v>
                </c:pt>
                <c:pt idx="171">
                  <c:v>0</c:v>
                </c:pt>
                <c:pt idx="172">
                  <c:v>0</c:v>
                </c:pt>
                <c:pt idx="173">
                  <c:v>0</c:v>
                </c:pt>
                <c:pt idx="174">
                  <c:v>0</c:v>
                </c:pt>
                <c:pt idx="175">
                  <c:v>0.89854811201564799</c:v>
                </c:pt>
                <c:pt idx="176">
                  <c:v>0.88557582733423201</c:v>
                </c:pt>
                <c:pt idx="177">
                  <c:v>0.88306588959651799</c:v>
                </c:pt>
                <c:pt idx="178">
                  <c:v>0.85480310148891403</c:v>
                </c:pt>
                <c:pt idx="179">
                  <c:v>0.86355719580735102</c:v>
                </c:pt>
                <c:pt idx="180">
                  <c:v>0.86355719580735102</c:v>
                </c:pt>
                <c:pt idx="181">
                  <c:v>0</c:v>
                </c:pt>
                <c:pt idx="182">
                  <c:v>0.86123151402869003</c:v>
                </c:pt>
                <c:pt idx="183">
                  <c:v>0.83309495413351498</c:v>
                </c:pt>
                <c:pt idx="184">
                  <c:v>0</c:v>
                </c:pt>
                <c:pt idx="185">
                  <c:v>0.831927164274886</c:v>
                </c:pt>
                <c:pt idx="186">
                  <c:v>0.80754152596055995</c:v>
                </c:pt>
                <c:pt idx="187">
                  <c:v>0.80415566862182497</c:v>
                </c:pt>
                <c:pt idx="188">
                  <c:v>0.80265108338267499</c:v>
                </c:pt>
                <c:pt idx="189">
                  <c:v>0</c:v>
                </c:pt>
                <c:pt idx="190">
                  <c:v>0.80265108338267499</c:v>
                </c:pt>
                <c:pt idx="191">
                  <c:v>0</c:v>
                </c:pt>
                <c:pt idx="192">
                  <c:v>0</c:v>
                </c:pt>
                <c:pt idx="193">
                  <c:v>0</c:v>
                </c:pt>
                <c:pt idx="194">
                  <c:v>0</c:v>
                </c:pt>
                <c:pt idx="195">
                  <c:v>7.6028475141971797E-4</c:v>
                </c:pt>
                <c:pt idx="196">
                  <c:v>0</c:v>
                </c:pt>
                <c:pt idx="197">
                  <c:v>0</c:v>
                </c:pt>
                <c:pt idx="198">
                  <c:v>0</c:v>
                </c:pt>
                <c:pt idx="199">
                  <c:v>0</c:v>
                </c:pt>
                <c:pt idx="200">
                  <c:v>0</c:v>
                </c:pt>
                <c:pt idx="201">
                  <c:v>0</c:v>
                </c:pt>
                <c:pt idx="202">
                  <c:v>0</c:v>
                </c:pt>
                <c:pt idx="203">
                  <c:v>0.81663205917875104</c:v>
                </c:pt>
                <c:pt idx="204">
                  <c:v>0</c:v>
                </c:pt>
                <c:pt idx="205">
                  <c:v>0</c:v>
                </c:pt>
                <c:pt idx="206">
                  <c:v>0.82559057548597004</c:v>
                </c:pt>
                <c:pt idx="207">
                  <c:v>0.79669049657242397</c:v>
                </c:pt>
                <c:pt idx="208">
                  <c:v>6.7786594921879302E-4</c:v>
                </c:pt>
                <c:pt idx="209">
                  <c:v>0</c:v>
                </c:pt>
                <c:pt idx="210">
                  <c:v>8.8101230968728496E-4</c:v>
                </c:pt>
                <c:pt idx="211">
                  <c:v>0</c:v>
                </c:pt>
                <c:pt idx="212">
                  <c:v>8.7950076846855297E-4</c:v>
                </c:pt>
                <c:pt idx="213">
                  <c:v>0</c:v>
                </c:pt>
                <c:pt idx="214">
                  <c:v>0</c:v>
                </c:pt>
                <c:pt idx="215">
                  <c:v>0</c:v>
                </c:pt>
                <c:pt idx="216">
                  <c:v>0</c:v>
                </c:pt>
                <c:pt idx="217">
                  <c:v>0.82194247765297301</c:v>
                </c:pt>
                <c:pt idx="218">
                  <c:v>0.83561176946303795</c:v>
                </c:pt>
                <c:pt idx="219">
                  <c:v>0</c:v>
                </c:pt>
                <c:pt idx="220">
                  <c:v>0.78833832359916201</c:v>
                </c:pt>
                <c:pt idx="221">
                  <c:v>0.786160649616369</c:v>
                </c:pt>
                <c:pt idx="222">
                  <c:v>0</c:v>
                </c:pt>
                <c:pt idx="223">
                  <c:v>0</c:v>
                </c:pt>
                <c:pt idx="224">
                  <c:v>0.76977670194978398</c:v>
                </c:pt>
                <c:pt idx="225">
                  <c:v>3.6312412114141997E-2</c:v>
                </c:pt>
                <c:pt idx="226">
                  <c:v>1.93393301571353E-2</c:v>
                </c:pt>
                <c:pt idx="227">
                  <c:v>0</c:v>
                </c:pt>
                <c:pt idx="228">
                  <c:v>0</c:v>
                </c:pt>
                <c:pt idx="229">
                  <c:v>6.2583851957797503E-4</c:v>
                </c:pt>
                <c:pt idx="230">
                  <c:v>0</c:v>
                </c:pt>
                <c:pt idx="231">
                  <c:v>0</c:v>
                </c:pt>
                <c:pt idx="232">
                  <c:v>0</c:v>
                </c:pt>
                <c:pt idx="233">
                  <c:v>0</c:v>
                </c:pt>
                <c:pt idx="234">
                  <c:v>1.05889699277147E-2</c:v>
                </c:pt>
                <c:pt idx="235">
                  <c:v>7.3340957383171597E-3</c:v>
                </c:pt>
                <c:pt idx="236">
                  <c:v>4.6547514757033599E-3</c:v>
                </c:pt>
                <c:pt idx="237">
                  <c:v>4.6431452038205798E-3</c:v>
                </c:pt>
                <c:pt idx="238">
                  <c:v>4.5959167751793003E-3</c:v>
                </c:pt>
                <c:pt idx="239">
                  <c:v>1.82362980081562E-3</c:v>
                </c:pt>
                <c:pt idx="240">
                  <c:v>3.6290053539469699E-4</c:v>
                </c:pt>
                <c:pt idx="241">
                  <c:v>3.6012387911354998E-4</c:v>
                </c:pt>
                <c:pt idx="242">
                  <c:v>0</c:v>
                </c:pt>
                <c:pt idx="243">
                  <c:v>0</c:v>
                </c:pt>
                <c:pt idx="244">
                  <c:v>0</c:v>
                </c:pt>
                <c:pt idx="245">
                  <c:v>0</c:v>
                </c:pt>
                <c:pt idx="246">
                  <c:v>4.9225242343752603E-4</c:v>
                </c:pt>
                <c:pt idx="247">
                  <c:v>0</c:v>
                </c:pt>
                <c:pt idx="248">
                  <c:v>0</c:v>
                </c:pt>
                <c:pt idx="249">
                  <c:v>0</c:v>
                </c:pt>
                <c:pt idx="250">
                  <c:v>0</c:v>
                </c:pt>
                <c:pt idx="251">
                  <c:v>0</c:v>
                </c:pt>
                <c:pt idx="252">
                  <c:v>0</c:v>
                </c:pt>
                <c:pt idx="253">
                  <c:v>0</c:v>
                </c:pt>
                <c:pt idx="254">
                  <c:v>0</c:v>
                </c:pt>
                <c:pt idx="255">
                  <c:v>5.80030998251819E-5</c:v>
                </c:pt>
                <c:pt idx="256">
                  <c:v>0</c:v>
                </c:pt>
              </c:numCache>
            </c:numRef>
          </c:val>
        </c:ser>
        <c:dLbls>
          <c:showLegendKey val="0"/>
          <c:showVal val="0"/>
          <c:showCatName val="0"/>
          <c:showSerName val="0"/>
          <c:showPercent val="0"/>
          <c:showBubbleSize val="0"/>
        </c:dLbls>
        <c:gapWidth val="150"/>
        <c:axId val="131364736"/>
        <c:axId val="131366272"/>
      </c:barChart>
      <c:lineChart>
        <c:grouping val="standard"/>
        <c:varyColors val="0"/>
        <c:ser>
          <c:idx val="0"/>
          <c:order val="0"/>
          <c:tx>
            <c:v>Pool Level</c:v>
          </c:tx>
          <c:spPr>
            <a:ln w="19050">
              <a:solidFill>
                <a:srgbClr val="2E398A"/>
              </a:solidFill>
            </a:ln>
          </c:spPr>
          <c:marker>
            <c:symbol val="none"/>
          </c:marker>
          <c:cat>
            <c:numRef>
              <c:f>Query!$B$3:$B$259</c:f>
              <c:numCache>
                <c:formatCode>m/d/yyyy</c:formatCode>
                <c:ptCount val="257"/>
                <c:pt idx="0">
                  <c:v>42341</c:v>
                </c:pt>
                <c:pt idx="1">
                  <c:v>42333</c:v>
                </c:pt>
                <c:pt idx="2">
                  <c:v>42327</c:v>
                </c:pt>
                <c:pt idx="3">
                  <c:v>42320</c:v>
                </c:pt>
                <c:pt idx="4">
                  <c:v>42313</c:v>
                </c:pt>
                <c:pt idx="5">
                  <c:v>42306</c:v>
                </c:pt>
                <c:pt idx="6">
                  <c:v>42299</c:v>
                </c:pt>
                <c:pt idx="7">
                  <c:v>42292</c:v>
                </c:pt>
                <c:pt idx="8">
                  <c:v>42285</c:v>
                </c:pt>
                <c:pt idx="9">
                  <c:v>42278</c:v>
                </c:pt>
                <c:pt idx="10">
                  <c:v>42271</c:v>
                </c:pt>
                <c:pt idx="11">
                  <c:v>42264</c:v>
                </c:pt>
                <c:pt idx="12">
                  <c:v>42257</c:v>
                </c:pt>
                <c:pt idx="13">
                  <c:v>42250</c:v>
                </c:pt>
                <c:pt idx="14">
                  <c:v>42243</c:v>
                </c:pt>
                <c:pt idx="15">
                  <c:v>42236</c:v>
                </c:pt>
                <c:pt idx="16">
                  <c:v>42229</c:v>
                </c:pt>
                <c:pt idx="17">
                  <c:v>42222</c:v>
                </c:pt>
                <c:pt idx="18">
                  <c:v>42215</c:v>
                </c:pt>
                <c:pt idx="19">
                  <c:v>42208</c:v>
                </c:pt>
                <c:pt idx="20">
                  <c:v>42201</c:v>
                </c:pt>
                <c:pt idx="21">
                  <c:v>42194</c:v>
                </c:pt>
                <c:pt idx="22">
                  <c:v>42187</c:v>
                </c:pt>
                <c:pt idx="23">
                  <c:v>42180</c:v>
                </c:pt>
                <c:pt idx="24">
                  <c:v>42173</c:v>
                </c:pt>
                <c:pt idx="25">
                  <c:v>42166</c:v>
                </c:pt>
                <c:pt idx="26">
                  <c:v>42159</c:v>
                </c:pt>
                <c:pt idx="27">
                  <c:v>42152</c:v>
                </c:pt>
                <c:pt idx="28">
                  <c:v>42145</c:v>
                </c:pt>
                <c:pt idx="29">
                  <c:v>42138</c:v>
                </c:pt>
                <c:pt idx="30">
                  <c:v>42131</c:v>
                </c:pt>
                <c:pt idx="31">
                  <c:v>42124</c:v>
                </c:pt>
                <c:pt idx="32">
                  <c:v>42117</c:v>
                </c:pt>
                <c:pt idx="33">
                  <c:v>42110</c:v>
                </c:pt>
                <c:pt idx="34">
                  <c:v>42103</c:v>
                </c:pt>
                <c:pt idx="35">
                  <c:v>42096</c:v>
                </c:pt>
                <c:pt idx="36">
                  <c:v>42089</c:v>
                </c:pt>
                <c:pt idx="37">
                  <c:v>42082</c:v>
                </c:pt>
                <c:pt idx="38">
                  <c:v>42075</c:v>
                </c:pt>
                <c:pt idx="39">
                  <c:v>42068</c:v>
                </c:pt>
                <c:pt idx="40">
                  <c:v>42061</c:v>
                </c:pt>
                <c:pt idx="41">
                  <c:v>42054</c:v>
                </c:pt>
                <c:pt idx="42">
                  <c:v>42047</c:v>
                </c:pt>
                <c:pt idx="43">
                  <c:v>42040</c:v>
                </c:pt>
                <c:pt idx="44">
                  <c:v>42033</c:v>
                </c:pt>
                <c:pt idx="45">
                  <c:v>42026</c:v>
                </c:pt>
                <c:pt idx="46">
                  <c:v>42019</c:v>
                </c:pt>
                <c:pt idx="47">
                  <c:v>42012</c:v>
                </c:pt>
                <c:pt idx="48">
                  <c:v>42004</c:v>
                </c:pt>
                <c:pt idx="49">
                  <c:v>41997</c:v>
                </c:pt>
                <c:pt idx="50">
                  <c:v>41991</c:v>
                </c:pt>
                <c:pt idx="51">
                  <c:v>41984</c:v>
                </c:pt>
                <c:pt idx="52">
                  <c:v>41977</c:v>
                </c:pt>
                <c:pt idx="53">
                  <c:v>41969</c:v>
                </c:pt>
                <c:pt idx="54">
                  <c:v>41963</c:v>
                </c:pt>
                <c:pt idx="55">
                  <c:v>41956</c:v>
                </c:pt>
                <c:pt idx="56">
                  <c:v>41949</c:v>
                </c:pt>
                <c:pt idx="57">
                  <c:v>41942</c:v>
                </c:pt>
                <c:pt idx="58">
                  <c:v>41935</c:v>
                </c:pt>
                <c:pt idx="59">
                  <c:v>41928</c:v>
                </c:pt>
                <c:pt idx="60">
                  <c:v>41921</c:v>
                </c:pt>
                <c:pt idx="61">
                  <c:v>41914</c:v>
                </c:pt>
                <c:pt idx="62">
                  <c:v>41907</c:v>
                </c:pt>
                <c:pt idx="63">
                  <c:v>41900</c:v>
                </c:pt>
                <c:pt idx="64">
                  <c:v>41893</c:v>
                </c:pt>
                <c:pt idx="65">
                  <c:v>41886</c:v>
                </c:pt>
                <c:pt idx="66">
                  <c:v>41879</c:v>
                </c:pt>
                <c:pt idx="67">
                  <c:v>41872</c:v>
                </c:pt>
                <c:pt idx="68">
                  <c:v>41865</c:v>
                </c:pt>
                <c:pt idx="69">
                  <c:v>41858</c:v>
                </c:pt>
                <c:pt idx="70">
                  <c:v>41851</c:v>
                </c:pt>
                <c:pt idx="71">
                  <c:v>41844</c:v>
                </c:pt>
                <c:pt idx="72">
                  <c:v>41837</c:v>
                </c:pt>
                <c:pt idx="73">
                  <c:v>41830</c:v>
                </c:pt>
                <c:pt idx="74">
                  <c:v>41823</c:v>
                </c:pt>
                <c:pt idx="75">
                  <c:v>41816</c:v>
                </c:pt>
                <c:pt idx="76">
                  <c:v>41809</c:v>
                </c:pt>
                <c:pt idx="77">
                  <c:v>41802</c:v>
                </c:pt>
                <c:pt idx="78">
                  <c:v>41795</c:v>
                </c:pt>
                <c:pt idx="79">
                  <c:v>41788</c:v>
                </c:pt>
                <c:pt idx="80">
                  <c:v>41781</c:v>
                </c:pt>
                <c:pt idx="81">
                  <c:v>41774</c:v>
                </c:pt>
                <c:pt idx="82">
                  <c:v>41767</c:v>
                </c:pt>
                <c:pt idx="83">
                  <c:v>41760</c:v>
                </c:pt>
                <c:pt idx="84">
                  <c:v>41753</c:v>
                </c:pt>
                <c:pt idx="85">
                  <c:v>41746</c:v>
                </c:pt>
                <c:pt idx="86">
                  <c:v>41739</c:v>
                </c:pt>
                <c:pt idx="87">
                  <c:v>41732</c:v>
                </c:pt>
                <c:pt idx="88">
                  <c:v>41725</c:v>
                </c:pt>
                <c:pt idx="89">
                  <c:v>41718</c:v>
                </c:pt>
                <c:pt idx="90">
                  <c:v>41711</c:v>
                </c:pt>
                <c:pt idx="91">
                  <c:v>41704</c:v>
                </c:pt>
                <c:pt idx="92">
                  <c:v>41697</c:v>
                </c:pt>
                <c:pt idx="93">
                  <c:v>41690</c:v>
                </c:pt>
                <c:pt idx="94">
                  <c:v>41683</c:v>
                </c:pt>
                <c:pt idx="95">
                  <c:v>41676</c:v>
                </c:pt>
                <c:pt idx="96">
                  <c:v>41669</c:v>
                </c:pt>
                <c:pt idx="97">
                  <c:v>41662</c:v>
                </c:pt>
                <c:pt idx="98">
                  <c:v>41655</c:v>
                </c:pt>
                <c:pt idx="99">
                  <c:v>41648</c:v>
                </c:pt>
                <c:pt idx="100">
                  <c:v>41641</c:v>
                </c:pt>
                <c:pt idx="101">
                  <c:v>41634</c:v>
                </c:pt>
                <c:pt idx="102">
                  <c:v>41627</c:v>
                </c:pt>
                <c:pt idx="103">
                  <c:v>41620</c:v>
                </c:pt>
                <c:pt idx="104">
                  <c:v>41613</c:v>
                </c:pt>
                <c:pt idx="105">
                  <c:v>41605</c:v>
                </c:pt>
                <c:pt idx="106">
                  <c:v>41599</c:v>
                </c:pt>
                <c:pt idx="107">
                  <c:v>41592</c:v>
                </c:pt>
                <c:pt idx="108">
                  <c:v>41585</c:v>
                </c:pt>
                <c:pt idx="109">
                  <c:v>41578</c:v>
                </c:pt>
                <c:pt idx="110">
                  <c:v>41571</c:v>
                </c:pt>
                <c:pt idx="111">
                  <c:v>41564</c:v>
                </c:pt>
                <c:pt idx="112">
                  <c:v>41557</c:v>
                </c:pt>
                <c:pt idx="113">
                  <c:v>41550</c:v>
                </c:pt>
                <c:pt idx="114">
                  <c:v>41543</c:v>
                </c:pt>
                <c:pt idx="115">
                  <c:v>41536</c:v>
                </c:pt>
                <c:pt idx="116">
                  <c:v>41529</c:v>
                </c:pt>
                <c:pt idx="117">
                  <c:v>41522</c:v>
                </c:pt>
                <c:pt idx="118">
                  <c:v>41515</c:v>
                </c:pt>
                <c:pt idx="119">
                  <c:v>41508</c:v>
                </c:pt>
                <c:pt idx="120">
                  <c:v>41501</c:v>
                </c:pt>
                <c:pt idx="121">
                  <c:v>41494</c:v>
                </c:pt>
                <c:pt idx="122">
                  <c:v>41487</c:v>
                </c:pt>
                <c:pt idx="123">
                  <c:v>41480</c:v>
                </c:pt>
                <c:pt idx="124">
                  <c:v>41473</c:v>
                </c:pt>
                <c:pt idx="125">
                  <c:v>41466</c:v>
                </c:pt>
                <c:pt idx="126">
                  <c:v>41458</c:v>
                </c:pt>
                <c:pt idx="127">
                  <c:v>41452</c:v>
                </c:pt>
                <c:pt idx="128">
                  <c:v>41445</c:v>
                </c:pt>
                <c:pt idx="129">
                  <c:v>41438</c:v>
                </c:pt>
                <c:pt idx="130">
                  <c:v>41431</c:v>
                </c:pt>
                <c:pt idx="131">
                  <c:v>41424</c:v>
                </c:pt>
                <c:pt idx="132">
                  <c:v>41417</c:v>
                </c:pt>
                <c:pt idx="133">
                  <c:v>41410</c:v>
                </c:pt>
                <c:pt idx="134">
                  <c:v>41403</c:v>
                </c:pt>
                <c:pt idx="135">
                  <c:v>41396</c:v>
                </c:pt>
                <c:pt idx="136">
                  <c:v>41389</c:v>
                </c:pt>
                <c:pt idx="137">
                  <c:v>41382</c:v>
                </c:pt>
                <c:pt idx="138">
                  <c:v>41375</c:v>
                </c:pt>
                <c:pt idx="139">
                  <c:v>41368</c:v>
                </c:pt>
                <c:pt idx="140">
                  <c:v>41361</c:v>
                </c:pt>
                <c:pt idx="141">
                  <c:v>41354</c:v>
                </c:pt>
                <c:pt idx="142">
                  <c:v>41347</c:v>
                </c:pt>
                <c:pt idx="143">
                  <c:v>41340</c:v>
                </c:pt>
                <c:pt idx="144">
                  <c:v>41333</c:v>
                </c:pt>
                <c:pt idx="145">
                  <c:v>41326</c:v>
                </c:pt>
                <c:pt idx="146">
                  <c:v>41319</c:v>
                </c:pt>
                <c:pt idx="147">
                  <c:v>41312</c:v>
                </c:pt>
                <c:pt idx="148">
                  <c:v>41305</c:v>
                </c:pt>
                <c:pt idx="149">
                  <c:v>41298</c:v>
                </c:pt>
                <c:pt idx="150">
                  <c:v>41291</c:v>
                </c:pt>
                <c:pt idx="151">
                  <c:v>41284</c:v>
                </c:pt>
                <c:pt idx="152">
                  <c:v>41277</c:v>
                </c:pt>
                <c:pt idx="153">
                  <c:v>41270</c:v>
                </c:pt>
                <c:pt idx="154">
                  <c:v>41263</c:v>
                </c:pt>
                <c:pt idx="155">
                  <c:v>41256</c:v>
                </c:pt>
                <c:pt idx="156">
                  <c:v>41249</c:v>
                </c:pt>
                <c:pt idx="157">
                  <c:v>41242</c:v>
                </c:pt>
                <c:pt idx="158">
                  <c:v>41234</c:v>
                </c:pt>
                <c:pt idx="159">
                  <c:v>41228</c:v>
                </c:pt>
                <c:pt idx="160">
                  <c:v>41221</c:v>
                </c:pt>
                <c:pt idx="161">
                  <c:v>41214</c:v>
                </c:pt>
                <c:pt idx="162">
                  <c:v>41207</c:v>
                </c:pt>
                <c:pt idx="163">
                  <c:v>41200</c:v>
                </c:pt>
                <c:pt idx="164">
                  <c:v>41193</c:v>
                </c:pt>
                <c:pt idx="165">
                  <c:v>41186</c:v>
                </c:pt>
                <c:pt idx="166">
                  <c:v>41179</c:v>
                </c:pt>
                <c:pt idx="167">
                  <c:v>41172</c:v>
                </c:pt>
                <c:pt idx="168">
                  <c:v>41165</c:v>
                </c:pt>
                <c:pt idx="169">
                  <c:v>41158</c:v>
                </c:pt>
                <c:pt idx="170">
                  <c:v>41151</c:v>
                </c:pt>
                <c:pt idx="171">
                  <c:v>41144</c:v>
                </c:pt>
                <c:pt idx="172">
                  <c:v>41137</c:v>
                </c:pt>
                <c:pt idx="173">
                  <c:v>41130</c:v>
                </c:pt>
                <c:pt idx="174">
                  <c:v>41123</c:v>
                </c:pt>
                <c:pt idx="175">
                  <c:v>41116</c:v>
                </c:pt>
                <c:pt idx="176">
                  <c:v>41109</c:v>
                </c:pt>
                <c:pt idx="177">
                  <c:v>41102</c:v>
                </c:pt>
                <c:pt idx="178">
                  <c:v>41095</c:v>
                </c:pt>
                <c:pt idx="179">
                  <c:v>41088</c:v>
                </c:pt>
                <c:pt idx="180">
                  <c:v>41081</c:v>
                </c:pt>
                <c:pt idx="181">
                  <c:v>41074</c:v>
                </c:pt>
                <c:pt idx="182">
                  <c:v>41067</c:v>
                </c:pt>
                <c:pt idx="183">
                  <c:v>41060</c:v>
                </c:pt>
                <c:pt idx="184">
                  <c:v>41053</c:v>
                </c:pt>
                <c:pt idx="185">
                  <c:v>41046</c:v>
                </c:pt>
                <c:pt idx="186">
                  <c:v>41039</c:v>
                </c:pt>
                <c:pt idx="187">
                  <c:v>41032</c:v>
                </c:pt>
                <c:pt idx="188">
                  <c:v>41025</c:v>
                </c:pt>
                <c:pt idx="189">
                  <c:v>41018</c:v>
                </c:pt>
                <c:pt idx="190">
                  <c:v>41011</c:v>
                </c:pt>
                <c:pt idx="191">
                  <c:v>41004</c:v>
                </c:pt>
                <c:pt idx="192">
                  <c:v>40997</c:v>
                </c:pt>
                <c:pt idx="193">
                  <c:v>40990</c:v>
                </c:pt>
                <c:pt idx="194">
                  <c:v>40983</c:v>
                </c:pt>
                <c:pt idx="195">
                  <c:v>40976</c:v>
                </c:pt>
                <c:pt idx="196">
                  <c:v>40969</c:v>
                </c:pt>
                <c:pt idx="197">
                  <c:v>40962</c:v>
                </c:pt>
                <c:pt idx="198">
                  <c:v>40955</c:v>
                </c:pt>
                <c:pt idx="199">
                  <c:v>40948</c:v>
                </c:pt>
                <c:pt idx="200">
                  <c:v>40941</c:v>
                </c:pt>
                <c:pt idx="201">
                  <c:v>40934</c:v>
                </c:pt>
                <c:pt idx="202">
                  <c:v>40927</c:v>
                </c:pt>
                <c:pt idx="203">
                  <c:v>40920</c:v>
                </c:pt>
                <c:pt idx="204">
                  <c:v>40913</c:v>
                </c:pt>
                <c:pt idx="205">
                  <c:v>40906</c:v>
                </c:pt>
                <c:pt idx="206">
                  <c:v>40899</c:v>
                </c:pt>
                <c:pt idx="207">
                  <c:v>40892</c:v>
                </c:pt>
                <c:pt idx="208">
                  <c:v>40885</c:v>
                </c:pt>
                <c:pt idx="209">
                  <c:v>40878</c:v>
                </c:pt>
                <c:pt idx="210">
                  <c:v>40870</c:v>
                </c:pt>
                <c:pt idx="211">
                  <c:v>40864</c:v>
                </c:pt>
                <c:pt idx="212">
                  <c:v>40857</c:v>
                </c:pt>
                <c:pt idx="213">
                  <c:v>40850</c:v>
                </c:pt>
                <c:pt idx="214">
                  <c:v>40843</c:v>
                </c:pt>
                <c:pt idx="215">
                  <c:v>40836</c:v>
                </c:pt>
                <c:pt idx="216">
                  <c:v>40829</c:v>
                </c:pt>
                <c:pt idx="217">
                  <c:v>40822</c:v>
                </c:pt>
                <c:pt idx="218">
                  <c:v>40815</c:v>
                </c:pt>
                <c:pt idx="219">
                  <c:v>40808</c:v>
                </c:pt>
                <c:pt idx="220">
                  <c:v>40801</c:v>
                </c:pt>
                <c:pt idx="221">
                  <c:v>40794</c:v>
                </c:pt>
                <c:pt idx="222">
                  <c:v>40787</c:v>
                </c:pt>
                <c:pt idx="223">
                  <c:v>40780</c:v>
                </c:pt>
                <c:pt idx="224">
                  <c:v>40773</c:v>
                </c:pt>
                <c:pt idx="225">
                  <c:v>40766</c:v>
                </c:pt>
                <c:pt idx="226">
                  <c:v>40759</c:v>
                </c:pt>
                <c:pt idx="227">
                  <c:v>40752</c:v>
                </c:pt>
                <c:pt idx="228">
                  <c:v>40745</c:v>
                </c:pt>
                <c:pt idx="229">
                  <c:v>40738</c:v>
                </c:pt>
                <c:pt idx="230">
                  <c:v>40731</c:v>
                </c:pt>
                <c:pt idx="231">
                  <c:v>40724</c:v>
                </c:pt>
                <c:pt idx="232">
                  <c:v>40717</c:v>
                </c:pt>
                <c:pt idx="233">
                  <c:v>40710</c:v>
                </c:pt>
                <c:pt idx="234">
                  <c:v>40703</c:v>
                </c:pt>
                <c:pt idx="235">
                  <c:v>40696</c:v>
                </c:pt>
                <c:pt idx="236">
                  <c:v>40689</c:v>
                </c:pt>
                <c:pt idx="237">
                  <c:v>40682</c:v>
                </c:pt>
                <c:pt idx="238">
                  <c:v>40675</c:v>
                </c:pt>
                <c:pt idx="239">
                  <c:v>40668</c:v>
                </c:pt>
                <c:pt idx="240">
                  <c:v>40661</c:v>
                </c:pt>
                <c:pt idx="241">
                  <c:v>40654</c:v>
                </c:pt>
                <c:pt idx="242">
                  <c:v>40647</c:v>
                </c:pt>
                <c:pt idx="243">
                  <c:v>40640</c:v>
                </c:pt>
                <c:pt idx="244">
                  <c:v>40633</c:v>
                </c:pt>
                <c:pt idx="245">
                  <c:v>40626</c:v>
                </c:pt>
                <c:pt idx="246">
                  <c:v>40619</c:v>
                </c:pt>
                <c:pt idx="247">
                  <c:v>40612</c:v>
                </c:pt>
                <c:pt idx="248">
                  <c:v>40605</c:v>
                </c:pt>
                <c:pt idx="249">
                  <c:v>40598</c:v>
                </c:pt>
                <c:pt idx="250">
                  <c:v>40591</c:v>
                </c:pt>
                <c:pt idx="251">
                  <c:v>40584</c:v>
                </c:pt>
                <c:pt idx="252">
                  <c:v>40577</c:v>
                </c:pt>
                <c:pt idx="253">
                  <c:v>40570</c:v>
                </c:pt>
                <c:pt idx="254">
                  <c:v>40563</c:v>
                </c:pt>
                <c:pt idx="255">
                  <c:v>40556</c:v>
                </c:pt>
                <c:pt idx="256">
                  <c:v>40549</c:v>
                </c:pt>
              </c:numCache>
            </c:numRef>
          </c:cat>
          <c:val>
            <c:numRef>
              <c:f>Query!$C$3:$C$259</c:f>
              <c:numCache>
                <c:formatCode>0.00%</c:formatCode>
                <c:ptCount val="257"/>
                <c:pt idx="0">
                  <c:v>0.48721504831495865</c:v>
                </c:pt>
                <c:pt idx="1">
                  <c:v>0.47590352827743421</c:v>
                </c:pt>
                <c:pt idx="2">
                  <c:v>0.47861527230793388</c:v>
                </c:pt>
                <c:pt idx="3">
                  <c:v>0.4725306175940911</c:v>
                </c:pt>
                <c:pt idx="4">
                  <c:v>0.51511509569715663</c:v>
                </c:pt>
                <c:pt idx="5">
                  <c:v>0.57894029457192531</c:v>
                </c:pt>
                <c:pt idx="6">
                  <c:v>0.56317380692680197</c:v>
                </c:pt>
                <c:pt idx="7">
                  <c:v>0.54767612302289337</c:v>
                </c:pt>
                <c:pt idx="8">
                  <c:v>0.57894029457192531</c:v>
                </c:pt>
                <c:pt idx="9">
                  <c:v>0.53391651509517579</c:v>
                </c:pt>
                <c:pt idx="10">
                  <c:v>0.51886914028697095</c:v>
                </c:pt>
                <c:pt idx="11">
                  <c:v>0.50986906278318977</c:v>
                </c:pt>
                <c:pt idx="12">
                  <c:v>0.51338156329073437</c:v>
                </c:pt>
                <c:pt idx="13">
                  <c:v>0.51680555655781346</c:v>
                </c:pt>
                <c:pt idx="14">
                  <c:v>0.54776588117858471</c:v>
                </c:pt>
                <c:pt idx="15">
                  <c:v>0.51006923311843089</c:v>
                </c:pt>
                <c:pt idx="16">
                  <c:v>0.50777768656321565</c:v>
                </c:pt>
                <c:pt idx="17">
                  <c:v>0.51562387102608387</c:v>
                </c:pt>
                <c:pt idx="18">
                  <c:v>0.49912270122048025</c:v>
                </c:pt>
                <c:pt idx="19">
                  <c:v>0.45300783987214877</c:v>
                </c:pt>
                <c:pt idx="20">
                  <c:v>0.42011365068788514</c:v>
                </c:pt>
                <c:pt idx="21">
                  <c:v>0.45300783987214877</c:v>
                </c:pt>
                <c:pt idx="22">
                  <c:v>0.42691007799753877</c:v>
                </c:pt>
                <c:pt idx="23">
                  <c:v>0.45889007356496508</c:v>
                </c:pt>
                <c:pt idx="24">
                  <c:v>0.47504859154397289</c:v>
                </c:pt>
                <c:pt idx="25">
                  <c:v>0.46172473046300011</c:v>
                </c:pt>
                <c:pt idx="26">
                  <c:v>0.54951676769042945</c:v>
                </c:pt>
                <c:pt idx="27">
                  <c:v>0.55902460267794318</c:v>
                </c:pt>
                <c:pt idx="28">
                  <c:v>0.56247001508658589</c:v>
                </c:pt>
                <c:pt idx="29">
                  <c:v>0.57098174826031445</c:v>
                </c:pt>
                <c:pt idx="30">
                  <c:v>0.59037176491848908</c:v>
                </c:pt>
                <c:pt idx="31">
                  <c:v>0.64603046293502864</c:v>
                </c:pt>
                <c:pt idx="32">
                  <c:v>0.65844284474757131</c:v>
                </c:pt>
                <c:pt idx="33">
                  <c:v>0.64019129085731785</c:v>
                </c:pt>
                <c:pt idx="34">
                  <c:v>0.65412296677072113</c:v>
                </c:pt>
                <c:pt idx="35">
                  <c:v>0.63757021314193218</c:v>
                </c:pt>
                <c:pt idx="36">
                  <c:v>0.64890841265420796</c:v>
                </c:pt>
                <c:pt idx="37">
                  <c:v>0.61916808494400521</c:v>
                </c:pt>
                <c:pt idx="38">
                  <c:v>0.58615251978310723</c:v>
                </c:pt>
                <c:pt idx="39">
                  <c:v>0.62830808931498816</c:v>
                </c:pt>
                <c:pt idx="40">
                  <c:v>0.61469145921482737</c:v>
                </c:pt>
                <c:pt idx="41">
                  <c:v>0.62918563533375538</c:v>
                </c:pt>
                <c:pt idx="42">
                  <c:v>0.65089272690592892</c:v>
                </c:pt>
                <c:pt idx="43">
                  <c:v>0.68613791923063638</c:v>
                </c:pt>
                <c:pt idx="44">
                  <c:v>0.66237769243691424</c:v>
                </c:pt>
                <c:pt idx="45">
                  <c:v>0.66443740132152351</c:v>
                </c:pt>
                <c:pt idx="46">
                  <c:v>0.66237769243691424</c:v>
                </c:pt>
                <c:pt idx="47">
                  <c:v>0.63535246046030358</c:v>
                </c:pt>
                <c:pt idx="48">
                  <c:v>0.59452652549193286</c:v>
                </c:pt>
                <c:pt idx="49">
                  <c:v>0.6078826622396406</c:v>
                </c:pt>
                <c:pt idx="50">
                  <c:v>0.61729602418947438</c:v>
                </c:pt>
                <c:pt idx="51">
                  <c:v>0.58317600569372552</c:v>
                </c:pt>
                <c:pt idx="52">
                  <c:v>0.59653157178880079</c:v>
                </c:pt>
                <c:pt idx="53">
                  <c:v>0.57517284737260799</c:v>
                </c:pt>
                <c:pt idx="54">
                  <c:v>0.56861607014134152</c:v>
                </c:pt>
                <c:pt idx="55">
                  <c:v>0.55727419854014459</c:v>
                </c:pt>
                <c:pt idx="56">
                  <c:v>0.55093013331653118</c:v>
                </c:pt>
                <c:pt idx="57">
                  <c:v>0.57465727832154401</c:v>
                </c:pt>
                <c:pt idx="58">
                  <c:v>0.58902995061120811</c:v>
                </c:pt>
                <c:pt idx="59">
                  <c:v>0.57793839140083469</c:v>
                </c:pt>
                <c:pt idx="60">
                  <c:v>0.4741591952243816</c:v>
                </c:pt>
                <c:pt idx="61">
                  <c:v>0.43658809651451691</c:v>
                </c:pt>
                <c:pt idx="62">
                  <c:v>0.41765287093842862</c:v>
                </c:pt>
                <c:pt idx="63">
                  <c:v>0.4028098229838899</c:v>
                </c:pt>
                <c:pt idx="64">
                  <c:v>0.47788907778136447</c:v>
                </c:pt>
                <c:pt idx="65">
                  <c:v>0.49084413664233395</c:v>
                </c:pt>
                <c:pt idx="66">
                  <c:v>0.49450426590474372</c:v>
                </c:pt>
                <c:pt idx="67">
                  <c:v>0.49450426590474372</c:v>
                </c:pt>
                <c:pt idx="68">
                  <c:v>0.45923072088835232</c:v>
                </c:pt>
                <c:pt idx="69">
                  <c:v>0.42761316319375164</c:v>
                </c:pt>
                <c:pt idx="70">
                  <c:v>0.46227032845945415</c:v>
                </c:pt>
                <c:pt idx="71">
                  <c:v>0.45404122340567382</c:v>
                </c:pt>
                <c:pt idx="72">
                  <c:v>0.45404122340567382</c:v>
                </c:pt>
                <c:pt idx="73">
                  <c:v>0.42364839961947226</c:v>
                </c:pt>
                <c:pt idx="74">
                  <c:v>0.48442990028209243</c:v>
                </c:pt>
                <c:pt idx="75">
                  <c:v>0.47018466104096124</c:v>
                </c:pt>
                <c:pt idx="76">
                  <c:v>0.42786281792681791</c:v>
                </c:pt>
                <c:pt idx="77">
                  <c:v>0.4132153406951769</c:v>
                </c:pt>
                <c:pt idx="78">
                  <c:v>0.47018466104096124</c:v>
                </c:pt>
                <c:pt idx="79">
                  <c:v>0.46212093229047874</c:v>
                </c:pt>
                <c:pt idx="80">
                  <c:v>0.44690273635148237</c:v>
                </c:pt>
                <c:pt idx="81">
                  <c:v>0.41535226346324033</c:v>
                </c:pt>
                <c:pt idx="82">
                  <c:v>0.41189601141635707</c:v>
                </c:pt>
                <c:pt idx="83">
                  <c:v>0.37749232793152004</c:v>
                </c:pt>
                <c:pt idx="84">
                  <c:v>0.37795299805706567</c:v>
                </c:pt>
                <c:pt idx="85">
                  <c:v>0.38501077847486359</c:v>
                </c:pt>
                <c:pt idx="86">
                  <c:v>0.37093015775517096</c:v>
                </c:pt>
                <c:pt idx="87">
                  <c:v>0.35962750862378579</c:v>
                </c:pt>
                <c:pt idx="88">
                  <c:v>0.36918426917853386</c:v>
                </c:pt>
                <c:pt idx="89">
                  <c:v>0.38281318096373629</c:v>
                </c:pt>
                <c:pt idx="90">
                  <c:v>0.37243700930193413</c:v>
                </c:pt>
                <c:pt idx="91">
                  <c:v>0.38532630107916044</c:v>
                </c:pt>
                <c:pt idx="92">
                  <c:v>0.37411351911497304</c:v>
                </c:pt>
                <c:pt idx="93">
                  <c:v>0.37945519055423005</c:v>
                </c:pt>
                <c:pt idx="94">
                  <c:v>0.38811614070914796</c:v>
                </c:pt>
                <c:pt idx="95">
                  <c:v>0.40297154475851232</c:v>
                </c:pt>
                <c:pt idx="96">
                  <c:v>0.38688449383864632</c:v>
                </c:pt>
                <c:pt idx="97">
                  <c:v>0.37647743708570247</c:v>
                </c:pt>
                <c:pt idx="98">
                  <c:v>0.37338021104571051</c:v>
                </c:pt>
                <c:pt idx="99">
                  <c:v>0.29562447577972156</c:v>
                </c:pt>
                <c:pt idx="100">
                  <c:v>0.26713898011245318</c:v>
                </c:pt>
                <c:pt idx="101">
                  <c:v>0.33707254184688035</c:v>
                </c:pt>
                <c:pt idx="102">
                  <c:v>0.34660194288586071</c:v>
                </c:pt>
                <c:pt idx="103">
                  <c:v>0.37693581248534513</c:v>
                </c:pt>
                <c:pt idx="104">
                  <c:v>0.37955489771721246</c:v>
                </c:pt>
                <c:pt idx="105">
                  <c:v>0.4012610510109535</c:v>
                </c:pt>
                <c:pt idx="106">
                  <c:v>0.41528178559290679</c:v>
                </c:pt>
                <c:pt idx="107">
                  <c:v>0.39324233603958814</c:v>
                </c:pt>
                <c:pt idx="108">
                  <c:v>0.42241812473217372</c:v>
                </c:pt>
                <c:pt idx="109">
                  <c:v>0.45812068858697386</c:v>
                </c:pt>
                <c:pt idx="110">
                  <c:v>0.42936473511090067</c:v>
                </c:pt>
                <c:pt idx="111">
                  <c:v>0.40745334709317088</c:v>
                </c:pt>
                <c:pt idx="112">
                  <c:v>0.41309884742174274</c:v>
                </c:pt>
                <c:pt idx="113">
                  <c:v>0.41413970489530927</c:v>
                </c:pt>
                <c:pt idx="114">
                  <c:v>0.41584354527777323</c:v>
                </c:pt>
                <c:pt idx="115">
                  <c:v>0.34352499045119317</c:v>
                </c:pt>
                <c:pt idx="116">
                  <c:v>0.28418148180009006</c:v>
                </c:pt>
                <c:pt idx="117">
                  <c:v>0.29149943706266673</c:v>
                </c:pt>
                <c:pt idx="118">
                  <c:v>0.34144008855173769</c:v>
                </c:pt>
                <c:pt idx="119">
                  <c:v>0.29455543788744365</c:v>
                </c:pt>
                <c:pt idx="120">
                  <c:v>0.42309347536926606</c:v>
                </c:pt>
                <c:pt idx="121">
                  <c:v>0.42309347536926606</c:v>
                </c:pt>
                <c:pt idx="122">
                  <c:v>0.4242223603405651</c:v>
                </c:pt>
                <c:pt idx="123">
                  <c:v>0.44748005520806433</c:v>
                </c:pt>
                <c:pt idx="124">
                  <c:v>0.44439106685925217</c:v>
                </c:pt>
                <c:pt idx="125">
                  <c:v>0.33290156371151358</c:v>
                </c:pt>
                <c:pt idx="126">
                  <c:v>0.45140989566277362</c:v>
                </c:pt>
                <c:pt idx="127">
                  <c:v>0.40700739043562867</c:v>
                </c:pt>
                <c:pt idx="128">
                  <c:v>0.60892644255269435</c:v>
                </c:pt>
                <c:pt idx="129">
                  <c:v>0.59423864514046321</c:v>
                </c:pt>
                <c:pt idx="130">
                  <c:v>0.6263848307897435</c:v>
                </c:pt>
                <c:pt idx="131">
                  <c:v>0.65480493130822182</c:v>
                </c:pt>
                <c:pt idx="132">
                  <c:v>0.71597160462029186</c:v>
                </c:pt>
                <c:pt idx="133">
                  <c:v>0.79936031324337575</c:v>
                </c:pt>
                <c:pt idx="134">
                  <c:v>0.8256608129051427</c:v>
                </c:pt>
                <c:pt idx="135">
                  <c:v>0.83257474781957852</c:v>
                </c:pt>
                <c:pt idx="136">
                  <c:v>0.84305925134198079</c:v>
                </c:pt>
                <c:pt idx="137">
                  <c:v>0.84439179341474835</c:v>
                </c:pt>
                <c:pt idx="138">
                  <c:v>0.83798948836137577</c:v>
                </c:pt>
                <c:pt idx="139">
                  <c:v>0.76832708554350626</c:v>
                </c:pt>
                <c:pt idx="140">
                  <c:v>0.74949629336244095</c:v>
                </c:pt>
                <c:pt idx="141">
                  <c:v>0.78721266500464782</c:v>
                </c:pt>
                <c:pt idx="142">
                  <c:v>0.72169822774356485</c:v>
                </c:pt>
                <c:pt idx="143">
                  <c:v>0.83079065598448121</c:v>
                </c:pt>
                <c:pt idx="144">
                  <c:v>0.84063472269635875</c:v>
                </c:pt>
                <c:pt idx="145">
                  <c:v>0.78197458672123177</c:v>
                </c:pt>
                <c:pt idx="146">
                  <c:v>0.82228594543390077</c:v>
                </c:pt>
                <c:pt idx="147">
                  <c:v>0.82228594543390077</c:v>
                </c:pt>
                <c:pt idx="148">
                  <c:v>0.87254552435126431</c:v>
                </c:pt>
                <c:pt idx="149">
                  <c:v>0.90688789142571524</c:v>
                </c:pt>
                <c:pt idx="150">
                  <c:v>0.90904564835754453</c:v>
                </c:pt>
                <c:pt idx="151">
                  <c:v>0.90782006120518755</c:v>
                </c:pt>
                <c:pt idx="152">
                  <c:v>0.9105479087849232</c:v>
                </c:pt>
                <c:pt idx="153">
                  <c:v>0.92736895436677724</c:v>
                </c:pt>
                <c:pt idx="154">
                  <c:v>0.92693774833595899</c:v>
                </c:pt>
                <c:pt idx="155">
                  <c:v>0.92962672480790975</c:v>
                </c:pt>
                <c:pt idx="156">
                  <c:v>0.92772026190850965</c:v>
                </c:pt>
                <c:pt idx="157">
                  <c:v>0.95324471839825531</c:v>
                </c:pt>
                <c:pt idx="158">
                  <c:v>0.95520978776140819</c:v>
                </c:pt>
                <c:pt idx="159">
                  <c:v>0.95335910637163435</c:v>
                </c:pt>
                <c:pt idx="160">
                  <c:v>0.95122523158751371</c:v>
                </c:pt>
                <c:pt idx="161">
                  <c:v>0.95159604304738465</c:v>
                </c:pt>
                <c:pt idx="162">
                  <c:v>0.96333796137203465</c:v>
                </c:pt>
                <c:pt idx="163">
                  <c:v>0.96475073661562716</c:v>
                </c:pt>
                <c:pt idx="164">
                  <c:v>0.96375870927153184</c:v>
                </c:pt>
                <c:pt idx="165">
                  <c:v>0.96549727195050905</c:v>
                </c:pt>
                <c:pt idx="166">
                  <c:v>0.97972824609281739</c:v>
                </c:pt>
                <c:pt idx="167">
                  <c:v>0.97557589212912299</c:v>
                </c:pt>
                <c:pt idx="168">
                  <c:v>0.95934690244536402</c:v>
                </c:pt>
                <c:pt idx="169">
                  <c:v>0.9385222539497815</c:v>
                </c:pt>
                <c:pt idx="170">
                  <c:v>0.94205857388199854</c:v>
                </c:pt>
                <c:pt idx="171">
                  <c:v>0.87748700775465949</c:v>
                </c:pt>
                <c:pt idx="172">
                  <c:v>0.90339137243763723</c:v>
                </c:pt>
                <c:pt idx="173">
                  <c:v>0.94205857388199854</c:v>
                </c:pt>
                <c:pt idx="174">
                  <c:v>0.95587425416287319</c:v>
                </c:pt>
                <c:pt idx="175">
                  <c:v>0.99027447530696866</c:v>
                </c:pt>
                <c:pt idx="176">
                  <c:v>0.97847366123619861</c:v>
                </c:pt>
                <c:pt idx="177">
                  <c:v>0.95580172872477098</c:v>
                </c:pt>
                <c:pt idx="178">
                  <c:v>0.89815584955046668</c:v>
                </c:pt>
                <c:pt idx="179">
                  <c:v>0.90433551745614671</c:v>
                </c:pt>
                <c:pt idx="180">
                  <c:v>0.90433551745614671</c:v>
                </c:pt>
                <c:pt idx="181">
                  <c:v>0.89875319576913215</c:v>
                </c:pt>
                <c:pt idx="182">
                  <c:v>0.90226538815009849</c:v>
                </c:pt>
                <c:pt idx="183">
                  <c:v>0.91172389347479832</c:v>
                </c:pt>
                <c:pt idx="184">
                  <c:v>0.91139854356807648</c:v>
                </c:pt>
                <c:pt idx="185">
                  <c:v>0.91158635954379463</c:v>
                </c:pt>
                <c:pt idx="186">
                  <c:v>0.91043730151525848</c:v>
                </c:pt>
                <c:pt idx="187">
                  <c:v>0.90933155768623286</c:v>
                </c:pt>
                <c:pt idx="188">
                  <c:v>0.92081224691907704</c:v>
                </c:pt>
                <c:pt idx="189">
                  <c:v>0.91584710240533518</c:v>
                </c:pt>
                <c:pt idx="190">
                  <c:v>0.92081224691907704</c:v>
                </c:pt>
                <c:pt idx="191">
                  <c:v>0.88207169423008958</c:v>
                </c:pt>
                <c:pt idx="192">
                  <c:v>0.89839647193495631</c:v>
                </c:pt>
                <c:pt idx="193">
                  <c:v>0.81613042553286597</c:v>
                </c:pt>
                <c:pt idx="194">
                  <c:v>0.92731884222020211</c:v>
                </c:pt>
                <c:pt idx="195">
                  <c:v>0.94021222625007095</c:v>
                </c:pt>
                <c:pt idx="196">
                  <c:v>0.93754446570186334</c:v>
                </c:pt>
                <c:pt idx="197">
                  <c:v>0.92213501804792164</c:v>
                </c:pt>
                <c:pt idx="198">
                  <c:v>0.95301550179731664</c:v>
                </c:pt>
                <c:pt idx="199">
                  <c:v>0.95301550179731664</c:v>
                </c:pt>
                <c:pt idx="200">
                  <c:v>0.95301550179731664</c:v>
                </c:pt>
                <c:pt idx="201">
                  <c:v>0.93095663396698869</c:v>
                </c:pt>
                <c:pt idx="202">
                  <c:v>0.9605332037897929</c:v>
                </c:pt>
                <c:pt idx="203">
                  <c:v>0.96186747708451303</c:v>
                </c:pt>
                <c:pt idx="204">
                  <c:v>0.95441320378126659</c:v>
                </c:pt>
                <c:pt idx="205">
                  <c:v>0.96468401373452672</c:v>
                </c:pt>
                <c:pt idx="206">
                  <c:v>0.97266763503004883</c:v>
                </c:pt>
                <c:pt idx="207">
                  <c:v>0.95776869813018495</c:v>
                </c:pt>
                <c:pt idx="208">
                  <c:v>0.94404770550683115</c:v>
                </c:pt>
                <c:pt idx="209">
                  <c:v>0.93485323798856346</c:v>
                </c:pt>
                <c:pt idx="210">
                  <c:v>0.96106992079841158</c:v>
                </c:pt>
                <c:pt idx="211">
                  <c:v>0.94774748297200118</c:v>
                </c:pt>
                <c:pt idx="212">
                  <c:v>0.95604869553761263</c:v>
                </c:pt>
                <c:pt idx="213">
                  <c:v>0.94774748297200118</c:v>
                </c:pt>
                <c:pt idx="214">
                  <c:v>0.87447330791091027</c:v>
                </c:pt>
                <c:pt idx="215">
                  <c:v>0.86610822666592668</c:v>
                </c:pt>
                <c:pt idx="216">
                  <c:v>0.85855481757872876</c:v>
                </c:pt>
                <c:pt idx="217">
                  <c:v>0.97239746277661943</c:v>
                </c:pt>
                <c:pt idx="218">
                  <c:v>0.94760091430176863</c:v>
                </c:pt>
                <c:pt idx="219">
                  <c:v>0.90530545432094578</c:v>
                </c:pt>
                <c:pt idx="220">
                  <c:v>0.90530545432094578</c:v>
                </c:pt>
                <c:pt idx="221">
                  <c:v>0.88187964847597478</c:v>
                </c:pt>
                <c:pt idx="222">
                  <c:v>0.84714025108084823</c:v>
                </c:pt>
                <c:pt idx="223">
                  <c:v>0.85057469901096172</c:v>
                </c:pt>
                <c:pt idx="224">
                  <c:v>0.86318334905076011</c:v>
                </c:pt>
                <c:pt idx="225">
                  <c:v>0.83807343208953389</c:v>
                </c:pt>
                <c:pt idx="226">
                  <c:v>0.82222220988865746</c:v>
                </c:pt>
                <c:pt idx="227">
                  <c:v>0.62275368206073134</c:v>
                </c:pt>
                <c:pt idx="228">
                  <c:v>0.67230326575429078</c:v>
                </c:pt>
                <c:pt idx="229">
                  <c:v>0.69050447134038251</c:v>
                </c:pt>
                <c:pt idx="230">
                  <c:v>0.61033542977678468</c:v>
                </c:pt>
                <c:pt idx="231">
                  <c:v>0.6939569757734102</c:v>
                </c:pt>
                <c:pt idx="232">
                  <c:v>0.66754333395655185</c:v>
                </c:pt>
                <c:pt idx="233">
                  <c:v>0.72609301543362903</c:v>
                </c:pt>
                <c:pt idx="234">
                  <c:v>0.74663166442725448</c:v>
                </c:pt>
                <c:pt idx="235">
                  <c:v>0.66754333395655185</c:v>
                </c:pt>
                <c:pt idx="236">
                  <c:v>0.62123716526554651</c:v>
                </c:pt>
                <c:pt idx="237">
                  <c:v>0.6180222680328239</c:v>
                </c:pt>
                <c:pt idx="238">
                  <c:v>0.61208356800738151</c:v>
                </c:pt>
                <c:pt idx="239">
                  <c:v>0.59958841658177919</c:v>
                </c:pt>
                <c:pt idx="240">
                  <c:v>0.60103263205619939</c:v>
                </c:pt>
                <c:pt idx="241">
                  <c:v>0.60029604092737399</c:v>
                </c:pt>
                <c:pt idx="242">
                  <c:v>0.58845851438886132</c:v>
                </c:pt>
                <c:pt idx="243">
                  <c:v>0.59224775585706535</c:v>
                </c:pt>
                <c:pt idx="244">
                  <c:v>0.604601625895822</c:v>
                </c:pt>
                <c:pt idx="245">
                  <c:v>0.61074045486204243</c:v>
                </c:pt>
                <c:pt idx="246">
                  <c:v>0.61389489282556919</c:v>
                </c:pt>
                <c:pt idx="247">
                  <c:v>0.60233041560273004</c:v>
                </c:pt>
                <c:pt idx="248">
                  <c:v>0.6037352344540472</c:v>
                </c:pt>
                <c:pt idx="249">
                  <c:v>0.58942459149155479</c:v>
                </c:pt>
                <c:pt idx="250">
                  <c:v>0.54205032767488659</c:v>
                </c:pt>
                <c:pt idx="251">
                  <c:v>0.52056927566475342</c:v>
                </c:pt>
                <c:pt idx="252">
                  <c:v>0.61889055550431171</c:v>
                </c:pt>
                <c:pt idx="253">
                  <c:v>0.63857444674020136</c:v>
                </c:pt>
                <c:pt idx="254">
                  <c:v>0.64069519706314115</c:v>
                </c:pt>
                <c:pt idx="255">
                  <c:v>0.64288827641604773</c:v>
                </c:pt>
                <c:pt idx="256">
                  <c:v>0.63874575831359703</c:v>
                </c:pt>
              </c:numCache>
            </c:numRef>
          </c:val>
          <c:smooth val="0"/>
        </c:ser>
        <c:ser>
          <c:idx val="1"/>
          <c:order val="1"/>
          <c:tx>
            <c:strRef>
              <c:f>Query!$D$2</c:f>
              <c:strCache>
                <c:ptCount val="1"/>
                <c:pt idx="0">
                  <c:v>Loan Level</c:v>
                </c:pt>
              </c:strCache>
            </c:strRef>
          </c:tx>
          <c:spPr>
            <a:ln w="19050">
              <a:solidFill>
                <a:srgbClr val="AD275C"/>
              </a:solidFill>
            </a:ln>
          </c:spPr>
          <c:marker>
            <c:symbol val="none"/>
          </c:marker>
          <c:cat>
            <c:numRef>
              <c:f>Query!$B$3:$B$259</c:f>
              <c:numCache>
                <c:formatCode>m/d/yyyy</c:formatCode>
                <c:ptCount val="257"/>
                <c:pt idx="0">
                  <c:v>42341</c:v>
                </c:pt>
                <c:pt idx="1">
                  <c:v>42333</c:v>
                </c:pt>
                <c:pt idx="2">
                  <c:v>42327</c:v>
                </c:pt>
                <c:pt idx="3">
                  <c:v>42320</c:v>
                </c:pt>
                <c:pt idx="4">
                  <c:v>42313</c:v>
                </c:pt>
                <c:pt idx="5">
                  <c:v>42306</c:v>
                </c:pt>
                <c:pt idx="6">
                  <c:v>42299</c:v>
                </c:pt>
                <c:pt idx="7">
                  <c:v>42292</c:v>
                </c:pt>
                <c:pt idx="8">
                  <c:v>42285</c:v>
                </c:pt>
                <c:pt idx="9">
                  <c:v>42278</c:v>
                </c:pt>
                <c:pt idx="10">
                  <c:v>42271</c:v>
                </c:pt>
                <c:pt idx="11">
                  <c:v>42264</c:v>
                </c:pt>
                <c:pt idx="12">
                  <c:v>42257</c:v>
                </c:pt>
                <c:pt idx="13">
                  <c:v>42250</c:v>
                </c:pt>
                <c:pt idx="14">
                  <c:v>42243</c:v>
                </c:pt>
                <c:pt idx="15">
                  <c:v>42236</c:v>
                </c:pt>
                <c:pt idx="16">
                  <c:v>42229</c:v>
                </c:pt>
                <c:pt idx="17">
                  <c:v>42222</c:v>
                </c:pt>
                <c:pt idx="18">
                  <c:v>42215</c:v>
                </c:pt>
                <c:pt idx="19">
                  <c:v>42208</c:v>
                </c:pt>
                <c:pt idx="20">
                  <c:v>42201</c:v>
                </c:pt>
                <c:pt idx="21">
                  <c:v>42194</c:v>
                </c:pt>
                <c:pt idx="22">
                  <c:v>42187</c:v>
                </c:pt>
                <c:pt idx="23">
                  <c:v>42180</c:v>
                </c:pt>
                <c:pt idx="24">
                  <c:v>42173</c:v>
                </c:pt>
                <c:pt idx="25">
                  <c:v>42166</c:v>
                </c:pt>
                <c:pt idx="26">
                  <c:v>42159</c:v>
                </c:pt>
                <c:pt idx="27">
                  <c:v>42152</c:v>
                </c:pt>
                <c:pt idx="28">
                  <c:v>42145</c:v>
                </c:pt>
                <c:pt idx="29">
                  <c:v>42138</c:v>
                </c:pt>
                <c:pt idx="30">
                  <c:v>42131</c:v>
                </c:pt>
                <c:pt idx="31">
                  <c:v>42124</c:v>
                </c:pt>
                <c:pt idx="32">
                  <c:v>42117</c:v>
                </c:pt>
                <c:pt idx="33">
                  <c:v>42110</c:v>
                </c:pt>
                <c:pt idx="34">
                  <c:v>42103</c:v>
                </c:pt>
                <c:pt idx="35">
                  <c:v>42096</c:v>
                </c:pt>
                <c:pt idx="36">
                  <c:v>42089</c:v>
                </c:pt>
                <c:pt idx="37">
                  <c:v>42082</c:v>
                </c:pt>
                <c:pt idx="38">
                  <c:v>42075</c:v>
                </c:pt>
                <c:pt idx="39">
                  <c:v>42068</c:v>
                </c:pt>
                <c:pt idx="40">
                  <c:v>42061</c:v>
                </c:pt>
                <c:pt idx="41">
                  <c:v>42054</c:v>
                </c:pt>
                <c:pt idx="42">
                  <c:v>42047</c:v>
                </c:pt>
                <c:pt idx="43">
                  <c:v>42040</c:v>
                </c:pt>
                <c:pt idx="44">
                  <c:v>42033</c:v>
                </c:pt>
                <c:pt idx="45">
                  <c:v>42026</c:v>
                </c:pt>
                <c:pt idx="46">
                  <c:v>42019</c:v>
                </c:pt>
                <c:pt idx="47">
                  <c:v>42012</c:v>
                </c:pt>
                <c:pt idx="48">
                  <c:v>42004</c:v>
                </c:pt>
                <c:pt idx="49">
                  <c:v>41997</c:v>
                </c:pt>
                <c:pt idx="50">
                  <c:v>41991</c:v>
                </c:pt>
                <c:pt idx="51">
                  <c:v>41984</c:v>
                </c:pt>
                <c:pt idx="52">
                  <c:v>41977</c:v>
                </c:pt>
                <c:pt idx="53">
                  <c:v>41969</c:v>
                </c:pt>
                <c:pt idx="54">
                  <c:v>41963</c:v>
                </c:pt>
                <c:pt idx="55">
                  <c:v>41956</c:v>
                </c:pt>
                <c:pt idx="56">
                  <c:v>41949</c:v>
                </c:pt>
                <c:pt idx="57">
                  <c:v>41942</c:v>
                </c:pt>
                <c:pt idx="58">
                  <c:v>41935</c:v>
                </c:pt>
                <c:pt idx="59">
                  <c:v>41928</c:v>
                </c:pt>
                <c:pt idx="60">
                  <c:v>41921</c:v>
                </c:pt>
                <c:pt idx="61">
                  <c:v>41914</c:v>
                </c:pt>
                <c:pt idx="62">
                  <c:v>41907</c:v>
                </c:pt>
                <c:pt idx="63">
                  <c:v>41900</c:v>
                </c:pt>
                <c:pt idx="64">
                  <c:v>41893</c:v>
                </c:pt>
                <c:pt idx="65">
                  <c:v>41886</c:v>
                </c:pt>
                <c:pt idx="66">
                  <c:v>41879</c:v>
                </c:pt>
                <c:pt idx="67">
                  <c:v>41872</c:v>
                </c:pt>
                <c:pt idx="68">
                  <c:v>41865</c:v>
                </c:pt>
                <c:pt idx="69">
                  <c:v>41858</c:v>
                </c:pt>
                <c:pt idx="70">
                  <c:v>41851</c:v>
                </c:pt>
                <c:pt idx="71">
                  <c:v>41844</c:v>
                </c:pt>
                <c:pt idx="72">
                  <c:v>41837</c:v>
                </c:pt>
                <c:pt idx="73">
                  <c:v>41830</c:v>
                </c:pt>
                <c:pt idx="74">
                  <c:v>41823</c:v>
                </c:pt>
                <c:pt idx="75">
                  <c:v>41816</c:v>
                </c:pt>
                <c:pt idx="76">
                  <c:v>41809</c:v>
                </c:pt>
                <c:pt idx="77">
                  <c:v>41802</c:v>
                </c:pt>
                <c:pt idx="78">
                  <c:v>41795</c:v>
                </c:pt>
                <c:pt idx="79">
                  <c:v>41788</c:v>
                </c:pt>
                <c:pt idx="80">
                  <c:v>41781</c:v>
                </c:pt>
                <c:pt idx="81">
                  <c:v>41774</c:v>
                </c:pt>
                <c:pt idx="82">
                  <c:v>41767</c:v>
                </c:pt>
                <c:pt idx="83">
                  <c:v>41760</c:v>
                </c:pt>
                <c:pt idx="84">
                  <c:v>41753</c:v>
                </c:pt>
                <c:pt idx="85">
                  <c:v>41746</c:v>
                </c:pt>
                <c:pt idx="86">
                  <c:v>41739</c:v>
                </c:pt>
                <c:pt idx="87">
                  <c:v>41732</c:v>
                </c:pt>
                <c:pt idx="88">
                  <c:v>41725</c:v>
                </c:pt>
                <c:pt idx="89">
                  <c:v>41718</c:v>
                </c:pt>
                <c:pt idx="90">
                  <c:v>41711</c:v>
                </c:pt>
                <c:pt idx="91">
                  <c:v>41704</c:v>
                </c:pt>
                <c:pt idx="92">
                  <c:v>41697</c:v>
                </c:pt>
                <c:pt idx="93">
                  <c:v>41690</c:v>
                </c:pt>
                <c:pt idx="94">
                  <c:v>41683</c:v>
                </c:pt>
                <c:pt idx="95">
                  <c:v>41676</c:v>
                </c:pt>
                <c:pt idx="96">
                  <c:v>41669</c:v>
                </c:pt>
                <c:pt idx="97">
                  <c:v>41662</c:v>
                </c:pt>
                <c:pt idx="98">
                  <c:v>41655</c:v>
                </c:pt>
                <c:pt idx="99">
                  <c:v>41648</c:v>
                </c:pt>
                <c:pt idx="100">
                  <c:v>41641</c:v>
                </c:pt>
                <c:pt idx="101">
                  <c:v>41634</c:v>
                </c:pt>
                <c:pt idx="102">
                  <c:v>41627</c:v>
                </c:pt>
                <c:pt idx="103">
                  <c:v>41620</c:v>
                </c:pt>
                <c:pt idx="104">
                  <c:v>41613</c:v>
                </c:pt>
                <c:pt idx="105">
                  <c:v>41605</c:v>
                </c:pt>
                <c:pt idx="106">
                  <c:v>41599</c:v>
                </c:pt>
                <c:pt idx="107">
                  <c:v>41592</c:v>
                </c:pt>
                <c:pt idx="108">
                  <c:v>41585</c:v>
                </c:pt>
                <c:pt idx="109">
                  <c:v>41578</c:v>
                </c:pt>
                <c:pt idx="110">
                  <c:v>41571</c:v>
                </c:pt>
                <c:pt idx="111">
                  <c:v>41564</c:v>
                </c:pt>
                <c:pt idx="112">
                  <c:v>41557</c:v>
                </c:pt>
                <c:pt idx="113">
                  <c:v>41550</c:v>
                </c:pt>
                <c:pt idx="114">
                  <c:v>41543</c:v>
                </c:pt>
                <c:pt idx="115">
                  <c:v>41536</c:v>
                </c:pt>
                <c:pt idx="116">
                  <c:v>41529</c:v>
                </c:pt>
                <c:pt idx="117">
                  <c:v>41522</c:v>
                </c:pt>
                <c:pt idx="118">
                  <c:v>41515</c:v>
                </c:pt>
                <c:pt idx="119">
                  <c:v>41508</c:v>
                </c:pt>
                <c:pt idx="120">
                  <c:v>41501</c:v>
                </c:pt>
                <c:pt idx="121">
                  <c:v>41494</c:v>
                </c:pt>
                <c:pt idx="122">
                  <c:v>41487</c:v>
                </c:pt>
                <c:pt idx="123">
                  <c:v>41480</c:v>
                </c:pt>
                <c:pt idx="124">
                  <c:v>41473</c:v>
                </c:pt>
                <c:pt idx="125">
                  <c:v>41466</c:v>
                </c:pt>
                <c:pt idx="126">
                  <c:v>41458</c:v>
                </c:pt>
                <c:pt idx="127">
                  <c:v>41452</c:v>
                </c:pt>
                <c:pt idx="128">
                  <c:v>41445</c:v>
                </c:pt>
                <c:pt idx="129">
                  <c:v>41438</c:v>
                </c:pt>
                <c:pt idx="130">
                  <c:v>41431</c:v>
                </c:pt>
                <c:pt idx="131">
                  <c:v>41424</c:v>
                </c:pt>
                <c:pt idx="132">
                  <c:v>41417</c:v>
                </c:pt>
                <c:pt idx="133">
                  <c:v>41410</c:v>
                </c:pt>
                <c:pt idx="134">
                  <c:v>41403</c:v>
                </c:pt>
                <c:pt idx="135">
                  <c:v>41396</c:v>
                </c:pt>
                <c:pt idx="136">
                  <c:v>41389</c:v>
                </c:pt>
                <c:pt idx="137">
                  <c:v>41382</c:v>
                </c:pt>
                <c:pt idx="138">
                  <c:v>41375</c:v>
                </c:pt>
                <c:pt idx="139">
                  <c:v>41368</c:v>
                </c:pt>
                <c:pt idx="140">
                  <c:v>41361</c:v>
                </c:pt>
                <c:pt idx="141">
                  <c:v>41354</c:v>
                </c:pt>
                <c:pt idx="142">
                  <c:v>41347</c:v>
                </c:pt>
                <c:pt idx="143">
                  <c:v>41340</c:v>
                </c:pt>
                <c:pt idx="144">
                  <c:v>41333</c:v>
                </c:pt>
                <c:pt idx="145">
                  <c:v>41326</c:v>
                </c:pt>
                <c:pt idx="146">
                  <c:v>41319</c:v>
                </c:pt>
                <c:pt idx="147">
                  <c:v>41312</c:v>
                </c:pt>
                <c:pt idx="148">
                  <c:v>41305</c:v>
                </c:pt>
                <c:pt idx="149">
                  <c:v>41298</c:v>
                </c:pt>
                <c:pt idx="150">
                  <c:v>41291</c:v>
                </c:pt>
                <c:pt idx="151">
                  <c:v>41284</c:v>
                </c:pt>
                <c:pt idx="152">
                  <c:v>41277</c:v>
                </c:pt>
                <c:pt idx="153">
                  <c:v>41270</c:v>
                </c:pt>
                <c:pt idx="154">
                  <c:v>41263</c:v>
                </c:pt>
                <c:pt idx="155">
                  <c:v>41256</c:v>
                </c:pt>
                <c:pt idx="156">
                  <c:v>41249</c:v>
                </c:pt>
                <c:pt idx="157">
                  <c:v>41242</c:v>
                </c:pt>
                <c:pt idx="158">
                  <c:v>41234</c:v>
                </c:pt>
                <c:pt idx="159">
                  <c:v>41228</c:v>
                </c:pt>
                <c:pt idx="160">
                  <c:v>41221</c:v>
                </c:pt>
                <c:pt idx="161">
                  <c:v>41214</c:v>
                </c:pt>
                <c:pt idx="162">
                  <c:v>41207</c:v>
                </c:pt>
                <c:pt idx="163">
                  <c:v>41200</c:v>
                </c:pt>
                <c:pt idx="164">
                  <c:v>41193</c:v>
                </c:pt>
                <c:pt idx="165">
                  <c:v>41186</c:v>
                </c:pt>
                <c:pt idx="166">
                  <c:v>41179</c:v>
                </c:pt>
                <c:pt idx="167">
                  <c:v>41172</c:v>
                </c:pt>
                <c:pt idx="168">
                  <c:v>41165</c:v>
                </c:pt>
                <c:pt idx="169">
                  <c:v>41158</c:v>
                </c:pt>
                <c:pt idx="170">
                  <c:v>41151</c:v>
                </c:pt>
                <c:pt idx="171">
                  <c:v>41144</c:v>
                </c:pt>
                <c:pt idx="172">
                  <c:v>41137</c:v>
                </c:pt>
                <c:pt idx="173">
                  <c:v>41130</c:v>
                </c:pt>
                <c:pt idx="174">
                  <c:v>41123</c:v>
                </c:pt>
                <c:pt idx="175">
                  <c:v>41116</c:v>
                </c:pt>
                <c:pt idx="176">
                  <c:v>41109</c:v>
                </c:pt>
                <c:pt idx="177">
                  <c:v>41102</c:v>
                </c:pt>
                <c:pt idx="178">
                  <c:v>41095</c:v>
                </c:pt>
                <c:pt idx="179">
                  <c:v>41088</c:v>
                </c:pt>
                <c:pt idx="180">
                  <c:v>41081</c:v>
                </c:pt>
                <c:pt idx="181">
                  <c:v>41074</c:v>
                </c:pt>
                <c:pt idx="182">
                  <c:v>41067</c:v>
                </c:pt>
                <c:pt idx="183">
                  <c:v>41060</c:v>
                </c:pt>
                <c:pt idx="184">
                  <c:v>41053</c:v>
                </c:pt>
                <c:pt idx="185">
                  <c:v>41046</c:v>
                </c:pt>
                <c:pt idx="186">
                  <c:v>41039</c:v>
                </c:pt>
                <c:pt idx="187">
                  <c:v>41032</c:v>
                </c:pt>
                <c:pt idx="188">
                  <c:v>41025</c:v>
                </c:pt>
                <c:pt idx="189">
                  <c:v>41018</c:v>
                </c:pt>
                <c:pt idx="190">
                  <c:v>41011</c:v>
                </c:pt>
                <c:pt idx="191">
                  <c:v>41004</c:v>
                </c:pt>
                <c:pt idx="192">
                  <c:v>40997</c:v>
                </c:pt>
                <c:pt idx="193">
                  <c:v>40990</c:v>
                </c:pt>
                <c:pt idx="194">
                  <c:v>40983</c:v>
                </c:pt>
                <c:pt idx="195">
                  <c:v>40976</c:v>
                </c:pt>
                <c:pt idx="196">
                  <c:v>40969</c:v>
                </c:pt>
                <c:pt idx="197">
                  <c:v>40962</c:v>
                </c:pt>
                <c:pt idx="198">
                  <c:v>40955</c:v>
                </c:pt>
                <c:pt idx="199">
                  <c:v>40948</c:v>
                </c:pt>
                <c:pt idx="200">
                  <c:v>40941</c:v>
                </c:pt>
                <c:pt idx="201">
                  <c:v>40934</c:v>
                </c:pt>
                <c:pt idx="202">
                  <c:v>40927</c:v>
                </c:pt>
                <c:pt idx="203">
                  <c:v>40920</c:v>
                </c:pt>
                <c:pt idx="204">
                  <c:v>40913</c:v>
                </c:pt>
                <c:pt idx="205">
                  <c:v>40906</c:v>
                </c:pt>
                <c:pt idx="206">
                  <c:v>40899</c:v>
                </c:pt>
                <c:pt idx="207">
                  <c:v>40892</c:v>
                </c:pt>
                <c:pt idx="208">
                  <c:v>40885</c:v>
                </c:pt>
                <c:pt idx="209">
                  <c:v>40878</c:v>
                </c:pt>
                <c:pt idx="210">
                  <c:v>40870</c:v>
                </c:pt>
                <c:pt idx="211">
                  <c:v>40864</c:v>
                </c:pt>
                <c:pt idx="212">
                  <c:v>40857</c:v>
                </c:pt>
                <c:pt idx="213">
                  <c:v>40850</c:v>
                </c:pt>
                <c:pt idx="214">
                  <c:v>40843</c:v>
                </c:pt>
                <c:pt idx="215">
                  <c:v>40836</c:v>
                </c:pt>
                <c:pt idx="216">
                  <c:v>40829</c:v>
                </c:pt>
                <c:pt idx="217">
                  <c:v>40822</c:v>
                </c:pt>
                <c:pt idx="218">
                  <c:v>40815</c:v>
                </c:pt>
                <c:pt idx="219">
                  <c:v>40808</c:v>
                </c:pt>
                <c:pt idx="220">
                  <c:v>40801</c:v>
                </c:pt>
                <c:pt idx="221">
                  <c:v>40794</c:v>
                </c:pt>
                <c:pt idx="222">
                  <c:v>40787</c:v>
                </c:pt>
                <c:pt idx="223">
                  <c:v>40780</c:v>
                </c:pt>
                <c:pt idx="224">
                  <c:v>40773</c:v>
                </c:pt>
                <c:pt idx="225">
                  <c:v>40766</c:v>
                </c:pt>
                <c:pt idx="226">
                  <c:v>40759</c:v>
                </c:pt>
                <c:pt idx="227">
                  <c:v>40752</c:v>
                </c:pt>
                <c:pt idx="228">
                  <c:v>40745</c:v>
                </c:pt>
                <c:pt idx="229">
                  <c:v>40738</c:v>
                </c:pt>
                <c:pt idx="230">
                  <c:v>40731</c:v>
                </c:pt>
                <c:pt idx="231">
                  <c:v>40724</c:v>
                </c:pt>
                <c:pt idx="232">
                  <c:v>40717</c:v>
                </c:pt>
                <c:pt idx="233">
                  <c:v>40710</c:v>
                </c:pt>
                <c:pt idx="234">
                  <c:v>40703</c:v>
                </c:pt>
                <c:pt idx="235">
                  <c:v>40696</c:v>
                </c:pt>
                <c:pt idx="236">
                  <c:v>40689</c:v>
                </c:pt>
                <c:pt idx="237">
                  <c:v>40682</c:v>
                </c:pt>
                <c:pt idx="238">
                  <c:v>40675</c:v>
                </c:pt>
                <c:pt idx="239">
                  <c:v>40668</c:v>
                </c:pt>
                <c:pt idx="240">
                  <c:v>40661</c:v>
                </c:pt>
                <c:pt idx="241">
                  <c:v>40654</c:v>
                </c:pt>
                <c:pt idx="242">
                  <c:v>40647</c:v>
                </c:pt>
                <c:pt idx="243">
                  <c:v>40640</c:v>
                </c:pt>
                <c:pt idx="244">
                  <c:v>40633</c:v>
                </c:pt>
                <c:pt idx="245">
                  <c:v>40626</c:v>
                </c:pt>
                <c:pt idx="246">
                  <c:v>40619</c:v>
                </c:pt>
                <c:pt idx="247">
                  <c:v>40612</c:v>
                </c:pt>
                <c:pt idx="248">
                  <c:v>40605</c:v>
                </c:pt>
                <c:pt idx="249">
                  <c:v>40598</c:v>
                </c:pt>
                <c:pt idx="250">
                  <c:v>40591</c:v>
                </c:pt>
                <c:pt idx="251">
                  <c:v>40584</c:v>
                </c:pt>
                <c:pt idx="252">
                  <c:v>40577</c:v>
                </c:pt>
                <c:pt idx="253">
                  <c:v>40570</c:v>
                </c:pt>
                <c:pt idx="254">
                  <c:v>40563</c:v>
                </c:pt>
                <c:pt idx="255">
                  <c:v>40556</c:v>
                </c:pt>
                <c:pt idx="256">
                  <c:v>40549</c:v>
                </c:pt>
              </c:numCache>
            </c:numRef>
          </c:cat>
          <c:val>
            <c:numRef>
              <c:f>Query!$D$3:$D$259</c:f>
              <c:numCache>
                <c:formatCode>0.00%</c:formatCode>
                <c:ptCount val="257"/>
                <c:pt idx="0">
                  <c:v>0.44656607927794312</c:v>
                </c:pt>
                <c:pt idx="1">
                  <c:v>0.44809866053416347</c:v>
                </c:pt>
                <c:pt idx="2">
                  <c:v>0.44227071864556189</c:v>
                </c:pt>
                <c:pt idx="3">
                  <c:v>0.41424676173976599</c:v>
                </c:pt>
                <c:pt idx="4">
                  <c:v>0.47756205149100972</c:v>
                </c:pt>
                <c:pt idx="5">
                  <c:v>0.55255659565598092</c:v>
                </c:pt>
                <c:pt idx="6">
                  <c:v>0.52254107122394533</c:v>
                </c:pt>
                <c:pt idx="7">
                  <c:v>0.52010113675112479</c:v>
                </c:pt>
                <c:pt idx="8">
                  <c:v>0.55255659565598092</c:v>
                </c:pt>
                <c:pt idx="9">
                  <c:v>0.51784913770324514</c:v>
                </c:pt>
                <c:pt idx="10">
                  <c:v>0.48860274852887836</c:v>
                </c:pt>
                <c:pt idx="11">
                  <c:v>0.48469774680333999</c:v>
                </c:pt>
                <c:pt idx="12">
                  <c:v>0.48663724314238854</c:v>
                </c:pt>
                <c:pt idx="13">
                  <c:v>0.4874742059346423</c:v>
                </c:pt>
                <c:pt idx="14">
                  <c:v>0.53237291122190666</c:v>
                </c:pt>
                <c:pt idx="15">
                  <c:v>0.44680494601844289</c:v>
                </c:pt>
                <c:pt idx="16">
                  <c:v>0.44651143610405097</c:v>
                </c:pt>
                <c:pt idx="17">
                  <c:v>0.47053858271925847</c:v>
                </c:pt>
                <c:pt idx="18">
                  <c:v>0.42269076065729377</c:v>
                </c:pt>
                <c:pt idx="19">
                  <c:v>0.39501005586426785</c:v>
                </c:pt>
                <c:pt idx="20">
                  <c:v>0.39138037249660224</c:v>
                </c:pt>
                <c:pt idx="21">
                  <c:v>0.39501005586426785</c:v>
                </c:pt>
                <c:pt idx="22">
                  <c:v>0.39179509217736908</c:v>
                </c:pt>
                <c:pt idx="23">
                  <c:v>0.39696021691334338</c:v>
                </c:pt>
                <c:pt idx="24">
                  <c:v>0.42202391195455535</c:v>
                </c:pt>
                <c:pt idx="25">
                  <c:v>0.39779633268543002</c:v>
                </c:pt>
                <c:pt idx="26">
                  <c:v>0.49151040605794738</c:v>
                </c:pt>
                <c:pt idx="27">
                  <c:v>0.49518214427458052</c:v>
                </c:pt>
                <c:pt idx="28">
                  <c:v>0.49530657385961702</c:v>
                </c:pt>
                <c:pt idx="29">
                  <c:v>0.52626041924754496</c:v>
                </c:pt>
                <c:pt idx="30">
                  <c:v>0.53238458781035902</c:v>
                </c:pt>
                <c:pt idx="31">
                  <c:v>0.608876308109219</c:v>
                </c:pt>
                <c:pt idx="32">
                  <c:v>0.63350921207897204</c:v>
                </c:pt>
                <c:pt idx="33">
                  <c:v>0.60745911385405604</c:v>
                </c:pt>
                <c:pt idx="34">
                  <c:v>0.63179874985391804</c:v>
                </c:pt>
                <c:pt idx="35">
                  <c:v>0.60618674833379105</c:v>
                </c:pt>
                <c:pt idx="36">
                  <c:v>0.61985540937113104</c:v>
                </c:pt>
                <c:pt idx="37">
                  <c:v>0.58146564562660097</c:v>
                </c:pt>
                <c:pt idx="38">
                  <c:v>0.51703371456013503</c:v>
                </c:pt>
                <c:pt idx="39">
                  <c:v>0.58384753948448997</c:v>
                </c:pt>
                <c:pt idx="40">
                  <c:v>0.56144623129586702</c:v>
                </c:pt>
                <c:pt idx="41">
                  <c:v>0.59003468905342005</c:v>
                </c:pt>
                <c:pt idx="42">
                  <c:v>0.62719075850631201</c:v>
                </c:pt>
                <c:pt idx="43">
                  <c:v>0.65455905311871299</c:v>
                </c:pt>
                <c:pt idx="44">
                  <c:v>0.65582330233583797</c:v>
                </c:pt>
                <c:pt idx="45">
                  <c:v>0.65720471867066899</c:v>
                </c:pt>
                <c:pt idx="46">
                  <c:v>0.65582330233583797</c:v>
                </c:pt>
                <c:pt idx="47">
                  <c:v>0.59931706558407905</c:v>
                </c:pt>
                <c:pt idx="48">
                  <c:v>0.53680415412734395</c:v>
                </c:pt>
                <c:pt idx="49">
                  <c:v>0.57166642614489205</c:v>
                </c:pt>
                <c:pt idx="50">
                  <c:v>0.57447022909045797</c:v>
                </c:pt>
                <c:pt idx="51">
                  <c:v>0.53353274326337596</c:v>
                </c:pt>
                <c:pt idx="52">
                  <c:v>0.53685925114667898</c:v>
                </c:pt>
                <c:pt idx="53">
                  <c:v>0.51222876537846296</c:v>
                </c:pt>
                <c:pt idx="54">
                  <c:v>0.51126312077979097</c:v>
                </c:pt>
                <c:pt idx="55">
                  <c:v>0.47696082053878203</c:v>
                </c:pt>
                <c:pt idx="56">
                  <c:v>0.47679161148246502</c:v>
                </c:pt>
                <c:pt idx="57">
                  <c:v>0.519221652370358</c:v>
                </c:pt>
                <c:pt idx="58">
                  <c:v>0.54838604953283498</c:v>
                </c:pt>
                <c:pt idx="59">
                  <c:v>0.51982909302980596</c:v>
                </c:pt>
                <c:pt idx="60">
                  <c:v>0.45168042618119703</c:v>
                </c:pt>
                <c:pt idx="61">
                  <c:v>0.419925946793896</c:v>
                </c:pt>
                <c:pt idx="62">
                  <c:v>0.40569534905697002</c:v>
                </c:pt>
                <c:pt idx="63">
                  <c:v>0.403775681059653</c:v>
                </c:pt>
                <c:pt idx="64">
                  <c:v>0.45995272695767497</c:v>
                </c:pt>
                <c:pt idx="65">
                  <c:v>0.46145357757128402</c:v>
                </c:pt>
                <c:pt idx="66">
                  <c:v>0.46725416935729103</c:v>
                </c:pt>
                <c:pt idx="67">
                  <c:v>0.46725416935729103</c:v>
                </c:pt>
                <c:pt idx="68">
                  <c:v>0.437009219217877</c:v>
                </c:pt>
                <c:pt idx="69">
                  <c:v>0.41284557270170602</c:v>
                </c:pt>
                <c:pt idx="70">
                  <c:v>0.44366576481104603</c:v>
                </c:pt>
                <c:pt idx="71">
                  <c:v>0.44241787954298001</c:v>
                </c:pt>
                <c:pt idx="72">
                  <c:v>0.44241787954298001</c:v>
                </c:pt>
                <c:pt idx="73">
                  <c:v>0.41926854513922601</c:v>
                </c:pt>
                <c:pt idx="74">
                  <c:v>0.47241973099249801</c:v>
                </c:pt>
                <c:pt idx="75">
                  <c:v>0.447997908024105</c:v>
                </c:pt>
                <c:pt idx="76">
                  <c:v>0.42434402519227898</c:v>
                </c:pt>
                <c:pt idx="77">
                  <c:v>0.42258598579352902</c:v>
                </c:pt>
                <c:pt idx="78">
                  <c:v>0.447997908024105</c:v>
                </c:pt>
                <c:pt idx="79">
                  <c:v>0.44740081291084099</c:v>
                </c:pt>
                <c:pt idx="80">
                  <c:v>0.44562837110466802</c:v>
                </c:pt>
                <c:pt idx="81">
                  <c:v>0.42349289634896597</c:v>
                </c:pt>
                <c:pt idx="82">
                  <c:v>0.42315654967107302</c:v>
                </c:pt>
                <c:pt idx="83">
                  <c:v>0.37348002875422498</c:v>
                </c:pt>
                <c:pt idx="84">
                  <c:v>0.37394334466633</c:v>
                </c:pt>
                <c:pt idx="85">
                  <c:v>0.37550642358643799</c:v>
                </c:pt>
                <c:pt idx="86">
                  <c:v>0.34451093908200903</c:v>
                </c:pt>
                <c:pt idx="87">
                  <c:v>0.31383635422742501</c:v>
                </c:pt>
                <c:pt idx="88">
                  <c:v>0.34373332978073601</c:v>
                </c:pt>
                <c:pt idx="89">
                  <c:v>0.37475184713589199</c:v>
                </c:pt>
                <c:pt idx="90">
                  <c:v>0.34537825411835699</c:v>
                </c:pt>
                <c:pt idx="91">
                  <c:v>0.37584545219724702</c:v>
                </c:pt>
                <c:pt idx="92">
                  <c:v>0.34853875137296803</c:v>
                </c:pt>
                <c:pt idx="93">
                  <c:v>0.35043602810261099</c:v>
                </c:pt>
                <c:pt idx="94">
                  <c:v>0.380280894786581</c:v>
                </c:pt>
                <c:pt idx="95">
                  <c:v>0.407383000493176</c:v>
                </c:pt>
                <c:pt idx="96">
                  <c:v>0.38449844249950499</c:v>
                </c:pt>
                <c:pt idx="97">
                  <c:v>0.32547727058860199</c:v>
                </c:pt>
                <c:pt idx="98">
                  <c:v>0.32467403778332998</c:v>
                </c:pt>
                <c:pt idx="99">
                  <c:v>0.29015447722721099</c:v>
                </c:pt>
                <c:pt idx="100">
                  <c:v>0.265306805945277</c:v>
                </c:pt>
                <c:pt idx="101">
                  <c:v>0.29162362501885603</c:v>
                </c:pt>
                <c:pt idx="102">
                  <c:v>0.29198850689481598</c:v>
                </c:pt>
                <c:pt idx="103">
                  <c:v>0.33082970500556302</c:v>
                </c:pt>
                <c:pt idx="104">
                  <c:v>0.331227934580689</c:v>
                </c:pt>
                <c:pt idx="105">
                  <c:v>0.401262959025458</c:v>
                </c:pt>
                <c:pt idx="106">
                  <c:v>0.42989701258795199</c:v>
                </c:pt>
                <c:pt idx="107">
                  <c:v>0.37120289750535601</c:v>
                </c:pt>
                <c:pt idx="108">
                  <c:v>0.44788779304034998</c:v>
                </c:pt>
                <c:pt idx="109">
                  <c:v>0.47501022290439499</c:v>
                </c:pt>
                <c:pt idx="110">
                  <c:v>0.45648777309490202</c:v>
                </c:pt>
                <c:pt idx="111">
                  <c:v>0.40902347477168999</c:v>
                </c:pt>
                <c:pt idx="112">
                  <c:v>0.43701315967767701</c:v>
                </c:pt>
                <c:pt idx="113">
                  <c:v>0.43751781158176101</c:v>
                </c:pt>
                <c:pt idx="114">
                  <c:v>0.41607421536967498</c:v>
                </c:pt>
                <c:pt idx="115">
                  <c:v>0.32091811677951898</c:v>
                </c:pt>
                <c:pt idx="116">
                  <c:v>0.28251411119681702</c:v>
                </c:pt>
                <c:pt idx="117">
                  <c:v>0.29894428975906101</c:v>
                </c:pt>
                <c:pt idx="118">
                  <c:v>0.32738957382411199</c:v>
                </c:pt>
                <c:pt idx="119">
                  <c:v>0.28848466841060699</c:v>
                </c:pt>
                <c:pt idx="120">
                  <c:v>0.36292296585782302</c:v>
                </c:pt>
                <c:pt idx="121">
                  <c:v>0.36292296585782302</c:v>
                </c:pt>
                <c:pt idx="122">
                  <c:v>0.36357930006355599</c:v>
                </c:pt>
                <c:pt idx="123">
                  <c:v>0.40895553727695599</c:v>
                </c:pt>
                <c:pt idx="124">
                  <c:v>0.407195502334876</c:v>
                </c:pt>
                <c:pt idx="125">
                  <c:v>0.32003461094412999</c:v>
                </c:pt>
                <c:pt idx="126">
                  <c:v>0.439218479739446</c:v>
                </c:pt>
                <c:pt idx="127">
                  <c:v>0.35042164075900101</c:v>
                </c:pt>
                <c:pt idx="128">
                  <c:v>0.55919632116239604</c:v>
                </c:pt>
                <c:pt idx="129">
                  <c:v>0.55842108987699401</c:v>
                </c:pt>
                <c:pt idx="130">
                  <c:v>0.57861777554698002</c:v>
                </c:pt>
                <c:pt idx="131">
                  <c:v>0.61546645850988302</c:v>
                </c:pt>
                <c:pt idx="132">
                  <c:v>0.68530860108825797</c:v>
                </c:pt>
                <c:pt idx="133">
                  <c:v>0.72159050384319001</c:v>
                </c:pt>
                <c:pt idx="134">
                  <c:v>0.75094523370436095</c:v>
                </c:pt>
                <c:pt idx="135">
                  <c:v>0.77520531199879605</c:v>
                </c:pt>
                <c:pt idx="136">
                  <c:v>0.759939269856726</c:v>
                </c:pt>
                <c:pt idx="137">
                  <c:v>0.76108985756873504</c:v>
                </c:pt>
                <c:pt idx="138">
                  <c:v>0.73719138808657003</c:v>
                </c:pt>
                <c:pt idx="139">
                  <c:v>0.71361316522728502</c:v>
                </c:pt>
                <c:pt idx="140">
                  <c:v>0.712062870316722</c:v>
                </c:pt>
                <c:pt idx="141">
                  <c:v>0.72870485724391698</c:v>
                </c:pt>
                <c:pt idx="142">
                  <c:v>0.69793386100167498</c:v>
                </c:pt>
                <c:pt idx="143">
                  <c:v>0.731898053840778</c:v>
                </c:pt>
                <c:pt idx="144">
                  <c:v>0.75332777657917305</c:v>
                </c:pt>
                <c:pt idx="145">
                  <c:v>0.73462902469773095</c:v>
                </c:pt>
                <c:pt idx="146">
                  <c:v>0.75155379277106704</c:v>
                </c:pt>
                <c:pt idx="147">
                  <c:v>0.75155379277106704</c:v>
                </c:pt>
                <c:pt idx="148">
                  <c:v>0.77322369572310801</c:v>
                </c:pt>
                <c:pt idx="149">
                  <c:v>0.81634992305868503</c:v>
                </c:pt>
                <c:pt idx="150">
                  <c:v>0.83503612629874802</c:v>
                </c:pt>
                <c:pt idx="151">
                  <c:v>0.81798384699460103</c:v>
                </c:pt>
                <c:pt idx="152">
                  <c:v>0.83696581575361895</c:v>
                </c:pt>
                <c:pt idx="153">
                  <c:v>0.85626060279274896</c:v>
                </c:pt>
                <c:pt idx="154">
                  <c:v>0.85522983991809798</c:v>
                </c:pt>
                <c:pt idx="155">
                  <c:v>0.87412257034895602</c:v>
                </c:pt>
                <c:pt idx="156">
                  <c:v>0.85662578219432695</c:v>
                </c:pt>
                <c:pt idx="157">
                  <c:v>0.86996445945149903</c:v>
                </c:pt>
                <c:pt idx="158">
                  <c:v>0.88773399472374204</c:v>
                </c:pt>
                <c:pt idx="159">
                  <c:v>0.86999483052125803</c:v>
                </c:pt>
                <c:pt idx="160">
                  <c:v>0.85194480836680198</c:v>
                </c:pt>
                <c:pt idx="161">
                  <c:v>0.85225052894835196</c:v>
                </c:pt>
                <c:pt idx="162">
                  <c:v>0.87683234085301398</c:v>
                </c:pt>
                <c:pt idx="163">
                  <c:v>0.89368551357821302</c:v>
                </c:pt>
                <c:pt idx="164">
                  <c:v>0.87811016351224602</c:v>
                </c:pt>
                <c:pt idx="165">
                  <c:v>0.89522709255279198</c:v>
                </c:pt>
                <c:pt idx="166">
                  <c:v>0.91259028169208301</c:v>
                </c:pt>
                <c:pt idx="167">
                  <c:v>0.87344930653794395</c:v>
                </c:pt>
                <c:pt idx="168">
                  <c:v>0.85731125996939705</c:v>
                </c:pt>
                <c:pt idx="169">
                  <c:v>0.854493626143913</c:v>
                </c:pt>
                <c:pt idx="170">
                  <c:v>0.86745968477328095</c:v>
                </c:pt>
                <c:pt idx="171">
                  <c:v>0.83819941388679298</c:v>
                </c:pt>
                <c:pt idx="172">
                  <c:v>0.85198632502448901</c:v>
                </c:pt>
                <c:pt idx="173">
                  <c:v>0.86745968477328095</c:v>
                </c:pt>
                <c:pt idx="174">
                  <c:v>0.86768818253450297</c:v>
                </c:pt>
                <c:pt idx="175">
                  <c:v>0.89814744996460805</c:v>
                </c:pt>
                <c:pt idx="176">
                  <c:v>0.88516739973977598</c:v>
                </c:pt>
                <c:pt idx="177">
                  <c:v>0.88265848165302496</c:v>
                </c:pt>
                <c:pt idx="178">
                  <c:v>0.85531584833132801</c:v>
                </c:pt>
                <c:pt idx="179">
                  <c:v>0.86306170802286497</c:v>
                </c:pt>
                <c:pt idx="180">
                  <c:v>0.86306170802286497</c:v>
                </c:pt>
                <c:pt idx="181">
                  <c:v>0.84549296973434196</c:v>
                </c:pt>
                <c:pt idx="182">
                  <c:v>0.86243439572202496</c:v>
                </c:pt>
                <c:pt idx="183">
                  <c:v>0.83268888035603505</c:v>
                </c:pt>
                <c:pt idx="184">
                  <c:v>0.82948257912141399</c:v>
                </c:pt>
                <c:pt idx="185">
                  <c:v>0.83152220645888697</c:v>
                </c:pt>
                <c:pt idx="186">
                  <c:v>0.807152941952609</c:v>
                </c:pt>
                <c:pt idx="187">
                  <c:v>0.80437080516661097</c:v>
                </c:pt>
                <c:pt idx="188">
                  <c:v>0.80193881910043296</c:v>
                </c:pt>
                <c:pt idx="189">
                  <c:v>0.77781138796328697</c:v>
                </c:pt>
                <c:pt idx="190">
                  <c:v>0.80193881910043296</c:v>
                </c:pt>
                <c:pt idx="191">
                  <c:v>0.75253147533014197</c:v>
                </c:pt>
                <c:pt idx="192">
                  <c:v>0.749723434167341</c:v>
                </c:pt>
                <c:pt idx="193">
                  <c:v>0.69937061468571404</c:v>
                </c:pt>
                <c:pt idx="194">
                  <c:v>0.77421402081353796</c:v>
                </c:pt>
                <c:pt idx="195">
                  <c:v>0.78283886771012201</c:v>
                </c:pt>
                <c:pt idx="196">
                  <c:v>0.77480777056815697</c:v>
                </c:pt>
                <c:pt idx="197">
                  <c:v>0.76669716579457303</c:v>
                </c:pt>
                <c:pt idx="198">
                  <c:v>0.79842547980239797</c:v>
                </c:pt>
                <c:pt idx="199">
                  <c:v>0.79842547980239797</c:v>
                </c:pt>
                <c:pt idx="200">
                  <c:v>0.79842547980239797</c:v>
                </c:pt>
                <c:pt idx="201">
                  <c:v>0.78339393568549298</c:v>
                </c:pt>
                <c:pt idx="202">
                  <c:v>0.81461584859780101</c:v>
                </c:pt>
                <c:pt idx="203">
                  <c:v>0.81626218699844599</c:v>
                </c:pt>
                <c:pt idx="204">
                  <c:v>0.80629912189469399</c:v>
                </c:pt>
                <c:pt idx="205">
                  <c:v>0.81734633197465201</c:v>
                </c:pt>
                <c:pt idx="206">
                  <c:v>0.82537040355923197</c:v>
                </c:pt>
                <c:pt idx="207">
                  <c:v>0.79646175435893696</c:v>
                </c:pt>
                <c:pt idx="208">
                  <c:v>0.79445840936885304</c:v>
                </c:pt>
                <c:pt idx="209">
                  <c:v>0.79441104681633201</c:v>
                </c:pt>
                <c:pt idx="210">
                  <c:v>0.80850149462655696</c:v>
                </c:pt>
                <c:pt idx="211">
                  <c:v>0.80719780316763601</c:v>
                </c:pt>
                <c:pt idx="212">
                  <c:v>0.80724570771905702</c:v>
                </c:pt>
                <c:pt idx="213">
                  <c:v>0.80719780316763601</c:v>
                </c:pt>
                <c:pt idx="214">
                  <c:v>0.77033919514702098</c:v>
                </c:pt>
                <c:pt idx="215">
                  <c:v>0.76889855223368597</c:v>
                </c:pt>
                <c:pt idx="216">
                  <c:v>0.75043074974252599</c:v>
                </c:pt>
                <c:pt idx="217">
                  <c:v>0.82324225699227804</c:v>
                </c:pt>
                <c:pt idx="218">
                  <c:v>0.83535228019697605</c:v>
                </c:pt>
                <c:pt idx="219">
                  <c:v>0.78804143101353397</c:v>
                </c:pt>
                <c:pt idx="220">
                  <c:v>0.78804143101353397</c:v>
                </c:pt>
                <c:pt idx="221">
                  <c:v>0.78586619764471199</c:v>
                </c:pt>
                <c:pt idx="222">
                  <c:v>0.72518805605942505</c:v>
                </c:pt>
                <c:pt idx="223">
                  <c:v>0.73013076231760698</c:v>
                </c:pt>
                <c:pt idx="224">
                  <c:v>0.76968967049094095</c:v>
                </c:pt>
                <c:pt idx="225">
                  <c:v>0.68796050816059295</c:v>
                </c:pt>
                <c:pt idx="226">
                  <c:v>0.59636201439054404</c:v>
                </c:pt>
                <c:pt idx="227">
                  <c:v>0.52333294764067595</c:v>
                </c:pt>
                <c:pt idx="228">
                  <c:v>0.53018048409344898</c:v>
                </c:pt>
                <c:pt idx="229">
                  <c:v>0.55014388201104203</c:v>
                </c:pt>
                <c:pt idx="230">
                  <c:v>0.49771283747510803</c:v>
                </c:pt>
                <c:pt idx="231">
                  <c:v>0.55445082777023702</c:v>
                </c:pt>
                <c:pt idx="232">
                  <c:v>0.53450860338875705</c:v>
                </c:pt>
                <c:pt idx="233">
                  <c:v>0.55544034698333999</c:v>
                </c:pt>
                <c:pt idx="234">
                  <c:v>0.55556126357331004</c:v>
                </c:pt>
                <c:pt idx="235">
                  <c:v>0.53450860338875705</c:v>
                </c:pt>
                <c:pt idx="236">
                  <c:v>0.50568534347274297</c:v>
                </c:pt>
                <c:pt idx="237">
                  <c:v>0.50447592982476996</c:v>
                </c:pt>
                <c:pt idx="238">
                  <c:v>0.50042582297659</c:v>
                </c:pt>
                <c:pt idx="239">
                  <c:v>0.45891120103405703</c:v>
                </c:pt>
                <c:pt idx="240">
                  <c:v>0.44565511936132601</c:v>
                </c:pt>
                <c:pt idx="241">
                  <c:v>0.44381782258269298</c:v>
                </c:pt>
                <c:pt idx="242">
                  <c:v>0.41340612440810998</c:v>
                </c:pt>
                <c:pt idx="243">
                  <c:v>0.414778538159287</c:v>
                </c:pt>
                <c:pt idx="244">
                  <c:v>0.42282958858632702</c:v>
                </c:pt>
                <c:pt idx="245">
                  <c:v>0.450158099668103</c:v>
                </c:pt>
                <c:pt idx="246">
                  <c:v>0.46784663358763601</c:v>
                </c:pt>
                <c:pt idx="247">
                  <c:v>0.42124985629360401</c:v>
                </c:pt>
                <c:pt idx="248">
                  <c:v>0.42215163100202302</c:v>
                </c:pt>
                <c:pt idx="249">
                  <c:v>0.41551493659156002</c:v>
                </c:pt>
                <c:pt idx="250">
                  <c:v>0.37678804128174298</c:v>
                </c:pt>
                <c:pt idx="251">
                  <c:v>0.35529176669040102</c:v>
                </c:pt>
                <c:pt idx="252">
                  <c:v>0.43462013043084002</c:v>
                </c:pt>
                <c:pt idx="253">
                  <c:v>0.47679593730615699</c:v>
                </c:pt>
                <c:pt idx="254">
                  <c:v>0.48029569588235599</c:v>
                </c:pt>
                <c:pt idx="255">
                  <c:v>0.49650185657562101</c:v>
                </c:pt>
                <c:pt idx="256">
                  <c:v>0.477996028899563</c:v>
                </c:pt>
              </c:numCache>
            </c:numRef>
          </c:val>
          <c:smooth val="0"/>
        </c:ser>
        <c:dLbls>
          <c:showLegendKey val="0"/>
          <c:showVal val="0"/>
          <c:showCatName val="0"/>
          <c:showSerName val="0"/>
          <c:showPercent val="0"/>
          <c:showBubbleSize val="0"/>
        </c:dLbls>
        <c:marker val="1"/>
        <c:smooth val="0"/>
        <c:axId val="131364736"/>
        <c:axId val="131366272"/>
      </c:lineChart>
      <c:lineChart>
        <c:grouping val="standard"/>
        <c:varyColors val="0"/>
        <c:ser>
          <c:idx val="3"/>
          <c:order val="3"/>
          <c:tx>
            <c:strRef>
              <c:f>Query!$F$2</c:f>
              <c:strCache>
                <c:ptCount val="1"/>
                <c:pt idx="0">
                  <c:v>Refi Index</c:v>
                </c:pt>
              </c:strCache>
            </c:strRef>
          </c:tx>
          <c:spPr>
            <a:ln w="19050">
              <a:solidFill>
                <a:srgbClr val="2E8A60"/>
              </a:solidFill>
            </a:ln>
          </c:spPr>
          <c:marker>
            <c:symbol val="none"/>
          </c:marker>
          <c:cat>
            <c:numRef>
              <c:f>Query!$B$3:$B$259</c:f>
              <c:numCache>
                <c:formatCode>m/d/yyyy</c:formatCode>
                <c:ptCount val="257"/>
                <c:pt idx="0">
                  <c:v>42341</c:v>
                </c:pt>
                <c:pt idx="1">
                  <c:v>42333</c:v>
                </c:pt>
                <c:pt idx="2">
                  <c:v>42327</c:v>
                </c:pt>
                <c:pt idx="3">
                  <c:v>42320</c:v>
                </c:pt>
                <c:pt idx="4">
                  <c:v>42313</c:v>
                </c:pt>
                <c:pt idx="5">
                  <c:v>42306</c:v>
                </c:pt>
                <c:pt idx="6">
                  <c:v>42299</c:v>
                </c:pt>
                <c:pt idx="7">
                  <c:v>42292</c:v>
                </c:pt>
                <c:pt idx="8">
                  <c:v>42285</c:v>
                </c:pt>
                <c:pt idx="9">
                  <c:v>42278</c:v>
                </c:pt>
                <c:pt idx="10">
                  <c:v>42271</c:v>
                </c:pt>
                <c:pt idx="11">
                  <c:v>42264</c:v>
                </c:pt>
                <c:pt idx="12">
                  <c:v>42257</c:v>
                </c:pt>
                <c:pt idx="13">
                  <c:v>42250</c:v>
                </c:pt>
                <c:pt idx="14">
                  <c:v>42243</c:v>
                </c:pt>
                <c:pt idx="15">
                  <c:v>42236</c:v>
                </c:pt>
                <c:pt idx="16">
                  <c:v>42229</c:v>
                </c:pt>
                <c:pt idx="17">
                  <c:v>42222</c:v>
                </c:pt>
                <c:pt idx="18">
                  <c:v>42215</c:v>
                </c:pt>
                <c:pt idx="19">
                  <c:v>42208</c:v>
                </c:pt>
                <c:pt idx="20">
                  <c:v>42201</c:v>
                </c:pt>
                <c:pt idx="21">
                  <c:v>42194</c:v>
                </c:pt>
                <c:pt idx="22">
                  <c:v>42187</c:v>
                </c:pt>
                <c:pt idx="23">
                  <c:v>42180</c:v>
                </c:pt>
                <c:pt idx="24">
                  <c:v>42173</c:v>
                </c:pt>
                <c:pt idx="25">
                  <c:v>42166</c:v>
                </c:pt>
                <c:pt idx="26">
                  <c:v>42159</c:v>
                </c:pt>
                <c:pt idx="27">
                  <c:v>42152</c:v>
                </c:pt>
                <c:pt idx="28">
                  <c:v>42145</c:v>
                </c:pt>
                <c:pt idx="29">
                  <c:v>42138</c:v>
                </c:pt>
                <c:pt idx="30">
                  <c:v>42131</c:v>
                </c:pt>
                <c:pt idx="31">
                  <c:v>42124</c:v>
                </c:pt>
                <c:pt idx="32">
                  <c:v>42117</c:v>
                </c:pt>
                <c:pt idx="33">
                  <c:v>42110</c:v>
                </c:pt>
                <c:pt idx="34">
                  <c:v>42103</c:v>
                </c:pt>
                <c:pt idx="35">
                  <c:v>42096</c:v>
                </c:pt>
                <c:pt idx="36">
                  <c:v>42089</c:v>
                </c:pt>
                <c:pt idx="37">
                  <c:v>42082</c:v>
                </c:pt>
                <c:pt idx="38">
                  <c:v>42075</c:v>
                </c:pt>
                <c:pt idx="39">
                  <c:v>42068</c:v>
                </c:pt>
                <c:pt idx="40">
                  <c:v>42061</c:v>
                </c:pt>
                <c:pt idx="41">
                  <c:v>42054</c:v>
                </c:pt>
                <c:pt idx="42">
                  <c:v>42047</c:v>
                </c:pt>
                <c:pt idx="43">
                  <c:v>42040</c:v>
                </c:pt>
                <c:pt idx="44">
                  <c:v>42033</c:v>
                </c:pt>
                <c:pt idx="45">
                  <c:v>42026</c:v>
                </c:pt>
                <c:pt idx="46">
                  <c:v>42019</c:v>
                </c:pt>
                <c:pt idx="47">
                  <c:v>42012</c:v>
                </c:pt>
                <c:pt idx="48">
                  <c:v>42004</c:v>
                </c:pt>
                <c:pt idx="49">
                  <c:v>41997</c:v>
                </c:pt>
                <c:pt idx="50">
                  <c:v>41991</c:v>
                </c:pt>
                <c:pt idx="51">
                  <c:v>41984</c:v>
                </c:pt>
                <c:pt idx="52">
                  <c:v>41977</c:v>
                </c:pt>
                <c:pt idx="53">
                  <c:v>41969</c:v>
                </c:pt>
                <c:pt idx="54">
                  <c:v>41963</c:v>
                </c:pt>
                <c:pt idx="55">
                  <c:v>41956</c:v>
                </c:pt>
                <c:pt idx="56">
                  <c:v>41949</c:v>
                </c:pt>
                <c:pt idx="57">
                  <c:v>41942</c:v>
                </c:pt>
                <c:pt idx="58">
                  <c:v>41935</c:v>
                </c:pt>
                <c:pt idx="59">
                  <c:v>41928</c:v>
                </c:pt>
                <c:pt idx="60">
                  <c:v>41921</c:v>
                </c:pt>
                <c:pt idx="61">
                  <c:v>41914</c:v>
                </c:pt>
                <c:pt idx="62">
                  <c:v>41907</c:v>
                </c:pt>
                <c:pt idx="63">
                  <c:v>41900</c:v>
                </c:pt>
                <c:pt idx="64">
                  <c:v>41893</c:v>
                </c:pt>
                <c:pt idx="65">
                  <c:v>41886</c:v>
                </c:pt>
                <c:pt idx="66">
                  <c:v>41879</c:v>
                </c:pt>
                <c:pt idx="67">
                  <c:v>41872</c:v>
                </c:pt>
                <c:pt idx="68">
                  <c:v>41865</c:v>
                </c:pt>
                <c:pt idx="69">
                  <c:v>41858</c:v>
                </c:pt>
                <c:pt idx="70">
                  <c:v>41851</c:v>
                </c:pt>
                <c:pt idx="71">
                  <c:v>41844</c:v>
                </c:pt>
                <c:pt idx="72">
                  <c:v>41837</c:v>
                </c:pt>
                <c:pt idx="73">
                  <c:v>41830</c:v>
                </c:pt>
                <c:pt idx="74">
                  <c:v>41823</c:v>
                </c:pt>
                <c:pt idx="75">
                  <c:v>41816</c:v>
                </c:pt>
                <c:pt idx="76">
                  <c:v>41809</c:v>
                </c:pt>
                <c:pt idx="77">
                  <c:v>41802</c:v>
                </c:pt>
                <c:pt idx="78">
                  <c:v>41795</c:v>
                </c:pt>
                <c:pt idx="79">
                  <c:v>41788</c:v>
                </c:pt>
                <c:pt idx="80">
                  <c:v>41781</c:v>
                </c:pt>
                <c:pt idx="81">
                  <c:v>41774</c:v>
                </c:pt>
                <c:pt idx="82">
                  <c:v>41767</c:v>
                </c:pt>
                <c:pt idx="83">
                  <c:v>41760</c:v>
                </c:pt>
                <c:pt idx="84">
                  <c:v>41753</c:v>
                </c:pt>
                <c:pt idx="85">
                  <c:v>41746</c:v>
                </c:pt>
                <c:pt idx="86">
                  <c:v>41739</c:v>
                </c:pt>
                <c:pt idx="87">
                  <c:v>41732</c:v>
                </c:pt>
                <c:pt idx="88">
                  <c:v>41725</c:v>
                </c:pt>
                <c:pt idx="89">
                  <c:v>41718</c:v>
                </c:pt>
                <c:pt idx="90">
                  <c:v>41711</c:v>
                </c:pt>
                <c:pt idx="91">
                  <c:v>41704</c:v>
                </c:pt>
                <c:pt idx="92">
                  <c:v>41697</c:v>
                </c:pt>
                <c:pt idx="93">
                  <c:v>41690</c:v>
                </c:pt>
                <c:pt idx="94">
                  <c:v>41683</c:v>
                </c:pt>
                <c:pt idx="95">
                  <c:v>41676</c:v>
                </c:pt>
                <c:pt idx="96">
                  <c:v>41669</c:v>
                </c:pt>
                <c:pt idx="97">
                  <c:v>41662</c:v>
                </c:pt>
                <c:pt idx="98">
                  <c:v>41655</c:v>
                </c:pt>
                <c:pt idx="99">
                  <c:v>41648</c:v>
                </c:pt>
                <c:pt idx="100">
                  <c:v>41641</c:v>
                </c:pt>
                <c:pt idx="101">
                  <c:v>41634</c:v>
                </c:pt>
                <c:pt idx="102">
                  <c:v>41627</c:v>
                </c:pt>
                <c:pt idx="103">
                  <c:v>41620</c:v>
                </c:pt>
                <c:pt idx="104">
                  <c:v>41613</c:v>
                </c:pt>
                <c:pt idx="105">
                  <c:v>41605</c:v>
                </c:pt>
                <c:pt idx="106">
                  <c:v>41599</c:v>
                </c:pt>
                <c:pt idx="107">
                  <c:v>41592</c:v>
                </c:pt>
                <c:pt idx="108">
                  <c:v>41585</c:v>
                </c:pt>
                <c:pt idx="109">
                  <c:v>41578</c:v>
                </c:pt>
                <c:pt idx="110">
                  <c:v>41571</c:v>
                </c:pt>
                <c:pt idx="111">
                  <c:v>41564</c:v>
                </c:pt>
                <c:pt idx="112">
                  <c:v>41557</c:v>
                </c:pt>
                <c:pt idx="113">
                  <c:v>41550</c:v>
                </c:pt>
                <c:pt idx="114">
                  <c:v>41543</c:v>
                </c:pt>
                <c:pt idx="115">
                  <c:v>41536</c:v>
                </c:pt>
                <c:pt idx="116">
                  <c:v>41529</c:v>
                </c:pt>
                <c:pt idx="117">
                  <c:v>41522</c:v>
                </c:pt>
                <c:pt idx="118">
                  <c:v>41515</c:v>
                </c:pt>
                <c:pt idx="119">
                  <c:v>41508</c:v>
                </c:pt>
                <c:pt idx="120">
                  <c:v>41501</c:v>
                </c:pt>
                <c:pt idx="121">
                  <c:v>41494</c:v>
                </c:pt>
                <c:pt idx="122">
                  <c:v>41487</c:v>
                </c:pt>
                <c:pt idx="123">
                  <c:v>41480</c:v>
                </c:pt>
                <c:pt idx="124">
                  <c:v>41473</c:v>
                </c:pt>
                <c:pt idx="125">
                  <c:v>41466</c:v>
                </c:pt>
                <c:pt idx="126">
                  <c:v>41458</c:v>
                </c:pt>
                <c:pt idx="127">
                  <c:v>41452</c:v>
                </c:pt>
                <c:pt idx="128">
                  <c:v>41445</c:v>
                </c:pt>
                <c:pt idx="129">
                  <c:v>41438</c:v>
                </c:pt>
                <c:pt idx="130">
                  <c:v>41431</c:v>
                </c:pt>
                <c:pt idx="131">
                  <c:v>41424</c:v>
                </c:pt>
                <c:pt idx="132">
                  <c:v>41417</c:v>
                </c:pt>
                <c:pt idx="133">
                  <c:v>41410</c:v>
                </c:pt>
                <c:pt idx="134">
                  <c:v>41403</c:v>
                </c:pt>
                <c:pt idx="135">
                  <c:v>41396</c:v>
                </c:pt>
                <c:pt idx="136">
                  <c:v>41389</c:v>
                </c:pt>
                <c:pt idx="137">
                  <c:v>41382</c:v>
                </c:pt>
                <c:pt idx="138">
                  <c:v>41375</c:v>
                </c:pt>
                <c:pt idx="139">
                  <c:v>41368</c:v>
                </c:pt>
                <c:pt idx="140">
                  <c:v>41361</c:v>
                </c:pt>
                <c:pt idx="141">
                  <c:v>41354</c:v>
                </c:pt>
                <c:pt idx="142">
                  <c:v>41347</c:v>
                </c:pt>
                <c:pt idx="143">
                  <c:v>41340</c:v>
                </c:pt>
                <c:pt idx="144">
                  <c:v>41333</c:v>
                </c:pt>
                <c:pt idx="145">
                  <c:v>41326</c:v>
                </c:pt>
                <c:pt idx="146">
                  <c:v>41319</c:v>
                </c:pt>
                <c:pt idx="147">
                  <c:v>41312</c:v>
                </c:pt>
                <c:pt idx="148">
                  <c:v>41305</c:v>
                </c:pt>
                <c:pt idx="149">
                  <c:v>41298</c:v>
                </c:pt>
                <c:pt idx="150">
                  <c:v>41291</c:v>
                </c:pt>
                <c:pt idx="151">
                  <c:v>41284</c:v>
                </c:pt>
                <c:pt idx="152">
                  <c:v>41277</c:v>
                </c:pt>
                <c:pt idx="153">
                  <c:v>41270</c:v>
                </c:pt>
                <c:pt idx="154">
                  <c:v>41263</c:v>
                </c:pt>
                <c:pt idx="155">
                  <c:v>41256</c:v>
                </c:pt>
                <c:pt idx="156">
                  <c:v>41249</c:v>
                </c:pt>
                <c:pt idx="157">
                  <c:v>41242</c:v>
                </c:pt>
                <c:pt idx="158">
                  <c:v>41234</c:v>
                </c:pt>
                <c:pt idx="159">
                  <c:v>41228</c:v>
                </c:pt>
                <c:pt idx="160">
                  <c:v>41221</c:v>
                </c:pt>
                <c:pt idx="161">
                  <c:v>41214</c:v>
                </c:pt>
                <c:pt idx="162">
                  <c:v>41207</c:v>
                </c:pt>
                <c:pt idx="163">
                  <c:v>41200</c:v>
                </c:pt>
                <c:pt idx="164">
                  <c:v>41193</c:v>
                </c:pt>
                <c:pt idx="165">
                  <c:v>41186</c:v>
                </c:pt>
                <c:pt idx="166">
                  <c:v>41179</c:v>
                </c:pt>
                <c:pt idx="167">
                  <c:v>41172</c:v>
                </c:pt>
                <c:pt idx="168">
                  <c:v>41165</c:v>
                </c:pt>
                <c:pt idx="169">
                  <c:v>41158</c:v>
                </c:pt>
                <c:pt idx="170">
                  <c:v>41151</c:v>
                </c:pt>
                <c:pt idx="171">
                  <c:v>41144</c:v>
                </c:pt>
                <c:pt idx="172">
                  <c:v>41137</c:v>
                </c:pt>
                <c:pt idx="173">
                  <c:v>41130</c:v>
                </c:pt>
                <c:pt idx="174">
                  <c:v>41123</c:v>
                </c:pt>
                <c:pt idx="175">
                  <c:v>41116</c:v>
                </c:pt>
                <c:pt idx="176">
                  <c:v>41109</c:v>
                </c:pt>
                <c:pt idx="177">
                  <c:v>41102</c:v>
                </c:pt>
                <c:pt idx="178">
                  <c:v>41095</c:v>
                </c:pt>
                <c:pt idx="179">
                  <c:v>41088</c:v>
                </c:pt>
                <c:pt idx="180">
                  <c:v>41081</c:v>
                </c:pt>
                <c:pt idx="181">
                  <c:v>41074</c:v>
                </c:pt>
                <c:pt idx="182">
                  <c:v>41067</c:v>
                </c:pt>
                <c:pt idx="183">
                  <c:v>41060</c:v>
                </c:pt>
                <c:pt idx="184">
                  <c:v>41053</c:v>
                </c:pt>
                <c:pt idx="185">
                  <c:v>41046</c:v>
                </c:pt>
                <c:pt idx="186">
                  <c:v>41039</c:v>
                </c:pt>
                <c:pt idx="187">
                  <c:v>41032</c:v>
                </c:pt>
                <c:pt idx="188">
                  <c:v>41025</c:v>
                </c:pt>
                <c:pt idx="189">
                  <c:v>41018</c:v>
                </c:pt>
                <c:pt idx="190">
                  <c:v>41011</c:v>
                </c:pt>
                <c:pt idx="191">
                  <c:v>41004</c:v>
                </c:pt>
                <c:pt idx="192">
                  <c:v>40997</c:v>
                </c:pt>
                <c:pt idx="193">
                  <c:v>40990</c:v>
                </c:pt>
                <c:pt idx="194">
                  <c:v>40983</c:v>
                </c:pt>
                <c:pt idx="195">
                  <c:v>40976</c:v>
                </c:pt>
                <c:pt idx="196">
                  <c:v>40969</c:v>
                </c:pt>
                <c:pt idx="197">
                  <c:v>40962</c:v>
                </c:pt>
                <c:pt idx="198">
                  <c:v>40955</c:v>
                </c:pt>
                <c:pt idx="199">
                  <c:v>40948</c:v>
                </c:pt>
                <c:pt idx="200">
                  <c:v>40941</c:v>
                </c:pt>
                <c:pt idx="201">
                  <c:v>40934</c:v>
                </c:pt>
                <c:pt idx="202">
                  <c:v>40927</c:v>
                </c:pt>
                <c:pt idx="203">
                  <c:v>40920</c:v>
                </c:pt>
                <c:pt idx="204">
                  <c:v>40913</c:v>
                </c:pt>
                <c:pt idx="205">
                  <c:v>40906</c:v>
                </c:pt>
                <c:pt idx="206">
                  <c:v>40899</c:v>
                </c:pt>
                <c:pt idx="207">
                  <c:v>40892</c:v>
                </c:pt>
                <c:pt idx="208">
                  <c:v>40885</c:v>
                </c:pt>
                <c:pt idx="209">
                  <c:v>40878</c:v>
                </c:pt>
                <c:pt idx="210">
                  <c:v>40870</c:v>
                </c:pt>
                <c:pt idx="211">
                  <c:v>40864</c:v>
                </c:pt>
                <c:pt idx="212">
                  <c:v>40857</c:v>
                </c:pt>
                <c:pt idx="213">
                  <c:v>40850</c:v>
                </c:pt>
                <c:pt idx="214">
                  <c:v>40843</c:v>
                </c:pt>
                <c:pt idx="215">
                  <c:v>40836</c:v>
                </c:pt>
                <c:pt idx="216">
                  <c:v>40829</c:v>
                </c:pt>
                <c:pt idx="217">
                  <c:v>40822</c:v>
                </c:pt>
                <c:pt idx="218">
                  <c:v>40815</c:v>
                </c:pt>
                <c:pt idx="219">
                  <c:v>40808</c:v>
                </c:pt>
                <c:pt idx="220">
                  <c:v>40801</c:v>
                </c:pt>
                <c:pt idx="221">
                  <c:v>40794</c:v>
                </c:pt>
                <c:pt idx="222">
                  <c:v>40787</c:v>
                </c:pt>
                <c:pt idx="223">
                  <c:v>40780</c:v>
                </c:pt>
                <c:pt idx="224">
                  <c:v>40773</c:v>
                </c:pt>
                <c:pt idx="225">
                  <c:v>40766</c:v>
                </c:pt>
                <c:pt idx="226">
                  <c:v>40759</c:v>
                </c:pt>
                <c:pt idx="227">
                  <c:v>40752</c:v>
                </c:pt>
                <c:pt idx="228">
                  <c:v>40745</c:v>
                </c:pt>
                <c:pt idx="229">
                  <c:v>40738</c:v>
                </c:pt>
                <c:pt idx="230">
                  <c:v>40731</c:v>
                </c:pt>
                <c:pt idx="231">
                  <c:v>40724</c:v>
                </c:pt>
                <c:pt idx="232">
                  <c:v>40717</c:v>
                </c:pt>
                <c:pt idx="233">
                  <c:v>40710</c:v>
                </c:pt>
                <c:pt idx="234">
                  <c:v>40703</c:v>
                </c:pt>
                <c:pt idx="235">
                  <c:v>40696</c:v>
                </c:pt>
                <c:pt idx="236">
                  <c:v>40689</c:v>
                </c:pt>
                <c:pt idx="237">
                  <c:v>40682</c:v>
                </c:pt>
                <c:pt idx="238">
                  <c:v>40675</c:v>
                </c:pt>
                <c:pt idx="239">
                  <c:v>40668</c:v>
                </c:pt>
                <c:pt idx="240">
                  <c:v>40661</c:v>
                </c:pt>
                <c:pt idx="241">
                  <c:v>40654</c:v>
                </c:pt>
                <c:pt idx="242">
                  <c:v>40647</c:v>
                </c:pt>
                <c:pt idx="243">
                  <c:v>40640</c:v>
                </c:pt>
                <c:pt idx="244">
                  <c:v>40633</c:v>
                </c:pt>
                <c:pt idx="245">
                  <c:v>40626</c:v>
                </c:pt>
                <c:pt idx="246">
                  <c:v>40619</c:v>
                </c:pt>
                <c:pt idx="247">
                  <c:v>40612</c:v>
                </c:pt>
                <c:pt idx="248">
                  <c:v>40605</c:v>
                </c:pt>
                <c:pt idx="249">
                  <c:v>40598</c:v>
                </c:pt>
                <c:pt idx="250">
                  <c:v>40591</c:v>
                </c:pt>
                <c:pt idx="251">
                  <c:v>40584</c:v>
                </c:pt>
                <c:pt idx="252">
                  <c:v>40577</c:v>
                </c:pt>
                <c:pt idx="253">
                  <c:v>40570</c:v>
                </c:pt>
                <c:pt idx="254">
                  <c:v>40563</c:v>
                </c:pt>
                <c:pt idx="255">
                  <c:v>40556</c:v>
                </c:pt>
                <c:pt idx="256">
                  <c:v>40549</c:v>
                </c:pt>
              </c:numCache>
            </c:numRef>
          </c:cat>
          <c:val>
            <c:numRef>
              <c:f>Query!$F$3:$F$259</c:f>
              <c:numCache>
                <c:formatCode>0.00</c:formatCode>
                <c:ptCount val="257"/>
                <c:pt idx="0">
                  <c:v>#N/A</c:v>
                </c:pt>
                <c:pt idx="1">
                  <c:v>1410.2</c:v>
                </c:pt>
                <c:pt idx="2">
                  <c:v>1489</c:v>
                </c:pt>
                <c:pt idx="3">
                  <c:v>1528.7</c:v>
                </c:pt>
                <c:pt idx="4">
                  <c:v>1514.1</c:v>
                </c:pt>
                <c:pt idx="5">
                  <c:v>1548.6</c:v>
                </c:pt>
                <c:pt idx="6">
                  <c:v>1544.8</c:v>
                </c:pt>
                <c:pt idx="7">
                  <c:v>1575.3</c:v>
                </c:pt>
                <c:pt idx="8">
                  <c:v>1534.5</c:v>
                </c:pt>
                <c:pt idx="9">
                  <c:v>2071.6</c:v>
                </c:pt>
                <c:pt idx="10">
                  <c:v>1589.5</c:v>
                </c:pt>
                <c:pt idx="11">
                  <c:v>1759.9</c:v>
                </c:pt>
                <c:pt idx="12">
                  <c:v>1473.7</c:v>
                </c:pt>
                <c:pt idx="13">
                  <c:v>1626.9</c:v>
                </c:pt>
                <c:pt idx="14">
                  <c:v>1857.7</c:v>
                </c:pt>
                <c:pt idx="15">
                  <c:v>1545.5</c:v>
                </c:pt>
                <c:pt idx="16">
                  <c:v>1561.2</c:v>
                </c:pt>
                <c:pt idx="17">
                  <c:v>1455.2</c:v>
                </c:pt>
                <c:pt idx="18">
                  <c:v>1418</c:v>
                </c:pt>
                <c:pt idx="19">
                  <c:v>1339.9</c:v>
                </c:pt>
                <c:pt idx="20">
                  <c:v>1305.5999999999999</c:v>
                </c:pt>
                <c:pt idx="21">
                  <c:v>1332.4</c:v>
                </c:pt>
                <c:pt idx="22">
                  <c:v>1299.9000000000001</c:v>
                </c:pt>
                <c:pt idx="23">
                  <c:v>1246.0999999999999</c:v>
                </c:pt>
                <c:pt idx="24">
                  <c:v>1318.3</c:v>
                </c:pt>
                <c:pt idx="25">
                  <c:v>1273.4000000000001</c:v>
                </c:pt>
                <c:pt idx="26">
                  <c:v>1342.4</c:v>
                </c:pt>
                <c:pt idx="27">
                  <c:v>1233.9000000000001</c:v>
                </c:pt>
                <c:pt idx="28">
                  <c:v>1408.1</c:v>
                </c:pt>
                <c:pt idx="29">
                  <c:v>1448.8</c:v>
                </c:pt>
                <c:pt idx="30">
                  <c:v>1477.8</c:v>
                </c:pt>
                <c:pt idx="31">
                  <c:v>1559.4</c:v>
                </c:pt>
                <c:pt idx="32">
                  <c:v>1723</c:v>
                </c:pt>
                <c:pt idx="33">
                  <c:v>1817</c:v>
                </c:pt>
                <c:pt idx="34">
                  <c:v>1804.6</c:v>
                </c:pt>
                <c:pt idx="35">
                  <c:v>1854.7</c:v>
                </c:pt>
                <c:pt idx="36">
                  <c:v>1941.6</c:v>
                </c:pt>
                <c:pt idx="37">
                  <c:v>1860.8</c:v>
                </c:pt>
                <c:pt idx="38">
                  <c:v>1623.6</c:v>
                </c:pt>
                <c:pt idx="39">
                  <c:v>1685.7</c:v>
                </c:pt>
                <c:pt idx="40">
                  <c:v>1740.3</c:v>
                </c:pt>
                <c:pt idx="41">
                  <c:v>1703.1</c:v>
                </c:pt>
                <c:pt idx="42">
                  <c:v>1904.2</c:v>
                </c:pt>
                <c:pt idx="43">
                  <c:v>2291.3000000000002</c:v>
                </c:pt>
                <c:pt idx="44">
                  <c:v>2584.8000000000002</c:v>
                </c:pt>
                <c:pt idx="45">
                  <c:v>2572.3000000000002</c:v>
                </c:pt>
                <c:pt idx="46">
                  <c:v>2799.3</c:v>
                </c:pt>
                <c:pt idx="47">
                  <c:v>2271.5</c:v>
                </c:pt>
                <c:pt idx="48">
                  <c:v>1347.6</c:v>
                </c:pt>
                <c:pt idx="49">
                  <c:v>1164.2</c:v>
                </c:pt>
                <c:pt idx="50">
                  <c:v>1538.7</c:v>
                </c:pt>
                <c:pt idx="51">
                  <c:v>1518.8</c:v>
                </c:pt>
                <c:pt idx="52">
                  <c:v>1548.6</c:v>
                </c:pt>
                <c:pt idx="53">
                  <c:v>#N/A</c:v>
                </c:pt>
                <c:pt idx="54">
                  <c:v>1547.9</c:v>
                </c:pt>
                <c:pt idx="55">
                  <c:v>1563.2</c:v>
                </c:pt>
                <c:pt idx="56">
                  <c:v>1565.3</c:v>
                </c:pt>
                <c:pt idx="57">
                  <c:v>1604.8</c:v>
                </c:pt>
                <c:pt idx="58">
                  <c:v>1713.6</c:v>
                </c:pt>
                <c:pt idx="59">
                  <c:v>1898.2</c:v>
                </c:pt>
                <c:pt idx="60">
                  <c:v>1560.6</c:v>
                </c:pt>
                <c:pt idx="61">
                  <c:v>1387.1</c:v>
                </c:pt>
                <c:pt idx="62">
                  <c:v>1326.2</c:v>
                </c:pt>
                <c:pt idx="63">
                  <c:v>1335.1</c:v>
                </c:pt>
                <c:pt idx="64">
                  <c:v>1398.4</c:v>
                </c:pt>
                <c:pt idx="65">
                  <c:v>1275.8</c:v>
                </c:pt>
                <c:pt idx="66">
                  <c:v>1436</c:v>
                </c:pt>
                <c:pt idx="67">
                  <c:v>1439.4</c:v>
                </c:pt>
                <c:pt idx="68">
                  <c:v>1404.9</c:v>
                </c:pt>
                <c:pt idx="69">
                  <c:v>1342.6</c:v>
                </c:pt>
                <c:pt idx="70">
                  <c:v>1373.9</c:v>
                </c:pt>
                <c:pt idx="71">
                  <c:v>1327.5</c:v>
                </c:pt>
                <c:pt idx="72">
                  <c:v>1400.7</c:v>
                </c:pt>
                <c:pt idx="73">
                  <c:v>1329.7</c:v>
                </c:pt>
                <c:pt idx="74">
                  <c:v>1346.8</c:v>
                </c:pt>
                <c:pt idx="75">
                  <c:v>1341.8</c:v>
                </c:pt>
                <c:pt idx="76">
                  <c:v>1333.5</c:v>
                </c:pt>
                <c:pt idx="77">
                  <c:v>1321.3</c:v>
                </c:pt>
                <c:pt idx="78">
                  <c:v>1516.9</c:v>
                </c:pt>
                <c:pt idx="79">
                  <c:v>1382.6</c:v>
                </c:pt>
                <c:pt idx="80">
                  <c:v>1453.4</c:v>
                </c:pt>
                <c:pt idx="81">
                  <c:v>1460.6</c:v>
                </c:pt>
                <c:pt idx="82">
                  <c:v>1400.9</c:v>
                </c:pt>
                <c:pt idx="83">
                  <c:v>1323.9</c:v>
                </c:pt>
                <c:pt idx="84">
                  <c:v>1298.0999999999999</c:v>
                </c:pt>
                <c:pt idx="85">
                  <c:v>1370.9</c:v>
                </c:pt>
                <c:pt idx="86">
                  <c:v>1429.9</c:v>
                </c:pt>
                <c:pt idx="87">
                  <c:v>1324.7</c:v>
                </c:pt>
                <c:pt idx="88">
                  <c:v>1383.5</c:v>
                </c:pt>
                <c:pt idx="89">
                  <c:v>1426.3</c:v>
                </c:pt>
                <c:pt idx="90">
                  <c:v>1552.1</c:v>
                </c:pt>
                <c:pt idx="91">
                  <c:v>1528</c:v>
                </c:pt>
                <c:pt idx="92">
                  <c:v>1600.6</c:v>
                </c:pt>
                <c:pt idx="93">
                  <c:v>1442.3</c:v>
                </c:pt>
                <c:pt idx="94">
                  <c:v>1650.6</c:v>
                </c:pt>
                <c:pt idx="95">
                  <c:v>1674.2</c:v>
                </c:pt>
                <c:pt idx="96">
                  <c:v>1667.5</c:v>
                </c:pt>
                <c:pt idx="97">
                  <c:v>1601.2</c:v>
                </c:pt>
                <c:pt idx="98">
                  <c:v>1675.8</c:v>
                </c:pt>
                <c:pt idx="99">
                  <c:v>1507</c:v>
                </c:pt>
                <c:pt idx="100">
                  <c:v>1352.7</c:v>
                </c:pt>
                <c:pt idx="101">
                  <c:v>1277.8</c:v>
                </c:pt>
                <c:pt idx="102">
                  <c:v>1426.7</c:v>
                </c:pt>
                <c:pt idx="103">
                  <c:v>1529.8</c:v>
                </c:pt>
                <c:pt idx="104">
                  <c:v>1599.4</c:v>
                </c:pt>
                <c:pt idx="105">
                  <c:v>#N/A</c:v>
                </c:pt>
                <c:pt idx="106">
                  <c:v>1917.2</c:v>
                </c:pt>
                <c:pt idx="107">
                  <c:v>1903.5</c:v>
                </c:pt>
                <c:pt idx="108">
                  <c:v>2056.9</c:v>
                </c:pt>
                <c:pt idx="109">
                  <c:v>2105.6</c:v>
                </c:pt>
                <c:pt idx="110">
                  <c:v>2211.8000000000002</c:v>
                </c:pt>
                <c:pt idx="111">
                  <c:v>2033.7</c:v>
                </c:pt>
                <c:pt idx="112">
                  <c:v>2102.6999999999998</c:v>
                </c:pt>
                <c:pt idx="113">
                  <c:v>2025.3</c:v>
                </c:pt>
                <c:pt idx="114">
                  <c:v>1956.6</c:v>
                </c:pt>
                <c:pt idx="115">
                  <c:v>1922.9</c:v>
                </c:pt>
                <c:pt idx="116">
                  <c:v>1814</c:v>
                </c:pt>
                <c:pt idx="117">
                  <c:v>1512.9</c:v>
                </c:pt>
                <c:pt idx="118">
                  <c:v>1909</c:v>
                </c:pt>
                <c:pt idx="119">
                  <c:v>1842.6</c:v>
                </c:pt>
                <c:pt idx="120">
                  <c:v>1935.1</c:v>
                </c:pt>
                <c:pt idx="121">
                  <c:v>2110.6</c:v>
                </c:pt>
                <c:pt idx="122">
                  <c:v>2228.9</c:v>
                </c:pt>
                <c:pt idx="123">
                  <c:v>2218.3000000000002</c:v>
                </c:pt>
                <c:pt idx="124">
                  <c:v>2288</c:v>
                </c:pt>
                <c:pt idx="125">
                  <c:v>2242.1999999999998</c:v>
                </c:pt>
                <c:pt idx="126">
                  <c:v>#N/A</c:v>
                </c:pt>
                <c:pt idx="127">
                  <c:v>2573.4</c:v>
                </c:pt>
                <c:pt idx="128">
                  <c:v>3040.1</c:v>
                </c:pt>
                <c:pt idx="129">
                  <c:v>3214.4</c:v>
                </c:pt>
                <c:pt idx="130">
                  <c:v>3339.8</c:v>
                </c:pt>
                <c:pt idx="131">
                  <c:v>3163.6</c:v>
                </c:pt>
                <c:pt idx="132">
                  <c:v>3709.4</c:v>
                </c:pt>
                <c:pt idx="133">
                  <c:v>4241.5</c:v>
                </c:pt>
                <c:pt idx="134">
                  <c:v>4797.2</c:v>
                </c:pt>
                <c:pt idx="135">
                  <c:v>5279.9</c:v>
                </c:pt>
                <c:pt idx="136">
                  <c:v>4854.1000000000004</c:v>
                </c:pt>
                <c:pt idx="137">
                  <c:v>4672.1000000000004</c:v>
                </c:pt>
                <c:pt idx="138">
                  <c:v>4726.8999999999996</c:v>
                </c:pt>
                <c:pt idx="139">
                  <c:v>4528.8999999999996</c:v>
                </c:pt>
                <c:pt idx="140">
                  <c:v>4119.2</c:v>
                </c:pt>
                <c:pt idx="141">
                  <c:v>4412.8999999999996</c:v>
                </c:pt>
                <c:pt idx="142">
                  <c:v>4111.3</c:v>
                </c:pt>
                <c:pt idx="143">
                  <c:v>4485.2</c:v>
                </c:pt>
                <c:pt idx="144">
                  <c:v>4724.8999999999996</c:v>
                </c:pt>
                <c:pt idx="145">
                  <c:v>4136.3</c:v>
                </c:pt>
                <c:pt idx="146">
                  <c:v>4261.8</c:v>
                </c:pt>
                <c:pt idx="147">
                  <c:v>4284.3</c:v>
                </c:pt>
                <c:pt idx="148">
                  <c:v>4579</c:v>
                </c:pt>
                <c:pt idx="149">
                  <c:v>4433.6000000000004</c:v>
                </c:pt>
                <c:pt idx="150">
                  <c:v>4937.3999999999996</c:v>
                </c:pt>
                <c:pt idx="151">
                  <c:v>4554.3999999999996</c:v>
                </c:pt>
                <c:pt idx="152">
                  <c:v>3896.4</c:v>
                </c:pt>
                <c:pt idx="153">
                  <c:v>3488.9</c:v>
                </c:pt>
                <c:pt idx="154">
                  <c:v>3983.2</c:v>
                </c:pt>
                <c:pt idx="155">
                  <c:v>4564.3999999999996</c:v>
                </c:pt>
                <c:pt idx="156">
                  <c:v>5368.1</c:v>
                </c:pt>
                <c:pt idx="157">
                  <c:v>4943</c:v>
                </c:pt>
                <c:pt idx="158">
                  <c:v>#N/A</c:v>
                </c:pt>
                <c:pt idx="159">
                  <c:v>4702.3999999999996</c:v>
                </c:pt>
                <c:pt idx="160">
                  <c:v>4856.1000000000004</c:v>
                </c:pt>
                <c:pt idx="161">
                  <c:v>4297.7</c:v>
                </c:pt>
                <c:pt idx="162">
                  <c:v>4550.7</c:v>
                </c:pt>
                <c:pt idx="163">
                  <c:v>4847.2</c:v>
                </c:pt>
                <c:pt idx="164">
                  <c:v>5572.2</c:v>
                </c:pt>
                <c:pt idx="165">
                  <c:v>5892.5</c:v>
                </c:pt>
                <c:pt idx="166">
                  <c:v>5965.5</c:v>
                </c:pt>
                <c:pt idx="167">
                  <c:v>4979</c:v>
                </c:pt>
                <c:pt idx="168">
                  <c:v>4823.3</c:v>
                </c:pt>
                <c:pt idx="169">
                  <c:v>4779.1000000000004</c:v>
                </c:pt>
                <c:pt idx="170">
                  <c:v>4274.8</c:v>
                </c:pt>
                <c:pt idx="171">
                  <c:v>4414.6000000000004</c:v>
                </c:pt>
                <c:pt idx="172">
                  <c:v>4671.1000000000004</c:v>
                </c:pt>
                <c:pt idx="173">
                  <c:v>5172.2</c:v>
                </c:pt>
                <c:pt idx="174">
                  <c:v>5444.3</c:v>
                </c:pt>
                <c:pt idx="175">
                  <c:v>5492.1</c:v>
                </c:pt>
                <c:pt idx="176">
                  <c:v>5383.1</c:v>
                </c:pt>
                <c:pt idx="177">
                  <c:v>5246.8</c:v>
                </c:pt>
                <c:pt idx="178">
                  <c:v>4267.8999999999996</c:v>
                </c:pt>
                <c:pt idx="179">
                  <c:v>4372.2</c:v>
                </c:pt>
                <c:pt idx="180">
                  <c:v>4585.8</c:v>
                </c:pt>
                <c:pt idx="181">
                  <c:v>4719.6000000000004</c:v>
                </c:pt>
                <c:pt idx="182">
                  <c:v>5590</c:v>
                </c:pt>
                <c:pt idx="183">
                  <c:v>4736</c:v>
                </c:pt>
                <c:pt idx="184">
                  <c:v>4675.8999999999996</c:v>
                </c:pt>
                <c:pt idx="185">
                  <c:v>4732</c:v>
                </c:pt>
                <c:pt idx="186">
                  <c:v>4482</c:v>
                </c:pt>
                <c:pt idx="187">
                  <c:v>3924.4</c:v>
                </c:pt>
                <c:pt idx="188">
                  <c:v>3856</c:v>
                </c:pt>
                <c:pt idx="189">
                  <c:v>3892.2</c:v>
                </c:pt>
                <c:pt idx="190">
                  <c:v>4144.3</c:v>
                </c:pt>
                <c:pt idx="191">
                  <c:v>3549.3</c:v>
                </c:pt>
                <c:pt idx="192">
                  <c:v>3699.5</c:v>
                </c:pt>
                <c:pt idx="193">
                  <c:v>3588.4</c:v>
                </c:pt>
                <c:pt idx="194">
                  <c:v>3715.2</c:v>
                </c:pt>
                <c:pt idx="195">
                  <c:v>4063.4</c:v>
                </c:pt>
                <c:pt idx="196">
                  <c:v>4277.6000000000004</c:v>
                </c:pt>
                <c:pt idx="197">
                  <c:v>4379.1000000000004</c:v>
                </c:pt>
                <c:pt idx="198">
                  <c:v>4466.8999999999996</c:v>
                </c:pt>
                <c:pt idx="199">
                  <c:v>4716.1000000000004</c:v>
                </c:pt>
                <c:pt idx="200">
                  <c:v>4617.1000000000004</c:v>
                </c:pt>
                <c:pt idx="201">
                  <c:v>4184.3</c:v>
                </c:pt>
                <c:pt idx="202">
                  <c:v>4326.3999999999996</c:v>
                </c:pt>
                <c:pt idx="203">
                  <c:v>4626.5</c:v>
                </c:pt>
                <c:pt idx="204">
                  <c:v>3668.3</c:v>
                </c:pt>
                <c:pt idx="205">
                  <c:v>3608.1</c:v>
                </c:pt>
                <c:pt idx="206">
                  <c:v>3684.5</c:v>
                </c:pt>
                <c:pt idx="207">
                  <c:v>3676.1</c:v>
                </c:pt>
                <c:pt idx="208">
                  <c:v>3708.6</c:v>
                </c:pt>
                <c:pt idx="209">
                  <c:v>3394.7</c:v>
                </c:pt>
                <c:pt idx="210">
                  <c:v>#N/A</c:v>
                </c:pt>
                <c:pt idx="211">
                  <c:v>3466.8</c:v>
                </c:pt>
                <c:pt idx="212">
                  <c:v>3664.5</c:v>
                </c:pt>
                <c:pt idx="213">
                  <c:v>4137.6000000000004</c:v>
                </c:pt>
                <c:pt idx="214">
                  <c:v>3695</c:v>
                </c:pt>
                <c:pt idx="215">
                  <c:v>3719.3</c:v>
                </c:pt>
                <c:pt idx="216">
                  <c:v>3553.2</c:v>
                </c:pt>
                <c:pt idx="217">
                  <c:v>4251.1000000000004</c:v>
                </c:pt>
                <c:pt idx="218">
                  <c:v>4241.8</c:v>
                </c:pt>
                <c:pt idx="219">
                  <c:v>4512.1000000000004</c:v>
                </c:pt>
                <c:pt idx="220">
                  <c:v>4033.8</c:v>
                </c:pt>
                <c:pt idx="221">
                  <c:v>3571.7</c:v>
                </c:pt>
                <c:pt idx="222">
                  <c:v>3372</c:v>
                </c:pt>
                <c:pt idx="223">
                  <c:v>3601.3</c:v>
                </c:pt>
                <c:pt idx="224">
                  <c:v>4110.8</c:v>
                </c:pt>
                <c:pt idx="225">
                  <c:v>4184.3999999999996</c:v>
                </c:pt>
                <c:pt idx="226">
                  <c:v>3880.9</c:v>
                </c:pt>
                <c:pt idx="227">
                  <c:v>2974.1</c:v>
                </c:pt>
                <c:pt idx="228">
                  <c:v>2769.6</c:v>
                </c:pt>
                <c:pt idx="229">
                  <c:v>2923.8</c:v>
                </c:pt>
                <c:pt idx="230">
                  <c:v>2362.6999999999998</c:v>
                </c:pt>
                <c:pt idx="231">
                  <c:v>2527.5</c:v>
                </c:pt>
                <c:pt idx="232">
                  <c:v>2809.5</c:v>
                </c:pt>
                <c:pt idx="233">
                  <c:v>2857.9</c:v>
                </c:pt>
                <c:pt idx="234">
                  <c:v>3101.7</c:v>
                </c:pt>
                <c:pt idx="235">
                  <c:v>2648</c:v>
                </c:pt>
                <c:pt idx="236">
                  <c:v>2619.6999999999998</c:v>
                </c:pt>
                <c:pt idx="237">
                  <c:v>2764.6</c:v>
                </c:pt>
                <c:pt idx="238">
                  <c:v>2742.2</c:v>
                </c:pt>
                <c:pt idx="239">
                  <c:v>2414.9</c:v>
                </c:pt>
                <c:pt idx="240">
                  <c:v>2220.1</c:v>
                </c:pt>
                <c:pt idx="241">
                  <c:v>2091.4</c:v>
                </c:pt>
                <c:pt idx="242">
                  <c:v>2065.3000000000002</c:v>
                </c:pt>
                <c:pt idx="243">
                  <c:v>2010.6</c:v>
                </c:pt>
                <c:pt idx="244">
                  <c:v>2194.4</c:v>
                </c:pt>
                <c:pt idx="245">
                  <c:v>2350.6999999999998</c:v>
                </c:pt>
                <c:pt idx="246">
                  <c:v>2620.8000000000002</c:v>
                </c:pt>
                <c:pt idx="247">
                  <c:v>2563.6</c:v>
                </c:pt>
                <c:pt idx="248">
                  <c:v>2539.4</c:v>
                </c:pt>
                <c:pt idx="249">
                  <c:v>2155.5</c:v>
                </c:pt>
                <c:pt idx="250">
                  <c:v>2325.3000000000002</c:v>
                </c:pt>
                <c:pt idx="251">
                  <c:v>1953.2</c:v>
                </c:pt>
                <c:pt idx="252">
                  <c:v>2190.4</c:v>
                </c:pt>
                <c:pt idx="253">
                  <c:v>2371.1</c:v>
                </c:pt>
                <c:pt idx="254">
                  <c:v>2129.6999999999998</c:v>
                </c:pt>
                <c:pt idx="255">
                  <c:v>2528.6999999999998</c:v>
                </c:pt>
                <c:pt idx="256">
                  <c:v>2344.3000000000002</c:v>
                </c:pt>
              </c:numCache>
            </c:numRef>
          </c:val>
          <c:smooth val="0"/>
        </c:ser>
        <c:dLbls>
          <c:showLegendKey val="0"/>
          <c:showVal val="0"/>
          <c:showCatName val="0"/>
          <c:showSerName val="0"/>
          <c:showPercent val="0"/>
          <c:showBubbleSize val="0"/>
        </c:dLbls>
        <c:marker val="1"/>
        <c:smooth val="0"/>
        <c:axId val="131374464"/>
        <c:axId val="131372544"/>
      </c:lineChart>
      <c:dateAx>
        <c:axId val="131364736"/>
        <c:scaling>
          <c:orientation val="minMax"/>
        </c:scaling>
        <c:delete val="0"/>
        <c:axPos val="b"/>
        <c:numFmt formatCode="m/d/yyyy" sourceLinked="1"/>
        <c:majorTickMark val="out"/>
        <c:minorTickMark val="none"/>
        <c:tickLblPos val="nextTo"/>
        <c:crossAx val="131366272"/>
        <c:crosses val="autoZero"/>
        <c:auto val="1"/>
        <c:lblOffset val="100"/>
        <c:baseTimeUnit val="days"/>
        <c:majorUnit val="6"/>
      </c:dateAx>
      <c:valAx>
        <c:axId val="131366272"/>
        <c:scaling>
          <c:orientation val="minMax"/>
          <c:max val="1"/>
        </c:scaling>
        <c:delete val="0"/>
        <c:axPos val="l"/>
        <c:majorGridlines/>
        <c:title>
          <c:tx>
            <c:rich>
              <a:bodyPr rot="-5400000" vert="horz"/>
              <a:lstStyle/>
              <a:p>
                <a:pPr>
                  <a:defRPr/>
                </a:pPr>
                <a:r>
                  <a:rPr lang="en-US"/>
                  <a:t>Refinancible Percentage</a:t>
                </a:r>
              </a:p>
            </c:rich>
          </c:tx>
          <c:layout/>
          <c:overlay val="0"/>
        </c:title>
        <c:numFmt formatCode="0%" sourceLinked="0"/>
        <c:majorTickMark val="out"/>
        <c:minorTickMark val="none"/>
        <c:tickLblPos val="nextTo"/>
        <c:crossAx val="131364736"/>
        <c:crosses val="autoZero"/>
        <c:crossBetween val="between"/>
      </c:valAx>
      <c:valAx>
        <c:axId val="131372544"/>
        <c:scaling>
          <c:orientation val="minMax"/>
        </c:scaling>
        <c:delete val="0"/>
        <c:axPos val="r"/>
        <c:title>
          <c:tx>
            <c:rich>
              <a:bodyPr rot="-5400000" vert="horz"/>
              <a:lstStyle/>
              <a:p>
                <a:pPr>
                  <a:defRPr/>
                </a:pPr>
                <a:r>
                  <a:rPr lang="en-US"/>
                  <a:t>Refi Index</a:t>
                </a:r>
              </a:p>
            </c:rich>
          </c:tx>
          <c:layout/>
          <c:overlay val="0"/>
        </c:title>
        <c:numFmt formatCode="0" sourceLinked="0"/>
        <c:majorTickMark val="out"/>
        <c:minorTickMark val="none"/>
        <c:tickLblPos val="nextTo"/>
        <c:crossAx val="131374464"/>
        <c:crosses val="max"/>
        <c:crossBetween val="between"/>
      </c:valAx>
      <c:dateAx>
        <c:axId val="131374464"/>
        <c:scaling>
          <c:orientation val="minMax"/>
        </c:scaling>
        <c:delete val="1"/>
        <c:axPos val="b"/>
        <c:numFmt formatCode="m/d/yyyy" sourceLinked="1"/>
        <c:majorTickMark val="out"/>
        <c:minorTickMark val="none"/>
        <c:tickLblPos val="nextTo"/>
        <c:crossAx val="131372544"/>
        <c:crosses val="autoZero"/>
        <c:auto val="1"/>
        <c:lblOffset val="100"/>
        <c:baseTimeUnit val="days"/>
      </c:dateAx>
    </c:plotArea>
    <c:legend>
      <c:legendPos val="b"/>
      <c:layout/>
      <c:overlay val="0"/>
    </c:legend>
    <c:plotVisOnly val="1"/>
    <c:dispBlanksAs val="gap"/>
    <c:showDLblsOverMax val="0"/>
  </c:chart>
  <c:spPr>
    <a:ln>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3"/>
          <c:order val="0"/>
          <c:tx>
            <c:strRef>
              <c:f>'[Universe Credit Availability with Non-Agency.xlsm]Time Series Query'!$AE$4</c:f>
              <c:strCache>
                <c:ptCount val="1"/>
                <c:pt idx="0">
                  <c:v>Universe</c:v>
                </c:pt>
              </c:strCache>
            </c:strRef>
          </c:tx>
          <c:spPr>
            <a:ln>
              <a:solidFill>
                <a:srgbClr val="2E398A"/>
              </a:solidFill>
            </a:ln>
          </c:spPr>
          <c:marker>
            <c:symbol val="none"/>
          </c:marker>
          <c:cat>
            <c:strRef>
              <c:f>'[Universe Credit Availability with Non-Agency.xlsm]Time Series Query'!$S$5:$S$152</c:f>
              <c:strCache>
                <c:ptCount val="148"/>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pt idx="147">
                  <c:v>2015-8</c:v>
                </c:pt>
              </c:strCache>
            </c:strRef>
          </c:cat>
          <c:val>
            <c:numRef>
              <c:f>'[Universe Credit Availability with Non-Agency.xlsm]Time Series Query'!$AE$5:$AE$152</c:f>
              <c:numCache>
                <c:formatCode>0%</c:formatCode>
                <c:ptCount val="148"/>
                <c:pt idx="0">
                  <c:v>4.1273186358991243E-2</c:v>
                </c:pt>
                <c:pt idx="1">
                  <c:v>3.8600916059773241E-2</c:v>
                </c:pt>
                <c:pt idx="2">
                  <c:v>4.1524729470152955E-2</c:v>
                </c:pt>
                <c:pt idx="3">
                  <c:v>4.1056198408077366E-2</c:v>
                </c:pt>
                <c:pt idx="4">
                  <c:v>3.2763723841743919E-2</c:v>
                </c:pt>
                <c:pt idx="5">
                  <c:v>2.9962577215009851E-2</c:v>
                </c:pt>
                <c:pt idx="6">
                  <c:v>3.9481375215199468E-2</c:v>
                </c:pt>
                <c:pt idx="7">
                  <c:v>4.0589816924945545E-2</c:v>
                </c:pt>
                <c:pt idx="8">
                  <c:v>6.4153048209471847E-2</c:v>
                </c:pt>
                <c:pt idx="9">
                  <c:v>6.2539623225121507E-2</c:v>
                </c:pt>
                <c:pt idx="10">
                  <c:v>6.4090552101552289E-2</c:v>
                </c:pt>
                <c:pt idx="11">
                  <c:v>6.6291479375849047E-2</c:v>
                </c:pt>
                <c:pt idx="12">
                  <c:v>6.8868485407793181E-2</c:v>
                </c:pt>
                <c:pt idx="13">
                  <c:v>5.8028403379487919E-2</c:v>
                </c:pt>
                <c:pt idx="14">
                  <c:v>5.4146619414905048E-2</c:v>
                </c:pt>
                <c:pt idx="15">
                  <c:v>6.3397998091754504E-2</c:v>
                </c:pt>
                <c:pt idx="16">
                  <c:v>6.8894140053845365E-2</c:v>
                </c:pt>
                <c:pt idx="17">
                  <c:v>6.6777724424054677E-2</c:v>
                </c:pt>
                <c:pt idx="18">
                  <c:v>6.8501793013342985E-2</c:v>
                </c:pt>
                <c:pt idx="19">
                  <c:v>6.4912991546668658E-2</c:v>
                </c:pt>
                <c:pt idx="20">
                  <c:v>7.317364351421729E-2</c:v>
                </c:pt>
                <c:pt idx="21">
                  <c:v>7.1048383944692969E-2</c:v>
                </c:pt>
                <c:pt idx="22">
                  <c:v>7.0670176314332561E-2</c:v>
                </c:pt>
                <c:pt idx="23">
                  <c:v>7.0995979062495287E-2</c:v>
                </c:pt>
                <c:pt idx="24">
                  <c:v>6.3239020249356792E-2</c:v>
                </c:pt>
                <c:pt idx="25">
                  <c:v>7.0052396687908969E-2</c:v>
                </c:pt>
                <c:pt idx="26">
                  <c:v>7.1730721595611308E-2</c:v>
                </c:pt>
                <c:pt idx="27">
                  <c:v>7.3037050406460066E-2</c:v>
                </c:pt>
                <c:pt idx="28">
                  <c:v>6.5521134037947876E-2</c:v>
                </c:pt>
                <c:pt idx="29">
                  <c:v>6.8916976901557819E-2</c:v>
                </c:pt>
                <c:pt idx="30">
                  <c:v>6.9979153666283281E-2</c:v>
                </c:pt>
                <c:pt idx="31">
                  <c:v>6.2007270623867565E-2</c:v>
                </c:pt>
                <c:pt idx="32">
                  <c:v>6.6894357498660822E-2</c:v>
                </c:pt>
                <c:pt idx="33">
                  <c:v>6.9233859787566243E-2</c:v>
                </c:pt>
                <c:pt idx="34">
                  <c:v>7.1400750723630252E-2</c:v>
                </c:pt>
                <c:pt idx="35">
                  <c:v>6.9950487608818293E-2</c:v>
                </c:pt>
                <c:pt idx="36">
                  <c:v>7.0282402898341589E-2</c:v>
                </c:pt>
                <c:pt idx="37">
                  <c:v>6.7826279994879418E-2</c:v>
                </c:pt>
                <c:pt idx="38">
                  <c:v>7.249289793060254E-2</c:v>
                </c:pt>
                <c:pt idx="39">
                  <c:v>7.4226439630776589E-2</c:v>
                </c:pt>
                <c:pt idx="40">
                  <c:v>8.0946532951435612E-2</c:v>
                </c:pt>
                <c:pt idx="41">
                  <c:v>8.5057477663318462E-2</c:v>
                </c:pt>
                <c:pt idx="42">
                  <c:v>7.9494243473813286E-2</c:v>
                </c:pt>
                <c:pt idx="43">
                  <c:v>8.3358492754637692E-2</c:v>
                </c:pt>
                <c:pt idx="44">
                  <c:v>5.4496657051605044E-2</c:v>
                </c:pt>
                <c:pt idx="45">
                  <c:v>5.3684184628719572E-2</c:v>
                </c:pt>
                <c:pt idx="46">
                  <c:v>5.1926367849731661E-2</c:v>
                </c:pt>
                <c:pt idx="47">
                  <c:v>5.6789277354204547E-2</c:v>
                </c:pt>
                <c:pt idx="48">
                  <c:v>5.6459020362866819E-2</c:v>
                </c:pt>
                <c:pt idx="49">
                  <c:v>5.8169862591925206E-2</c:v>
                </c:pt>
                <c:pt idx="50">
                  <c:v>5.987586303651446E-2</c:v>
                </c:pt>
                <c:pt idx="51">
                  <c:v>5.1419308670780942E-2</c:v>
                </c:pt>
                <c:pt idx="52">
                  <c:v>5.7594444626793126E-2</c:v>
                </c:pt>
                <c:pt idx="53">
                  <c:v>6.4712981723017038E-2</c:v>
                </c:pt>
                <c:pt idx="54">
                  <c:v>6.3819830264385646E-2</c:v>
                </c:pt>
                <c:pt idx="55">
                  <c:v>6.190220590306135E-2</c:v>
                </c:pt>
                <c:pt idx="56">
                  <c:v>5.0047722669643684E-2</c:v>
                </c:pt>
                <c:pt idx="57">
                  <c:v>4.8605475545115157E-2</c:v>
                </c:pt>
                <c:pt idx="58">
                  <c:v>5.2638723607768667E-2</c:v>
                </c:pt>
                <c:pt idx="59">
                  <c:v>4.4834802441795447E-2</c:v>
                </c:pt>
                <c:pt idx="60">
                  <c:v>4.3849532522128351E-2</c:v>
                </c:pt>
                <c:pt idx="61">
                  <c:v>3.9045676677771951E-2</c:v>
                </c:pt>
                <c:pt idx="62">
                  <c:v>3.620769734876339E-2</c:v>
                </c:pt>
                <c:pt idx="63">
                  <c:v>3.3641606641587128E-2</c:v>
                </c:pt>
                <c:pt idx="64">
                  <c:v>3.4230655256222153E-2</c:v>
                </c:pt>
                <c:pt idx="65">
                  <c:v>3.452897146814872E-2</c:v>
                </c:pt>
                <c:pt idx="66">
                  <c:v>3.95491875169873E-2</c:v>
                </c:pt>
                <c:pt idx="67">
                  <c:v>3.2505251947218546E-2</c:v>
                </c:pt>
                <c:pt idx="68">
                  <c:v>3.4373363748136501E-2</c:v>
                </c:pt>
                <c:pt idx="69">
                  <c:v>3.612641775016278E-2</c:v>
                </c:pt>
                <c:pt idx="70">
                  <c:v>2.9769529858982267E-2</c:v>
                </c:pt>
                <c:pt idx="71">
                  <c:v>2.7427163527577837E-2</c:v>
                </c:pt>
                <c:pt idx="72">
                  <c:v>2.9227741587181673E-2</c:v>
                </c:pt>
                <c:pt idx="73">
                  <c:v>2.579256948853631E-2</c:v>
                </c:pt>
                <c:pt idx="74">
                  <c:v>2.4459632010194129E-2</c:v>
                </c:pt>
                <c:pt idx="75">
                  <c:v>2.1832322950026486E-2</c:v>
                </c:pt>
                <c:pt idx="76">
                  <c:v>2.561662875023582E-2</c:v>
                </c:pt>
                <c:pt idx="77">
                  <c:v>2.6347311876231624E-2</c:v>
                </c:pt>
                <c:pt idx="78">
                  <c:v>2.7413861494230009E-2</c:v>
                </c:pt>
                <c:pt idx="79">
                  <c:v>2.6362766886529825E-2</c:v>
                </c:pt>
                <c:pt idx="80">
                  <c:v>2.477286102097348E-2</c:v>
                </c:pt>
                <c:pt idx="81">
                  <c:v>2.1438308713372326E-2</c:v>
                </c:pt>
                <c:pt idx="82">
                  <c:v>2.0482850539817174E-2</c:v>
                </c:pt>
                <c:pt idx="83">
                  <c:v>2.1031470618442415E-2</c:v>
                </c:pt>
                <c:pt idx="84">
                  <c:v>2.1013399056538318E-2</c:v>
                </c:pt>
                <c:pt idx="85">
                  <c:v>2.0377238569865435E-2</c:v>
                </c:pt>
                <c:pt idx="86">
                  <c:v>2.233365413383093E-2</c:v>
                </c:pt>
                <c:pt idx="87">
                  <c:v>2.2843715418558438E-2</c:v>
                </c:pt>
                <c:pt idx="88">
                  <c:v>2.1788046448065389E-2</c:v>
                </c:pt>
                <c:pt idx="89">
                  <c:v>2.1159219887416505E-2</c:v>
                </c:pt>
                <c:pt idx="90">
                  <c:v>2.0679136462529713E-2</c:v>
                </c:pt>
                <c:pt idx="91">
                  <c:v>2.1082505562575963E-2</c:v>
                </c:pt>
                <c:pt idx="92">
                  <c:v>1.8756270309838053E-2</c:v>
                </c:pt>
                <c:pt idx="93">
                  <c:v>1.6887265032410021E-2</c:v>
                </c:pt>
                <c:pt idx="94">
                  <c:v>1.8715806510015271E-2</c:v>
                </c:pt>
                <c:pt idx="95">
                  <c:v>1.8558417016542272E-2</c:v>
                </c:pt>
                <c:pt idx="96">
                  <c:v>2.0256356399235374E-2</c:v>
                </c:pt>
                <c:pt idx="97">
                  <c:v>2.0194972183012312E-2</c:v>
                </c:pt>
                <c:pt idx="98">
                  <c:v>2.1780550470312209E-2</c:v>
                </c:pt>
                <c:pt idx="99">
                  <c:v>2.1560165833527486E-2</c:v>
                </c:pt>
                <c:pt idx="100">
                  <c:v>2.1057113897831017E-2</c:v>
                </c:pt>
                <c:pt idx="101">
                  <c:v>2.2979785000519518E-2</c:v>
                </c:pt>
                <c:pt idx="102">
                  <c:v>2.2513568962623545E-2</c:v>
                </c:pt>
                <c:pt idx="103">
                  <c:v>2.1096204618070859E-2</c:v>
                </c:pt>
                <c:pt idx="104">
                  <c:v>2.0656402742261132E-2</c:v>
                </c:pt>
                <c:pt idx="105">
                  <c:v>2.0618585991936139E-2</c:v>
                </c:pt>
                <c:pt idx="106">
                  <c:v>2.0579256368834356E-2</c:v>
                </c:pt>
                <c:pt idx="107">
                  <c:v>2.0260687512975474E-2</c:v>
                </c:pt>
                <c:pt idx="108">
                  <c:v>1.9660481235423802E-2</c:v>
                </c:pt>
                <c:pt idx="109">
                  <c:v>2.0455626947118406E-2</c:v>
                </c:pt>
                <c:pt idx="110">
                  <c:v>2.1021494963304289E-2</c:v>
                </c:pt>
                <c:pt idx="111">
                  <c:v>2.1223718922823539E-2</c:v>
                </c:pt>
                <c:pt idx="112">
                  <c:v>2.1579784372326646E-2</c:v>
                </c:pt>
                <c:pt idx="113">
                  <c:v>2.0569370676078419E-2</c:v>
                </c:pt>
                <c:pt idx="114">
                  <c:v>2.1417778786265645E-2</c:v>
                </c:pt>
                <c:pt idx="115">
                  <c:v>2.1453555809185492E-2</c:v>
                </c:pt>
                <c:pt idx="116">
                  <c:v>2.149138424043601E-2</c:v>
                </c:pt>
                <c:pt idx="117">
                  <c:v>2.131214214634608E-2</c:v>
                </c:pt>
                <c:pt idx="118">
                  <c:v>2.125187127530374E-2</c:v>
                </c:pt>
                <c:pt idx="119">
                  <c:v>2.0932794953264607E-2</c:v>
                </c:pt>
                <c:pt idx="120">
                  <c:v>2.1524497979701664E-2</c:v>
                </c:pt>
                <c:pt idx="121">
                  <c:v>2.2767145021913057E-2</c:v>
                </c:pt>
                <c:pt idx="122">
                  <c:v>2.1504738444053366E-2</c:v>
                </c:pt>
                <c:pt idx="123">
                  <c:v>1.8933133166038937E-2</c:v>
                </c:pt>
                <c:pt idx="124">
                  <c:v>2.0249315625362811E-2</c:v>
                </c:pt>
                <c:pt idx="125">
                  <c:v>2.2142875364131891E-2</c:v>
                </c:pt>
                <c:pt idx="126">
                  <c:v>2.3359545595280855E-2</c:v>
                </c:pt>
                <c:pt idx="127">
                  <c:v>2.5635177362591827E-2</c:v>
                </c:pt>
                <c:pt idx="128">
                  <c:v>2.4867928165681903E-2</c:v>
                </c:pt>
                <c:pt idx="129">
                  <c:v>2.3564648411344088E-2</c:v>
                </c:pt>
                <c:pt idx="130">
                  <c:v>2.5110772020268714E-2</c:v>
                </c:pt>
                <c:pt idx="131">
                  <c:v>2.6412242757370724E-2</c:v>
                </c:pt>
                <c:pt idx="132">
                  <c:v>2.601723762863041E-2</c:v>
                </c:pt>
                <c:pt idx="133">
                  <c:v>2.6573588986517453E-2</c:v>
                </c:pt>
                <c:pt idx="134">
                  <c:v>2.8047083545685865E-2</c:v>
                </c:pt>
                <c:pt idx="135">
                  <c:v>2.709089206084888E-2</c:v>
                </c:pt>
                <c:pt idx="136">
                  <c:v>2.7129790670277321E-2</c:v>
                </c:pt>
                <c:pt idx="137">
                  <c:v>2.7597484362159065E-2</c:v>
                </c:pt>
                <c:pt idx="138">
                  <c:v>2.7551812902751119E-2</c:v>
                </c:pt>
                <c:pt idx="139">
                  <c:v>2.8681732551102741E-2</c:v>
                </c:pt>
                <c:pt idx="140">
                  <c:v>2.8154501709573867E-2</c:v>
                </c:pt>
                <c:pt idx="141">
                  <c:v>2.9055851349389143E-2</c:v>
                </c:pt>
                <c:pt idx="142">
                  <c:v>3.0226542638785808E-2</c:v>
                </c:pt>
                <c:pt idx="143">
                  <c:v>2.799745520738519E-2</c:v>
                </c:pt>
                <c:pt idx="144">
                  <c:v>2.7603015241589379E-2</c:v>
                </c:pt>
                <c:pt idx="145">
                  <c:v>2.8438064795132157E-2</c:v>
                </c:pt>
                <c:pt idx="146">
                  <c:v>2.5938160640522973E-2</c:v>
                </c:pt>
                <c:pt idx="147">
                  <c:v>2.5328336090739333E-2</c:v>
                </c:pt>
              </c:numCache>
            </c:numRef>
          </c:val>
          <c:smooth val="0"/>
        </c:ser>
        <c:ser>
          <c:idx val="1"/>
          <c:order val="1"/>
          <c:tx>
            <c:strRef>
              <c:f>'[Universe Credit Availability with Non-Agency.xlsm]Time Series Query'!$T$4</c:f>
              <c:strCache>
                <c:ptCount val="1"/>
                <c:pt idx="0">
                  <c:v>Conventional</c:v>
                </c:pt>
              </c:strCache>
            </c:strRef>
          </c:tx>
          <c:spPr>
            <a:ln w="28575">
              <a:solidFill>
                <a:schemeClr val="accent2">
                  <a:alpha val="20000"/>
                </a:schemeClr>
              </a:solidFill>
            </a:ln>
          </c:spPr>
          <c:marker>
            <c:symbol val="none"/>
          </c:marker>
          <c:cat>
            <c:strRef>
              <c:f>'[Universe Credit Availability with Non-Agency.xlsm]Time Series Query'!$S$5:$S$152</c:f>
              <c:strCache>
                <c:ptCount val="148"/>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pt idx="147">
                  <c:v>2015-8</c:v>
                </c:pt>
              </c:strCache>
            </c:strRef>
          </c:cat>
          <c:val>
            <c:numRef>
              <c:f>'[Universe Credit Availability with Non-Agency.xlsm]Time Series Query'!$T$5:$T$152</c:f>
              <c:numCache>
                <c:formatCode>0%</c:formatCode>
                <c:ptCount val="148"/>
                <c:pt idx="0">
                  <c:v>2.1450741055419598E-2</c:v>
                </c:pt>
                <c:pt idx="1">
                  <c:v>2.0777950043804699E-2</c:v>
                </c:pt>
                <c:pt idx="2">
                  <c:v>2.24205388581304E-2</c:v>
                </c:pt>
                <c:pt idx="3">
                  <c:v>2.1746038746394102E-2</c:v>
                </c:pt>
                <c:pt idx="4">
                  <c:v>1.7642684597579599E-2</c:v>
                </c:pt>
                <c:pt idx="5">
                  <c:v>1.64145800400433E-2</c:v>
                </c:pt>
                <c:pt idx="6">
                  <c:v>2.1358095033052499E-2</c:v>
                </c:pt>
                <c:pt idx="7">
                  <c:v>2.1730055868424501E-2</c:v>
                </c:pt>
                <c:pt idx="8">
                  <c:v>2.12987117078158E-2</c:v>
                </c:pt>
                <c:pt idx="9">
                  <c:v>2.04919210486827E-2</c:v>
                </c:pt>
                <c:pt idx="10">
                  <c:v>2.0715890182779199E-2</c:v>
                </c:pt>
                <c:pt idx="11">
                  <c:v>2.1443810366087699E-2</c:v>
                </c:pt>
                <c:pt idx="12">
                  <c:v>2.1497562705386799E-2</c:v>
                </c:pt>
                <c:pt idx="13">
                  <c:v>1.74296567987994E-2</c:v>
                </c:pt>
                <c:pt idx="14">
                  <c:v>1.71623636029434E-2</c:v>
                </c:pt>
                <c:pt idx="15">
                  <c:v>2.0583368674609099E-2</c:v>
                </c:pt>
                <c:pt idx="16">
                  <c:v>2.3047577050655299E-2</c:v>
                </c:pt>
                <c:pt idx="17">
                  <c:v>2.23860040024676E-2</c:v>
                </c:pt>
                <c:pt idx="18">
                  <c:v>2.1779564208262402E-2</c:v>
                </c:pt>
                <c:pt idx="19">
                  <c:v>2.1090668706571499E-2</c:v>
                </c:pt>
                <c:pt idx="20">
                  <c:v>2.09712423123837E-2</c:v>
                </c:pt>
                <c:pt idx="21">
                  <c:v>2.0659358627216601E-2</c:v>
                </c:pt>
                <c:pt idx="22">
                  <c:v>2.0417926363663502E-2</c:v>
                </c:pt>
                <c:pt idx="23">
                  <c:v>1.9984193341813401E-2</c:v>
                </c:pt>
                <c:pt idx="24">
                  <c:v>1.8157566395530299E-2</c:v>
                </c:pt>
                <c:pt idx="25">
                  <c:v>2.0661572747784799E-2</c:v>
                </c:pt>
                <c:pt idx="26">
                  <c:v>2.1131997562814898E-2</c:v>
                </c:pt>
                <c:pt idx="27">
                  <c:v>1.9632918587673898E-2</c:v>
                </c:pt>
                <c:pt idx="28">
                  <c:v>1.8331825804747001E-2</c:v>
                </c:pt>
                <c:pt idx="29">
                  <c:v>1.8906432407664899E-2</c:v>
                </c:pt>
                <c:pt idx="30">
                  <c:v>1.8669000371853501E-2</c:v>
                </c:pt>
                <c:pt idx="31">
                  <c:v>1.6050678316362098E-2</c:v>
                </c:pt>
                <c:pt idx="32">
                  <c:v>1.4831934780505301E-2</c:v>
                </c:pt>
                <c:pt idx="33">
                  <c:v>1.6058691183526201E-2</c:v>
                </c:pt>
                <c:pt idx="34">
                  <c:v>1.6697077694664299E-2</c:v>
                </c:pt>
                <c:pt idx="35">
                  <c:v>1.6176030883114801E-2</c:v>
                </c:pt>
                <c:pt idx="36">
                  <c:v>1.5849977078417201E-2</c:v>
                </c:pt>
                <c:pt idx="37">
                  <c:v>1.55432241290006E-2</c:v>
                </c:pt>
                <c:pt idx="38">
                  <c:v>1.5780549034031699E-2</c:v>
                </c:pt>
                <c:pt idx="39">
                  <c:v>1.5606632079750099E-2</c:v>
                </c:pt>
                <c:pt idx="40">
                  <c:v>1.6294352826003E-2</c:v>
                </c:pt>
                <c:pt idx="41">
                  <c:v>1.8174335500528001E-2</c:v>
                </c:pt>
                <c:pt idx="42">
                  <c:v>1.7975522842157501E-2</c:v>
                </c:pt>
                <c:pt idx="43">
                  <c:v>1.75274733531138E-2</c:v>
                </c:pt>
                <c:pt idx="44">
                  <c:v>1.8049062577908701E-2</c:v>
                </c:pt>
                <c:pt idx="45">
                  <c:v>1.8218072306683201E-2</c:v>
                </c:pt>
                <c:pt idx="46">
                  <c:v>1.8106452720528399E-2</c:v>
                </c:pt>
                <c:pt idx="47">
                  <c:v>1.9218681550226799E-2</c:v>
                </c:pt>
                <c:pt idx="48">
                  <c:v>2.0422342200062199E-2</c:v>
                </c:pt>
                <c:pt idx="49">
                  <c:v>2.1071832143085101E-2</c:v>
                </c:pt>
                <c:pt idx="50">
                  <c:v>2.2137845183631499E-2</c:v>
                </c:pt>
                <c:pt idx="51">
                  <c:v>2.07952481029351E-2</c:v>
                </c:pt>
                <c:pt idx="52">
                  <c:v>2.23409674352518E-2</c:v>
                </c:pt>
                <c:pt idx="53">
                  <c:v>2.4060060280724001E-2</c:v>
                </c:pt>
                <c:pt idx="54">
                  <c:v>2.5456936115817001E-2</c:v>
                </c:pt>
                <c:pt idx="55">
                  <c:v>2.48059395679785E-2</c:v>
                </c:pt>
                <c:pt idx="56">
                  <c:v>2.5406454290126099E-2</c:v>
                </c:pt>
                <c:pt idx="57">
                  <c:v>2.3507893875337998E-2</c:v>
                </c:pt>
                <c:pt idx="58">
                  <c:v>2.41539416329958E-2</c:v>
                </c:pt>
                <c:pt idx="59">
                  <c:v>1.9719070890697001E-2</c:v>
                </c:pt>
                <c:pt idx="60">
                  <c:v>1.9430117842498599E-2</c:v>
                </c:pt>
                <c:pt idx="61">
                  <c:v>1.65254347118865E-2</c:v>
                </c:pt>
                <c:pt idx="62">
                  <c:v>1.50068827988702E-2</c:v>
                </c:pt>
                <c:pt idx="63">
                  <c:v>1.3633996571414401E-2</c:v>
                </c:pt>
                <c:pt idx="64">
                  <c:v>1.35929357011554E-2</c:v>
                </c:pt>
                <c:pt idx="65">
                  <c:v>1.4091668990269699E-2</c:v>
                </c:pt>
                <c:pt idx="66">
                  <c:v>1.4663344961973499E-2</c:v>
                </c:pt>
                <c:pt idx="67">
                  <c:v>1.2793965938819299E-2</c:v>
                </c:pt>
                <c:pt idx="68">
                  <c:v>1.38638196736778E-2</c:v>
                </c:pt>
                <c:pt idx="69">
                  <c:v>1.39907857369967E-2</c:v>
                </c:pt>
                <c:pt idx="70">
                  <c:v>1.2143485589171599E-2</c:v>
                </c:pt>
                <c:pt idx="71">
                  <c:v>1.1109793158067399E-2</c:v>
                </c:pt>
                <c:pt idx="72">
                  <c:v>1.1418573341871499E-2</c:v>
                </c:pt>
                <c:pt idx="73">
                  <c:v>1.1449481001714499E-2</c:v>
                </c:pt>
                <c:pt idx="74">
                  <c:v>1.0724321486784E-2</c:v>
                </c:pt>
                <c:pt idx="75">
                  <c:v>9.1456582353529603E-3</c:v>
                </c:pt>
                <c:pt idx="76">
                  <c:v>1.08993077818714E-2</c:v>
                </c:pt>
                <c:pt idx="77">
                  <c:v>1.13315361956783E-2</c:v>
                </c:pt>
                <c:pt idx="78">
                  <c:v>1.17542416448183E-2</c:v>
                </c:pt>
                <c:pt idx="79">
                  <c:v>1.1259845690290701E-2</c:v>
                </c:pt>
                <c:pt idx="80">
                  <c:v>1.1614952330152899E-2</c:v>
                </c:pt>
                <c:pt idx="81">
                  <c:v>1.06424119489619E-2</c:v>
                </c:pt>
                <c:pt idx="82">
                  <c:v>1.05573524364265E-2</c:v>
                </c:pt>
                <c:pt idx="83">
                  <c:v>1.0941874131880001E-2</c:v>
                </c:pt>
                <c:pt idx="84">
                  <c:v>1.11922493066082E-2</c:v>
                </c:pt>
                <c:pt idx="85">
                  <c:v>1.08068737932689E-2</c:v>
                </c:pt>
                <c:pt idx="86">
                  <c:v>1.19301678722133E-2</c:v>
                </c:pt>
                <c:pt idx="87">
                  <c:v>1.1982081805722199E-2</c:v>
                </c:pt>
                <c:pt idx="88">
                  <c:v>1.16348044415624E-2</c:v>
                </c:pt>
                <c:pt idx="89">
                  <c:v>1.15064206683952E-2</c:v>
                </c:pt>
                <c:pt idx="90">
                  <c:v>1.14185357327672E-2</c:v>
                </c:pt>
                <c:pt idx="91">
                  <c:v>1.16788104740246E-2</c:v>
                </c:pt>
                <c:pt idx="92">
                  <c:v>1.09787728382045E-2</c:v>
                </c:pt>
                <c:pt idx="93">
                  <c:v>1.01283020433927E-2</c:v>
                </c:pt>
                <c:pt idx="94">
                  <c:v>1.13508512550948E-2</c:v>
                </c:pt>
                <c:pt idx="95">
                  <c:v>1.12627930078745E-2</c:v>
                </c:pt>
                <c:pt idx="96">
                  <c:v>1.23644975040067E-2</c:v>
                </c:pt>
                <c:pt idx="97">
                  <c:v>1.22665245776873E-2</c:v>
                </c:pt>
                <c:pt idx="98">
                  <c:v>1.3548661533222499E-2</c:v>
                </c:pt>
                <c:pt idx="99">
                  <c:v>1.35046347973401E-2</c:v>
                </c:pt>
                <c:pt idx="100">
                  <c:v>1.3295891282051799E-2</c:v>
                </c:pt>
                <c:pt idx="101">
                  <c:v>1.45289945276896E-2</c:v>
                </c:pt>
                <c:pt idx="102">
                  <c:v>1.41537331520687E-2</c:v>
                </c:pt>
                <c:pt idx="103">
                  <c:v>1.3330284117289501E-2</c:v>
                </c:pt>
                <c:pt idx="104">
                  <c:v>1.3541139321708799E-2</c:v>
                </c:pt>
                <c:pt idx="105">
                  <c:v>1.3375190108893801E-2</c:v>
                </c:pt>
                <c:pt idx="106">
                  <c:v>1.3368199117739499E-2</c:v>
                </c:pt>
                <c:pt idx="107">
                  <c:v>1.3247374772760801E-2</c:v>
                </c:pt>
                <c:pt idx="108">
                  <c:v>1.28225727158472E-2</c:v>
                </c:pt>
                <c:pt idx="109">
                  <c:v>1.34595905180787E-2</c:v>
                </c:pt>
                <c:pt idx="110">
                  <c:v>1.38760274451609E-2</c:v>
                </c:pt>
                <c:pt idx="111">
                  <c:v>1.4000643367963099E-2</c:v>
                </c:pt>
                <c:pt idx="112">
                  <c:v>1.4333792880612499E-2</c:v>
                </c:pt>
                <c:pt idx="113">
                  <c:v>1.36711529187892E-2</c:v>
                </c:pt>
                <c:pt idx="114">
                  <c:v>1.43868581919379E-2</c:v>
                </c:pt>
                <c:pt idx="115">
                  <c:v>1.44275123819479E-2</c:v>
                </c:pt>
                <c:pt idx="116">
                  <c:v>1.4271463873293099E-2</c:v>
                </c:pt>
                <c:pt idx="117">
                  <c:v>1.4186851428333201E-2</c:v>
                </c:pt>
                <c:pt idx="118">
                  <c:v>1.4205148918397199E-2</c:v>
                </c:pt>
                <c:pt idx="119">
                  <c:v>1.40763601235394E-2</c:v>
                </c:pt>
                <c:pt idx="120">
                  <c:v>1.4536398607508799E-2</c:v>
                </c:pt>
                <c:pt idx="121">
                  <c:v>1.5513831385549501E-2</c:v>
                </c:pt>
                <c:pt idx="122">
                  <c:v>1.4664753361722E-2</c:v>
                </c:pt>
                <c:pt idx="123">
                  <c:v>1.28803683488304E-2</c:v>
                </c:pt>
                <c:pt idx="124">
                  <c:v>1.3852929718571799E-2</c:v>
                </c:pt>
                <c:pt idx="125">
                  <c:v>1.51215279764365E-2</c:v>
                </c:pt>
                <c:pt idx="126">
                  <c:v>1.5960902616382399E-2</c:v>
                </c:pt>
                <c:pt idx="127">
                  <c:v>1.7515607394978299E-2</c:v>
                </c:pt>
                <c:pt idx="128">
                  <c:v>1.6092987998410201E-2</c:v>
                </c:pt>
                <c:pt idx="129">
                  <c:v>1.5423133326643799E-2</c:v>
                </c:pt>
                <c:pt idx="130">
                  <c:v>1.64709134882766E-2</c:v>
                </c:pt>
                <c:pt idx="131">
                  <c:v>1.73785950978117E-2</c:v>
                </c:pt>
                <c:pt idx="132">
                  <c:v>1.7042595501706601E-2</c:v>
                </c:pt>
                <c:pt idx="133">
                  <c:v>1.7496590906512201E-2</c:v>
                </c:pt>
                <c:pt idx="134">
                  <c:v>1.84803007349175E-2</c:v>
                </c:pt>
                <c:pt idx="135">
                  <c:v>1.7708516972218001E-2</c:v>
                </c:pt>
                <c:pt idx="136">
                  <c:v>1.7686077599562498E-2</c:v>
                </c:pt>
                <c:pt idx="137">
                  <c:v>1.7911224377334799E-2</c:v>
                </c:pt>
                <c:pt idx="138">
                  <c:v>1.7995520073933E-2</c:v>
                </c:pt>
                <c:pt idx="139">
                  <c:v>1.8702407855327199E-2</c:v>
                </c:pt>
                <c:pt idx="140">
                  <c:v>1.8273129064639401E-2</c:v>
                </c:pt>
                <c:pt idx="141">
                  <c:v>1.8941540337179898E-2</c:v>
                </c:pt>
                <c:pt idx="142">
                  <c:v>1.9426549529739E-2</c:v>
                </c:pt>
                <c:pt idx="143">
                  <c:v>1.7817477432637101E-2</c:v>
                </c:pt>
                <c:pt idx="144">
                  <c:v>1.75796444520223E-2</c:v>
                </c:pt>
                <c:pt idx="145">
                  <c:v>1.8308992119838299E-2</c:v>
                </c:pt>
                <c:pt idx="146">
                  <c:v>1.67906224223657E-2</c:v>
                </c:pt>
                <c:pt idx="147">
                  <c:v>1.64579390935898E-2</c:v>
                </c:pt>
              </c:numCache>
            </c:numRef>
          </c:val>
          <c:smooth val="0"/>
        </c:ser>
        <c:ser>
          <c:idx val="0"/>
          <c:order val="2"/>
          <c:tx>
            <c:strRef>
              <c:f>'[Universe Credit Availability with Non-Agency.xlsm]Time Series Query'!$U$4</c:f>
              <c:strCache>
                <c:ptCount val="1"/>
                <c:pt idx="0">
                  <c:v>FHA</c:v>
                </c:pt>
              </c:strCache>
            </c:strRef>
          </c:tx>
          <c:spPr>
            <a:ln w="28575">
              <a:solidFill>
                <a:srgbClr val="968A7E">
                  <a:alpha val="20000"/>
                </a:srgbClr>
              </a:solidFill>
            </a:ln>
          </c:spPr>
          <c:marker>
            <c:symbol val="none"/>
          </c:marker>
          <c:cat>
            <c:strRef>
              <c:f>'[Universe Credit Availability with Non-Agency.xlsm]Time Series Query'!$S$5:$S$152</c:f>
              <c:strCache>
                <c:ptCount val="148"/>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pt idx="147">
                  <c:v>2015-8</c:v>
                </c:pt>
              </c:strCache>
            </c:strRef>
          </c:cat>
          <c:val>
            <c:numRef>
              <c:f>'[Universe Credit Availability with Non-Agency.xlsm]Time Series Query'!$U$5:$U$152</c:f>
              <c:numCache>
                <c:formatCode>0%</c:formatCode>
                <c:ptCount val="148"/>
                <c:pt idx="0">
                  <c:v>9.4285995591371505E-2</c:v>
                </c:pt>
                <c:pt idx="1">
                  <c:v>8.5363662487838804E-2</c:v>
                </c:pt>
                <c:pt idx="2">
                  <c:v>9.1805440656946596E-2</c:v>
                </c:pt>
                <c:pt idx="3">
                  <c:v>9.2379201142605005E-2</c:v>
                </c:pt>
                <c:pt idx="4">
                  <c:v>7.25860078665896E-2</c:v>
                </c:pt>
                <c:pt idx="5">
                  <c:v>6.51072617401625E-2</c:v>
                </c:pt>
                <c:pt idx="6">
                  <c:v>8.6871460414936999E-2</c:v>
                </c:pt>
                <c:pt idx="7">
                  <c:v>9.0167160769596993E-2</c:v>
                </c:pt>
                <c:pt idx="8">
                  <c:v>9.1083275828594504E-2</c:v>
                </c:pt>
                <c:pt idx="9">
                  <c:v>8.9059484799799998E-2</c:v>
                </c:pt>
                <c:pt idx="10">
                  <c:v>9.1836813388869107E-2</c:v>
                </c:pt>
                <c:pt idx="11">
                  <c:v>9.4924068582742202E-2</c:v>
                </c:pt>
                <c:pt idx="12">
                  <c:v>9.9504059217308802E-2</c:v>
                </c:pt>
                <c:pt idx="13">
                  <c:v>8.4638727196081204E-2</c:v>
                </c:pt>
                <c:pt idx="14">
                  <c:v>7.7886223139598698E-2</c:v>
                </c:pt>
                <c:pt idx="15">
                  <c:v>9.0779477365927799E-2</c:v>
                </c:pt>
                <c:pt idx="16">
                  <c:v>9.7491194732257994E-2</c:v>
                </c:pt>
                <c:pt idx="17">
                  <c:v>9.4413817020581894E-2</c:v>
                </c:pt>
                <c:pt idx="18">
                  <c:v>9.8333062406187999E-2</c:v>
                </c:pt>
                <c:pt idx="19">
                  <c:v>9.2820204237606396E-2</c:v>
                </c:pt>
                <c:pt idx="20">
                  <c:v>9.4900478598202095E-2</c:v>
                </c:pt>
                <c:pt idx="21">
                  <c:v>9.1799771417411899E-2</c:v>
                </c:pt>
                <c:pt idx="22">
                  <c:v>9.1464698836870098E-2</c:v>
                </c:pt>
                <c:pt idx="23">
                  <c:v>9.2497341698870306E-2</c:v>
                </c:pt>
                <c:pt idx="24">
                  <c:v>8.1934200099123194E-2</c:v>
                </c:pt>
                <c:pt idx="25">
                  <c:v>9.0211093283241298E-2</c:v>
                </c:pt>
                <c:pt idx="26">
                  <c:v>9.2319504582030504E-2</c:v>
                </c:pt>
                <c:pt idx="27">
                  <c:v>9.6079655045307605E-2</c:v>
                </c:pt>
                <c:pt idx="28">
                  <c:v>8.5380791907585393E-2</c:v>
                </c:pt>
                <c:pt idx="29">
                  <c:v>9.0218440732812502E-2</c:v>
                </c:pt>
                <c:pt idx="30">
                  <c:v>9.2285525328509796E-2</c:v>
                </c:pt>
                <c:pt idx="31">
                  <c:v>8.2108794617635802E-2</c:v>
                </c:pt>
                <c:pt idx="32">
                  <c:v>8.7028492327789503E-2</c:v>
                </c:pt>
                <c:pt idx="33">
                  <c:v>8.9312436018572597E-2</c:v>
                </c:pt>
                <c:pt idx="34">
                  <c:v>9.2004736353106201E-2</c:v>
                </c:pt>
                <c:pt idx="35">
                  <c:v>9.0269691219839895E-2</c:v>
                </c:pt>
                <c:pt idx="36">
                  <c:v>9.0992959299858497E-2</c:v>
                </c:pt>
                <c:pt idx="37">
                  <c:v>8.7665901172641697E-2</c:v>
                </c:pt>
                <c:pt idx="38">
                  <c:v>9.4627360659875495E-2</c:v>
                </c:pt>
                <c:pt idx="39">
                  <c:v>9.7328657053947207E-2</c:v>
                </c:pt>
                <c:pt idx="40">
                  <c:v>0.106959828331922</c:v>
                </c:pt>
                <c:pt idx="41">
                  <c:v>0.111287570299785</c:v>
                </c:pt>
                <c:pt idx="42">
                  <c:v>0.10281303848291801</c:v>
                </c:pt>
                <c:pt idx="43">
                  <c:v>0.109423829061224</c:v>
                </c:pt>
                <c:pt idx="44">
                  <c:v>0.1093242256585</c:v>
                </c:pt>
                <c:pt idx="45">
                  <c:v>0.106621948942194</c:v>
                </c:pt>
                <c:pt idx="46">
                  <c:v>0.101950777887985</c:v>
                </c:pt>
                <c:pt idx="47">
                  <c:v>0.11322743894513</c:v>
                </c:pt>
                <c:pt idx="48">
                  <c:v>0.109331088924152</c:v>
                </c:pt>
                <c:pt idx="49">
                  <c:v>0.113390111014102</c:v>
                </c:pt>
                <c:pt idx="50">
                  <c:v>0.11526275108716</c:v>
                </c:pt>
                <c:pt idx="51">
                  <c:v>9.5228743774607896E-2</c:v>
                </c:pt>
                <c:pt idx="52">
                  <c:v>0.109100905383647</c:v>
                </c:pt>
                <c:pt idx="53">
                  <c:v>0.124191721531846</c:v>
                </c:pt>
                <c:pt idx="54">
                  <c:v>0.118620974906118</c:v>
                </c:pt>
                <c:pt idx="55">
                  <c:v>0.11454124774918099</c:v>
                </c:pt>
                <c:pt idx="56">
                  <c:v>0.118200880367063</c:v>
                </c:pt>
                <c:pt idx="57">
                  <c:v>0.116786543209285</c:v>
                </c:pt>
                <c:pt idx="58">
                  <c:v>0.128134201111163</c:v>
                </c:pt>
                <c:pt idx="59">
                  <c:v>0.112280776236066</c:v>
                </c:pt>
                <c:pt idx="60">
                  <c:v>0.10862820934442299</c:v>
                </c:pt>
                <c:pt idx="61">
                  <c:v>0.101027125337702</c:v>
                </c:pt>
                <c:pt idx="62">
                  <c:v>9.3804213372806602E-2</c:v>
                </c:pt>
                <c:pt idx="63">
                  <c:v>8.7395122950958998E-2</c:v>
                </c:pt>
                <c:pt idx="64">
                  <c:v>8.9057747301929793E-2</c:v>
                </c:pt>
                <c:pt idx="65">
                  <c:v>8.9562512546187495E-2</c:v>
                </c:pt>
                <c:pt idx="66">
                  <c:v>0.103351642697491</c:v>
                </c:pt>
                <c:pt idx="67">
                  <c:v>8.3829992538756004E-2</c:v>
                </c:pt>
                <c:pt idx="68">
                  <c:v>9.3076853520146705E-2</c:v>
                </c:pt>
                <c:pt idx="69">
                  <c:v>0.100196056372731</c:v>
                </c:pt>
                <c:pt idx="70">
                  <c:v>8.3237162808257104E-2</c:v>
                </c:pt>
                <c:pt idx="71">
                  <c:v>7.7152354316607705E-2</c:v>
                </c:pt>
                <c:pt idx="72">
                  <c:v>8.2111872443475398E-2</c:v>
                </c:pt>
                <c:pt idx="73">
                  <c:v>6.6489943042899999E-2</c:v>
                </c:pt>
                <c:pt idx="74">
                  <c:v>6.2301954306724798E-2</c:v>
                </c:pt>
                <c:pt idx="75">
                  <c:v>5.92673314950833E-2</c:v>
                </c:pt>
                <c:pt idx="76">
                  <c:v>6.8005277207944095E-2</c:v>
                </c:pt>
                <c:pt idx="77">
                  <c:v>7.0066056895199597E-2</c:v>
                </c:pt>
                <c:pt idx="78">
                  <c:v>7.18039593407441E-2</c:v>
                </c:pt>
                <c:pt idx="79">
                  <c:v>6.7916944669552101E-2</c:v>
                </c:pt>
                <c:pt idx="80">
                  <c:v>6.4104657785873306E-2</c:v>
                </c:pt>
                <c:pt idx="81">
                  <c:v>5.3141127900620498E-2</c:v>
                </c:pt>
                <c:pt idx="82">
                  <c:v>4.9614369155651102E-2</c:v>
                </c:pt>
                <c:pt idx="83">
                  <c:v>4.9938732237334402E-2</c:v>
                </c:pt>
                <c:pt idx="84">
                  <c:v>4.9433870902870103E-2</c:v>
                </c:pt>
                <c:pt idx="85">
                  <c:v>4.7935297916397397E-2</c:v>
                </c:pt>
                <c:pt idx="86">
                  <c:v>5.2223575477024303E-2</c:v>
                </c:pt>
                <c:pt idx="87">
                  <c:v>5.4351045253614699E-2</c:v>
                </c:pt>
                <c:pt idx="88">
                  <c:v>5.18039852039874E-2</c:v>
                </c:pt>
                <c:pt idx="89">
                  <c:v>4.9523196065882701E-2</c:v>
                </c:pt>
                <c:pt idx="90">
                  <c:v>4.8155285513132098E-2</c:v>
                </c:pt>
                <c:pt idx="91">
                  <c:v>4.8498782379219799E-2</c:v>
                </c:pt>
                <c:pt idx="92">
                  <c:v>4.5520286505032703E-2</c:v>
                </c:pt>
                <c:pt idx="93">
                  <c:v>4.0079471562488797E-2</c:v>
                </c:pt>
                <c:pt idx="94">
                  <c:v>4.3811617029674503E-2</c:v>
                </c:pt>
                <c:pt idx="95">
                  <c:v>4.3426562211492999E-2</c:v>
                </c:pt>
                <c:pt idx="96">
                  <c:v>4.7030864544221701E-2</c:v>
                </c:pt>
                <c:pt idx="97">
                  <c:v>4.7169554670103801E-2</c:v>
                </c:pt>
                <c:pt idx="98">
                  <c:v>5.01318953503316E-2</c:v>
                </c:pt>
                <c:pt idx="99">
                  <c:v>4.9767969979469202E-2</c:v>
                </c:pt>
                <c:pt idx="100">
                  <c:v>4.8609534038481103E-2</c:v>
                </c:pt>
                <c:pt idx="101">
                  <c:v>5.28969377612565E-2</c:v>
                </c:pt>
                <c:pt idx="102">
                  <c:v>5.2062657199863797E-2</c:v>
                </c:pt>
                <c:pt idx="103">
                  <c:v>4.88513891385828E-2</c:v>
                </c:pt>
                <c:pt idx="104">
                  <c:v>4.9178067070710603E-2</c:v>
                </c:pt>
                <c:pt idx="105">
                  <c:v>4.9578391995180202E-2</c:v>
                </c:pt>
                <c:pt idx="106">
                  <c:v>4.9470745177948798E-2</c:v>
                </c:pt>
                <c:pt idx="107">
                  <c:v>4.8345406248694399E-2</c:v>
                </c:pt>
                <c:pt idx="108">
                  <c:v>4.7200576073014297E-2</c:v>
                </c:pt>
                <c:pt idx="109">
                  <c:v>4.87455541273265E-2</c:v>
                </c:pt>
                <c:pt idx="110">
                  <c:v>5.01526295017918E-2</c:v>
                </c:pt>
                <c:pt idx="111">
                  <c:v>5.0920901691329901E-2</c:v>
                </c:pt>
                <c:pt idx="112">
                  <c:v>5.1164146729042799E-2</c:v>
                </c:pt>
                <c:pt idx="113">
                  <c:v>4.8689499032941203E-2</c:v>
                </c:pt>
                <c:pt idx="114">
                  <c:v>5.0126620688003297E-2</c:v>
                </c:pt>
                <c:pt idx="115">
                  <c:v>5.01747604460736E-2</c:v>
                </c:pt>
                <c:pt idx="116">
                  <c:v>4.9156981992146E-2</c:v>
                </c:pt>
                <c:pt idx="117">
                  <c:v>4.83999856771603E-2</c:v>
                </c:pt>
                <c:pt idx="118">
                  <c:v>4.8162877188679197E-2</c:v>
                </c:pt>
                <c:pt idx="119">
                  <c:v>4.7048443962686003E-2</c:v>
                </c:pt>
                <c:pt idx="120">
                  <c:v>4.8564626706116498E-2</c:v>
                </c:pt>
                <c:pt idx="121">
                  <c:v>5.0915054900666903E-2</c:v>
                </c:pt>
                <c:pt idx="122">
                  <c:v>4.8400476857025899E-2</c:v>
                </c:pt>
                <c:pt idx="123">
                  <c:v>4.3075210687433897E-2</c:v>
                </c:pt>
                <c:pt idx="124">
                  <c:v>4.59432838113287E-2</c:v>
                </c:pt>
                <c:pt idx="125">
                  <c:v>5.0301606990154298E-2</c:v>
                </c:pt>
                <c:pt idx="126">
                  <c:v>5.28326536481473E-2</c:v>
                </c:pt>
                <c:pt idx="127">
                  <c:v>5.8020706017923598E-2</c:v>
                </c:pt>
                <c:pt idx="128">
                  <c:v>5.3732575289805497E-2</c:v>
                </c:pt>
                <c:pt idx="129">
                  <c:v>5.0638509422985097E-2</c:v>
                </c:pt>
                <c:pt idx="130">
                  <c:v>5.3963745614458901E-2</c:v>
                </c:pt>
                <c:pt idx="131">
                  <c:v>5.64173982878792E-2</c:v>
                </c:pt>
                <c:pt idx="132">
                  <c:v>5.6079401787069001E-2</c:v>
                </c:pt>
                <c:pt idx="133">
                  <c:v>5.7150634619079502E-2</c:v>
                </c:pt>
                <c:pt idx="134">
                  <c:v>6.0279482404130599E-2</c:v>
                </c:pt>
                <c:pt idx="135">
                  <c:v>5.9039886698822097E-2</c:v>
                </c:pt>
                <c:pt idx="136">
                  <c:v>5.9232734324811201E-2</c:v>
                </c:pt>
                <c:pt idx="137">
                  <c:v>6.0455601405621499E-2</c:v>
                </c:pt>
                <c:pt idx="138">
                  <c:v>5.9874562188320497E-2</c:v>
                </c:pt>
                <c:pt idx="139">
                  <c:v>6.2400887079476899E-2</c:v>
                </c:pt>
                <c:pt idx="140">
                  <c:v>6.0841622906473401E-2</c:v>
                </c:pt>
                <c:pt idx="141">
                  <c:v>6.2622998242086406E-2</c:v>
                </c:pt>
                <c:pt idx="142">
                  <c:v>6.6263717165098004E-2</c:v>
                </c:pt>
                <c:pt idx="143">
                  <c:v>6.1486236715359202E-2</c:v>
                </c:pt>
                <c:pt idx="144">
                  <c:v>6.0306400919081203E-2</c:v>
                </c:pt>
                <c:pt idx="145">
                  <c:v>6.1448839793864403E-2</c:v>
                </c:pt>
                <c:pt idx="146">
                  <c:v>5.5814197233407602E-2</c:v>
                </c:pt>
                <c:pt idx="147">
                  <c:v>5.4443951953697202E-2</c:v>
                </c:pt>
              </c:numCache>
            </c:numRef>
          </c:val>
          <c:smooth val="0"/>
        </c:ser>
        <c:ser>
          <c:idx val="2"/>
          <c:order val="3"/>
          <c:tx>
            <c:strRef>
              <c:f>'[Universe Credit Availability with Non-Agency.xlsm]Time Series Query'!$V$4</c:f>
              <c:strCache>
                <c:ptCount val="1"/>
                <c:pt idx="0">
                  <c:v>VA</c:v>
                </c:pt>
              </c:strCache>
            </c:strRef>
          </c:tx>
          <c:spPr>
            <a:ln w="28575">
              <a:solidFill>
                <a:srgbClr val="2E8A60">
                  <a:alpha val="20000"/>
                </a:srgbClr>
              </a:solidFill>
            </a:ln>
          </c:spPr>
          <c:marker>
            <c:symbol val="none"/>
          </c:marker>
          <c:cat>
            <c:strRef>
              <c:f>'[Universe Credit Availability with Non-Agency.xlsm]Time Series Query'!$S$5:$S$152</c:f>
              <c:strCache>
                <c:ptCount val="148"/>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pt idx="147">
                  <c:v>2015-8</c:v>
                </c:pt>
              </c:strCache>
            </c:strRef>
          </c:cat>
          <c:val>
            <c:numRef>
              <c:f>'[Universe Credit Availability with Non-Agency.xlsm]Time Series Query'!$V$5:$V$152</c:f>
              <c:numCache>
                <c:formatCode>0%</c:formatCode>
                <c:ptCount val="148"/>
                <c:pt idx="0">
                  <c:v>7.43698517370701E-2</c:v>
                </c:pt>
                <c:pt idx="1">
                  <c:v>7.30825171843862E-2</c:v>
                </c:pt>
                <c:pt idx="2">
                  <c:v>7.5057002809456902E-2</c:v>
                </c:pt>
                <c:pt idx="3">
                  <c:v>7.2909944145716804E-2</c:v>
                </c:pt>
                <c:pt idx="4">
                  <c:v>5.9572386776244698E-2</c:v>
                </c:pt>
                <c:pt idx="5">
                  <c:v>5.8551251558796702E-2</c:v>
                </c:pt>
                <c:pt idx="6">
                  <c:v>7.5610136798633196E-2</c:v>
                </c:pt>
                <c:pt idx="7">
                  <c:v>7.7229764557536801E-2</c:v>
                </c:pt>
                <c:pt idx="8">
                  <c:v>7.3919928128802895E-2</c:v>
                </c:pt>
                <c:pt idx="9">
                  <c:v>7.5837312969968707E-2</c:v>
                </c:pt>
                <c:pt idx="10">
                  <c:v>6.9937168914830303E-2</c:v>
                </c:pt>
                <c:pt idx="11">
                  <c:v>7.4150153276567904E-2</c:v>
                </c:pt>
                <c:pt idx="12">
                  <c:v>8.2929537204315798E-2</c:v>
                </c:pt>
                <c:pt idx="13">
                  <c:v>7.4392139597998494E-2</c:v>
                </c:pt>
                <c:pt idx="14">
                  <c:v>6.5266934728069798E-2</c:v>
                </c:pt>
                <c:pt idx="15">
                  <c:v>6.6895577239321505E-2</c:v>
                </c:pt>
                <c:pt idx="16">
                  <c:v>8.3094273500979796E-2</c:v>
                </c:pt>
                <c:pt idx="17">
                  <c:v>8.1387626202597499E-2</c:v>
                </c:pt>
                <c:pt idx="18">
                  <c:v>8.7159265808458106E-2</c:v>
                </c:pt>
                <c:pt idx="19">
                  <c:v>7.2886696269449006E-2</c:v>
                </c:pt>
                <c:pt idx="20">
                  <c:v>7.5690097036033105E-2</c:v>
                </c:pt>
                <c:pt idx="21">
                  <c:v>7.5038770054298307E-2</c:v>
                </c:pt>
                <c:pt idx="22">
                  <c:v>7.3859808783187805E-2</c:v>
                </c:pt>
                <c:pt idx="23">
                  <c:v>7.1507871154995101E-2</c:v>
                </c:pt>
                <c:pt idx="24">
                  <c:v>6.8831034977123506E-2</c:v>
                </c:pt>
                <c:pt idx="25">
                  <c:v>7.2760553043788298E-2</c:v>
                </c:pt>
                <c:pt idx="26">
                  <c:v>8.0514821186880595E-2</c:v>
                </c:pt>
                <c:pt idx="27">
                  <c:v>8.0042668586271001E-2</c:v>
                </c:pt>
                <c:pt idx="28">
                  <c:v>7.3908989895033E-2</c:v>
                </c:pt>
                <c:pt idx="29">
                  <c:v>7.7491922918333095E-2</c:v>
                </c:pt>
                <c:pt idx="30">
                  <c:v>7.1121707446048593E-2</c:v>
                </c:pt>
                <c:pt idx="31">
                  <c:v>7.8070969779932997E-2</c:v>
                </c:pt>
                <c:pt idx="32">
                  <c:v>6.7199163700533596E-2</c:v>
                </c:pt>
                <c:pt idx="33">
                  <c:v>7.3484219548732604E-2</c:v>
                </c:pt>
                <c:pt idx="34">
                  <c:v>7.29966124505744E-2</c:v>
                </c:pt>
                <c:pt idx="35">
                  <c:v>7.5604220137534706E-2</c:v>
                </c:pt>
                <c:pt idx="36">
                  <c:v>8.5117661602461606E-2</c:v>
                </c:pt>
                <c:pt idx="37">
                  <c:v>7.3721687246315296E-2</c:v>
                </c:pt>
                <c:pt idx="38">
                  <c:v>7.1097707040510896E-2</c:v>
                </c:pt>
                <c:pt idx="39">
                  <c:v>8.2438738787264404E-2</c:v>
                </c:pt>
                <c:pt idx="40">
                  <c:v>8.2438738787264404E-2</c:v>
                </c:pt>
                <c:pt idx="41">
                  <c:v>9.04030528968605E-2</c:v>
                </c:pt>
                <c:pt idx="42">
                  <c:v>0.101077691508849</c:v>
                </c:pt>
                <c:pt idx="43">
                  <c:v>8.2485989149712502E-2</c:v>
                </c:pt>
                <c:pt idx="44">
                  <c:v>8.7345811231672704E-2</c:v>
                </c:pt>
                <c:pt idx="45">
                  <c:v>8.8833892051242799E-2</c:v>
                </c:pt>
                <c:pt idx="46">
                  <c:v>8.8833892051242799E-2</c:v>
                </c:pt>
                <c:pt idx="47">
                  <c:v>8.5720663516440795E-2</c:v>
                </c:pt>
                <c:pt idx="48">
                  <c:v>9.4059593281205903E-2</c:v>
                </c:pt>
                <c:pt idx="49">
                  <c:v>7.6040970936058994E-2</c:v>
                </c:pt>
                <c:pt idx="50">
                  <c:v>9.0262087142296804E-2</c:v>
                </c:pt>
                <c:pt idx="51">
                  <c:v>7.3171463970122794E-2</c:v>
                </c:pt>
                <c:pt idx="52">
                  <c:v>7.3171463970122794E-2</c:v>
                </c:pt>
                <c:pt idx="53">
                  <c:v>9.9820189534489706E-2</c:v>
                </c:pt>
                <c:pt idx="54">
                  <c:v>9.9820189534489706E-2</c:v>
                </c:pt>
                <c:pt idx="55">
                  <c:v>0.103616622616662</c:v>
                </c:pt>
                <c:pt idx="56">
                  <c:v>8.5858970649299801E-2</c:v>
                </c:pt>
                <c:pt idx="57">
                  <c:v>9.1688117328369095E-2</c:v>
                </c:pt>
                <c:pt idx="58">
                  <c:v>0.11098315619719901</c:v>
                </c:pt>
                <c:pt idx="59">
                  <c:v>9.3530245327451605E-2</c:v>
                </c:pt>
                <c:pt idx="60">
                  <c:v>9.4390282645507598E-2</c:v>
                </c:pt>
                <c:pt idx="61">
                  <c:v>7.7078342061616595E-2</c:v>
                </c:pt>
                <c:pt idx="62">
                  <c:v>7.5508534809422503E-2</c:v>
                </c:pt>
                <c:pt idx="63">
                  <c:v>7.3574608785366299E-2</c:v>
                </c:pt>
                <c:pt idx="64">
                  <c:v>7.8305822025021996E-2</c:v>
                </c:pt>
                <c:pt idx="65">
                  <c:v>7.4692912532645095E-2</c:v>
                </c:pt>
                <c:pt idx="66">
                  <c:v>0.103441437654216</c:v>
                </c:pt>
                <c:pt idx="67">
                  <c:v>7.9089503798013702E-2</c:v>
                </c:pt>
                <c:pt idx="68">
                  <c:v>8.5495306297522E-2</c:v>
                </c:pt>
                <c:pt idx="69">
                  <c:v>8.9137877795202894E-2</c:v>
                </c:pt>
                <c:pt idx="70">
                  <c:v>6.4262861829081905E-2</c:v>
                </c:pt>
                <c:pt idx="71">
                  <c:v>5.8657409652671001E-2</c:v>
                </c:pt>
                <c:pt idx="72">
                  <c:v>6.7690700362425998E-2</c:v>
                </c:pt>
                <c:pt idx="73">
                  <c:v>6.2547871487745293E-2</c:v>
                </c:pt>
                <c:pt idx="74">
                  <c:v>6.3204319708041495E-2</c:v>
                </c:pt>
                <c:pt idx="75">
                  <c:v>4.9912524929129003E-2</c:v>
                </c:pt>
                <c:pt idx="76">
                  <c:v>6.14172208510139E-2</c:v>
                </c:pt>
                <c:pt idx="77">
                  <c:v>6.1390904287183197E-2</c:v>
                </c:pt>
                <c:pt idx="78">
                  <c:v>6.7723009407227197E-2</c:v>
                </c:pt>
                <c:pt idx="79">
                  <c:v>6.9173427498785203E-2</c:v>
                </c:pt>
                <c:pt idx="80">
                  <c:v>6.7441193636602101E-2</c:v>
                </c:pt>
                <c:pt idx="81">
                  <c:v>5.8153942835834402E-2</c:v>
                </c:pt>
                <c:pt idx="82">
                  <c:v>5.42370628751601E-2</c:v>
                </c:pt>
                <c:pt idx="83">
                  <c:v>5.7537915234067899E-2</c:v>
                </c:pt>
                <c:pt idx="84">
                  <c:v>5.5631148970286398E-2</c:v>
                </c:pt>
                <c:pt idx="85">
                  <c:v>5.4544830915257102E-2</c:v>
                </c:pt>
                <c:pt idx="86">
                  <c:v>5.9673922576363399E-2</c:v>
                </c:pt>
                <c:pt idx="87">
                  <c:v>6.0916811511753502E-2</c:v>
                </c:pt>
                <c:pt idx="88">
                  <c:v>5.5588128111664102E-2</c:v>
                </c:pt>
                <c:pt idx="89">
                  <c:v>5.3804484253040998E-2</c:v>
                </c:pt>
                <c:pt idx="90">
                  <c:v>5.1146297447306997E-2</c:v>
                </c:pt>
                <c:pt idx="91">
                  <c:v>5.3530082124945297E-2</c:v>
                </c:pt>
                <c:pt idx="92">
                  <c:v>4.8276735846155397E-2</c:v>
                </c:pt>
                <c:pt idx="93">
                  <c:v>4.2674310047092101E-2</c:v>
                </c:pt>
                <c:pt idx="94">
                  <c:v>4.7347657775073798E-2</c:v>
                </c:pt>
                <c:pt idx="95">
                  <c:v>4.6889622090334801E-2</c:v>
                </c:pt>
                <c:pt idx="96">
                  <c:v>5.1291471977601498E-2</c:v>
                </c:pt>
                <c:pt idx="97">
                  <c:v>5.1146663651552397E-2</c:v>
                </c:pt>
                <c:pt idx="98">
                  <c:v>5.2659002166967103E-2</c:v>
                </c:pt>
                <c:pt idx="99">
                  <c:v>5.0209840006234303E-2</c:v>
                </c:pt>
                <c:pt idx="100">
                  <c:v>4.7379612469321097E-2</c:v>
                </c:pt>
                <c:pt idx="101">
                  <c:v>5.1907866082719203E-2</c:v>
                </c:pt>
                <c:pt idx="102">
                  <c:v>5.1315061043071201E-2</c:v>
                </c:pt>
                <c:pt idx="103">
                  <c:v>4.6816733514231698E-2</c:v>
                </c:pt>
                <c:pt idx="104">
                  <c:v>4.6387119469580601E-2</c:v>
                </c:pt>
                <c:pt idx="105">
                  <c:v>4.71167468684561E-2</c:v>
                </c:pt>
                <c:pt idx="106">
                  <c:v>4.6752001158217198E-2</c:v>
                </c:pt>
                <c:pt idx="107">
                  <c:v>4.5729186390120899E-2</c:v>
                </c:pt>
                <c:pt idx="108">
                  <c:v>4.3987919201613497E-2</c:v>
                </c:pt>
                <c:pt idx="109">
                  <c:v>4.4928326738978099E-2</c:v>
                </c:pt>
                <c:pt idx="110">
                  <c:v>4.52225899073396E-2</c:v>
                </c:pt>
                <c:pt idx="111">
                  <c:v>4.48731934408561E-2</c:v>
                </c:pt>
                <c:pt idx="112">
                  <c:v>4.5942757786631101E-2</c:v>
                </c:pt>
                <c:pt idx="113">
                  <c:v>4.3904772572709201E-2</c:v>
                </c:pt>
                <c:pt idx="114">
                  <c:v>4.4982903840556802E-2</c:v>
                </c:pt>
                <c:pt idx="115">
                  <c:v>4.4889553215802097E-2</c:v>
                </c:pt>
                <c:pt idx="116">
                  <c:v>4.39098469008933E-2</c:v>
                </c:pt>
                <c:pt idx="117">
                  <c:v>4.4121631138438998E-2</c:v>
                </c:pt>
                <c:pt idx="118">
                  <c:v>4.3393988731490002E-2</c:v>
                </c:pt>
                <c:pt idx="119">
                  <c:v>4.2668851038634797E-2</c:v>
                </c:pt>
                <c:pt idx="120">
                  <c:v>4.2284506095958602E-2</c:v>
                </c:pt>
                <c:pt idx="121">
                  <c:v>4.3999613211472499E-2</c:v>
                </c:pt>
                <c:pt idx="122">
                  <c:v>4.0382987212321503E-2</c:v>
                </c:pt>
                <c:pt idx="123">
                  <c:v>3.4542716001929402E-2</c:v>
                </c:pt>
                <c:pt idx="124">
                  <c:v>3.6128492494755901E-2</c:v>
                </c:pt>
                <c:pt idx="125">
                  <c:v>3.97317518471954E-2</c:v>
                </c:pt>
                <c:pt idx="126">
                  <c:v>4.2534373017318799E-2</c:v>
                </c:pt>
                <c:pt idx="127">
                  <c:v>4.6547078626505201E-2</c:v>
                </c:pt>
                <c:pt idx="128">
                  <c:v>4.33860973163313E-2</c:v>
                </c:pt>
                <c:pt idx="129">
                  <c:v>3.9774229888142401E-2</c:v>
                </c:pt>
                <c:pt idx="130">
                  <c:v>4.1916679311245E-2</c:v>
                </c:pt>
                <c:pt idx="131">
                  <c:v>4.4487411594855697E-2</c:v>
                </c:pt>
                <c:pt idx="132">
                  <c:v>4.3190796110447502E-2</c:v>
                </c:pt>
                <c:pt idx="133">
                  <c:v>4.3374642953449401E-2</c:v>
                </c:pt>
                <c:pt idx="134">
                  <c:v>4.57339776962047E-2</c:v>
                </c:pt>
                <c:pt idx="135">
                  <c:v>4.34006018726504E-2</c:v>
                </c:pt>
                <c:pt idx="136">
                  <c:v>4.3732377941726401E-2</c:v>
                </c:pt>
                <c:pt idx="137">
                  <c:v>4.4866368406642501E-2</c:v>
                </c:pt>
                <c:pt idx="138">
                  <c:v>4.4860699739032402E-2</c:v>
                </c:pt>
                <c:pt idx="139">
                  <c:v>4.68738925155835E-2</c:v>
                </c:pt>
                <c:pt idx="140">
                  <c:v>4.65732522111236E-2</c:v>
                </c:pt>
                <c:pt idx="141">
                  <c:v>4.7552411446694302E-2</c:v>
                </c:pt>
                <c:pt idx="142">
                  <c:v>4.9418960876341803E-2</c:v>
                </c:pt>
                <c:pt idx="143">
                  <c:v>4.7615630618715099E-2</c:v>
                </c:pt>
                <c:pt idx="144">
                  <c:v>4.77608855292758E-2</c:v>
                </c:pt>
                <c:pt idx="145">
                  <c:v>4.8892254020369799E-2</c:v>
                </c:pt>
                <c:pt idx="146">
                  <c:v>4.4194488795020699E-2</c:v>
                </c:pt>
                <c:pt idx="147">
                  <c:v>4.2568873743144303E-2</c:v>
                </c:pt>
              </c:numCache>
            </c:numRef>
          </c:val>
          <c:smooth val="0"/>
        </c:ser>
        <c:ser>
          <c:idx val="4"/>
          <c:order val="4"/>
          <c:tx>
            <c:strRef>
              <c:f>'[Universe Credit Availability with Non-Agency.xlsm]Time Series Query'!$AF$4</c:f>
              <c:strCache>
                <c:ptCount val="1"/>
                <c:pt idx="0">
                  <c:v>Non-Agency</c:v>
                </c:pt>
              </c:strCache>
            </c:strRef>
          </c:tx>
          <c:spPr>
            <a:ln w="28575">
              <a:solidFill>
                <a:srgbClr val="C7732D">
                  <a:alpha val="20000"/>
                </a:srgbClr>
              </a:solidFill>
            </a:ln>
          </c:spPr>
          <c:marker>
            <c:symbol val="none"/>
          </c:marker>
          <c:val>
            <c:numRef>
              <c:f>'[Universe Credit Availability with Non-Agency.xlsm]Time Series Query'!$AF$5:$AF$152</c:f>
              <c:numCache>
                <c:formatCode>0%</c:formatCode>
                <c:ptCount val="148"/>
                <c:pt idx="0">
                  <c:v>7.7824177103153092E-2</c:v>
                </c:pt>
                <c:pt idx="1">
                  <c:v>7.1358959291158958E-2</c:v>
                </c:pt>
                <c:pt idx="2">
                  <c:v>7.6793357724787223E-2</c:v>
                </c:pt>
                <c:pt idx="3">
                  <c:v>7.6733462810922914E-2</c:v>
                </c:pt>
                <c:pt idx="4">
                  <c:v>6.066095179882252E-2</c:v>
                </c:pt>
                <c:pt idx="5">
                  <c:v>5.480164230099957E-2</c:v>
                </c:pt>
                <c:pt idx="6">
                  <c:v>7.2760631964516209E-2</c:v>
                </c:pt>
                <c:pt idx="7">
                  <c:v>7.5230537829138605E-2</c:v>
                </c:pt>
                <c:pt idx="8">
                  <c:v>0.10334777063781739</c:v>
                </c:pt>
                <c:pt idx="9">
                  <c:v>0.10088804621320677</c:v>
                </c:pt>
                <c:pt idx="10">
                  <c:v>0.10383088033362174</c:v>
                </c:pt>
                <c:pt idx="11">
                  <c:v>0.10733678025975589</c:v>
                </c:pt>
                <c:pt idx="12">
                  <c:v>0.1120350750652756</c:v>
                </c:pt>
                <c:pt idx="13">
                  <c:v>9.4878131876538763E-2</c:v>
                </c:pt>
                <c:pt idx="14">
                  <c:v>8.7859072437819943E-2</c:v>
                </c:pt>
                <c:pt idx="15">
                  <c:v>0.10268738244677898</c:v>
                </c:pt>
                <c:pt idx="16">
                  <c:v>0.11074123639427098</c:v>
                </c:pt>
                <c:pt idx="17">
                  <c:v>0.10727791972501544</c:v>
                </c:pt>
                <c:pt idx="18">
                  <c:v>0.1109787336730111</c:v>
                </c:pt>
                <c:pt idx="19">
                  <c:v>0.10501764441186244</c:v>
                </c:pt>
                <c:pt idx="20">
                  <c:v>0.10833392017300383</c:v>
                </c:pt>
                <c:pt idx="21">
                  <c:v>0.10497443807432763</c:v>
                </c:pt>
                <c:pt idx="22">
                  <c:v>0.10451116389871906</c:v>
                </c:pt>
                <c:pt idx="23">
                  <c:v>0.10537057391043606</c:v>
                </c:pt>
                <c:pt idx="24">
                  <c:v>9.3557140712491327E-2</c:v>
                </c:pt>
                <c:pt idx="25">
                  <c:v>0.10333135069206334</c:v>
                </c:pt>
                <c:pt idx="26">
                  <c:v>0.10574038769298352</c:v>
                </c:pt>
                <c:pt idx="27">
                  <c:v>0.10890847990506893</c:v>
                </c:pt>
                <c:pt idx="28">
                  <c:v>9.7208176775220256E-2</c:v>
                </c:pt>
                <c:pt idx="29">
                  <c:v>0.10249202985670457</c:v>
                </c:pt>
                <c:pt idx="30">
                  <c:v>0.1045167279797331</c:v>
                </c:pt>
                <c:pt idx="31">
                  <c:v>9.2721175077575588E-2</c:v>
                </c:pt>
                <c:pt idx="32">
                  <c:v>0.10089952930757218</c:v>
                </c:pt>
                <c:pt idx="33">
                  <c:v>0.1039323024557527</c:v>
                </c:pt>
                <c:pt idx="34">
                  <c:v>0.10713621013333896</c:v>
                </c:pt>
                <c:pt idx="35">
                  <c:v>0.10502108577855535</c:v>
                </c:pt>
                <c:pt idx="36">
                  <c:v>0.10565318871155224</c:v>
                </c:pt>
                <c:pt idx="37">
                  <c:v>0.10191542857023456</c:v>
                </c:pt>
                <c:pt idx="38">
                  <c:v>0.10955037189117728</c:v>
                </c:pt>
                <c:pt idx="39">
                  <c:v>0.11239078452739568</c:v>
                </c:pt>
                <c:pt idx="40">
                  <c:v>0.12311884138699815</c:v>
                </c:pt>
                <c:pt idx="41">
                  <c:v>0.12866125717568586</c:v>
                </c:pt>
                <c:pt idx="42">
                  <c:v>0.11940825480090264</c:v>
                </c:pt>
                <c:pt idx="43">
                  <c:v>0.12634919485005119</c:v>
                </c:pt>
                <c:pt idx="44">
                  <c:v>9.9003484200502673E-2</c:v>
                </c:pt>
                <c:pt idx="45">
                  <c:v>9.692321199006898E-2</c:v>
                </c:pt>
                <c:pt idx="46">
                  <c:v>9.3086417528529086E-2</c:v>
                </c:pt>
                <c:pt idx="47">
                  <c:v>0.10285147085944167</c:v>
                </c:pt>
                <c:pt idx="48">
                  <c:v>0.10042453631609098</c:v>
                </c:pt>
                <c:pt idx="49">
                  <c:v>0.1040880558252246</c:v>
                </c:pt>
                <c:pt idx="50">
                  <c:v>0.10623532100849781</c:v>
                </c:pt>
                <c:pt idx="51">
                  <c:v>8.9264591663258466E-2</c:v>
                </c:pt>
                <c:pt idx="52">
                  <c:v>0.1013830890993499</c:v>
                </c:pt>
                <c:pt idx="53">
                  <c:v>0.11458859989276945</c:v>
                </c:pt>
                <c:pt idx="54">
                  <c:v>0.11092545822794678</c:v>
                </c:pt>
                <c:pt idx="55">
                  <c:v>0.10724432853988387</c:v>
                </c:pt>
                <c:pt idx="56">
                  <c:v>8.2362242532678209E-2</c:v>
                </c:pt>
                <c:pt idx="57">
                  <c:v>8.0212608426885282E-2</c:v>
                </c:pt>
                <c:pt idx="58">
                  <c:v>8.6810605841158545E-2</c:v>
                </c:pt>
                <c:pt idx="59">
                  <c:v>7.5013973894274541E-2</c:v>
                </c:pt>
                <c:pt idx="60">
                  <c:v>7.2831082488138368E-2</c:v>
                </c:pt>
                <c:pt idx="61">
                  <c:v>6.6606832886087541E-2</c:v>
                </c:pt>
                <c:pt idx="62">
                  <c:v>6.1598710612714928E-2</c:v>
                </c:pt>
                <c:pt idx="63">
                  <c:v>5.7136297004188374E-2</c:v>
                </c:pt>
                <c:pt idx="64">
                  <c:v>5.8003933196363884E-2</c:v>
                </c:pt>
                <c:pt idx="65">
                  <c:v>5.8640550392064991E-2</c:v>
                </c:pt>
                <c:pt idx="66">
                  <c:v>6.650234728744818E-2</c:v>
                </c:pt>
                <c:pt idx="67">
                  <c:v>5.4598290123497088E-2</c:v>
                </c:pt>
                <c:pt idx="68">
                  <c:v>2.5135120716353588E-2</c:v>
                </c:pt>
                <c:pt idx="69">
                  <c:v>2.6185265073999101E-2</c:v>
                </c:pt>
                <c:pt idx="70">
                  <c:v>2.2239895684418313E-2</c:v>
                </c:pt>
                <c:pt idx="71">
                  <c:v>2.0477684824665866E-2</c:v>
                </c:pt>
                <c:pt idx="72">
                  <c:v>2.141517334949351E-2</c:v>
                </c:pt>
                <c:pt idx="73">
                  <c:v>1.9400068250206074E-2</c:v>
                </c:pt>
                <c:pt idx="74">
                  <c:v>1.8174387934322869E-2</c:v>
                </c:pt>
                <c:pt idx="75">
                  <c:v>1.6301948266041703E-2</c:v>
                </c:pt>
                <c:pt idx="76">
                  <c:v>1.9084155692508011E-2</c:v>
                </c:pt>
                <c:pt idx="77">
                  <c:v>1.9757742206547892E-2</c:v>
                </c:pt>
                <c:pt idx="78">
                  <c:v>2.0380183133198573E-2</c:v>
                </c:pt>
                <c:pt idx="79">
                  <c:v>1.9409549480399996E-2</c:v>
                </c:pt>
                <c:pt idx="80">
                  <c:v>1.7861078932381133E-2</c:v>
                </c:pt>
                <c:pt idx="81">
                  <c:v>1.5765975012476851E-2</c:v>
                </c:pt>
                <c:pt idx="82">
                  <c:v>1.5307605251151983E-2</c:v>
                </c:pt>
                <c:pt idx="83">
                  <c:v>1.5706280757386545E-2</c:v>
                </c:pt>
                <c:pt idx="84">
                  <c:v>1.5889150690490274E-2</c:v>
                </c:pt>
                <c:pt idx="85">
                  <c:v>1.5363858902529216E-2</c:v>
                </c:pt>
                <c:pt idx="86">
                  <c:v>1.6886434823025903E-2</c:v>
                </c:pt>
                <c:pt idx="87">
                  <c:v>1.7163510843302941E-2</c:v>
                </c:pt>
                <c:pt idx="88">
                  <c:v>1.6561938332620204E-2</c:v>
                </c:pt>
                <c:pt idx="89">
                  <c:v>1.619606199679003E-2</c:v>
                </c:pt>
                <c:pt idx="90">
                  <c:v>1.5966323337775964E-2</c:v>
                </c:pt>
                <c:pt idx="91">
                  <c:v>1.6249458024975402E-2</c:v>
                </c:pt>
                <c:pt idx="92">
                  <c:v>1.5663239869536785E-2</c:v>
                </c:pt>
                <c:pt idx="93">
                  <c:v>1.4225839553485433E-2</c:v>
                </c:pt>
                <c:pt idx="94">
                  <c:v>1.5813597057471377E-2</c:v>
                </c:pt>
                <c:pt idx="95">
                  <c:v>1.5685631548120384E-2</c:v>
                </c:pt>
                <c:pt idx="96">
                  <c:v>1.7144654671181186E-2</c:v>
                </c:pt>
                <c:pt idx="97">
                  <c:v>1.7068643898898592E-2</c:v>
                </c:pt>
                <c:pt idx="98">
                  <c:v>1.8622419090891899E-2</c:v>
                </c:pt>
                <c:pt idx="99">
                  <c:v>1.8538381375944255E-2</c:v>
                </c:pt>
                <c:pt idx="100">
                  <c:v>1.8206289924307197E-2</c:v>
                </c:pt>
                <c:pt idx="101">
                  <c:v>1.9868960968876078E-2</c:v>
                </c:pt>
                <c:pt idx="102">
                  <c:v>1.9418027799538103E-2</c:v>
                </c:pt>
                <c:pt idx="103">
                  <c:v>1.826697260536736E-2</c:v>
                </c:pt>
                <c:pt idx="104">
                  <c:v>1.8158084604233467E-2</c:v>
                </c:pt>
                <c:pt idx="105">
                  <c:v>1.8044752679054279E-2</c:v>
                </c:pt>
                <c:pt idx="106">
                  <c:v>1.802642263271988E-2</c:v>
                </c:pt>
                <c:pt idx="107">
                  <c:v>1.778965868115789E-2</c:v>
                </c:pt>
                <c:pt idx="108">
                  <c:v>1.7263342160635301E-2</c:v>
                </c:pt>
                <c:pt idx="109">
                  <c:v>1.8033886846480933E-2</c:v>
                </c:pt>
                <c:pt idx="110">
                  <c:v>1.8580844485639555E-2</c:v>
                </c:pt>
                <c:pt idx="111">
                  <c:v>1.8782319417150216E-2</c:v>
                </c:pt>
                <c:pt idx="112">
                  <c:v>1.9123816097531398E-2</c:v>
                </c:pt>
                <c:pt idx="113">
                  <c:v>1.822782997316726E-2</c:v>
                </c:pt>
                <c:pt idx="114">
                  <c:v>1.9061036308812607E-2</c:v>
                </c:pt>
                <c:pt idx="115">
                  <c:v>1.9104718490366008E-2</c:v>
                </c:pt>
                <c:pt idx="116">
                  <c:v>1.7459282843020646E-2</c:v>
                </c:pt>
                <c:pt idx="117">
                  <c:v>1.7320452528974104E-2</c:v>
                </c:pt>
                <c:pt idx="118">
                  <c:v>1.7320068435806073E-2</c:v>
                </c:pt>
                <c:pt idx="119">
                  <c:v>1.7111621522919257E-2</c:v>
                </c:pt>
                <c:pt idx="120">
                  <c:v>1.7669231031136271E-2</c:v>
                </c:pt>
                <c:pt idx="121">
                  <c:v>1.8787897118562012E-2</c:v>
                </c:pt>
                <c:pt idx="122">
                  <c:v>1.7780264409568994E-2</c:v>
                </c:pt>
                <c:pt idx="123">
                  <c:v>1.5659577256714578E-2</c:v>
                </c:pt>
                <c:pt idx="124">
                  <c:v>1.6812826328726774E-2</c:v>
                </c:pt>
                <c:pt idx="125">
                  <c:v>1.8363936755893717E-2</c:v>
                </c:pt>
                <c:pt idx="126">
                  <c:v>1.9363483483551488E-2</c:v>
                </c:pt>
                <c:pt idx="127">
                  <c:v>2.1252793088252637E-2</c:v>
                </c:pt>
                <c:pt idx="128">
                  <c:v>1.8349090778192936E-2</c:v>
                </c:pt>
                <c:pt idx="129">
                  <c:v>1.7542982351812349E-2</c:v>
                </c:pt>
                <c:pt idx="130">
                  <c:v>1.8729100592983786E-2</c:v>
                </c:pt>
                <c:pt idx="131">
                  <c:v>1.9735538344180754E-2</c:v>
                </c:pt>
                <c:pt idx="132">
                  <c:v>1.9391143849174036E-2</c:v>
                </c:pt>
                <c:pt idx="133">
                  <c:v>1.9886829877663971E-2</c:v>
                </c:pt>
                <c:pt idx="134">
                  <c:v>2.1000761576234626E-2</c:v>
                </c:pt>
                <c:pt idx="135">
                  <c:v>2.0186819600006303E-2</c:v>
                </c:pt>
                <c:pt idx="136">
                  <c:v>2.0174457625489899E-2</c:v>
                </c:pt>
                <c:pt idx="137">
                  <c:v>2.045443372138191E-2</c:v>
                </c:pt>
                <c:pt idx="138">
                  <c:v>2.0507954748073935E-2</c:v>
                </c:pt>
                <c:pt idx="139">
                  <c:v>2.1322145294922913E-2</c:v>
                </c:pt>
                <c:pt idx="140">
                  <c:v>2.0130795832573069E-2</c:v>
                </c:pt>
                <c:pt idx="141">
                  <c:v>2.0851201226048038E-2</c:v>
                </c:pt>
                <c:pt idx="142">
                  <c:v>2.1458301951304094E-2</c:v>
                </c:pt>
                <c:pt idx="143">
                  <c:v>1.9706489336794249E-2</c:v>
                </c:pt>
                <c:pt idx="144">
                  <c:v>1.9430539494887093E-2</c:v>
                </c:pt>
                <c:pt idx="145">
                  <c:v>2.0187830816866273E-2</c:v>
                </c:pt>
                <c:pt idx="146">
                  <c:v>1.8494294974062398E-2</c:v>
                </c:pt>
                <c:pt idx="147">
                  <c:v>1.8118357623179107E-2</c:v>
                </c:pt>
              </c:numCache>
            </c:numRef>
          </c:val>
          <c:smooth val="0"/>
        </c:ser>
        <c:dLbls>
          <c:showLegendKey val="0"/>
          <c:showVal val="0"/>
          <c:showCatName val="0"/>
          <c:showSerName val="0"/>
          <c:showPercent val="0"/>
          <c:showBubbleSize val="0"/>
        </c:dLbls>
        <c:marker val="1"/>
        <c:smooth val="0"/>
        <c:axId val="133153920"/>
        <c:axId val="133155456"/>
      </c:lineChart>
      <c:catAx>
        <c:axId val="133153920"/>
        <c:scaling>
          <c:orientation val="minMax"/>
        </c:scaling>
        <c:delete val="0"/>
        <c:axPos val="b"/>
        <c:numFmt formatCode="m/d/yyyy" sourceLinked="0"/>
        <c:majorTickMark val="out"/>
        <c:minorTickMark val="none"/>
        <c:tickLblPos val="nextTo"/>
        <c:crossAx val="133155456"/>
        <c:crosses val="autoZero"/>
        <c:auto val="1"/>
        <c:lblAlgn val="ctr"/>
        <c:lblOffset val="100"/>
        <c:tickLblSkip val="12"/>
        <c:tickMarkSkip val="12"/>
        <c:noMultiLvlLbl val="0"/>
      </c:catAx>
      <c:valAx>
        <c:axId val="133155456"/>
        <c:scaling>
          <c:orientation val="minMax"/>
        </c:scaling>
        <c:delete val="0"/>
        <c:axPos val="l"/>
        <c:numFmt formatCode="0%" sourceLinked="0"/>
        <c:majorTickMark val="out"/>
        <c:minorTickMark val="none"/>
        <c:tickLblPos val="nextTo"/>
        <c:crossAx val="133153920"/>
        <c:crosses val="autoZero"/>
        <c:crossBetween val="between"/>
      </c:valAx>
      <c:spPr>
        <a:ln>
          <a:noFill/>
        </a:ln>
      </c:spPr>
    </c:plotArea>
    <c:legend>
      <c:legendPos val="b"/>
      <c:layout/>
      <c:overlay val="0"/>
    </c:legend>
    <c:plotVisOnly val="1"/>
    <c:dispBlanksAs val="gap"/>
    <c:showDLblsOverMax val="0"/>
  </c:chart>
  <c:spPr>
    <a:ln>
      <a:noFill/>
    </a:ln>
  </c:sp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7EA799-EB38-431D-BBE1-0234192B5EEF}"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045B25D6-B928-4CDE-89A4-4C067BC393BD}">
      <dgm:prSet phldrT="[Text]" custT="1"/>
      <dgm:spPr>
        <a:solidFill>
          <a:schemeClr val="accent5">
            <a:lumMod val="60000"/>
            <a:lumOff val="40000"/>
          </a:schemeClr>
        </a:solidFill>
      </dgm:spPr>
      <dgm:t>
        <a:bodyPr/>
        <a:lstStyle/>
        <a:p>
          <a:pPr algn="ctr"/>
          <a:r>
            <a:rPr lang="en-US" sz="2400" dirty="0" smtClean="0"/>
            <a:t>      Current	</a:t>
          </a:r>
          <a:endParaRPr lang="en-US" sz="2400" dirty="0"/>
        </a:p>
      </dgm:t>
    </dgm:pt>
    <dgm:pt modelId="{71625820-2515-4228-8529-D699FEF5345C}" type="parTrans" cxnId="{E3652D14-ACD8-4FDC-B211-4E163624F7A5}">
      <dgm:prSet/>
      <dgm:spPr/>
      <dgm:t>
        <a:bodyPr/>
        <a:lstStyle/>
        <a:p>
          <a:endParaRPr lang="en-US"/>
        </a:p>
      </dgm:t>
    </dgm:pt>
    <dgm:pt modelId="{1B0CB449-1812-4209-9286-D6C37E4F342C}" type="sibTrans" cxnId="{E3652D14-ACD8-4FDC-B211-4E163624F7A5}">
      <dgm:prSet/>
      <dgm:spPr/>
      <dgm:t>
        <a:bodyPr/>
        <a:lstStyle/>
        <a:p>
          <a:endParaRPr lang="en-US"/>
        </a:p>
      </dgm:t>
    </dgm:pt>
    <dgm:pt modelId="{6AE74632-A5AB-4A06-83CA-F44945D8EFD3}">
      <dgm:prSet phldrT="[Text]"/>
      <dgm:spPr/>
      <dgm:t>
        <a:bodyPr/>
        <a:lstStyle/>
        <a:p>
          <a:r>
            <a:rPr lang="en-US" dirty="0" err="1" smtClean="0"/>
            <a:t>Yieldbook</a:t>
          </a:r>
          <a:r>
            <a:rPr lang="en-US" dirty="0" smtClean="0"/>
            <a:t> GUI</a:t>
          </a:r>
          <a:endParaRPr lang="en-US" dirty="0"/>
        </a:p>
      </dgm:t>
    </dgm:pt>
    <dgm:pt modelId="{AFED0B67-2B7E-461B-95F8-E7AA1820F7DF}" type="parTrans" cxnId="{BC7C02AE-1FED-4571-A01D-DD95D967000A}">
      <dgm:prSet/>
      <dgm:spPr/>
      <dgm:t>
        <a:bodyPr/>
        <a:lstStyle/>
        <a:p>
          <a:endParaRPr lang="en-US"/>
        </a:p>
      </dgm:t>
    </dgm:pt>
    <dgm:pt modelId="{1C9FEE95-93E1-4874-8BB9-7625DF8A9048}" type="sibTrans" cxnId="{BC7C02AE-1FED-4571-A01D-DD95D967000A}">
      <dgm:prSet/>
      <dgm:spPr/>
      <dgm:t>
        <a:bodyPr/>
        <a:lstStyle/>
        <a:p>
          <a:endParaRPr lang="en-US"/>
        </a:p>
      </dgm:t>
    </dgm:pt>
    <dgm:pt modelId="{16DB9FBC-E5FA-47AB-8F00-722049F7482C}">
      <dgm:prSet phldrT="[Text]"/>
      <dgm:spPr/>
      <dgm:t>
        <a:bodyPr/>
        <a:lstStyle/>
        <a:p>
          <a:r>
            <a:rPr lang="en-US" dirty="0" err="1" smtClean="0"/>
            <a:t>Yieldbook</a:t>
          </a:r>
          <a:r>
            <a:rPr lang="en-US" dirty="0" smtClean="0"/>
            <a:t> Excel </a:t>
          </a:r>
          <a:r>
            <a:rPr lang="en-US" dirty="0" err="1" smtClean="0"/>
            <a:t>Addin</a:t>
          </a:r>
          <a:endParaRPr lang="en-US" dirty="0"/>
        </a:p>
      </dgm:t>
    </dgm:pt>
    <dgm:pt modelId="{2F9D4E01-BFAC-4EC0-813D-354F64B3CDC7}" type="parTrans" cxnId="{C2DFEAA1-7E0A-40C1-8667-0A753579484C}">
      <dgm:prSet/>
      <dgm:spPr/>
      <dgm:t>
        <a:bodyPr/>
        <a:lstStyle/>
        <a:p>
          <a:endParaRPr lang="en-US"/>
        </a:p>
      </dgm:t>
    </dgm:pt>
    <dgm:pt modelId="{B67E7EFB-AACF-42A6-A287-9F1FB252B80C}" type="sibTrans" cxnId="{C2DFEAA1-7E0A-40C1-8667-0A753579484C}">
      <dgm:prSet/>
      <dgm:spPr/>
      <dgm:t>
        <a:bodyPr/>
        <a:lstStyle/>
        <a:p>
          <a:endParaRPr lang="en-US"/>
        </a:p>
      </dgm:t>
    </dgm:pt>
    <dgm:pt modelId="{E96F6BA3-864D-45BA-8330-86383F693980}">
      <dgm:prSet phldrT="[Text]" custT="1"/>
      <dgm:spPr>
        <a:solidFill>
          <a:schemeClr val="accent1">
            <a:lumMod val="60000"/>
            <a:lumOff val="40000"/>
          </a:schemeClr>
        </a:solidFill>
      </dgm:spPr>
      <dgm:t>
        <a:bodyPr/>
        <a:lstStyle/>
        <a:p>
          <a:r>
            <a:rPr lang="en-US" sz="2400" dirty="0" smtClean="0"/>
            <a:t>Target</a:t>
          </a:r>
          <a:endParaRPr lang="en-US" sz="2400" dirty="0"/>
        </a:p>
      </dgm:t>
    </dgm:pt>
    <dgm:pt modelId="{61FADA48-82E1-4118-B37F-A5DE94DD3438}" type="parTrans" cxnId="{9274503B-35DA-4962-90E0-A01E42256D13}">
      <dgm:prSet/>
      <dgm:spPr/>
      <dgm:t>
        <a:bodyPr/>
        <a:lstStyle/>
        <a:p>
          <a:endParaRPr lang="en-US"/>
        </a:p>
      </dgm:t>
    </dgm:pt>
    <dgm:pt modelId="{718E0D2F-181B-40FC-8E44-5C88BF22FB26}" type="sibTrans" cxnId="{9274503B-35DA-4962-90E0-A01E42256D13}">
      <dgm:prSet/>
      <dgm:spPr/>
      <dgm:t>
        <a:bodyPr/>
        <a:lstStyle/>
        <a:p>
          <a:endParaRPr lang="en-US"/>
        </a:p>
      </dgm:t>
    </dgm:pt>
    <dgm:pt modelId="{E164FB1B-07F6-48FD-BA36-CCBA807E9F87}">
      <dgm:prSet phldrT="[Text]"/>
      <dgm:spPr/>
      <dgm:t>
        <a:bodyPr/>
        <a:lstStyle/>
        <a:p>
          <a:r>
            <a:rPr lang="en-US" dirty="0" smtClean="0"/>
            <a:t>Symphony</a:t>
          </a:r>
          <a:endParaRPr lang="en-US" dirty="0"/>
        </a:p>
      </dgm:t>
    </dgm:pt>
    <dgm:pt modelId="{9C491B91-800D-4FAC-931B-AF15768A6FC8}" type="parTrans" cxnId="{6B724C18-545A-487C-920C-7655CC4DC2CD}">
      <dgm:prSet/>
      <dgm:spPr/>
      <dgm:t>
        <a:bodyPr/>
        <a:lstStyle/>
        <a:p>
          <a:endParaRPr lang="en-US"/>
        </a:p>
      </dgm:t>
    </dgm:pt>
    <dgm:pt modelId="{EE2424A3-2C4E-4811-A981-C91ED7046FD2}" type="sibTrans" cxnId="{6B724C18-545A-487C-920C-7655CC4DC2CD}">
      <dgm:prSet/>
      <dgm:spPr/>
      <dgm:t>
        <a:bodyPr/>
        <a:lstStyle/>
        <a:p>
          <a:endParaRPr lang="en-US"/>
        </a:p>
      </dgm:t>
    </dgm:pt>
    <dgm:pt modelId="{033CE7A7-11FA-4507-B90E-8ECBB7351B4B}">
      <dgm:prSet phldrT="[Text]"/>
      <dgm:spPr/>
      <dgm:t>
        <a:bodyPr/>
        <a:lstStyle/>
        <a:p>
          <a:r>
            <a:rPr lang="en-US" dirty="0" smtClean="0"/>
            <a:t>Excel Web API</a:t>
          </a:r>
          <a:endParaRPr lang="en-US" dirty="0"/>
        </a:p>
      </dgm:t>
    </dgm:pt>
    <dgm:pt modelId="{1CB4AF43-D51C-44C8-B0DA-2D77B694B69B}" type="parTrans" cxnId="{4D40121D-B5AA-4EC1-BB00-22DFE1F3923A}">
      <dgm:prSet/>
      <dgm:spPr/>
      <dgm:t>
        <a:bodyPr/>
        <a:lstStyle/>
        <a:p>
          <a:endParaRPr lang="en-US"/>
        </a:p>
      </dgm:t>
    </dgm:pt>
    <dgm:pt modelId="{55101A0F-2B3E-42AC-A974-A0A5217DA416}" type="sibTrans" cxnId="{4D40121D-B5AA-4EC1-BB00-22DFE1F3923A}">
      <dgm:prSet/>
      <dgm:spPr/>
      <dgm:t>
        <a:bodyPr/>
        <a:lstStyle/>
        <a:p>
          <a:endParaRPr lang="en-US"/>
        </a:p>
      </dgm:t>
    </dgm:pt>
    <dgm:pt modelId="{C5125138-7451-4515-9485-4B73621FA37F}">
      <dgm:prSet phldrT="[Text]"/>
      <dgm:spPr/>
      <dgm:t>
        <a:bodyPr/>
        <a:lstStyle/>
        <a:p>
          <a:r>
            <a:rPr lang="en-US" dirty="0" smtClean="0"/>
            <a:t>Cello YB Model Dials</a:t>
          </a:r>
          <a:endParaRPr lang="en-US" dirty="0"/>
        </a:p>
      </dgm:t>
    </dgm:pt>
    <dgm:pt modelId="{13911D42-1CF9-4874-8A43-24BE25309F59}" type="parTrans" cxnId="{718392BE-034D-4469-960E-E519F1046D3F}">
      <dgm:prSet/>
      <dgm:spPr/>
      <dgm:t>
        <a:bodyPr/>
        <a:lstStyle/>
        <a:p>
          <a:endParaRPr lang="en-US"/>
        </a:p>
      </dgm:t>
    </dgm:pt>
    <dgm:pt modelId="{3265462D-36F5-47F7-B475-59601C5E2F5B}" type="sibTrans" cxnId="{718392BE-034D-4469-960E-E519F1046D3F}">
      <dgm:prSet/>
      <dgm:spPr/>
      <dgm:t>
        <a:bodyPr/>
        <a:lstStyle/>
        <a:p>
          <a:endParaRPr lang="en-US"/>
        </a:p>
      </dgm:t>
    </dgm:pt>
    <dgm:pt modelId="{856FCF6B-95F7-4A19-93AB-8B22CA3684FE}">
      <dgm:prSet phldrT="[Text]"/>
      <dgm:spPr/>
      <dgm:t>
        <a:bodyPr/>
        <a:lstStyle/>
        <a:p>
          <a:r>
            <a:rPr lang="en-US" dirty="0" smtClean="0"/>
            <a:t>Scale Models</a:t>
          </a:r>
          <a:endParaRPr lang="en-US" dirty="0"/>
        </a:p>
      </dgm:t>
    </dgm:pt>
    <dgm:pt modelId="{1A231E78-6B61-4F78-BC2A-778874A89ED7}" type="parTrans" cxnId="{A3D5C252-1B2A-4484-A442-0EA99171AF95}">
      <dgm:prSet/>
      <dgm:spPr/>
      <dgm:t>
        <a:bodyPr/>
        <a:lstStyle/>
        <a:p>
          <a:endParaRPr lang="en-US"/>
        </a:p>
      </dgm:t>
    </dgm:pt>
    <dgm:pt modelId="{FC60B11B-F1FE-456F-9AC9-2D77DAB3088F}" type="sibTrans" cxnId="{A3D5C252-1B2A-4484-A442-0EA99171AF95}">
      <dgm:prSet/>
      <dgm:spPr/>
      <dgm:t>
        <a:bodyPr/>
        <a:lstStyle/>
        <a:p>
          <a:endParaRPr lang="en-US"/>
        </a:p>
      </dgm:t>
    </dgm:pt>
    <dgm:pt modelId="{8248929E-FDA4-4A03-A12C-8FFDEC37281E}">
      <dgm:prSet phldrT="[Text]"/>
      <dgm:spPr/>
      <dgm:t>
        <a:bodyPr/>
        <a:lstStyle/>
        <a:p>
          <a:r>
            <a:rPr lang="en-US" dirty="0" smtClean="0"/>
            <a:t>AWS Cloud </a:t>
          </a:r>
          <a:r>
            <a:rPr lang="en-US" dirty="0" err="1" smtClean="0"/>
            <a:t>Calc</a:t>
          </a:r>
          <a:r>
            <a:rPr lang="en-US" dirty="0" smtClean="0"/>
            <a:t> Servers</a:t>
          </a:r>
          <a:endParaRPr lang="en-US" dirty="0"/>
        </a:p>
      </dgm:t>
    </dgm:pt>
    <dgm:pt modelId="{3FB4B11D-5A98-424B-AA67-629396462D4A}" type="parTrans" cxnId="{72F55208-8E40-49B6-8A59-C99D0F7F2405}">
      <dgm:prSet/>
      <dgm:spPr/>
      <dgm:t>
        <a:bodyPr/>
        <a:lstStyle/>
        <a:p>
          <a:endParaRPr lang="en-US"/>
        </a:p>
      </dgm:t>
    </dgm:pt>
    <dgm:pt modelId="{BB05A0CE-D0F7-41CC-8452-5DA9B50894E6}" type="sibTrans" cxnId="{72F55208-8E40-49B6-8A59-C99D0F7F2405}">
      <dgm:prSet/>
      <dgm:spPr/>
      <dgm:t>
        <a:bodyPr/>
        <a:lstStyle/>
        <a:p>
          <a:endParaRPr lang="en-US"/>
        </a:p>
      </dgm:t>
    </dgm:pt>
    <dgm:pt modelId="{A1671A61-D0D2-4B27-9FFA-0815621E4423}">
      <dgm:prSet phldrT="[Text]"/>
      <dgm:spPr/>
      <dgm:t>
        <a:bodyPr/>
        <a:lstStyle/>
        <a:p>
          <a:r>
            <a:rPr lang="en-US" dirty="0" err="1" smtClean="0"/>
            <a:t>Yieldbook</a:t>
          </a:r>
          <a:r>
            <a:rPr lang="en-US" dirty="0" smtClean="0"/>
            <a:t> </a:t>
          </a:r>
          <a:r>
            <a:rPr lang="en-US" dirty="0" err="1" smtClean="0"/>
            <a:t>Calc</a:t>
          </a:r>
          <a:r>
            <a:rPr lang="en-US" dirty="0" smtClean="0"/>
            <a:t> Servers</a:t>
          </a:r>
          <a:endParaRPr lang="en-US" dirty="0"/>
        </a:p>
      </dgm:t>
    </dgm:pt>
    <dgm:pt modelId="{5A4BCDCB-A86C-4D5E-8E03-4355068CC92A}" type="parTrans" cxnId="{3D11B3AB-AD67-47A5-8EBC-257269AF25A7}">
      <dgm:prSet/>
      <dgm:spPr/>
      <dgm:t>
        <a:bodyPr/>
        <a:lstStyle/>
        <a:p>
          <a:endParaRPr lang="en-US"/>
        </a:p>
      </dgm:t>
    </dgm:pt>
    <dgm:pt modelId="{09B6FF6B-F728-42CE-A41C-32ECA40DF781}" type="sibTrans" cxnId="{3D11B3AB-AD67-47A5-8EBC-257269AF25A7}">
      <dgm:prSet/>
      <dgm:spPr/>
      <dgm:t>
        <a:bodyPr/>
        <a:lstStyle/>
        <a:p>
          <a:endParaRPr lang="en-US"/>
        </a:p>
      </dgm:t>
    </dgm:pt>
    <dgm:pt modelId="{D7007FF7-3096-4BC5-9CE9-0D3D6D02A3B8}" type="pres">
      <dgm:prSet presAssocID="{677EA799-EB38-431D-BBE1-0234192B5EEF}" presName="theList" presStyleCnt="0">
        <dgm:presLayoutVars>
          <dgm:dir/>
          <dgm:animLvl val="lvl"/>
          <dgm:resizeHandles val="exact"/>
        </dgm:presLayoutVars>
      </dgm:prSet>
      <dgm:spPr/>
      <dgm:t>
        <a:bodyPr/>
        <a:lstStyle/>
        <a:p>
          <a:endParaRPr lang="en-US"/>
        </a:p>
      </dgm:t>
    </dgm:pt>
    <dgm:pt modelId="{B40372D5-98A8-4066-B1F4-8DE0122F757F}" type="pres">
      <dgm:prSet presAssocID="{045B25D6-B928-4CDE-89A4-4C067BC393BD}" presName="compNode" presStyleCnt="0"/>
      <dgm:spPr/>
    </dgm:pt>
    <dgm:pt modelId="{52FB8194-42DE-4A82-91FD-50955BAE3D7A}" type="pres">
      <dgm:prSet presAssocID="{045B25D6-B928-4CDE-89A4-4C067BC393BD}" presName="aNode" presStyleLbl="bgShp" presStyleIdx="0" presStyleCnt="2" custScaleX="110301"/>
      <dgm:spPr/>
      <dgm:t>
        <a:bodyPr/>
        <a:lstStyle/>
        <a:p>
          <a:endParaRPr lang="en-US"/>
        </a:p>
      </dgm:t>
    </dgm:pt>
    <dgm:pt modelId="{A2A484A8-89DE-4B4D-A71E-ED9C9594EE8A}" type="pres">
      <dgm:prSet presAssocID="{045B25D6-B928-4CDE-89A4-4C067BC393BD}" presName="textNode" presStyleLbl="bgShp" presStyleIdx="0" presStyleCnt="2"/>
      <dgm:spPr/>
      <dgm:t>
        <a:bodyPr/>
        <a:lstStyle/>
        <a:p>
          <a:endParaRPr lang="en-US"/>
        </a:p>
      </dgm:t>
    </dgm:pt>
    <dgm:pt modelId="{9F77FE51-B570-4758-B5EA-C903C04F6D1B}" type="pres">
      <dgm:prSet presAssocID="{045B25D6-B928-4CDE-89A4-4C067BC393BD}" presName="compChildNode" presStyleCnt="0"/>
      <dgm:spPr/>
    </dgm:pt>
    <dgm:pt modelId="{DCD7E084-FBB7-4C5C-ACA5-A4A5F569EE3F}" type="pres">
      <dgm:prSet presAssocID="{045B25D6-B928-4CDE-89A4-4C067BC393BD}" presName="theInnerList" presStyleCnt="0"/>
      <dgm:spPr/>
    </dgm:pt>
    <dgm:pt modelId="{5D95F047-6F47-43EC-B80B-25BAECE374B3}" type="pres">
      <dgm:prSet presAssocID="{6AE74632-A5AB-4A06-83CA-F44945D8EFD3}" presName="childNode" presStyleLbl="node1" presStyleIdx="0" presStyleCnt="8">
        <dgm:presLayoutVars>
          <dgm:bulletEnabled val="1"/>
        </dgm:presLayoutVars>
      </dgm:prSet>
      <dgm:spPr/>
      <dgm:t>
        <a:bodyPr/>
        <a:lstStyle/>
        <a:p>
          <a:endParaRPr lang="en-US"/>
        </a:p>
      </dgm:t>
    </dgm:pt>
    <dgm:pt modelId="{AB571DC7-E712-493F-A642-A448C113B7AF}" type="pres">
      <dgm:prSet presAssocID="{6AE74632-A5AB-4A06-83CA-F44945D8EFD3}" presName="aSpace2" presStyleCnt="0"/>
      <dgm:spPr/>
    </dgm:pt>
    <dgm:pt modelId="{9A5B5CEA-07B0-4D6E-9EFA-B77BC480F34D}" type="pres">
      <dgm:prSet presAssocID="{16DB9FBC-E5FA-47AB-8F00-722049F7482C}" presName="childNode" presStyleLbl="node1" presStyleIdx="1" presStyleCnt="8">
        <dgm:presLayoutVars>
          <dgm:bulletEnabled val="1"/>
        </dgm:presLayoutVars>
      </dgm:prSet>
      <dgm:spPr/>
      <dgm:t>
        <a:bodyPr/>
        <a:lstStyle/>
        <a:p>
          <a:endParaRPr lang="en-US"/>
        </a:p>
      </dgm:t>
    </dgm:pt>
    <dgm:pt modelId="{7A2CACD3-C8C8-44DC-9EF1-26CF31F2DBD8}" type="pres">
      <dgm:prSet presAssocID="{16DB9FBC-E5FA-47AB-8F00-722049F7482C}" presName="aSpace2" presStyleCnt="0"/>
      <dgm:spPr/>
    </dgm:pt>
    <dgm:pt modelId="{5328F7E9-34C4-42A2-88EB-53E11001EB53}" type="pres">
      <dgm:prSet presAssocID="{C5125138-7451-4515-9485-4B73621FA37F}" presName="childNode" presStyleLbl="node1" presStyleIdx="2" presStyleCnt="8">
        <dgm:presLayoutVars>
          <dgm:bulletEnabled val="1"/>
        </dgm:presLayoutVars>
      </dgm:prSet>
      <dgm:spPr/>
      <dgm:t>
        <a:bodyPr/>
        <a:lstStyle/>
        <a:p>
          <a:endParaRPr lang="en-US"/>
        </a:p>
      </dgm:t>
    </dgm:pt>
    <dgm:pt modelId="{0D48F33D-5DEF-4985-A2FC-429779199259}" type="pres">
      <dgm:prSet presAssocID="{C5125138-7451-4515-9485-4B73621FA37F}" presName="aSpace2" presStyleCnt="0"/>
      <dgm:spPr/>
    </dgm:pt>
    <dgm:pt modelId="{10CE9EBF-CD42-4C6E-84B1-0BF126F35EC8}" type="pres">
      <dgm:prSet presAssocID="{A1671A61-D0D2-4B27-9FFA-0815621E4423}" presName="childNode" presStyleLbl="node1" presStyleIdx="3" presStyleCnt="8">
        <dgm:presLayoutVars>
          <dgm:bulletEnabled val="1"/>
        </dgm:presLayoutVars>
      </dgm:prSet>
      <dgm:spPr/>
      <dgm:t>
        <a:bodyPr/>
        <a:lstStyle/>
        <a:p>
          <a:endParaRPr lang="en-US"/>
        </a:p>
      </dgm:t>
    </dgm:pt>
    <dgm:pt modelId="{1FA46EE9-8AB4-43EF-A9DB-72A3AB6BE430}" type="pres">
      <dgm:prSet presAssocID="{045B25D6-B928-4CDE-89A4-4C067BC393BD}" presName="aSpace" presStyleCnt="0"/>
      <dgm:spPr/>
    </dgm:pt>
    <dgm:pt modelId="{0A4AD342-F6F6-4A20-9EA4-CB6DB486D92F}" type="pres">
      <dgm:prSet presAssocID="{E96F6BA3-864D-45BA-8330-86383F693980}" presName="compNode" presStyleCnt="0"/>
      <dgm:spPr/>
    </dgm:pt>
    <dgm:pt modelId="{64F7A8B1-5E64-4C64-AF2E-CE9E05B46605}" type="pres">
      <dgm:prSet presAssocID="{E96F6BA3-864D-45BA-8330-86383F693980}" presName="aNode" presStyleLbl="bgShp" presStyleIdx="1" presStyleCnt="2" custScaleX="109198" custLinFactNeighborX="-3483" custLinFactNeighborY="-290"/>
      <dgm:spPr/>
      <dgm:t>
        <a:bodyPr/>
        <a:lstStyle/>
        <a:p>
          <a:endParaRPr lang="en-US"/>
        </a:p>
      </dgm:t>
    </dgm:pt>
    <dgm:pt modelId="{63DC0636-B688-4719-9508-ABA20DC4FC05}" type="pres">
      <dgm:prSet presAssocID="{E96F6BA3-864D-45BA-8330-86383F693980}" presName="textNode" presStyleLbl="bgShp" presStyleIdx="1" presStyleCnt="2"/>
      <dgm:spPr/>
      <dgm:t>
        <a:bodyPr/>
        <a:lstStyle/>
        <a:p>
          <a:endParaRPr lang="en-US"/>
        </a:p>
      </dgm:t>
    </dgm:pt>
    <dgm:pt modelId="{F731477C-776F-4CFB-A41C-79E68518FD65}" type="pres">
      <dgm:prSet presAssocID="{E96F6BA3-864D-45BA-8330-86383F693980}" presName="compChildNode" presStyleCnt="0"/>
      <dgm:spPr/>
    </dgm:pt>
    <dgm:pt modelId="{BA576E3C-CAE7-4401-AFF2-B7E3F5E8BC60}" type="pres">
      <dgm:prSet presAssocID="{E96F6BA3-864D-45BA-8330-86383F693980}" presName="theInnerList" presStyleCnt="0"/>
      <dgm:spPr/>
    </dgm:pt>
    <dgm:pt modelId="{C26FDAE3-46A1-4632-A117-B409CA7FB9FF}" type="pres">
      <dgm:prSet presAssocID="{E164FB1B-07F6-48FD-BA36-CCBA807E9F87}" presName="childNode" presStyleLbl="node1" presStyleIdx="4" presStyleCnt="8">
        <dgm:presLayoutVars>
          <dgm:bulletEnabled val="1"/>
        </dgm:presLayoutVars>
      </dgm:prSet>
      <dgm:spPr/>
      <dgm:t>
        <a:bodyPr/>
        <a:lstStyle/>
        <a:p>
          <a:endParaRPr lang="en-US"/>
        </a:p>
      </dgm:t>
    </dgm:pt>
    <dgm:pt modelId="{287A98BB-26B8-48AD-BEDD-6F99C15AD314}" type="pres">
      <dgm:prSet presAssocID="{E164FB1B-07F6-48FD-BA36-CCBA807E9F87}" presName="aSpace2" presStyleCnt="0"/>
      <dgm:spPr/>
    </dgm:pt>
    <dgm:pt modelId="{52F33B99-00B1-4982-86F4-6F7476799F55}" type="pres">
      <dgm:prSet presAssocID="{033CE7A7-11FA-4507-B90E-8ECBB7351B4B}" presName="childNode" presStyleLbl="node1" presStyleIdx="5" presStyleCnt="8">
        <dgm:presLayoutVars>
          <dgm:bulletEnabled val="1"/>
        </dgm:presLayoutVars>
      </dgm:prSet>
      <dgm:spPr/>
      <dgm:t>
        <a:bodyPr/>
        <a:lstStyle/>
        <a:p>
          <a:endParaRPr lang="en-US"/>
        </a:p>
      </dgm:t>
    </dgm:pt>
    <dgm:pt modelId="{1EE22B8C-D74D-4E11-9782-6D2848D2EB08}" type="pres">
      <dgm:prSet presAssocID="{033CE7A7-11FA-4507-B90E-8ECBB7351B4B}" presName="aSpace2" presStyleCnt="0"/>
      <dgm:spPr/>
    </dgm:pt>
    <dgm:pt modelId="{9F2F8BA3-8175-4125-B311-E86BFE37B8E1}" type="pres">
      <dgm:prSet presAssocID="{856FCF6B-95F7-4A19-93AB-8B22CA3684FE}" presName="childNode" presStyleLbl="node1" presStyleIdx="6" presStyleCnt="8">
        <dgm:presLayoutVars>
          <dgm:bulletEnabled val="1"/>
        </dgm:presLayoutVars>
      </dgm:prSet>
      <dgm:spPr/>
      <dgm:t>
        <a:bodyPr/>
        <a:lstStyle/>
        <a:p>
          <a:endParaRPr lang="en-US"/>
        </a:p>
      </dgm:t>
    </dgm:pt>
    <dgm:pt modelId="{CE78C0FA-0E99-4D98-96BE-96BF6C9E320E}" type="pres">
      <dgm:prSet presAssocID="{856FCF6B-95F7-4A19-93AB-8B22CA3684FE}" presName="aSpace2" presStyleCnt="0"/>
      <dgm:spPr/>
    </dgm:pt>
    <dgm:pt modelId="{09E44FAE-6A2F-444C-855C-6DA54AADCA1F}" type="pres">
      <dgm:prSet presAssocID="{8248929E-FDA4-4A03-A12C-8FFDEC37281E}" presName="childNode" presStyleLbl="node1" presStyleIdx="7" presStyleCnt="8">
        <dgm:presLayoutVars>
          <dgm:bulletEnabled val="1"/>
        </dgm:presLayoutVars>
      </dgm:prSet>
      <dgm:spPr/>
      <dgm:t>
        <a:bodyPr/>
        <a:lstStyle/>
        <a:p>
          <a:endParaRPr lang="en-US"/>
        </a:p>
      </dgm:t>
    </dgm:pt>
  </dgm:ptLst>
  <dgm:cxnLst>
    <dgm:cxn modelId="{AC7A4CF6-7393-4CC2-BA1A-34E04974BB6A}" type="presOf" srcId="{C5125138-7451-4515-9485-4B73621FA37F}" destId="{5328F7E9-34C4-42A2-88EB-53E11001EB53}" srcOrd="0" destOrd="0" presId="urn:microsoft.com/office/officeart/2005/8/layout/lProcess2"/>
    <dgm:cxn modelId="{B8C3E1A9-0E12-47C3-96BF-6D4DD8D10024}" type="presOf" srcId="{A1671A61-D0D2-4B27-9FFA-0815621E4423}" destId="{10CE9EBF-CD42-4C6E-84B1-0BF126F35EC8}" srcOrd="0" destOrd="0" presId="urn:microsoft.com/office/officeart/2005/8/layout/lProcess2"/>
    <dgm:cxn modelId="{E3652D14-ACD8-4FDC-B211-4E163624F7A5}" srcId="{677EA799-EB38-431D-BBE1-0234192B5EEF}" destId="{045B25D6-B928-4CDE-89A4-4C067BC393BD}" srcOrd="0" destOrd="0" parTransId="{71625820-2515-4228-8529-D699FEF5345C}" sibTransId="{1B0CB449-1812-4209-9286-D6C37E4F342C}"/>
    <dgm:cxn modelId="{72F55208-8E40-49B6-8A59-C99D0F7F2405}" srcId="{E96F6BA3-864D-45BA-8330-86383F693980}" destId="{8248929E-FDA4-4A03-A12C-8FFDEC37281E}" srcOrd="3" destOrd="0" parTransId="{3FB4B11D-5A98-424B-AA67-629396462D4A}" sibTransId="{BB05A0CE-D0F7-41CC-8452-5DA9B50894E6}"/>
    <dgm:cxn modelId="{3D11B3AB-AD67-47A5-8EBC-257269AF25A7}" srcId="{045B25D6-B928-4CDE-89A4-4C067BC393BD}" destId="{A1671A61-D0D2-4B27-9FFA-0815621E4423}" srcOrd="3" destOrd="0" parTransId="{5A4BCDCB-A86C-4D5E-8E03-4355068CC92A}" sibTransId="{09B6FF6B-F728-42CE-A41C-32ECA40DF781}"/>
    <dgm:cxn modelId="{D72193A5-B477-4908-AC0B-C99578C49921}" type="presOf" srcId="{8248929E-FDA4-4A03-A12C-8FFDEC37281E}" destId="{09E44FAE-6A2F-444C-855C-6DA54AADCA1F}" srcOrd="0" destOrd="0" presId="urn:microsoft.com/office/officeart/2005/8/layout/lProcess2"/>
    <dgm:cxn modelId="{ABAD63B0-5CF5-4809-BDC1-BAAF4D31BBF3}" type="presOf" srcId="{E96F6BA3-864D-45BA-8330-86383F693980}" destId="{63DC0636-B688-4719-9508-ABA20DC4FC05}" srcOrd="1" destOrd="0" presId="urn:microsoft.com/office/officeart/2005/8/layout/lProcess2"/>
    <dgm:cxn modelId="{9274503B-35DA-4962-90E0-A01E42256D13}" srcId="{677EA799-EB38-431D-BBE1-0234192B5EEF}" destId="{E96F6BA3-864D-45BA-8330-86383F693980}" srcOrd="1" destOrd="0" parTransId="{61FADA48-82E1-4118-B37F-A5DE94DD3438}" sibTransId="{718E0D2F-181B-40FC-8E44-5C88BF22FB26}"/>
    <dgm:cxn modelId="{BC7C02AE-1FED-4571-A01D-DD95D967000A}" srcId="{045B25D6-B928-4CDE-89A4-4C067BC393BD}" destId="{6AE74632-A5AB-4A06-83CA-F44945D8EFD3}" srcOrd="0" destOrd="0" parTransId="{AFED0B67-2B7E-461B-95F8-E7AA1820F7DF}" sibTransId="{1C9FEE95-93E1-4874-8BB9-7625DF8A9048}"/>
    <dgm:cxn modelId="{29779270-AFA3-4686-86CB-243A2976ED4D}" type="presOf" srcId="{045B25D6-B928-4CDE-89A4-4C067BC393BD}" destId="{A2A484A8-89DE-4B4D-A71E-ED9C9594EE8A}" srcOrd="1" destOrd="0" presId="urn:microsoft.com/office/officeart/2005/8/layout/lProcess2"/>
    <dgm:cxn modelId="{20635654-81C7-4B14-9A41-0EAB7729FF44}" type="presOf" srcId="{856FCF6B-95F7-4A19-93AB-8B22CA3684FE}" destId="{9F2F8BA3-8175-4125-B311-E86BFE37B8E1}" srcOrd="0" destOrd="0" presId="urn:microsoft.com/office/officeart/2005/8/layout/lProcess2"/>
    <dgm:cxn modelId="{6B724C18-545A-487C-920C-7655CC4DC2CD}" srcId="{E96F6BA3-864D-45BA-8330-86383F693980}" destId="{E164FB1B-07F6-48FD-BA36-CCBA807E9F87}" srcOrd="0" destOrd="0" parTransId="{9C491B91-800D-4FAC-931B-AF15768A6FC8}" sibTransId="{EE2424A3-2C4E-4811-A981-C91ED7046FD2}"/>
    <dgm:cxn modelId="{0E157DB8-8BE0-4A52-9250-F1C47E0E414D}" type="presOf" srcId="{033CE7A7-11FA-4507-B90E-8ECBB7351B4B}" destId="{52F33B99-00B1-4982-86F4-6F7476799F55}" srcOrd="0" destOrd="0" presId="urn:microsoft.com/office/officeart/2005/8/layout/lProcess2"/>
    <dgm:cxn modelId="{5075A873-3161-405F-B0B1-053880208C1C}" type="presOf" srcId="{16DB9FBC-E5FA-47AB-8F00-722049F7482C}" destId="{9A5B5CEA-07B0-4D6E-9EFA-B77BC480F34D}" srcOrd="0" destOrd="0" presId="urn:microsoft.com/office/officeart/2005/8/layout/lProcess2"/>
    <dgm:cxn modelId="{C35AA415-8C75-4D47-A461-D7351E423698}" type="presOf" srcId="{E164FB1B-07F6-48FD-BA36-CCBA807E9F87}" destId="{C26FDAE3-46A1-4632-A117-B409CA7FB9FF}" srcOrd="0" destOrd="0" presId="urn:microsoft.com/office/officeart/2005/8/layout/lProcess2"/>
    <dgm:cxn modelId="{2220873D-77F1-4CAA-952A-E19283F8128E}" type="presOf" srcId="{6AE74632-A5AB-4A06-83CA-F44945D8EFD3}" destId="{5D95F047-6F47-43EC-B80B-25BAECE374B3}" srcOrd="0" destOrd="0" presId="urn:microsoft.com/office/officeart/2005/8/layout/lProcess2"/>
    <dgm:cxn modelId="{E1D50A43-29FD-49F8-B50A-8C4C77007AD0}" type="presOf" srcId="{045B25D6-B928-4CDE-89A4-4C067BC393BD}" destId="{52FB8194-42DE-4A82-91FD-50955BAE3D7A}" srcOrd="0" destOrd="0" presId="urn:microsoft.com/office/officeart/2005/8/layout/lProcess2"/>
    <dgm:cxn modelId="{A3D5C252-1B2A-4484-A442-0EA99171AF95}" srcId="{E96F6BA3-864D-45BA-8330-86383F693980}" destId="{856FCF6B-95F7-4A19-93AB-8B22CA3684FE}" srcOrd="2" destOrd="0" parTransId="{1A231E78-6B61-4F78-BC2A-778874A89ED7}" sibTransId="{FC60B11B-F1FE-456F-9AC9-2D77DAB3088F}"/>
    <dgm:cxn modelId="{98638BA1-A28D-451A-92A9-EC85E98DA38E}" type="presOf" srcId="{E96F6BA3-864D-45BA-8330-86383F693980}" destId="{64F7A8B1-5E64-4C64-AF2E-CE9E05B46605}" srcOrd="0" destOrd="0" presId="urn:microsoft.com/office/officeart/2005/8/layout/lProcess2"/>
    <dgm:cxn modelId="{2A9B3D94-EA6B-4C5F-9345-98695AC214F0}" type="presOf" srcId="{677EA799-EB38-431D-BBE1-0234192B5EEF}" destId="{D7007FF7-3096-4BC5-9CE9-0D3D6D02A3B8}" srcOrd="0" destOrd="0" presId="urn:microsoft.com/office/officeart/2005/8/layout/lProcess2"/>
    <dgm:cxn modelId="{C2DFEAA1-7E0A-40C1-8667-0A753579484C}" srcId="{045B25D6-B928-4CDE-89A4-4C067BC393BD}" destId="{16DB9FBC-E5FA-47AB-8F00-722049F7482C}" srcOrd="1" destOrd="0" parTransId="{2F9D4E01-BFAC-4EC0-813D-354F64B3CDC7}" sibTransId="{B67E7EFB-AACF-42A6-A287-9F1FB252B80C}"/>
    <dgm:cxn modelId="{4D40121D-B5AA-4EC1-BB00-22DFE1F3923A}" srcId="{E96F6BA3-864D-45BA-8330-86383F693980}" destId="{033CE7A7-11FA-4507-B90E-8ECBB7351B4B}" srcOrd="1" destOrd="0" parTransId="{1CB4AF43-D51C-44C8-B0DA-2D77B694B69B}" sibTransId="{55101A0F-2B3E-42AC-A974-A0A5217DA416}"/>
    <dgm:cxn modelId="{718392BE-034D-4469-960E-E519F1046D3F}" srcId="{045B25D6-B928-4CDE-89A4-4C067BC393BD}" destId="{C5125138-7451-4515-9485-4B73621FA37F}" srcOrd="2" destOrd="0" parTransId="{13911D42-1CF9-4874-8A43-24BE25309F59}" sibTransId="{3265462D-36F5-47F7-B475-59601C5E2F5B}"/>
    <dgm:cxn modelId="{76045720-9CCA-4D39-A930-7A5E83B7FBC3}" type="presParOf" srcId="{D7007FF7-3096-4BC5-9CE9-0D3D6D02A3B8}" destId="{B40372D5-98A8-4066-B1F4-8DE0122F757F}" srcOrd="0" destOrd="0" presId="urn:microsoft.com/office/officeart/2005/8/layout/lProcess2"/>
    <dgm:cxn modelId="{34D21A11-6F02-42EE-B11D-11E4158C2989}" type="presParOf" srcId="{B40372D5-98A8-4066-B1F4-8DE0122F757F}" destId="{52FB8194-42DE-4A82-91FD-50955BAE3D7A}" srcOrd="0" destOrd="0" presId="urn:microsoft.com/office/officeart/2005/8/layout/lProcess2"/>
    <dgm:cxn modelId="{5C352C5C-7F83-4A41-86D6-5E7553ADD3E0}" type="presParOf" srcId="{B40372D5-98A8-4066-B1F4-8DE0122F757F}" destId="{A2A484A8-89DE-4B4D-A71E-ED9C9594EE8A}" srcOrd="1" destOrd="0" presId="urn:microsoft.com/office/officeart/2005/8/layout/lProcess2"/>
    <dgm:cxn modelId="{3852599C-D5C4-49FE-9847-2A050FFB9951}" type="presParOf" srcId="{B40372D5-98A8-4066-B1F4-8DE0122F757F}" destId="{9F77FE51-B570-4758-B5EA-C903C04F6D1B}" srcOrd="2" destOrd="0" presId="urn:microsoft.com/office/officeart/2005/8/layout/lProcess2"/>
    <dgm:cxn modelId="{6A594661-6D47-42B3-8436-52F3B36E9BFE}" type="presParOf" srcId="{9F77FE51-B570-4758-B5EA-C903C04F6D1B}" destId="{DCD7E084-FBB7-4C5C-ACA5-A4A5F569EE3F}" srcOrd="0" destOrd="0" presId="urn:microsoft.com/office/officeart/2005/8/layout/lProcess2"/>
    <dgm:cxn modelId="{10C7BCEC-D9C2-417B-9E9D-EF04DEB73C45}" type="presParOf" srcId="{DCD7E084-FBB7-4C5C-ACA5-A4A5F569EE3F}" destId="{5D95F047-6F47-43EC-B80B-25BAECE374B3}" srcOrd="0" destOrd="0" presId="urn:microsoft.com/office/officeart/2005/8/layout/lProcess2"/>
    <dgm:cxn modelId="{A70595D4-6B2C-47AE-8066-7404A8594D72}" type="presParOf" srcId="{DCD7E084-FBB7-4C5C-ACA5-A4A5F569EE3F}" destId="{AB571DC7-E712-493F-A642-A448C113B7AF}" srcOrd="1" destOrd="0" presId="urn:microsoft.com/office/officeart/2005/8/layout/lProcess2"/>
    <dgm:cxn modelId="{491807BA-AFE5-4CF4-B37F-4A17364CE5A9}" type="presParOf" srcId="{DCD7E084-FBB7-4C5C-ACA5-A4A5F569EE3F}" destId="{9A5B5CEA-07B0-4D6E-9EFA-B77BC480F34D}" srcOrd="2" destOrd="0" presId="urn:microsoft.com/office/officeart/2005/8/layout/lProcess2"/>
    <dgm:cxn modelId="{4960C956-C9D2-4755-9E9E-5082B6C1F2D7}" type="presParOf" srcId="{DCD7E084-FBB7-4C5C-ACA5-A4A5F569EE3F}" destId="{7A2CACD3-C8C8-44DC-9EF1-26CF31F2DBD8}" srcOrd="3" destOrd="0" presId="urn:microsoft.com/office/officeart/2005/8/layout/lProcess2"/>
    <dgm:cxn modelId="{CA8F38CE-346E-4B03-8A6D-95C6CD5FCEB6}" type="presParOf" srcId="{DCD7E084-FBB7-4C5C-ACA5-A4A5F569EE3F}" destId="{5328F7E9-34C4-42A2-88EB-53E11001EB53}" srcOrd="4" destOrd="0" presId="urn:microsoft.com/office/officeart/2005/8/layout/lProcess2"/>
    <dgm:cxn modelId="{2DE2AA32-82BD-470B-AB99-056730AA13E7}" type="presParOf" srcId="{DCD7E084-FBB7-4C5C-ACA5-A4A5F569EE3F}" destId="{0D48F33D-5DEF-4985-A2FC-429779199259}" srcOrd="5" destOrd="0" presId="urn:microsoft.com/office/officeart/2005/8/layout/lProcess2"/>
    <dgm:cxn modelId="{EE2F633A-5E4D-4E35-8D89-A794FA460DB9}" type="presParOf" srcId="{DCD7E084-FBB7-4C5C-ACA5-A4A5F569EE3F}" destId="{10CE9EBF-CD42-4C6E-84B1-0BF126F35EC8}" srcOrd="6" destOrd="0" presId="urn:microsoft.com/office/officeart/2005/8/layout/lProcess2"/>
    <dgm:cxn modelId="{62C06A99-DD59-4851-97E5-3924A4E5A9BA}" type="presParOf" srcId="{D7007FF7-3096-4BC5-9CE9-0D3D6D02A3B8}" destId="{1FA46EE9-8AB4-43EF-A9DB-72A3AB6BE430}" srcOrd="1" destOrd="0" presId="urn:microsoft.com/office/officeart/2005/8/layout/lProcess2"/>
    <dgm:cxn modelId="{506BDDDE-CB0D-434A-BE84-27EAE39795BC}" type="presParOf" srcId="{D7007FF7-3096-4BC5-9CE9-0D3D6D02A3B8}" destId="{0A4AD342-F6F6-4A20-9EA4-CB6DB486D92F}" srcOrd="2" destOrd="0" presId="urn:microsoft.com/office/officeart/2005/8/layout/lProcess2"/>
    <dgm:cxn modelId="{65063C2D-5492-407E-9CDF-BCAF4C045D10}" type="presParOf" srcId="{0A4AD342-F6F6-4A20-9EA4-CB6DB486D92F}" destId="{64F7A8B1-5E64-4C64-AF2E-CE9E05B46605}" srcOrd="0" destOrd="0" presId="urn:microsoft.com/office/officeart/2005/8/layout/lProcess2"/>
    <dgm:cxn modelId="{7289F0DF-4390-41D2-BAB6-EA51EDA03DE1}" type="presParOf" srcId="{0A4AD342-F6F6-4A20-9EA4-CB6DB486D92F}" destId="{63DC0636-B688-4719-9508-ABA20DC4FC05}" srcOrd="1" destOrd="0" presId="urn:microsoft.com/office/officeart/2005/8/layout/lProcess2"/>
    <dgm:cxn modelId="{D12B1D8C-FEA7-41DC-9CFF-4B70740D2D76}" type="presParOf" srcId="{0A4AD342-F6F6-4A20-9EA4-CB6DB486D92F}" destId="{F731477C-776F-4CFB-A41C-79E68518FD65}" srcOrd="2" destOrd="0" presId="urn:microsoft.com/office/officeart/2005/8/layout/lProcess2"/>
    <dgm:cxn modelId="{3EDD056E-6884-45F4-BB38-A77376F26383}" type="presParOf" srcId="{F731477C-776F-4CFB-A41C-79E68518FD65}" destId="{BA576E3C-CAE7-4401-AFF2-B7E3F5E8BC60}" srcOrd="0" destOrd="0" presId="urn:microsoft.com/office/officeart/2005/8/layout/lProcess2"/>
    <dgm:cxn modelId="{A339E810-E115-4A6B-B722-B8FF3DA688F3}" type="presParOf" srcId="{BA576E3C-CAE7-4401-AFF2-B7E3F5E8BC60}" destId="{C26FDAE3-46A1-4632-A117-B409CA7FB9FF}" srcOrd="0" destOrd="0" presId="urn:microsoft.com/office/officeart/2005/8/layout/lProcess2"/>
    <dgm:cxn modelId="{B50C8314-4820-4AA4-9B58-2E9FF0EAF0A3}" type="presParOf" srcId="{BA576E3C-CAE7-4401-AFF2-B7E3F5E8BC60}" destId="{287A98BB-26B8-48AD-BEDD-6F99C15AD314}" srcOrd="1" destOrd="0" presId="urn:microsoft.com/office/officeart/2005/8/layout/lProcess2"/>
    <dgm:cxn modelId="{93C45733-F5CD-4A7E-B2F8-EA919E753B8D}" type="presParOf" srcId="{BA576E3C-CAE7-4401-AFF2-B7E3F5E8BC60}" destId="{52F33B99-00B1-4982-86F4-6F7476799F55}" srcOrd="2" destOrd="0" presId="urn:microsoft.com/office/officeart/2005/8/layout/lProcess2"/>
    <dgm:cxn modelId="{40625B16-7B87-4E80-AD7B-15ADE6067787}" type="presParOf" srcId="{BA576E3C-CAE7-4401-AFF2-B7E3F5E8BC60}" destId="{1EE22B8C-D74D-4E11-9782-6D2848D2EB08}" srcOrd="3" destOrd="0" presId="urn:microsoft.com/office/officeart/2005/8/layout/lProcess2"/>
    <dgm:cxn modelId="{9E18574B-A541-4BC7-A2DE-9CCD420F3251}" type="presParOf" srcId="{BA576E3C-CAE7-4401-AFF2-B7E3F5E8BC60}" destId="{9F2F8BA3-8175-4125-B311-E86BFE37B8E1}" srcOrd="4" destOrd="0" presId="urn:microsoft.com/office/officeart/2005/8/layout/lProcess2"/>
    <dgm:cxn modelId="{E24D3F8B-56EA-4A7A-844C-AF9A07612098}" type="presParOf" srcId="{BA576E3C-CAE7-4401-AFF2-B7E3F5E8BC60}" destId="{CE78C0FA-0E99-4D98-96BE-96BF6C9E320E}" srcOrd="5" destOrd="0" presId="urn:microsoft.com/office/officeart/2005/8/layout/lProcess2"/>
    <dgm:cxn modelId="{273D1A56-9875-4818-8250-7B9A25A3E0AE}" type="presParOf" srcId="{BA576E3C-CAE7-4401-AFF2-B7E3F5E8BC60}" destId="{09E44FAE-6A2F-444C-855C-6DA54AADCA1F}" srcOrd="6"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FB8194-42DE-4A82-91FD-50955BAE3D7A}">
      <dsp:nvSpPr>
        <dsp:cNvPr id="0" name=""/>
        <dsp:cNvSpPr/>
      </dsp:nvSpPr>
      <dsp:spPr>
        <a:xfrm>
          <a:off x="704" y="0"/>
          <a:ext cx="2988799" cy="3431578"/>
        </a:xfrm>
        <a:prstGeom prst="roundRect">
          <a:avLst>
            <a:gd name="adj" fmla="val 10000"/>
          </a:avLst>
        </a:prstGeom>
        <a:solidFill>
          <a:schemeClr val="accent5">
            <a:lumMod val="60000"/>
            <a:lumOff val="40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      Current	</a:t>
          </a:r>
          <a:endParaRPr lang="en-US" sz="2400" kern="1200" dirty="0"/>
        </a:p>
      </dsp:txBody>
      <dsp:txXfrm>
        <a:off x="704" y="0"/>
        <a:ext cx="2988799" cy="1029473"/>
      </dsp:txXfrm>
    </dsp:sp>
    <dsp:sp modelId="{5D95F047-6F47-43EC-B80B-25BAECE374B3}">
      <dsp:nvSpPr>
        <dsp:cNvPr id="0" name=""/>
        <dsp:cNvSpPr/>
      </dsp:nvSpPr>
      <dsp:spPr>
        <a:xfrm>
          <a:off x="411233" y="1029557"/>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err="1" smtClean="0"/>
            <a:t>Yieldbook</a:t>
          </a:r>
          <a:r>
            <a:rPr lang="en-US" sz="1600" kern="1200" dirty="0" smtClean="0"/>
            <a:t> GUI</a:t>
          </a:r>
          <a:endParaRPr lang="en-US" sz="1600" kern="1200" dirty="0"/>
        </a:p>
      </dsp:txBody>
      <dsp:txXfrm>
        <a:off x="425875" y="1044199"/>
        <a:ext cx="2138456" cy="470624"/>
      </dsp:txXfrm>
    </dsp:sp>
    <dsp:sp modelId="{9A5B5CEA-07B0-4D6E-9EFA-B77BC480F34D}">
      <dsp:nvSpPr>
        <dsp:cNvPr id="0" name=""/>
        <dsp:cNvSpPr/>
      </dsp:nvSpPr>
      <dsp:spPr>
        <a:xfrm>
          <a:off x="411233" y="1606374"/>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err="1" smtClean="0"/>
            <a:t>Yieldbook</a:t>
          </a:r>
          <a:r>
            <a:rPr lang="en-US" sz="1600" kern="1200" dirty="0" smtClean="0"/>
            <a:t> Excel </a:t>
          </a:r>
          <a:r>
            <a:rPr lang="en-US" sz="1600" kern="1200" dirty="0" err="1" smtClean="0"/>
            <a:t>Addin</a:t>
          </a:r>
          <a:endParaRPr lang="en-US" sz="1600" kern="1200" dirty="0"/>
        </a:p>
      </dsp:txBody>
      <dsp:txXfrm>
        <a:off x="425875" y="1621016"/>
        <a:ext cx="2138456" cy="470624"/>
      </dsp:txXfrm>
    </dsp:sp>
    <dsp:sp modelId="{5328F7E9-34C4-42A2-88EB-53E11001EB53}">
      <dsp:nvSpPr>
        <dsp:cNvPr id="0" name=""/>
        <dsp:cNvSpPr/>
      </dsp:nvSpPr>
      <dsp:spPr>
        <a:xfrm>
          <a:off x="411233" y="2183191"/>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smtClean="0"/>
            <a:t>Cello YB Model Dials</a:t>
          </a:r>
          <a:endParaRPr lang="en-US" sz="1600" kern="1200" dirty="0"/>
        </a:p>
      </dsp:txBody>
      <dsp:txXfrm>
        <a:off x="425875" y="2197833"/>
        <a:ext cx="2138456" cy="470624"/>
      </dsp:txXfrm>
    </dsp:sp>
    <dsp:sp modelId="{10CE9EBF-CD42-4C6E-84B1-0BF126F35EC8}">
      <dsp:nvSpPr>
        <dsp:cNvPr id="0" name=""/>
        <dsp:cNvSpPr/>
      </dsp:nvSpPr>
      <dsp:spPr>
        <a:xfrm>
          <a:off x="411233" y="2760008"/>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err="1" smtClean="0"/>
            <a:t>Yieldbook</a:t>
          </a:r>
          <a:r>
            <a:rPr lang="en-US" sz="1600" kern="1200" dirty="0" smtClean="0"/>
            <a:t> </a:t>
          </a:r>
          <a:r>
            <a:rPr lang="en-US" sz="1600" kern="1200" dirty="0" err="1" smtClean="0"/>
            <a:t>Calc</a:t>
          </a:r>
          <a:r>
            <a:rPr lang="en-US" sz="1600" kern="1200" dirty="0" smtClean="0"/>
            <a:t> Servers</a:t>
          </a:r>
          <a:endParaRPr lang="en-US" sz="1600" kern="1200" dirty="0"/>
        </a:p>
      </dsp:txBody>
      <dsp:txXfrm>
        <a:off x="425875" y="2774650"/>
        <a:ext cx="2138456" cy="470624"/>
      </dsp:txXfrm>
    </dsp:sp>
    <dsp:sp modelId="{64F7A8B1-5E64-4C64-AF2E-CE9E05B46605}">
      <dsp:nvSpPr>
        <dsp:cNvPr id="0" name=""/>
        <dsp:cNvSpPr/>
      </dsp:nvSpPr>
      <dsp:spPr>
        <a:xfrm>
          <a:off x="3098351" y="0"/>
          <a:ext cx="2958911" cy="3431578"/>
        </a:xfrm>
        <a:prstGeom prst="roundRect">
          <a:avLst>
            <a:gd name="adj" fmla="val 10000"/>
          </a:avLst>
        </a:prstGeom>
        <a:solidFill>
          <a:schemeClr val="accent1">
            <a:lumMod val="60000"/>
            <a:lumOff val="40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Target</a:t>
          </a:r>
          <a:endParaRPr lang="en-US" sz="2400" kern="1200" dirty="0"/>
        </a:p>
      </dsp:txBody>
      <dsp:txXfrm>
        <a:off x="3098351" y="0"/>
        <a:ext cx="2958911" cy="1029473"/>
      </dsp:txXfrm>
    </dsp:sp>
    <dsp:sp modelId="{C26FDAE3-46A1-4632-A117-B409CA7FB9FF}">
      <dsp:nvSpPr>
        <dsp:cNvPr id="0" name=""/>
        <dsp:cNvSpPr/>
      </dsp:nvSpPr>
      <dsp:spPr>
        <a:xfrm>
          <a:off x="3588315" y="1029557"/>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smtClean="0"/>
            <a:t>Symphony</a:t>
          </a:r>
          <a:endParaRPr lang="en-US" sz="1600" kern="1200" dirty="0"/>
        </a:p>
      </dsp:txBody>
      <dsp:txXfrm>
        <a:off x="3602957" y="1044199"/>
        <a:ext cx="2138456" cy="470624"/>
      </dsp:txXfrm>
    </dsp:sp>
    <dsp:sp modelId="{52F33B99-00B1-4982-86F4-6F7476799F55}">
      <dsp:nvSpPr>
        <dsp:cNvPr id="0" name=""/>
        <dsp:cNvSpPr/>
      </dsp:nvSpPr>
      <dsp:spPr>
        <a:xfrm>
          <a:off x="3588315" y="1606374"/>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smtClean="0"/>
            <a:t>Excel Web API</a:t>
          </a:r>
          <a:endParaRPr lang="en-US" sz="1600" kern="1200" dirty="0"/>
        </a:p>
      </dsp:txBody>
      <dsp:txXfrm>
        <a:off x="3602957" y="1621016"/>
        <a:ext cx="2138456" cy="470624"/>
      </dsp:txXfrm>
    </dsp:sp>
    <dsp:sp modelId="{9F2F8BA3-8175-4125-B311-E86BFE37B8E1}">
      <dsp:nvSpPr>
        <dsp:cNvPr id="0" name=""/>
        <dsp:cNvSpPr/>
      </dsp:nvSpPr>
      <dsp:spPr>
        <a:xfrm>
          <a:off x="3588315" y="2183191"/>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smtClean="0"/>
            <a:t>Scale Models</a:t>
          </a:r>
          <a:endParaRPr lang="en-US" sz="1600" kern="1200" dirty="0"/>
        </a:p>
      </dsp:txBody>
      <dsp:txXfrm>
        <a:off x="3602957" y="2197833"/>
        <a:ext cx="2138456" cy="470624"/>
      </dsp:txXfrm>
    </dsp:sp>
    <dsp:sp modelId="{09E44FAE-6A2F-444C-855C-6DA54AADCA1F}">
      <dsp:nvSpPr>
        <dsp:cNvPr id="0" name=""/>
        <dsp:cNvSpPr/>
      </dsp:nvSpPr>
      <dsp:spPr>
        <a:xfrm>
          <a:off x="3588315" y="2760008"/>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smtClean="0"/>
            <a:t>AWS Cloud </a:t>
          </a:r>
          <a:r>
            <a:rPr lang="en-US" sz="1600" kern="1200" dirty="0" err="1" smtClean="0"/>
            <a:t>Calc</a:t>
          </a:r>
          <a:r>
            <a:rPr lang="en-US" sz="1600" kern="1200" dirty="0" smtClean="0"/>
            <a:t> Servers</a:t>
          </a:r>
          <a:endParaRPr lang="en-US" sz="1600" kern="1200" dirty="0"/>
        </a:p>
      </dsp:txBody>
      <dsp:txXfrm>
        <a:off x="3602957" y="2774650"/>
        <a:ext cx="2138456" cy="470624"/>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3"/>
            <a:ext cx="3005138" cy="459741"/>
          </a:xfrm>
          <a:prstGeom prst="rect">
            <a:avLst/>
          </a:prstGeom>
          <a:noFill/>
          <a:ln w="9525">
            <a:noFill/>
            <a:miter lim="800000"/>
            <a:headEnd/>
            <a:tailEnd/>
          </a:ln>
        </p:spPr>
        <p:txBody>
          <a:bodyPr vert="horz" wrap="square" lIns="91587" tIns="45793" rIns="91587" bIns="45793" numCol="1" anchor="t" anchorCtr="0" compatLnSpc="1">
            <a:prstTxWarp prst="textNoShape">
              <a:avLst/>
            </a:prstTxWarp>
          </a:bodyPr>
          <a:lstStyle>
            <a:lvl1pPr defTabSz="913151">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0" y="3"/>
            <a:ext cx="3005138" cy="459741"/>
          </a:xfrm>
          <a:prstGeom prst="rect">
            <a:avLst/>
          </a:prstGeom>
          <a:noFill/>
          <a:ln w="9525">
            <a:noFill/>
            <a:miter lim="800000"/>
            <a:headEnd/>
            <a:tailEnd/>
          </a:ln>
        </p:spPr>
        <p:txBody>
          <a:bodyPr vert="horz" wrap="square" lIns="91587" tIns="45793" rIns="91587" bIns="45793" numCol="1" anchor="t" anchorCtr="0" compatLnSpc="1">
            <a:prstTxWarp prst="textNoShape">
              <a:avLst/>
            </a:prstTxWarp>
          </a:bodyPr>
          <a:lstStyle>
            <a:lvl1pPr algn="r" defTabSz="913151">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78"/>
            <a:ext cx="3005138" cy="459741"/>
          </a:xfrm>
          <a:prstGeom prst="rect">
            <a:avLst/>
          </a:prstGeom>
          <a:noFill/>
          <a:ln w="9525">
            <a:noFill/>
            <a:miter lim="800000"/>
            <a:headEnd/>
            <a:tailEnd/>
          </a:ln>
        </p:spPr>
        <p:txBody>
          <a:bodyPr vert="horz" wrap="square" lIns="91587" tIns="45793" rIns="91587" bIns="45793" numCol="1" anchor="b" anchorCtr="0" compatLnSpc="1">
            <a:prstTxWarp prst="textNoShape">
              <a:avLst/>
            </a:prstTxWarp>
          </a:bodyPr>
          <a:lstStyle>
            <a:lvl1pPr defTabSz="913151">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0" y="8758878"/>
            <a:ext cx="3005138" cy="459741"/>
          </a:xfrm>
          <a:prstGeom prst="rect">
            <a:avLst/>
          </a:prstGeom>
          <a:noFill/>
          <a:ln w="9525">
            <a:noFill/>
            <a:miter lim="800000"/>
            <a:headEnd/>
            <a:tailEnd/>
          </a:ln>
        </p:spPr>
        <p:txBody>
          <a:bodyPr vert="horz" wrap="square" lIns="91587" tIns="45793" rIns="91587" bIns="45793" numCol="1" anchor="b" anchorCtr="0" compatLnSpc="1">
            <a:prstTxWarp prst="textNoShape">
              <a:avLst/>
            </a:prstTxWarp>
          </a:bodyPr>
          <a:lstStyle>
            <a:lvl1pPr algn="r" defTabSz="913151">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3"/>
            <a:ext cx="3005138" cy="459741"/>
          </a:xfrm>
          <a:prstGeom prst="rect">
            <a:avLst/>
          </a:prstGeom>
          <a:noFill/>
          <a:ln w="9525">
            <a:noFill/>
            <a:miter lim="800000"/>
            <a:headEnd/>
            <a:tailEnd/>
          </a:ln>
        </p:spPr>
        <p:txBody>
          <a:bodyPr vert="horz" wrap="square" lIns="91587" tIns="45793" rIns="91587" bIns="45793" numCol="1" anchor="t" anchorCtr="0" compatLnSpc="1">
            <a:prstTxWarp prst="textNoShape">
              <a:avLst/>
            </a:prstTxWarp>
          </a:bodyPr>
          <a:lstStyle>
            <a:lvl1pPr defTabSz="913151">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0" y="3"/>
            <a:ext cx="3005138" cy="459741"/>
          </a:xfrm>
          <a:prstGeom prst="rect">
            <a:avLst/>
          </a:prstGeom>
          <a:noFill/>
          <a:ln w="9525">
            <a:noFill/>
            <a:miter lim="800000"/>
            <a:headEnd/>
            <a:tailEnd/>
          </a:ln>
        </p:spPr>
        <p:txBody>
          <a:bodyPr vert="horz" wrap="square" lIns="91587" tIns="45793" rIns="91587" bIns="45793" numCol="1" anchor="t" anchorCtr="0" compatLnSpc="1">
            <a:prstTxWarp prst="textNoShape">
              <a:avLst/>
            </a:prstTxWarp>
          </a:bodyPr>
          <a:lstStyle>
            <a:lvl1pPr algn="r" defTabSz="913151">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3"/>
            <a:ext cx="5546725" cy="4147189"/>
          </a:xfrm>
          <a:prstGeom prst="rect">
            <a:avLst/>
          </a:prstGeom>
          <a:noFill/>
          <a:ln w="9525">
            <a:noFill/>
            <a:miter lim="800000"/>
            <a:headEnd/>
            <a:tailEnd/>
          </a:ln>
        </p:spPr>
        <p:txBody>
          <a:bodyPr vert="horz" wrap="square" lIns="91587" tIns="45793" rIns="91587" bIns="45793"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78"/>
            <a:ext cx="3005138" cy="459741"/>
          </a:xfrm>
          <a:prstGeom prst="rect">
            <a:avLst/>
          </a:prstGeom>
          <a:noFill/>
          <a:ln w="9525">
            <a:noFill/>
            <a:miter lim="800000"/>
            <a:headEnd/>
            <a:tailEnd/>
          </a:ln>
        </p:spPr>
        <p:txBody>
          <a:bodyPr vert="horz" wrap="square" lIns="91587" tIns="45793" rIns="91587" bIns="45793" numCol="1" anchor="b" anchorCtr="0" compatLnSpc="1">
            <a:prstTxWarp prst="textNoShape">
              <a:avLst/>
            </a:prstTxWarp>
          </a:bodyPr>
          <a:lstStyle>
            <a:lvl1pPr defTabSz="913151">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0" y="8758878"/>
            <a:ext cx="3005138" cy="459741"/>
          </a:xfrm>
          <a:prstGeom prst="rect">
            <a:avLst/>
          </a:prstGeom>
          <a:noFill/>
          <a:ln w="9525">
            <a:noFill/>
            <a:miter lim="800000"/>
            <a:headEnd/>
            <a:tailEnd/>
          </a:ln>
        </p:spPr>
        <p:txBody>
          <a:bodyPr vert="horz" wrap="square" lIns="91587" tIns="45793" rIns="91587" bIns="45793" numCol="1" anchor="b" anchorCtr="0" compatLnSpc="1">
            <a:prstTxWarp prst="textNoShape">
              <a:avLst/>
            </a:prstTxWarp>
          </a:bodyPr>
          <a:lstStyle>
            <a:lvl1pPr algn="r" defTabSz="913151">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644" algn="l" rtl="0" eaLnBrk="0" fontAlgn="base" hangingPunct="0">
      <a:spcBef>
        <a:spcPct val="30000"/>
      </a:spcBef>
      <a:spcAft>
        <a:spcPct val="0"/>
      </a:spcAft>
      <a:defRPr sz="1300" kern="1200">
        <a:solidFill>
          <a:schemeClr val="tx1"/>
        </a:solidFill>
        <a:latin typeface="Arial" charset="0"/>
        <a:ea typeface="+mn-ea"/>
        <a:cs typeface="+mn-cs"/>
      </a:defRPr>
    </a:lvl2pPr>
    <a:lvl3pPr marL="1017056" algn="l" rtl="0" eaLnBrk="0" fontAlgn="base" hangingPunct="0">
      <a:spcBef>
        <a:spcPct val="30000"/>
      </a:spcBef>
      <a:spcAft>
        <a:spcPct val="0"/>
      </a:spcAft>
      <a:defRPr sz="1300" kern="1200">
        <a:solidFill>
          <a:schemeClr val="tx1"/>
        </a:solidFill>
        <a:latin typeface="Arial" charset="0"/>
        <a:ea typeface="+mn-ea"/>
        <a:cs typeface="+mn-cs"/>
      </a:defRPr>
    </a:lvl3pPr>
    <a:lvl4pPr marL="1526468" algn="l" rtl="0" eaLnBrk="0" fontAlgn="base" hangingPunct="0">
      <a:spcBef>
        <a:spcPct val="30000"/>
      </a:spcBef>
      <a:spcAft>
        <a:spcPct val="0"/>
      </a:spcAft>
      <a:defRPr sz="1300" kern="1200">
        <a:solidFill>
          <a:schemeClr val="tx1"/>
        </a:solidFill>
        <a:latin typeface="Arial" charset="0"/>
        <a:ea typeface="+mn-ea"/>
        <a:cs typeface="+mn-cs"/>
      </a:defRPr>
    </a:lvl4pPr>
    <a:lvl5pPr marL="2035881" algn="l" rtl="0" eaLnBrk="0" fontAlgn="base" hangingPunct="0">
      <a:spcBef>
        <a:spcPct val="30000"/>
      </a:spcBef>
      <a:spcAft>
        <a:spcPct val="0"/>
      </a:spcAft>
      <a:defRPr sz="1300" kern="1200">
        <a:solidFill>
          <a:schemeClr val="tx1"/>
        </a:solidFill>
        <a:latin typeface="Arial" charset="0"/>
        <a:ea typeface="+mn-ea"/>
        <a:cs typeface="+mn-cs"/>
      </a:defRPr>
    </a:lvl5pPr>
    <a:lvl6pPr marL="2546776" algn="l" defTabSz="1018711" rtl="0" eaLnBrk="1" latinLnBrk="0" hangingPunct="1">
      <a:defRPr sz="1300" kern="1200">
        <a:solidFill>
          <a:schemeClr val="tx1"/>
        </a:solidFill>
        <a:latin typeface="+mn-lt"/>
        <a:ea typeface="+mn-ea"/>
        <a:cs typeface="+mn-cs"/>
      </a:defRPr>
    </a:lvl6pPr>
    <a:lvl7pPr marL="3056131" algn="l" defTabSz="1018711" rtl="0" eaLnBrk="1" latinLnBrk="0" hangingPunct="1">
      <a:defRPr sz="1300" kern="1200">
        <a:solidFill>
          <a:schemeClr val="tx1"/>
        </a:solidFill>
        <a:latin typeface="+mn-lt"/>
        <a:ea typeface="+mn-ea"/>
        <a:cs typeface="+mn-cs"/>
      </a:defRPr>
    </a:lvl7pPr>
    <a:lvl8pPr marL="3565487" algn="l" defTabSz="1018711" rtl="0" eaLnBrk="1" latinLnBrk="0" hangingPunct="1">
      <a:defRPr sz="1300" kern="1200">
        <a:solidFill>
          <a:schemeClr val="tx1"/>
        </a:solidFill>
        <a:latin typeface="+mn-lt"/>
        <a:ea typeface="+mn-ea"/>
        <a:cs typeface="+mn-cs"/>
      </a:defRPr>
    </a:lvl8pPr>
    <a:lvl9pPr marL="4074841" algn="l" defTabSz="1018711"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575"/>
            <a:fld id="{1FE077EC-684A-4FD9-A6C3-9AE90D8B81D6}" type="slidenum">
              <a:rPr lang="en-US" smtClean="0"/>
              <a:pPr defTabSz="911575"/>
              <a:t>0</a:t>
            </a:fld>
            <a:endParaRPr 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8725" y="690563"/>
            <a:ext cx="4476750" cy="3459162"/>
          </a:xfrm>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pPr>
                <a:defRPr/>
              </a:pPr>
              <a:t>1</a:t>
            </a:fld>
            <a:endParaRPr lang="en-US" dirty="0"/>
          </a:p>
        </p:txBody>
      </p:sp>
    </p:spTree>
    <p:extLst>
      <p:ext uri="{BB962C8B-B14F-4D97-AF65-F5344CB8AC3E}">
        <p14:creationId xmlns:p14="http://schemas.microsoft.com/office/powerpoint/2010/main" val="1941853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6</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CA49B7-56B7-41CA-B1AF-E05A1D1FCC64}" type="slidenum">
              <a:rPr lang="en-US" smtClean="0"/>
              <a:t>14</a:t>
            </a:fld>
            <a:endParaRPr lang="en-US" dirty="0"/>
          </a:p>
        </p:txBody>
      </p:sp>
    </p:spTree>
    <p:extLst>
      <p:ext uri="{BB962C8B-B14F-4D97-AF65-F5344CB8AC3E}">
        <p14:creationId xmlns:p14="http://schemas.microsoft.com/office/powerpoint/2010/main" val="559277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15</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7"/>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355" indent="0" algn="ctr">
              <a:buNone/>
              <a:defRPr/>
            </a:lvl2pPr>
            <a:lvl3pPr marL="1018711" indent="0" algn="ctr">
              <a:buNone/>
              <a:defRPr/>
            </a:lvl3pPr>
            <a:lvl4pPr marL="1528065" indent="0" algn="ctr">
              <a:buNone/>
              <a:defRPr/>
            </a:lvl4pPr>
            <a:lvl5pPr marL="2037421" indent="0" algn="ctr">
              <a:buNone/>
              <a:defRPr/>
            </a:lvl5pPr>
            <a:lvl6pPr marL="2546776" indent="0" algn="ctr">
              <a:buNone/>
              <a:defRPr/>
            </a:lvl6pPr>
            <a:lvl7pPr marL="3056131" indent="0" algn="ctr">
              <a:buNone/>
              <a:defRPr/>
            </a:lvl7pPr>
            <a:lvl8pPr marL="3565487" indent="0" algn="ctr">
              <a:buNone/>
              <a:defRPr/>
            </a:lvl8pPr>
            <a:lvl9pPr marL="4074841"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1"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275" indent="-234950">
              <a:defRPr sz="1200">
                <a:latin typeface="+mn-lt"/>
              </a:defRPr>
            </a:lvl4pPr>
            <a:lvl5pPr marL="1025525" indent="-22225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88"/>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79"/>
            <a:ext cx="8549640" cy="1700212"/>
          </a:xfrm>
        </p:spPr>
        <p:txBody>
          <a:bodyPr anchor="b"/>
          <a:lstStyle>
            <a:lvl1pPr marL="0" indent="0">
              <a:buNone/>
              <a:defRPr sz="2200"/>
            </a:lvl1pPr>
            <a:lvl2pPr marL="509355" indent="0">
              <a:buNone/>
              <a:defRPr sz="2000"/>
            </a:lvl2pPr>
            <a:lvl3pPr marL="1018711" indent="0">
              <a:buNone/>
              <a:defRPr sz="1800"/>
            </a:lvl3pPr>
            <a:lvl4pPr marL="1528065" indent="0">
              <a:buNone/>
              <a:defRPr sz="1600"/>
            </a:lvl4pPr>
            <a:lvl5pPr marL="2037421" indent="0">
              <a:buNone/>
              <a:defRPr sz="1600"/>
            </a:lvl5pPr>
            <a:lvl6pPr marL="2546776" indent="0">
              <a:buNone/>
              <a:defRPr sz="1600"/>
            </a:lvl6pPr>
            <a:lvl7pPr marL="3056131" indent="0">
              <a:buNone/>
              <a:defRPr sz="1600"/>
            </a:lvl7pPr>
            <a:lvl8pPr marL="3565487" indent="0">
              <a:buNone/>
              <a:defRPr sz="1600"/>
            </a:lvl8pPr>
            <a:lvl9pPr marL="4074841"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5"/>
            <a:ext cx="4716783"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5"/>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8" y="1235076"/>
            <a:ext cx="1839913" cy="5938837"/>
          </a:xfrm>
        </p:spPr>
        <p:txBody>
          <a:bodyPr/>
          <a:lstStyle>
            <a:lvl1pPr>
              <a:spcBef>
                <a:spcPts val="2400"/>
              </a:spcBef>
              <a:defRPr sz="1300"/>
            </a:lvl1pPr>
            <a:lvl2pPr>
              <a:defRPr sz="1100"/>
            </a:lvl2pPr>
            <a:lvl3pPr>
              <a:spcBef>
                <a:spcPts val="599"/>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46" tIns="50923" rIns="101846" bIns="50923"/>
          <a:lstStyle/>
          <a:p>
            <a:pPr>
              <a:defRPr/>
            </a:pPr>
            <a:endParaRPr lang="en-US" dirty="0"/>
          </a:p>
        </p:txBody>
      </p:sp>
      <p:sp>
        <p:nvSpPr>
          <p:cNvPr id="6" name="Text Placeholder 4"/>
          <p:cNvSpPr>
            <a:spLocks noGrp="1"/>
          </p:cNvSpPr>
          <p:nvPr>
            <p:ph type="body" sz="quarter" idx="10"/>
          </p:nvPr>
        </p:nvSpPr>
        <p:spPr>
          <a:xfrm>
            <a:off x="2895601" y="436881"/>
            <a:ext cx="6867526"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1205484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412" indent="0" algn="ctr">
              <a:buNone/>
              <a:defRPr/>
            </a:lvl2pPr>
            <a:lvl3pPr marL="1018824" indent="0" algn="ctr">
              <a:buNone/>
              <a:defRPr/>
            </a:lvl3pPr>
            <a:lvl4pPr marL="1528237" indent="0" algn="ctr">
              <a:buNone/>
              <a:defRPr/>
            </a:lvl4pPr>
            <a:lvl5pPr marL="2037649" indent="0" algn="ctr">
              <a:buNone/>
              <a:defRPr/>
            </a:lvl5pPr>
            <a:lvl6pPr marL="2547061" indent="0" algn="ctr">
              <a:buNone/>
              <a:defRPr/>
            </a:lvl6pPr>
            <a:lvl7pPr marL="3056473" indent="0" algn="ctr">
              <a:buNone/>
              <a:defRPr/>
            </a:lvl7pPr>
            <a:lvl8pPr marL="3565886" indent="0" algn="ctr">
              <a:buNone/>
              <a:defRPr/>
            </a:lvl8pPr>
            <a:lvl9pPr marL="4075298" indent="0" algn="ctr">
              <a:buNone/>
              <a:defRPr/>
            </a:lvl9pPr>
          </a:lstStyle>
          <a:p>
            <a:r>
              <a:rPr lang="en-US" smtClean="0"/>
              <a:t>Click to edit Master subtitle style</a:t>
            </a: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3"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1"/>
            <a:ext cx="8574088" cy="609918"/>
          </a:xfrm>
          <a:prstGeom prst="rect">
            <a:avLst/>
          </a:prstGeom>
        </p:spPr>
        <p:txBody>
          <a:bodyPr/>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3"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7"/>
            <a:ext cx="8549640" cy="1666028"/>
          </a:xfrm>
          <a:prstGeom prst="rect">
            <a:avLst/>
          </a:prstGeom>
        </p:spPr>
        <p:txBody>
          <a:bodyPr lIns="101871" tIns="50935" rIns="101871" bIns="50935"/>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71" tIns="50935" rIns="101871" bIns="50935"/>
          <a:lstStyle>
            <a:lvl1pPr marL="0" indent="0" algn="ctr">
              <a:buNone/>
              <a:defRPr/>
            </a:lvl1pPr>
            <a:lvl2pPr marL="509355" indent="0" algn="ctr">
              <a:buNone/>
              <a:defRPr/>
            </a:lvl2pPr>
            <a:lvl3pPr marL="1018711" indent="0" algn="ctr">
              <a:buNone/>
              <a:defRPr/>
            </a:lvl3pPr>
            <a:lvl4pPr marL="1528065" indent="0" algn="ctr">
              <a:buNone/>
              <a:defRPr/>
            </a:lvl4pPr>
            <a:lvl5pPr marL="2037421" indent="0" algn="ctr">
              <a:buNone/>
              <a:defRPr/>
            </a:lvl5pPr>
            <a:lvl6pPr marL="2546776" indent="0" algn="ctr">
              <a:buNone/>
              <a:defRPr/>
            </a:lvl6pPr>
            <a:lvl7pPr marL="3056131" indent="0" algn="ctr">
              <a:buNone/>
              <a:defRPr/>
            </a:lvl7pPr>
            <a:lvl8pPr marL="3565487" indent="0" algn="ctr">
              <a:buNone/>
              <a:defRPr/>
            </a:lvl8pPr>
            <a:lvl9pPr marL="4074841" indent="0" algn="ctr">
              <a:buNone/>
              <a:defRPr/>
            </a:lvl9pPr>
          </a:lstStyle>
          <a:p>
            <a:r>
              <a:rPr lang="en-US" smtClean="0"/>
              <a:t>Click to edit Master subtitle style</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82" tIns="50941" rIns="101882" bIns="50941"/>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82" tIns="50941" rIns="101882" bIns="50941"/>
          <a:lstStyle>
            <a:lvl1pPr marL="0" indent="0" algn="ctr">
              <a:buNone/>
              <a:defRPr/>
            </a:lvl1pPr>
            <a:lvl2pPr marL="509412" indent="0" algn="ctr">
              <a:buNone/>
              <a:defRPr/>
            </a:lvl2pPr>
            <a:lvl3pPr marL="1018824" indent="0" algn="ctr">
              <a:buNone/>
              <a:defRPr/>
            </a:lvl3pPr>
            <a:lvl4pPr marL="1528237" indent="0" algn="ctr">
              <a:buNone/>
              <a:defRPr/>
            </a:lvl4pPr>
            <a:lvl5pPr marL="2037649" indent="0" algn="ctr">
              <a:buNone/>
              <a:defRPr/>
            </a:lvl5pPr>
            <a:lvl6pPr marL="2547061" indent="0" algn="ctr">
              <a:buNone/>
              <a:defRPr/>
            </a:lvl6pPr>
            <a:lvl7pPr marL="3056473" indent="0" algn="ctr">
              <a:buNone/>
              <a:defRPr/>
            </a:lvl7pPr>
            <a:lvl8pPr marL="3565886" indent="0" algn="ctr">
              <a:buNone/>
              <a:defRPr/>
            </a:lvl8pPr>
            <a:lvl9pPr marL="4075298"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5"/>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5" y="6521116"/>
            <a:ext cx="9454198" cy="915732"/>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502920" y="1813560"/>
            <a:ext cx="9052560" cy="5129425"/>
          </a:xfrm>
          <a:prstGeom prst="rect">
            <a:avLst/>
          </a:prstGeom>
        </p:spPr>
        <p:txBody>
          <a:bodyPr lIns="101882" tIns="50941" rIns="101882" bIns="5094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1"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1.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4.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5.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6.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0"/>
            <a:ext cx="9601200" cy="649224"/>
          </a:xfrm>
          <a:prstGeom prst="rect">
            <a:avLst/>
          </a:prstGeom>
          <a:solidFill>
            <a:srgbClr val="2E398A"/>
          </a:solidFill>
          <a:ln w="9525">
            <a:noFill/>
            <a:miter lim="800000"/>
            <a:headEnd/>
            <a:tailEnd/>
          </a:ln>
          <a:effectLst/>
        </p:spPr>
        <p:txBody>
          <a:bodyPr wrap="none" lIns="101871" tIns="50935" rIns="101871" bIns="50935" anchor="ctr"/>
          <a:lstStyle/>
          <a:p>
            <a:pPr>
              <a:defRPr/>
            </a:pPr>
            <a:endParaRPr lang="en-US" dirty="0"/>
          </a:p>
        </p:txBody>
      </p:sp>
      <p:sp>
        <p:nvSpPr>
          <p:cNvPr id="1029" name="Rectangle 2"/>
          <p:cNvSpPr>
            <a:spLocks noGrp="1" noChangeArrowheads="1"/>
          </p:cNvSpPr>
          <p:nvPr>
            <p:ph type="title"/>
          </p:nvPr>
        </p:nvSpPr>
        <p:spPr bwMode="auto">
          <a:xfrm>
            <a:off x="2518973" y="220861"/>
            <a:ext cx="7280116" cy="644102"/>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0" y="7333575"/>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 id="2147483847" r:id="rId6"/>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355" algn="r" rtl="0" fontAlgn="base">
        <a:spcBef>
          <a:spcPct val="0"/>
        </a:spcBef>
        <a:spcAft>
          <a:spcPct val="0"/>
        </a:spcAft>
        <a:defRPr sz="1900">
          <a:solidFill>
            <a:schemeClr val="bg1"/>
          </a:solidFill>
          <a:latin typeface="Calisto MT" pitchFamily="18" charset="0"/>
        </a:defRPr>
      </a:lvl6pPr>
      <a:lvl7pPr marL="1018711" algn="r" rtl="0" fontAlgn="base">
        <a:spcBef>
          <a:spcPct val="0"/>
        </a:spcBef>
        <a:spcAft>
          <a:spcPct val="0"/>
        </a:spcAft>
        <a:defRPr sz="1900">
          <a:solidFill>
            <a:schemeClr val="bg1"/>
          </a:solidFill>
          <a:latin typeface="Calisto MT" pitchFamily="18" charset="0"/>
        </a:defRPr>
      </a:lvl7pPr>
      <a:lvl8pPr marL="1528065" algn="r" rtl="0" fontAlgn="base">
        <a:spcBef>
          <a:spcPct val="0"/>
        </a:spcBef>
        <a:spcAft>
          <a:spcPct val="0"/>
        </a:spcAft>
        <a:defRPr sz="1900">
          <a:solidFill>
            <a:schemeClr val="bg1"/>
          </a:solidFill>
          <a:latin typeface="Calisto MT" pitchFamily="18" charset="0"/>
        </a:defRPr>
      </a:lvl8pPr>
      <a:lvl9pPr marL="2037421" algn="r" rtl="0" fontAlgn="base">
        <a:spcBef>
          <a:spcPct val="0"/>
        </a:spcBef>
        <a:spcAft>
          <a:spcPct val="0"/>
        </a:spcAft>
        <a:defRPr sz="1900">
          <a:solidFill>
            <a:schemeClr val="bg1"/>
          </a:solidFill>
          <a:latin typeface="Calisto MT" pitchFamily="18" charset="0"/>
        </a:defRPr>
      </a:lvl9pPr>
    </p:titleStyle>
    <p:bodyStyle>
      <a:lvl1pPr marL="187492" indent="-187492"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53" indent="-185724"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6014" indent="-185724"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1175" indent="-252938" algn="l" rtl="0" eaLnBrk="0" fontAlgn="base" hangingPunct="0">
        <a:spcBef>
          <a:spcPct val="20000"/>
        </a:spcBef>
        <a:spcAft>
          <a:spcPct val="0"/>
        </a:spcAft>
        <a:buChar char="–"/>
        <a:defRPr sz="1600">
          <a:solidFill>
            <a:schemeClr val="tx1"/>
          </a:solidFill>
          <a:latin typeface="Arial" charset="0"/>
        </a:defRPr>
      </a:lvl4pPr>
      <a:lvl5pPr marL="2290587" indent="-252938" algn="l" rtl="0" eaLnBrk="0" fontAlgn="base" hangingPunct="0">
        <a:spcBef>
          <a:spcPct val="20000"/>
        </a:spcBef>
        <a:spcAft>
          <a:spcPct val="0"/>
        </a:spcAft>
        <a:buChar char="»"/>
        <a:defRPr sz="1600">
          <a:solidFill>
            <a:schemeClr val="tx1"/>
          </a:solidFill>
          <a:latin typeface="Arial" charset="0"/>
        </a:defRPr>
      </a:lvl5pPr>
      <a:lvl6pPr marL="2801453" indent="-254677" algn="l" rtl="0" fontAlgn="base">
        <a:spcBef>
          <a:spcPct val="20000"/>
        </a:spcBef>
        <a:spcAft>
          <a:spcPct val="0"/>
        </a:spcAft>
        <a:buChar char="»"/>
        <a:defRPr sz="1600">
          <a:solidFill>
            <a:schemeClr val="tx1"/>
          </a:solidFill>
          <a:latin typeface="Arial" charset="0"/>
        </a:defRPr>
      </a:lvl6pPr>
      <a:lvl7pPr marL="3310809" indent="-254677" algn="l" rtl="0" fontAlgn="base">
        <a:spcBef>
          <a:spcPct val="20000"/>
        </a:spcBef>
        <a:spcAft>
          <a:spcPct val="0"/>
        </a:spcAft>
        <a:buChar char="»"/>
        <a:defRPr sz="1600">
          <a:solidFill>
            <a:schemeClr val="tx1"/>
          </a:solidFill>
          <a:latin typeface="Arial" charset="0"/>
        </a:defRPr>
      </a:lvl7pPr>
      <a:lvl8pPr marL="3820164" indent="-254677" algn="l" rtl="0" fontAlgn="base">
        <a:spcBef>
          <a:spcPct val="20000"/>
        </a:spcBef>
        <a:spcAft>
          <a:spcPct val="0"/>
        </a:spcAft>
        <a:buChar char="»"/>
        <a:defRPr sz="1600">
          <a:solidFill>
            <a:schemeClr val="tx1"/>
          </a:solidFill>
          <a:latin typeface="Arial" charset="0"/>
        </a:defRPr>
      </a:lvl8pPr>
      <a:lvl9pPr marL="4329519" indent="-25467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711" rtl="0" eaLnBrk="1" latinLnBrk="0" hangingPunct="1">
        <a:defRPr sz="2000" kern="1200">
          <a:solidFill>
            <a:schemeClr val="tx1"/>
          </a:solidFill>
          <a:latin typeface="+mn-lt"/>
          <a:ea typeface="+mn-ea"/>
          <a:cs typeface="+mn-cs"/>
        </a:defRPr>
      </a:lvl1pPr>
      <a:lvl2pPr marL="509355" algn="l" defTabSz="1018711" rtl="0" eaLnBrk="1" latinLnBrk="0" hangingPunct="1">
        <a:defRPr sz="2000" kern="1200">
          <a:solidFill>
            <a:schemeClr val="tx1"/>
          </a:solidFill>
          <a:latin typeface="+mn-lt"/>
          <a:ea typeface="+mn-ea"/>
          <a:cs typeface="+mn-cs"/>
        </a:defRPr>
      </a:lvl2pPr>
      <a:lvl3pPr marL="1018711" algn="l" defTabSz="1018711" rtl="0" eaLnBrk="1" latinLnBrk="0" hangingPunct="1">
        <a:defRPr sz="2000" kern="1200">
          <a:solidFill>
            <a:schemeClr val="tx1"/>
          </a:solidFill>
          <a:latin typeface="+mn-lt"/>
          <a:ea typeface="+mn-ea"/>
          <a:cs typeface="+mn-cs"/>
        </a:defRPr>
      </a:lvl3pPr>
      <a:lvl4pPr marL="1528065" algn="l" defTabSz="1018711" rtl="0" eaLnBrk="1" latinLnBrk="0" hangingPunct="1">
        <a:defRPr sz="2000" kern="1200">
          <a:solidFill>
            <a:schemeClr val="tx1"/>
          </a:solidFill>
          <a:latin typeface="+mn-lt"/>
          <a:ea typeface="+mn-ea"/>
          <a:cs typeface="+mn-cs"/>
        </a:defRPr>
      </a:lvl4pPr>
      <a:lvl5pPr marL="2037421" algn="l" defTabSz="1018711" rtl="0" eaLnBrk="1" latinLnBrk="0" hangingPunct="1">
        <a:defRPr sz="2000" kern="1200">
          <a:solidFill>
            <a:schemeClr val="tx1"/>
          </a:solidFill>
          <a:latin typeface="+mn-lt"/>
          <a:ea typeface="+mn-ea"/>
          <a:cs typeface="+mn-cs"/>
        </a:defRPr>
      </a:lvl5pPr>
      <a:lvl6pPr marL="2546776" algn="l" defTabSz="1018711" rtl="0" eaLnBrk="1" latinLnBrk="0" hangingPunct="1">
        <a:defRPr sz="2000" kern="1200">
          <a:solidFill>
            <a:schemeClr val="tx1"/>
          </a:solidFill>
          <a:latin typeface="+mn-lt"/>
          <a:ea typeface="+mn-ea"/>
          <a:cs typeface="+mn-cs"/>
        </a:defRPr>
      </a:lvl6pPr>
      <a:lvl7pPr marL="3056131" algn="l" defTabSz="1018711" rtl="0" eaLnBrk="1" latinLnBrk="0" hangingPunct="1">
        <a:defRPr sz="2000" kern="1200">
          <a:solidFill>
            <a:schemeClr val="tx1"/>
          </a:solidFill>
          <a:latin typeface="+mn-lt"/>
          <a:ea typeface="+mn-ea"/>
          <a:cs typeface="+mn-cs"/>
        </a:defRPr>
      </a:lvl7pPr>
      <a:lvl8pPr marL="3565487" algn="l" defTabSz="1018711" rtl="0" eaLnBrk="1" latinLnBrk="0" hangingPunct="1">
        <a:defRPr sz="2000" kern="1200">
          <a:solidFill>
            <a:schemeClr val="tx1"/>
          </a:solidFill>
          <a:latin typeface="+mn-lt"/>
          <a:ea typeface="+mn-ea"/>
          <a:cs typeface="+mn-cs"/>
        </a:defRPr>
      </a:lvl8pPr>
      <a:lvl9pPr marL="4074841" algn="l" defTabSz="1018711"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0"/>
            <a:ext cx="9601200" cy="649224"/>
          </a:xfrm>
          <a:prstGeom prst="rect">
            <a:avLst/>
          </a:prstGeom>
          <a:solidFill>
            <a:srgbClr val="2E398A"/>
          </a:solidFill>
          <a:ln w="9525">
            <a:noFill/>
            <a:miter lim="800000"/>
            <a:headEnd/>
            <a:tailEnd/>
          </a:ln>
          <a:effectLst/>
        </p:spPr>
        <p:txBody>
          <a:bodyPr wrap="none" lIns="101871" tIns="50935" rIns="101871" bIns="50935" anchor="ctr"/>
          <a:lstStyle/>
          <a:p>
            <a:pPr>
              <a:defRPr/>
            </a:pPr>
            <a:endParaRPr lang="en-US" dirty="0"/>
          </a:p>
        </p:txBody>
      </p:sp>
      <p:sp>
        <p:nvSpPr>
          <p:cNvPr id="13314" name="Rectangle 3"/>
          <p:cNvSpPr>
            <a:spLocks noGrp="1" noChangeArrowheads="1"/>
          </p:cNvSpPr>
          <p:nvPr>
            <p:ph type="body" idx="1"/>
          </p:nvPr>
        </p:nvSpPr>
        <p:spPr bwMode="auto">
          <a:xfrm>
            <a:off x="2387124" y="1829754"/>
            <a:ext cx="7493158" cy="5149215"/>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7"/>
            <a:ext cx="0" cy="5366913"/>
          </a:xfrm>
          <a:prstGeom prst="line">
            <a:avLst/>
          </a:prstGeom>
          <a:noFill/>
          <a:ln w="3175">
            <a:solidFill>
              <a:schemeClr val="accent1"/>
            </a:solidFill>
            <a:round/>
            <a:headEnd/>
            <a:tailEnd/>
          </a:ln>
          <a:effectLst/>
        </p:spPr>
        <p:txBody>
          <a:bodyPr lIns="101882" tIns="50941" rIns="101882" bIns="50941"/>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71" tIns="50935" rIns="101871" bIns="50935"/>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71" tIns="50935" rIns="101871" bIns="50935"/>
          <a:lstStyle/>
          <a:p>
            <a:pPr>
              <a:defRPr/>
            </a:pPr>
            <a:endParaRPr lang="en-US" dirty="0"/>
          </a:p>
        </p:txBody>
      </p:sp>
      <p:sp>
        <p:nvSpPr>
          <p:cNvPr id="24" name="Rectangle 2"/>
          <p:cNvSpPr txBox="1">
            <a:spLocks noChangeArrowheads="1"/>
          </p:cNvSpPr>
          <p:nvPr userDrawn="1"/>
        </p:nvSpPr>
        <p:spPr bwMode="auto">
          <a:xfrm>
            <a:off x="2518973" y="220861"/>
            <a:ext cx="7280116" cy="644102"/>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0" y="7333575"/>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412" algn="r" rtl="0" fontAlgn="base">
        <a:spcBef>
          <a:spcPct val="0"/>
        </a:spcBef>
        <a:spcAft>
          <a:spcPct val="0"/>
        </a:spcAft>
        <a:defRPr sz="1900">
          <a:solidFill>
            <a:schemeClr val="bg1"/>
          </a:solidFill>
          <a:latin typeface="Calibri" pitchFamily="34" charset="0"/>
        </a:defRPr>
      </a:lvl6pPr>
      <a:lvl7pPr marL="1018824" algn="r" rtl="0" fontAlgn="base">
        <a:spcBef>
          <a:spcPct val="0"/>
        </a:spcBef>
        <a:spcAft>
          <a:spcPct val="0"/>
        </a:spcAft>
        <a:defRPr sz="1900">
          <a:solidFill>
            <a:schemeClr val="bg1"/>
          </a:solidFill>
          <a:latin typeface="Calibri" pitchFamily="34" charset="0"/>
        </a:defRPr>
      </a:lvl7pPr>
      <a:lvl8pPr marL="1528237" algn="r" rtl="0" fontAlgn="base">
        <a:spcBef>
          <a:spcPct val="0"/>
        </a:spcBef>
        <a:spcAft>
          <a:spcPct val="0"/>
        </a:spcAft>
        <a:defRPr sz="1900">
          <a:solidFill>
            <a:schemeClr val="bg1"/>
          </a:solidFill>
          <a:latin typeface="Calibri" pitchFamily="34" charset="0"/>
        </a:defRPr>
      </a:lvl8pPr>
      <a:lvl9pPr marL="2037649"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1175" indent="-252938" algn="l" rtl="0" eaLnBrk="0" fontAlgn="base" hangingPunct="0">
        <a:spcBef>
          <a:spcPct val="20000"/>
        </a:spcBef>
        <a:spcAft>
          <a:spcPct val="0"/>
        </a:spcAft>
        <a:buChar char="–"/>
        <a:defRPr sz="1600">
          <a:solidFill>
            <a:schemeClr val="tx1"/>
          </a:solidFill>
          <a:latin typeface="Arial" charset="0"/>
        </a:defRPr>
      </a:lvl4pPr>
      <a:lvl5pPr marL="2290587" indent="-252938" algn="l" rtl="0" eaLnBrk="0" fontAlgn="base" hangingPunct="0">
        <a:spcBef>
          <a:spcPct val="20000"/>
        </a:spcBef>
        <a:spcAft>
          <a:spcPct val="0"/>
        </a:spcAft>
        <a:buChar char="»"/>
        <a:defRPr sz="1600">
          <a:solidFill>
            <a:schemeClr val="tx1"/>
          </a:solidFill>
          <a:latin typeface="Arial" charset="0"/>
        </a:defRPr>
      </a:lvl5pPr>
      <a:lvl6pPr marL="2799999" indent="-252938" algn="l" rtl="0" fontAlgn="base">
        <a:spcBef>
          <a:spcPct val="20000"/>
        </a:spcBef>
        <a:spcAft>
          <a:spcPct val="0"/>
        </a:spcAft>
        <a:buChar char="»"/>
        <a:defRPr sz="1600">
          <a:solidFill>
            <a:schemeClr val="tx1"/>
          </a:solidFill>
          <a:latin typeface="Arial" charset="0"/>
        </a:defRPr>
      </a:lvl6pPr>
      <a:lvl7pPr marL="3309411" indent="-252938" algn="l" rtl="0" fontAlgn="base">
        <a:spcBef>
          <a:spcPct val="20000"/>
        </a:spcBef>
        <a:spcAft>
          <a:spcPct val="0"/>
        </a:spcAft>
        <a:buChar char="»"/>
        <a:defRPr sz="1600">
          <a:solidFill>
            <a:schemeClr val="tx1"/>
          </a:solidFill>
          <a:latin typeface="Arial" charset="0"/>
        </a:defRPr>
      </a:lvl7pPr>
      <a:lvl8pPr marL="3818824" indent="-252938" algn="l" rtl="0" fontAlgn="base">
        <a:spcBef>
          <a:spcPct val="20000"/>
        </a:spcBef>
        <a:spcAft>
          <a:spcPct val="0"/>
        </a:spcAft>
        <a:buChar char="»"/>
        <a:defRPr sz="1600">
          <a:solidFill>
            <a:schemeClr val="tx1"/>
          </a:solidFill>
          <a:latin typeface="Arial" charset="0"/>
        </a:defRPr>
      </a:lvl8pPr>
      <a:lvl9pPr marL="4328236" indent="-252938"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0"/>
            <a:ext cx="7539782" cy="5813425"/>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82" tIns="50941" rIns="101882" bIns="50941"/>
          <a:lstStyle/>
          <a:p>
            <a:pPr>
              <a:defRPr/>
            </a:pPr>
            <a:endParaRPr lang="en-US" dirty="0"/>
          </a:p>
        </p:txBody>
      </p:sp>
      <p:sp>
        <p:nvSpPr>
          <p:cNvPr id="22" name="Rectangle 51"/>
          <p:cNvSpPr>
            <a:spLocks noChangeArrowheads="1"/>
          </p:cNvSpPr>
          <p:nvPr userDrawn="1"/>
        </p:nvSpPr>
        <p:spPr bwMode="auto">
          <a:xfrm>
            <a:off x="228600" y="230120"/>
            <a:ext cx="9601200" cy="649224"/>
          </a:xfrm>
          <a:prstGeom prst="rect">
            <a:avLst/>
          </a:prstGeom>
          <a:solidFill>
            <a:srgbClr val="2E398A"/>
          </a:solidFill>
          <a:ln w="9525">
            <a:noFill/>
            <a:miter lim="800000"/>
            <a:headEnd/>
            <a:tailEnd/>
          </a:ln>
          <a:effectLst/>
        </p:spPr>
        <p:txBody>
          <a:bodyPr wrap="none" lIns="101871" tIns="50935" rIns="101871" bIns="50935"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71" tIns="50935" rIns="101871" bIns="50935"/>
          <a:lstStyle/>
          <a:p>
            <a:pPr>
              <a:defRPr/>
            </a:pPr>
            <a:endParaRPr lang="en-US" dirty="0"/>
          </a:p>
        </p:txBody>
      </p:sp>
      <p:sp>
        <p:nvSpPr>
          <p:cNvPr id="24" name="Rectangle 2"/>
          <p:cNvSpPr>
            <a:spLocks noGrp="1" noChangeArrowheads="1"/>
          </p:cNvSpPr>
          <p:nvPr>
            <p:ph type="title"/>
          </p:nvPr>
        </p:nvSpPr>
        <p:spPr bwMode="auto">
          <a:xfrm>
            <a:off x="2518973" y="220861"/>
            <a:ext cx="7280116" cy="644102"/>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0" y="7333575"/>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412" algn="r" rtl="0" fontAlgn="base">
        <a:spcBef>
          <a:spcPct val="0"/>
        </a:spcBef>
        <a:spcAft>
          <a:spcPct val="0"/>
        </a:spcAft>
        <a:defRPr sz="1900">
          <a:solidFill>
            <a:schemeClr val="bg1"/>
          </a:solidFill>
          <a:latin typeface="Calibri" pitchFamily="34" charset="0"/>
        </a:defRPr>
      </a:lvl6pPr>
      <a:lvl7pPr marL="1018824" algn="r" rtl="0" fontAlgn="base">
        <a:spcBef>
          <a:spcPct val="0"/>
        </a:spcBef>
        <a:spcAft>
          <a:spcPct val="0"/>
        </a:spcAft>
        <a:defRPr sz="1900">
          <a:solidFill>
            <a:schemeClr val="bg1"/>
          </a:solidFill>
          <a:latin typeface="Calibri" pitchFamily="34" charset="0"/>
        </a:defRPr>
      </a:lvl7pPr>
      <a:lvl8pPr marL="1528237" algn="r" rtl="0" fontAlgn="base">
        <a:spcBef>
          <a:spcPct val="0"/>
        </a:spcBef>
        <a:spcAft>
          <a:spcPct val="0"/>
        </a:spcAft>
        <a:defRPr sz="1900">
          <a:solidFill>
            <a:schemeClr val="bg1"/>
          </a:solidFill>
          <a:latin typeface="Calibri" pitchFamily="34" charset="0"/>
        </a:defRPr>
      </a:lvl8pPr>
      <a:lvl9pPr marL="2037649"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1175" indent="-252938" algn="l" rtl="0" eaLnBrk="0" fontAlgn="base" hangingPunct="0">
        <a:spcBef>
          <a:spcPct val="20000"/>
        </a:spcBef>
        <a:spcAft>
          <a:spcPct val="0"/>
        </a:spcAft>
        <a:buChar char="–"/>
        <a:defRPr sz="1600">
          <a:solidFill>
            <a:schemeClr val="tx1"/>
          </a:solidFill>
          <a:latin typeface="Arial" charset="0"/>
        </a:defRPr>
      </a:lvl4pPr>
      <a:lvl5pPr marL="2290587" indent="-252938" algn="l" rtl="0" eaLnBrk="0" fontAlgn="base" hangingPunct="0">
        <a:spcBef>
          <a:spcPct val="20000"/>
        </a:spcBef>
        <a:spcAft>
          <a:spcPct val="0"/>
        </a:spcAft>
        <a:buChar char="»"/>
        <a:defRPr sz="1600">
          <a:solidFill>
            <a:schemeClr val="tx1"/>
          </a:solidFill>
          <a:latin typeface="Arial" charset="0"/>
        </a:defRPr>
      </a:lvl5pPr>
      <a:lvl6pPr marL="2799999" indent="-252938" algn="l" rtl="0" fontAlgn="base">
        <a:spcBef>
          <a:spcPct val="20000"/>
        </a:spcBef>
        <a:spcAft>
          <a:spcPct val="0"/>
        </a:spcAft>
        <a:buChar char="»"/>
        <a:defRPr sz="1600">
          <a:solidFill>
            <a:schemeClr val="tx1"/>
          </a:solidFill>
          <a:latin typeface="Arial" charset="0"/>
        </a:defRPr>
      </a:lvl6pPr>
      <a:lvl7pPr marL="3309411" indent="-252938" algn="l" rtl="0" fontAlgn="base">
        <a:spcBef>
          <a:spcPct val="20000"/>
        </a:spcBef>
        <a:spcAft>
          <a:spcPct val="0"/>
        </a:spcAft>
        <a:buChar char="»"/>
        <a:defRPr sz="1600">
          <a:solidFill>
            <a:schemeClr val="tx1"/>
          </a:solidFill>
          <a:latin typeface="Arial" charset="0"/>
        </a:defRPr>
      </a:lvl7pPr>
      <a:lvl8pPr marL="3818824" indent="-252938" algn="l" rtl="0" fontAlgn="base">
        <a:spcBef>
          <a:spcPct val="20000"/>
        </a:spcBef>
        <a:spcAft>
          <a:spcPct val="0"/>
        </a:spcAft>
        <a:buChar char="»"/>
        <a:defRPr sz="1600">
          <a:solidFill>
            <a:schemeClr val="tx1"/>
          </a:solidFill>
          <a:latin typeface="Arial" charset="0"/>
        </a:defRPr>
      </a:lvl8pPr>
      <a:lvl9pPr marL="4328236" indent="-252938"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2"/>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5"/>
            <a:ext cx="9601200" cy="3853743"/>
          </a:xfrm>
          <a:prstGeom prst="rect">
            <a:avLst/>
          </a:prstGeom>
          <a:noFill/>
          <a:ln w="9525">
            <a:noFill/>
            <a:miter lim="800000"/>
            <a:headEnd/>
            <a:tailEnd/>
          </a:ln>
        </p:spPr>
      </p:pic>
      <p:grpSp>
        <p:nvGrpSpPr>
          <p:cNvPr id="37897" name="Group 33"/>
          <p:cNvGrpSpPr>
            <a:grpSpLocks/>
          </p:cNvGrpSpPr>
          <p:nvPr/>
        </p:nvGrpSpPr>
        <p:grpSpPr bwMode="auto">
          <a:xfrm>
            <a:off x="3794602" y="3762059"/>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7"/>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355" algn="ctr" rtl="0" fontAlgn="base">
        <a:spcBef>
          <a:spcPct val="0"/>
        </a:spcBef>
        <a:spcAft>
          <a:spcPct val="0"/>
        </a:spcAft>
        <a:defRPr sz="4900">
          <a:solidFill>
            <a:schemeClr val="tx2"/>
          </a:solidFill>
          <a:latin typeface="Cambria" pitchFamily="18" charset="0"/>
        </a:defRPr>
      </a:lvl6pPr>
      <a:lvl7pPr marL="1018711" algn="ctr" rtl="0" fontAlgn="base">
        <a:spcBef>
          <a:spcPct val="0"/>
        </a:spcBef>
        <a:spcAft>
          <a:spcPct val="0"/>
        </a:spcAft>
        <a:defRPr sz="4900">
          <a:solidFill>
            <a:schemeClr val="tx2"/>
          </a:solidFill>
          <a:latin typeface="Cambria" pitchFamily="18" charset="0"/>
        </a:defRPr>
      </a:lvl7pPr>
      <a:lvl8pPr marL="1528065" algn="ctr" rtl="0" fontAlgn="base">
        <a:spcBef>
          <a:spcPct val="0"/>
        </a:spcBef>
        <a:spcAft>
          <a:spcPct val="0"/>
        </a:spcAft>
        <a:defRPr sz="4900">
          <a:solidFill>
            <a:schemeClr val="tx2"/>
          </a:solidFill>
          <a:latin typeface="Cambria" pitchFamily="18" charset="0"/>
        </a:defRPr>
      </a:lvl8pPr>
      <a:lvl9pPr marL="2037421" algn="ctr" rtl="0" fontAlgn="base">
        <a:spcBef>
          <a:spcPct val="0"/>
        </a:spcBef>
        <a:spcAft>
          <a:spcPct val="0"/>
        </a:spcAft>
        <a:defRPr sz="4900">
          <a:solidFill>
            <a:schemeClr val="tx2"/>
          </a:solidFill>
          <a:latin typeface="Cambria" pitchFamily="18" charset="0"/>
        </a:defRPr>
      </a:lvl9pPr>
    </p:titleStyle>
    <p:bodyStyle>
      <a:lvl1pPr marL="380291" indent="-380291" algn="l" rtl="0" eaLnBrk="0" fontAlgn="base" hangingPunct="0">
        <a:spcBef>
          <a:spcPct val="20000"/>
        </a:spcBef>
        <a:spcAft>
          <a:spcPct val="0"/>
        </a:spcAft>
        <a:buChar char="•"/>
        <a:defRPr sz="3600">
          <a:solidFill>
            <a:schemeClr val="tx1"/>
          </a:solidFill>
          <a:latin typeface="+mn-lt"/>
          <a:ea typeface="+mn-ea"/>
          <a:cs typeface="+mn-cs"/>
        </a:defRPr>
      </a:lvl1pPr>
      <a:lvl2pPr marL="826027" indent="-316614" algn="l" rtl="0" eaLnBrk="0" fontAlgn="base" hangingPunct="0">
        <a:spcBef>
          <a:spcPct val="20000"/>
        </a:spcBef>
        <a:spcAft>
          <a:spcPct val="0"/>
        </a:spcAft>
        <a:buChar char="–"/>
        <a:defRPr sz="3100">
          <a:solidFill>
            <a:schemeClr val="tx1"/>
          </a:solidFill>
          <a:latin typeface="+mn-lt"/>
        </a:defRPr>
      </a:lvl2pPr>
      <a:lvl3pPr marL="1271762" indent="-252938" algn="l" rtl="0" eaLnBrk="0" fontAlgn="base" hangingPunct="0">
        <a:spcBef>
          <a:spcPct val="20000"/>
        </a:spcBef>
        <a:spcAft>
          <a:spcPct val="0"/>
        </a:spcAft>
        <a:buChar char="•"/>
        <a:defRPr sz="2700">
          <a:solidFill>
            <a:schemeClr val="tx1"/>
          </a:solidFill>
          <a:latin typeface="+mn-lt"/>
        </a:defRPr>
      </a:lvl3pPr>
      <a:lvl4pPr marL="1781175" indent="-252938" algn="l" rtl="0" eaLnBrk="0" fontAlgn="base" hangingPunct="0">
        <a:spcBef>
          <a:spcPct val="20000"/>
        </a:spcBef>
        <a:spcAft>
          <a:spcPct val="0"/>
        </a:spcAft>
        <a:buChar char="–"/>
        <a:defRPr sz="2200">
          <a:solidFill>
            <a:schemeClr val="tx1"/>
          </a:solidFill>
          <a:latin typeface="+mn-lt"/>
        </a:defRPr>
      </a:lvl4pPr>
      <a:lvl5pPr marL="2290587" indent="-252938" algn="l" rtl="0" eaLnBrk="0" fontAlgn="base" hangingPunct="0">
        <a:spcBef>
          <a:spcPct val="20000"/>
        </a:spcBef>
        <a:spcAft>
          <a:spcPct val="0"/>
        </a:spcAft>
        <a:buChar char="»"/>
        <a:defRPr sz="2200">
          <a:solidFill>
            <a:schemeClr val="tx1"/>
          </a:solidFill>
          <a:latin typeface="+mn-lt"/>
        </a:defRPr>
      </a:lvl5pPr>
      <a:lvl6pPr marL="2801453" indent="-254677" algn="l" rtl="0" fontAlgn="base">
        <a:spcBef>
          <a:spcPct val="20000"/>
        </a:spcBef>
        <a:spcAft>
          <a:spcPct val="0"/>
        </a:spcAft>
        <a:buChar char="»"/>
        <a:defRPr sz="2200">
          <a:solidFill>
            <a:schemeClr val="tx1"/>
          </a:solidFill>
          <a:latin typeface="+mn-lt"/>
        </a:defRPr>
      </a:lvl6pPr>
      <a:lvl7pPr marL="3310809" indent="-254677" algn="l" rtl="0" fontAlgn="base">
        <a:spcBef>
          <a:spcPct val="20000"/>
        </a:spcBef>
        <a:spcAft>
          <a:spcPct val="0"/>
        </a:spcAft>
        <a:buChar char="»"/>
        <a:defRPr sz="2200">
          <a:solidFill>
            <a:schemeClr val="tx1"/>
          </a:solidFill>
          <a:latin typeface="+mn-lt"/>
        </a:defRPr>
      </a:lvl7pPr>
      <a:lvl8pPr marL="3820164" indent="-254677" algn="l" rtl="0" fontAlgn="base">
        <a:spcBef>
          <a:spcPct val="20000"/>
        </a:spcBef>
        <a:spcAft>
          <a:spcPct val="0"/>
        </a:spcAft>
        <a:buChar char="»"/>
        <a:defRPr sz="2200">
          <a:solidFill>
            <a:schemeClr val="tx1"/>
          </a:solidFill>
          <a:latin typeface="+mn-lt"/>
        </a:defRPr>
      </a:lvl8pPr>
      <a:lvl9pPr marL="4329519" indent="-25467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711" rtl="0" eaLnBrk="1" latinLnBrk="0" hangingPunct="1">
        <a:defRPr sz="2000" kern="1200">
          <a:solidFill>
            <a:schemeClr val="tx1"/>
          </a:solidFill>
          <a:latin typeface="+mn-lt"/>
          <a:ea typeface="+mn-ea"/>
          <a:cs typeface="+mn-cs"/>
        </a:defRPr>
      </a:lvl1pPr>
      <a:lvl2pPr marL="509355" algn="l" defTabSz="1018711" rtl="0" eaLnBrk="1" latinLnBrk="0" hangingPunct="1">
        <a:defRPr sz="2000" kern="1200">
          <a:solidFill>
            <a:schemeClr val="tx1"/>
          </a:solidFill>
          <a:latin typeface="+mn-lt"/>
          <a:ea typeface="+mn-ea"/>
          <a:cs typeface="+mn-cs"/>
        </a:defRPr>
      </a:lvl2pPr>
      <a:lvl3pPr marL="1018711" algn="l" defTabSz="1018711" rtl="0" eaLnBrk="1" latinLnBrk="0" hangingPunct="1">
        <a:defRPr sz="2000" kern="1200">
          <a:solidFill>
            <a:schemeClr val="tx1"/>
          </a:solidFill>
          <a:latin typeface="+mn-lt"/>
          <a:ea typeface="+mn-ea"/>
          <a:cs typeface="+mn-cs"/>
        </a:defRPr>
      </a:lvl3pPr>
      <a:lvl4pPr marL="1528065" algn="l" defTabSz="1018711" rtl="0" eaLnBrk="1" latinLnBrk="0" hangingPunct="1">
        <a:defRPr sz="2000" kern="1200">
          <a:solidFill>
            <a:schemeClr val="tx1"/>
          </a:solidFill>
          <a:latin typeface="+mn-lt"/>
          <a:ea typeface="+mn-ea"/>
          <a:cs typeface="+mn-cs"/>
        </a:defRPr>
      </a:lvl4pPr>
      <a:lvl5pPr marL="2037421" algn="l" defTabSz="1018711" rtl="0" eaLnBrk="1" latinLnBrk="0" hangingPunct="1">
        <a:defRPr sz="2000" kern="1200">
          <a:solidFill>
            <a:schemeClr val="tx1"/>
          </a:solidFill>
          <a:latin typeface="+mn-lt"/>
          <a:ea typeface="+mn-ea"/>
          <a:cs typeface="+mn-cs"/>
        </a:defRPr>
      </a:lvl5pPr>
      <a:lvl6pPr marL="2546776" algn="l" defTabSz="1018711" rtl="0" eaLnBrk="1" latinLnBrk="0" hangingPunct="1">
        <a:defRPr sz="2000" kern="1200">
          <a:solidFill>
            <a:schemeClr val="tx1"/>
          </a:solidFill>
          <a:latin typeface="+mn-lt"/>
          <a:ea typeface="+mn-ea"/>
          <a:cs typeface="+mn-cs"/>
        </a:defRPr>
      </a:lvl6pPr>
      <a:lvl7pPr marL="3056131" algn="l" defTabSz="1018711" rtl="0" eaLnBrk="1" latinLnBrk="0" hangingPunct="1">
        <a:defRPr sz="2000" kern="1200">
          <a:solidFill>
            <a:schemeClr val="tx1"/>
          </a:solidFill>
          <a:latin typeface="+mn-lt"/>
          <a:ea typeface="+mn-ea"/>
          <a:cs typeface="+mn-cs"/>
        </a:defRPr>
      </a:lvl7pPr>
      <a:lvl8pPr marL="3565487" algn="l" defTabSz="1018711" rtl="0" eaLnBrk="1" latinLnBrk="0" hangingPunct="1">
        <a:defRPr sz="2000" kern="1200">
          <a:solidFill>
            <a:schemeClr val="tx1"/>
          </a:solidFill>
          <a:latin typeface="+mn-lt"/>
          <a:ea typeface="+mn-ea"/>
          <a:cs typeface="+mn-cs"/>
        </a:defRPr>
      </a:lvl8pPr>
      <a:lvl9pPr marL="4074841" algn="l" defTabSz="1018711"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5"/>
            <a:ext cx="9601200" cy="3853743"/>
          </a:xfrm>
          <a:prstGeom prst="rect">
            <a:avLst/>
          </a:prstGeom>
          <a:noFill/>
          <a:ln w="9525">
            <a:noFill/>
            <a:miter lim="800000"/>
            <a:headEnd/>
            <a:tailEnd/>
          </a:ln>
        </p:spPr>
      </p:pic>
      <p:sp>
        <p:nvSpPr>
          <p:cNvPr id="364592" name="Rectangle 48"/>
          <p:cNvSpPr>
            <a:spLocks noChangeArrowheads="1"/>
          </p:cNvSpPr>
          <p:nvPr userDrawn="1"/>
        </p:nvSpPr>
        <p:spPr bwMode="auto">
          <a:xfrm>
            <a:off x="228600" y="7136282"/>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82" tIns="50941" rIns="101882" bIns="50941"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anchor="ctr"/>
          <a:lstStyle/>
          <a:p>
            <a:endParaRPr lang="en-US" dirty="0"/>
          </a:p>
        </p:txBody>
      </p:sp>
      <p:grpSp>
        <p:nvGrpSpPr>
          <p:cNvPr id="364597" name="Group 33"/>
          <p:cNvGrpSpPr>
            <a:grpSpLocks/>
          </p:cNvGrpSpPr>
          <p:nvPr userDrawn="1"/>
        </p:nvGrpSpPr>
        <p:grpSpPr bwMode="auto">
          <a:xfrm>
            <a:off x="1011080"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71" tIns="50935" rIns="101871" bIns="50935"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412" algn="ctr" rtl="0" fontAlgn="base">
        <a:spcBef>
          <a:spcPct val="0"/>
        </a:spcBef>
        <a:spcAft>
          <a:spcPct val="0"/>
        </a:spcAft>
        <a:defRPr sz="4900">
          <a:solidFill>
            <a:schemeClr val="tx2"/>
          </a:solidFill>
          <a:latin typeface="Cambria" pitchFamily="18" charset="0"/>
        </a:defRPr>
      </a:lvl6pPr>
      <a:lvl7pPr marL="1018824" algn="ctr" rtl="0" fontAlgn="base">
        <a:spcBef>
          <a:spcPct val="0"/>
        </a:spcBef>
        <a:spcAft>
          <a:spcPct val="0"/>
        </a:spcAft>
        <a:defRPr sz="4900">
          <a:solidFill>
            <a:schemeClr val="tx2"/>
          </a:solidFill>
          <a:latin typeface="Cambria" pitchFamily="18" charset="0"/>
        </a:defRPr>
      </a:lvl7pPr>
      <a:lvl8pPr marL="1528237" algn="ctr" rtl="0" fontAlgn="base">
        <a:spcBef>
          <a:spcPct val="0"/>
        </a:spcBef>
        <a:spcAft>
          <a:spcPct val="0"/>
        </a:spcAft>
        <a:defRPr sz="4900">
          <a:solidFill>
            <a:schemeClr val="tx2"/>
          </a:solidFill>
          <a:latin typeface="Cambria" pitchFamily="18" charset="0"/>
        </a:defRPr>
      </a:lvl8pPr>
      <a:lvl9pPr marL="2037649" algn="ctr" rtl="0" fontAlgn="base">
        <a:spcBef>
          <a:spcPct val="0"/>
        </a:spcBef>
        <a:spcAft>
          <a:spcPct val="0"/>
        </a:spcAft>
        <a:defRPr sz="4900">
          <a:solidFill>
            <a:schemeClr val="tx2"/>
          </a:solidFill>
          <a:latin typeface="Cambria" pitchFamily="18" charset="0"/>
        </a:defRPr>
      </a:lvl9pPr>
    </p:titleStyle>
    <p:bodyStyle>
      <a:lvl1pPr marL="380291" indent="-380291" algn="l" rtl="0" fontAlgn="base">
        <a:spcBef>
          <a:spcPct val="20000"/>
        </a:spcBef>
        <a:spcAft>
          <a:spcPct val="0"/>
        </a:spcAft>
        <a:buChar char="•"/>
        <a:defRPr sz="3600">
          <a:solidFill>
            <a:schemeClr val="tx1"/>
          </a:solidFill>
          <a:latin typeface="+mn-lt"/>
          <a:ea typeface="+mn-ea"/>
          <a:cs typeface="+mn-cs"/>
        </a:defRPr>
      </a:lvl1pPr>
      <a:lvl2pPr marL="826027" indent="-316614" algn="l" rtl="0" fontAlgn="base">
        <a:spcBef>
          <a:spcPct val="20000"/>
        </a:spcBef>
        <a:spcAft>
          <a:spcPct val="0"/>
        </a:spcAft>
        <a:buChar char="–"/>
        <a:defRPr sz="3100">
          <a:solidFill>
            <a:schemeClr val="tx1"/>
          </a:solidFill>
          <a:latin typeface="+mn-lt"/>
        </a:defRPr>
      </a:lvl2pPr>
      <a:lvl3pPr marL="1271762" indent="-252938" algn="l" rtl="0" fontAlgn="base">
        <a:spcBef>
          <a:spcPct val="20000"/>
        </a:spcBef>
        <a:spcAft>
          <a:spcPct val="0"/>
        </a:spcAft>
        <a:buChar char="•"/>
        <a:defRPr sz="2700">
          <a:solidFill>
            <a:schemeClr val="tx1"/>
          </a:solidFill>
          <a:latin typeface="+mn-lt"/>
        </a:defRPr>
      </a:lvl3pPr>
      <a:lvl4pPr marL="1781175" indent="-252938" algn="l" rtl="0" fontAlgn="base">
        <a:spcBef>
          <a:spcPct val="20000"/>
        </a:spcBef>
        <a:spcAft>
          <a:spcPct val="0"/>
        </a:spcAft>
        <a:buChar char="–"/>
        <a:defRPr sz="2200">
          <a:solidFill>
            <a:schemeClr val="tx1"/>
          </a:solidFill>
          <a:latin typeface="+mn-lt"/>
        </a:defRPr>
      </a:lvl4pPr>
      <a:lvl5pPr marL="2290587" indent="-252938" algn="l" rtl="0" fontAlgn="base">
        <a:spcBef>
          <a:spcPct val="20000"/>
        </a:spcBef>
        <a:spcAft>
          <a:spcPct val="0"/>
        </a:spcAft>
        <a:buChar char="»"/>
        <a:defRPr sz="2200">
          <a:solidFill>
            <a:schemeClr val="tx1"/>
          </a:solidFill>
          <a:latin typeface="+mn-lt"/>
        </a:defRPr>
      </a:lvl5pPr>
      <a:lvl6pPr marL="2799999" indent="-252938" algn="l" rtl="0" fontAlgn="base">
        <a:spcBef>
          <a:spcPct val="20000"/>
        </a:spcBef>
        <a:spcAft>
          <a:spcPct val="0"/>
        </a:spcAft>
        <a:buChar char="»"/>
        <a:defRPr sz="2200">
          <a:solidFill>
            <a:schemeClr val="tx1"/>
          </a:solidFill>
          <a:latin typeface="+mn-lt"/>
        </a:defRPr>
      </a:lvl6pPr>
      <a:lvl7pPr marL="3309411" indent="-252938" algn="l" rtl="0" fontAlgn="base">
        <a:spcBef>
          <a:spcPct val="20000"/>
        </a:spcBef>
        <a:spcAft>
          <a:spcPct val="0"/>
        </a:spcAft>
        <a:buChar char="»"/>
        <a:defRPr sz="2200">
          <a:solidFill>
            <a:schemeClr val="tx1"/>
          </a:solidFill>
          <a:latin typeface="+mn-lt"/>
        </a:defRPr>
      </a:lvl7pPr>
      <a:lvl8pPr marL="3818824" indent="-252938" algn="l" rtl="0" fontAlgn="base">
        <a:spcBef>
          <a:spcPct val="20000"/>
        </a:spcBef>
        <a:spcAft>
          <a:spcPct val="0"/>
        </a:spcAft>
        <a:buChar char="»"/>
        <a:defRPr sz="2200">
          <a:solidFill>
            <a:schemeClr val="tx1"/>
          </a:solidFill>
          <a:latin typeface="+mn-lt"/>
        </a:defRPr>
      </a:lvl8pPr>
      <a:lvl9pPr marL="4328236" indent="-252938"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4"/>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71" tIns="50935" rIns="101871" bIns="50935"/>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71" tIns="50935" rIns="101871" bIns="50935"/>
          <a:lstStyle/>
          <a:p>
            <a:pPr>
              <a:defRPr/>
            </a:pPr>
            <a:endParaRPr lang="en-US" dirty="0"/>
          </a:p>
        </p:txBody>
      </p:sp>
      <p:grpSp>
        <p:nvGrpSpPr>
          <p:cNvPr id="50185" name="Group 33"/>
          <p:cNvGrpSpPr>
            <a:grpSpLocks/>
          </p:cNvGrpSpPr>
          <p:nvPr/>
        </p:nvGrpSpPr>
        <p:grpSpPr bwMode="auto">
          <a:xfrm>
            <a:off x="3794602" y="3762059"/>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71" tIns="50935" rIns="101871" bIns="50935"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412" algn="ctr" rtl="0" fontAlgn="base">
        <a:spcBef>
          <a:spcPct val="0"/>
        </a:spcBef>
        <a:spcAft>
          <a:spcPct val="0"/>
        </a:spcAft>
        <a:defRPr sz="4900">
          <a:solidFill>
            <a:schemeClr val="tx2"/>
          </a:solidFill>
          <a:latin typeface="Cambria" pitchFamily="18" charset="0"/>
        </a:defRPr>
      </a:lvl6pPr>
      <a:lvl7pPr marL="1018824" algn="ctr" rtl="0" fontAlgn="base">
        <a:spcBef>
          <a:spcPct val="0"/>
        </a:spcBef>
        <a:spcAft>
          <a:spcPct val="0"/>
        </a:spcAft>
        <a:defRPr sz="4900">
          <a:solidFill>
            <a:schemeClr val="tx2"/>
          </a:solidFill>
          <a:latin typeface="Cambria" pitchFamily="18" charset="0"/>
        </a:defRPr>
      </a:lvl7pPr>
      <a:lvl8pPr marL="1528237" algn="ctr" rtl="0" fontAlgn="base">
        <a:spcBef>
          <a:spcPct val="0"/>
        </a:spcBef>
        <a:spcAft>
          <a:spcPct val="0"/>
        </a:spcAft>
        <a:defRPr sz="4900">
          <a:solidFill>
            <a:schemeClr val="tx2"/>
          </a:solidFill>
          <a:latin typeface="Cambria" pitchFamily="18" charset="0"/>
        </a:defRPr>
      </a:lvl8pPr>
      <a:lvl9pPr marL="2037649" algn="ctr" rtl="0" fontAlgn="base">
        <a:spcBef>
          <a:spcPct val="0"/>
        </a:spcBef>
        <a:spcAft>
          <a:spcPct val="0"/>
        </a:spcAft>
        <a:defRPr sz="4900">
          <a:solidFill>
            <a:schemeClr val="tx2"/>
          </a:solidFill>
          <a:latin typeface="Cambria" pitchFamily="18" charset="0"/>
        </a:defRPr>
      </a:lvl9pPr>
    </p:titleStyle>
    <p:bodyStyle>
      <a:lvl1pPr marL="380291" indent="-380291" algn="l" rtl="0" eaLnBrk="0" fontAlgn="base" hangingPunct="0">
        <a:spcBef>
          <a:spcPct val="20000"/>
        </a:spcBef>
        <a:spcAft>
          <a:spcPct val="0"/>
        </a:spcAft>
        <a:buChar char="•"/>
        <a:defRPr sz="3600">
          <a:solidFill>
            <a:schemeClr val="tx1"/>
          </a:solidFill>
          <a:latin typeface="+mn-lt"/>
          <a:ea typeface="+mn-ea"/>
          <a:cs typeface="+mn-cs"/>
        </a:defRPr>
      </a:lvl1pPr>
      <a:lvl2pPr marL="826027" indent="-316614" algn="l" rtl="0" eaLnBrk="0" fontAlgn="base" hangingPunct="0">
        <a:spcBef>
          <a:spcPct val="20000"/>
        </a:spcBef>
        <a:spcAft>
          <a:spcPct val="0"/>
        </a:spcAft>
        <a:buChar char="–"/>
        <a:defRPr sz="3100">
          <a:solidFill>
            <a:schemeClr val="tx1"/>
          </a:solidFill>
          <a:latin typeface="+mn-lt"/>
        </a:defRPr>
      </a:lvl2pPr>
      <a:lvl3pPr marL="1271762" indent="-252938" algn="l" rtl="0" eaLnBrk="0" fontAlgn="base" hangingPunct="0">
        <a:spcBef>
          <a:spcPct val="20000"/>
        </a:spcBef>
        <a:spcAft>
          <a:spcPct val="0"/>
        </a:spcAft>
        <a:buChar char="•"/>
        <a:defRPr sz="2700">
          <a:solidFill>
            <a:schemeClr val="tx1"/>
          </a:solidFill>
          <a:latin typeface="+mn-lt"/>
        </a:defRPr>
      </a:lvl3pPr>
      <a:lvl4pPr marL="1781175" indent="-252938" algn="l" rtl="0" eaLnBrk="0" fontAlgn="base" hangingPunct="0">
        <a:spcBef>
          <a:spcPct val="20000"/>
        </a:spcBef>
        <a:spcAft>
          <a:spcPct val="0"/>
        </a:spcAft>
        <a:buChar char="–"/>
        <a:defRPr sz="2200">
          <a:solidFill>
            <a:schemeClr val="tx1"/>
          </a:solidFill>
          <a:latin typeface="+mn-lt"/>
        </a:defRPr>
      </a:lvl4pPr>
      <a:lvl5pPr marL="2290587" indent="-252938" algn="l" rtl="0" eaLnBrk="0" fontAlgn="base" hangingPunct="0">
        <a:spcBef>
          <a:spcPct val="20000"/>
        </a:spcBef>
        <a:spcAft>
          <a:spcPct val="0"/>
        </a:spcAft>
        <a:buChar char="»"/>
        <a:defRPr sz="2200">
          <a:solidFill>
            <a:schemeClr val="tx1"/>
          </a:solidFill>
          <a:latin typeface="+mn-lt"/>
        </a:defRPr>
      </a:lvl5pPr>
      <a:lvl6pPr marL="2799999" indent="-252938" algn="l" rtl="0" fontAlgn="base">
        <a:spcBef>
          <a:spcPct val="20000"/>
        </a:spcBef>
        <a:spcAft>
          <a:spcPct val="0"/>
        </a:spcAft>
        <a:buChar char="»"/>
        <a:defRPr sz="2200">
          <a:solidFill>
            <a:schemeClr val="tx1"/>
          </a:solidFill>
          <a:latin typeface="+mn-lt"/>
        </a:defRPr>
      </a:lvl6pPr>
      <a:lvl7pPr marL="3309411" indent="-252938" algn="l" rtl="0" fontAlgn="base">
        <a:spcBef>
          <a:spcPct val="20000"/>
        </a:spcBef>
        <a:spcAft>
          <a:spcPct val="0"/>
        </a:spcAft>
        <a:buChar char="»"/>
        <a:defRPr sz="2200">
          <a:solidFill>
            <a:schemeClr val="tx1"/>
          </a:solidFill>
          <a:latin typeface="+mn-lt"/>
        </a:defRPr>
      </a:lvl7pPr>
      <a:lvl8pPr marL="3818824" indent="-252938" algn="l" rtl="0" fontAlgn="base">
        <a:spcBef>
          <a:spcPct val="20000"/>
        </a:spcBef>
        <a:spcAft>
          <a:spcPct val="0"/>
        </a:spcAft>
        <a:buChar char="»"/>
        <a:defRPr sz="2200">
          <a:solidFill>
            <a:schemeClr val="tx1"/>
          </a:solidFill>
          <a:latin typeface="+mn-lt"/>
        </a:defRPr>
      </a:lvl8pPr>
      <a:lvl9pPr marL="4328236" indent="-252938"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5"/>
            <a:ext cx="9601200" cy="3853743"/>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7"/>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2" y="3762059"/>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71" tIns="50935" rIns="101871" bIns="50935"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412" algn="ctr" rtl="0" fontAlgn="base">
        <a:spcBef>
          <a:spcPct val="0"/>
        </a:spcBef>
        <a:spcAft>
          <a:spcPct val="0"/>
        </a:spcAft>
        <a:defRPr sz="4900">
          <a:solidFill>
            <a:schemeClr val="tx2"/>
          </a:solidFill>
          <a:latin typeface="Arial" charset="0"/>
        </a:defRPr>
      </a:lvl6pPr>
      <a:lvl7pPr marL="1018824" algn="ctr" rtl="0" fontAlgn="base">
        <a:spcBef>
          <a:spcPct val="0"/>
        </a:spcBef>
        <a:spcAft>
          <a:spcPct val="0"/>
        </a:spcAft>
        <a:defRPr sz="4900">
          <a:solidFill>
            <a:schemeClr val="tx2"/>
          </a:solidFill>
          <a:latin typeface="Arial" charset="0"/>
        </a:defRPr>
      </a:lvl7pPr>
      <a:lvl8pPr marL="1528237" algn="ctr" rtl="0" fontAlgn="base">
        <a:spcBef>
          <a:spcPct val="0"/>
        </a:spcBef>
        <a:spcAft>
          <a:spcPct val="0"/>
        </a:spcAft>
        <a:defRPr sz="4900">
          <a:solidFill>
            <a:schemeClr val="tx2"/>
          </a:solidFill>
          <a:latin typeface="Arial" charset="0"/>
        </a:defRPr>
      </a:lvl8pPr>
      <a:lvl9pPr marL="2037649" algn="ctr" rtl="0" fontAlgn="base">
        <a:spcBef>
          <a:spcPct val="0"/>
        </a:spcBef>
        <a:spcAft>
          <a:spcPct val="0"/>
        </a:spcAft>
        <a:defRPr sz="4900">
          <a:solidFill>
            <a:schemeClr val="tx2"/>
          </a:solidFill>
          <a:latin typeface="Arial" charset="0"/>
        </a:defRPr>
      </a:lvl9pPr>
    </p:titleStyle>
    <p:bodyStyle>
      <a:lvl1pPr marL="382059" indent="-382059" algn="l" rtl="0" eaLnBrk="0" fontAlgn="base" hangingPunct="0">
        <a:spcBef>
          <a:spcPct val="20000"/>
        </a:spcBef>
        <a:spcAft>
          <a:spcPct val="0"/>
        </a:spcAft>
        <a:buChar char="•"/>
        <a:defRPr sz="3600">
          <a:solidFill>
            <a:schemeClr val="tx1"/>
          </a:solidFill>
          <a:latin typeface="+mn-lt"/>
          <a:ea typeface="+mn-ea"/>
          <a:cs typeface="+mn-cs"/>
        </a:defRPr>
      </a:lvl1pPr>
      <a:lvl2pPr marL="827795" indent="-318383" algn="l" rtl="0" eaLnBrk="0" fontAlgn="base" hangingPunct="0">
        <a:spcBef>
          <a:spcPct val="20000"/>
        </a:spcBef>
        <a:spcAft>
          <a:spcPct val="0"/>
        </a:spcAft>
        <a:buChar char="–"/>
        <a:defRPr sz="3100">
          <a:solidFill>
            <a:schemeClr val="tx1"/>
          </a:solidFill>
          <a:latin typeface="+mn-lt"/>
        </a:defRPr>
      </a:lvl2pPr>
      <a:lvl3pPr marL="1273531" indent="-254706" algn="l" rtl="0" eaLnBrk="0" fontAlgn="base" hangingPunct="0">
        <a:spcBef>
          <a:spcPct val="20000"/>
        </a:spcBef>
        <a:spcAft>
          <a:spcPct val="0"/>
        </a:spcAft>
        <a:buChar char="•"/>
        <a:defRPr sz="2700">
          <a:solidFill>
            <a:schemeClr val="tx1"/>
          </a:solidFill>
          <a:latin typeface="+mn-lt"/>
        </a:defRPr>
      </a:lvl3pPr>
      <a:lvl4pPr marL="1782943" indent="-254706" algn="l" rtl="0" eaLnBrk="0" fontAlgn="base" hangingPunct="0">
        <a:spcBef>
          <a:spcPct val="20000"/>
        </a:spcBef>
        <a:spcAft>
          <a:spcPct val="0"/>
        </a:spcAft>
        <a:buChar char="–"/>
        <a:defRPr sz="2200">
          <a:solidFill>
            <a:schemeClr val="tx1"/>
          </a:solidFill>
          <a:latin typeface="+mn-lt"/>
        </a:defRPr>
      </a:lvl4pPr>
      <a:lvl5pPr marL="2292355" indent="-254706" algn="l" rtl="0" eaLnBrk="0" fontAlgn="base" hangingPunct="0">
        <a:spcBef>
          <a:spcPct val="20000"/>
        </a:spcBef>
        <a:spcAft>
          <a:spcPct val="0"/>
        </a:spcAft>
        <a:buChar char="»"/>
        <a:defRPr sz="2200">
          <a:solidFill>
            <a:schemeClr val="tx1"/>
          </a:solidFill>
          <a:latin typeface="+mn-lt"/>
        </a:defRPr>
      </a:lvl5pPr>
      <a:lvl6pPr marL="2801767" indent="-254706" algn="l" rtl="0" fontAlgn="base">
        <a:spcBef>
          <a:spcPct val="20000"/>
        </a:spcBef>
        <a:spcAft>
          <a:spcPct val="0"/>
        </a:spcAft>
        <a:buChar char="»"/>
        <a:defRPr sz="2200">
          <a:solidFill>
            <a:schemeClr val="tx1"/>
          </a:solidFill>
          <a:latin typeface="+mn-lt"/>
        </a:defRPr>
      </a:lvl6pPr>
      <a:lvl7pPr marL="3311180" indent="-254706" algn="l" rtl="0" fontAlgn="base">
        <a:spcBef>
          <a:spcPct val="20000"/>
        </a:spcBef>
        <a:spcAft>
          <a:spcPct val="0"/>
        </a:spcAft>
        <a:buChar char="»"/>
        <a:defRPr sz="2200">
          <a:solidFill>
            <a:schemeClr val="tx1"/>
          </a:solidFill>
          <a:latin typeface="+mn-lt"/>
        </a:defRPr>
      </a:lvl7pPr>
      <a:lvl8pPr marL="3820592" indent="-254706" algn="l" rtl="0" fontAlgn="base">
        <a:spcBef>
          <a:spcPct val="20000"/>
        </a:spcBef>
        <a:spcAft>
          <a:spcPct val="0"/>
        </a:spcAft>
        <a:buChar char="»"/>
        <a:defRPr sz="2200">
          <a:solidFill>
            <a:schemeClr val="tx1"/>
          </a:solidFill>
          <a:latin typeface="+mn-lt"/>
        </a:defRPr>
      </a:lvl8pPr>
      <a:lvl9pPr marL="4330004" indent="-25470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39"/>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5"/>
            <a:ext cx="9601200" cy="3853743"/>
          </a:xfrm>
          <a:prstGeom prst="rect">
            <a:avLst/>
          </a:prstGeom>
          <a:noFill/>
          <a:ln w="9525">
            <a:noFill/>
            <a:miter lim="800000"/>
            <a:headEnd/>
            <a:tailEnd/>
          </a:ln>
        </p:spPr>
      </p:pic>
      <p:grpSp>
        <p:nvGrpSpPr>
          <p:cNvPr id="74761" name="Group 19"/>
          <p:cNvGrpSpPr>
            <a:grpSpLocks/>
          </p:cNvGrpSpPr>
          <p:nvPr/>
        </p:nvGrpSpPr>
        <p:grpSpPr bwMode="auto">
          <a:xfrm>
            <a:off x="4498340" y="4332394"/>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82" tIns="50941" rIns="101882" bIns="50941"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5"/>
            <a:ext cx="9601200" cy="7315200"/>
          </a:xfrm>
          <a:prstGeom prst="rect">
            <a:avLst/>
          </a:prstGeom>
          <a:noFill/>
          <a:ln w="19050" cmpd="sng">
            <a:solidFill>
              <a:srgbClr val="EFEBE4"/>
            </a:solidFill>
            <a:miter lim="800000"/>
            <a:headEnd/>
            <a:tailEnd/>
          </a:ln>
        </p:spPr>
        <p:txBody>
          <a:bodyPr wrap="none" lIns="101871" tIns="50935" rIns="101871" bIns="50935"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412" algn="ctr" rtl="0" fontAlgn="base">
        <a:spcBef>
          <a:spcPct val="0"/>
        </a:spcBef>
        <a:spcAft>
          <a:spcPct val="0"/>
        </a:spcAft>
        <a:defRPr sz="4000">
          <a:solidFill>
            <a:schemeClr val="tx2"/>
          </a:solidFill>
          <a:latin typeface="Calibri" pitchFamily="34" charset="0"/>
        </a:defRPr>
      </a:lvl6pPr>
      <a:lvl7pPr marL="1018824" algn="ctr" rtl="0" fontAlgn="base">
        <a:spcBef>
          <a:spcPct val="0"/>
        </a:spcBef>
        <a:spcAft>
          <a:spcPct val="0"/>
        </a:spcAft>
        <a:defRPr sz="4000">
          <a:solidFill>
            <a:schemeClr val="tx2"/>
          </a:solidFill>
          <a:latin typeface="Calibri" pitchFamily="34" charset="0"/>
        </a:defRPr>
      </a:lvl7pPr>
      <a:lvl8pPr marL="1528237" algn="ctr" rtl="0" fontAlgn="base">
        <a:spcBef>
          <a:spcPct val="0"/>
        </a:spcBef>
        <a:spcAft>
          <a:spcPct val="0"/>
        </a:spcAft>
        <a:defRPr sz="4000">
          <a:solidFill>
            <a:schemeClr val="tx2"/>
          </a:solidFill>
          <a:latin typeface="Calibri" pitchFamily="34" charset="0"/>
        </a:defRPr>
      </a:lvl8pPr>
      <a:lvl9pPr marL="2037649" algn="ctr" rtl="0" fontAlgn="base">
        <a:spcBef>
          <a:spcPct val="0"/>
        </a:spcBef>
        <a:spcAft>
          <a:spcPct val="0"/>
        </a:spcAft>
        <a:defRPr sz="4000">
          <a:solidFill>
            <a:schemeClr val="tx2"/>
          </a:solidFill>
          <a:latin typeface="Calibri" pitchFamily="34" charset="0"/>
        </a:defRPr>
      </a:lvl9pPr>
    </p:titleStyle>
    <p:bodyStyle>
      <a:lvl1pPr marL="380291" indent="-380291" algn="l" rtl="0" eaLnBrk="0" fontAlgn="base" hangingPunct="0">
        <a:spcBef>
          <a:spcPct val="20000"/>
        </a:spcBef>
        <a:spcAft>
          <a:spcPct val="0"/>
        </a:spcAft>
        <a:buChar char="•"/>
        <a:defRPr sz="3600">
          <a:solidFill>
            <a:schemeClr val="tx1"/>
          </a:solidFill>
          <a:latin typeface="+mn-lt"/>
          <a:ea typeface="+mn-ea"/>
          <a:cs typeface="+mn-cs"/>
        </a:defRPr>
      </a:lvl1pPr>
      <a:lvl2pPr marL="826027" indent="-316614" algn="l" rtl="0" eaLnBrk="0" fontAlgn="base" hangingPunct="0">
        <a:spcBef>
          <a:spcPct val="20000"/>
        </a:spcBef>
        <a:spcAft>
          <a:spcPct val="0"/>
        </a:spcAft>
        <a:buChar char="–"/>
        <a:defRPr sz="3100">
          <a:solidFill>
            <a:schemeClr val="tx1"/>
          </a:solidFill>
          <a:latin typeface="+mn-lt"/>
        </a:defRPr>
      </a:lvl2pPr>
      <a:lvl3pPr marL="1271762" indent="-252938" algn="l" rtl="0" eaLnBrk="0" fontAlgn="base" hangingPunct="0">
        <a:spcBef>
          <a:spcPct val="20000"/>
        </a:spcBef>
        <a:spcAft>
          <a:spcPct val="0"/>
        </a:spcAft>
        <a:buChar char="•"/>
        <a:defRPr sz="2700">
          <a:solidFill>
            <a:schemeClr val="tx1"/>
          </a:solidFill>
          <a:latin typeface="+mn-lt"/>
        </a:defRPr>
      </a:lvl3pPr>
      <a:lvl4pPr marL="1781175" indent="-252938" algn="l" rtl="0" eaLnBrk="0" fontAlgn="base" hangingPunct="0">
        <a:spcBef>
          <a:spcPct val="20000"/>
        </a:spcBef>
        <a:spcAft>
          <a:spcPct val="0"/>
        </a:spcAft>
        <a:buChar char="–"/>
        <a:defRPr sz="2200">
          <a:solidFill>
            <a:schemeClr val="tx1"/>
          </a:solidFill>
          <a:latin typeface="+mn-lt"/>
        </a:defRPr>
      </a:lvl4pPr>
      <a:lvl5pPr marL="2290587" indent="-252938" algn="l" rtl="0" eaLnBrk="0" fontAlgn="base" hangingPunct="0">
        <a:spcBef>
          <a:spcPct val="20000"/>
        </a:spcBef>
        <a:spcAft>
          <a:spcPct val="0"/>
        </a:spcAft>
        <a:buChar char="»"/>
        <a:defRPr sz="2200">
          <a:solidFill>
            <a:schemeClr val="tx1"/>
          </a:solidFill>
          <a:latin typeface="+mn-lt"/>
        </a:defRPr>
      </a:lvl5pPr>
      <a:lvl6pPr marL="2799999" indent="-252938" algn="l" rtl="0" fontAlgn="base">
        <a:spcBef>
          <a:spcPct val="20000"/>
        </a:spcBef>
        <a:spcAft>
          <a:spcPct val="0"/>
        </a:spcAft>
        <a:buChar char="»"/>
        <a:defRPr sz="2200">
          <a:solidFill>
            <a:schemeClr val="tx1"/>
          </a:solidFill>
          <a:latin typeface="+mn-lt"/>
        </a:defRPr>
      </a:lvl6pPr>
      <a:lvl7pPr marL="3309411" indent="-252938" algn="l" rtl="0" fontAlgn="base">
        <a:spcBef>
          <a:spcPct val="20000"/>
        </a:spcBef>
        <a:spcAft>
          <a:spcPct val="0"/>
        </a:spcAft>
        <a:buChar char="»"/>
        <a:defRPr sz="2200">
          <a:solidFill>
            <a:schemeClr val="tx1"/>
          </a:solidFill>
          <a:latin typeface="+mn-lt"/>
        </a:defRPr>
      </a:lvl7pPr>
      <a:lvl8pPr marL="3818824" indent="-252938" algn="l" rtl="0" fontAlgn="base">
        <a:spcBef>
          <a:spcPct val="20000"/>
        </a:spcBef>
        <a:spcAft>
          <a:spcPct val="0"/>
        </a:spcAft>
        <a:buChar char="»"/>
        <a:defRPr sz="2200">
          <a:solidFill>
            <a:schemeClr val="tx1"/>
          </a:solidFill>
          <a:latin typeface="+mn-lt"/>
        </a:defRPr>
      </a:lvl8pPr>
      <a:lvl9pPr marL="4328236" indent="-252938"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2"/>
            <a:ext cx="8071168" cy="5149215"/>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5"/>
            <a:ext cx="0" cy="5849725"/>
          </a:xfrm>
          <a:prstGeom prst="line">
            <a:avLst/>
          </a:prstGeom>
          <a:noFill/>
          <a:ln w="3175">
            <a:solidFill>
              <a:schemeClr val="accent1"/>
            </a:solidFill>
            <a:round/>
            <a:headEnd/>
            <a:tailEnd/>
          </a:ln>
          <a:effectLst/>
        </p:spPr>
        <p:txBody>
          <a:bodyPr lIns="101882" tIns="50941" rIns="101882" bIns="50941"/>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71" tIns="50935" rIns="101871" bIns="50935"/>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0"/>
            <a:ext cx="9601200" cy="649224"/>
          </a:xfrm>
          <a:prstGeom prst="rect">
            <a:avLst/>
          </a:prstGeom>
          <a:solidFill>
            <a:srgbClr val="2E398A"/>
          </a:solidFill>
          <a:ln w="9525">
            <a:noFill/>
            <a:miter lim="800000"/>
            <a:headEnd/>
            <a:tailEnd/>
          </a:ln>
          <a:effectLst/>
        </p:spPr>
        <p:txBody>
          <a:bodyPr wrap="none" lIns="101871" tIns="50935" rIns="101871" bIns="50935"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71" tIns="50935" rIns="101871" bIns="50935"/>
          <a:lstStyle/>
          <a:p>
            <a:pPr>
              <a:defRPr/>
            </a:pPr>
            <a:endParaRPr lang="en-US" dirty="0"/>
          </a:p>
        </p:txBody>
      </p:sp>
      <p:sp>
        <p:nvSpPr>
          <p:cNvPr id="23" name="Rectangle 2"/>
          <p:cNvSpPr>
            <a:spLocks noGrp="1" noChangeArrowheads="1"/>
          </p:cNvSpPr>
          <p:nvPr>
            <p:ph type="title"/>
          </p:nvPr>
        </p:nvSpPr>
        <p:spPr bwMode="auto">
          <a:xfrm>
            <a:off x="2518973" y="220861"/>
            <a:ext cx="7280116" cy="644102"/>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0" y="7333575"/>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412" algn="r" rtl="0" fontAlgn="base">
        <a:spcBef>
          <a:spcPct val="0"/>
        </a:spcBef>
        <a:spcAft>
          <a:spcPct val="0"/>
        </a:spcAft>
        <a:defRPr sz="1900">
          <a:solidFill>
            <a:schemeClr val="bg1"/>
          </a:solidFill>
          <a:latin typeface="Calibri" pitchFamily="34" charset="0"/>
        </a:defRPr>
      </a:lvl6pPr>
      <a:lvl7pPr marL="1018824" algn="r" rtl="0" fontAlgn="base">
        <a:spcBef>
          <a:spcPct val="0"/>
        </a:spcBef>
        <a:spcAft>
          <a:spcPct val="0"/>
        </a:spcAft>
        <a:defRPr sz="1900">
          <a:solidFill>
            <a:schemeClr val="bg1"/>
          </a:solidFill>
          <a:latin typeface="Calibri" pitchFamily="34" charset="0"/>
        </a:defRPr>
      </a:lvl7pPr>
      <a:lvl8pPr marL="1528237" algn="r" rtl="0" fontAlgn="base">
        <a:spcBef>
          <a:spcPct val="0"/>
        </a:spcBef>
        <a:spcAft>
          <a:spcPct val="0"/>
        </a:spcAft>
        <a:defRPr sz="1900">
          <a:solidFill>
            <a:schemeClr val="bg1"/>
          </a:solidFill>
          <a:latin typeface="Calibri" pitchFamily="34" charset="0"/>
        </a:defRPr>
      </a:lvl8pPr>
      <a:lvl9pPr marL="2037649"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1175" indent="-252938" algn="l" rtl="0" eaLnBrk="0" fontAlgn="base" hangingPunct="0">
        <a:spcBef>
          <a:spcPct val="20000"/>
        </a:spcBef>
        <a:spcAft>
          <a:spcPct val="0"/>
        </a:spcAft>
        <a:buChar char="–"/>
        <a:defRPr sz="1600">
          <a:solidFill>
            <a:schemeClr val="tx1"/>
          </a:solidFill>
          <a:latin typeface="Arial" charset="0"/>
        </a:defRPr>
      </a:lvl4pPr>
      <a:lvl5pPr marL="2290587" indent="-252938" algn="l" rtl="0" eaLnBrk="0" fontAlgn="base" hangingPunct="0">
        <a:spcBef>
          <a:spcPct val="20000"/>
        </a:spcBef>
        <a:spcAft>
          <a:spcPct val="0"/>
        </a:spcAft>
        <a:buChar char="»"/>
        <a:defRPr sz="1600">
          <a:solidFill>
            <a:schemeClr val="tx1"/>
          </a:solidFill>
          <a:latin typeface="Arial" charset="0"/>
        </a:defRPr>
      </a:lvl5pPr>
      <a:lvl6pPr marL="2799999" indent="-252938" algn="l" rtl="0" fontAlgn="base">
        <a:spcBef>
          <a:spcPct val="20000"/>
        </a:spcBef>
        <a:spcAft>
          <a:spcPct val="0"/>
        </a:spcAft>
        <a:buChar char="»"/>
        <a:defRPr sz="1600">
          <a:solidFill>
            <a:schemeClr val="tx1"/>
          </a:solidFill>
          <a:latin typeface="Arial" charset="0"/>
        </a:defRPr>
      </a:lvl6pPr>
      <a:lvl7pPr marL="3309411" indent="-252938" algn="l" rtl="0" fontAlgn="base">
        <a:spcBef>
          <a:spcPct val="20000"/>
        </a:spcBef>
        <a:spcAft>
          <a:spcPct val="0"/>
        </a:spcAft>
        <a:buChar char="»"/>
        <a:defRPr sz="1600">
          <a:solidFill>
            <a:schemeClr val="tx1"/>
          </a:solidFill>
          <a:latin typeface="Arial" charset="0"/>
        </a:defRPr>
      </a:lvl7pPr>
      <a:lvl8pPr marL="3818824" indent="-252938" algn="l" rtl="0" fontAlgn="base">
        <a:spcBef>
          <a:spcPct val="20000"/>
        </a:spcBef>
        <a:spcAft>
          <a:spcPct val="0"/>
        </a:spcAft>
        <a:buChar char="»"/>
        <a:defRPr sz="1600">
          <a:solidFill>
            <a:schemeClr val="tx1"/>
          </a:solidFill>
          <a:latin typeface="Arial" charset="0"/>
        </a:defRPr>
      </a:lvl8pPr>
      <a:lvl9pPr marL="4328236" indent="-252938"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5"/>
            <a:ext cx="9601200" cy="3853743"/>
          </a:xfrm>
          <a:prstGeom prst="rect">
            <a:avLst/>
          </a:prstGeom>
          <a:noFill/>
          <a:ln w="9525">
            <a:noFill/>
            <a:miter lim="800000"/>
            <a:headEnd/>
            <a:tailEnd/>
          </a:ln>
        </p:spPr>
      </p:pic>
      <p:sp>
        <p:nvSpPr>
          <p:cNvPr id="29" name="Rectangle 48"/>
          <p:cNvSpPr>
            <a:spLocks noChangeArrowheads="1"/>
          </p:cNvSpPr>
          <p:nvPr userDrawn="1"/>
        </p:nvSpPr>
        <p:spPr bwMode="auto">
          <a:xfrm>
            <a:off x="228600" y="7136282"/>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82" tIns="50941" rIns="101882" bIns="50941"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anchor="ctr"/>
          <a:lstStyle/>
          <a:p>
            <a:endParaRPr lang="en-US" dirty="0"/>
          </a:p>
        </p:txBody>
      </p:sp>
      <p:grpSp>
        <p:nvGrpSpPr>
          <p:cNvPr id="31" name="Group 33"/>
          <p:cNvGrpSpPr>
            <a:grpSpLocks/>
          </p:cNvGrpSpPr>
          <p:nvPr userDrawn="1"/>
        </p:nvGrpSpPr>
        <p:grpSpPr bwMode="auto">
          <a:xfrm>
            <a:off x="1011080"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71" tIns="50935" rIns="101871" bIns="50935"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412" algn="ctr" rtl="0" fontAlgn="base">
        <a:spcBef>
          <a:spcPct val="0"/>
        </a:spcBef>
        <a:spcAft>
          <a:spcPct val="0"/>
        </a:spcAft>
        <a:defRPr sz="4000">
          <a:solidFill>
            <a:schemeClr val="tx2"/>
          </a:solidFill>
          <a:latin typeface="Calibri" pitchFamily="34" charset="0"/>
        </a:defRPr>
      </a:lvl6pPr>
      <a:lvl7pPr marL="1018824" algn="ctr" rtl="0" fontAlgn="base">
        <a:spcBef>
          <a:spcPct val="0"/>
        </a:spcBef>
        <a:spcAft>
          <a:spcPct val="0"/>
        </a:spcAft>
        <a:defRPr sz="4000">
          <a:solidFill>
            <a:schemeClr val="tx2"/>
          </a:solidFill>
          <a:latin typeface="Calibri" pitchFamily="34" charset="0"/>
        </a:defRPr>
      </a:lvl7pPr>
      <a:lvl8pPr marL="1528237" algn="ctr" rtl="0" fontAlgn="base">
        <a:spcBef>
          <a:spcPct val="0"/>
        </a:spcBef>
        <a:spcAft>
          <a:spcPct val="0"/>
        </a:spcAft>
        <a:defRPr sz="4000">
          <a:solidFill>
            <a:schemeClr val="tx2"/>
          </a:solidFill>
          <a:latin typeface="Calibri" pitchFamily="34" charset="0"/>
        </a:defRPr>
      </a:lvl8pPr>
      <a:lvl9pPr marL="2037649" algn="ctr" rtl="0" fontAlgn="base">
        <a:spcBef>
          <a:spcPct val="0"/>
        </a:spcBef>
        <a:spcAft>
          <a:spcPct val="0"/>
        </a:spcAft>
        <a:defRPr sz="4000">
          <a:solidFill>
            <a:schemeClr val="tx2"/>
          </a:solidFill>
          <a:latin typeface="Calibri" pitchFamily="34" charset="0"/>
        </a:defRPr>
      </a:lvl9pPr>
    </p:titleStyle>
    <p:bodyStyle>
      <a:lvl1pPr marL="380291" indent="-380291" algn="l" rtl="0" eaLnBrk="0" fontAlgn="base" hangingPunct="0">
        <a:spcBef>
          <a:spcPct val="20000"/>
        </a:spcBef>
        <a:spcAft>
          <a:spcPct val="0"/>
        </a:spcAft>
        <a:buChar char="•"/>
        <a:defRPr sz="3600">
          <a:solidFill>
            <a:schemeClr val="tx1"/>
          </a:solidFill>
          <a:latin typeface="+mn-lt"/>
          <a:ea typeface="+mn-ea"/>
          <a:cs typeface="+mn-cs"/>
        </a:defRPr>
      </a:lvl1pPr>
      <a:lvl2pPr marL="826027" indent="-316614" algn="l" rtl="0" eaLnBrk="0" fontAlgn="base" hangingPunct="0">
        <a:spcBef>
          <a:spcPct val="20000"/>
        </a:spcBef>
        <a:spcAft>
          <a:spcPct val="0"/>
        </a:spcAft>
        <a:buChar char="–"/>
        <a:defRPr sz="3100">
          <a:solidFill>
            <a:schemeClr val="tx1"/>
          </a:solidFill>
          <a:latin typeface="+mn-lt"/>
        </a:defRPr>
      </a:lvl2pPr>
      <a:lvl3pPr marL="1271762" indent="-252938" algn="l" rtl="0" eaLnBrk="0" fontAlgn="base" hangingPunct="0">
        <a:spcBef>
          <a:spcPct val="20000"/>
        </a:spcBef>
        <a:spcAft>
          <a:spcPct val="0"/>
        </a:spcAft>
        <a:buChar char="•"/>
        <a:defRPr sz="2700">
          <a:solidFill>
            <a:schemeClr val="tx1"/>
          </a:solidFill>
          <a:latin typeface="+mn-lt"/>
        </a:defRPr>
      </a:lvl3pPr>
      <a:lvl4pPr marL="1781175" indent="-252938" algn="l" rtl="0" eaLnBrk="0" fontAlgn="base" hangingPunct="0">
        <a:spcBef>
          <a:spcPct val="20000"/>
        </a:spcBef>
        <a:spcAft>
          <a:spcPct val="0"/>
        </a:spcAft>
        <a:buChar char="–"/>
        <a:defRPr sz="2200">
          <a:solidFill>
            <a:schemeClr val="tx1"/>
          </a:solidFill>
          <a:latin typeface="+mn-lt"/>
        </a:defRPr>
      </a:lvl4pPr>
      <a:lvl5pPr marL="2290587" indent="-252938" algn="l" rtl="0" eaLnBrk="0" fontAlgn="base" hangingPunct="0">
        <a:spcBef>
          <a:spcPct val="20000"/>
        </a:spcBef>
        <a:spcAft>
          <a:spcPct val="0"/>
        </a:spcAft>
        <a:buChar char="»"/>
        <a:defRPr sz="2200">
          <a:solidFill>
            <a:schemeClr val="tx1"/>
          </a:solidFill>
          <a:latin typeface="+mn-lt"/>
        </a:defRPr>
      </a:lvl5pPr>
      <a:lvl6pPr marL="2799999" indent="-252938" algn="l" rtl="0" fontAlgn="base">
        <a:spcBef>
          <a:spcPct val="20000"/>
        </a:spcBef>
        <a:spcAft>
          <a:spcPct val="0"/>
        </a:spcAft>
        <a:buChar char="»"/>
        <a:defRPr sz="2200">
          <a:solidFill>
            <a:schemeClr val="tx1"/>
          </a:solidFill>
          <a:latin typeface="+mn-lt"/>
        </a:defRPr>
      </a:lvl6pPr>
      <a:lvl7pPr marL="3309411" indent="-252938" algn="l" rtl="0" fontAlgn="base">
        <a:spcBef>
          <a:spcPct val="20000"/>
        </a:spcBef>
        <a:spcAft>
          <a:spcPct val="0"/>
        </a:spcAft>
        <a:buChar char="»"/>
        <a:defRPr sz="2200">
          <a:solidFill>
            <a:schemeClr val="tx1"/>
          </a:solidFill>
          <a:latin typeface="+mn-lt"/>
        </a:defRPr>
      </a:lvl7pPr>
      <a:lvl8pPr marL="3818824" indent="-252938" algn="l" rtl="0" fontAlgn="base">
        <a:spcBef>
          <a:spcPct val="20000"/>
        </a:spcBef>
        <a:spcAft>
          <a:spcPct val="0"/>
        </a:spcAft>
        <a:buChar char="»"/>
        <a:defRPr sz="2200">
          <a:solidFill>
            <a:schemeClr val="tx1"/>
          </a:solidFill>
          <a:latin typeface="+mn-lt"/>
        </a:defRPr>
      </a:lvl8pPr>
      <a:lvl9pPr marL="4328236" indent="-252938"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0" y="1567075"/>
            <a:ext cx="9372600" cy="5375910"/>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0"/>
            <a:ext cx="9601200" cy="649224"/>
          </a:xfrm>
          <a:prstGeom prst="rect">
            <a:avLst/>
          </a:prstGeom>
          <a:solidFill>
            <a:srgbClr val="2E398A"/>
          </a:solidFill>
          <a:ln w="9525">
            <a:noFill/>
            <a:miter lim="800000"/>
            <a:headEnd/>
            <a:tailEnd/>
          </a:ln>
          <a:effectLst/>
        </p:spPr>
        <p:txBody>
          <a:bodyPr wrap="none" lIns="101871" tIns="50935" rIns="101871" bIns="50935"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71" tIns="50935" rIns="101871" bIns="50935"/>
          <a:lstStyle/>
          <a:p>
            <a:pPr>
              <a:defRPr/>
            </a:pPr>
            <a:endParaRPr lang="en-US" dirty="0"/>
          </a:p>
        </p:txBody>
      </p:sp>
      <p:sp>
        <p:nvSpPr>
          <p:cNvPr id="22" name="Rectangle 2"/>
          <p:cNvSpPr>
            <a:spLocks noGrp="1" noChangeArrowheads="1"/>
          </p:cNvSpPr>
          <p:nvPr>
            <p:ph type="title"/>
          </p:nvPr>
        </p:nvSpPr>
        <p:spPr bwMode="auto">
          <a:xfrm>
            <a:off x="2518973" y="220861"/>
            <a:ext cx="7280116" cy="644102"/>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0" y="7333575"/>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355" algn="r" rtl="0" fontAlgn="base">
        <a:spcBef>
          <a:spcPct val="0"/>
        </a:spcBef>
        <a:spcAft>
          <a:spcPct val="0"/>
        </a:spcAft>
        <a:defRPr sz="1900">
          <a:solidFill>
            <a:schemeClr val="bg1"/>
          </a:solidFill>
          <a:latin typeface="Calisto MT" pitchFamily="18" charset="0"/>
        </a:defRPr>
      </a:lvl6pPr>
      <a:lvl7pPr marL="1018711" algn="r" rtl="0" fontAlgn="base">
        <a:spcBef>
          <a:spcPct val="0"/>
        </a:spcBef>
        <a:spcAft>
          <a:spcPct val="0"/>
        </a:spcAft>
        <a:defRPr sz="1900">
          <a:solidFill>
            <a:schemeClr val="bg1"/>
          </a:solidFill>
          <a:latin typeface="Calisto MT" pitchFamily="18" charset="0"/>
        </a:defRPr>
      </a:lvl7pPr>
      <a:lvl8pPr marL="1528065" algn="r" rtl="0" fontAlgn="base">
        <a:spcBef>
          <a:spcPct val="0"/>
        </a:spcBef>
        <a:spcAft>
          <a:spcPct val="0"/>
        </a:spcAft>
        <a:defRPr sz="1900">
          <a:solidFill>
            <a:schemeClr val="bg1"/>
          </a:solidFill>
          <a:latin typeface="Calisto MT" pitchFamily="18" charset="0"/>
        </a:defRPr>
      </a:lvl8pPr>
      <a:lvl9pPr marL="2037421" algn="r" rtl="0" fontAlgn="base">
        <a:spcBef>
          <a:spcPct val="0"/>
        </a:spcBef>
        <a:spcAft>
          <a:spcPct val="0"/>
        </a:spcAft>
        <a:defRPr sz="1900">
          <a:solidFill>
            <a:schemeClr val="bg1"/>
          </a:solidFill>
          <a:latin typeface="Calisto MT" pitchFamily="18" charset="0"/>
        </a:defRPr>
      </a:lvl9pPr>
    </p:titleStyle>
    <p:bodyStyle>
      <a:lvl1pPr marL="187492" indent="-187492"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53" indent="-185724"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6014" indent="-185724"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1175" indent="-252938" algn="l" rtl="0" eaLnBrk="0" fontAlgn="base" hangingPunct="0">
        <a:spcBef>
          <a:spcPct val="20000"/>
        </a:spcBef>
        <a:spcAft>
          <a:spcPct val="0"/>
        </a:spcAft>
        <a:buChar char="–"/>
        <a:defRPr sz="1600">
          <a:solidFill>
            <a:schemeClr val="tx1"/>
          </a:solidFill>
          <a:latin typeface="Arial" charset="0"/>
        </a:defRPr>
      </a:lvl4pPr>
      <a:lvl5pPr marL="2290587" indent="-252938" algn="l" rtl="0" eaLnBrk="0" fontAlgn="base" hangingPunct="0">
        <a:spcBef>
          <a:spcPct val="20000"/>
        </a:spcBef>
        <a:spcAft>
          <a:spcPct val="0"/>
        </a:spcAft>
        <a:buChar char="»"/>
        <a:defRPr sz="1600">
          <a:solidFill>
            <a:schemeClr val="tx1"/>
          </a:solidFill>
          <a:latin typeface="Arial" charset="0"/>
        </a:defRPr>
      </a:lvl5pPr>
      <a:lvl6pPr marL="2801453" indent="-254677" algn="l" rtl="0" fontAlgn="base">
        <a:spcBef>
          <a:spcPct val="20000"/>
        </a:spcBef>
        <a:spcAft>
          <a:spcPct val="0"/>
        </a:spcAft>
        <a:buChar char="»"/>
        <a:defRPr sz="1600">
          <a:solidFill>
            <a:schemeClr val="tx1"/>
          </a:solidFill>
          <a:latin typeface="Arial" charset="0"/>
        </a:defRPr>
      </a:lvl6pPr>
      <a:lvl7pPr marL="3310809" indent="-254677" algn="l" rtl="0" fontAlgn="base">
        <a:spcBef>
          <a:spcPct val="20000"/>
        </a:spcBef>
        <a:spcAft>
          <a:spcPct val="0"/>
        </a:spcAft>
        <a:buChar char="»"/>
        <a:defRPr sz="1600">
          <a:solidFill>
            <a:schemeClr val="tx1"/>
          </a:solidFill>
          <a:latin typeface="Arial" charset="0"/>
        </a:defRPr>
      </a:lvl7pPr>
      <a:lvl8pPr marL="3820164" indent="-254677" algn="l" rtl="0" fontAlgn="base">
        <a:spcBef>
          <a:spcPct val="20000"/>
        </a:spcBef>
        <a:spcAft>
          <a:spcPct val="0"/>
        </a:spcAft>
        <a:buChar char="»"/>
        <a:defRPr sz="1600">
          <a:solidFill>
            <a:schemeClr val="tx1"/>
          </a:solidFill>
          <a:latin typeface="Arial" charset="0"/>
        </a:defRPr>
      </a:lvl8pPr>
      <a:lvl9pPr marL="4329519" indent="-25467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711" rtl="0" eaLnBrk="1" latinLnBrk="0" hangingPunct="1">
        <a:defRPr sz="2000" kern="1200">
          <a:solidFill>
            <a:schemeClr val="tx1"/>
          </a:solidFill>
          <a:latin typeface="+mn-lt"/>
          <a:ea typeface="+mn-ea"/>
          <a:cs typeface="+mn-cs"/>
        </a:defRPr>
      </a:lvl1pPr>
      <a:lvl2pPr marL="509355" algn="l" defTabSz="1018711" rtl="0" eaLnBrk="1" latinLnBrk="0" hangingPunct="1">
        <a:defRPr sz="2000" kern="1200">
          <a:solidFill>
            <a:schemeClr val="tx1"/>
          </a:solidFill>
          <a:latin typeface="+mn-lt"/>
          <a:ea typeface="+mn-ea"/>
          <a:cs typeface="+mn-cs"/>
        </a:defRPr>
      </a:lvl2pPr>
      <a:lvl3pPr marL="1018711" algn="l" defTabSz="1018711" rtl="0" eaLnBrk="1" latinLnBrk="0" hangingPunct="1">
        <a:defRPr sz="2000" kern="1200">
          <a:solidFill>
            <a:schemeClr val="tx1"/>
          </a:solidFill>
          <a:latin typeface="+mn-lt"/>
          <a:ea typeface="+mn-ea"/>
          <a:cs typeface="+mn-cs"/>
        </a:defRPr>
      </a:lvl3pPr>
      <a:lvl4pPr marL="1528065" algn="l" defTabSz="1018711" rtl="0" eaLnBrk="1" latinLnBrk="0" hangingPunct="1">
        <a:defRPr sz="2000" kern="1200">
          <a:solidFill>
            <a:schemeClr val="tx1"/>
          </a:solidFill>
          <a:latin typeface="+mn-lt"/>
          <a:ea typeface="+mn-ea"/>
          <a:cs typeface="+mn-cs"/>
        </a:defRPr>
      </a:lvl4pPr>
      <a:lvl5pPr marL="2037421" algn="l" defTabSz="1018711" rtl="0" eaLnBrk="1" latinLnBrk="0" hangingPunct="1">
        <a:defRPr sz="2000" kern="1200">
          <a:solidFill>
            <a:schemeClr val="tx1"/>
          </a:solidFill>
          <a:latin typeface="+mn-lt"/>
          <a:ea typeface="+mn-ea"/>
          <a:cs typeface="+mn-cs"/>
        </a:defRPr>
      </a:lvl5pPr>
      <a:lvl6pPr marL="2546776" algn="l" defTabSz="1018711" rtl="0" eaLnBrk="1" latinLnBrk="0" hangingPunct="1">
        <a:defRPr sz="2000" kern="1200">
          <a:solidFill>
            <a:schemeClr val="tx1"/>
          </a:solidFill>
          <a:latin typeface="+mn-lt"/>
          <a:ea typeface="+mn-ea"/>
          <a:cs typeface="+mn-cs"/>
        </a:defRPr>
      </a:lvl6pPr>
      <a:lvl7pPr marL="3056131" algn="l" defTabSz="1018711" rtl="0" eaLnBrk="1" latinLnBrk="0" hangingPunct="1">
        <a:defRPr sz="2000" kern="1200">
          <a:solidFill>
            <a:schemeClr val="tx1"/>
          </a:solidFill>
          <a:latin typeface="+mn-lt"/>
          <a:ea typeface="+mn-ea"/>
          <a:cs typeface="+mn-cs"/>
        </a:defRPr>
      </a:lvl7pPr>
      <a:lvl8pPr marL="3565487" algn="l" defTabSz="1018711" rtl="0" eaLnBrk="1" latinLnBrk="0" hangingPunct="1">
        <a:defRPr sz="2000" kern="1200">
          <a:solidFill>
            <a:schemeClr val="tx1"/>
          </a:solidFill>
          <a:latin typeface="+mn-lt"/>
          <a:ea typeface="+mn-ea"/>
          <a:cs typeface="+mn-cs"/>
        </a:defRPr>
      </a:lvl8pPr>
      <a:lvl9pPr marL="4074841" algn="l" defTabSz="1018711"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71" tIns="50935" rIns="101871" bIns="50935"/>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71" tIns="50935" rIns="101871" bIns="50935"/>
          <a:lstStyle/>
          <a:p>
            <a:pPr>
              <a:defRPr/>
            </a:pPr>
            <a:endParaRPr lang="en-US" dirty="0">
              <a:solidFill>
                <a:srgbClr val="000000"/>
              </a:solidFill>
            </a:endParaRPr>
          </a:p>
        </p:txBody>
      </p:sp>
      <p:grpSp>
        <p:nvGrpSpPr>
          <p:cNvPr id="4" name="Group 33"/>
          <p:cNvGrpSpPr>
            <a:grpSpLocks/>
          </p:cNvGrpSpPr>
          <p:nvPr/>
        </p:nvGrpSpPr>
        <p:grpSpPr bwMode="auto">
          <a:xfrm>
            <a:off x="3794602" y="3762059"/>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71" tIns="50935" rIns="101871" bIns="50935"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7"/>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412" algn="ctr" rtl="0" fontAlgn="base">
        <a:spcBef>
          <a:spcPct val="0"/>
        </a:spcBef>
        <a:spcAft>
          <a:spcPct val="0"/>
        </a:spcAft>
        <a:defRPr sz="4900">
          <a:solidFill>
            <a:schemeClr val="tx2"/>
          </a:solidFill>
          <a:latin typeface="Cambria" pitchFamily="18" charset="0"/>
        </a:defRPr>
      </a:lvl6pPr>
      <a:lvl7pPr marL="1018824" algn="ctr" rtl="0" fontAlgn="base">
        <a:spcBef>
          <a:spcPct val="0"/>
        </a:spcBef>
        <a:spcAft>
          <a:spcPct val="0"/>
        </a:spcAft>
        <a:defRPr sz="4900">
          <a:solidFill>
            <a:schemeClr val="tx2"/>
          </a:solidFill>
          <a:latin typeface="Cambria" pitchFamily="18" charset="0"/>
        </a:defRPr>
      </a:lvl7pPr>
      <a:lvl8pPr marL="1528237" algn="ctr" rtl="0" fontAlgn="base">
        <a:spcBef>
          <a:spcPct val="0"/>
        </a:spcBef>
        <a:spcAft>
          <a:spcPct val="0"/>
        </a:spcAft>
        <a:defRPr sz="4900">
          <a:solidFill>
            <a:schemeClr val="tx2"/>
          </a:solidFill>
          <a:latin typeface="Cambria" pitchFamily="18" charset="0"/>
        </a:defRPr>
      </a:lvl8pPr>
      <a:lvl9pPr marL="2037649" algn="ctr" rtl="0" fontAlgn="base">
        <a:spcBef>
          <a:spcPct val="0"/>
        </a:spcBef>
        <a:spcAft>
          <a:spcPct val="0"/>
        </a:spcAft>
        <a:defRPr sz="4900">
          <a:solidFill>
            <a:schemeClr val="tx2"/>
          </a:solidFill>
          <a:latin typeface="Cambria" pitchFamily="18" charset="0"/>
        </a:defRPr>
      </a:lvl9pPr>
    </p:titleStyle>
    <p:bodyStyle>
      <a:lvl1pPr marL="380291" indent="-380291" algn="l" rtl="0" eaLnBrk="0" fontAlgn="base" hangingPunct="0">
        <a:spcBef>
          <a:spcPct val="20000"/>
        </a:spcBef>
        <a:spcAft>
          <a:spcPct val="0"/>
        </a:spcAft>
        <a:buChar char="•"/>
        <a:defRPr sz="3600">
          <a:solidFill>
            <a:schemeClr val="tx1"/>
          </a:solidFill>
          <a:latin typeface="+mn-lt"/>
          <a:ea typeface="+mn-ea"/>
          <a:cs typeface="+mn-cs"/>
        </a:defRPr>
      </a:lvl1pPr>
      <a:lvl2pPr marL="826027" indent="-316614" algn="l" rtl="0" eaLnBrk="0" fontAlgn="base" hangingPunct="0">
        <a:spcBef>
          <a:spcPct val="20000"/>
        </a:spcBef>
        <a:spcAft>
          <a:spcPct val="0"/>
        </a:spcAft>
        <a:buChar char="–"/>
        <a:defRPr sz="3100">
          <a:solidFill>
            <a:schemeClr val="tx1"/>
          </a:solidFill>
          <a:latin typeface="+mn-lt"/>
        </a:defRPr>
      </a:lvl2pPr>
      <a:lvl3pPr marL="1271762" indent="-252938" algn="l" rtl="0" eaLnBrk="0" fontAlgn="base" hangingPunct="0">
        <a:spcBef>
          <a:spcPct val="20000"/>
        </a:spcBef>
        <a:spcAft>
          <a:spcPct val="0"/>
        </a:spcAft>
        <a:buChar char="•"/>
        <a:defRPr sz="2700">
          <a:solidFill>
            <a:schemeClr val="tx1"/>
          </a:solidFill>
          <a:latin typeface="+mn-lt"/>
        </a:defRPr>
      </a:lvl3pPr>
      <a:lvl4pPr marL="1781175" indent="-252938" algn="l" rtl="0" eaLnBrk="0" fontAlgn="base" hangingPunct="0">
        <a:spcBef>
          <a:spcPct val="20000"/>
        </a:spcBef>
        <a:spcAft>
          <a:spcPct val="0"/>
        </a:spcAft>
        <a:buChar char="–"/>
        <a:defRPr sz="2200">
          <a:solidFill>
            <a:schemeClr val="tx1"/>
          </a:solidFill>
          <a:latin typeface="+mn-lt"/>
        </a:defRPr>
      </a:lvl4pPr>
      <a:lvl5pPr marL="2290587" indent="-252938" algn="l" rtl="0" eaLnBrk="0" fontAlgn="base" hangingPunct="0">
        <a:spcBef>
          <a:spcPct val="20000"/>
        </a:spcBef>
        <a:spcAft>
          <a:spcPct val="0"/>
        </a:spcAft>
        <a:buChar char="»"/>
        <a:defRPr sz="2200">
          <a:solidFill>
            <a:schemeClr val="tx1"/>
          </a:solidFill>
          <a:latin typeface="+mn-lt"/>
        </a:defRPr>
      </a:lvl5pPr>
      <a:lvl6pPr marL="2799999" indent="-252938" algn="l" rtl="0" fontAlgn="base">
        <a:spcBef>
          <a:spcPct val="20000"/>
        </a:spcBef>
        <a:spcAft>
          <a:spcPct val="0"/>
        </a:spcAft>
        <a:buChar char="»"/>
        <a:defRPr sz="2200">
          <a:solidFill>
            <a:schemeClr val="tx1"/>
          </a:solidFill>
          <a:latin typeface="+mn-lt"/>
        </a:defRPr>
      </a:lvl6pPr>
      <a:lvl7pPr marL="3309411" indent="-252938" algn="l" rtl="0" fontAlgn="base">
        <a:spcBef>
          <a:spcPct val="20000"/>
        </a:spcBef>
        <a:spcAft>
          <a:spcPct val="0"/>
        </a:spcAft>
        <a:buChar char="»"/>
        <a:defRPr sz="2200">
          <a:solidFill>
            <a:schemeClr val="tx1"/>
          </a:solidFill>
          <a:latin typeface="+mn-lt"/>
        </a:defRPr>
      </a:lvl7pPr>
      <a:lvl8pPr marL="3818824" indent="-252938" algn="l" rtl="0" fontAlgn="base">
        <a:spcBef>
          <a:spcPct val="20000"/>
        </a:spcBef>
        <a:spcAft>
          <a:spcPct val="0"/>
        </a:spcAft>
        <a:buChar char="»"/>
        <a:defRPr sz="2200">
          <a:solidFill>
            <a:schemeClr val="tx1"/>
          </a:solidFill>
          <a:latin typeface="+mn-lt"/>
        </a:defRPr>
      </a:lvl8pPr>
      <a:lvl9pPr marL="4328236" indent="-252938"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0"/>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5"/>
            <a:ext cx="9601200" cy="3853743"/>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71" tIns="50935" rIns="101871" bIns="50935" anchor="ctr"/>
          <a:lstStyle/>
          <a:p>
            <a:pPr>
              <a:defRPr/>
            </a:pPr>
            <a:endParaRPr lang="en-US" dirty="0">
              <a:solidFill>
                <a:srgbClr val="000000"/>
              </a:solidFill>
            </a:endParaRPr>
          </a:p>
        </p:txBody>
      </p:sp>
      <p:grpSp>
        <p:nvGrpSpPr>
          <p:cNvPr id="4" name="Group 33"/>
          <p:cNvGrpSpPr>
            <a:grpSpLocks/>
          </p:cNvGrpSpPr>
          <p:nvPr/>
        </p:nvGrpSpPr>
        <p:grpSpPr bwMode="auto">
          <a:xfrm>
            <a:off x="3775393" y="3762059"/>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7"/>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355" algn="ctr" rtl="0" fontAlgn="base">
        <a:spcBef>
          <a:spcPct val="0"/>
        </a:spcBef>
        <a:spcAft>
          <a:spcPct val="0"/>
        </a:spcAft>
        <a:defRPr sz="4900">
          <a:solidFill>
            <a:schemeClr val="tx2"/>
          </a:solidFill>
          <a:latin typeface="Cambria" pitchFamily="18" charset="0"/>
        </a:defRPr>
      </a:lvl6pPr>
      <a:lvl7pPr marL="1018711" algn="ctr" rtl="0" fontAlgn="base">
        <a:spcBef>
          <a:spcPct val="0"/>
        </a:spcBef>
        <a:spcAft>
          <a:spcPct val="0"/>
        </a:spcAft>
        <a:defRPr sz="4900">
          <a:solidFill>
            <a:schemeClr val="tx2"/>
          </a:solidFill>
          <a:latin typeface="Cambria" pitchFamily="18" charset="0"/>
        </a:defRPr>
      </a:lvl7pPr>
      <a:lvl8pPr marL="1528065" algn="ctr" rtl="0" fontAlgn="base">
        <a:spcBef>
          <a:spcPct val="0"/>
        </a:spcBef>
        <a:spcAft>
          <a:spcPct val="0"/>
        </a:spcAft>
        <a:defRPr sz="4900">
          <a:solidFill>
            <a:schemeClr val="tx2"/>
          </a:solidFill>
          <a:latin typeface="Cambria" pitchFamily="18" charset="0"/>
        </a:defRPr>
      </a:lvl8pPr>
      <a:lvl9pPr marL="2037421" algn="ctr" rtl="0" fontAlgn="base">
        <a:spcBef>
          <a:spcPct val="0"/>
        </a:spcBef>
        <a:spcAft>
          <a:spcPct val="0"/>
        </a:spcAft>
        <a:defRPr sz="4900">
          <a:solidFill>
            <a:schemeClr val="tx2"/>
          </a:solidFill>
          <a:latin typeface="Cambria" pitchFamily="18" charset="0"/>
        </a:defRPr>
      </a:lvl9pPr>
    </p:titleStyle>
    <p:bodyStyle>
      <a:lvl1pPr marL="380291" indent="-380291" algn="l" rtl="0" eaLnBrk="0" fontAlgn="base" hangingPunct="0">
        <a:spcBef>
          <a:spcPct val="20000"/>
        </a:spcBef>
        <a:spcAft>
          <a:spcPct val="0"/>
        </a:spcAft>
        <a:buChar char="•"/>
        <a:defRPr sz="3600">
          <a:solidFill>
            <a:schemeClr val="tx1"/>
          </a:solidFill>
          <a:latin typeface="+mn-lt"/>
          <a:ea typeface="+mn-ea"/>
          <a:cs typeface="+mn-cs"/>
        </a:defRPr>
      </a:lvl1pPr>
      <a:lvl2pPr marL="826027" indent="-316614" algn="l" rtl="0" eaLnBrk="0" fontAlgn="base" hangingPunct="0">
        <a:spcBef>
          <a:spcPct val="20000"/>
        </a:spcBef>
        <a:spcAft>
          <a:spcPct val="0"/>
        </a:spcAft>
        <a:buChar char="–"/>
        <a:defRPr sz="3100">
          <a:solidFill>
            <a:schemeClr val="tx1"/>
          </a:solidFill>
          <a:latin typeface="+mn-lt"/>
        </a:defRPr>
      </a:lvl2pPr>
      <a:lvl3pPr marL="1271762" indent="-252938" algn="l" rtl="0" eaLnBrk="0" fontAlgn="base" hangingPunct="0">
        <a:spcBef>
          <a:spcPct val="20000"/>
        </a:spcBef>
        <a:spcAft>
          <a:spcPct val="0"/>
        </a:spcAft>
        <a:buChar char="•"/>
        <a:defRPr sz="2700">
          <a:solidFill>
            <a:schemeClr val="tx1"/>
          </a:solidFill>
          <a:latin typeface="+mn-lt"/>
        </a:defRPr>
      </a:lvl3pPr>
      <a:lvl4pPr marL="1781175" indent="-252938" algn="l" rtl="0" eaLnBrk="0" fontAlgn="base" hangingPunct="0">
        <a:spcBef>
          <a:spcPct val="20000"/>
        </a:spcBef>
        <a:spcAft>
          <a:spcPct val="0"/>
        </a:spcAft>
        <a:buChar char="–"/>
        <a:defRPr sz="2200">
          <a:solidFill>
            <a:schemeClr val="tx1"/>
          </a:solidFill>
          <a:latin typeface="+mn-lt"/>
        </a:defRPr>
      </a:lvl4pPr>
      <a:lvl5pPr marL="2290587" indent="-252938" algn="l" rtl="0" eaLnBrk="0" fontAlgn="base" hangingPunct="0">
        <a:spcBef>
          <a:spcPct val="20000"/>
        </a:spcBef>
        <a:spcAft>
          <a:spcPct val="0"/>
        </a:spcAft>
        <a:buChar char="»"/>
        <a:defRPr sz="2200">
          <a:solidFill>
            <a:schemeClr val="tx1"/>
          </a:solidFill>
          <a:latin typeface="+mn-lt"/>
        </a:defRPr>
      </a:lvl5pPr>
      <a:lvl6pPr marL="2801453" indent="-254677" algn="l" rtl="0" fontAlgn="base">
        <a:spcBef>
          <a:spcPct val="20000"/>
        </a:spcBef>
        <a:spcAft>
          <a:spcPct val="0"/>
        </a:spcAft>
        <a:buChar char="»"/>
        <a:defRPr sz="2200">
          <a:solidFill>
            <a:schemeClr val="tx1"/>
          </a:solidFill>
          <a:latin typeface="+mn-lt"/>
        </a:defRPr>
      </a:lvl6pPr>
      <a:lvl7pPr marL="3310809" indent="-254677" algn="l" rtl="0" fontAlgn="base">
        <a:spcBef>
          <a:spcPct val="20000"/>
        </a:spcBef>
        <a:spcAft>
          <a:spcPct val="0"/>
        </a:spcAft>
        <a:buChar char="»"/>
        <a:defRPr sz="2200">
          <a:solidFill>
            <a:schemeClr val="tx1"/>
          </a:solidFill>
          <a:latin typeface="+mn-lt"/>
        </a:defRPr>
      </a:lvl7pPr>
      <a:lvl8pPr marL="3820164" indent="-254677" algn="l" rtl="0" fontAlgn="base">
        <a:spcBef>
          <a:spcPct val="20000"/>
        </a:spcBef>
        <a:spcAft>
          <a:spcPct val="0"/>
        </a:spcAft>
        <a:buChar char="»"/>
        <a:defRPr sz="2200">
          <a:solidFill>
            <a:schemeClr val="tx1"/>
          </a:solidFill>
          <a:latin typeface="+mn-lt"/>
        </a:defRPr>
      </a:lvl8pPr>
      <a:lvl9pPr marL="4329519" indent="-25467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711" rtl="0" eaLnBrk="1" latinLnBrk="0" hangingPunct="1">
        <a:defRPr sz="2000" kern="1200">
          <a:solidFill>
            <a:schemeClr val="tx1"/>
          </a:solidFill>
          <a:latin typeface="+mn-lt"/>
          <a:ea typeface="+mn-ea"/>
          <a:cs typeface="+mn-cs"/>
        </a:defRPr>
      </a:lvl1pPr>
      <a:lvl2pPr marL="509355" algn="l" defTabSz="1018711" rtl="0" eaLnBrk="1" latinLnBrk="0" hangingPunct="1">
        <a:defRPr sz="2000" kern="1200">
          <a:solidFill>
            <a:schemeClr val="tx1"/>
          </a:solidFill>
          <a:latin typeface="+mn-lt"/>
          <a:ea typeface="+mn-ea"/>
          <a:cs typeface="+mn-cs"/>
        </a:defRPr>
      </a:lvl2pPr>
      <a:lvl3pPr marL="1018711" algn="l" defTabSz="1018711" rtl="0" eaLnBrk="1" latinLnBrk="0" hangingPunct="1">
        <a:defRPr sz="2000" kern="1200">
          <a:solidFill>
            <a:schemeClr val="tx1"/>
          </a:solidFill>
          <a:latin typeface="+mn-lt"/>
          <a:ea typeface="+mn-ea"/>
          <a:cs typeface="+mn-cs"/>
        </a:defRPr>
      </a:lvl3pPr>
      <a:lvl4pPr marL="1528065" algn="l" defTabSz="1018711" rtl="0" eaLnBrk="1" latinLnBrk="0" hangingPunct="1">
        <a:defRPr sz="2000" kern="1200">
          <a:solidFill>
            <a:schemeClr val="tx1"/>
          </a:solidFill>
          <a:latin typeface="+mn-lt"/>
          <a:ea typeface="+mn-ea"/>
          <a:cs typeface="+mn-cs"/>
        </a:defRPr>
      </a:lvl4pPr>
      <a:lvl5pPr marL="2037421" algn="l" defTabSz="1018711" rtl="0" eaLnBrk="1" latinLnBrk="0" hangingPunct="1">
        <a:defRPr sz="2000" kern="1200">
          <a:solidFill>
            <a:schemeClr val="tx1"/>
          </a:solidFill>
          <a:latin typeface="+mn-lt"/>
          <a:ea typeface="+mn-ea"/>
          <a:cs typeface="+mn-cs"/>
        </a:defRPr>
      </a:lvl5pPr>
      <a:lvl6pPr marL="2546776" algn="l" defTabSz="1018711" rtl="0" eaLnBrk="1" latinLnBrk="0" hangingPunct="1">
        <a:defRPr sz="2000" kern="1200">
          <a:solidFill>
            <a:schemeClr val="tx1"/>
          </a:solidFill>
          <a:latin typeface="+mn-lt"/>
          <a:ea typeface="+mn-ea"/>
          <a:cs typeface="+mn-cs"/>
        </a:defRPr>
      </a:lvl6pPr>
      <a:lvl7pPr marL="3056131" algn="l" defTabSz="1018711" rtl="0" eaLnBrk="1" latinLnBrk="0" hangingPunct="1">
        <a:defRPr sz="2000" kern="1200">
          <a:solidFill>
            <a:schemeClr val="tx1"/>
          </a:solidFill>
          <a:latin typeface="+mn-lt"/>
          <a:ea typeface="+mn-ea"/>
          <a:cs typeface="+mn-cs"/>
        </a:defRPr>
      </a:lvl7pPr>
      <a:lvl8pPr marL="3565487" algn="l" defTabSz="1018711" rtl="0" eaLnBrk="1" latinLnBrk="0" hangingPunct="1">
        <a:defRPr sz="2000" kern="1200">
          <a:solidFill>
            <a:schemeClr val="tx1"/>
          </a:solidFill>
          <a:latin typeface="+mn-lt"/>
          <a:ea typeface="+mn-ea"/>
          <a:cs typeface="+mn-cs"/>
        </a:defRPr>
      </a:lvl8pPr>
      <a:lvl9pPr marL="4074841" algn="l" defTabSz="1018711"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chart" Target="../charts/char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544584" y="6084605"/>
            <a:ext cx="6147109" cy="887695"/>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spAutoFit/>
          </a:bodyPr>
          <a:lstStyle/>
          <a:p>
            <a:pPr algn="r" defTabSz="1018824"/>
            <a:r>
              <a:rPr lang="en-US" sz="3100" dirty="0" smtClean="0">
                <a:solidFill>
                  <a:srgbClr val="968880"/>
                </a:solidFill>
                <a:latin typeface="Calibri" pitchFamily="34" charset="0"/>
              </a:rPr>
              <a:t>CELLO RESEARCH</a:t>
            </a:r>
          </a:p>
          <a:p>
            <a:pPr algn="r" defTabSz="1018824"/>
            <a:r>
              <a:rPr lang="en-US" dirty="0" smtClean="0">
                <a:solidFill>
                  <a:schemeClr val="tx2"/>
                </a:solidFill>
                <a:latin typeface="Calibri" pitchFamily="34" charset="0"/>
              </a:rPr>
              <a:t>DECEMBER 2015</a:t>
            </a:r>
            <a:endParaRPr lang="en-US" sz="2000" dirty="0" smtClean="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262245" y="247131"/>
            <a:ext cx="8574088" cy="609918"/>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algn="r" defTabSz="1018705" eaLnBrk="0" hangingPunct="0">
              <a:defRPr/>
            </a:pPr>
            <a:r>
              <a:rPr lang="en-US" sz="1400" b="1" kern="0" dirty="0" smtClean="0">
                <a:solidFill>
                  <a:schemeClr val="bg1"/>
                </a:solidFill>
                <a:latin typeface="Calibri" pitchFamily="34" charset="0"/>
                <a:ea typeface="+mj-ea"/>
                <a:cs typeface="+mj-cs"/>
              </a:rPr>
              <a:t>TABLE OF CONTENTS</a:t>
            </a:r>
            <a:r>
              <a:rPr lang="en-US" sz="1400" b="1" kern="0" dirty="0">
                <a:solidFill>
                  <a:schemeClr val="bg1"/>
                </a:solidFill>
                <a:latin typeface="Calibri" pitchFamily="34" charset="0"/>
                <a:ea typeface="+mj-ea"/>
                <a:cs typeface="+mj-cs"/>
              </a:rPr>
              <a:t/>
            </a:r>
            <a:br>
              <a:rPr lang="en-US" sz="1400" b="1" kern="0" dirty="0">
                <a:solidFill>
                  <a:schemeClr val="bg1"/>
                </a:solidFill>
                <a:latin typeface="Calibri" pitchFamily="34" charset="0"/>
                <a:ea typeface="+mj-ea"/>
                <a:cs typeface="+mj-cs"/>
              </a:rPr>
            </a:br>
            <a:r>
              <a:rPr lang="en-US" sz="1200" kern="0" dirty="0">
                <a:solidFill>
                  <a:schemeClr val="bg1"/>
                </a:solidFill>
                <a:latin typeface="Calibri" pitchFamily="34" charset="0"/>
                <a:ea typeface="+mj-ea"/>
                <a:cs typeface="+mj-cs"/>
              </a:rPr>
              <a:t/>
            </a:r>
            <a:br>
              <a:rPr lang="en-US" sz="1200" kern="0" dirty="0">
                <a:solidFill>
                  <a:schemeClr val="bg1"/>
                </a:solidFill>
                <a:latin typeface="Calibri" pitchFamily="34" charset="0"/>
                <a:ea typeface="+mj-ea"/>
                <a:cs typeface="+mj-cs"/>
              </a:rPr>
            </a:br>
            <a:endParaRPr lang="en-US" sz="1400" kern="0" dirty="0">
              <a:solidFill>
                <a:schemeClr val="bg1"/>
              </a:solidFill>
              <a:latin typeface="+mj-lt"/>
              <a:ea typeface="+mj-ea"/>
              <a:cs typeface="+mj-cs"/>
            </a:endParaRPr>
          </a:p>
        </p:txBody>
      </p:sp>
      <p:sp>
        <p:nvSpPr>
          <p:cNvPr id="6" name="Subtitle 2"/>
          <p:cNvSpPr>
            <a:spLocks noGrp="1"/>
          </p:cNvSpPr>
          <p:nvPr>
            <p:ph type="subTitle" idx="1"/>
          </p:nvPr>
        </p:nvSpPr>
        <p:spPr>
          <a:xfrm>
            <a:off x="1262244" y="1465264"/>
            <a:ext cx="7405506" cy="5130167"/>
          </a:xfrm>
        </p:spPr>
        <p:txBody>
          <a:bodyPr/>
          <a:lstStyle/>
          <a:p>
            <a:pPr marL="457146" indent="-457146" algn="l">
              <a:spcBef>
                <a:spcPts val="0"/>
              </a:spcBef>
              <a:buFont typeface="Arial" pitchFamily="34" charset="0"/>
              <a:buChar char="•"/>
            </a:pPr>
            <a:endParaRPr lang="en-US" sz="2000" b="1" dirty="0"/>
          </a:p>
          <a:p>
            <a:pPr marL="514290" indent="-514290" algn="l">
              <a:spcBef>
                <a:spcPts val="0"/>
              </a:spcBef>
              <a:buFont typeface="+mj-lt"/>
              <a:buAutoNum type="romanUcPeriod"/>
            </a:pPr>
            <a:r>
              <a:rPr lang="en-US" sz="2000" dirty="0" smtClean="0"/>
              <a:t>The Case for In-House Research</a:t>
            </a:r>
            <a:endParaRPr lang="en-US" sz="2000" dirty="0"/>
          </a:p>
          <a:p>
            <a:pPr marL="514290" indent="-514290" algn="l">
              <a:spcBef>
                <a:spcPts val="0"/>
              </a:spcBef>
              <a:buFont typeface="+mj-lt"/>
              <a:buAutoNum type="romanUcPeriod"/>
            </a:pPr>
            <a:endParaRPr lang="en-US" sz="2000" dirty="0">
              <a:solidFill>
                <a:srgbClr val="FF0000"/>
              </a:solidFill>
            </a:endParaRPr>
          </a:p>
          <a:p>
            <a:pPr marL="514290" indent="-514290" algn="l">
              <a:spcBef>
                <a:spcPts val="0"/>
              </a:spcBef>
              <a:buFont typeface="+mj-lt"/>
              <a:buAutoNum type="romanUcPeriod"/>
            </a:pPr>
            <a:r>
              <a:rPr lang="en-US" sz="2000" dirty="0" smtClean="0"/>
              <a:t>Areas of Focus</a:t>
            </a:r>
            <a:endParaRPr lang="en-US" sz="2000" dirty="0"/>
          </a:p>
          <a:p>
            <a:pPr marL="514290" indent="-514290" algn="l">
              <a:spcBef>
                <a:spcPts val="0"/>
              </a:spcBef>
              <a:buFont typeface="+mj-lt"/>
              <a:buAutoNum type="romanUcPeriod"/>
            </a:pPr>
            <a:endParaRPr lang="en-US" sz="2000" dirty="0"/>
          </a:p>
          <a:p>
            <a:pPr marL="514290" indent="-514290" algn="l">
              <a:spcBef>
                <a:spcPts val="0"/>
              </a:spcBef>
              <a:buFont typeface="+mj-lt"/>
              <a:buAutoNum type="romanUcPeriod"/>
            </a:pPr>
            <a:r>
              <a:rPr lang="en-US" sz="2000" dirty="0" smtClean="0"/>
              <a:t>The Role of Technology</a:t>
            </a:r>
            <a:endParaRPr lang="en-US" sz="2000" dirty="0"/>
          </a:p>
          <a:p>
            <a:pPr marL="514290" indent="-514290" algn="l">
              <a:spcBef>
                <a:spcPts val="0"/>
              </a:spcBef>
              <a:buFont typeface="+mj-lt"/>
              <a:buAutoNum type="romanUcPeriod"/>
            </a:pPr>
            <a:endParaRPr lang="en-US" sz="2000" dirty="0"/>
          </a:p>
          <a:p>
            <a:pPr marL="514290" indent="-514290" algn="l">
              <a:spcBef>
                <a:spcPts val="0"/>
              </a:spcBef>
              <a:buFont typeface="+mj-lt"/>
              <a:buAutoNum type="romanUcPeriod"/>
            </a:pPr>
            <a:r>
              <a:rPr lang="en-US" sz="2000" dirty="0" smtClean="0"/>
              <a:t>Team Bios</a:t>
            </a:r>
            <a:endParaRPr lang="en-US" sz="2000" b="1" dirty="0"/>
          </a:p>
          <a:p>
            <a:pPr marL="457146" algn="l">
              <a:spcBef>
                <a:spcPts val="0"/>
              </a:spcBef>
            </a:pPr>
            <a:endParaRPr lang="en-US" sz="2000" b="1" dirty="0"/>
          </a:p>
        </p:txBody>
      </p:sp>
    </p:spTree>
    <p:extLst>
      <p:ext uri="{BB962C8B-B14F-4D97-AF65-F5344CB8AC3E}">
        <p14:creationId xmlns:p14="http://schemas.microsoft.com/office/powerpoint/2010/main" val="31124011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508885"/>
            <a:ext cx="10058400" cy="1986280"/>
          </a:xfrm>
        </p:spPr>
        <p:txBody>
          <a:bodyPr/>
          <a:lstStyle/>
          <a:p>
            <a:endParaRPr lang="en-US" sz="2500" b="1" dirty="0">
              <a:latin typeface="+mj-lt"/>
            </a:endParaRPr>
          </a:p>
          <a:p>
            <a:r>
              <a:rPr lang="en-US" sz="2500" b="1" dirty="0" smtClean="0"/>
              <a:t>THE CASE FOR IN-HOUSE RESEARCH</a:t>
            </a:r>
            <a:endParaRPr lang="en-US" sz="2500" b="1" dirty="0"/>
          </a:p>
        </p:txBody>
      </p:sp>
    </p:spTree>
    <p:extLst>
      <p:ext uri="{BB962C8B-B14F-4D97-AF65-F5344CB8AC3E}">
        <p14:creationId xmlns:p14="http://schemas.microsoft.com/office/powerpoint/2010/main" val="38209989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262245" y="247131"/>
            <a:ext cx="8574088" cy="609918"/>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algn="r" defTabSz="1018705" eaLnBrk="0" hangingPunct="0">
              <a:defRPr/>
            </a:pPr>
            <a:r>
              <a:rPr lang="en-US" sz="1400" b="1" kern="0" dirty="0" smtClean="0">
                <a:solidFill>
                  <a:schemeClr val="bg1"/>
                </a:solidFill>
                <a:latin typeface="Calibri" pitchFamily="34" charset="0"/>
                <a:ea typeface="+mj-ea"/>
                <a:cs typeface="+mj-cs"/>
              </a:rPr>
              <a:t>RESEARCH GOALS</a:t>
            </a:r>
            <a:r>
              <a:rPr lang="en-US" sz="1400" b="1" kern="0" dirty="0">
                <a:solidFill>
                  <a:srgbClr val="FF0000"/>
                </a:solidFill>
                <a:latin typeface="Calibri" pitchFamily="34" charset="0"/>
                <a:ea typeface="+mj-ea"/>
                <a:cs typeface="+mj-cs"/>
              </a:rPr>
              <a:t/>
            </a:r>
            <a:br>
              <a:rPr lang="en-US" sz="1400" b="1" kern="0" dirty="0">
                <a:solidFill>
                  <a:srgbClr val="FF0000"/>
                </a:solidFill>
                <a:latin typeface="Calibri" pitchFamily="34" charset="0"/>
                <a:ea typeface="+mj-ea"/>
                <a:cs typeface="+mj-cs"/>
              </a:rPr>
            </a:br>
            <a:r>
              <a:rPr lang="en-US" sz="1200" kern="0" dirty="0">
                <a:solidFill>
                  <a:srgbClr val="FF0000"/>
                </a:solidFill>
                <a:latin typeface="Calibri" pitchFamily="34" charset="0"/>
                <a:ea typeface="+mj-ea"/>
                <a:cs typeface="+mj-cs"/>
              </a:rPr>
              <a:t/>
            </a:r>
            <a:br>
              <a:rPr lang="en-US" sz="1200" kern="0" dirty="0">
                <a:solidFill>
                  <a:srgbClr val="FF0000"/>
                </a:solidFill>
                <a:latin typeface="Calibri" pitchFamily="34" charset="0"/>
                <a:ea typeface="+mj-ea"/>
                <a:cs typeface="+mj-cs"/>
              </a:rPr>
            </a:br>
            <a:endParaRPr lang="en-US" sz="1400" kern="0" dirty="0">
              <a:solidFill>
                <a:srgbClr val="FF0000"/>
              </a:solidFill>
              <a:latin typeface="+mj-lt"/>
              <a:ea typeface="+mj-ea"/>
              <a:cs typeface="+mj-cs"/>
            </a:endParaRPr>
          </a:p>
        </p:txBody>
      </p:sp>
      <p:sp>
        <p:nvSpPr>
          <p:cNvPr id="6" name="Subtitle 2"/>
          <p:cNvSpPr>
            <a:spLocks noGrp="1"/>
          </p:cNvSpPr>
          <p:nvPr>
            <p:ph type="subTitle" idx="1"/>
          </p:nvPr>
        </p:nvSpPr>
        <p:spPr>
          <a:xfrm>
            <a:off x="586740" y="1382537"/>
            <a:ext cx="8884920" cy="6044423"/>
          </a:xfrm>
        </p:spPr>
        <p:txBody>
          <a:bodyPr/>
          <a:lstStyle/>
          <a:p>
            <a:pPr marL="342859" indent="-342859" algn="l">
              <a:spcBef>
                <a:spcPts val="1783"/>
              </a:spcBef>
              <a:buFont typeface="Arial" pitchFamily="34" charset="0"/>
              <a:buChar char="•"/>
            </a:pPr>
            <a:r>
              <a:rPr lang="en-US" sz="2000" b="1" dirty="0" smtClean="0"/>
              <a:t>Alpha Generation: </a:t>
            </a:r>
            <a:r>
              <a:rPr lang="en-US" sz="2000" dirty="0" smtClean="0"/>
              <a:t>Generate original, consensus-defying ideas through researching homeowner prepayment behavior, MBS pricing models, and industry trends that affect MBS pricing</a:t>
            </a:r>
            <a:endParaRPr lang="en-US" sz="2000" dirty="0"/>
          </a:p>
          <a:p>
            <a:pPr algn="l">
              <a:spcBef>
                <a:spcPts val="1783"/>
              </a:spcBef>
            </a:pPr>
            <a:endParaRPr lang="en-US" sz="2000" dirty="0"/>
          </a:p>
          <a:p>
            <a:pPr marL="342859" indent="-342859" algn="l">
              <a:spcBef>
                <a:spcPts val="1783"/>
              </a:spcBef>
              <a:buFont typeface="Arial" pitchFamily="34" charset="0"/>
              <a:buChar char="•"/>
            </a:pPr>
            <a:r>
              <a:rPr lang="en-US" sz="2000" b="1" dirty="0" smtClean="0"/>
              <a:t>Accuracy:  </a:t>
            </a:r>
            <a:r>
              <a:rPr lang="en-US" sz="2000" dirty="0" smtClean="0"/>
              <a:t>Street research can oversimplify the complexities of prepayment data. “Paper” trades often do not accurately capture the dynamics of pricing and hedging an MBS trade from inception to close. The Cello Research team serves as a valuable resource in cross-validating/fact-checking Street research.</a:t>
            </a:r>
            <a:endParaRPr lang="en-US" sz="1800" dirty="0">
              <a:latin typeface="+mj-lt"/>
            </a:endParaRPr>
          </a:p>
          <a:p>
            <a:pPr marL="342859" indent="-342859" algn="l">
              <a:spcBef>
                <a:spcPts val="1783"/>
              </a:spcBef>
              <a:buFont typeface="Arial" pitchFamily="34" charset="0"/>
              <a:buChar char="•"/>
            </a:pPr>
            <a:endParaRPr lang="en-US" sz="1800" b="1" dirty="0">
              <a:latin typeface="+mj-lt"/>
            </a:endParaRPr>
          </a:p>
          <a:p>
            <a:pPr marL="342859" indent="-342859" algn="l">
              <a:spcBef>
                <a:spcPts val="1783"/>
              </a:spcBef>
              <a:buFont typeface="Arial" pitchFamily="34" charset="0"/>
              <a:buChar char="•"/>
            </a:pPr>
            <a:r>
              <a:rPr lang="en-US" sz="2000" b="1" dirty="0" smtClean="0"/>
              <a:t>Speed: </a:t>
            </a:r>
            <a:r>
              <a:rPr lang="en-US" sz="2000" dirty="0" smtClean="0"/>
              <a:t>Proprietary databases and pricing models help us sift through large datasets very rapidly to analyze the idiosyncratic risk associated with every CMO. Research analysts leverage technology to quick address queries from the investment team.</a:t>
            </a:r>
            <a:endParaRPr lang="en-US" sz="2000" b="1" dirty="0"/>
          </a:p>
          <a:p>
            <a:pPr algn="l">
              <a:spcBef>
                <a:spcPts val="1783"/>
              </a:spcBef>
            </a:pPr>
            <a:endParaRPr lang="en-US" sz="2000" b="1" dirty="0"/>
          </a:p>
        </p:txBody>
      </p:sp>
    </p:spTree>
    <p:extLst>
      <p:ext uri="{BB962C8B-B14F-4D97-AF65-F5344CB8AC3E}">
        <p14:creationId xmlns:p14="http://schemas.microsoft.com/office/powerpoint/2010/main" val="37374580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508885"/>
            <a:ext cx="10058400" cy="1986280"/>
          </a:xfrm>
        </p:spPr>
        <p:txBody>
          <a:bodyPr/>
          <a:lstStyle/>
          <a:p>
            <a:endParaRPr lang="en-US" sz="2500" b="1" dirty="0">
              <a:latin typeface="+mj-lt"/>
            </a:endParaRPr>
          </a:p>
          <a:p>
            <a:r>
              <a:rPr lang="en-US" sz="2500" b="1" dirty="0" smtClean="0"/>
              <a:t>AREAS OF FOCUS</a:t>
            </a:r>
            <a:endParaRPr lang="en-US" sz="2500" b="1" dirty="0"/>
          </a:p>
        </p:txBody>
      </p:sp>
    </p:spTree>
    <p:extLst>
      <p:ext uri="{BB962C8B-B14F-4D97-AF65-F5344CB8AC3E}">
        <p14:creationId xmlns:p14="http://schemas.microsoft.com/office/powerpoint/2010/main" val="41787074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262245" y="247131"/>
            <a:ext cx="8574088" cy="609918"/>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algn="r" defTabSz="1018705" eaLnBrk="0" hangingPunct="0">
              <a:defRPr/>
            </a:pPr>
            <a:r>
              <a:rPr lang="en-US" sz="1400" b="1" kern="0" dirty="0" smtClean="0">
                <a:solidFill>
                  <a:schemeClr val="bg1"/>
                </a:solidFill>
                <a:latin typeface="Calibri" pitchFamily="34" charset="0"/>
                <a:ea typeface="+mj-ea"/>
                <a:cs typeface="+mj-cs"/>
              </a:rPr>
              <a:t>AREAS OF RESEARCH FOCUS</a:t>
            </a:r>
            <a:r>
              <a:rPr lang="en-US" sz="1400" b="1" kern="0" dirty="0">
                <a:solidFill>
                  <a:schemeClr val="bg1"/>
                </a:solidFill>
                <a:latin typeface="Calibri" pitchFamily="34" charset="0"/>
                <a:ea typeface="+mj-ea"/>
                <a:cs typeface="+mj-cs"/>
              </a:rPr>
              <a:t/>
            </a:r>
            <a:br>
              <a:rPr lang="en-US" sz="1400" b="1" kern="0" dirty="0">
                <a:solidFill>
                  <a:schemeClr val="bg1"/>
                </a:solidFill>
                <a:latin typeface="Calibri" pitchFamily="34" charset="0"/>
                <a:ea typeface="+mj-ea"/>
                <a:cs typeface="+mj-cs"/>
              </a:rPr>
            </a:br>
            <a:r>
              <a:rPr lang="en-US" sz="1200" kern="0" dirty="0">
                <a:solidFill>
                  <a:schemeClr val="bg1"/>
                </a:solidFill>
                <a:latin typeface="Calibri" pitchFamily="34" charset="0"/>
                <a:ea typeface="+mj-ea"/>
                <a:cs typeface="+mj-cs"/>
              </a:rPr>
              <a:t/>
            </a:r>
            <a:br>
              <a:rPr lang="en-US" sz="1200" kern="0" dirty="0">
                <a:solidFill>
                  <a:schemeClr val="bg1"/>
                </a:solidFill>
                <a:latin typeface="Calibri" pitchFamily="34" charset="0"/>
                <a:ea typeface="+mj-ea"/>
                <a:cs typeface="+mj-cs"/>
              </a:rPr>
            </a:br>
            <a:endParaRPr lang="en-US" sz="1400" kern="0" dirty="0">
              <a:solidFill>
                <a:schemeClr val="bg1"/>
              </a:solidFill>
              <a:latin typeface="+mj-lt"/>
              <a:ea typeface="+mj-ea"/>
              <a:cs typeface="+mj-cs"/>
            </a:endParaRPr>
          </a:p>
        </p:txBody>
      </p:sp>
      <p:sp>
        <p:nvSpPr>
          <p:cNvPr id="6" name="Subtitle 2"/>
          <p:cNvSpPr>
            <a:spLocks noGrp="1"/>
          </p:cNvSpPr>
          <p:nvPr>
            <p:ph type="subTitle" idx="1"/>
          </p:nvPr>
        </p:nvSpPr>
        <p:spPr>
          <a:xfrm>
            <a:off x="586740" y="1382537"/>
            <a:ext cx="8884920" cy="6044423"/>
          </a:xfrm>
        </p:spPr>
        <p:txBody>
          <a:bodyPr/>
          <a:lstStyle/>
          <a:p>
            <a:pPr marL="342859" indent="-342859" algn="l">
              <a:spcBef>
                <a:spcPts val="1783"/>
              </a:spcBef>
              <a:buFont typeface="Arial" pitchFamily="34" charset="0"/>
              <a:buChar char="•"/>
            </a:pPr>
            <a:r>
              <a:rPr lang="en-US" sz="2000" b="1" dirty="0" smtClean="0"/>
              <a:t>Prepayment Behavior: </a:t>
            </a:r>
            <a:r>
              <a:rPr lang="en-US" sz="2000" dirty="0" smtClean="0"/>
              <a:t> Evolution of Borrower/Loan characteristics, Government housing policy, Mortgage lending industry, Prepayment modeling</a:t>
            </a:r>
            <a:endParaRPr lang="en-US" sz="2000" dirty="0"/>
          </a:p>
          <a:p>
            <a:pPr algn="l">
              <a:spcBef>
                <a:spcPts val="1783"/>
              </a:spcBef>
            </a:pPr>
            <a:endParaRPr lang="en-US" sz="2000" dirty="0"/>
          </a:p>
          <a:p>
            <a:pPr marL="342859" indent="-342859" algn="l">
              <a:spcBef>
                <a:spcPts val="1783"/>
              </a:spcBef>
              <a:buFont typeface="Arial" pitchFamily="34" charset="0"/>
              <a:buChar char="•"/>
            </a:pPr>
            <a:r>
              <a:rPr lang="en-US" sz="2000" b="1" dirty="0" smtClean="0"/>
              <a:t>MBS CMO Valuation and Hedging:  </a:t>
            </a:r>
            <a:r>
              <a:rPr lang="en-US" sz="2000" dirty="0" smtClean="0"/>
              <a:t>Mortgage pricing models, Interest rate models, Mortgage rate models, House price models</a:t>
            </a:r>
          </a:p>
          <a:p>
            <a:pPr marL="342859" indent="-342859" algn="l">
              <a:spcBef>
                <a:spcPts val="1783"/>
              </a:spcBef>
              <a:buFont typeface="Arial" pitchFamily="34" charset="0"/>
              <a:buChar char="•"/>
            </a:pPr>
            <a:endParaRPr lang="en-US" sz="2000" dirty="0">
              <a:latin typeface="+mj-lt"/>
            </a:endParaRPr>
          </a:p>
          <a:p>
            <a:pPr marL="342859" indent="-342859" algn="l">
              <a:spcBef>
                <a:spcPts val="1783"/>
              </a:spcBef>
              <a:buFont typeface="Arial" pitchFamily="34" charset="0"/>
              <a:buChar char="•"/>
            </a:pPr>
            <a:r>
              <a:rPr lang="en-US" sz="2000" b="1" dirty="0" smtClean="0"/>
              <a:t>Relative Value Models:  </a:t>
            </a:r>
            <a:r>
              <a:rPr lang="en-US" sz="2000" dirty="0" smtClean="0"/>
              <a:t>Econometric modeling of price/spread relationships for various fixed-income securities</a:t>
            </a:r>
          </a:p>
          <a:p>
            <a:pPr marL="342859" indent="-342859" algn="l">
              <a:spcBef>
                <a:spcPts val="1783"/>
              </a:spcBef>
              <a:buFont typeface="Arial" pitchFamily="34" charset="0"/>
              <a:buChar char="•"/>
            </a:pPr>
            <a:endParaRPr lang="en-US" sz="2000" dirty="0"/>
          </a:p>
          <a:p>
            <a:pPr marL="342859" indent="-342859" algn="l">
              <a:spcBef>
                <a:spcPts val="1783"/>
              </a:spcBef>
              <a:buFont typeface="Arial" pitchFamily="34" charset="0"/>
              <a:buChar char="•"/>
            </a:pPr>
            <a:r>
              <a:rPr lang="en-US" sz="2000" b="1" dirty="0" smtClean="0"/>
              <a:t>Scale (</a:t>
            </a:r>
            <a:r>
              <a:rPr lang="en-US" sz="2000" dirty="0" smtClean="0"/>
              <a:t>with IT): Software framework for pricing, hedging and risk management of fixed-income instruments and, in particular, structured products arising in the housing markets</a:t>
            </a:r>
            <a:endParaRPr lang="en-US" sz="2000" b="1" dirty="0"/>
          </a:p>
          <a:p>
            <a:pPr marL="342859" indent="-342859" algn="l">
              <a:spcBef>
                <a:spcPts val="1783"/>
              </a:spcBef>
              <a:buFont typeface="Arial" pitchFamily="34" charset="0"/>
              <a:buChar char="•"/>
            </a:pPr>
            <a:endParaRPr lang="en-US" sz="1800" b="1" dirty="0">
              <a:latin typeface="+mj-lt"/>
            </a:endParaRPr>
          </a:p>
          <a:p>
            <a:pPr algn="l">
              <a:spcBef>
                <a:spcPts val="1783"/>
              </a:spcBef>
            </a:pPr>
            <a:endParaRPr lang="en-US" sz="2000" b="1" dirty="0"/>
          </a:p>
        </p:txBody>
      </p:sp>
    </p:spTree>
    <p:extLst>
      <p:ext uri="{BB962C8B-B14F-4D97-AF65-F5344CB8AC3E}">
        <p14:creationId xmlns:p14="http://schemas.microsoft.com/office/powerpoint/2010/main" val="17008272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5"/>
          <p:cNvSpPr>
            <a:spLocks noChangeArrowheads="1"/>
          </p:cNvSpPr>
          <p:nvPr/>
        </p:nvSpPr>
        <p:spPr bwMode="auto">
          <a:xfrm>
            <a:off x="5552663" y="2748882"/>
            <a:ext cx="449087" cy="3533546"/>
          </a:xfrm>
          <a:prstGeom prst="rect">
            <a:avLst/>
          </a:prstGeom>
          <a:solidFill>
            <a:schemeClr val="bg1"/>
          </a:solidFill>
          <a:ln w="19050">
            <a:solidFill>
              <a:schemeClr val="tx2"/>
            </a:solidFill>
            <a:miter lim="800000"/>
            <a:headEnd/>
            <a:tailEnd/>
          </a:ln>
          <a:effectLst/>
        </p:spPr>
        <p:txBody>
          <a:bodyPr vert="horz" wrap="none" lIns="91440" tIns="45720" rIns="91440" bIns="45720" numCol="1" anchor="ctr" anchorCtr="0" compatLnSpc="1">
            <a:prstTxWarp prst="textNoShape">
              <a:avLst/>
            </a:prstTxWarp>
          </a:bodyPr>
          <a:lstStyle/>
          <a:p>
            <a:pPr algn="ctr" defTabSz="1018824"/>
            <a:endParaRPr lang="en-US" sz="2000" dirty="0" smtClean="0">
              <a:latin typeface="Arial" pitchFamily="34" charset="0"/>
            </a:endParaRPr>
          </a:p>
        </p:txBody>
      </p:sp>
      <p:sp>
        <p:nvSpPr>
          <p:cNvPr id="45" name="Rectangle 44"/>
          <p:cNvSpPr/>
          <p:nvPr/>
        </p:nvSpPr>
        <p:spPr>
          <a:xfrm>
            <a:off x="6637020" y="2794000"/>
            <a:ext cx="355600" cy="42545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p:cNvSpPr/>
          <p:nvPr/>
        </p:nvSpPr>
        <p:spPr>
          <a:xfrm>
            <a:off x="5509260" y="2794000"/>
            <a:ext cx="355600" cy="42545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239614" y="257190"/>
            <a:ext cx="8574088" cy="609918"/>
          </a:xfrm>
        </p:spPr>
        <p:txBody>
          <a:bodyPr/>
          <a:lstStyle/>
          <a:p>
            <a:r>
              <a:rPr lang="en-US" dirty="0" smtClean="0"/>
              <a:t> A COMPLEX RANGE OF FACTORS IMPACTS HOMEOWNER PREPAYMENT BEHAVIOR </a:t>
            </a:r>
            <a:br>
              <a:rPr lang="en-US" dirty="0" smtClean="0"/>
            </a:br>
            <a:endParaRPr lang="en-US" sz="1200" dirty="0"/>
          </a:p>
        </p:txBody>
      </p:sp>
      <p:sp>
        <p:nvSpPr>
          <p:cNvPr id="448524" name="Rectangle 12"/>
          <p:cNvSpPr>
            <a:spLocks noChangeArrowheads="1"/>
          </p:cNvSpPr>
          <p:nvPr/>
        </p:nvSpPr>
        <p:spPr bwMode="auto">
          <a:xfrm>
            <a:off x="6629400" y="2622524"/>
            <a:ext cx="3107028" cy="1238422"/>
          </a:xfrm>
          <a:prstGeom prst="rect">
            <a:avLst/>
          </a:prstGeom>
          <a:noFill/>
          <a:ln w="9525">
            <a:solidFill>
              <a:schemeClr val="hlink"/>
            </a:solidFill>
            <a:miter lim="800000"/>
            <a:headEnd/>
            <a:tailEnd/>
          </a:ln>
          <a:effectLst/>
        </p:spPr>
        <p:txBody>
          <a:bodyPr vert="horz" wrap="none" lIns="91440" tIns="45720" rIns="91440" bIns="45720" numCol="1" anchor="ctr" anchorCtr="0" compatLnSpc="1">
            <a:prstTxWarp prst="textNoShape">
              <a:avLst/>
            </a:prstTxWarp>
          </a:bodyPr>
          <a:lstStyle/>
          <a:p>
            <a:pPr algn="ctr" defTabSz="1018824"/>
            <a:r>
              <a:rPr lang="en-US" sz="1300" dirty="0" smtClean="0">
                <a:latin typeface="Calibri" pitchFamily="34" charset="0"/>
              </a:rPr>
              <a:t>Refinancing</a:t>
            </a:r>
            <a:endParaRPr lang="en-US" sz="2000" dirty="0" smtClean="0">
              <a:latin typeface="Arial" pitchFamily="34" charset="0"/>
            </a:endParaRPr>
          </a:p>
        </p:txBody>
      </p:sp>
      <p:sp>
        <p:nvSpPr>
          <p:cNvPr id="448526" name="AutoShape 176"/>
          <p:cNvSpPr>
            <a:spLocks noChangeArrowheads="1"/>
          </p:cNvSpPr>
          <p:nvPr/>
        </p:nvSpPr>
        <p:spPr bwMode="auto">
          <a:xfrm flipV="1">
            <a:off x="8111151" y="2472508"/>
            <a:ext cx="231664" cy="139103"/>
          </a:xfrm>
          <a:prstGeom prst="triangle">
            <a:avLst>
              <a:gd name="adj" fmla="val 50000"/>
            </a:avLst>
          </a:prstGeom>
          <a:solidFill>
            <a:schemeClr val="tx2"/>
          </a:solidFill>
          <a:ln w="9525">
            <a:noFill/>
            <a:miter lim="800000"/>
            <a:headEnd/>
            <a:tailEnd/>
          </a:ln>
        </p:spPr>
        <p:txBody>
          <a:bodyPr rot="10800000" vert="horz" wrap="none" lIns="91440" tIns="45720" rIns="91440" bIns="45720" numCol="1" anchor="ctr" anchorCtr="0" compatLnSpc="1">
            <a:prstTxWarp prst="textNoShape">
              <a:avLst/>
            </a:prstTxWarp>
          </a:bodyPr>
          <a:lstStyle/>
          <a:p>
            <a:pPr algn="ctr" defTabSz="1018824"/>
            <a:endParaRPr lang="en-US" sz="2000" dirty="0" smtClean="0">
              <a:latin typeface="Arial" pitchFamily="34" charset="0"/>
            </a:endParaRPr>
          </a:p>
        </p:txBody>
      </p:sp>
      <p:sp>
        <p:nvSpPr>
          <p:cNvPr id="448528" name="Rectangle 159"/>
          <p:cNvSpPr>
            <a:spLocks noChangeArrowheads="1"/>
          </p:cNvSpPr>
          <p:nvPr/>
        </p:nvSpPr>
        <p:spPr bwMode="auto">
          <a:xfrm>
            <a:off x="6647260" y="1839298"/>
            <a:ext cx="3093333" cy="640080"/>
          </a:xfrm>
          <a:prstGeom prst="rect">
            <a:avLst/>
          </a:prstGeom>
          <a:solidFill>
            <a:srgbClr val="203353"/>
          </a:solidFill>
          <a:ln w="12700">
            <a:noFill/>
            <a:miter lim="800000"/>
            <a:headEnd/>
            <a:tailEnd/>
          </a:ln>
        </p:spPr>
        <p:txBody>
          <a:bodyPr vert="horz" wrap="square" lIns="45720" tIns="45720" rIns="45720" bIns="45720" numCol="1" anchor="ctr" anchorCtr="0" compatLnSpc="1">
            <a:prstTxWarp prst="textNoShape">
              <a:avLst/>
            </a:prstTxWarp>
          </a:bodyPr>
          <a:lstStyle/>
          <a:p>
            <a:pPr algn="ctr" defTabSz="1018824"/>
            <a:r>
              <a:rPr lang="en-US" sz="1300" dirty="0" smtClean="0">
                <a:solidFill>
                  <a:schemeClr val="bg1"/>
                </a:solidFill>
                <a:latin typeface="Calibri" pitchFamily="34" charset="0"/>
              </a:rPr>
              <a:t>TYPES OF PREPAYMENT</a:t>
            </a:r>
            <a:endParaRPr lang="en-US" sz="2000" dirty="0" smtClean="0">
              <a:latin typeface="Arial" pitchFamily="34" charset="0"/>
            </a:endParaRPr>
          </a:p>
        </p:txBody>
      </p:sp>
      <p:sp>
        <p:nvSpPr>
          <p:cNvPr id="448529" name="Rectangle 17"/>
          <p:cNvSpPr>
            <a:spLocks noChangeArrowheads="1"/>
          </p:cNvSpPr>
          <p:nvPr/>
        </p:nvSpPr>
        <p:spPr bwMode="auto">
          <a:xfrm>
            <a:off x="6629400" y="5184049"/>
            <a:ext cx="3107028" cy="1212907"/>
          </a:xfrm>
          <a:prstGeom prst="rect">
            <a:avLst/>
          </a:prstGeom>
          <a:noFill/>
          <a:ln w="9525">
            <a:solidFill>
              <a:schemeClr val="hlink"/>
            </a:solidFill>
            <a:miter lim="800000"/>
            <a:headEnd/>
            <a:tailEnd/>
          </a:ln>
          <a:effectLst/>
        </p:spPr>
        <p:txBody>
          <a:bodyPr vert="horz" wrap="none" lIns="91440" tIns="45720" rIns="91440" bIns="45720" numCol="1" anchor="ctr" anchorCtr="0" compatLnSpc="1">
            <a:prstTxWarp prst="textNoShape">
              <a:avLst/>
            </a:prstTxWarp>
          </a:bodyPr>
          <a:lstStyle/>
          <a:p>
            <a:pPr algn="ctr" defTabSz="1018824"/>
            <a:r>
              <a:rPr lang="en-US" sz="1300" dirty="0" smtClean="0">
                <a:latin typeface="Calibri" pitchFamily="34" charset="0"/>
              </a:rPr>
              <a:t>Default</a:t>
            </a:r>
            <a:endParaRPr lang="en-US" sz="2000" dirty="0" smtClean="0">
              <a:latin typeface="Arial" pitchFamily="34" charset="0"/>
            </a:endParaRPr>
          </a:p>
        </p:txBody>
      </p:sp>
      <p:sp>
        <p:nvSpPr>
          <p:cNvPr id="448530" name="Rectangle 18"/>
          <p:cNvSpPr>
            <a:spLocks noChangeArrowheads="1"/>
          </p:cNvSpPr>
          <p:nvPr/>
        </p:nvSpPr>
        <p:spPr bwMode="auto">
          <a:xfrm>
            <a:off x="6629400" y="3906679"/>
            <a:ext cx="3107028" cy="1212907"/>
          </a:xfrm>
          <a:prstGeom prst="rect">
            <a:avLst/>
          </a:prstGeom>
          <a:noFill/>
          <a:ln w="9525">
            <a:solidFill>
              <a:schemeClr val="hlink"/>
            </a:solidFill>
            <a:miter lim="800000"/>
            <a:headEnd/>
            <a:tailEnd/>
          </a:ln>
          <a:effectLst/>
        </p:spPr>
        <p:txBody>
          <a:bodyPr vert="horz" wrap="none" lIns="91440" tIns="45720" rIns="91440" bIns="45720" numCol="1" anchor="ctr" anchorCtr="0" compatLnSpc="1">
            <a:prstTxWarp prst="textNoShape">
              <a:avLst/>
            </a:prstTxWarp>
          </a:bodyPr>
          <a:lstStyle/>
          <a:p>
            <a:pPr algn="ctr" defTabSz="1018824"/>
            <a:r>
              <a:rPr lang="en-US" sz="1300" dirty="0" smtClean="0">
                <a:latin typeface="Calibri" pitchFamily="34" charset="0"/>
              </a:rPr>
              <a:t>Home Sale</a:t>
            </a:r>
            <a:endParaRPr lang="en-US" sz="2000" dirty="0" smtClean="0">
              <a:latin typeface="Arial" pitchFamily="34" charset="0"/>
            </a:endParaRPr>
          </a:p>
        </p:txBody>
      </p:sp>
      <p:sp>
        <p:nvSpPr>
          <p:cNvPr id="54" name="AutoShape 176"/>
          <p:cNvSpPr>
            <a:spLocks noChangeArrowheads="1"/>
          </p:cNvSpPr>
          <p:nvPr/>
        </p:nvSpPr>
        <p:spPr bwMode="auto">
          <a:xfrm flipV="1">
            <a:off x="4045538" y="2472509"/>
            <a:ext cx="253277" cy="139103"/>
          </a:xfrm>
          <a:prstGeom prst="triangle">
            <a:avLst>
              <a:gd name="adj" fmla="val 50000"/>
            </a:avLst>
          </a:prstGeom>
          <a:solidFill>
            <a:schemeClr val="tx2"/>
          </a:solidFill>
          <a:ln w="9525">
            <a:noFill/>
            <a:miter lim="800000"/>
            <a:headEnd/>
            <a:tailEnd/>
          </a:ln>
        </p:spPr>
        <p:txBody>
          <a:bodyPr rot="10800000" vert="horz" wrap="none" lIns="91440" tIns="45720" rIns="91440" bIns="45720" numCol="1" anchor="ctr" anchorCtr="0" compatLnSpc="1">
            <a:prstTxWarp prst="textNoShape">
              <a:avLst/>
            </a:prstTxWarp>
          </a:bodyPr>
          <a:lstStyle/>
          <a:p>
            <a:pPr algn="ctr" defTabSz="1018824"/>
            <a:endParaRPr lang="en-US" sz="2000" dirty="0" smtClean="0">
              <a:latin typeface="Arial" pitchFamily="34" charset="0"/>
            </a:endParaRPr>
          </a:p>
        </p:txBody>
      </p:sp>
      <p:sp>
        <p:nvSpPr>
          <p:cNvPr id="56" name="Rectangle 159"/>
          <p:cNvSpPr>
            <a:spLocks noChangeArrowheads="1"/>
          </p:cNvSpPr>
          <p:nvPr/>
        </p:nvSpPr>
        <p:spPr bwMode="auto">
          <a:xfrm>
            <a:off x="2489200" y="1839298"/>
            <a:ext cx="3365500" cy="640080"/>
          </a:xfrm>
          <a:prstGeom prst="rect">
            <a:avLst/>
          </a:prstGeom>
          <a:solidFill>
            <a:srgbClr val="203353"/>
          </a:solidFill>
          <a:ln w="12700">
            <a:noFill/>
            <a:miter lim="800000"/>
            <a:headEnd/>
            <a:tailEnd/>
          </a:ln>
        </p:spPr>
        <p:txBody>
          <a:bodyPr vert="horz" wrap="square" lIns="45720" tIns="45720" rIns="45720" bIns="45720" numCol="1" anchor="ctr" anchorCtr="0" compatLnSpc="1">
            <a:prstTxWarp prst="textNoShape">
              <a:avLst/>
            </a:prstTxWarp>
          </a:bodyPr>
          <a:lstStyle/>
          <a:p>
            <a:pPr algn="ctr" defTabSz="1018824"/>
            <a:r>
              <a:rPr lang="en-US" sz="1300" dirty="0" smtClean="0">
                <a:solidFill>
                  <a:schemeClr val="bg1"/>
                </a:solidFill>
                <a:latin typeface="Calibri" pitchFamily="34" charset="0"/>
              </a:rPr>
              <a:t>SOME INFLUENCING FACTORS</a:t>
            </a:r>
            <a:endParaRPr lang="en-US" sz="2000" dirty="0" smtClean="0">
              <a:latin typeface="Arial" pitchFamily="34" charset="0"/>
            </a:endParaRPr>
          </a:p>
        </p:txBody>
      </p:sp>
      <p:sp>
        <p:nvSpPr>
          <p:cNvPr id="47" name="Line 23"/>
          <p:cNvSpPr>
            <a:spLocks noChangeShapeType="1"/>
          </p:cNvSpPr>
          <p:nvPr/>
        </p:nvSpPr>
        <p:spPr bwMode="auto">
          <a:xfrm>
            <a:off x="6009182" y="3221008"/>
            <a:ext cx="475488" cy="0"/>
          </a:xfrm>
          <a:prstGeom prst="line">
            <a:avLst/>
          </a:prstGeom>
          <a:noFill/>
          <a:ln w="19050">
            <a:solidFill>
              <a:schemeClr val="tx2"/>
            </a:solidFill>
            <a:round/>
            <a:headEnd/>
            <a:tailEnd type="stealth" w="lg" len="lg"/>
          </a:ln>
          <a:effectLst/>
        </p:spPr>
        <p:txBody>
          <a:bodyPr vert="horz" wrap="square" lIns="91440" tIns="45720" rIns="91440" bIns="45720" numCol="1" anchor="t" anchorCtr="0" compatLnSpc="1">
            <a:prstTxWarp prst="textNoShape">
              <a:avLst/>
            </a:prstTxWarp>
          </a:bodyPr>
          <a:lstStyle/>
          <a:p>
            <a:endParaRPr lang="en-US" dirty="0"/>
          </a:p>
        </p:txBody>
      </p:sp>
      <p:sp>
        <p:nvSpPr>
          <p:cNvPr id="39" name="Line 23"/>
          <p:cNvSpPr>
            <a:spLocks noChangeShapeType="1"/>
          </p:cNvSpPr>
          <p:nvPr/>
        </p:nvSpPr>
        <p:spPr bwMode="auto">
          <a:xfrm>
            <a:off x="6009182" y="4505277"/>
            <a:ext cx="475488" cy="0"/>
          </a:xfrm>
          <a:prstGeom prst="line">
            <a:avLst/>
          </a:prstGeom>
          <a:noFill/>
          <a:ln w="19050">
            <a:solidFill>
              <a:schemeClr val="tx2"/>
            </a:solidFill>
            <a:round/>
            <a:headEnd/>
            <a:tailEnd type="stealth" w="lg" len="lg"/>
          </a:ln>
          <a:effectLst/>
        </p:spPr>
        <p:txBody>
          <a:bodyPr vert="horz" wrap="square" lIns="91440" tIns="45720" rIns="91440" bIns="45720" numCol="1" anchor="t" anchorCtr="0" compatLnSpc="1">
            <a:prstTxWarp prst="textNoShape">
              <a:avLst/>
            </a:prstTxWarp>
          </a:bodyPr>
          <a:lstStyle/>
          <a:p>
            <a:endParaRPr lang="en-US" dirty="0"/>
          </a:p>
        </p:txBody>
      </p:sp>
      <p:sp>
        <p:nvSpPr>
          <p:cNvPr id="40" name="Line 23"/>
          <p:cNvSpPr>
            <a:spLocks noChangeShapeType="1"/>
          </p:cNvSpPr>
          <p:nvPr/>
        </p:nvSpPr>
        <p:spPr bwMode="auto">
          <a:xfrm>
            <a:off x="6009182" y="5748450"/>
            <a:ext cx="475488" cy="0"/>
          </a:xfrm>
          <a:prstGeom prst="line">
            <a:avLst/>
          </a:prstGeom>
          <a:noFill/>
          <a:ln w="19050">
            <a:solidFill>
              <a:schemeClr val="tx2"/>
            </a:solidFill>
            <a:round/>
            <a:headEnd/>
            <a:tailEnd type="stealth" w="lg" len="lg"/>
          </a:ln>
          <a:effectLst/>
        </p:spPr>
        <p:txBody>
          <a:bodyPr vert="horz" wrap="square" lIns="91440" tIns="45720" rIns="91440" bIns="45720" numCol="1" anchor="t" anchorCtr="0" compatLnSpc="1">
            <a:prstTxWarp prst="textNoShape">
              <a:avLst/>
            </a:prstTxWarp>
          </a:bodyPr>
          <a:lstStyle/>
          <a:p>
            <a:endParaRPr lang="en-US" dirty="0"/>
          </a:p>
        </p:txBody>
      </p:sp>
      <p:grpSp>
        <p:nvGrpSpPr>
          <p:cNvPr id="448543" name="Group 31"/>
          <p:cNvGrpSpPr>
            <a:grpSpLocks/>
          </p:cNvGrpSpPr>
          <p:nvPr/>
        </p:nvGrpSpPr>
        <p:grpSpPr bwMode="auto">
          <a:xfrm>
            <a:off x="2469779" y="2622524"/>
            <a:ext cx="3396890" cy="3772735"/>
            <a:chOff x="1099" y="1435"/>
            <a:chExt cx="1596" cy="2224"/>
          </a:xfrm>
        </p:grpSpPr>
        <p:sp>
          <p:nvSpPr>
            <p:cNvPr id="448544" name="Rectangle 32"/>
            <p:cNvSpPr>
              <a:spLocks noChangeArrowheads="1"/>
            </p:cNvSpPr>
            <p:nvPr/>
          </p:nvSpPr>
          <p:spPr bwMode="auto">
            <a:xfrm>
              <a:off x="1099" y="1435"/>
              <a:ext cx="1596" cy="170"/>
            </a:xfrm>
            <a:prstGeom prst="rect">
              <a:avLst/>
            </a:prstGeom>
            <a:solidFill>
              <a:schemeClr val="bg1"/>
            </a:solidFill>
            <a:ln w="9525">
              <a:solidFill>
                <a:schemeClr val="hlink"/>
              </a:solidFill>
              <a:miter lim="800000"/>
              <a:headEnd/>
              <a:tailEnd/>
            </a:ln>
            <a:effectLst/>
          </p:spPr>
          <p:txBody>
            <a:bodyPr vert="horz" wrap="none" lIns="91440" tIns="45720" rIns="91440" bIns="45720" numCol="1" anchor="ctr" anchorCtr="0" compatLnSpc="1">
              <a:prstTxWarp prst="textNoShape">
                <a:avLst/>
              </a:prstTxWarp>
            </a:bodyPr>
            <a:lstStyle/>
            <a:p>
              <a:pPr algn="ctr" defTabSz="1018824"/>
              <a:r>
                <a:rPr lang="en-US" sz="1300" dirty="0" smtClean="0">
                  <a:latin typeface="Calibri" pitchFamily="34" charset="0"/>
                </a:rPr>
                <a:t>Loan Size</a:t>
              </a:r>
              <a:endParaRPr lang="en-US" sz="2000" dirty="0" smtClean="0">
                <a:latin typeface="Arial" pitchFamily="34" charset="0"/>
              </a:endParaRPr>
            </a:p>
          </p:txBody>
        </p:sp>
        <p:sp>
          <p:nvSpPr>
            <p:cNvPr id="448545" name="Rectangle 33"/>
            <p:cNvSpPr>
              <a:spLocks noChangeArrowheads="1"/>
            </p:cNvSpPr>
            <p:nvPr/>
          </p:nvSpPr>
          <p:spPr bwMode="auto">
            <a:xfrm>
              <a:off x="1099" y="1633"/>
              <a:ext cx="1596" cy="170"/>
            </a:xfrm>
            <a:prstGeom prst="rect">
              <a:avLst/>
            </a:prstGeom>
            <a:noFill/>
            <a:ln w="9525">
              <a:solidFill>
                <a:schemeClr val="hlink"/>
              </a:solidFill>
              <a:miter lim="800000"/>
              <a:headEnd/>
              <a:tailEnd/>
            </a:ln>
            <a:effectLst/>
          </p:spPr>
          <p:txBody>
            <a:bodyPr vert="horz" wrap="none" lIns="91440" tIns="45720" rIns="91440" bIns="45720" numCol="1" anchor="ctr" anchorCtr="0" compatLnSpc="1">
              <a:prstTxWarp prst="textNoShape">
                <a:avLst/>
              </a:prstTxWarp>
            </a:bodyPr>
            <a:lstStyle/>
            <a:p>
              <a:pPr algn="ctr" defTabSz="1018824"/>
              <a:r>
                <a:rPr lang="en-US" sz="1300" dirty="0" smtClean="0">
                  <a:latin typeface="Calibri" pitchFamily="34" charset="0"/>
                </a:rPr>
                <a:t>Housing Prices</a:t>
              </a:r>
              <a:endParaRPr lang="en-US" sz="2000" dirty="0" smtClean="0">
                <a:latin typeface="Arial" pitchFamily="34" charset="0"/>
              </a:endParaRPr>
            </a:p>
          </p:txBody>
        </p:sp>
        <p:sp>
          <p:nvSpPr>
            <p:cNvPr id="448546" name="Rectangle 34"/>
            <p:cNvSpPr>
              <a:spLocks noChangeArrowheads="1"/>
            </p:cNvSpPr>
            <p:nvPr/>
          </p:nvSpPr>
          <p:spPr bwMode="auto">
            <a:xfrm>
              <a:off x="1099" y="1845"/>
              <a:ext cx="1596" cy="170"/>
            </a:xfrm>
            <a:prstGeom prst="rect">
              <a:avLst/>
            </a:prstGeom>
            <a:noFill/>
            <a:ln w="9525">
              <a:solidFill>
                <a:schemeClr val="hlink"/>
              </a:solidFill>
              <a:miter lim="800000"/>
              <a:headEnd/>
              <a:tailEnd/>
            </a:ln>
            <a:effectLst/>
          </p:spPr>
          <p:txBody>
            <a:bodyPr vert="horz" wrap="none" lIns="91440" tIns="45720" rIns="91440" bIns="45720" numCol="1" anchor="ctr" anchorCtr="0" compatLnSpc="1">
              <a:prstTxWarp prst="textNoShape">
                <a:avLst/>
              </a:prstTxWarp>
            </a:bodyPr>
            <a:lstStyle/>
            <a:p>
              <a:pPr algn="ctr" defTabSz="1018824"/>
              <a:r>
                <a:rPr lang="en-US" sz="1300" dirty="0" smtClean="0">
                  <a:latin typeface="Calibri" pitchFamily="34" charset="0"/>
                </a:rPr>
                <a:t>Borrower Credit Scores</a:t>
              </a:r>
              <a:endParaRPr lang="en-US" sz="2000" dirty="0" smtClean="0">
                <a:latin typeface="Arial" pitchFamily="34" charset="0"/>
              </a:endParaRPr>
            </a:p>
          </p:txBody>
        </p:sp>
        <p:sp>
          <p:nvSpPr>
            <p:cNvPr id="448547" name="Rectangle 35"/>
            <p:cNvSpPr>
              <a:spLocks noChangeArrowheads="1"/>
            </p:cNvSpPr>
            <p:nvPr/>
          </p:nvSpPr>
          <p:spPr bwMode="auto">
            <a:xfrm>
              <a:off x="1099" y="2050"/>
              <a:ext cx="1596" cy="170"/>
            </a:xfrm>
            <a:prstGeom prst="rect">
              <a:avLst/>
            </a:prstGeom>
            <a:noFill/>
            <a:ln w="9525">
              <a:solidFill>
                <a:schemeClr val="hlink"/>
              </a:solidFill>
              <a:miter lim="800000"/>
              <a:headEnd/>
              <a:tailEnd/>
            </a:ln>
            <a:effectLst/>
          </p:spPr>
          <p:txBody>
            <a:bodyPr vert="horz" wrap="none" lIns="91440" tIns="45720" rIns="91440" bIns="45720" numCol="1" anchor="ctr" anchorCtr="0" compatLnSpc="1">
              <a:prstTxWarp prst="textNoShape">
                <a:avLst/>
              </a:prstTxWarp>
            </a:bodyPr>
            <a:lstStyle/>
            <a:p>
              <a:pPr algn="ctr" defTabSz="1018824"/>
              <a:r>
                <a:rPr lang="en-US" sz="1300" dirty="0" smtClean="0">
                  <a:latin typeface="Calibri" pitchFamily="34" charset="0"/>
                </a:rPr>
                <a:t>Geography</a:t>
              </a:r>
              <a:endParaRPr lang="en-US" sz="2000" dirty="0" smtClean="0">
                <a:latin typeface="Arial" pitchFamily="34" charset="0"/>
              </a:endParaRPr>
            </a:p>
          </p:txBody>
        </p:sp>
        <p:sp>
          <p:nvSpPr>
            <p:cNvPr id="448548" name="Rectangle 36"/>
            <p:cNvSpPr>
              <a:spLocks noChangeArrowheads="1"/>
            </p:cNvSpPr>
            <p:nvPr/>
          </p:nvSpPr>
          <p:spPr bwMode="auto">
            <a:xfrm>
              <a:off x="1099" y="2255"/>
              <a:ext cx="1596" cy="170"/>
            </a:xfrm>
            <a:prstGeom prst="rect">
              <a:avLst/>
            </a:prstGeom>
            <a:noFill/>
            <a:ln w="9525">
              <a:solidFill>
                <a:schemeClr val="hlink"/>
              </a:solidFill>
              <a:miter lim="800000"/>
              <a:headEnd/>
              <a:tailEnd/>
            </a:ln>
            <a:effectLst/>
          </p:spPr>
          <p:txBody>
            <a:bodyPr vert="horz" wrap="none" lIns="91440" tIns="45720" rIns="91440" bIns="45720" numCol="1" anchor="ctr" anchorCtr="0" compatLnSpc="1">
              <a:prstTxWarp prst="textNoShape">
                <a:avLst/>
              </a:prstTxWarp>
            </a:bodyPr>
            <a:lstStyle/>
            <a:p>
              <a:pPr algn="ctr" defTabSz="1018824"/>
              <a:r>
                <a:rPr lang="en-US" sz="1300" dirty="0" smtClean="0">
                  <a:latin typeface="Calibri" pitchFamily="34" charset="0"/>
                </a:rPr>
                <a:t>Servicers</a:t>
              </a:r>
              <a:endParaRPr lang="en-US" sz="2000" dirty="0" smtClean="0">
                <a:latin typeface="Arial" pitchFamily="34" charset="0"/>
              </a:endParaRPr>
            </a:p>
          </p:txBody>
        </p:sp>
        <p:sp>
          <p:nvSpPr>
            <p:cNvPr id="448549" name="Rectangle 37"/>
            <p:cNvSpPr>
              <a:spLocks noChangeArrowheads="1"/>
            </p:cNvSpPr>
            <p:nvPr/>
          </p:nvSpPr>
          <p:spPr bwMode="auto">
            <a:xfrm>
              <a:off x="1099" y="2460"/>
              <a:ext cx="1596" cy="170"/>
            </a:xfrm>
            <a:prstGeom prst="rect">
              <a:avLst/>
            </a:prstGeom>
            <a:noFill/>
            <a:ln w="9525">
              <a:solidFill>
                <a:schemeClr val="hlink"/>
              </a:solidFill>
              <a:miter lim="800000"/>
              <a:headEnd/>
              <a:tailEnd/>
            </a:ln>
            <a:effectLst/>
          </p:spPr>
          <p:txBody>
            <a:bodyPr vert="horz" wrap="none" lIns="91440" tIns="45720" rIns="91440" bIns="45720" numCol="1" anchor="ctr" anchorCtr="0" compatLnSpc="1">
              <a:prstTxWarp prst="textNoShape">
                <a:avLst/>
              </a:prstTxWarp>
            </a:bodyPr>
            <a:lstStyle/>
            <a:p>
              <a:pPr algn="ctr" defTabSz="1018824"/>
              <a:r>
                <a:rPr lang="en-US" sz="1300" dirty="0" smtClean="0">
                  <a:latin typeface="Calibri" pitchFamily="34" charset="0"/>
                </a:rPr>
                <a:t>Occupancy Type</a:t>
              </a:r>
              <a:endParaRPr lang="en-US" sz="2000" dirty="0" smtClean="0">
                <a:latin typeface="Arial" pitchFamily="34" charset="0"/>
              </a:endParaRPr>
            </a:p>
          </p:txBody>
        </p:sp>
        <p:sp>
          <p:nvSpPr>
            <p:cNvPr id="448550" name="Rectangle 38"/>
            <p:cNvSpPr>
              <a:spLocks noChangeArrowheads="1"/>
            </p:cNvSpPr>
            <p:nvPr/>
          </p:nvSpPr>
          <p:spPr bwMode="auto">
            <a:xfrm>
              <a:off x="1099" y="2669"/>
              <a:ext cx="1596" cy="170"/>
            </a:xfrm>
            <a:prstGeom prst="rect">
              <a:avLst/>
            </a:prstGeom>
            <a:noFill/>
            <a:ln w="9525">
              <a:solidFill>
                <a:schemeClr val="hlink"/>
              </a:solidFill>
              <a:miter lim="800000"/>
              <a:headEnd/>
              <a:tailEnd/>
            </a:ln>
            <a:effectLst/>
          </p:spPr>
          <p:txBody>
            <a:bodyPr vert="horz" wrap="none" lIns="91440" tIns="45720" rIns="91440" bIns="45720" numCol="1" anchor="ctr" anchorCtr="0" compatLnSpc="1">
              <a:prstTxWarp prst="textNoShape">
                <a:avLst/>
              </a:prstTxWarp>
            </a:bodyPr>
            <a:lstStyle/>
            <a:p>
              <a:pPr algn="ctr" defTabSz="1018824"/>
              <a:r>
                <a:rPr lang="en-US" sz="1300" dirty="0" smtClean="0">
                  <a:latin typeface="Calibri" pitchFamily="34" charset="0"/>
                </a:rPr>
                <a:t>Occupancy Year</a:t>
              </a:r>
              <a:endParaRPr lang="en-US" sz="2000" dirty="0" smtClean="0">
                <a:latin typeface="Arial" pitchFamily="34" charset="0"/>
              </a:endParaRPr>
            </a:p>
          </p:txBody>
        </p:sp>
        <p:sp>
          <p:nvSpPr>
            <p:cNvPr id="448551" name="Rectangle 39"/>
            <p:cNvSpPr>
              <a:spLocks noChangeArrowheads="1"/>
            </p:cNvSpPr>
            <p:nvPr/>
          </p:nvSpPr>
          <p:spPr bwMode="auto">
            <a:xfrm>
              <a:off x="1099" y="2874"/>
              <a:ext cx="1596" cy="170"/>
            </a:xfrm>
            <a:prstGeom prst="rect">
              <a:avLst/>
            </a:prstGeom>
            <a:noFill/>
            <a:ln w="9525">
              <a:solidFill>
                <a:schemeClr val="hlink"/>
              </a:solidFill>
              <a:miter lim="800000"/>
              <a:headEnd/>
              <a:tailEnd/>
            </a:ln>
            <a:effectLst/>
          </p:spPr>
          <p:txBody>
            <a:bodyPr vert="horz" wrap="none" lIns="91440" tIns="45720" rIns="91440" bIns="45720" numCol="1" anchor="ctr" anchorCtr="0" compatLnSpc="1">
              <a:prstTxWarp prst="textNoShape">
                <a:avLst/>
              </a:prstTxWarp>
            </a:bodyPr>
            <a:lstStyle/>
            <a:p>
              <a:pPr algn="ctr" defTabSz="1018824"/>
              <a:r>
                <a:rPr lang="en-US" sz="1300" dirty="0" smtClean="0">
                  <a:latin typeface="Calibri" pitchFamily="34" charset="0"/>
                </a:rPr>
                <a:t>Employment</a:t>
              </a:r>
              <a:endParaRPr lang="en-US" sz="2000" dirty="0" smtClean="0">
                <a:latin typeface="Arial" pitchFamily="34" charset="0"/>
              </a:endParaRPr>
            </a:p>
          </p:txBody>
        </p:sp>
        <p:sp>
          <p:nvSpPr>
            <p:cNvPr id="448552" name="Rectangle 40"/>
            <p:cNvSpPr>
              <a:spLocks noChangeArrowheads="1"/>
            </p:cNvSpPr>
            <p:nvPr/>
          </p:nvSpPr>
          <p:spPr bwMode="auto">
            <a:xfrm>
              <a:off x="1099" y="3079"/>
              <a:ext cx="1596" cy="170"/>
            </a:xfrm>
            <a:prstGeom prst="rect">
              <a:avLst/>
            </a:prstGeom>
            <a:noFill/>
            <a:ln w="9525">
              <a:solidFill>
                <a:schemeClr val="hlink"/>
              </a:solidFill>
              <a:miter lim="800000"/>
              <a:headEnd/>
              <a:tailEnd/>
            </a:ln>
            <a:effectLst/>
          </p:spPr>
          <p:txBody>
            <a:bodyPr vert="horz" wrap="none" lIns="91440" tIns="45720" rIns="91440" bIns="45720" numCol="1" anchor="ctr" anchorCtr="0" compatLnSpc="1">
              <a:prstTxWarp prst="textNoShape">
                <a:avLst/>
              </a:prstTxWarp>
            </a:bodyPr>
            <a:lstStyle/>
            <a:p>
              <a:pPr algn="ctr" defTabSz="1018824"/>
              <a:r>
                <a:rPr lang="en-US" sz="1300" dirty="0" smtClean="0">
                  <a:latin typeface="Calibri" pitchFamily="34" charset="0"/>
                </a:rPr>
                <a:t>Tax Rates</a:t>
              </a:r>
              <a:endParaRPr lang="en-US" sz="2000" dirty="0" smtClean="0">
                <a:latin typeface="Arial" pitchFamily="34" charset="0"/>
              </a:endParaRPr>
            </a:p>
          </p:txBody>
        </p:sp>
        <p:sp>
          <p:nvSpPr>
            <p:cNvPr id="448553" name="Rectangle 41"/>
            <p:cNvSpPr>
              <a:spLocks noChangeArrowheads="1"/>
            </p:cNvSpPr>
            <p:nvPr/>
          </p:nvSpPr>
          <p:spPr bwMode="auto">
            <a:xfrm>
              <a:off x="1099" y="3284"/>
              <a:ext cx="1596" cy="170"/>
            </a:xfrm>
            <a:prstGeom prst="rect">
              <a:avLst/>
            </a:prstGeom>
            <a:noFill/>
            <a:ln w="9525">
              <a:solidFill>
                <a:schemeClr val="hlink"/>
              </a:solidFill>
              <a:miter lim="800000"/>
              <a:headEnd/>
              <a:tailEnd/>
            </a:ln>
            <a:effectLst/>
          </p:spPr>
          <p:txBody>
            <a:bodyPr vert="horz" wrap="none" lIns="91440" tIns="45720" rIns="91440" bIns="45720" numCol="1" anchor="ctr" anchorCtr="0" compatLnSpc="1">
              <a:prstTxWarp prst="textNoShape">
                <a:avLst/>
              </a:prstTxWarp>
            </a:bodyPr>
            <a:lstStyle/>
            <a:p>
              <a:pPr algn="ctr" defTabSz="1018824"/>
              <a:r>
                <a:rPr lang="en-US" sz="1300" dirty="0" smtClean="0">
                  <a:latin typeface="Calibri" pitchFamily="34" charset="0"/>
                </a:rPr>
                <a:t>Regulation</a:t>
              </a:r>
              <a:endParaRPr lang="en-US" sz="2000" dirty="0" smtClean="0">
                <a:latin typeface="Arial" pitchFamily="34" charset="0"/>
              </a:endParaRPr>
            </a:p>
          </p:txBody>
        </p:sp>
        <p:sp>
          <p:nvSpPr>
            <p:cNvPr id="448554" name="Rectangle 42"/>
            <p:cNvSpPr>
              <a:spLocks noChangeArrowheads="1"/>
            </p:cNvSpPr>
            <p:nvPr/>
          </p:nvSpPr>
          <p:spPr bwMode="auto">
            <a:xfrm>
              <a:off x="1099" y="3489"/>
              <a:ext cx="1596" cy="170"/>
            </a:xfrm>
            <a:prstGeom prst="rect">
              <a:avLst/>
            </a:prstGeom>
            <a:noFill/>
            <a:ln w="9525">
              <a:solidFill>
                <a:schemeClr val="hlink"/>
              </a:solidFill>
              <a:miter lim="800000"/>
              <a:headEnd/>
              <a:tailEnd/>
            </a:ln>
            <a:effectLst/>
          </p:spPr>
          <p:txBody>
            <a:bodyPr vert="horz" wrap="none" lIns="91440" tIns="45720" rIns="91440" bIns="45720" numCol="1" anchor="ctr" anchorCtr="0" compatLnSpc="1">
              <a:prstTxWarp prst="textNoShape">
                <a:avLst/>
              </a:prstTxWarp>
            </a:bodyPr>
            <a:lstStyle/>
            <a:p>
              <a:pPr algn="ctr" defTabSz="1018824"/>
              <a:r>
                <a:rPr lang="en-US" sz="1300" dirty="0" smtClean="0">
                  <a:latin typeface="Calibri" pitchFamily="34" charset="0"/>
                </a:rPr>
                <a:t>Government Housing Policy</a:t>
              </a:r>
              <a:endParaRPr lang="en-US" sz="2000" dirty="0" smtClean="0">
                <a:latin typeface="Arial" pitchFamily="34" charset="0"/>
              </a:endParaRPr>
            </a:p>
          </p:txBody>
        </p:sp>
      </p:grpSp>
      <p:sp>
        <p:nvSpPr>
          <p:cNvPr id="29" name="Rectangle 9"/>
          <p:cNvSpPr>
            <a:spLocks noChangeArrowheads="1"/>
          </p:cNvSpPr>
          <p:nvPr/>
        </p:nvSpPr>
        <p:spPr bwMode="auto">
          <a:xfrm>
            <a:off x="181229" y="1767872"/>
            <a:ext cx="2084832" cy="3931874"/>
          </a:xfrm>
          <a:prstGeom prst="rect">
            <a:avLst/>
          </a:prstGeom>
          <a:noFill/>
          <a:ln w="9525">
            <a:noFill/>
            <a:miter lim="800000"/>
            <a:headEnd/>
            <a:tailEnd/>
          </a:ln>
          <a:effectLst/>
        </p:spPr>
        <p:txBody>
          <a:bodyPr wrap="square" lIns="101882" tIns="50941" rIns="101882" bIns="50941">
            <a:spAutoFit/>
          </a:bodyPr>
          <a:lstStyle/>
          <a:p>
            <a:pPr>
              <a:lnSpc>
                <a:spcPct val="110000"/>
              </a:lnSpc>
              <a:spcBef>
                <a:spcPct val="77000"/>
              </a:spcBef>
              <a:buClr>
                <a:schemeClr val="tx1"/>
              </a:buClr>
            </a:pPr>
            <a:r>
              <a:rPr lang="en-US" sz="1300" dirty="0" smtClean="0">
                <a:solidFill>
                  <a:srgbClr val="000000"/>
                </a:solidFill>
                <a:latin typeface="Calibri"/>
              </a:rPr>
              <a:t>Prepayments represent </a:t>
            </a:r>
            <a:br>
              <a:rPr lang="en-US" sz="1300" dirty="0" smtClean="0">
                <a:solidFill>
                  <a:srgbClr val="000000"/>
                </a:solidFill>
                <a:latin typeface="Calibri"/>
              </a:rPr>
            </a:br>
            <a:r>
              <a:rPr lang="en-US" sz="1300" dirty="0" smtClean="0">
                <a:solidFill>
                  <a:srgbClr val="000000"/>
                </a:solidFill>
                <a:latin typeface="Calibri"/>
              </a:rPr>
              <a:t>the return of principal on outstanding mortgage loans ahead of schedule.</a:t>
            </a:r>
          </a:p>
          <a:p>
            <a:pPr>
              <a:lnSpc>
                <a:spcPct val="110000"/>
              </a:lnSpc>
              <a:spcBef>
                <a:spcPct val="77000"/>
              </a:spcBef>
              <a:buClr>
                <a:schemeClr val="tx1"/>
              </a:buClr>
            </a:pPr>
            <a:r>
              <a:rPr lang="en-US" sz="1300" dirty="0" smtClean="0">
                <a:solidFill>
                  <a:srgbClr val="000000"/>
                </a:solidFill>
                <a:latin typeface="Calibri"/>
              </a:rPr>
              <a:t>Prepayments can occur </a:t>
            </a:r>
            <a:br>
              <a:rPr lang="en-US" sz="1300" dirty="0" smtClean="0">
                <a:solidFill>
                  <a:srgbClr val="000000"/>
                </a:solidFill>
                <a:latin typeface="Calibri"/>
              </a:rPr>
            </a:br>
            <a:r>
              <a:rPr lang="en-US" sz="1300" dirty="0" smtClean="0">
                <a:solidFill>
                  <a:srgbClr val="000000"/>
                </a:solidFill>
                <a:latin typeface="Calibri"/>
              </a:rPr>
              <a:t>by selling a home, </a:t>
            </a:r>
            <a:br>
              <a:rPr lang="en-US" sz="1300" dirty="0" smtClean="0">
                <a:solidFill>
                  <a:srgbClr val="000000"/>
                </a:solidFill>
                <a:latin typeface="Calibri"/>
              </a:rPr>
            </a:br>
            <a:r>
              <a:rPr lang="en-US" sz="1300" dirty="0" smtClean="0">
                <a:solidFill>
                  <a:srgbClr val="000000"/>
                </a:solidFill>
                <a:latin typeface="Calibri"/>
              </a:rPr>
              <a:t>refinancing an existing mortgage, or defaulting on a mortgage.</a:t>
            </a:r>
          </a:p>
          <a:p>
            <a:pPr>
              <a:lnSpc>
                <a:spcPct val="110000"/>
              </a:lnSpc>
              <a:spcBef>
                <a:spcPct val="77000"/>
              </a:spcBef>
              <a:buClr>
                <a:schemeClr val="tx1"/>
              </a:buClr>
            </a:pPr>
            <a:r>
              <a:rPr lang="en-US" sz="1300" dirty="0" smtClean="0">
                <a:solidFill>
                  <a:srgbClr val="000000"/>
                </a:solidFill>
                <a:latin typeface="Calibri"/>
              </a:rPr>
              <a:t>Prepayments on MBS can differ dramatically based on loan characteristics, borrower characteristics, regional economic factors, </a:t>
            </a:r>
            <a:br>
              <a:rPr lang="en-US" sz="1300" dirty="0" smtClean="0">
                <a:solidFill>
                  <a:srgbClr val="000000"/>
                </a:solidFill>
                <a:latin typeface="Calibri"/>
              </a:rPr>
            </a:br>
            <a:r>
              <a:rPr lang="en-US" sz="1300" dirty="0" smtClean="0">
                <a:solidFill>
                  <a:srgbClr val="000000"/>
                </a:solidFill>
                <a:latin typeface="Calibri"/>
              </a:rPr>
              <a:t>taxation, and political factors.</a:t>
            </a:r>
          </a:p>
        </p:txBody>
      </p:sp>
    </p:spTree>
    <p:extLst>
      <p:ext uri="{BB962C8B-B14F-4D97-AF65-F5344CB8AC3E}">
        <p14:creationId xmlns:p14="http://schemas.microsoft.com/office/powerpoint/2010/main" val="29928008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472693"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929" tIns="50929" rIns="101858" bIns="50929" rtlCol="0" anchor="ctr"/>
          <a:lstStyle/>
          <a:p>
            <a:pPr algn="ctr"/>
            <a:r>
              <a:rPr lang="en-US" sz="1300" dirty="0" smtClean="0">
                <a:solidFill>
                  <a:schemeClr val="bg1"/>
                </a:solidFill>
              </a:rPr>
              <a:t>LOOSER FHA UNDERWRITING GUIDELINES = FASTER PREPAYMENTS</a:t>
            </a:r>
            <a:endParaRPr lang="en-US" sz="1300" dirty="0">
              <a:solidFill>
                <a:schemeClr val="bg1"/>
              </a:solidFill>
            </a:endParaRPr>
          </a:p>
        </p:txBody>
      </p:sp>
      <p:sp>
        <p:nvSpPr>
          <p:cNvPr id="2" name="Title 1"/>
          <p:cNvSpPr>
            <a:spLocks noGrp="1"/>
          </p:cNvSpPr>
          <p:nvPr>
            <p:ph type="title"/>
          </p:nvPr>
        </p:nvSpPr>
        <p:spPr>
          <a:xfrm>
            <a:off x="1239617" y="231434"/>
            <a:ext cx="8574088" cy="609918"/>
          </a:xfrm>
        </p:spPr>
        <p:txBody>
          <a:bodyPr/>
          <a:lstStyle/>
          <a:p>
            <a:pPr lvl="0"/>
            <a:r>
              <a:rPr lang="en-US" dirty="0" smtClean="0"/>
              <a:t>PREPAYMENT RESEARCH TARGETS BOTH THE LEVEL OF PREPAYMENTS…</a:t>
            </a:r>
            <a:endParaRPr lang="en-US" dirty="0"/>
          </a:p>
        </p:txBody>
      </p:sp>
      <p:sp>
        <p:nvSpPr>
          <p:cNvPr id="6" name="Rectangle 9"/>
          <p:cNvSpPr>
            <a:spLocks noChangeArrowheads="1"/>
          </p:cNvSpPr>
          <p:nvPr/>
        </p:nvSpPr>
        <p:spPr bwMode="auto">
          <a:xfrm>
            <a:off x="182881" y="1266192"/>
            <a:ext cx="2082801" cy="7704934"/>
          </a:xfrm>
          <a:prstGeom prst="rect">
            <a:avLst/>
          </a:prstGeom>
          <a:noFill/>
          <a:ln w="9525">
            <a:noFill/>
            <a:miter lim="800000"/>
            <a:headEnd/>
            <a:tailEnd/>
          </a:ln>
          <a:effectLst/>
        </p:spPr>
        <p:txBody>
          <a:bodyPr wrap="square" lIns="101858" tIns="50929" rIns="101858" bIns="50929">
            <a:spAutoFit/>
          </a:bodyPr>
          <a:lstStyle/>
          <a:p>
            <a:pPr>
              <a:buClr>
                <a:schemeClr val="tx1"/>
              </a:buClr>
            </a:pPr>
            <a:r>
              <a:rPr lang="en-US" sz="1300" dirty="0" smtClean="0">
                <a:latin typeface="Calibri" pitchFamily="34" charset="0"/>
                <a:cs typeface="Calibri" pitchFamily="34" charset="0"/>
              </a:rPr>
              <a:t>When focusing on the level of prepayments, we track the behavior of a “reference” borrower over time.  This gives the truest picture of how changes in government housing policy and the mortgage industry affect prepayments.</a:t>
            </a:r>
          </a:p>
          <a:p>
            <a:pPr>
              <a:buClr>
                <a:schemeClr val="tx1"/>
              </a:buClr>
            </a:pPr>
            <a:endParaRPr lang="en-US" sz="1300" dirty="0">
              <a:latin typeface="Calibri" pitchFamily="34" charset="0"/>
              <a:cs typeface="Calibri" pitchFamily="34" charset="0"/>
            </a:endParaRPr>
          </a:p>
          <a:p>
            <a:pPr>
              <a:buClr>
                <a:schemeClr val="tx1"/>
              </a:buClr>
            </a:pPr>
            <a:r>
              <a:rPr lang="en-US" sz="1300" dirty="0" smtClean="0">
                <a:latin typeface="Calibri" pitchFamily="34" charset="0"/>
                <a:cs typeface="Calibri" pitchFamily="34" charset="0"/>
              </a:rPr>
              <a:t>Regime 1: Jan. 2007 to Jan. 2010</a:t>
            </a:r>
            <a:r>
              <a:rPr lang="en-US" sz="1300" dirty="0">
                <a:latin typeface="Calibri" pitchFamily="34" charset="0"/>
                <a:cs typeface="Calibri" pitchFamily="34" charset="0"/>
              </a:rPr>
              <a:t>  </a:t>
            </a:r>
            <a:r>
              <a:rPr lang="en-US" sz="1300" dirty="0" smtClean="0">
                <a:latin typeface="Calibri" pitchFamily="34" charset="0"/>
                <a:cs typeface="Calibri" pitchFamily="34" charset="0"/>
              </a:rPr>
              <a:t>pre FHA change Regime 2: Jan. 2010 to Jun. 2012 </a:t>
            </a:r>
            <a:r>
              <a:rPr lang="en-US" sz="1300" dirty="0">
                <a:latin typeface="Calibri" pitchFamily="34" charset="0"/>
                <a:cs typeface="Calibri" pitchFamily="34" charset="0"/>
              </a:rPr>
              <a:t> </a:t>
            </a:r>
            <a:r>
              <a:rPr lang="en-US" sz="1300" dirty="0" smtClean="0">
                <a:latin typeface="Calibri" pitchFamily="34" charset="0"/>
                <a:cs typeface="Calibri" pitchFamily="34" charset="0"/>
              </a:rPr>
              <a:t>post FHA change</a:t>
            </a:r>
          </a:p>
          <a:p>
            <a:pPr>
              <a:buClr>
                <a:schemeClr val="tx1"/>
              </a:buClr>
            </a:pPr>
            <a:endParaRPr lang="en-US" sz="1300" dirty="0">
              <a:latin typeface="Calibri" pitchFamily="34" charset="0"/>
              <a:cs typeface="Calibri" pitchFamily="34" charset="0"/>
            </a:endParaRPr>
          </a:p>
          <a:p>
            <a:pPr>
              <a:buClr>
                <a:schemeClr val="tx1"/>
              </a:buClr>
            </a:pPr>
            <a:r>
              <a:rPr lang="en-US" sz="1300" dirty="0" smtClean="0">
                <a:latin typeface="Calibri" pitchFamily="34" charset="0"/>
                <a:cs typeface="Calibri" pitchFamily="34" charset="0"/>
              </a:rPr>
              <a:t>Regime 1 reflects a period of relatively stable FHA underwriting criteria. In January 2010, the FHA substantially tightened underwriting guidelines: (1) Borrowers need to demonstrate “net tangible benefit” before refinancing; (2) Delinquent borrowers were disqualified from refinancing; and (3) Closing costs could no longer be added to the loan balance. </a:t>
            </a:r>
          </a:p>
          <a:p>
            <a:pPr>
              <a:buClr>
                <a:schemeClr val="tx1"/>
              </a:buClr>
            </a:pPr>
            <a:endParaRPr lang="en-US" sz="1300" dirty="0">
              <a:latin typeface="Calibri" pitchFamily="34" charset="0"/>
              <a:cs typeface="Calibri" pitchFamily="34" charset="0"/>
            </a:endParaRPr>
          </a:p>
          <a:p>
            <a:pPr>
              <a:buClr>
                <a:schemeClr val="tx1"/>
              </a:buClr>
            </a:pPr>
            <a:endParaRPr lang="en-US" sz="1300" dirty="0" smtClean="0">
              <a:latin typeface="Calibri" pitchFamily="34" charset="0"/>
              <a:cs typeface="Calibri" pitchFamily="34" charset="0"/>
            </a:endParaRPr>
          </a:p>
          <a:p>
            <a:pPr>
              <a:buClr>
                <a:schemeClr val="tx1"/>
              </a:buClr>
            </a:pPr>
            <a:endParaRPr lang="en-US" sz="1300" dirty="0">
              <a:latin typeface="Calibri" pitchFamily="34" charset="0"/>
              <a:cs typeface="Calibri" pitchFamily="34" charset="0"/>
            </a:endParaRPr>
          </a:p>
          <a:p>
            <a:pPr>
              <a:buClr>
                <a:schemeClr val="tx1"/>
              </a:buClr>
            </a:pPr>
            <a:endParaRPr lang="en-US" sz="1300" dirty="0"/>
          </a:p>
          <a:p>
            <a:pPr lvl="0">
              <a:buClr>
                <a:schemeClr val="tx1"/>
              </a:buClr>
            </a:pPr>
            <a:endParaRPr lang="en-US" sz="1300" dirty="0"/>
          </a:p>
          <a:p>
            <a:pPr lvl="0">
              <a:buClr>
                <a:schemeClr val="tx1"/>
              </a:buClr>
            </a:pPr>
            <a:endParaRPr lang="en-US" sz="1300" dirty="0"/>
          </a:p>
          <a:p>
            <a:pPr lvl="0">
              <a:buClr>
                <a:schemeClr val="tx1"/>
              </a:buClr>
            </a:pPr>
            <a:endParaRPr lang="en-US" sz="1300" dirty="0"/>
          </a:p>
          <a:p>
            <a:pPr lvl="0">
              <a:buClr>
                <a:schemeClr val="tx1"/>
              </a:buClr>
            </a:pPr>
            <a:endParaRPr lang="en-US" sz="1300" dirty="0"/>
          </a:p>
        </p:txBody>
      </p:sp>
      <p:cxnSp>
        <p:nvCxnSpPr>
          <p:cNvPr id="12" name="Straight Arrow Connector 11"/>
          <p:cNvCxnSpPr/>
          <p:nvPr/>
        </p:nvCxnSpPr>
        <p:spPr>
          <a:xfrm flipH="1">
            <a:off x="9021459" y="3604638"/>
            <a:ext cx="95250" cy="581025"/>
          </a:xfrm>
          <a:prstGeom prst="straightConnector1">
            <a:avLst/>
          </a:prstGeom>
          <a:ln>
            <a:solidFill>
              <a:srgbClr val="C00000"/>
            </a:solidFill>
            <a:tailEnd type="arrow"/>
          </a:ln>
        </p:spPr>
        <p:style>
          <a:lnRef idx="3">
            <a:schemeClr val="accent1"/>
          </a:lnRef>
          <a:fillRef idx="0">
            <a:schemeClr val="accent1"/>
          </a:fillRef>
          <a:effectRef idx="2">
            <a:schemeClr val="accent1"/>
          </a:effectRef>
          <a:fontRef idx="minor">
            <a:schemeClr val="tx1"/>
          </a:fontRef>
        </p:style>
      </p:cxnSp>
      <p:sp>
        <p:nvSpPr>
          <p:cNvPr id="13" name="TextBox 12"/>
          <p:cNvSpPr txBox="1"/>
          <p:nvPr/>
        </p:nvSpPr>
        <p:spPr>
          <a:xfrm>
            <a:off x="4799026" y="2129063"/>
            <a:ext cx="1343025" cy="1569660"/>
          </a:xfrm>
          <a:prstGeom prst="rect">
            <a:avLst/>
          </a:prstGeom>
          <a:noFill/>
        </p:spPr>
        <p:txBody>
          <a:bodyPr wrap="square" rtlCol="0">
            <a:spAutoFit/>
          </a:bodyPr>
          <a:lstStyle/>
          <a:p>
            <a:r>
              <a:rPr lang="en-US" sz="1200" dirty="0" smtClean="0">
                <a:latin typeface="Calibri" pitchFamily="34" charset="0"/>
              </a:rPr>
              <a:t>Fast FHA prepayments prior to January 2010 because of loose underwriting guidelines for FHA streamline refinances.</a:t>
            </a:r>
            <a:endParaRPr lang="en-US" sz="1200" dirty="0">
              <a:latin typeface="Calibri" pitchFamily="34" charset="0"/>
            </a:endParaRPr>
          </a:p>
        </p:txBody>
      </p:sp>
      <p:sp>
        <p:nvSpPr>
          <p:cNvPr id="15" name="TextBox 14"/>
          <p:cNvSpPr txBox="1"/>
          <p:nvPr/>
        </p:nvSpPr>
        <p:spPr>
          <a:xfrm>
            <a:off x="8554734" y="2102515"/>
            <a:ext cx="1343025" cy="1384995"/>
          </a:xfrm>
          <a:prstGeom prst="rect">
            <a:avLst/>
          </a:prstGeom>
          <a:noFill/>
        </p:spPr>
        <p:txBody>
          <a:bodyPr wrap="square" rtlCol="0">
            <a:spAutoFit/>
          </a:bodyPr>
          <a:lstStyle/>
          <a:p>
            <a:r>
              <a:rPr lang="en-US" sz="1200" dirty="0" smtClean="0">
                <a:latin typeface="Calibri" pitchFamily="34" charset="0"/>
              </a:rPr>
              <a:t>FHA Prepays slow down after January 2010 as borrowers face tighter guidelines for FHA streamline refinances.</a:t>
            </a:r>
            <a:endParaRPr lang="en-US" sz="1200" dirty="0">
              <a:latin typeface="Calibri" pitchFamily="34" charset="0"/>
            </a:endParaRPr>
          </a:p>
        </p:txBody>
      </p:sp>
      <p:cxnSp>
        <p:nvCxnSpPr>
          <p:cNvPr id="17" name="Straight Arrow Connector 16"/>
          <p:cNvCxnSpPr/>
          <p:nvPr/>
        </p:nvCxnSpPr>
        <p:spPr>
          <a:xfrm>
            <a:off x="6084573" y="2795013"/>
            <a:ext cx="695325" cy="352425"/>
          </a:xfrm>
          <a:prstGeom prst="straightConnector1">
            <a:avLst/>
          </a:prstGeom>
          <a:ln>
            <a:solidFill>
              <a:srgbClr val="C00000"/>
            </a:solidFill>
            <a:tailEnd type="arrow"/>
          </a:ln>
        </p:spPr>
        <p:style>
          <a:lnRef idx="3">
            <a:schemeClr val="accent1"/>
          </a:lnRef>
          <a:fillRef idx="0">
            <a:schemeClr val="accent1"/>
          </a:fillRef>
          <a:effectRef idx="2">
            <a:schemeClr val="accent1"/>
          </a:effectRef>
          <a:fontRef idx="minor">
            <a:schemeClr val="tx1"/>
          </a:fontRef>
        </p:style>
      </p:cxnSp>
      <p:sp>
        <p:nvSpPr>
          <p:cNvPr id="18" name="Rectangle 68"/>
          <p:cNvSpPr>
            <a:spLocks noChangeArrowheads="1"/>
          </p:cNvSpPr>
          <p:nvPr/>
        </p:nvSpPr>
        <p:spPr bwMode="auto">
          <a:xfrm>
            <a:off x="2453020" y="6992592"/>
            <a:ext cx="6035039" cy="227502"/>
          </a:xfrm>
          <a:prstGeom prst="rect">
            <a:avLst/>
          </a:prstGeom>
          <a:noFill/>
          <a:ln w="9525">
            <a:noFill/>
            <a:miter lim="800000"/>
            <a:headEnd/>
            <a:tailEnd/>
          </a:ln>
          <a:effectLst/>
        </p:spPr>
        <p:txBody>
          <a:bodyPr wrap="square" lIns="101858" tIns="50929" rIns="101858" bIns="50929" anchor="b">
            <a:spAutoFit/>
          </a:bodyPr>
          <a:lstStyle/>
          <a:p>
            <a:pPr>
              <a:lnSpc>
                <a:spcPct val="90000"/>
              </a:lnSpc>
              <a:spcBef>
                <a:spcPct val="20000"/>
              </a:spcBef>
            </a:pPr>
            <a:r>
              <a:rPr lang="en-US" sz="900" i="1" dirty="0">
                <a:latin typeface="Calibri" pitchFamily="34" charset="0"/>
              </a:rPr>
              <a:t>Source: </a:t>
            </a:r>
            <a:r>
              <a:rPr lang="en-US" sz="900" i="1" dirty="0" smtClean="0">
                <a:latin typeface="Calibri" pitchFamily="34" charset="0"/>
              </a:rPr>
              <a:t>Cello calculations based on </a:t>
            </a:r>
            <a:r>
              <a:rPr lang="en-US" sz="900" i="1" dirty="0" err="1" smtClean="0">
                <a:latin typeface="Calibri" pitchFamily="34" charset="0"/>
              </a:rPr>
              <a:t>Ginnie</a:t>
            </a:r>
            <a:r>
              <a:rPr lang="en-US" sz="900" i="1" dirty="0" smtClean="0">
                <a:latin typeface="Calibri" pitchFamily="34" charset="0"/>
              </a:rPr>
              <a:t> Mae data.</a:t>
            </a:r>
            <a:endParaRPr lang="en-US" sz="900" i="1" dirty="0">
              <a:latin typeface="Calibri" pitchFamily="34" charset="0"/>
            </a:endParaRPr>
          </a:p>
        </p:txBody>
      </p:sp>
      <p:graphicFrame>
        <p:nvGraphicFramePr>
          <p:cNvPr id="16" name="Chart 15"/>
          <p:cNvGraphicFramePr>
            <a:graphicFrameLocks/>
          </p:cNvGraphicFramePr>
          <p:nvPr>
            <p:extLst>
              <p:ext uri="{D42A27DB-BD31-4B8C-83A1-F6EECF244321}">
                <p14:modId xmlns:p14="http://schemas.microsoft.com/office/powerpoint/2010/main" val="2605340077"/>
              </p:ext>
            </p:extLst>
          </p:nvPr>
        </p:nvGraphicFramePr>
        <p:xfrm>
          <a:off x="2874648" y="2614038"/>
          <a:ext cx="6419850" cy="343852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728308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472693"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929" tIns="50929" rIns="101858" bIns="50929" rtlCol="0" anchor="ctr"/>
          <a:lstStyle/>
          <a:p>
            <a:pPr algn="ctr"/>
            <a:r>
              <a:rPr lang="en-US" sz="1300" dirty="0" smtClean="0">
                <a:solidFill>
                  <a:schemeClr val="bg1"/>
                </a:solidFill>
              </a:rPr>
              <a:t>PREPAYMENT SPEEDS FOR DIFFERENT COLLATERAL TYPES </a:t>
            </a:r>
            <a:endParaRPr lang="en-US" sz="1300" dirty="0">
              <a:solidFill>
                <a:schemeClr val="bg1"/>
              </a:solidFill>
            </a:endParaRPr>
          </a:p>
          <a:p>
            <a:pPr algn="ctr"/>
            <a:r>
              <a:rPr lang="en-US" sz="1300" dirty="0" smtClean="0">
                <a:solidFill>
                  <a:schemeClr val="bg1"/>
                </a:solidFill>
              </a:rPr>
              <a:t>(January 2012 </a:t>
            </a:r>
            <a:r>
              <a:rPr lang="en-US" sz="1300" dirty="0">
                <a:solidFill>
                  <a:schemeClr val="bg1"/>
                </a:solidFill>
              </a:rPr>
              <a:t>to </a:t>
            </a:r>
            <a:r>
              <a:rPr lang="en-US" sz="1300" dirty="0" smtClean="0">
                <a:solidFill>
                  <a:schemeClr val="bg1"/>
                </a:solidFill>
              </a:rPr>
              <a:t>March 2013)</a:t>
            </a:r>
            <a:endParaRPr lang="en-US" sz="1300" dirty="0">
              <a:solidFill>
                <a:schemeClr val="bg1"/>
              </a:solidFill>
            </a:endParaRPr>
          </a:p>
        </p:txBody>
      </p:sp>
      <p:sp>
        <p:nvSpPr>
          <p:cNvPr id="2" name="Title 1"/>
          <p:cNvSpPr>
            <a:spLocks noGrp="1"/>
          </p:cNvSpPr>
          <p:nvPr>
            <p:ph type="title"/>
          </p:nvPr>
        </p:nvSpPr>
        <p:spPr>
          <a:xfrm>
            <a:off x="1239617" y="231434"/>
            <a:ext cx="8574088" cy="609918"/>
          </a:xfrm>
        </p:spPr>
        <p:txBody>
          <a:bodyPr/>
          <a:lstStyle/>
          <a:p>
            <a:pPr lvl="0"/>
            <a:r>
              <a:rPr lang="en-US" dirty="0" smtClean="0"/>
              <a:t>…AND THE DISTRIBUTION OF PREPAYMENTS ACROSS COLLATERAL CHARACTERISTICS</a:t>
            </a:r>
            <a:endParaRPr lang="en-US" dirty="0"/>
          </a:p>
        </p:txBody>
      </p:sp>
      <p:sp>
        <p:nvSpPr>
          <p:cNvPr id="6" name="Rectangle 9"/>
          <p:cNvSpPr>
            <a:spLocks noChangeArrowheads="1"/>
          </p:cNvSpPr>
          <p:nvPr/>
        </p:nvSpPr>
        <p:spPr bwMode="auto">
          <a:xfrm>
            <a:off x="182881" y="1266192"/>
            <a:ext cx="2082801" cy="6904715"/>
          </a:xfrm>
          <a:prstGeom prst="rect">
            <a:avLst/>
          </a:prstGeom>
          <a:noFill/>
          <a:ln w="9525">
            <a:noFill/>
            <a:miter lim="800000"/>
            <a:headEnd/>
            <a:tailEnd/>
          </a:ln>
          <a:effectLst/>
        </p:spPr>
        <p:txBody>
          <a:bodyPr wrap="square" lIns="101858" tIns="50929" rIns="101858" bIns="50929">
            <a:spAutoFit/>
          </a:bodyPr>
          <a:lstStyle/>
          <a:p>
            <a:pPr>
              <a:buClr>
                <a:schemeClr val="tx1"/>
              </a:buClr>
            </a:pPr>
            <a:r>
              <a:rPr lang="en-US" sz="1300" dirty="0" smtClean="0">
                <a:latin typeface="Calibri" pitchFamily="34" charset="0"/>
                <a:cs typeface="Calibri" pitchFamily="34" charset="0"/>
              </a:rPr>
              <a:t>For the same level of mortgage rates,  conventional borrowers with different collateral characteristics can exhibit dramatically different prepayment propensities.</a:t>
            </a:r>
          </a:p>
          <a:p>
            <a:pPr>
              <a:buClr>
                <a:schemeClr val="tx1"/>
              </a:buClr>
            </a:pPr>
            <a:endParaRPr lang="en-US" sz="1300" dirty="0">
              <a:latin typeface="Calibri" pitchFamily="34" charset="0"/>
              <a:cs typeface="Calibri" pitchFamily="34" charset="0"/>
            </a:endParaRPr>
          </a:p>
          <a:p>
            <a:pPr>
              <a:buClr>
                <a:schemeClr val="tx1"/>
              </a:buClr>
            </a:pPr>
            <a:r>
              <a:rPr lang="en-US" sz="1300" dirty="0" smtClean="0">
                <a:latin typeface="Calibri" pitchFamily="34" charset="0"/>
                <a:cs typeface="Calibri" pitchFamily="34" charset="0"/>
              </a:rPr>
              <a:t>CQ pools consist of very high loan-to-value (LTV) borrowers who have refinanced recently under HARP and are ineligible to refinance under current underwriting standards. CK pools consists of borrowers with Jumbo balances as much as $625,500. Jumbo borrowers are typically financially sophisticated, have excellent credit scores and low LTV ratios. Consequently, they face little to no hurdles to refinancing.</a:t>
            </a:r>
          </a:p>
          <a:p>
            <a:pPr>
              <a:buClr>
                <a:schemeClr val="tx1"/>
              </a:buClr>
            </a:pPr>
            <a:endParaRPr lang="en-US" sz="1300" dirty="0">
              <a:latin typeface="Calibri" pitchFamily="34" charset="0"/>
              <a:cs typeface="Calibri" pitchFamily="34" charset="0"/>
            </a:endParaRPr>
          </a:p>
          <a:p>
            <a:pPr>
              <a:buClr>
                <a:schemeClr val="tx1"/>
              </a:buClr>
            </a:pPr>
            <a:endParaRPr lang="en-US" sz="1300" dirty="0">
              <a:latin typeface="Calibri" pitchFamily="34" charset="0"/>
              <a:cs typeface="Calibri" pitchFamily="34" charset="0"/>
            </a:endParaRPr>
          </a:p>
          <a:p>
            <a:pPr>
              <a:buClr>
                <a:schemeClr val="tx1"/>
              </a:buClr>
            </a:pPr>
            <a:endParaRPr lang="en-US" sz="1300" dirty="0" smtClean="0">
              <a:latin typeface="Calibri" pitchFamily="34" charset="0"/>
              <a:cs typeface="Calibri" pitchFamily="34" charset="0"/>
            </a:endParaRPr>
          </a:p>
          <a:p>
            <a:pPr>
              <a:buClr>
                <a:schemeClr val="tx1"/>
              </a:buClr>
            </a:pPr>
            <a:endParaRPr lang="en-US" sz="1300" dirty="0">
              <a:latin typeface="Calibri" pitchFamily="34" charset="0"/>
              <a:cs typeface="Calibri" pitchFamily="34" charset="0"/>
            </a:endParaRPr>
          </a:p>
          <a:p>
            <a:pPr>
              <a:buClr>
                <a:schemeClr val="tx1"/>
              </a:buClr>
            </a:pPr>
            <a:endParaRPr lang="en-US" sz="1300" dirty="0"/>
          </a:p>
          <a:p>
            <a:pPr lvl="0">
              <a:buClr>
                <a:schemeClr val="tx1"/>
              </a:buClr>
            </a:pPr>
            <a:endParaRPr lang="en-US" sz="1300" dirty="0"/>
          </a:p>
          <a:p>
            <a:pPr lvl="0">
              <a:buClr>
                <a:schemeClr val="tx1"/>
              </a:buClr>
            </a:pPr>
            <a:endParaRPr lang="en-US" sz="1300" dirty="0"/>
          </a:p>
          <a:p>
            <a:pPr lvl="0">
              <a:buClr>
                <a:schemeClr val="tx1"/>
              </a:buClr>
            </a:pPr>
            <a:endParaRPr lang="en-US" sz="1300" dirty="0"/>
          </a:p>
          <a:p>
            <a:pPr lvl="0">
              <a:buClr>
                <a:schemeClr val="tx1"/>
              </a:buClr>
            </a:pPr>
            <a:endParaRPr lang="en-US" sz="1300" dirty="0"/>
          </a:p>
        </p:txBody>
      </p:sp>
      <p:graphicFrame>
        <p:nvGraphicFramePr>
          <p:cNvPr id="10" name="Chart 9"/>
          <p:cNvGraphicFramePr>
            <a:graphicFrameLocks/>
          </p:cNvGraphicFramePr>
          <p:nvPr>
            <p:extLst>
              <p:ext uri="{D42A27DB-BD31-4B8C-83A1-F6EECF244321}">
                <p14:modId xmlns:p14="http://schemas.microsoft.com/office/powerpoint/2010/main" val="3971798579"/>
              </p:ext>
            </p:extLst>
          </p:nvPr>
        </p:nvGraphicFramePr>
        <p:xfrm>
          <a:off x="2874648" y="2157412"/>
          <a:ext cx="6419850" cy="4314825"/>
        </p:xfrm>
        <a:graphic>
          <a:graphicData uri="http://schemas.openxmlformats.org/drawingml/2006/chart">
            <c:chart xmlns:c="http://schemas.openxmlformats.org/drawingml/2006/chart" xmlns:r="http://schemas.openxmlformats.org/officeDocument/2006/relationships" r:id="rId2"/>
          </a:graphicData>
        </a:graphic>
      </p:graphicFrame>
      <p:sp>
        <p:nvSpPr>
          <p:cNvPr id="11" name="Rectangle 68"/>
          <p:cNvSpPr>
            <a:spLocks noChangeArrowheads="1"/>
          </p:cNvSpPr>
          <p:nvPr/>
        </p:nvSpPr>
        <p:spPr bwMode="auto">
          <a:xfrm>
            <a:off x="2453020" y="6992592"/>
            <a:ext cx="6035039" cy="227502"/>
          </a:xfrm>
          <a:prstGeom prst="rect">
            <a:avLst/>
          </a:prstGeom>
          <a:noFill/>
          <a:ln w="9525">
            <a:noFill/>
            <a:miter lim="800000"/>
            <a:headEnd/>
            <a:tailEnd/>
          </a:ln>
          <a:effectLst/>
        </p:spPr>
        <p:txBody>
          <a:bodyPr wrap="square" lIns="101858" tIns="50929" rIns="101858" bIns="50929" anchor="b">
            <a:spAutoFit/>
          </a:bodyPr>
          <a:lstStyle/>
          <a:p>
            <a:pPr>
              <a:lnSpc>
                <a:spcPct val="90000"/>
              </a:lnSpc>
              <a:spcBef>
                <a:spcPct val="20000"/>
              </a:spcBef>
            </a:pPr>
            <a:r>
              <a:rPr lang="en-US" sz="900" i="1" dirty="0">
                <a:latin typeface="Calibri" pitchFamily="34" charset="0"/>
              </a:rPr>
              <a:t>Source: </a:t>
            </a:r>
            <a:r>
              <a:rPr lang="en-US" sz="900" i="1" dirty="0" smtClean="0">
                <a:latin typeface="Calibri" pitchFamily="34" charset="0"/>
              </a:rPr>
              <a:t>Cello calculations based on Fannie Mae/Freddie Mac data.</a:t>
            </a:r>
            <a:endParaRPr lang="en-US" sz="900" i="1" dirty="0">
              <a:latin typeface="Calibri" pitchFamily="34" charset="0"/>
            </a:endParaRPr>
          </a:p>
        </p:txBody>
      </p:sp>
    </p:spTree>
    <p:extLst>
      <p:ext uri="{BB962C8B-B14F-4D97-AF65-F5344CB8AC3E}">
        <p14:creationId xmlns:p14="http://schemas.microsoft.com/office/powerpoint/2010/main" val="8840176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491" y="257191"/>
            <a:ext cx="8574088" cy="609918"/>
          </a:xfrm>
        </p:spPr>
        <p:txBody>
          <a:bodyPr/>
          <a:lstStyle/>
          <a:p>
            <a:r>
              <a:rPr lang="en-US" dirty="0" smtClean="0"/>
              <a:t>MODEL CUSTOMIZATIONS ARE BASED ON EMPIRICAL RESEARCH AND ECONOMICS </a:t>
            </a:r>
            <a:br>
              <a:rPr lang="en-US" dirty="0" smtClean="0"/>
            </a:br>
            <a:endParaRPr lang="en-US" dirty="0"/>
          </a:p>
        </p:txBody>
      </p:sp>
      <p:sp>
        <p:nvSpPr>
          <p:cNvPr id="6" name="Rectangle 68"/>
          <p:cNvSpPr>
            <a:spLocks noChangeArrowheads="1"/>
          </p:cNvSpPr>
          <p:nvPr/>
        </p:nvSpPr>
        <p:spPr bwMode="auto">
          <a:xfrm>
            <a:off x="238126" y="7052875"/>
            <a:ext cx="9544852" cy="138499"/>
          </a:xfrm>
          <a:prstGeom prst="rect">
            <a:avLst/>
          </a:prstGeom>
          <a:noFill/>
          <a:ln w="9525">
            <a:noFill/>
            <a:miter lim="800000"/>
            <a:headEnd/>
            <a:tailEnd/>
          </a:ln>
          <a:effectLst/>
        </p:spPr>
        <p:txBody>
          <a:bodyPr wrap="square" lIns="0" tIns="0" rIns="0" bIns="0" anchor="b">
            <a:spAutoFit/>
          </a:bodyPr>
          <a:lstStyle/>
          <a:p>
            <a:pPr>
              <a:lnSpc>
                <a:spcPct val="90000"/>
              </a:lnSpc>
              <a:spcBef>
                <a:spcPct val="20000"/>
              </a:spcBef>
            </a:pPr>
            <a:r>
              <a:rPr lang="en-US" sz="1000" i="1" dirty="0" smtClean="0">
                <a:latin typeface="Calibri" pitchFamily="34" charset="0"/>
              </a:rPr>
              <a:t>Source</a:t>
            </a:r>
            <a:r>
              <a:rPr lang="en-US" sz="1000" dirty="0" smtClean="0">
                <a:latin typeface="Calibri" pitchFamily="34" charset="0"/>
              </a:rPr>
              <a:t>: Cello</a:t>
            </a:r>
          </a:p>
        </p:txBody>
      </p:sp>
      <p:sp>
        <p:nvSpPr>
          <p:cNvPr id="8" name="Rectangle 9"/>
          <p:cNvSpPr>
            <a:spLocks noChangeArrowheads="1"/>
          </p:cNvSpPr>
          <p:nvPr/>
        </p:nvSpPr>
        <p:spPr bwMode="auto">
          <a:xfrm>
            <a:off x="185292" y="1353822"/>
            <a:ext cx="2084832" cy="5504356"/>
          </a:xfrm>
          <a:prstGeom prst="rect">
            <a:avLst/>
          </a:prstGeom>
          <a:noFill/>
          <a:ln w="9525">
            <a:noFill/>
            <a:miter lim="800000"/>
            <a:headEnd/>
            <a:tailEnd/>
          </a:ln>
          <a:effectLst/>
        </p:spPr>
        <p:txBody>
          <a:bodyPr wrap="square" lIns="101882" tIns="50941" rIns="101882" bIns="50941">
            <a:spAutoFit/>
          </a:bodyPr>
          <a:lstStyle/>
          <a:p>
            <a:pPr lvl="0">
              <a:buClr>
                <a:schemeClr val="tx1"/>
              </a:buClr>
            </a:pPr>
            <a:r>
              <a:rPr lang="en-US" sz="1300" dirty="0" smtClean="0">
                <a:latin typeface="+mn-lt"/>
              </a:rPr>
              <a:t>The graph depicts how the “CA” S-Curve shifted by 40bps closely models the prepayment behavior of loans with a CA% of 0%. </a:t>
            </a:r>
          </a:p>
          <a:p>
            <a:pPr lvl="0">
              <a:buClr>
                <a:schemeClr val="tx1"/>
              </a:buClr>
            </a:pPr>
            <a:endParaRPr lang="en-US" sz="1300" dirty="0">
              <a:latin typeface="+mn-lt"/>
            </a:endParaRPr>
          </a:p>
          <a:p>
            <a:pPr lvl="0">
              <a:buClr>
                <a:schemeClr val="tx1"/>
              </a:buClr>
            </a:pPr>
            <a:r>
              <a:rPr lang="en-US" sz="1300" dirty="0" smtClean="0">
                <a:latin typeface="+mn-lt"/>
              </a:rPr>
              <a:t>In principle, however, there are many possible customizations of the model that would provide a good match to the “0% CA” prepayment curve. The appropriate customization is selected based on economic theory and not on “data mining” principles. </a:t>
            </a:r>
          </a:p>
          <a:p>
            <a:pPr lvl="0">
              <a:buClr>
                <a:schemeClr val="tx1"/>
              </a:buClr>
            </a:pPr>
            <a:endParaRPr lang="en-US" sz="1300" dirty="0">
              <a:latin typeface="+mn-lt"/>
            </a:endParaRPr>
          </a:p>
          <a:p>
            <a:pPr lvl="0">
              <a:buClr>
                <a:schemeClr val="tx1"/>
              </a:buClr>
            </a:pPr>
            <a:r>
              <a:rPr lang="en-US" sz="1300" dirty="0" smtClean="0">
                <a:latin typeface="+mn-lt"/>
              </a:rPr>
              <a:t>In this example, further analysis shows that the appropriate mortgage rate for CA borrowers is significantly lower than the average rate after taking collateral characteristics into account, hence suggesting an elbow-shift to the baseline model.   </a:t>
            </a:r>
          </a:p>
        </p:txBody>
      </p:sp>
      <p:sp>
        <p:nvSpPr>
          <p:cNvPr id="11" name="Rectangle 10"/>
          <p:cNvSpPr/>
          <p:nvPr/>
        </p:nvSpPr>
        <p:spPr>
          <a:xfrm>
            <a:off x="2472691" y="1266192"/>
            <a:ext cx="7223760" cy="640080"/>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941" tIns="50941" rIns="101882" bIns="50941" rtlCol="0" anchor="ctr"/>
          <a:lstStyle/>
          <a:p>
            <a:pPr algn="ctr"/>
            <a:r>
              <a:rPr lang="en-US" sz="1300" dirty="0" smtClean="0">
                <a:solidFill>
                  <a:schemeClr val="bg1"/>
                </a:solidFill>
              </a:rPr>
              <a:t>THE PREPAYMENT S-CURVE BY GEOGRAPHY FOR CONFORMING JUMBO MBS</a:t>
            </a:r>
          </a:p>
        </p:txBody>
      </p:sp>
      <p:graphicFrame>
        <p:nvGraphicFramePr>
          <p:cNvPr id="7" name="Chart 6"/>
          <p:cNvGraphicFramePr>
            <a:graphicFrameLocks/>
          </p:cNvGraphicFramePr>
          <p:nvPr>
            <p:extLst>
              <p:ext uri="{D42A27DB-BD31-4B8C-83A1-F6EECF244321}">
                <p14:modId xmlns:p14="http://schemas.microsoft.com/office/powerpoint/2010/main" val="3364067985"/>
              </p:ext>
            </p:extLst>
          </p:nvPr>
        </p:nvGraphicFramePr>
        <p:xfrm>
          <a:off x="2886075" y="2405787"/>
          <a:ext cx="6172200" cy="34004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137826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491" y="257191"/>
            <a:ext cx="8574088" cy="609918"/>
          </a:xfrm>
        </p:spPr>
        <p:txBody>
          <a:bodyPr/>
          <a:lstStyle/>
          <a:p>
            <a:r>
              <a:rPr lang="en-US" dirty="0" smtClean="0"/>
              <a:t>EACH PREPAYMENT “STORY” TYPICALLY REQUIRES A CUSTOMIZED MODEL </a:t>
            </a:r>
            <a:br>
              <a:rPr lang="en-US" dirty="0" smtClean="0"/>
            </a:br>
            <a:endParaRPr lang="en-US" dirty="0"/>
          </a:p>
        </p:txBody>
      </p:sp>
      <p:sp>
        <p:nvSpPr>
          <p:cNvPr id="6" name="Rectangle 68"/>
          <p:cNvSpPr>
            <a:spLocks noChangeArrowheads="1"/>
          </p:cNvSpPr>
          <p:nvPr/>
        </p:nvSpPr>
        <p:spPr bwMode="auto">
          <a:xfrm>
            <a:off x="238126" y="7052875"/>
            <a:ext cx="9544852" cy="138499"/>
          </a:xfrm>
          <a:prstGeom prst="rect">
            <a:avLst/>
          </a:prstGeom>
          <a:noFill/>
          <a:ln w="9525">
            <a:noFill/>
            <a:miter lim="800000"/>
            <a:headEnd/>
            <a:tailEnd/>
          </a:ln>
          <a:effectLst/>
        </p:spPr>
        <p:txBody>
          <a:bodyPr wrap="square" lIns="0" tIns="0" rIns="0" bIns="0" anchor="b">
            <a:spAutoFit/>
          </a:bodyPr>
          <a:lstStyle/>
          <a:p>
            <a:pPr>
              <a:lnSpc>
                <a:spcPct val="90000"/>
              </a:lnSpc>
              <a:spcBef>
                <a:spcPct val="20000"/>
              </a:spcBef>
            </a:pPr>
            <a:r>
              <a:rPr lang="en-US" sz="1000" i="1" dirty="0" smtClean="0">
                <a:latin typeface="Calibri" pitchFamily="34" charset="0"/>
              </a:rPr>
              <a:t>Source</a:t>
            </a:r>
            <a:r>
              <a:rPr lang="en-US" sz="1000" dirty="0" smtClean="0">
                <a:latin typeface="Calibri" pitchFamily="34" charset="0"/>
              </a:rPr>
              <a:t>: Cello</a:t>
            </a:r>
          </a:p>
        </p:txBody>
      </p:sp>
      <p:sp>
        <p:nvSpPr>
          <p:cNvPr id="8" name="Rectangle 9"/>
          <p:cNvSpPr>
            <a:spLocks noChangeArrowheads="1"/>
          </p:cNvSpPr>
          <p:nvPr/>
        </p:nvSpPr>
        <p:spPr bwMode="auto">
          <a:xfrm>
            <a:off x="185292" y="1353822"/>
            <a:ext cx="2084832" cy="5104246"/>
          </a:xfrm>
          <a:prstGeom prst="rect">
            <a:avLst/>
          </a:prstGeom>
          <a:noFill/>
          <a:ln w="9525">
            <a:noFill/>
            <a:miter lim="800000"/>
            <a:headEnd/>
            <a:tailEnd/>
          </a:ln>
          <a:effectLst/>
        </p:spPr>
        <p:txBody>
          <a:bodyPr wrap="square" lIns="101882" tIns="50941" rIns="101882" bIns="50941">
            <a:spAutoFit/>
          </a:bodyPr>
          <a:lstStyle/>
          <a:p>
            <a:pPr lvl="0">
              <a:buClr>
                <a:schemeClr val="tx1"/>
              </a:buClr>
            </a:pPr>
            <a:r>
              <a:rPr lang="en-US" sz="1300" dirty="0" smtClean="0">
                <a:latin typeface="+mn-lt"/>
              </a:rPr>
              <a:t>Each prepayment model can be decomposed into its “principal components” and one can use scaling factors to adjust the forecasts produced by the models. </a:t>
            </a:r>
          </a:p>
          <a:p>
            <a:pPr lvl="0">
              <a:buClr>
                <a:schemeClr val="tx1"/>
              </a:buClr>
            </a:pPr>
            <a:endParaRPr lang="en-US" sz="1300" dirty="0">
              <a:latin typeface="+mn-lt"/>
            </a:endParaRPr>
          </a:p>
          <a:p>
            <a:pPr lvl="0">
              <a:buClr>
                <a:schemeClr val="tx1"/>
              </a:buClr>
            </a:pPr>
            <a:r>
              <a:rPr lang="en-US" sz="1300" dirty="0" smtClean="0">
                <a:latin typeface="+mn-lt"/>
              </a:rPr>
              <a:t>The scaling factors (or “dials”) are calibrated to match either realized prepayment rates or a trader forecast based on market pricing inputs.</a:t>
            </a:r>
          </a:p>
          <a:p>
            <a:pPr lvl="0">
              <a:buClr>
                <a:schemeClr val="tx1"/>
              </a:buClr>
            </a:pPr>
            <a:endParaRPr lang="en-US" sz="1300" dirty="0">
              <a:latin typeface="+mn-lt"/>
            </a:endParaRPr>
          </a:p>
          <a:p>
            <a:pPr lvl="0">
              <a:buClr>
                <a:schemeClr val="tx1"/>
              </a:buClr>
            </a:pPr>
            <a:r>
              <a:rPr lang="en-US" sz="1300" dirty="0" smtClean="0">
                <a:latin typeface="+mn-lt"/>
              </a:rPr>
              <a:t>The Mortgage Rate adjustment assumes that the characteristic is present at a 100% level. The adjustment for lower levels of the characteristic is based on interpolation with an adjustment of 0bps when it is present at average levels. </a:t>
            </a:r>
          </a:p>
        </p:txBody>
      </p:sp>
      <p:sp>
        <p:nvSpPr>
          <p:cNvPr id="11" name="Rectangle 10"/>
          <p:cNvSpPr/>
          <p:nvPr/>
        </p:nvSpPr>
        <p:spPr>
          <a:xfrm>
            <a:off x="2472691" y="1266192"/>
            <a:ext cx="7223760" cy="640080"/>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941" tIns="50941" rIns="101882" bIns="50941" rtlCol="0" anchor="ctr"/>
          <a:lstStyle/>
          <a:p>
            <a:pPr algn="ctr"/>
            <a:r>
              <a:rPr lang="en-US" sz="1300" dirty="0" smtClean="0">
                <a:solidFill>
                  <a:schemeClr val="bg1"/>
                </a:solidFill>
              </a:rPr>
              <a:t>ADJUSTMENTS TO THE BASELINE PREPAYMENT MODEL FOR JUMBO MBS</a:t>
            </a:r>
          </a:p>
        </p:txBody>
      </p:sp>
      <p:graphicFrame>
        <p:nvGraphicFramePr>
          <p:cNvPr id="9" name="Table 8"/>
          <p:cNvGraphicFramePr>
            <a:graphicFrameLocks noGrp="1"/>
          </p:cNvGraphicFramePr>
          <p:nvPr>
            <p:extLst>
              <p:ext uri="{D42A27DB-BD31-4B8C-83A1-F6EECF244321}">
                <p14:modId xmlns:p14="http://schemas.microsoft.com/office/powerpoint/2010/main" val="268598782"/>
              </p:ext>
            </p:extLst>
          </p:nvPr>
        </p:nvGraphicFramePr>
        <p:xfrm>
          <a:off x="2815590" y="2350099"/>
          <a:ext cx="6400800" cy="3577764"/>
        </p:xfrm>
        <a:graphic>
          <a:graphicData uri="http://schemas.openxmlformats.org/drawingml/2006/table">
            <a:tbl>
              <a:tblPr firstRow="1" bandRow="1">
                <a:tableStyleId>{5C22544A-7EE6-4342-B048-85BDC9FD1C3A}</a:tableStyleId>
              </a:tblPr>
              <a:tblGrid>
                <a:gridCol w="1042035"/>
                <a:gridCol w="1210597"/>
                <a:gridCol w="1433824"/>
                <a:gridCol w="1357172"/>
                <a:gridCol w="1357172"/>
              </a:tblGrid>
              <a:tr h="445598">
                <a:tc>
                  <a:txBody>
                    <a:bodyPr/>
                    <a:lstStyle/>
                    <a:p>
                      <a:pPr algn="ctr"/>
                      <a:r>
                        <a:rPr lang="en-US" sz="1200" b="1" dirty="0" smtClean="0">
                          <a:solidFill>
                            <a:schemeClr val="bg1"/>
                          </a:solidFill>
                        </a:rPr>
                        <a:t>Category</a:t>
                      </a:r>
                      <a:endParaRPr lang="en-US" sz="1200" b="1" dirty="0">
                        <a:solidFill>
                          <a:schemeClr val="bg1"/>
                        </a:solidFill>
                      </a:endParaRP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398A"/>
                    </a:solidFill>
                  </a:tcPr>
                </a:tc>
                <a:tc>
                  <a:txBody>
                    <a:bodyPr/>
                    <a:lstStyle/>
                    <a:p>
                      <a:pPr algn="ctr"/>
                      <a:r>
                        <a:rPr lang="en-US" sz="1200" b="1" dirty="0" smtClean="0">
                          <a:solidFill>
                            <a:schemeClr val="bg1"/>
                          </a:solidFill>
                        </a:rPr>
                        <a:t>Pool</a:t>
                      </a:r>
                      <a:r>
                        <a:rPr lang="en-US" sz="1200" b="1" baseline="0" dirty="0" smtClean="0">
                          <a:solidFill>
                            <a:schemeClr val="bg1"/>
                          </a:solidFill>
                        </a:rPr>
                        <a:t> Characteristic</a:t>
                      </a:r>
                      <a:endParaRPr lang="en-US" sz="12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398A"/>
                    </a:solidFill>
                  </a:tcPr>
                </a:tc>
                <a:tc>
                  <a:txBody>
                    <a:bodyPr/>
                    <a:lstStyle/>
                    <a:p>
                      <a:pPr algn="ctr"/>
                      <a:r>
                        <a:rPr lang="en-US" sz="1200" b="1" baseline="0" dirty="0" smtClean="0">
                          <a:solidFill>
                            <a:schemeClr val="bg1"/>
                          </a:solidFill>
                          <a:latin typeface="+mn-lt"/>
                        </a:rPr>
                        <a:t>Mortgage Rate Adjustment (bps)</a:t>
                      </a:r>
                      <a:endParaRPr lang="en-US" sz="1200" b="1" dirty="0">
                        <a:solidFill>
                          <a:schemeClr val="bg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398A"/>
                    </a:solidFill>
                  </a:tcPr>
                </a:tc>
                <a:tc>
                  <a:txBody>
                    <a:bodyPr/>
                    <a:lstStyle/>
                    <a:p>
                      <a:pPr algn="ctr"/>
                      <a:r>
                        <a:rPr lang="en-US" sz="1200" b="1" dirty="0" smtClean="0">
                          <a:solidFill>
                            <a:schemeClr val="bg1"/>
                          </a:solidFill>
                          <a:latin typeface="+mn-lt"/>
                        </a:rPr>
                        <a:t>Refinance</a:t>
                      </a:r>
                      <a:r>
                        <a:rPr lang="en-US" sz="1200" b="1" baseline="0" dirty="0" smtClean="0">
                          <a:solidFill>
                            <a:schemeClr val="bg1"/>
                          </a:solidFill>
                          <a:latin typeface="+mn-lt"/>
                        </a:rPr>
                        <a:t> Multiplier</a:t>
                      </a:r>
                      <a:endParaRPr lang="en-US" sz="1200" b="1" dirty="0">
                        <a:solidFill>
                          <a:schemeClr val="bg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398A"/>
                    </a:solidFill>
                  </a:tcPr>
                </a:tc>
                <a:tc>
                  <a:txBody>
                    <a:bodyPr/>
                    <a:lstStyle/>
                    <a:p>
                      <a:pPr algn="ctr"/>
                      <a:r>
                        <a:rPr lang="en-US" sz="1200" b="1" dirty="0" smtClean="0">
                          <a:solidFill>
                            <a:schemeClr val="bg1"/>
                          </a:solidFill>
                          <a:latin typeface="+mn-lt"/>
                        </a:rPr>
                        <a:t>Average</a:t>
                      </a:r>
                      <a:r>
                        <a:rPr lang="en-US" sz="1200" b="1" baseline="0" dirty="0" smtClean="0">
                          <a:solidFill>
                            <a:schemeClr val="bg1"/>
                          </a:solidFill>
                          <a:latin typeface="+mn-lt"/>
                        </a:rPr>
                        <a:t> % for Cohort</a:t>
                      </a:r>
                      <a:endParaRPr lang="en-US" sz="1200" b="1" dirty="0">
                        <a:solidFill>
                          <a:schemeClr val="bg1"/>
                        </a:solidFill>
                        <a:latin typeface="+mn-lt"/>
                      </a:endParaRP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E398A"/>
                    </a:solidFill>
                  </a:tcPr>
                </a:tc>
              </a:tr>
              <a:tr h="520094">
                <a:tc>
                  <a:txBody>
                    <a:bodyPr/>
                    <a:lstStyle/>
                    <a:p>
                      <a:pPr algn="ctr"/>
                      <a:r>
                        <a:rPr lang="en-US" sz="1200" b="1" dirty="0" smtClean="0">
                          <a:solidFill>
                            <a:srgbClr val="2E398A"/>
                          </a:solidFill>
                        </a:rPr>
                        <a:t>Origination</a:t>
                      </a:r>
                      <a:r>
                        <a:rPr lang="en-US" sz="1200" b="1" baseline="0" dirty="0" smtClean="0">
                          <a:solidFill>
                            <a:srgbClr val="2E398A"/>
                          </a:solidFill>
                        </a:rPr>
                        <a:t> Channel</a:t>
                      </a:r>
                      <a:endParaRPr lang="en-US" sz="1200" b="1" dirty="0">
                        <a:solidFill>
                          <a:srgbClr val="2E398A"/>
                        </a:solidFill>
                      </a:endParaRP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rtl="0"/>
                      <a:r>
                        <a:rPr lang="en-US" sz="1200" b="0" i="0" u="none" strike="noStrike" kern="1200" baseline="0" dirty="0" smtClean="0">
                          <a:solidFill>
                            <a:srgbClr val="000000"/>
                          </a:solidFill>
                          <a:latin typeface="+mn-lt"/>
                        </a:rPr>
                        <a:t>Broker%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sz="1200" baseline="0" dirty="0" smtClean="0"/>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sz="1200" baseline="0" dirty="0" smtClean="0"/>
                        <a:t>100%</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sz="1200" dirty="0" smtClean="0"/>
                        <a:t>16%</a:t>
                      </a:r>
                      <a:endParaRPr lang="en-US" sz="1200" dirty="0"/>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r>
              <a:tr h="520094">
                <a:tc>
                  <a:txBody>
                    <a:bodyPr/>
                    <a:lstStyle/>
                    <a:p>
                      <a:pPr algn="ctr"/>
                      <a:r>
                        <a:rPr lang="en-US" sz="1200" b="1" dirty="0" smtClean="0">
                          <a:solidFill>
                            <a:srgbClr val="2E398A"/>
                          </a:solidFill>
                        </a:rPr>
                        <a:t>Geography</a:t>
                      </a:r>
                      <a:endParaRPr lang="en-US" sz="1200" b="1" dirty="0">
                        <a:solidFill>
                          <a:srgbClr val="2E398A"/>
                        </a:solidFill>
                      </a:endParaRP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EFEBE4"/>
                    </a:solidFill>
                  </a:tcPr>
                </a:tc>
                <a:tc>
                  <a:txBody>
                    <a:bodyPr/>
                    <a:lstStyle/>
                    <a:p>
                      <a:pPr algn="ctr"/>
                      <a:r>
                        <a:rPr lang="en-US" sz="1200" dirty="0" smtClean="0"/>
                        <a:t>California%</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EFEBE4"/>
                    </a:solidFill>
                  </a:tcPr>
                </a:tc>
                <a:tc>
                  <a:txBody>
                    <a:bodyPr/>
                    <a:lstStyle/>
                    <a:p>
                      <a:pPr algn="ctr"/>
                      <a:r>
                        <a:rPr lang="en-US" sz="1200" baseline="0" dirty="0" smtClean="0"/>
                        <a:t>-40</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EFEBE4"/>
                    </a:solidFill>
                  </a:tcPr>
                </a:tc>
                <a:tc>
                  <a:txBody>
                    <a:bodyPr/>
                    <a:lstStyle/>
                    <a:p>
                      <a:pPr algn="ctr"/>
                      <a:r>
                        <a:rPr lang="en-US" sz="1200" baseline="0" dirty="0" smtClean="0"/>
                        <a:t>100%</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EFEBE4"/>
                    </a:solidFill>
                  </a:tcPr>
                </a:tc>
                <a:tc>
                  <a:txBody>
                    <a:bodyPr/>
                    <a:lstStyle/>
                    <a:p>
                      <a:pPr algn="ctr"/>
                      <a:r>
                        <a:rPr lang="en-US" sz="1200" dirty="0" smtClean="0"/>
                        <a:t>61%</a:t>
                      </a:r>
                      <a:endParaRPr lang="en-US" sz="1200" dirty="0"/>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EFEBE4"/>
                    </a:solidFill>
                  </a:tcPr>
                </a:tc>
              </a:tr>
              <a:tr h="520094">
                <a:tc>
                  <a:txBody>
                    <a:bodyPr/>
                    <a:lstStyle/>
                    <a:p>
                      <a:pPr algn="ctr"/>
                      <a:r>
                        <a:rPr lang="en-US" sz="1200" b="1" dirty="0" smtClean="0">
                          <a:solidFill>
                            <a:srgbClr val="2E398A"/>
                          </a:solidFill>
                        </a:rPr>
                        <a:t>Occupancy Status</a:t>
                      </a:r>
                      <a:endParaRPr lang="en-US" sz="1200" b="1" dirty="0">
                        <a:solidFill>
                          <a:srgbClr val="2E398A"/>
                        </a:solidFill>
                      </a:endParaRP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sz="1200" dirty="0" smtClean="0"/>
                        <a:t>Investor%</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dirty="0" smtClean="0"/>
                        <a:t>35</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dirty="0" smtClean="0"/>
                        <a:t>100%</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dirty="0" smtClean="0"/>
                        <a:t>1%</a:t>
                      </a:r>
                      <a:endParaRPr lang="en-US" sz="1200" dirty="0"/>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520094">
                <a:tc>
                  <a:txBody>
                    <a:bodyPr/>
                    <a:lstStyle/>
                    <a:p>
                      <a:pPr algn="ctr"/>
                      <a:r>
                        <a:rPr lang="en-US" sz="1200" b="1" dirty="0" smtClean="0">
                          <a:solidFill>
                            <a:srgbClr val="2E398A"/>
                          </a:solidFill>
                        </a:rPr>
                        <a:t>Servicer</a:t>
                      </a:r>
                      <a:endParaRPr lang="en-US" sz="1200" b="1" dirty="0">
                        <a:solidFill>
                          <a:srgbClr val="2E398A"/>
                        </a:solidFill>
                      </a:endParaRP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tc>
                  <a:txBody>
                    <a:bodyPr/>
                    <a:lstStyle/>
                    <a:p>
                      <a:pPr algn="ctr"/>
                      <a:r>
                        <a:rPr lang="en-US" sz="1200" dirty="0" smtClean="0"/>
                        <a:t>Provident%</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200" dirty="0" smtClean="0"/>
                        <a:t>-15</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200" dirty="0" smtClean="0"/>
                        <a:t>125%</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200" dirty="0" smtClean="0"/>
                        <a:t>0%</a:t>
                      </a:r>
                      <a:endParaRPr lang="en-US" sz="1200" dirty="0"/>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r>
              <a:tr h="520094">
                <a:tc>
                  <a:txBody>
                    <a:bodyPr/>
                    <a:lstStyle/>
                    <a:p>
                      <a:pPr algn="ctr"/>
                      <a:r>
                        <a:rPr lang="en-US" sz="1200" b="1" dirty="0" smtClean="0">
                          <a:solidFill>
                            <a:srgbClr val="2E398A"/>
                          </a:solidFill>
                        </a:rPr>
                        <a:t>Primary/Vacation Home</a:t>
                      </a:r>
                      <a:endParaRPr lang="en-US" sz="1200" b="1" dirty="0">
                        <a:solidFill>
                          <a:srgbClr val="2E398A"/>
                        </a:solidFill>
                      </a:endParaRP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a:r>
                        <a:rPr lang="en-US" sz="1200" dirty="0" smtClean="0"/>
                        <a:t>2</a:t>
                      </a:r>
                      <a:r>
                        <a:rPr lang="en-US" sz="1200" baseline="30000" dirty="0" smtClean="0"/>
                        <a:t>nd</a:t>
                      </a:r>
                      <a:r>
                        <a:rPr lang="en-US" sz="1200" baseline="0" dirty="0" smtClean="0"/>
                        <a:t> Home</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dirty="0" smtClean="0"/>
                        <a:t>20</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dirty="0" smtClean="0"/>
                        <a:t>100%</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dirty="0" smtClean="0"/>
                        <a:t>1%</a:t>
                      </a:r>
                      <a:endParaRPr lang="en-US" sz="1200" dirty="0"/>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520094">
                <a:tc>
                  <a:txBody>
                    <a:bodyPr/>
                    <a:lstStyle/>
                    <a:p>
                      <a:pPr algn="ctr"/>
                      <a:r>
                        <a:rPr lang="en-US" sz="1200" b="1" baseline="0" dirty="0" smtClean="0">
                          <a:solidFill>
                            <a:srgbClr val="2E398A"/>
                          </a:solidFill>
                        </a:rPr>
                        <a:t>Loan Size</a:t>
                      </a:r>
                      <a:endParaRPr lang="en-US" sz="1200" b="1" dirty="0">
                        <a:solidFill>
                          <a:srgbClr val="2E398A"/>
                        </a:solidFill>
                      </a:endParaRP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chemeClr val="bg2"/>
                    </a:solidFill>
                  </a:tcPr>
                </a:tc>
                <a:tc>
                  <a:txBody>
                    <a:bodyPr/>
                    <a:lstStyle/>
                    <a:p>
                      <a:pPr algn="ctr"/>
                      <a:r>
                        <a:rPr lang="en-US" sz="1200" dirty="0" smtClean="0"/>
                        <a:t>Loan Size &gt; $625K</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200" dirty="0" smtClean="0"/>
                        <a:t>12</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200" dirty="0" smtClean="0"/>
                        <a:t>100%</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200" dirty="0" smtClean="0"/>
                        <a:t>15%</a:t>
                      </a:r>
                      <a:endParaRPr lang="en-US" sz="1200" dirty="0"/>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r>
            </a:tbl>
          </a:graphicData>
        </a:graphic>
      </p:graphicFrame>
    </p:spTree>
    <p:extLst>
      <p:ext uri="{BB962C8B-B14F-4D97-AF65-F5344CB8AC3E}">
        <p14:creationId xmlns:p14="http://schemas.microsoft.com/office/powerpoint/2010/main" val="9045758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EXAMPLE 1: MODELING PREPAYMENT BEHAVIOR</a:t>
            </a:r>
            <a:endParaRPr lang="en-US" sz="1200" b="0" dirty="0"/>
          </a:p>
        </p:txBody>
      </p:sp>
      <p:sp>
        <p:nvSpPr>
          <p:cNvPr id="3" name="TextBox 2"/>
          <p:cNvSpPr txBox="1"/>
          <p:nvPr/>
        </p:nvSpPr>
        <p:spPr>
          <a:xfrm>
            <a:off x="145657" y="1218129"/>
            <a:ext cx="2168665" cy="5924699"/>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The number of borrowers who are eligible to refinance at prevailing mortgage rates and underwriting standards is a critical determinant of the level of prepayment risk in the market. Once a critical threshold of borrowers is eligible, there is often a surge in prepayment rates due to media coverage of refinancing opportunities and solicitation of refinances by originators.</a:t>
            </a:r>
            <a:endParaRPr lang="en-US" sz="1200" dirty="0">
              <a:latin typeface="Calibri" panose="020F0502020204030204" pitchFamily="34" charset="0"/>
            </a:endParaRP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Cello calculates the </a:t>
            </a:r>
            <a:r>
              <a:rPr lang="en-US" sz="1200" dirty="0" err="1" smtClean="0">
                <a:latin typeface="Calibri" panose="020F0502020204030204" pitchFamily="34" charset="0"/>
              </a:rPr>
              <a:t>Refinanceable</a:t>
            </a:r>
            <a:r>
              <a:rPr lang="en-US" sz="1200" dirty="0" smtClean="0">
                <a:latin typeface="Calibri" panose="020F0502020204030204" pitchFamily="34" charset="0"/>
              </a:rPr>
              <a:t> Universe in a number of different ways. In particular, the loan-level </a:t>
            </a:r>
            <a:r>
              <a:rPr lang="en-US" sz="1200" dirty="0" err="1" smtClean="0">
                <a:latin typeface="Calibri" panose="020F0502020204030204" pitchFamily="34" charset="0"/>
              </a:rPr>
              <a:t>Refinanceable</a:t>
            </a:r>
            <a:r>
              <a:rPr lang="en-US" sz="1200" dirty="0" smtClean="0">
                <a:latin typeface="Calibri" panose="020F0502020204030204" pitchFamily="34" charset="0"/>
              </a:rPr>
              <a:t> Universe calculation explicitly takes into account loan-level pricing adjustments and PMI-related costs.</a:t>
            </a: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THE REFINANCEABLE UNIVERSE VS THE REFINANCE INDEX</a:t>
            </a:r>
          </a:p>
          <a:p>
            <a:pPr algn="ctr"/>
            <a:r>
              <a:rPr lang="en-US" sz="1300" dirty="0" smtClean="0">
                <a:solidFill>
                  <a:srgbClr val="FFFFFF"/>
                </a:solidFill>
              </a:rPr>
              <a:t>(January 2011 – December 2015)</a:t>
            </a:r>
          </a:p>
        </p:txBody>
      </p:sp>
      <p:graphicFrame>
        <p:nvGraphicFramePr>
          <p:cNvPr id="14" name="Chart 13"/>
          <p:cNvGraphicFramePr>
            <a:graphicFrameLocks/>
          </p:cNvGraphicFramePr>
          <p:nvPr>
            <p:extLst>
              <p:ext uri="{D42A27DB-BD31-4B8C-83A1-F6EECF244321}">
                <p14:modId xmlns:p14="http://schemas.microsoft.com/office/powerpoint/2010/main" val="2396140488"/>
              </p:ext>
            </p:extLst>
          </p:nvPr>
        </p:nvGraphicFramePr>
        <p:xfrm>
          <a:off x="2472699" y="2172970"/>
          <a:ext cx="6995151" cy="405638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9911514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EXAMPLE 2: GSE LOAN-LEVEL PREPAYMENT AND CREDIT MODEL</a:t>
            </a:r>
            <a:r>
              <a:rPr lang="en-US" sz="1600" dirty="0">
                <a:latin typeface="+mn-lt"/>
              </a:rPr>
              <a:t/>
            </a:r>
            <a:br>
              <a:rPr lang="en-US" sz="1600" dirty="0">
                <a:latin typeface="+mn-lt"/>
              </a:rPr>
            </a:br>
            <a:endParaRPr lang="en-US" sz="1600"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2380928111"/>
              </p:ext>
            </p:extLst>
          </p:nvPr>
        </p:nvGraphicFramePr>
        <p:xfrm>
          <a:off x="466725" y="2066925"/>
          <a:ext cx="1828800" cy="1943096"/>
        </p:xfrm>
        <a:graphic>
          <a:graphicData uri="http://schemas.openxmlformats.org/drawingml/2006/table">
            <a:tbl>
              <a:tblPr>
                <a:tableStyleId>{5C22544A-7EE6-4342-B048-85BDC9FD1C3A}</a:tableStyleId>
              </a:tblPr>
              <a:tblGrid>
                <a:gridCol w="609600"/>
                <a:gridCol w="609600"/>
                <a:gridCol w="609600"/>
              </a:tblGrid>
              <a:tr h="242887">
                <a:tc>
                  <a:txBody>
                    <a:bodyPr/>
                    <a:lstStyle/>
                    <a:p>
                      <a:pPr algn="ctr" fontAlgn="b"/>
                      <a:r>
                        <a:rPr lang="en-US" sz="1100" b="1" u="none" strike="noStrike" dirty="0">
                          <a:effectLst/>
                        </a:rPr>
                        <a:t>Status</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smtClean="0">
                          <a:effectLst/>
                        </a:rPr>
                        <a:t>Prob.</a:t>
                      </a:r>
                    </a:p>
                  </a:txBody>
                  <a:tcPr marL="9525" marR="9525" marT="9525" marB="0" anchor="b"/>
                </a:tc>
                <a:tc>
                  <a:txBody>
                    <a:bodyPr/>
                    <a:lstStyle/>
                    <a:p>
                      <a:pPr algn="ctr" fontAlgn="b"/>
                      <a:r>
                        <a:rPr lang="en-US" sz="1100" b="1" u="none" strike="noStrike" dirty="0" smtClean="0">
                          <a:effectLst/>
                        </a:rPr>
                        <a:t>Time DQ</a:t>
                      </a:r>
                    </a:p>
                  </a:txBody>
                  <a:tcPr marL="9525" marR="9525" marT="9525" marB="0" anchor="b"/>
                </a:tc>
              </a:tr>
              <a:tr h="242887">
                <a:tc>
                  <a:txBody>
                    <a:bodyPr/>
                    <a:lstStyle/>
                    <a:p>
                      <a:pPr algn="ctr" fontAlgn="b"/>
                      <a:r>
                        <a:rPr lang="en-US" sz="1100" b="1" u="none" strike="noStrike" dirty="0">
                          <a:effectLst/>
                        </a:rPr>
                        <a:t>AC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ED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LD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FC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REO</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X</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bl>
          </a:graphicData>
        </a:graphic>
      </p:graphicFrame>
      <p:sp>
        <p:nvSpPr>
          <p:cNvPr id="7" name="TextBox 6"/>
          <p:cNvSpPr txBox="1"/>
          <p:nvPr/>
        </p:nvSpPr>
        <p:spPr>
          <a:xfrm>
            <a:off x="1228724" y="1608460"/>
            <a:ext cx="885825" cy="461665"/>
          </a:xfrm>
          <a:prstGeom prst="rect">
            <a:avLst/>
          </a:prstGeom>
          <a:noFill/>
        </p:spPr>
        <p:txBody>
          <a:bodyPr wrap="square" rtlCol="0">
            <a:spAutoFit/>
          </a:bodyPr>
          <a:lstStyle/>
          <a:p>
            <a:pPr algn="ctr"/>
            <a:r>
              <a:rPr lang="en-US" sz="1200" dirty="0" smtClean="0">
                <a:latin typeface="+mn-lt"/>
              </a:rPr>
              <a:t>Starting Time (t=0)</a:t>
            </a:r>
            <a:endParaRPr lang="en-US" sz="1200" dirty="0">
              <a:latin typeface="+mn-lt"/>
            </a:endParaRPr>
          </a:p>
        </p:txBody>
      </p:sp>
      <p:graphicFrame>
        <p:nvGraphicFramePr>
          <p:cNvPr id="8" name="Table 7"/>
          <p:cNvGraphicFramePr>
            <a:graphicFrameLocks noGrp="1"/>
          </p:cNvGraphicFramePr>
          <p:nvPr>
            <p:extLst>
              <p:ext uri="{D42A27DB-BD31-4B8C-83A1-F6EECF244321}">
                <p14:modId xmlns:p14="http://schemas.microsoft.com/office/powerpoint/2010/main" val="3083763015"/>
              </p:ext>
            </p:extLst>
          </p:nvPr>
        </p:nvGraphicFramePr>
        <p:xfrm>
          <a:off x="2885187" y="2066925"/>
          <a:ext cx="4267200" cy="1943096"/>
        </p:xfrm>
        <a:graphic>
          <a:graphicData uri="http://schemas.openxmlformats.org/drawingml/2006/table">
            <a:tbl>
              <a:tblPr>
                <a:tableStyleId>{5C22544A-7EE6-4342-B048-85BDC9FD1C3A}</a:tableStyleId>
              </a:tblPr>
              <a:tblGrid>
                <a:gridCol w="609600"/>
                <a:gridCol w="609600"/>
                <a:gridCol w="609600"/>
                <a:gridCol w="609600"/>
                <a:gridCol w="609600"/>
                <a:gridCol w="609600"/>
                <a:gridCol w="609600"/>
              </a:tblGrid>
              <a:tr h="242887">
                <a:tc>
                  <a:txBody>
                    <a:bodyPr/>
                    <a:lstStyle/>
                    <a:p>
                      <a:pPr algn="ctr" fontAlgn="b"/>
                      <a:r>
                        <a:rPr lang="en-US" sz="1100" b="1" u="none" strike="noStrike" dirty="0">
                          <a:effectLst/>
                        </a:rPr>
                        <a:t>AC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ED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LD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FC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REO</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X</a:t>
                      </a:r>
                      <a:endParaRPr lang="en-US" sz="1100" b="1"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95%</a:t>
                      </a:r>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5%</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91%</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7%</a:t>
                      </a:r>
                      <a:endParaRPr lang="en-US" sz="1100" b="1" i="0" u="none" strike="noStrike" dirty="0">
                        <a:solidFill>
                          <a:srgbClr val="000000"/>
                        </a:solidFill>
                        <a:effectLst/>
                        <a:latin typeface="Calibri"/>
                      </a:endParaRPr>
                    </a:p>
                  </a:txBody>
                  <a:tcPr marL="9525" marR="9525" marT="9525" marB="0" anchor="b"/>
                </a:tc>
                <a:tc>
                  <a:txBody>
                    <a:bodyPr/>
                    <a:lstStyle/>
                    <a:p>
                      <a:pPr algn="ctr" fontAlgn="b"/>
                      <a:endParaRPr lang="en-US" sz="1100" b="1" i="0" u="none" strike="noStrike" dirty="0">
                        <a:solidFill>
                          <a:srgbClr val="000000"/>
                        </a:solidFill>
                        <a:effectLst/>
                        <a:latin typeface="Calibri"/>
                      </a:endParaRPr>
                    </a:p>
                  </a:txBody>
                  <a:tcPr marL="9525" marR="9525" marT="9525" marB="0" anchor="b"/>
                </a:tc>
                <a:tc>
                  <a:txBody>
                    <a:bodyPr/>
                    <a:lstStyle/>
                    <a:p>
                      <a:pPr algn="ctr" fontAlgn="b"/>
                      <a:endParaRPr lang="en-US" sz="1100" b="1" i="0" u="none" strike="noStrike" dirty="0">
                        <a:solidFill>
                          <a:srgbClr val="000000"/>
                        </a:solidFill>
                        <a:effectLst/>
                        <a:latin typeface="Calibri"/>
                      </a:endParaRPr>
                    </a:p>
                  </a:txBody>
                  <a:tcPr marL="9525" marR="9525" marT="9525" marB="0" anchor="b"/>
                </a:tc>
                <a:tc>
                  <a:txBody>
                    <a:bodyPr/>
                    <a:lstStyle/>
                    <a:p>
                      <a:pPr algn="ctr" fontAlgn="b"/>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2%</a:t>
                      </a:r>
                      <a:endParaRPr lang="en-US" sz="1100" b="1" i="0" u="none" strike="noStrike" dirty="0">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49%</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36%</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13%</a:t>
                      </a:r>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11%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14%</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67%</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6%</a:t>
                      </a:r>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92%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89%</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11%</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100%</a:t>
                      </a:r>
                      <a:endParaRPr lang="en-US" sz="1100" b="0" i="0" u="none" strike="noStrike" dirty="0">
                        <a:solidFill>
                          <a:srgbClr val="000000"/>
                        </a:solidFill>
                        <a:effectLst/>
                        <a:latin typeface="Calibri"/>
                      </a:endParaRPr>
                    </a:p>
                  </a:txBody>
                  <a:tcPr marL="9525" marR="9525" marT="9525" marB="0" anchor="b"/>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005865064"/>
              </p:ext>
            </p:extLst>
          </p:nvPr>
        </p:nvGraphicFramePr>
        <p:xfrm>
          <a:off x="7648575" y="2066925"/>
          <a:ext cx="1219200" cy="1943096"/>
        </p:xfrm>
        <a:graphic>
          <a:graphicData uri="http://schemas.openxmlformats.org/drawingml/2006/table">
            <a:tbl>
              <a:tblPr>
                <a:tableStyleId>{5C22544A-7EE6-4342-B048-85BDC9FD1C3A}</a:tableStyleId>
              </a:tblPr>
              <a:tblGrid>
                <a:gridCol w="609600"/>
                <a:gridCol w="609600"/>
              </a:tblGrid>
              <a:tr h="242887">
                <a:tc>
                  <a:txBody>
                    <a:bodyPr/>
                    <a:lstStyle/>
                    <a:p>
                      <a:pPr algn="ctr" fontAlgn="b"/>
                      <a:r>
                        <a:rPr lang="en-US" sz="1100" b="1" u="none" strike="noStrike" dirty="0" smtClean="0">
                          <a:effectLst/>
                        </a:rPr>
                        <a:t>Prob.</a:t>
                      </a:r>
                    </a:p>
                  </a:txBody>
                  <a:tcPr marL="9525" marR="9525" marT="9525" marB="0" anchor="b"/>
                </a:tc>
                <a:tc>
                  <a:txBody>
                    <a:bodyPr/>
                    <a:lstStyle/>
                    <a:p>
                      <a:pPr algn="ctr" fontAlgn="b"/>
                      <a:r>
                        <a:rPr lang="en-US" sz="1100" b="1" u="none" strike="noStrike" dirty="0" smtClean="0">
                          <a:effectLst/>
                        </a:rPr>
                        <a:t>Time DQ</a:t>
                      </a:r>
                    </a:p>
                  </a:txBody>
                  <a:tcPr marL="9525" marR="9525" marT="9525" marB="0" anchor="b"/>
                </a:tc>
              </a:tr>
              <a:tr h="242887">
                <a:tc>
                  <a:txBody>
                    <a:bodyPr/>
                    <a:lstStyle/>
                    <a:p>
                      <a:pPr algn="ctr" fontAlgn="ctr"/>
                      <a:r>
                        <a:rPr lang="en-US" sz="1000" u="none" strike="noStrike" dirty="0">
                          <a:effectLst/>
                        </a:rPr>
                        <a:t>0%</a:t>
                      </a:r>
                      <a:endParaRPr lang="en-US" sz="1000" b="0" i="0" u="none" strike="noStrike" dirty="0">
                        <a:solidFill>
                          <a:srgbClr val="000000"/>
                        </a:solidFill>
                        <a:effectLst/>
                        <a:latin typeface="Lucida Console"/>
                      </a:endParaRPr>
                    </a:p>
                  </a:txBody>
                  <a:tcPr marL="9525" marR="9525" marT="9525" marB="0" anchor="ctr"/>
                </a:tc>
                <a:tc>
                  <a:txBody>
                    <a:bodyPr/>
                    <a:lstStyle/>
                    <a:p>
                      <a:pPr algn="ctr" fontAlgn="ctr"/>
                      <a:r>
                        <a:rPr lang="en-US" sz="1000" u="none" strike="noStrike" smtClean="0">
                          <a:effectLst/>
                        </a:rPr>
                        <a:t>0</a:t>
                      </a:r>
                      <a:endParaRPr lang="en-US" sz="1000" b="0" i="0" u="none" strike="noStrike" dirty="0">
                        <a:solidFill>
                          <a:srgbClr val="000000"/>
                        </a:solidFill>
                        <a:effectLst/>
                        <a:latin typeface="Lucida Console"/>
                      </a:endParaRPr>
                    </a:p>
                  </a:txBody>
                  <a:tcPr marL="9525" marR="9525" marT="9525" marB="0" anchor="ctr"/>
                </a:tc>
              </a:tr>
              <a:tr h="242887">
                <a:tc>
                  <a:txBody>
                    <a:bodyPr/>
                    <a:lstStyle/>
                    <a:p>
                      <a:pPr algn="ctr" fontAlgn="b"/>
                      <a:r>
                        <a:rPr lang="en-US" sz="1100" u="none" strike="noStrike">
                          <a:effectLst/>
                        </a:rPr>
                        <a:t>91%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smtClean="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7%</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smtClean="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smtClean="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smtClean="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smtClean="0">
                          <a:effectLst/>
                        </a:rPr>
                        <a:t>0</a:t>
                      </a:r>
                      <a:endParaRPr lang="en-US" sz="1100" b="0" i="0" u="none" strike="noStrike" dirty="0">
                        <a:solidFill>
                          <a:srgbClr val="000000"/>
                        </a:solidFill>
                        <a:effectLst/>
                        <a:latin typeface="Calibri"/>
                      </a:endParaRPr>
                    </a:p>
                  </a:txBody>
                  <a:tcPr marL="9525" marR="9525" marT="9525" marB="0" anchor="b"/>
                </a:tc>
              </a:tr>
            </a:tbl>
          </a:graphicData>
        </a:graphic>
      </p:graphicFrame>
      <p:sp>
        <p:nvSpPr>
          <p:cNvPr id="16" name="TextBox 15"/>
          <p:cNvSpPr txBox="1"/>
          <p:nvPr/>
        </p:nvSpPr>
        <p:spPr>
          <a:xfrm>
            <a:off x="7958136" y="1739342"/>
            <a:ext cx="752475" cy="276999"/>
          </a:xfrm>
          <a:prstGeom prst="rect">
            <a:avLst/>
          </a:prstGeom>
          <a:noFill/>
        </p:spPr>
        <p:txBody>
          <a:bodyPr wrap="square" rtlCol="0">
            <a:spAutoFit/>
          </a:bodyPr>
          <a:lstStyle/>
          <a:p>
            <a:pPr algn="ctr"/>
            <a:r>
              <a:rPr lang="en-US" sz="1200" dirty="0">
                <a:latin typeface="+mn-lt"/>
              </a:rPr>
              <a:t>t</a:t>
            </a:r>
            <a:r>
              <a:rPr lang="en-US" sz="1200" dirty="0" smtClean="0">
                <a:latin typeface="+mn-lt"/>
              </a:rPr>
              <a:t>=1</a:t>
            </a:r>
            <a:endParaRPr lang="en-US" sz="1200" dirty="0">
              <a:latin typeface="+mn-lt"/>
            </a:endParaRPr>
          </a:p>
        </p:txBody>
      </p:sp>
      <p:sp>
        <p:nvSpPr>
          <p:cNvPr id="18" name="TextBox 17"/>
          <p:cNvSpPr txBox="1"/>
          <p:nvPr/>
        </p:nvSpPr>
        <p:spPr>
          <a:xfrm>
            <a:off x="3857625" y="1662397"/>
            <a:ext cx="1990725" cy="307777"/>
          </a:xfrm>
          <a:prstGeom prst="rect">
            <a:avLst/>
          </a:prstGeom>
          <a:noFill/>
        </p:spPr>
        <p:txBody>
          <a:bodyPr wrap="square" rtlCol="0">
            <a:spAutoFit/>
          </a:bodyPr>
          <a:lstStyle/>
          <a:p>
            <a:pPr algn="ctr"/>
            <a:r>
              <a:rPr lang="en-US" sz="1400" dirty="0" smtClean="0">
                <a:latin typeface="+mn-lt"/>
              </a:rPr>
              <a:t>Transition Matrix</a:t>
            </a:r>
            <a:endParaRPr lang="en-US" sz="1400" dirty="0">
              <a:latin typeface="+mn-lt"/>
            </a:endParaRPr>
          </a:p>
        </p:txBody>
      </p:sp>
      <p:sp>
        <p:nvSpPr>
          <p:cNvPr id="19" name="Rectangle 1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 name="Straight Connector 19"/>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987399" y="1152644"/>
            <a:ext cx="4413275" cy="307777"/>
          </a:xfrm>
          <a:prstGeom prst="rect">
            <a:avLst/>
          </a:prstGeom>
          <a:noFill/>
        </p:spPr>
        <p:txBody>
          <a:bodyPr wrap="square" rtlCol="0">
            <a:spAutoFit/>
          </a:bodyPr>
          <a:lstStyle/>
          <a:p>
            <a:r>
              <a:rPr lang="en-US" sz="1400" dirty="0" smtClean="0">
                <a:latin typeface="+mn-lt"/>
              </a:rPr>
              <a:t>Stylized Single Loan Calculation</a:t>
            </a:r>
            <a:endParaRPr lang="en-US" sz="1400" dirty="0">
              <a:latin typeface="+mn-lt"/>
            </a:endParaRPr>
          </a:p>
        </p:txBody>
      </p:sp>
      <p:graphicFrame>
        <p:nvGraphicFramePr>
          <p:cNvPr id="22" name="Table 21"/>
          <p:cNvGraphicFramePr>
            <a:graphicFrameLocks noGrp="1"/>
          </p:cNvGraphicFramePr>
          <p:nvPr>
            <p:extLst>
              <p:ext uri="{D42A27DB-BD31-4B8C-83A1-F6EECF244321}">
                <p14:modId xmlns:p14="http://schemas.microsoft.com/office/powerpoint/2010/main" val="2856062475"/>
              </p:ext>
            </p:extLst>
          </p:nvPr>
        </p:nvGraphicFramePr>
        <p:xfrm>
          <a:off x="2885187" y="4505325"/>
          <a:ext cx="1810638" cy="1943096"/>
        </p:xfrm>
        <a:graphic>
          <a:graphicData uri="http://schemas.openxmlformats.org/drawingml/2006/table">
            <a:tbl>
              <a:tblPr>
                <a:tableStyleId>{5C22544A-7EE6-4342-B048-85BDC9FD1C3A}</a:tableStyleId>
              </a:tblPr>
              <a:tblGrid>
                <a:gridCol w="630987"/>
                <a:gridCol w="630987"/>
                <a:gridCol w="548664"/>
              </a:tblGrid>
              <a:tr h="242887">
                <a:tc>
                  <a:txBody>
                    <a:bodyPr/>
                    <a:lstStyle/>
                    <a:p>
                      <a:pPr algn="ctr" fontAlgn="b"/>
                      <a:r>
                        <a:rPr lang="en-US" sz="1100" b="1" u="none" strike="noStrike" dirty="0">
                          <a:effectLst/>
                        </a:rPr>
                        <a:t>Status</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smtClean="0">
                          <a:effectLst/>
                        </a:rPr>
                        <a:t>Prob.</a:t>
                      </a:r>
                    </a:p>
                  </a:txBody>
                  <a:tcPr marL="9525" marR="9525" marT="9525" marB="0" anchor="b"/>
                </a:tc>
                <a:tc>
                  <a:txBody>
                    <a:bodyPr/>
                    <a:lstStyle/>
                    <a:p>
                      <a:pPr algn="ctr" fontAlgn="b"/>
                      <a:r>
                        <a:rPr lang="en-US" sz="1100" b="1" u="none" strike="noStrike" dirty="0" smtClean="0">
                          <a:effectLst/>
                        </a:rPr>
                        <a:t>Time DQ</a:t>
                      </a:r>
                    </a:p>
                  </a:txBody>
                  <a:tcPr marL="9525" marR="9525" marT="9525" marB="0" anchor="b"/>
                </a:tc>
              </a:tr>
              <a:tr h="242887">
                <a:tc>
                  <a:txBody>
                    <a:bodyPr/>
                    <a:lstStyle/>
                    <a:p>
                      <a:pPr algn="ctr" fontAlgn="b"/>
                      <a:r>
                        <a:rPr lang="en-US" sz="1100" b="1" u="none" strike="noStrike" dirty="0">
                          <a:effectLst/>
                        </a:rPr>
                        <a:t>AC</a:t>
                      </a:r>
                      <a:endParaRPr lang="en-US" sz="1100" b="1" i="0" u="none" strike="noStrike" dirty="0">
                        <a:solidFill>
                          <a:srgbClr val="000000"/>
                        </a:solidFill>
                        <a:effectLst/>
                        <a:latin typeface="Calibri"/>
                      </a:endParaRPr>
                    </a:p>
                  </a:txBody>
                  <a:tcPr marL="9525" marR="9525" marT="9525" marB="0" anchor="b"/>
                </a:tc>
                <a:tc>
                  <a:txBody>
                    <a:bodyPr/>
                    <a:lstStyle/>
                    <a:p>
                      <a:pPr algn="ctr" fontAlgn="ctr"/>
                      <a:r>
                        <a:rPr lang="en-US" sz="1000" u="none" strike="noStrike" dirty="0">
                          <a:effectLst/>
                        </a:rPr>
                        <a:t>0%</a:t>
                      </a:r>
                      <a:endParaRPr lang="en-US" sz="1000" b="0" i="0" u="none" strike="noStrike" dirty="0">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0.00</a:t>
                      </a:r>
                      <a:endParaRPr lang="en-US" sz="1000" b="0" i="0" u="none" strike="noStrike">
                        <a:solidFill>
                          <a:srgbClr val="000000"/>
                        </a:solidFill>
                        <a:effectLst/>
                        <a:latin typeface="Lucida Console"/>
                      </a:endParaRPr>
                    </a:p>
                  </a:txBody>
                  <a:tcPr marL="9525" marR="9525" marT="9525" marB="0" anchor="ctr"/>
                </a:tc>
              </a:tr>
              <a:tr h="242887">
                <a:tc>
                  <a:txBody>
                    <a:bodyPr/>
                    <a:lstStyle/>
                    <a:p>
                      <a:pPr algn="ctr" fontAlgn="b"/>
                      <a:r>
                        <a:rPr lang="en-US" sz="1100" b="1" u="none" strike="noStrike" dirty="0">
                          <a:effectLst/>
                        </a:rPr>
                        <a:t>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86%</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ED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9%</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1.28</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LD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2.00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FC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REO</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X</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4%</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bl>
          </a:graphicData>
        </a:graphic>
      </p:graphicFrame>
      <p:sp>
        <p:nvSpPr>
          <p:cNvPr id="23" name="TextBox 22"/>
          <p:cNvSpPr txBox="1"/>
          <p:nvPr/>
        </p:nvSpPr>
        <p:spPr>
          <a:xfrm>
            <a:off x="3499142" y="4185033"/>
            <a:ext cx="752475" cy="276999"/>
          </a:xfrm>
          <a:prstGeom prst="rect">
            <a:avLst/>
          </a:prstGeom>
          <a:noFill/>
        </p:spPr>
        <p:txBody>
          <a:bodyPr wrap="square" rtlCol="0">
            <a:spAutoFit/>
          </a:bodyPr>
          <a:lstStyle/>
          <a:p>
            <a:pPr algn="ctr"/>
            <a:r>
              <a:rPr lang="en-US" sz="1200" dirty="0">
                <a:latin typeface="+mn-lt"/>
              </a:rPr>
              <a:t>t</a:t>
            </a:r>
            <a:r>
              <a:rPr lang="en-US" sz="1200" dirty="0" smtClean="0">
                <a:latin typeface="+mn-lt"/>
              </a:rPr>
              <a:t>=2</a:t>
            </a:r>
            <a:endParaRPr lang="en-US" sz="1200" dirty="0">
              <a:latin typeface="+mn-lt"/>
            </a:endParaRPr>
          </a:p>
        </p:txBody>
      </p:sp>
      <p:graphicFrame>
        <p:nvGraphicFramePr>
          <p:cNvPr id="24" name="Table 23"/>
          <p:cNvGraphicFramePr>
            <a:graphicFrameLocks noGrp="1"/>
          </p:cNvGraphicFramePr>
          <p:nvPr>
            <p:extLst>
              <p:ext uri="{D42A27DB-BD31-4B8C-83A1-F6EECF244321}">
                <p14:modId xmlns:p14="http://schemas.microsoft.com/office/powerpoint/2010/main" val="2889167276"/>
              </p:ext>
            </p:extLst>
          </p:nvPr>
        </p:nvGraphicFramePr>
        <p:xfrm>
          <a:off x="5724525" y="4505325"/>
          <a:ext cx="609600" cy="1943096"/>
        </p:xfrm>
        <a:graphic>
          <a:graphicData uri="http://schemas.openxmlformats.org/drawingml/2006/table">
            <a:tbl>
              <a:tblPr>
                <a:tableStyleId>{5C22544A-7EE6-4342-B048-85BDC9FD1C3A}</a:tableStyleId>
              </a:tblPr>
              <a:tblGrid>
                <a:gridCol w="609600"/>
              </a:tblGrid>
              <a:tr h="242887">
                <a:tc>
                  <a:txBody>
                    <a:bodyPr/>
                    <a:lstStyle/>
                    <a:p>
                      <a:pPr algn="ctr" fontAlgn="b"/>
                      <a:r>
                        <a:rPr lang="en-US" sz="1100" b="1" u="none" strike="noStrike" dirty="0" smtClean="0">
                          <a:effectLst/>
                        </a:rPr>
                        <a:t>Time DQ</a:t>
                      </a:r>
                    </a:p>
                  </a:txBody>
                  <a:tcPr marL="9525" marR="9525" marT="9525" marB="0" anchor="b"/>
                </a:tc>
              </a:tr>
              <a:tr h="242887">
                <a:tc>
                  <a:txBody>
                    <a:bodyPr/>
                    <a:lstStyle/>
                    <a:p>
                      <a:pPr algn="r" fontAlgn="ctr"/>
                      <a:r>
                        <a:rPr lang="en-US" sz="1000" u="none" strike="noStrike">
                          <a:effectLst/>
                        </a:rPr>
                        <a:t>0.00</a:t>
                      </a:r>
                      <a:endParaRPr lang="en-US" sz="1000" b="0" i="0" u="none" strike="noStrike">
                        <a:solidFill>
                          <a:srgbClr val="000000"/>
                        </a:solidFill>
                        <a:effectLst/>
                        <a:latin typeface="Lucida Console"/>
                      </a:endParaRPr>
                    </a:p>
                  </a:txBody>
                  <a:tcPr marL="9525" marR="9525" marT="9525" marB="0" anchor="ctr"/>
                </a:tc>
              </a:tr>
              <a:tr h="242887">
                <a:tc>
                  <a:txBody>
                    <a:bodyPr/>
                    <a:lstStyle/>
                    <a:p>
                      <a:pPr algn="r" fontAlgn="b"/>
                      <a:r>
                        <a:rPr lang="en-US" sz="1100" u="none" strike="noStrike">
                          <a:effectLst/>
                        </a:rPr>
                        <a:t>0.00</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a:effectLst/>
                        </a:rPr>
                        <a:t>1.47</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a:effectLst/>
                        </a:rPr>
                        <a:t>2.53</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a:effectLst/>
                        </a:rPr>
                        <a:t>3.00</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a:effectLst/>
                        </a:rPr>
                        <a:t>3.00</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bl>
          </a:graphicData>
        </a:graphic>
      </p:graphicFrame>
      <p:sp>
        <p:nvSpPr>
          <p:cNvPr id="25" name="TextBox 24"/>
          <p:cNvSpPr txBox="1"/>
          <p:nvPr/>
        </p:nvSpPr>
        <p:spPr>
          <a:xfrm>
            <a:off x="5695950" y="4185032"/>
            <a:ext cx="752475" cy="276999"/>
          </a:xfrm>
          <a:prstGeom prst="rect">
            <a:avLst/>
          </a:prstGeom>
          <a:noFill/>
        </p:spPr>
        <p:txBody>
          <a:bodyPr wrap="square" rtlCol="0">
            <a:spAutoFit/>
          </a:bodyPr>
          <a:lstStyle/>
          <a:p>
            <a:pPr algn="ctr"/>
            <a:r>
              <a:rPr lang="en-US" sz="1200" dirty="0">
                <a:latin typeface="+mn-lt"/>
              </a:rPr>
              <a:t>t</a:t>
            </a:r>
            <a:r>
              <a:rPr lang="en-US" sz="1200" dirty="0" smtClean="0">
                <a:latin typeface="+mn-lt"/>
              </a:rPr>
              <a:t>=3</a:t>
            </a:r>
            <a:endParaRPr lang="en-US" sz="1200" dirty="0">
              <a:latin typeface="+mn-lt"/>
            </a:endParaRPr>
          </a:p>
        </p:txBody>
      </p:sp>
      <p:sp>
        <p:nvSpPr>
          <p:cNvPr id="26" name="Multiply 25"/>
          <p:cNvSpPr/>
          <p:nvPr/>
        </p:nvSpPr>
        <p:spPr>
          <a:xfrm>
            <a:off x="2476500" y="2857500"/>
            <a:ext cx="247650" cy="304800"/>
          </a:xfrm>
          <a:prstGeom prst="mathMultiply">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Equal 26"/>
          <p:cNvSpPr/>
          <p:nvPr/>
        </p:nvSpPr>
        <p:spPr>
          <a:xfrm>
            <a:off x="7230692" y="2847975"/>
            <a:ext cx="313715" cy="304800"/>
          </a:xfrm>
          <a:prstGeom prst="mathEqual">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Rectangle 27"/>
          <p:cNvSpPr/>
          <p:nvPr/>
        </p:nvSpPr>
        <p:spPr>
          <a:xfrm>
            <a:off x="2809875" y="5457825"/>
            <a:ext cx="3638550" cy="5048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Arrow 28"/>
          <p:cNvSpPr/>
          <p:nvPr/>
        </p:nvSpPr>
        <p:spPr>
          <a:xfrm>
            <a:off x="6829425" y="5543549"/>
            <a:ext cx="238125" cy="33337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7387549" y="5372100"/>
            <a:ext cx="1647218" cy="584775"/>
          </a:xfrm>
          <a:prstGeom prst="rect">
            <a:avLst/>
          </a:prstGeom>
          <a:noFill/>
        </p:spPr>
        <p:txBody>
          <a:bodyPr wrap="square" rtlCol="0">
            <a:spAutoFit/>
          </a:bodyPr>
          <a:lstStyle/>
          <a:p>
            <a:r>
              <a:rPr lang="en-US" sz="1600" dirty="0" smtClean="0">
                <a:latin typeface="+mn-lt"/>
              </a:rPr>
              <a:t>Input for FC Loss Severity Model</a:t>
            </a:r>
            <a:endParaRPr lang="en-US" sz="1600" dirty="0">
              <a:latin typeface="+mn-lt"/>
            </a:endParaRPr>
          </a:p>
        </p:txBody>
      </p:sp>
      <p:sp>
        <p:nvSpPr>
          <p:cNvPr id="31" name="Rectangle 30"/>
          <p:cNvSpPr/>
          <p:nvPr/>
        </p:nvSpPr>
        <p:spPr>
          <a:xfrm>
            <a:off x="2809875" y="5981700"/>
            <a:ext cx="3638550" cy="247650"/>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ight Arrow 31"/>
          <p:cNvSpPr/>
          <p:nvPr/>
        </p:nvSpPr>
        <p:spPr>
          <a:xfrm>
            <a:off x="6829425" y="5972174"/>
            <a:ext cx="238125" cy="333375"/>
          </a:xfrm>
          <a:prstGeom prst="rightArrow">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7387549" y="5981700"/>
            <a:ext cx="2166026" cy="584775"/>
          </a:xfrm>
          <a:prstGeom prst="rect">
            <a:avLst/>
          </a:prstGeom>
          <a:noFill/>
        </p:spPr>
        <p:txBody>
          <a:bodyPr wrap="square" rtlCol="0">
            <a:spAutoFit/>
          </a:bodyPr>
          <a:lstStyle/>
          <a:p>
            <a:r>
              <a:rPr lang="en-US" sz="1600" dirty="0" smtClean="0">
                <a:latin typeface="+mn-lt"/>
              </a:rPr>
              <a:t>Input for REO Loss Severity Model</a:t>
            </a:r>
            <a:endParaRPr lang="en-US" sz="1600" dirty="0">
              <a:latin typeface="+mn-lt"/>
            </a:endParaRPr>
          </a:p>
        </p:txBody>
      </p:sp>
    </p:spTree>
    <p:extLst>
      <p:ext uri="{BB962C8B-B14F-4D97-AF65-F5344CB8AC3E}">
        <p14:creationId xmlns:p14="http://schemas.microsoft.com/office/powerpoint/2010/main" val="374953294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EXAMPLE 3: MODELING MORTGAGE CREDIT AVAILABILITY</a:t>
            </a:r>
            <a:endParaRPr lang="en-US" sz="1200" b="0" dirty="0"/>
          </a:p>
        </p:txBody>
      </p:sp>
      <p:sp>
        <p:nvSpPr>
          <p:cNvPr id="3" name="TextBox 2"/>
          <p:cNvSpPr txBox="1"/>
          <p:nvPr/>
        </p:nvSpPr>
        <p:spPr>
          <a:xfrm>
            <a:off x="145657" y="1218129"/>
            <a:ext cx="2168665" cy="6140142"/>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Cello’s Mortgage Credit Availability Index (MCAI) assumes that the market increases/decreases credit availability by taking on more/less mortgage default risk.</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fundamental advantage of following this method it that it provides a single comprehensive measure at any point in time that aggregates across the different risk factors that are taken into account in the typical underwriting process (FICO, LTV, DTI, etc.).</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expected default rate is a weighted average of the defaults projected over a “normal” and “stressed” environment.</a:t>
            </a:r>
            <a:endParaRPr lang="en-US" sz="1400" dirty="0"/>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CONSTRUCTING CELLO’S MORTGAGE CREDIT AVAILABILITY INDEX</a:t>
            </a:r>
          </a:p>
        </p:txBody>
      </p:sp>
      <p:sp>
        <p:nvSpPr>
          <p:cNvPr id="13" name="Cube 12"/>
          <p:cNvSpPr/>
          <p:nvPr/>
        </p:nvSpPr>
        <p:spPr>
          <a:xfrm>
            <a:off x="2472699" y="3414170"/>
            <a:ext cx="985774" cy="1103984"/>
          </a:xfrm>
          <a:prstGeom prst="cube">
            <a:avLst>
              <a:gd name="adj" fmla="val 1973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Loan Level</a:t>
            </a:r>
          </a:p>
          <a:p>
            <a:pPr algn="ctr"/>
            <a:r>
              <a:rPr lang="en-US" sz="1050" dirty="0" smtClean="0"/>
              <a:t>DB</a:t>
            </a:r>
            <a:endParaRPr lang="en-US" sz="1050" dirty="0"/>
          </a:p>
        </p:txBody>
      </p:sp>
      <p:sp>
        <p:nvSpPr>
          <p:cNvPr id="14" name="Rectangle 13"/>
          <p:cNvSpPr/>
          <p:nvPr/>
        </p:nvSpPr>
        <p:spPr>
          <a:xfrm>
            <a:off x="2409725" y="4702050"/>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All closed-end residential mortgage loans</a:t>
            </a:r>
          </a:p>
        </p:txBody>
      </p:sp>
      <p:sp>
        <p:nvSpPr>
          <p:cNvPr id="16" name="Right Arrow 15"/>
          <p:cNvSpPr/>
          <p:nvPr/>
        </p:nvSpPr>
        <p:spPr>
          <a:xfrm>
            <a:off x="3519539" y="3804943"/>
            <a:ext cx="680228" cy="389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smtClean="0"/>
              <a:t>Monthly</a:t>
            </a:r>
            <a:endParaRPr lang="en-US" sz="900" dirty="0"/>
          </a:p>
        </p:txBody>
      </p:sp>
      <p:grpSp>
        <p:nvGrpSpPr>
          <p:cNvPr id="19" name="Group 18"/>
          <p:cNvGrpSpPr/>
          <p:nvPr/>
        </p:nvGrpSpPr>
        <p:grpSpPr>
          <a:xfrm>
            <a:off x="4306799" y="3472381"/>
            <a:ext cx="1319841" cy="1159843"/>
            <a:chOff x="2809875" y="1857375"/>
            <a:chExt cx="1333500" cy="1466850"/>
          </a:xfrm>
        </p:grpSpPr>
        <p:sp>
          <p:nvSpPr>
            <p:cNvPr id="20" name="Rectangle 19"/>
            <p:cNvSpPr/>
            <p:nvPr/>
          </p:nvSpPr>
          <p:spPr>
            <a:xfrm>
              <a:off x="2809875" y="1857375"/>
              <a:ext cx="876300" cy="10096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100"/>
            </a:p>
          </p:txBody>
        </p:sp>
        <p:sp>
          <p:nvSpPr>
            <p:cNvPr id="21" name="Rectangle 20"/>
            <p:cNvSpPr/>
            <p:nvPr/>
          </p:nvSpPr>
          <p:spPr>
            <a:xfrm>
              <a:off x="2962275" y="2009775"/>
              <a:ext cx="876300" cy="10096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100"/>
            </a:p>
          </p:txBody>
        </p:sp>
        <p:sp>
          <p:nvSpPr>
            <p:cNvPr id="22" name="Rectangle 21"/>
            <p:cNvSpPr/>
            <p:nvPr/>
          </p:nvSpPr>
          <p:spPr>
            <a:xfrm>
              <a:off x="3114675" y="2162175"/>
              <a:ext cx="876300" cy="10096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100"/>
            </a:p>
          </p:txBody>
        </p:sp>
        <p:sp>
          <p:nvSpPr>
            <p:cNvPr id="23" name="Rectangle 22"/>
            <p:cNvSpPr/>
            <p:nvPr/>
          </p:nvSpPr>
          <p:spPr>
            <a:xfrm>
              <a:off x="3267075" y="2314575"/>
              <a:ext cx="876300" cy="10096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Monthly</a:t>
              </a:r>
            </a:p>
            <a:p>
              <a:pPr algn="ctr"/>
              <a:r>
                <a:rPr lang="en-US" sz="1050" dirty="0" smtClean="0"/>
                <a:t>Purchase Mortgage</a:t>
              </a:r>
            </a:p>
            <a:p>
              <a:pPr algn="ctr"/>
              <a:r>
                <a:rPr lang="en-US" sz="1050" dirty="0" smtClean="0"/>
                <a:t>Data</a:t>
              </a:r>
              <a:endParaRPr lang="en-US" sz="1050" dirty="0"/>
            </a:p>
          </p:txBody>
        </p:sp>
      </p:grpSp>
      <p:sp>
        <p:nvSpPr>
          <p:cNvPr id="24" name="Rectangle 23"/>
          <p:cNvSpPr/>
          <p:nvPr/>
        </p:nvSpPr>
        <p:spPr>
          <a:xfrm>
            <a:off x="4306799" y="4737209"/>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Collateral characteristics of purchase mortgage loans</a:t>
            </a:r>
          </a:p>
        </p:txBody>
      </p:sp>
      <p:sp>
        <p:nvSpPr>
          <p:cNvPr id="25" name="Right Arrow 24"/>
          <p:cNvSpPr/>
          <p:nvPr/>
        </p:nvSpPr>
        <p:spPr>
          <a:xfrm>
            <a:off x="5739792" y="3850433"/>
            <a:ext cx="689574" cy="389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t>Inputs</a:t>
            </a:r>
            <a:endParaRPr lang="en-US" sz="1000" dirty="0"/>
          </a:p>
        </p:txBody>
      </p:sp>
      <p:grpSp>
        <p:nvGrpSpPr>
          <p:cNvPr id="26" name="Group 2"/>
          <p:cNvGrpSpPr>
            <a:grpSpLocks/>
          </p:cNvGrpSpPr>
          <p:nvPr>
            <p:custDataLst>
              <p:tags r:id="rId1"/>
            </p:custDataLst>
          </p:nvPr>
        </p:nvGrpSpPr>
        <p:grpSpPr bwMode="auto">
          <a:xfrm>
            <a:off x="6462228" y="3549536"/>
            <a:ext cx="1258504" cy="1038223"/>
            <a:chOff x="2244" y="1767"/>
            <a:chExt cx="2029" cy="2029"/>
          </a:xfrm>
          <a:solidFill>
            <a:schemeClr val="accent1"/>
          </a:solidFill>
        </p:grpSpPr>
        <p:sp>
          <p:nvSpPr>
            <p:cNvPr id="27" name="Freeform 3"/>
            <p:cNvSpPr>
              <a:spLocks/>
            </p:cNvSpPr>
            <p:nvPr/>
          </p:nvSpPr>
          <p:spPr bwMode="blackWhite">
            <a:xfrm>
              <a:off x="2366" y="1767"/>
              <a:ext cx="1057" cy="900"/>
            </a:xfrm>
            <a:custGeom>
              <a:avLst/>
              <a:gdLst>
                <a:gd name="T0" fmla="*/ 455 w 1057"/>
                <a:gd name="T1" fmla="*/ 879 h 900"/>
                <a:gd name="T2" fmla="*/ 471 w 1057"/>
                <a:gd name="T3" fmla="*/ 838 h 900"/>
                <a:gd name="T4" fmla="*/ 490 w 1057"/>
                <a:gd name="T5" fmla="*/ 799 h 900"/>
                <a:gd name="T6" fmla="*/ 514 w 1057"/>
                <a:gd name="T7" fmla="*/ 762 h 900"/>
                <a:gd name="T8" fmla="*/ 541 w 1057"/>
                <a:gd name="T9" fmla="*/ 728 h 900"/>
                <a:gd name="T10" fmla="*/ 570 w 1057"/>
                <a:gd name="T11" fmla="*/ 696 h 900"/>
                <a:gd name="T12" fmla="*/ 603 w 1057"/>
                <a:gd name="T13" fmla="*/ 667 h 900"/>
                <a:gd name="T14" fmla="*/ 639 w 1057"/>
                <a:gd name="T15" fmla="*/ 642 h 900"/>
                <a:gd name="T16" fmla="*/ 676 w 1057"/>
                <a:gd name="T17" fmla="*/ 621 h 900"/>
                <a:gd name="T18" fmla="*/ 713 w 1057"/>
                <a:gd name="T19" fmla="*/ 605 h 900"/>
                <a:gd name="T20" fmla="*/ 753 w 1057"/>
                <a:gd name="T21" fmla="*/ 591 h 900"/>
                <a:gd name="T22" fmla="*/ 793 w 1057"/>
                <a:gd name="T23" fmla="*/ 581 h 900"/>
                <a:gd name="T24" fmla="*/ 834 w 1057"/>
                <a:gd name="T25" fmla="*/ 575 h 900"/>
                <a:gd name="T26" fmla="*/ 833 w 1057"/>
                <a:gd name="T27" fmla="*/ 711 h 900"/>
                <a:gd name="T28" fmla="*/ 1056 w 1057"/>
                <a:gd name="T29" fmla="*/ 374 h 900"/>
                <a:gd name="T30" fmla="*/ 818 w 1057"/>
                <a:gd name="T31" fmla="*/ 0 h 900"/>
                <a:gd name="T32" fmla="*/ 819 w 1057"/>
                <a:gd name="T33" fmla="*/ 137 h 900"/>
                <a:gd name="T34" fmla="*/ 757 w 1057"/>
                <a:gd name="T35" fmla="*/ 143 h 900"/>
                <a:gd name="T36" fmla="*/ 694 w 1057"/>
                <a:gd name="T37" fmla="*/ 154 h 900"/>
                <a:gd name="T38" fmla="*/ 634 w 1057"/>
                <a:gd name="T39" fmla="*/ 168 h 900"/>
                <a:gd name="T40" fmla="*/ 574 w 1057"/>
                <a:gd name="T41" fmla="*/ 188 h 900"/>
                <a:gd name="T42" fmla="*/ 516 w 1057"/>
                <a:gd name="T43" fmla="*/ 211 h 900"/>
                <a:gd name="T44" fmla="*/ 460 w 1057"/>
                <a:gd name="T45" fmla="*/ 238 h 900"/>
                <a:gd name="T46" fmla="*/ 405 w 1057"/>
                <a:gd name="T47" fmla="*/ 270 h 900"/>
                <a:gd name="T48" fmla="*/ 352 w 1057"/>
                <a:gd name="T49" fmla="*/ 306 h 900"/>
                <a:gd name="T50" fmla="*/ 302 w 1057"/>
                <a:gd name="T51" fmla="*/ 346 h 900"/>
                <a:gd name="T52" fmla="*/ 255 w 1057"/>
                <a:gd name="T53" fmla="*/ 390 h 900"/>
                <a:gd name="T54" fmla="*/ 211 w 1057"/>
                <a:gd name="T55" fmla="*/ 437 h 900"/>
                <a:gd name="T56" fmla="*/ 170 w 1057"/>
                <a:gd name="T57" fmla="*/ 486 h 900"/>
                <a:gd name="T58" fmla="*/ 134 w 1057"/>
                <a:gd name="T59" fmla="*/ 539 h 900"/>
                <a:gd name="T60" fmla="*/ 101 w 1057"/>
                <a:gd name="T61" fmla="*/ 595 h 900"/>
                <a:gd name="T62" fmla="*/ 72 w 1057"/>
                <a:gd name="T63" fmla="*/ 653 h 900"/>
                <a:gd name="T64" fmla="*/ 47 w 1057"/>
                <a:gd name="T65" fmla="*/ 711 h 900"/>
                <a:gd name="T66" fmla="*/ 27 w 1057"/>
                <a:gd name="T67" fmla="*/ 773 h 900"/>
                <a:gd name="T68" fmla="*/ 11 w 1057"/>
                <a:gd name="T69" fmla="*/ 835 h 900"/>
                <a:gd name="T70" fmla="*/ 0 w 1057"/>
                <a:gd name="T71" fmla="*/ 899 h 900"/>
                <a:gd name="T72" fmla="*/ 238 w 1057"/>
                <a:gd name="T73" fmla="*/ 741 h 900"/>
                <a:gd name="T74" fmla="*/ 455 w 1057"/>
                <a:gd name="T75" fmla="*/ 879 h 90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57"/>
                <a:gd name="T115" fmla="*/ 0 h 900"/>
                <a:gd name="T116" fmla="*/ 1057 w 1057"/>
                <a:gd name="T117" fmla="*/ 900 h 90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57" h="900">
                  <a:moveTo>
                    <a:pt x="455" y="879"/>
                  </a:moveTo>
                  <a:lnTo>
                    <a:pt x="471" y="838"/>
                  </a:lnTo>
                  <a:lnTo>
                    <a:pt x="490" y="799"/>
                  </a:lnTo>
                  <a:lnTo>
                    <a:pt x="514" y="762"/>
                  </a:lnTo>
                  <a:lnTo>
                    <a:pt x="541" y="728"/>
                  </a:lnTo>
                  <a:lnTo>
                    <a:pt x="570" y="696"/>
                  </a:lnTo>
                  <a:lnTo>
                    <a:pt x="603" y="667"/>
                  </a:lnTo>
                  <a:lnTo>
                    <a:pt x="639" y="642"/>
                  </a:lnTo>
                  <a:lnTo>
                    <a:pt x="676" y="621"/>
                  </a:lnTo>
                  <a:lnTo>
                    <a:pt x="713" y="605"/>
                  </a:lnTo>
                  <a:lnTo>
                    <a:pt x="753" y="591"/>
                  </a:lnTo>
                  <a:lnTo>
                    <a:pt x="793" y="581"/>
                  </a:lnTo>
                  <a:lnTo>
                    <a:pt x="834" y="575"/>
                  </a:lnTo>
                  <a:lnTo>
                    <a:pt x="833" y="711"/>
                  </a:lnTo>
                  <a:lnTo>
                    <a:pt x="1056" y="374"/>
                  </a:lnTo>
                  <a:lnTo>
                    <a:pt x="818" y="0"/>
                  </a:lnTo>
                  <a:lnTo>
                    <a:pt x="819" y="137"/>
                  </a:lnTo>
                  <a:lnTo>
                    <a:pt x="757" y="143"/>
                  </a:lnTo>
                  <a:lnTo>
                    <a:pt x="694" y="154"/>
                  </a:lnTo>
                  <a:lnTo>
                    <a:pt x="634" y="168"/>
                  </a:lnTo>
                  <a:lnTo>
                    <a:pt x="574" y="188"/>
                  </a:lnTo>
                  <a:lnTo>
                    <a:pt x="516" y="211"/>
                  </a:lnTo>
                  <a:lnTo>
                    <a:pt x="460" y="238"/>
                  </a:lnTo>
                  <a:lnTo>
                    <a:pt x="405" y="270"/>
                  </a:lnTo>
                  <a:lnTo>
                    <a:pt x="352" y="306"/>
                  </a:lnTo>
                  <a:lnTo>
                    <a:pt x="302" y="346"/>
                  </a:lnTo>
                  <a:lnTo>
                    <a:pt x="255" y="390"/>
                  </a:lnTo>
                  <a:lnTo>
                    <a:pt x="211" y="437"/>
                  </a:lnTo>
                  <a:lnTo>
                    <a:pt x="170" y="486"/>
                  </a:lnTo>
                  <a:lnTo>
                    <a:pt x="134" y="539"/>
                  </a:lnTo>
                  <a:lnTo>
                    <a:pt x="101" y="595"/>
                  </a:lnTo>
                  <a:lnTo>
                    <a:pt x="72" y="653"/>
                  </a:lnTo>
                  <a:lnTo>
                    <a:pt x="47" y="711"/>
                  </a:lnTo>
                  <a:lnTo>
                    <a:pt x="27" y="773"/>
                  </a:lnTo>
                  <a:lnTo>
                    <a:pt x="11" y="835"/>
                  </a:lnTo>
                  <a:lnTo>
                    <a:pt x="0" y="899"/>
                  </a:lnTo>
                  <a:lnTo>
                    <a:pt x="238" y="741"/>
                  </a:lnTo>
                  <a:lnTo>
                    <a:pt x="455" y="879"/>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sp>
          <p:nvSpPr>
            <p:cNvPr id="28" name="Freeform 4"/>
            <p:cNvSpPr>
              <a:spLocks/>
            </p:cNvSpPr>
            <p:nvPr/>
          </p:nvSpPr>
          <p:spPr bwMode="blackWhite">
            <a:xfrm>
              <a:off x="3073" y="2892"/>
              <a:ext cx="1033" cy="904"/>
            </a:xfrm>
            <a:custGeom>
              <a:avLst/>
              <a:gdLst>
                <a:gd name="T0" fmla="*/ 585 w 1033"/>
                <a:gd name="T1" fmla="*/ 1 h 904"/>
                <a:gd name="T2" fmla="*/ 573 w 1033"/>
                <a:gd name="T3" fmla="*/ 41 h 904"/>
                <a:gd name="T4" fmla="*/ 556 w 1033"/>
                <a:gd name="T5" fmla="*/ 78 h 904"/>
                <a:gd name="T6" fmla="*/ 537 w 1033"/>
                <a:gd name="T7" fmla="*/ 116 h 904"/>
                <a:gd name="T8" fmla="*/ 514 w 1033"/>
                <a:gd name="T9" fmla="*/ 150 h 904"/>
                <a:gd name="T10" fmla="*/ 488 w 1033"/>
                <a:gd name="T11" fmla="*/ 182 h 904"/>
                <a:gd name="T12" fmla="*/ 459 w 1033"/>
                <a:gd name="T13" fmla="*/ 212 h 904"/>
                <a:gd name="T14" fmla="*/ 427 w 1033"/>
                <a:gd name="T15" fmla="*/ 239 h 904"/>
                <a:gd name="T16" fmla="*/ 393 w 1033"/>
                <a:gd name="T17" fmla="*/ 262 h 904"/>
                <a:gd name="T18" fmla="*/ 356 w 1033"/>
                <a:gd name="T19" fmla="*/ 283 h 904"/>
                <a:gd name="T20" fmla="*/ 317 w 1033"/>
                <a:gd name="T21" fmla="*/ 301 h 904"/>
                <a:gd name="T22" fmla="*/ 277 w 1033"/>
                <a:gd name="T23" fmla="*/ 314 h 904"/>
                <a:gd name="T24" fmla="*/ 236 w 1033"/>
                <a:gd name="T25" fmla="*/ 323 h 904"/>
                <a:gd name="T26" fmla="*/ 235 w 1033"/>
                <a:gd name="T27" fmla="*/ 187 h 904"/>
                <a:gd name="T28" fmla="*/ 159 w 1033"/>
                <a:gd name="T29" fmla="*/ 298 h 904"/>
                <a:gd name="T30" fmla="*/ 80 w 1033"/>
                <a:gd name="T31" fmla="*/ 409 h 904"/>
                <a:gd name="T32" fmla="*/ 0 w 1033"/>
                <a:gd name="T33" fmla="*/ 517 h 904"/>
                <a:gd name="T34" fmla="*/ 236 w 1033"/>
                <a:gd name="T35" fmla="*/ 903 h 904"/>
                <a:gd name="T36" fmla="*/ 236 w 1033"/>
                <a:gd name="T37" fmla="*/ 766 h 904"/>
                <a:gd name="T38" fmla="*/ 295 w 1033"/>
                <a:gd name="T39" fmla="*/ 759 h 904"/>
                <a:gd name="T40" fmla="*/ 353 w 1033"/>
                <a:gd name="T41" fmla="*/ 747 h 904"/>
                <a:gd name="T42" fmla="*/ 411 w 1033"/>
                <a:gd name="T43" fmla="*/ 733 h 904"/>
                <a:gd name="T44" fmla="*/ 467 w 1033"/>
                <a:gd name="T45" fmla="*/ 713 h 904"/>
                <a:gd name="T46" fmla="*/ 522 w 1033"/>
                <a:gd name="T47" fmla="*/ 691 h 904"/>
                <a:gd name="T48" fmla="*/ 575 w 1033"/>
                <a:gd name="T49" fmla="*/ 665 h 904"/>
                <a:gd name="T50" fmla="*/ 626 w 1033"/>
                <a:gd name="T51" fmla="*/ 635 h 904"/>
                <a:gd name="T52" fmla="*/ 676 w 1033"/>
                <a:gd name="T53" fmla="*/ 601 h 904"/>
                <a:gd name="T54" fmla="*/ 724 w 1033"/>
                <a:gd name="T55" fmla="*/ 564 h 904"/>
                <a:gd name="T56" fmla="*/ 768 w 1033"/>
                <a:gd name="T57" fmla="*/ 525 h 904"/>
                <a:gd name="T58" fmla="*/ 811 w 1033"/>
                <a:gd name="T59" fmla="*/ 481 h 904"/>
                <a:gd name="T60" fmla="*/ 849 w 1033"/>
                <a:gd name="T61" fmla="*/ 435 h 904"/>
                <a:gd name="T62" fmla="*/ 884 w 1033"/>
                <a:gd name="T63" fmla="*/ 387 h 904"/>
                <a:gd name="T64" fmla="*/ 916 w 1033"/>
                <a:gd name="T65" fmla="*/ 337 h 904"/>
                <a:gd name="T66" fmla="*/ 945 w 1033"/>
                <a:gd name="T67" fmla="*/ 284 h 904"/>
                <a:gd name="T68" fmla="*/ 970 w 1033"/>
                <a:gd name="T69" fmla="*/ 231 h 904"/>
                <a:gd name="T70" fmla="*/ 991 w 1033"/>
                <a:gd name="T71" fmla="*/ 174 h 904"/>
                <a:gd name="T72" fmla="*/ 1009 w 1033"/>
                <a:gd name="T73" fmla="*/ 117 h 904"/>
                <a:gd name="T74" fmla="*/ 1023 w 1033"/>
                <a:gd name="T75" fmla="*/ 58 h 904"/>
                <a:gd name="T76" fmla="*/ 1032 w 1033"/>
                <a:gd name="T77" fmla="*/ 0 h 904"/>
                <a:gd name="T78" fmla="*/ 812 w 1033"/>
                <a:gd name="T79" fmla="*/ 132 h 904"/>
                <a:gd name="T80" fmla="*/ 585 w 1033"/>
                <a:gd name="T81" fmla="*/ 1 h 90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033"/>
                <a:gd name="T124" fmla="*/ 0 h 904"/>
                <a:gd name="T125" fmla="*/ 1033 w 1033"/>
                <a:gd name="T126" fmla="*/ 904 h 90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033" h="904">
                  <a:moveTo>
                    <a:pt x="585" y="1"/>
                  </a:moveTo>
                  <a:lnTo>
                    <a:pt x="573" y="41"/>
                  </a:lnTo>
                  <a:lnTo>
                    <a:pt x="556" y="78"/>
                  </a:lnTo>
                  <a:lnTo>
                    <a:pt x="537" y="116"/>
                  </a:lnTo>
                  <a:lnTo>
                    <a:pt x="514" y="150"/>
                  </a:lnTo>
                  <a:lnTo>
                    <a:pt x="488" y="182"/>
                  </a:lnTo>
                  <a:lnTo>
                    <a:pt x="459" y="212"/>
                  </a:lnTo>
                  <a:lnTo>
                    <a:pt x="427" y="239"/>
                  </a:lnTo>
                  <a:lnTo>
                    <a:pt x="393" y="262"/>
                  </a:lnTo>
                  <a:lnTo>
                    <a:pt x="356" y="283"/>
                  </a:lnTo>
                  <a:lnTo>
                    <a:pt x="317" y="301"/>
                  </a:lnTo>
                  <a:lnTo>
                    <a:pt x="277" y="314"/>
                  </a:lnTo>
                  <a:lnTo>
                    <a:pt x="236" y="323"/>
                  </a:lnTo>
                  <a:lnTo>
                    <a:pt x="235" y="187"/>
                  </a:lnTo>
                  <a:lnTo>
                    <a:pt x="159" y="298"/>
                  </a:lnTo>
                  <a:lnTo>
                    <a:pt x="80" y="409"/>
                  </a:lnTo>
                  <a:lnTo>
                    <a:pt x="0" y="517"/>
                  </a:lnTo>
                  <a:lnTo>
                    <a:pt x="236" y="903"/>
                  </a:lnTo>
                  <a:lnTo>
                    <a:pt x="236" y="766"/>
                  </a:lnTo>
                  <a:lnTo>
                    <a:pt x="295" y="759"/>
                  </a:lnTo>
                  <a:lnTo>
                    <a:pt x="353" y="747"/>
                  </a:lnTo>
                  <a:lnTo>
                    <a:pt x="411" y="733"/>
                  </a:lnTo>
                  <a:lnTo>
                    <a:pt x="467" y="713"/>
                  </a:lnTo>
                  <a:lnTo>
                    <a:pt x="522" y="691"/>
                  </a:lnTo>
                  <a:lnTo>
                    <a:pt x="575" y="665"/>
                  </a:lnTo>
                  <a:lnTo>
                    <a:pt x="626" y="635"/>
                  </a:lnTo>
                  <a:lnTo>
                    <a:pt x="676" y="601"/>
                  </a:lnTo>
                  <a:lnTo>
                    <a:pt x="724" y="564"/>
                  </a:lnTo>
                  <a:lnTo>
                    <a:pt x="768" y="525"/>
                  </a:lnTo>
                  <a:lnTo>
                    <a:pt x="811" y="481"/>
                  </a:lnTo>
                  <a:lnTo>
                    <a:pt x="849" y="435"/>
                  </a:lnTo>
                  <a:lnTo>
                    <a:pt x="884" y="387"/>
                  </a:lnTo>
                  <a:lnTo>
                    <a:pt x="916" y="337"/>
                  </a:lnTo>
                  <a:lnTo>
                    <a:pt x="945" y="284"/>
                  </a:lnTo>
                  <a:lnTo>
                    <a:pt x="970" y="231"/>
                  </a:lnTo>
                  <a:lnTo>
                    <a:pt x="991" y="174"/>
                  </a:lnTo>
                  <a:lnTo>
                    <a:pt x="1009" y="117"/>
                  </a:lnTo>
                  <a:lnTo>
                    <a:pt x="1023" y="58"/>
                  </a:lnTo>
                  <a:lnTo>
                    <a:pt x="1032" y="0"/>
                  </a:lnTo>
                  <a:lnTo>
                    <a:pt x="812" y="132"/>
                  </a:lnTo>
                  <a:lnTo>
                    <a:pt x="585" y="1"/>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sp>
          <p:nvSpPr>
            <p:cNvPr id="29" name="Freeform 5"/>
            <p:cNvSpPr>
              <a:spLocks/>
            </p:cNvSpPr>
            <p:nvPr/>
          </p:nvSpPr>
          <p:spPr bwMode="blackWhite">
            <a:xfrm>
              <a:off x="2244" y="2563"/>
              <a:ext cx="930" cy="1075"/>
            </a:xfrm>
            <a:custGeom>
              <a:avLst/>
              <a:gdLst>
                <a:gd name="T0" fmla="*/ 929 w 930"/>
                <a:gd name="T1" fmla="*/ 645 h 1075"/>
                <a:gd name="T2" fmla="*/ 887 w 930"/>
                <a:gd name="T3" fmla="*/ 634 h 1075"/>
                <a:gd name="T4" fmla="*/ 847 w 930"/>
                <a:gd name="T5" fmla="*/ 620 h 1075"/>
                <a:gd name="T6" fmla="*/ 807 w 930"/>
                <a:gd name="T7" fmla="*/ 603 h 1075"/>
                <a:gd name="T8" fmla="*/ 771 w 930"/>
                <a:gd name="T9" fmla="*/ 582 h 1075"/>
                <a:gd name="T10" fmla="*/ 735 w 930"/>
                <a:gd name="T11" fmla="*/ 557 h 1075"/>
                <a:gd name="T12" fmla="*/ 703 w 930"/>
                <a:gd name="T13" fmla="*/ 529 h 1075"/>
                <a:gd name="T14" fmla="*/ 673 w 930"/>
                <a:gd name="T15" fmla="*/ 497 h 1075"/>
                <a:gd name="T16" fmla="*/ 648 w 930"/>
                <a:gd name="T17" fmla="*/ 465 h 1075"/>
                <a:gd name="T18" fmla="*/ 624 w 930"/>
                <a:gd name="T19" fmla="*/ 428 h 1075"/>
                <a:gd name="T20" fmla="*/ 607 w 930"/>
                <a:gd name="T21" fmla="*/ 398 h 1075"/>
                <a:gd name="T22" fmla="*/ 594 w 930"/>
                <a:gd name="T23" fmla="*/ 366 h 1075"/>
                <a:gd name="T24" fmla="*/ 583 w 930"/>
                <a:gd name="T25" fmla="*/ 332 h 1075"/>
                <a:gd name="T26" fmla="*/ 577 w 930"/>
                <a:gd name="T27" fmla="*/ 298 h 1075"/>
                <a:gd name="T28" fmla="*/ 575 w 930"/>
                <a:gd name="T29" fmla="*/ 264 h 1075"/>
                <a:gd name="T30" fmla="*/ 576 w 930"/>
                <a:gd name="T31" fmla="*/ 229 h 1075"/>
                <a:gd name="T32" fmla="*/ 748 w 930"/>
                <a:gd name="T33" fmla="*/ 229 h 1075"/>
                <a:gd name="T34" fmla="*/ 360 w 930"/>
                <a:gd name="T35" fmla="*/ 0 h 1075"/>
                <a:gd name="T36" fmla="*/ 0 w 930"/>
                <a:gd name="T37" fmla="*/ 236 h 1075"/>
                <a:gd name="T38" fmla="*/ 136 w 930"/>
                <a:gd name="T39" fmla="*/ 237 h 1075"/>
                <a:gd name="T40" fmla="*/ 141 w 930"/>
                <a:gd name="T41" fmla="*/ 299 h 1075"/>
                <a:gd name="T42" fmla="*/ 150 w 930"/>
                <a:gd name="T43" fmla="*/ 362 h 1075"/>
                <a:gd name="T44" fmla="*/ 165 w 930"/>
                <a:gd name="T45" fmla="*/ 422 h 1075"/>
                <a:gd name="T46" fmla="*/ 182 w 930"/>
                <a:gd name="T47" fmla="*/ 483 h 1075"/>
                <a:gd name="T48" fmla="*/ 204 w 930"/>
                <a:gd name="T49" fmla="*/ 541 h 1075"/>
                <a:gd name="T50" fmla="*/ 231 w 930"/>
                <a:gd name="T51" fmla="*/ 598 h 1075"/>
                <a:gd name="T52" fmla="*/ 262 w 930"/>
                <a:gd name="T53" fmla="*/ 653 h 1075"/>
                <a:gd name="T54" fmla="*/ 296 w 930"/>
                <a:gd name="T55" fmla="*/ 704 h 1075"/>
                <a:gd name="T56" fmla="*/ 333 w 930"/>
                <a:gd name="T57" fmla="*/ 752 h 1075"/>
                <a:gd name="T58" fmla="*/ 374 w 930"/>
                <a:gd name="T59" fmla="*/ 797 h 1075"/>
                <a:gd name="T60" fmla="*/ 419 w 930"/>
                <a:gd name="T61" fmla="*/ 841 h 1075"/>
                <a:gd name="T62" fmla="*/ 465 w 930"/>
                <a:gd name="T63" fmla="*/ 880 h 1075"/>
                <a:gd name="T64" fmla="*/ 514 w 930"/>
                <a:gd name="T65" fmla="*/ 917 h 1075"/>
                <a:gd name="T66" fmla="*/ 566 w 930"/>
                <a:gd name="T67" fmla="*/ 951 h 1075"/>
                <a:gd name="T68" fmla="*/ 620 w 930"/>
                <a:gd name="T69" fmla="*/ 980 h 1075"/>
                <a:gd name="T70" fmla="*/ 675 w 930"/>
                <a:gd name="T71" fmla="*/ 1007 h 1075"/>
                <a:gd name="T72" fmla="*/ 732 w 930"/>
                <a:gd name="T73" fmla="*/ 1029 h 1075"/>
                <a:gd name="T74" fmla="*/ 790 w 930"/>
                <a:gd name="T75" fmla="*/ 1048 h 1075"/>
                <a:gd name="T76" fmla="*/ 849 w 930"/>
                <a:gd name="T77" fmla="*/ 1062 h 1075"/>
                <a:gd name="T78" fmla="*/ 910 w 930"/>
                <a:gd name="T79" fmla="*/ 1074 h 1075"/>
                <a:gd name="T80" fmla="*/ 772 w 930"/>
                <a:gd name="T81" fmla="*/ 845 h 1075"/>
                <a:gd name="T82" fmla="*/ 929 w 930"/>
                <a:gd name="T83" fmla="*/ 645 h 107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930"/>
                <a:gd name="T127" fmla="*/ 0 h 1075"/>
                <a:gd name="T128" fmla="*/ 930 w 930"/>
                <a:gd name="T129" fmla="*/ 1075 h 107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930" h="1075">
                  <a:moveTo>
                    <a:pt x="929" y="645"/>
                  </a:moveTo>
                  <a:lnTo>
                    <a:pt x="887" y="634"/>
                  </a:lnTo>
                  <a:lnTo>
                    <a:pt x="847" y="620"/>
                  </a:lnTo>
                  <a:lnTo>
                    <a:pt x="807" y="603"/>
                  </a:lnTo>
                  <a:lnTo>
                    <a:pt x="771" y="582"/>
                  </a:lnTo>
                  <a:lnTo>
                    <a:pt x="735" y="557"/>
                  </a:lnTo>
                  <a:lnTo>
                    <a:pt x="703" y="529"/>
                  </a:lnTo>
                  <a:lnTo>
                    <a:pt x="673" y="497"/>
                  </a:lnTo>
                  <a:lnTo>
                    <a:pt x="648" y="465"/>
                  </a:lnTo>
                  <a:lnTo>
                    <a:pt x="624" y="428"/>
                  </a:lnTo>
                  <a:lnTo>
                    <a:pt x="607" y="398"/>
                  </a:lnTo>
                  <a:lnTo>
                    <a:pt x="594" y="366"/>
                  </a:lnTo>
                  <a:lnTo>
                    <a:pt x="583" y="332"/>
                  </a:lnTo>
                  <a:lnTo>
                    <a:pt x="577" y="298"/>
                  </a:lnTo>
                  <a:lnTo>
                    <a:pt x="575" y="264"/>
                  </a:lnTo>
                  <a:lnTo>
                    <a:pt x="576" y="229"/>
                  </a:lnTo>
                  <a:lnTo>
                    <a:pt x="748" y="229"/>
                  </a:lnTo>
                  <a:lnTo>
                    <a:pt x="360" y="0"/>
                  </a:lnTo>
                  <a:lnTo>
                    <a:pt x="0" y="236"/>
                  </a:lnTo>
                  <a:lnTo>
                    <a:pt x="136" y="237"/>
                  </a:lnTo>
                  <a:lnTo>
                    <a:pt x="141" y="299"/>
                  </a:lnTo>
                  <a:lnTo>
                    <a:pt x="150" y="362"/>
                  </a:lnTo>
                  <a:lnTo>
                    <a:pt x="165" y="422"/>
                  </a:lnTo>
                  <a:lnTo>
                    <a:pt x="182" y="483"/>
                  </a:lnTo>
                  <a:lnTo>
                    <a:pt x="204" y="541"/>
                  </a:lnTo>
                  <a:lnTo>
                    <a:pt x="231" y="598"/>
                  </a:lnTo>
                  <a:lnTo>
                    <a:pt x="262" y="653"/>
                  </a:lnTo>
                  <a:lnTo>
                    <a:pt x="296" y="704"/>
                  </a:lnTo>
                  <a:lnTo>
                    <a:pt x="333" y="752"/>
                  </a:lnTo>
                  <a:lnTo>
                    <a:pt x="374" y="797"/>
                  </a:lnTo>
                  <a:lnTo>
                    <a:pt x="419" y="841"/>
                  </a:lnTo>
                  <a:lnTo>
                    <a:pt x="465" y="880"/>
                  </a:lnTo>
                  <a:lnTo>
                    <a:pt x="514" y="917"/>
                  </a:lnTo>
                  <a:lnTo>
                    <a:pt x="566" y="951"/>
                  </a:lnTo>
                  <a:lnTo>
                    <a:pt x="620" y="980"/>
                  </a:lnTo>
                  <a:lnTo>
                    <a:pt x="675" y="1007"/>
                  </a:lnTo>
                  <a:lnTo>
                    <a:pt x="732" y="1029"/>
                  </a:lnTo>
                  <a:lnTo>
                    <a:pt x="790" y="1048"/>
                  </a:lnTo>
                  <a:lnTo>
                    <a:pt x="849" y="1062"/>
                  </a:lnTo>
                  <a:lnTo>
                    <a:pt x="910" y="1074"/>
                  </a:lnTo>
                  <a:lnTo>
                    <a:pt x="772" y="845"/>
                  </a:lnTo>
                  <a:lnTo>
                    <a:pt x="929" y="645"/>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sp>
          <p:nvSpPr>
            <p:cNvPr id="30" name="Freeform 6"/>
            <p:cNvSpPr>
              <a:spLocks/>
            </p:cNvSpPr>
            <p:nvPr/>
          </p:nvSpPr>
          <p:spPr bwMode="blackWhite">
            <a:xfrm>
              <a:off x="3330" y="1909"/>
              <a:ext cx="943" cy="1065"/>
            </a:xfrm>
            <a:custGeom>
              <a:avLst/>
              <a:gdLst>
                <a:gd name="T0" fmla="*/ 554 w 943"/>
                <a:gd name="T1" fmla="*/ 1064 h 1065"/>
                <a:gd name="T2" fmla="*/ 942 w 943"/>
                <a:gd name="T3" fmla="*/ 840 h 1065"/>
                <a:gd name="T4" fmla="*/ 781 w 943"/>
                <a:gd name="T5" fmla="*/ 840 h 1065"/>
                <a:gd name="T6" fmla="*/ 776 w 943"/>
                <a:gd name="T7" fmla="*/ 778 h 1065"/>
                <a:gd name="T8" fmla="*/ 767 w 943"/>
                <a:gd name="T9" fmla="*/ 716 h 1065"/>
                <a:gd name="T10" fmla="*/ 754 w 943"/>
                <a:gd name="T11" fmla="*/ 655 h 1065"/>
                <a:gd name="T12" fmla="*/ 737 w 943"/>
                <a:gd name="T13" fmla="*/ 595 h 1065"/>
                <a:gd name="T14" fmla="*/ 714 w 943"/>
                <a:gd name="T15" fmla="*/ 536 h 1065"/>
                <a:gd name="T16" fmla="*/ 688 w 943"/>
                <a:gd name="T17" fmla="*/ 480 h 1065"/>
                <a:gd name="T18" fmla="*/ 658 w 943"/>
                <a:gd name="T19" fmla="*/ 425 h 1065"/>
                <a:gd name="T20" fmla="*/ 624 w 943"/>
                <a:gd name="T21" fmla="*/ 372 h 1065"/>
                <a:gd name="T22" fmla="*/ 586 w 943"/>
                <a:gd name="T23" fmla="*/ 323 h 1065"/>
                <a:gd name="T24" fmla="*/ 547 w 943"/>
                <a:gd name="T25" fmla="*/ 275 h 1065"/>
                <a:gd name="T26" fmla="*/ 502 w 943"/>
                <a:gd name="T27" fmla="*/ 232 h 1065"/>
                <a:gd name="T28" fmla="*/ 455 w 943"/>
                <a:gd name="T29" fmla="*/ 191 h 1065"/>
                <a:gd name="T30" fmla="*/ 405 w 943"/>
                <a:gd name="T31" fmla="*/ 153 h 1065"/>
                <a:gd name="T32" fmla="*/ 352 w 943"/>
                <a:gd name="T33" fmla="*/ 120 h 1065"/>
                <a:gd name="T34" fmla="*/ 298 w 943"/>
                <a:gd name="T35" fmla="*/ 89 h 1065"/>
                <a:gd name="T36" fmla="*/ 241 w 943"/>
                <a:gd name="T37" fmla="*/ 63 h 1065"/>
                <a:gd name="T38" fmla="*/ 182 w 943"/>
                <a:gd name="T39" fmla="*/ 41 h 1065"/>
                <a:gd name="T40" fmla="*/ 122 w 943"/>
                <a:gd name="T41" fmla="*/ 23 h 1065"/>
                <a:gd name="T42" fmla="*/ 61 w 943"/>
                <a:gd name="T43" fmla="*/ 9 h 1065"/>
                <a:gd name="T44" fmla="*/ 0 w 943"/>
                <a:gd name="T45" fmla="*/ 0 h 1065"/>
                <a:gd name="T46" fmla="*/ 137 w 943"/>
                <a:gd name="T47" fmla="*/ 226 h 1065"/>
                <a:gd name="T48" fmla="*/ 5 w 943"/>
                <a:gd name="T49" fmla="*/ 451 h 1065"/>
                <a:gd name="T50" fmla="*/ 48 w 943"/>
                <a:gd name="T51" fmla="*/ 465 h 1065"/>
                <a:gd name="T52" fmla="*/ 90 w 943"/>
                <a:gd name="T53" fmla="*/ 483 h 1065"/>
                <a:gd name="T54" fmla="*/ 130 w 943"/>
                <a:gd name="T55" fmla="*/ 505 h 1065"/>
                <a:gd name="T56" fmla="*/ 168 w 943"/>
                <a:gd name="T57" fmla="*/ 531 h 1065"/>
                <a:gd name="T58" fmla="*/ 202 w 943"/>
                <a:gd name="T59" fmla="*/ 561 h 1065"/>
                <a:gd name="T60" fmla="*/ 233 w 943"/>
                <a:gd name="T61" fmla="*/ 594 h 1065"/>
                <a:gd name="T62" fmla="*/ 262 w 943"/>
                <a:gd name="T63" fmla="*/ 629 h 1065"/>
                <a:gd name="T64" fmla="*/ 285 w 943"/>
                <a:gd name="T65" fmla="*/ 668 h 1065"/>
                <a:gd name="T66" fmla="*/ 305 w 943"/>
                <a:gd name="T67" fmla="*/ 709 h 1065"/>
                <a:gd name="T68" fmla="*/ 321 w 943"/>
                <a:gd name="T69" fmla="*/ 751 h 1065"/>
                <a:gd name="T70" fmla="*/ 333 w 943"/>
                <a:gd name="T71" fmla="*/ 795 h 1065"/>
                <a:gd name="T72" fmla="*/ 340 w 943"/>
                <a:gd name="T73" fmla="*/ 840 h 1065"/>
                <a:gd name="T74" fmla="*/ 188 w 943"/>
                <a:gd name="T75" fmla="*/ 841 h 1065"/>
                <a:gd name="T76" fmla="*/ 554 w 943"/>
                <a:gd name="T77" fmla="*/ 1064 h 106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943"/>
                <a:gd name="T118" fmla="*/ 0 h 1065"/>
                <a:gd name="T119" fmla="*/ 943 w 943"/>
                <a:gd name="T120" fmla="*/ 1065 h 106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943" h="1065">
                  <a:moveTo>
                    <a:pt x="554" y="1064"/>
                  </a:moveTo>
                  <a:lnTo>
                    <a:pt x="942" y="840"/>
                  </a:lnTo>
                  <a:lnTo>
                    <a:pt x="781" y="840"/>
                  </a:lnTo>
                  <a:lnTo>
                    <a:pt x="776" y="778"/>
                  </a:lnTo>
                  <a:lnTo>
                    <a:pt x="767" y="716"/>
                  </a:lnTo>
                  <a:lnTo>
                    <a:pt x="754" y="655"/>
                  </a:lnTo>
                  <a:lnTo>
                    <a:pt x="737" y="595"/>
                  </a:lnTo>
                  <a:lnTo>
                    <a:pt x="714" y="536"/>
                  </a:lnTo>
                  <a:lnTo>
                    <a:pt x="688" y="480"/>
                  </a:lnTo>
                  <a:lnTo>
                    <a:pt x="658" y="425"/>
                  </a:lnTo>
                  <a:lnTo>
                    <a:pt x="624" y="372"/>
                  </a:lnTo>
                  <a:lnTo>
                    <a:pt x="586" y="323"/>
                  </a:lnTo>
                  <a:lnTo>
                    <a:pt x="547" y="275"/>
                  </a:lnTo>
                  <a:lnTo>
                    <a:pt x="502" y="232"/>
                  </a:lnTo>
                  <a:lnTo>
                    <a:pt x="455" y="191"/>
                  </a:lnTo>
                  <a:lnTo>
                    <a:pt x="405" y="153"/>
                  </a:lnTo>
                  <a:lnTo>
                    <a:pt x="352" y="120"/>
                  </a:lnTo>
                  <a:lnTo>
                    <a:pt x="298" y="89"/>
                  </a:lnTo>
                  <a:lnTo>
                    <a:pt x="241" y="63"/>
                  </a:lnTo>
                  <a:lnTo>
                    <a:pt x="182" y="41"/>
                  </a:lnTo>
                  <a:lnTo>
                    <a:pt x="122" y="23"/>
                  </a:lnTo>
                  <a:lnTo>
                    <a:pt x="61" y="9"/>
                  </a:lnTo>
                  <a:lnTo>
                    <a:pt x="0" y="0"/>
                  </a:lnTo>
                  <a:lnTo>
                    <a:pt x="137" y="226"/>
                  </a:lnTo>
                  <a:lnTo>
                    <a:pt x="5" y="451"/>
                  </a:lnTo>
                  <a:lnTo>
                    <a:pt x="48" y="465"/>
                  </a:lnTo>
                  <a:lnTo>
                    <a:pt x="90" y="483"/>
                  </a:lnTo>
                  <a:lnTo>
                    <a:pt x="130" y="505"/>
                  </a:lnTo>
                  <a:lnTo>
                    <a:pt x="168" y="531"/>
                  </a:lnTo>
                  <a:lnTo>
                    <a:pt x="202" y="561"/>
                  </a:lnTo>
                  <a:lnTo>
                    <a:pt x="233" y="594"/>
                  </a:lnTo>
                  <a:lnTo>
                    <a:pt x="262" y="629"/>
                  </a:lnTo>
                  <a:lnTo>
                    <a:pt x="285" y="668"/>
                  </a:lnTo>
                  <a:lnTo>
                    <a:pt x="305" y="709"/>
                  </a:lnTo>
                  <a:lnTo>
                    <a:pt x="321" y="751"/>
                  </a:lnTo>
                  <a:lnTo>
                    <a:pt x="333" y="795"/>
                  </a:lnTo>
                  <a:lnTo>
                    <a:pt x="340" y="840"/>
                  </a:lnTo>
                  <a:lnTo>
                    <a:pt x="188" y="841"/>
                  </a:lnTo>
                  <a:lnTo>
                    <a:pt x="554" y="1064"/>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grpSp>
      <p:sp>
        <p:nvSpPr>
          <p:cNvPr id="31" name="TextBox 30"/>
          <p:cNvSpPr txBox="1"/>
          <p:nvPr/>
        </p:nvSpPr>
        <p:spPr>
          <a:xfrm>
            <a:off x="6454518" y="4520254"/>
            <a:ext cx="1219200" cy="253916"/>
          </a:xfrm>
          <a:prstGeom prst="rect">
            <a:avLst/>
          </a:prstGeom>
          <a:noFill/>
        </p:spPr>
        <p:txBody>
          <a:bodyPr wrap="square" rtlCol="0">
            <a:spAutoFit/>
          </a:bodyPr>
          <a:lstStyle/>
          <a:p>
            <a:pPr algn="ctr"/>
            <a:r>
              <a:rPr lang="en-US" sz="1050" dirty="0" smtClean="0">
                <a:latin typeface="+mn-lt"/>
              </a:rPr>
              <a:t>Accordion</a:t>
            </a:r>
            <a:endParaRPr lang="en-US" sz="1050" dirty="0">
              <a:latin typeface="+mn-lt"/>
            </a:endParaRPr>
          </a:p>
        </p:txBody>
      </p:sp>
      <p:sp>
        <p:nvSpPr>
          <p:cNvPr id="32" name="Rectangle 31"/>
          <p:cNvSpPr/>
          <p:nvPr/>
        </p:nvSpPr>
        <p:spPr>
          <a:xfrm>
            <a:off x="6567747" y="4774170"/>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Loan-level residential mortgage credit model</a:t>
            </a:r>
          </a:p>
        </p:txBody>
      </p:sp>
      <p:sp>
        <p:nvSpPr>
          <p:cNvPr id="33" name="Right Arrow 32"/>
          <p:cNvSpPr/>
          <p:nvPr/>
        </p:nvSpPr>
        <p:spPr>
          <a:xfrm>
            <a:off x="7673718" y="3905751"/>
            <a:ext cx="690037" cy="389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smtClean="0"/>
              <a:t>Outputs</a:t>
            </a:r>
            <a:endParaRPr lang="en-US" sz="900" dirty="0"/>
          </a:p>
        </p:txBody>
      </p:sp>
      <p:sp>
        <p:nvSpPr>
          <p:cNvPr id="34" name="Rounded Rectangle 33"/>
          <p:cNvSpPr/>
          <p:nvPr/>
        </p:nvSpPr>
        <p:spPr>
          <a:xfrm>
            <a:off x="8471293" y="3779797"/>
            <a:ext cx="1121280" cy="69905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Expected Cumulative Default Rate</a:t>
            </a:r>
            <a:endParaRPr lang="en-US" sz="1050" dirty="0"/>
          </a:p>
        </p:txBody>
      </p:sp>
      <p:sp>
        <p:nvSpPr>
          <p:cNvPr id="35" name="Rectangle 34"/>
          <p:cNvSpPr/>
          <p:nvPr/>
        </p:nvSpPr>
        <p:spPr>
          <a:xfrm>
            <a:off x="8471293" y="4774170"/>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MCAI =</a:t>
            </a:r>
          </a:p>
          <a:p>
            <a:pPr algn="ctr"/>
            <a:r>
              <a:rPr lang="en-US" sz="1000" dirty="0" smtClean="0"/>
              <a:t>Time-series of default rates</a:t>
            </a:r>
          </a:p>
        </p:txBody>
      </p:sp>
    </p:spTree>
    <p:extLst>
      <p:ext uri="{BB962C8B-B14F-4D97-AF65-F5344CB8AC3E}">
        <p14:creationId xmlns:p14="http://schemas.microsoft.com/office/powerpoint/2010/main" val="2475976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5" grpId="0" animBg="1"/>
      <p:bldP spid="31" grpId="0"/>
      <p:bldP spid="33" grpId="0" animBg="1"/>
      <p:bldP spid="3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EXAMPLE 3: HISTORY OF CELLO’s MCAI </a:t>
            </a:r>
            <a:endParaRPr lang="en-US" sz="1200" b="0" dirty="0"/>
          </a:p>
        </p:txBody>
      </p:sp>
      <p:sp>
        <p:nvSpPr>
          <p:cNvPr id="3" name="TextBox 2"/>
          <p:cNvSpPr txBox="1"/>
          <p:nvPr/>
        </p:nvSpPr>
        <p:spPr>
          <a:xfrm>
            <a:off x="145658" y="1218130"/>
            <a:ext cx="2168665" cy="5324524"/>
          </a:xfrm>
          <a:prstGeom prst="rect">
            <a:avLst/>
          </a:prstGeom>
          <a:noFill/>
        </p:spPr>
        <p:txBody>
          <a:bodyPr wrap="square" lIns="91429" tIns="45715" rIns="91429" bIns="45715" rtlCol="0">
            <a:spAutoFit/>
          </a:bodyPr>
          <a:lstStyle/>
          <a:p>
            <a:r>
              <a:rPr lang="en-US" sz="1200" dirty="0">
                <a:latin typeface="Calibri" panose="020F0502020204030204" pitchFamily="34" charset="0"/>
              </a:rPr>
              <a:t>Cello’s MCAI shows that, on an aggregate basis, mortgage credit availability at its 2007 peak was almost 4x its prevailing levels. </a:t>
            </a:r>
          </a:p>
          <a:p>
            <a:endParaRPr lang="en-US" sz="1200" dirty="0">
              <a:latin typeface="Calibri" panose="020F0502020204030204" pitchFamily="34" charset="0"/>
            </a:endParaRPr>
          </a:p>
          <a:p>
            <a:r>
              <a:rPr lang="en-US" sz="1200" dirty="0">
                <a:latin typeface="Calibri" panose="020F0502020204030204" pitchFamily="34" charset="0"/>
              </a:rPr>
              <a:t>Most of the post-2007 decline in MCA has been driven by a substantial decrease in Product Risk with a significant slump in the volume of originated Alt-A and Subprime loans.</a:t>
            </a:r>
          </a:p>
          <a:p>
            <a:endParaRPr lang="en-US" sz="1200" dirty="0">
              <a:latin typeface="Calibri" panose="020F0502020204030204" pitchFamily="34" charset="0"/>
            </a:endParaRPr>
          </a:p>
          <a:p>
            <a:r>
              <a:rPr lang="en-US" sz="1200" dirty="0">
                <a:latin typeface="Calibri" panose="020F0502020204030204" pitchFamily="34" charset="0"/>
              </a:rPr>
              <a:t>More recently (starting 2014), there has been a gradual improvement in mortgage credit availability but overall levels are considerably lower than in the past.</a:t>
            </a:r>
            <a:endParaRPr lang="en-US" sz="1400" dirty="0"/>
          </a:p>
          <a:p>
            <a:pPr>
              <a:buClr>
                <a:srgbClr val="203353"/>
              </a:buClr>
              <a:defRPr/>
            </a:pPr>
            <a:endParaRPr lang="en-US" sz="1400" dirty="0">
              <a:solidFill>
                <a:srgbClr val="000000"/>
              </a:solidFill>
              <a:latin typeface="Calibri"/>
            </a:endParaRPr>
          </a:p>
          <a:p>
            <a:pPr>
              <a:buClr>
                <a:srgbClr val="203353"/>
              </a:buClr>
              <a:defRPr/>
            </a:pPr>
            <a:endParaRPr lang="en-US" sz="1400" b="1" dirty="0">
              <a:solidFill>
                <a:srgbClr val="000000"/>
              </a:solidFill>
              <a:latin typeface="Calibri"/>
            </a:endParaRPr>
          </a:p>
          <a:p>
            <a:pPr>
              <a:buClr>
                <a:srgbClr val="203353"/>
              </a:buClr>
              <a:defRPr/>
            </a:pPr>
            <a:endParaRPr lang="en-US" sz="1400" b="1" dirty="0">
              <a:solidFill>
                <a:srgbClr val="000000"/>
              </a:solidFill>
              <a:latin typeface="Calibri"/>
            </a:endParaRPr>
          </a:p>
          <a:p>
            <a:pPr>
              <a:buClr>
                <a:srgbClr val="203353"/>
              </a:buClr>
              <a:defRPr/>
            </a:pPr>
            <a:endParaRPr lang="en-US" sz="1400" dirty="0">
              <a:solidFill>
                <a:srgbClr val="2E398A"/>
              </a:solidFill>
              <a:latin typeface="Calibri"/>
            </a:endParaRPr>
          </a:p>
          <a:p>
            <a:pPr>
              <a:buClr>
                <a:srgbClr val="203353"/>
              </a:buClr>
              <a:defRPr/>
            </a:pPr>
            <a:endParaRPr lang="en-US" sz="1400" dirty="0">
              <a:solidFill>
                <a:srgbClr val="2E398A"/>
              </a:solidFill>
              <a:latin typeface="Calibri"/>
            </a:endParaRPr>
          </a:p>
          <a:p>
            <a:pPr>
              <a:buClr>
                <a:srgbClr val="203353"/>
              </a:buClr>
              <a:defRPr/>
            </a:pPr>
            <a:endParaRPr lang="en-US" sz="1400" dirty="0">
              <a:solidFill>
                <a:srgbClr val="2E398A"/>
              </a:solidFill>
              <a:latin typeface="Calibri"/>
            </a:endParaRPr>
          </a:p>
          <a:p>
            <a:pPr>
              <a:buClr>
                <a:srgbClr val="203353"/>
              </a:buClr>
              <a:defRPr/>
            </a:pPr>
            <a:endParaRPr lang="en-US" sz="1400" dirty="0">
              <a:solidFill>
                <a:srgbClr val="2E398A"/>
              </a:solidFill>
              <a:latin typeface="Calibri"/>
            </a:endParaRPr>
          </a:p>
          <a:p>
            <a:pPr>
              <a:buClr>
                <a:srgbClr val="203353"/>
              </a:buClr>
              <a:defRPr/>
            </a:pPr>
            <a:endParaRPr lang="en-US" sz="14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1"/>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1"/>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1"/>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1"/>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1"/>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1"/>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1"/>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1"/>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700"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88" tIns="50888" rIns="101775" bIns="50888" rtlCol="0" anchor="ctr"/>
          <a:lstStyle/>
          <a:p>
            <a:pPr algn="ctr"/>
            <a:r>
              <a:rPr lang="en-US" sz="1300" b="1" dirty="0">
                <a:solidFill>
                  <a:srgbClr val="FFFFFF"/>
                </a:solidFill>
              </a:rPr>
              <a:t>CELLO’S MORTGAGE CREDIT AVAILABILITY INDEX</a:t>
            </a:r>
          </a:p>
        </p:txBody>
      </p:sp>
      <p:sp>
        <p:nvSpPr>
          <p:cNvPr id="14" name="TextBox 13"/>
          <p:cNvSpPr txBox="1"/>
          <p:nvPr/>
        </p:nvSpPr>
        <p:spPr>
          <a:xfrm rot="16200000">
            <a:off x="1707891" y="4082810"/>
            <a:ext cx="2033865" cy="258884"/>
          </a:xfrm>
          <a:prstGeom prst="rect">
            <a:avLst/>
          </a:prstGeom>
          <a:noFill/>
        </p:spPr>
        <p:txBody>
          <a:bodyPr wrap="square" lIns="88740" tIns="44370" rIns="88740" bIns="44370" rtlCol="0">
            <a:spAutoFit/>
          </a:bodyPr>
          <a:lstStyle/>
          <a:p>
            <a:pPr algn="ctr"/>
            <a:r>
              <a:rPr lang="en-US" sz="1100" b="1" dirty="0">
                <a:solidFill>
                  <a:srgbClr val="000000"/>
                </a:solidFill>
              </a:rPr>
              <a:t>Projected Default Rate</a:t>
            </a:r>
          </a:p>
        </p:txBody>
      </p:sp>
      <p:graphicFrame>
        <p:nvGraphicFramePr>
          <p:cNvPr id="17" name="Chart 16"/>
          <p:cNvGraphicFramePr>
            <a:graphicFrameLocks/>
          </p:cNvGraphicFramePr>
          <p:nvPr>
            <p:extLst>
              <p:ext uri="{D42A27DB-BD31-4B8C-83A1-F6EECF244321}">
                <p14:modId xmlns:p14="http://schemas.microsoft.com/office/powerpoint/2010/main" val="2576850601"/>
              </p:ext>
            </p:extLst>
          </p:nvPr>
        </p:nvGraphicFramePr>
        <p:xfrm>
          <a:off x="2851225" y="2072640"/>
          <a:ext cx="6788075" cy="492252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64435477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8975" y="259080"/>
            <a:ext cx="7280116" cy="644102"/>
          </a:xfrm>
        </p:spPr>
        <p:txBody>
          <a:bodyPr/>
          <a:lstStyle/>
          <a:p>
            <a:r>
              <a:rPr lang="en-US" dirty="0" smtClean="0"/>
              <a:t>EXAMPLE 4: ACTIVE MANAGEMENT OF IO BETA</a:t>
            </a:r>
            <a:endParaRPr lang="en-US" dirty="0"/>
          </a:p>
        </p:txBody>
      </p:sp>
      <p:sp>
        <p:nvSpPr>
          <p:cNvPr id="16" name="Content Placeholder 12"/>
          <p:cNvSpPr>
            <a:spLocks noGrp="1"/>
          </p:cNvSpPr>
          <p:nvPr>
            <p:ph idx="1"/>
          </p:nvPr>
        </p:nvSpPr>
        <p:spPr>
          <a:xfrm>
            <a:off x="293688" y="1235075"/>
            <a:ext cx="1839913" cy="5927725"/>
          </a:xfrm>
        </p:spPr>
        <p:txBody>
          <a:bodyPr/>
          <a:lstStyle/>
          <a:p>
            <a:pPr marL="0" indent="0">
              <a:spcBef>
                <a:spcPts val="0"/>
              </a:spcBef>
              <a:buNone/>
            </a:pPr>
            <a:r>
              <a:rPr lang="en-US" sz="1200" dirty="0"/>
              <a:t>Cello has developed a quantitative framework for managing IO Beta exposure. The goal is to design a strategy that outperforms a passive strategy that is always 100% invested.</a:t>
            </a:r>
          </a:p>
          <a:p>
            <a:pPr marL="0" indent="0">
              <a:spcBef>
                <a:spcPts val="0"/>
              </a:spcBef>
              <a:buNone/>
            </a:pPr>
            <a:endParaRPr lang="en-US" sz="1200" dirty="0"/>
          </a:p>
          <a:p>
            <a:pPr marL="0" indent="0">
              <a:spcBef>
                <a:spcPts val="0"/>
              </a:spcBef>
              <a:buNone/>
            </a:pPr>
            <a:r>
              <a:rPr lang="en-US" sz="1200" dirty="0"/>
              <a:t>A passive IO Beta Strategy runs the risk of significant drawdowns. Over the period March 2011 to November 2015, Cello estimates that the passive strategy had a worst month of down 12.9% and a cumulative maximum drawdown of 23.5%.</a:t>
            </a:r>
          </a:p>
          <a:p>
            <a:pPr>
              <a:spcBef>
                <a:spcPts val="0"/>
              </a:spcBef>
            </a:pPr>
            <a:endParaRPr lang="en-US" sz="1200" dirty="0"/>
          </a:p>
        </p:txBody>
      </p:sp>
      <p:sp>
        <p:nvSpPr>
          <p:cNvPr id="7" name="Rectangle 6"/>
          <p:cNvSpPr/>
          <p:nvPr/>
        </p:nvSpPr>
        <p:spPr>
          <a:xfrm>
            <a:off x="2903221" y="1420595"/>
            <a:ext cx="6568440" cy="203380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rtlCol="0" anchor="ctr"/>
          <a:lstStyle/>
          <a:p>
            <a:pPr algn="ctr"/>
            <a:endParaRPr lang="en-US"/>
          </a:p>
        </p:txBody>
      </p:sp>
      <p:cxnSp>
        <p:nvCxnSpPr>
          <p:cNvPr id="8" name="Straight Connector 7"/>
          <p:cNvCxnSpPr/>
          <p:nvPr/>
        </p:nvCxnSpPr>
        <p:spPr>
          <a:xfrm>
            <a:off x="2903220" y="1420594"/>
            <a:ext cx="6629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903220" y="1066800"/>
            <a:ext cx="6629400" cy="338554"/>
          </a:xfrm>
          <a:prstGeom prst="rect">
            <a:avLst/>
          </a:prstGeom>
          <a:noFill/>
        </p:spPr>
        <p:txBody>
          <a:bodyPr wrap="square" lIns="91429" tIns="45715" rIns="91429" bIns="45715" rtlCol="0">
            <a:spAutoFit/>
          </a:bodyPr>
          <a:lstStyle/>
          <a:p>
            <a:r>
              <a:rPr lang="en-US" sz="1600" b="1" dirty="0">
                <a:solidFill>
                  <a:schemeClr val="accent1"/>
                </a:solidFill>
                <a:latin typeface="Calibri" panose="020F0502020204030204" pitchFamily="34" charset="0"/>
              </a:rPr>
              <a:t>Quantitative Framework for Active IO Beta Strategy</a:t>
            </a:r>
          </a:p>
        </p:txBody>
      </p:sp>
      <p:sp>
        <p:nvSpPr>
          <p:cNvPr id="14" name="TextBox 13"/>
          <p:cNvSpPr txBox="1"/>
          <p:nvPr/>
        </p:nvSpPr>
        <p:spPr>
          <a:xfrm>
            <a:off x="2903221" y="1420595"/>
            <a:ext cx="6484620" cy="2462202"/>
          </a:xfrm>
          <a:prstGeom prst="rect">
            <a:avLst/>
          </a:prstGeom>
          <a:noFill/>
        </p:spPr>
        <p:txBody>
          <a:bodyPr wrap="square" lIns="91429" tIns="45715" rIns="91429" bIns="45715" rtlCol="0">
            <a:spAutoFit/>
          </a:bodyPr>
          <a:lstStyle/>
          <a:p>
            <a:pPr marL="285717" indent="-285717">
              <a:buFont typeface="Arial" panose="020B0604020202020204" pitchFamily="34" charset="0"/>
              <a:buChar char="•"/>
            </a:pPr>
            <a:r>
              <a:rPr lang="en-US" sz="1400" b="1" dirty="0">
                <a:latin typeface="Calibri" panose="020F0502020204030204" pitchFamily="34" charset="0"/>
              </a:rPr>
              <a:t>Utilize Model-free RV Metrics: </a:t>
            </a:r>
            <a:r>
              <a:rPr lang="en-US" sz="1400" dirty="0">
                <a:latin typeface="Calibri" panose="020F0502020204030204" pitchFamily="34" charset="0"/>
              </a:rPr>
              <a:t>OAS and Prepayment modeling are already heavily used in allocating Beta so the quantitative approach provides a different viewpoint.</a:t>
            </a:r>
          </a:p>
          <a:p>
            <a:pPr marL="285717" indent="-285717">
              <a:buFont typeface="Arial" panose="020B0604020202020204" pitchFamily="34" charset="0"/>
              <a:buChar char="•"/>
            </a:pPr>
            <a:r>
              <a:rPr lang="en-US" sz="1400" b="1" dirty="0">
                <a:latin typeface="Calibri" panose="020F0502020204030204" pitchFamily="34" charset="0"/>
              </a:rPr>
              <a:t>RV Metrics: </a:t>
            </a:r>
            <a:r>
              <a:rPr lang="en-US" sz="1400" dirty="0">
                <a:latin typeface="Calibri" panose="020F0502020204030204" pitchFamily="34" charset="0"/>
              </a:rPr>
              <a:t>Carry, Realized Volatility, Media Effect, IOS Prices </a:t>
            </a:r>
            <a:endParaRPr lang="en-US" sz="1400" b="1" dirty="0">
              <a:latin typeface="Calibri" panose="020F0502020204030204" pitchFamily="34" charset="0"/>
            </a:endParaRPr>
          </a:p>
          <a:p>
            <a:pPr marL="285717" indent="-285717">
              <a:buFont typeface="Arial" panose="020B0604020202020204" pitchFamily="34" charset="0"/>
              <a:buChar char="•"/>
            </a:pPr>
            <a:r>
              <a:rPr lang="en-US" sz="1400" b="1" dirty="0">
                <a:latin typeface="Calibri" panose="020F0502020204030204" pitchFamily="34" charset="0"/>
              </a:rPr>
              <a:t>Utilize IOS as IO Benchmark: </a:t>
            </a:r>
            <a:r>
              <a:rPr lang="en-US" sz="1400" dirty="0">
                <a:latin typeface="Calibri" panose="020F0502020204030204" pitchFamily="34" charset="0"/>
              </a:rPr>
              <a:t>The model does not capture the fact that the Cash-Synthetic basis may decouple.</a:t>
            </a:r>
            <a:endParaRPr lang="en-US" sz="1400" b="1" dirty="0">
              <a:latin typeface="Calibri" panose="020F0502020204030204" pitchFamily="34" charset="0"/>
            </a:endParaRPr>
          </a:p>
          <a:p>
            <a:pPr marL="285717" indent="-285717">
              <a:buFont typeface="Arial" panose="020B0604020202020204" pitchFamily="34" charset="0"/>
              <a:buChar char="•"/>
            </a:pPr>
            <a:r>
              <a:rPr lang="en-US" sz="1400" b="1" dirty="0">
                <a:latin typeface="Calibri" panose="020F0502020204030204" pitchFamily="34" charset="0"/>
              </a:rPr>
              <a:t>Optimize Sharpe Ratio: </a:t>
            </a:r>
            <a:r>
              <a:rPr lang="en-US" sz="1400" dirty="0">
                <a:latin typeface="Calibri" panose="020F0502020204030204" pitchFamily="34" charset="0"/>
              </a:rPr>
              <a:t>Algorithmically select an active management strategy that results in the highest Sharpe Ratio</a:t>
            </a:r>
          </a:p>
          <a:p>
            <a:pPr marL="285717" indent="-285717">
              <a:buFont typeface="Arial" panose="020B0604020202020204" pitchFamily="34" charset="0"/>
              <a:buChar char="•"/>
            </a:pPr>
            <a:endParaRPr lang="en-US" sz="1400" dirty="0">
              <a:latin typeface="Calibri" panose="020F0502020204030204" pitchFamily="34" charset="0"/>
            </a:endParaRPr>
          </a:p>
          <a:p>
            <a:pPr marL="285717" indent="-285717">
              <a:buFont typeface="Arial" panose="020B0604020202020204" pitchFamily="34" charset="0"/>
              <a:buChar char="•"/>
            </a:pPr>
            <a:endParaRPr lang="en-US" sz="1400" dirty="0">
              <a:latin typeface="Calibri" panose="020F0502020204030204" pitchFamily="34" charset="0"/>
            </a:endParaRPr>
          </a:p>
          <a:p>
            <a:pPr marL="285717" indent="-285717">
              <a:buFont typeface="Arial" panose="020B0604020202020204" pitchFamily="34" charset="0"/>
              <a:buChar char="•"/>
            </a:pPr>
            <a:endParaRPr lang="en-US" sz="1400" dirty="0">
              <a:latin typeface="Calibri" panose="020F0502020204030204" pitchFamily="34" charset="0"/>
            </a:endParaRPr>
          </a:p>
          <a:p>
            <a:endParaRPr lang="en-US" sz="1400" dirty="0">
              <a:latin typeface="Calibri" panose="020F0502020204030204" pitchFamily="34" charset="0"/>
            </a:endParaRPr>
          </a:p>
        </p:txBody>
      </p:sp>
      <p:sp>
        <p:nvSpPr>
          <p:cNvPr id="26" name="Rectangle 25"/>
          <p:cNvSpPr/>
          <p:nvPr/>
        </p:nvSpPr>
        <p:spPr>
          <a:xfrm>
            <a:off x="2922198" y="4008518"/>
            <a:ext cx="6629400" cy="160488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rtlCol="0" anchor="ctr"/>
          <a:lstStyle/>
          <a:p>
            <a:pPr marL="285717" indent="-285717">
              <a:buFont typeface="Arial" panose="020B0604020202020204" pitchFamily="34" charset="0"/>
              <a:buChar char="•"/>
            </a:pPr>
            <a:r>
              <a:rPr lang="en-US" sz="1400" b="1" dirty="0">
                <a:solidFill>
                  <a:schemeClr val="tx1"/>
                </a:solidFill>
                <a:latin typeface="Calibri" panose="020F0502020204030204" pitchFamily="34" charset="0"/>
              </a:rPr>
              <a:t>Model Recommended IO Beta Exposure </a:t>
            </a:r>
            <a:r>
              <a:rPr lang="en-US" sz="1400" dirty="0">
                <a:solidFill>
                  <a:schemeClr val="tx1"/>
                </a:solidFill>
                <a:latin typeface="Calibri" panose="020F0502020204030204" pitchFamily="34" charset="0"/>
              </a:rPr>
              <a:t>(as of December 11</a:t>
            </a:r>
            <a:r>
              <a:rPr lang="en-US" sz="1400" baseline="30000" dirty="0">
                <a:solidFill>
                  <a:schemeClr val="tx1"/>
                </a:solidFill>
                <a:latin typeface="Calibri" panose="020F0502020204030204" pitchFamily="34" charset="0"/>
              </a:rPr>
              <a:t>th</a:t>
            </a:r>
            <a:r>
              <a:rPr lang="en-US" sz="1400" dirty="0">
                <a:solidFill>
                  <a:schemeClr val="tx1"/>
                </a:solidFill>
                <a:latin typeface="Calibri" panose="020F0502020204030204" pitchFamily="34" charset="0"/>
              </a:rPr>
              <a:t>)</a:t>
            </a:r>
            <a:r>
              <a:rPr lang="en-US" sz="1400" b="1" dirty="0">
                <a:solidFill>
                  <a:schemeClr val="tx1"/>
                </a:solidFill>
                <a:latin typeface="Calibri" panose="020F0502020204030204" pitchFamily="34" charset="0"/>
              </a:rPr>
              <a:t>: </a:t>
            </a:r>
            <a:r>
              <a:rPr lang="en-US" sz="1400" dirty="0">
                <a:solidFill>
                  <a:schemeClr val="tx1"/>
                </a:solidFill>
                <a:latin typeface="Calibri" panose="020F0502020204030204" pitchFamily="34" charset="0"/>
              </a:rPr>
              <a:t>0-5%</a:t>
            </a:r>
          </a:p>
          <a:p>
            <a:pPr marL="285717" indent="-285717">
              <a:buFont typeface="Arial" panose="020B0604020202020204" pitchFamily="34" charset="0"/>
              <a:buChar char="•"/>
            </a:pPr>
            <a:r>
              <a:rPr lang="en-US" sz="1400" b="1" dirty="0">
                <a:solidFill>
                  <a:schemeClr val="tx1"/>
                </a:solidFill>
                <a:latin typeface="Calibri" panose="020F0502020204030204" pitchFamily="34" charset="0"/>
              </a:rPr>
              <a:t>Fund Exposure </a:t>
            </a:r>
            <a:r>
              <a:rPr lang="en-US" sz="1400" dirty="0">
                <a:solidFill>
                  <a:schemeClr val="tx1"/>
                </a:solidFill>
                <a:latin typeface="Calibri" panose="020F0502020204030204" pitchFamily="34" charset="0"/>
              </a:rPr>
              <a:t>(as of December 11</a:t>
            </a:r>
            <a:r>
              <a:rPr lang="en-US" sz="1400" baseline="30000" dirty="0">
                <a:solidFill>
                  <a:schemeClr val="tx1"/>
                </a:solidFill>
                <a:latin typeface="Calibri" panose="020F0502020204030204" pitchFamily="34" charset="0"/>
              </a:rPr>
              <a:t>th</a:t>
            </a:r>
            <a:r>
              <a:rPr lang="en-US" sz="1400" dirty="0">
                <a:solidFill>
                  <a:schemeClr val="tx1"/>
                </a:solidFill>
                <a:latin typeface="Calibri" panose="020F0502020204030204" pitchFamily="34" charset="0"/>
              </a:rPr>
              <a:t>): 18%. The Fund exposure will typically run higher than the model recommendation since Structured IO offers higher OASs than IOS. The Investment Committee can also overlay other factors such as technical conditions and/or a view on macro factors such as interest rates, the slope of the yield curve, the expected level of volatility, the likelihood of a prepayment surprise etc.</a:t>
            </a:r>
          </a:p>
        </p:txBody>
      </p:sp>
      <p:cxnSp>
        <p:nvCxnSpPr>
          <p:cNvPr id="27" name="Straight Connector 26"/>
          <p:cNvCxnSpPr/>
          <p:nvPr/>
        </p:nvCxnSpPr>
        <p:spPr>
          <a:xfrm>
            <a:off x="2922198" y="4008518"/>
            <a:ext cx="6629400"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922197" y="3669964"/>
            <a:ext cx="6629400" cy="338554"/>
          </a:xfrm>
          <a:prstGeom prst="rect">
            <a:avLst/>
          </a:prstGeom>
          <a:noFill/>
        </p:spPr>
        <p:txBody>
          <a:bodyPr wrap="square" lIns="91429" tIns="45715" rIns="91429" bIns="45715" rtlCol="0">
            <a:spAutoFit/>
          </a:bodyPr>
          <a:lstStyle/>
          <a:p>
            <a:r>
              <a:rPr lang="en-US" sz="1600" b="1" dirty="0">
                <a:solidFill>
                  <a:schemeClr val="accent2">
                    <a:lumMod val="75000"/>
                  </a:schemeClr>
                </a:solidFill>
                <a:latin typeface="Calibri" panose="020F0502020204030204" pitchFamily="34" charset="0"/>
              </a:rPr>
              <a:t>Current Forecast</a:t>
            </a:r>
          </a:p>
        </p:txBody>
      </p:sp>
    </p:spTree>
    <p:extLst>
      <p:ext uri="{BB962C8B-B14F-4D97-AF65-F5344CB8AC3E}">
        <p14:creationId xmlns:p14="http://schemas.microsoft.com/office/powerpoint/2010/main" val="37086972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262245" y="247131"/>
            <a:ext cx="8574088" cy="609918"/>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algn="r" defTabSz="1018705" eaLnBrk="0" hangingPunct="0">
              <a:defRPr/>
            </a:pPr>
            <a:r>
              <a:rPr lang="en-US" sz="1400" b="1" kern="0" dirty="0" smtClean="0">
                <a:solidFill>
                  <a:schemeClr val="bg1"/>
                </a:solidFill>
                <a:latin typeface="Calibri" pitchFamily="34" charset="0"/>
                <a:ea typeface="+mj-ea"/>
                <a:cs typeface="+mj-cs"/>
              </a:rPr>
              <a:t>EXAMPLE 5: PROPRIETARY FIXED INCOME LIBRARY SCALE</a:t>
            </a:r>
            <a:r>
              <a:rPr lang="en-US" sz="1400" b="1" kern="0" dirty="0">
                <a:solidFill>
                  <a:schemeClr val="bg1"/>
                </a:solidFill>
                <a:latin typeface="Calibri" pitchFamily="34" charset="0"/>
                <a:ea typeface="+mj-ea"/>
                <a:cs typeface="+mj-cs"/>
              </a:rPr>
              <a:t/>
            </a:r>
            <a:br>
              <a:rPr lang="en-US" sz="1400" b="1" kern="0" dirty="0">
                <a:solidFill>
                  <a:schemeClr val="bg1"/>
                </a:solidFill>
                <a:latin typeface="Calibri" pitchFamily="34" charset="0"/>
                <a:ea typeface="+mj-ea"/>
                <a:cs typeface="+mj-cs"/>
              </a:rPr>
            </a:br>
            <a:r>
              <a:rPr lang="en-US" sz="1200" kern="0" dirty="0">
                <a:solidFill>
                  <a:schemeClr val="bg1"/>
                </a:solidFill>
                <a:latin typeface="Calibri" pitchFamily="34" charset="0"/>
                <a:ea typeface="+mj-ea"/>
                <a:cs typeface="+mj-cs"/>
              </a:rPr>
              <a:t/>
            </a:r>
            <a:br>
              <a:rPr lang="en-US" sz="1200" kern="0" dirty="0">
                <a:solidFill>
                  <a:schemeClr val="bg1"/>
                </a:solidFill>
                <a:latin typeface="Calibri" pitchFamily="34" charset="0"/>
                <a:ea typeface="+mj-ea"/>
                <a:cs typeface="+mj-cs"/>
              </a:rPr>
            </a:br>
            <a:endParaRPr lang="en-US" sz="1400" kern="0" dirty="0">
              <a:solidFill>
                <a:schemeClr val="bg1"/>
              </a:solidFill>
              <a:latin typeface="+mj-lt"/>
              <a:ea typeface="+mj-ea"/>
              <a:cs typeface="+mj-cs"/>
            </a:endParaRPr>
          </a:p>
        </p:txBody>
      </p:sp>
      <p:sp>
        <p:nvSpPr>
          <p:cNvPr id="6" name="Subtitle 2"/>
          <p:cNvSpPr>
            <a:spLocks noGrp="1"/>
          </p:cNvSpPr>
          <p:nvPr>
            <p:ph type="subTitle" idx="1"/>
          </p:nvPr>
        </p:nvSpPr>
        <p:spPr>
          <a:xfrm>
            <a:off x="586740" y="1382537"/>
            <a:ext cx="8884920" cy="6044423"/>
          </a:xfrm>
        </p:spPr>
        <p:txBody>
          <a:bodyPr/>
          <a:lstStyle/>
          <a:p>
            <a:pPr marL="342859" indent="-342859" algn="l">
              <a:spcBef>
                <a:spcPts val="1783"/>
              </a:spcBef>
              <a:buFont typeface="Arial" pitchFamily="34" charset="0"/>
              <a:buChar char="•"/>
            </a:pPr>
            <a:r>
              <a:rPr lang="en-US" sz="2000" b="1" dirty="0" smtClean="0"/>
              <a:t>Scale</a:t>
            </a:r>
            <a:r>
              <a:rPr lang="en-US" sz="2000" dirty="0" smtClean="0"/>
              <a:t> is built on top of </a:t>
            </a:r>
            <a:r>
              <a:rPr lang="en-US" sz="2000" b="1" dirty="0" err="1" smtClean="0"/>
              <a:t>Quantlib</a:t>
            </a:r>
            <a:r>
              <a:rPr lang="en-US" sz="2000" dirty="0" smtClean="0"/>
              <a:t>, a well maintained open-source C++ library for modeling, trading, and risk management. The approach allows for reducing low-level model building and focusing on complex problems.</a:t>
            </a:r>
          </a:p>
          <a:p>
            <a:pPr marL="342859" indent="-342859" algn="l">
              <a:spcBef>
                <a:spcPts val="1783"/>
              </a:spcBef>
              <a:buFont typeface="Arial" pitchFamily="34" charset="0"/>
              <a:buChar char="•"/>
            </a:pPr>
            <a:r>
              <a:rPr lang="en-US" sz="2000" b="1" dirty="0" smtClean="0"/>
              <a:t>Scale</a:t>
            </a:r>
            <a:r>
              <a:rPr lang="en-US" sz="2000" dirty="0" smtClean="0"/>
              <a:t> allows for micro-level </a:t>
            </a:r>
            <a:r>
              <a:rPr lang="en-US" sz="2000" dirty="0"/>
              <a:t>specification of proprietary </a:t>
            </a:r>
            <a:r>
              <a:rPr lang="en-US" sz="2000" dirty="0" smtClean="0"/>
              <a:t>models.</a:t>
            </a:r>
          </a:p>
          <a:p>
            <a:pPr marL="342859" indent="-342859" algn="l">
              <a:spcBef>
                <a:spcPts val="1783"/>
              </a:spcBef>
              <a:buFont typeface="Arial" pitchFamily="34" charset="0"/>
              <a:buChar char="•"/>
            </a:pPr>
            <a:r>
              <a:rPr lang="en-US" sz="2000" b="1" dirty="0" smtClean="0"/>
              <a:t>Scale</a:t>
            </a:r>
            <a:r>
              <a:rPr lang="en-US" sz="2000" dirty="0" smtClean="0"/>
              <a:t> provides a platform for rapidly assessing new structures and strategies.</a:t>
            </a:r>
          </a:p>
          <a:p>
            <a:pPr marL="342859" indent="-342859" algn="l">
              <a:spcBef>
                <a:spcPts val="1783"/>
              </a:spcBef>
              <a:buFont typeface="Arial" pitchFamily="34" charset="0"/>
              <a:buChar char="•"/>
            </a:pPr>
            <a:r>
              <a:rPr lang="en-US" sz="2000" b="1" dirty="0" smtClean="0"/>
              <a:t>Scale</a:t>
            </a:r>
            <a:r>
              <a:rPr lang="en-US" sz="2000" dirty="0" smtClean="0"/>
              <a:t> serves as a tangible repository for Cello IP.</a:t>
            </a:r>
          </a:p>
          <a:p>
            <a:pPr marL="342859" indent="-342859" algn="l">
              <a:spcBef>
                <a:spcPts val="1783"/>
              </a:spcBef>
              <a:buFont typeface="Arial" pitchFamily="34" charset="0"/>
              <a:buChar char="•"/>
            </a:pPr>
            <a:r>
              <a:rPr lang="en-US" sz="2000" b="1" dirty="0" smtClean="0"/>
              <a:t>Scale</a:t>
            </a:r>
            <a:r>
              <a:rPr lang="en-US" sz="2000" dirty="0" smtClean="0"/>
              <a:t> is a training ground for new Associates/Analysts in the Research group.</a:t>
            </a:r>
            <a:endParaRPr lang="en-US" sz="2000" dirty="0"/>
          </a:p>
          <a:p>
            <a:pPr marL="342859" indent="-342859" algn="l">
              <a:spcBef>
                <a:spcPts val="1783"/>
              </a:spcBef>
              <a:buFont typeface="Arial" pitchFamily="34" charset="0"/>
              <a:buChar char="•"/>
            </a:pPr>
            <a:endParaRPr lang="en-US" sz="2000" dirty="0"/>
          </a:p>
          <a:p>
            <a:pPr algn="l">
              <a:spcBef>
                <a:spcPts val="1783"/>
              </a:spcBef>
            </a:pPr>
            <a:endParaRPr lang="en-US" sz="2000" dirty="0"/>
          </a:p>
          <a:p>
            <a:pPr marL="342859" indent="-342859" algn="l">
              <a:spcBef>
                <a:spcPts val="1783"/>
              </a:spcBef>
              <a:buFont typeface="Arial" pitchFamily="34" charset="0"/>
              <a:buChar char="•"/>
            </a:pPr>
            <a:endParaRPr lang="en-US" sz="1800" b="1" dirty="0">
              <a:latin typeface="+mj-lt"/>
            </a:endParaRPr>
          </a:p>
          <a:p>
            <a:pPr algn="l">
              <a:spcBef>
                <a:spcPts val="1783"/>
              </a:spcBef>
            </a:pPr>
            <a:endParaRPr lang="en-US" sz="2000" b="1" dirty="0"/>
          </a:p>
        </p:txBody>
      </p:sp>
    </p:spTree>
    <p:extLst>
      <p:ext uri="{BB962C8B-B14F-4D97-AF65-F5344CB8AC3E}">
        <p14:creationId xmlns:p14="http://schemas.microsoft.com/office/powerpoint/2010/main" val="311642773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508885"/>
            <a:ext cx="10058400" cy="1986280"/>
          </a:xfrm>
        </p:spPr>
        <p:txBody>
          <a:bodyPr/>
          <a:lstStyle/>
          <a:p>
            <a:endParaRPr lang="en-US" sz="2500" b="1" dirty="0">
              <a:latin typeface="+mj-lt"/>
            </a:endParaRPr>
          </a:p>
          <a:p>
            <a:r>
              <a:rPr lang="en-US" sz="2500" b="1" dirty="0" smtClean="0"/>
              <a:t>THE ROLE OF TECHNOLOGY</a:t>
            </a:r>
            <a:endParaRPr lang="en-US" sz="2500" b="1" dirty="0"/>
          </a:p>
        </p:txBody>
      </p:sp>
    </p:spTree>
    <p:extLst>
      <p:ext uri="{BB962C8B-B14F-4D97-AF65-F5344CB8AC3E}">
        <p14:creationId xmlns:p14="http://schemas.microsoft.com/office/powerpoint/2010/main" val="16373417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491" y="257191"/>
            <a:ext cx="8574088" cy="609918"/>
          </a:xfrm>
        </p:spPr>
        <p:txBody>
          <a:bodyPr/>
          <a:lstStyle/>
          <a:p>
            <a:r>
              <a:rPr lang="en-US" dirty="0" smtClean="0"/>
              <a:t/>
            </a:r>
            <a:br>
              <a:rPr lang="en-US" dirty="0" smtClean="0"/>
            </a:br>
            <a:endParaRPr lang="en-US" dirty="0"/>
          </a:p>
        </p:txBody>
      </p:sp>
      <p:sp>
        <p:nvSpPr>
          <p:cNvPr id="8" name="Rectangle 9"/>
          <p:cNvSpPr>
            <a:spLocks noChangeArrowheads="1"/>
          </p:cNvSpPr>
          <p:nvPr/>
        </p:nvSpPr>
        <p:spPr bwMode="auto">
          <a:xfrm>
            <a:off x="312289" y="1237396"/>
            <a:ext cx="2557916" cy="8889898"/>
          </a:xfrm>
          <a:prstGeom prst="rect">
            <a:avLst/>
          </a:prstGeom>
          <a:noFill/>
          <a:ln w="9525">
            <a:noFill/>
            <a:miter lim="800000"/>
            <a:headEnd/>
            <a:tailEnd/>
          </a:ln>
          <a:effectLst/>
        </p:spPr>
        <p:txBody>
          <a:bodyPr wrap="square" lIns="101882" tIns="50941" rIns="101882" bIns="50941">
            <a:spAutoFit/>
          </a:bodyPr>
          <a:lstStyle/>
          <a:p>
            <a:pPr lvl="0">
              <a:buClr>
                <a:schemeClr val="tx1"/>
              </a:buClr>
            </a:pPr>
            <a:r>
              <a:rPr lang="en-US" sz="1200" dirty="0" smtClean="0">
                <a:latin typeface="Calibri" pitchFamily="34" charset="0"/>
              </a:rPr>
              <a:t>Cello has built a comprehensive suite of trading and operations reports based on its robust databases.</a:t>
            </a:r>
          </a:p>
          <a:p>
            <a:pPr lvl="0">
              <a:buClr>
                <a:schemeClr val="tx1"/>
              </a:buClr>
            </a:pPr>
            <a:endParaRPr lang="en-US" sz="1200" dirty="0">
              <a:latin typeface="Calibri" pitchFamily="34" charset="0"/>
            </a:endParaRPr>
          </a:p>
          <a:p>
            <a:pPr lvl="0">
              <a:buClr>
                <a:schemeClr val="tx1"/>
              </a:buClr>
            </a:pPr>
            <a:r>
              <a:rPr lang="en-US" sz="1200" dirty="0">
                <a:latin typeface="Calibri" pitchFamily="34" charset="0"/>
              </a:rPr>
              <a:t>Cello </a:t>
            </a:r>
            <a:r>
              <a:rPr lang="en-US" sz="1200" dirty="0" smtClean="0">
                <a:latin typeface="Calibri" pitchFamily="34" charset="0"/>
              </a:rPr>
              <a:t>continues to make significant </a:t>
            </a:r>
            <a:r>
              <a:rPr lang="en-US" sz="1200" dirty="0">
                <a:latin typeface="Calibri" pitchFamily="34" charset="0"/>
              </a:rPr>
              <a:t>investments to build out its proprietary analytic infrastructure</a:t>
            </a:r>
            <a:r>
              <a:rPr lang="en-US" sz="1200" dirty="0" smtClean="0">
                <a:latin typeface="Calibri" pitchFamily="34" charset="0"/>
              </a:rPr>
              <a:t>.  The main highlights includes the following</a:t>
            </a:r>
          </a:p>
          <a:p>
            <a:pPr lvl="0">
              <a:buClr>
                <a:schemeClr val="tx1"/>
              </a:buClr>
            </a:pPr>
            <a:endParaRPr lang="en-US" sz="1200" dirty="0">
              <a:latin typeface="Calibri" pitchFamily="34" charset="0"/>
            </a:endParaRPr>
          </a:p>
          <a:p>
            <a:pPr lvl="0">
              <a:buClr>
                <a:schemeClr val="tx1"/>
              </a:buClr>
            </a:pPr>
            <a:r>
              <a:rPr lang="en-US" sz="1200" b="1" dirty="0" smtClean="0">
                <a:latin typeface="Calibri" pitchFamily="34" charset="0"/>
              </a:rPr>
              <a:t>Symphony Application</a:t>
            </a:r>
          </a:p>
          <a:p>
            <a:pPr marL="171450" lvl="0" indent="-171450">
              <a:buClr>
                <a:schemeClr val="tx1"/>
              </a:buClr>
              <a:buFont typeface="Arial" panose="020B0604020202020204" pitchFamily="34" charset="0"/>
              <a:buChar char="•"/>
            </a:pPr>
            <a:r>
              <a:rPr lang="en-US" sz="1200" dirty="0" smtClean="0">
                <a:latin typeface="Calibri" pitchFamily="34" charset="0"/>
              </a:rPr>
              <a:t>Bond Pricing</a:t>
            </a:r>
          </a:p>
          <a:p>
            <a:pPr marL="171450" lvl="0" indent="-171450">
              <a:buClr>
                <a:schemeClr val="tx1"/>
              </a:buClr>
              <a:buFont typeface="Arial" panose="020B0604020202020204" pitchFamily="34" charset="0"/>
              <a:buChar char="•"/>
            </a:pPr>
            <a:r>
              <a:rPr lang="en-US" sz="1200" dirty="0" smtClean="0">
                <a:latin typeface="Calibri" pitchFamily="34" charset="0"/>
              </a:rPr>
              <a:t>Collateral Analysis(slice and dice)</a:t>
            </a:r>
          </a:p>
          <a:p>
            <a:pPr marL="171450" lvl="0" indent="-171450">
              <a:buClr>
                <a:schemeClr val="tx1"/>
              </a:buClr>
              <a:buFont typeface="Arial" panose="020B0604020202020204" pitchFamily="34" charset="0"/>
              <a:buChar char="•"/>
            </a:pPr>
            <a:r>
              <a:rPr lang="en-US" sz="1200" dirty="0" smtClean="0">
                <a:latin typeface="Calibri" pitchFamily="34" charset="0"/>
              </a:rPr>
              <a:t>Excel API</a:t>
            </a:r>
          </a:p>
          <a:p>
            <a:pPr lvl="0">
              <a:buClr>
                <a:schemeClr val="tx1"/>
              </a:buClr>
            </a:pPr>
            <a:endParaRPr lang="en-US" sz="1200" dirty="0" smtClean="0">
              <a:latin typeface="Calibri" pitchFamily="34" charset="0"/>
            </a:endParaRPr>
          </a:p>
          <a:p>
            <a:pPr lvl="0">
              <a:buClr>
                <a:schemeClr val="tx1"/>
              </a:buClr>
            </a:pPr>
            <a:r>
              <a:rPr lang="en-US" sz="1200" b="1" dirty="0" smtClean="0">
                <a:latin typeface="Calibri" pitchFamily="34" charset="0"/>
              </a:rPr>
              <a:t>Scale Models</a:t>
            </a:r>
          </a:p>
          <a:p>
            <a:pPr marL="171450" lvl="0" indent="-171450">
              <a:buClr>
                <a:schemeClr val="tx1"/>
              </a:buClr>
              <a:buFont typeface="Arial" panose="020B0604020202020204" pitchFamily="34" charset="0"/>
              <a:buChar char="•"/>
            </a:pPr>
            <a:r>
              <a:rPr lang="en-US" sz="1200" dirty="0" smtClean="0">
                <a:latin typeface="Calibri" pitchFamily="34" charset="0"/>
              </a:rPr>
              <a:t>Interest Rate Model</a:t>
            </a:r>
          </a:p>
          <a:p>
            <a:pPr marL="171450" lvl="0" indent="-171450">
              <a:buClr>
                <a:schemeClr val="tx1"/>
              </a:buClr>
              <a:buFont typeface="Arial" panose="020B0604020202020204" pitchFamily="34" charset="0"/>
              <a:buChar char="•"/>
            </a:pPr>
            <a:r>
              <a:rPr lang="en-US" sz="1200" dirty="0" smtClean="0">
                <a:latin typeface="Calibri" pitchFamily="34" charset="0"/>
              </a:rPr>
              <a:t>Mortgage Rate Model</a:t>
            </a:r>
            <a:endParaRPr lang="en-US" sz="1200" dirty="0">
              <a:latin typeface="Calibri" pitchFamily="34" charset="0"/>
            </a:endParaRPr>
          </a:p>
          <a:p>
            <a:pPr marL="171450" lvl="0" indent="-171450">
              <a:buClr>
                <a:schemeClr val="tx1"/>
              </a:buClr>
              <a:buFont typeface="Arial" panose="020B0604020202020204" pitchFamily="34" charset="0"/>
              <a:buChar char="•"/>
            </a:pPr>
            <a:r>
              <a:rPr lang="en-US" sz="1200" dirty="0" smtClean="0">
                <a:latin typeface="Calibri" pitchFamily="34" charset="0"/>
              </a:rPr>
              <a:t>Prepayment Model</a:t>
            </a:r>
          </a:p>
          <a:p>
            <a:pPr marL="171450" lvl="0" indent="-171450">
              <a:buClr>
                <a:schemeClr val="tx1"/>
              </a:buClr>
              <a:buFont typeface="Arial" panose="020B0604020202020204" pitchFamily="34" charset="0"/>
              <a:buChar char="•"/>
            </a:pPr>
            <a:r>
              <a:rPr lang="en-US" sz="1200" dirty="0" smtClean="0">
                <a:latin typeface="Calibri" pitchFamily="34" charset="0"/>
              </a:rPr>
              <a:t>OAS Analytics</a:t>
            </a:r>
          </a:p>
          <a:p>
            <a:pPr lvl="0">
              <a:buClr>
                <a:schemeClr val="tx1"/>
              </a:buClr>
            </a:pPr>
            <a:endParaRPr lang="en-US" sz="1200" dirty="0" smtClean="0">
              <a:latin typeface="Calibri" pitchFamily="34" charset="0"/>
            </a:endParaRPr>
          </a:p>
          <a:p>
            <a:pPr lvl="0">
              <a:buClr>
                <a:schemeClr val="tx1"/>
              </a:buClr>
            </a:pPr>
            <a:r>
              <a:rPr lang="en-US" sz="1200" b="1" dirty="0" smtClean="0">
                <a:latin typeface="Calibri" pitchFamily="34" charset="0"/>
              </a:rPr>
              <a:t>Motif Calculation Service</a:t>
            </a:r>
          </a:p>
          <a:p>
            <a:pPr marL="171450" lvl="0" indent="-171450">
              <a:buClr>
                <a:schemeClr val="tx1"/>
              </a:buClr>
              <a:buFont typeface="Arial" panose="020B0604020202020204" pitchFamily="34" charset="0"/>
              <a:buChar char="•"/>
            </a:pPr>
            <a:r>
              <a:rPr lang="en-US" sz="1200" dirty="0" smtClean="0">
                <a:latin typeface="Calibri" pitchFamily="34" charset="0"/>
              </a:rPr>
              <a:t>Distributed Computing</a:t>
            </a:r>
          </a:p>
          <a:p>
            <a:pPr marL="171450" lvl="0" indent="-171450">
              <a:buClr>
                <a:schemeClr val="tx1"/>
              </a:buClr>
              <a:buFont typeface="Arial" panose="020B0604020202020204" pitchFamily="34" charset="0"/>
              <a:buChar char="•"/>
            </a:pPr>
            <a:r>
              <a:rPr lang="en-US" sz="1200" dirty="0" smtClean="0">
                <a:latin typeface="Calibri" pitchFamily="34" charset="0"/>
              </a:rPr>
              <a:t>Amazon Cloud Integration</a:t>
            </a:r>
          </a:p>
          <a:p>
            <a:pPr marL="171450" lvl="0" indent="-171450">
              <a:buClr>
                <a:schemeClr val="tx1"/>
              </a:buClr>
              <a:buFont typeface="Arial" panose="020B0604020202020204" pitchFamily="34" charset="0"/>
              <a:buChar char="•"/>
            </a:pPr>
            <a:r>
              <a:rPr lang="en-US" sz="1200" dirty="0" smtClean="0">
                <a:latin typeface="Calibri" pitchFamily="34" charset="0"/>
              </a:rPr>
              <a:t>In-Memory Caching</a:t>
            </a:r>
          </a:p>
          <a:p>
            <a:pPr marL="171450" lvl="0" indent="-171450">
              <a:buClr>
                <a:schemeClr val="tx1"/>
              </a:buClr>
              <a:buFont typeface="Arial" panose="020B0604020202020204" pitchFamily="34" charset="0"/>
              <a:buChar char="•"/>
            </a:pPr>
            <a:r>
              <a:rPr lang="en-US" sz="1200" dirty="0" smtClean="0">
                <a:latin typeface="Calibri" pitchFamily="34" charset="0"/>
              </a:rPr>
              <a:t>OAS </a:t>
            </a:r>
            <a:r>
              <a:rPr lang="en-US" sz="1200" dirty="0">
                <a:latin typeface="Calibri" pitchFamily="34" charset="0"/>
              </a:rPr>
              <a:t>P</a:t>
            </a:r>
            <a:r>
              <a:rPr lang="en-US" sz="1200" dirty="0" smtClean="0">
                <a:latin typeface="Calibri" pitchFamily="34" charset="0"/>
              </a:rPr>
              <a:t>ath Distribution</a:t>
            </a:r>
          </a:p>
          <a:p>
            <a:pPr lvl="0">
              <a:buClr>
                <a:schemeClr val="tx1"/>
              </a:buClr>
            </a:pPr>
            <a:endParaRPr lang="en-US" sz="1200" dirty="0" smtClean="0">
              <a:latin typeface="Calibri" pitchFamily="34" charset="0"/>
            </a:endParaRPr>
          </a:p>
          <a:p>
            <a:pPr marL="171450" lvl="0" indent="-171450">
              <a:buClr>
                <a:schemeClr val="tx1"/>
              </a:buClr>
              <a:buFont typeface="Arial" panose="020B0604020202020204" pitchFamily="34" charset="0"/>
              <a:buChar cha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a:latin typeface="+mn-lt"/>
            </a:endParaRPr>
          </a:p>
        </p:txBody>
      </p:sp>
      <p:graphicFrame>
        <p:nvGraphicFramePr>
          <p:cNvPr id="5" name="Diagram 4"/>
          <p:cNvGraphicFramePr/>
          <p:nvPr>
            <p:extLst>
              <p:ext uri="{D42A27DB-BD31-4B8C-83A1-F6EECF244321}">
                <p14:modId xmlns:p14="http://schemas.microsoft.com/office/powerpoint/2010/main" val="482684357"/>
              </p:ext>
            </p:extLst>
          </p:nvPr>
        </p:nvGraphicFramePr>
        <p:xfrm>
          <a:off x="3630633" y="1072688"/>
          <a:ext cx="6152346" cy="34315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Rounded Rectangle 8"/>
          <p:cNvSpPr/>
          <p:nvPr/>
        </p:nvSpPr>
        <p:spPr>
          <a:xfrm>
            <a:off x="3630632" y="5128522"/>
            <a:ext cx="6131442" cy="931334"/>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grpSp>
        <p:nvGrpSpPr>
          <p:cNvPr id="14" name="Group 13"/>
          <p:cNvGrpSpPr/>
          <p:nvPr/>
        </p:nvGrpSpPr>
        <p:grpSpPr>
          <a:xfrm>
            <a:off x="3887537" y="5348664"/>
            <a:ext cx="994833" cy="572648"/>
            <a:chOff x="366225" y="1131662"/>
            <a:chExt cx="1930488" cy="549485"/>
          </a:xfrm>
        </p:grpSpPr>
        <p:sp>
          <p:nvSpPr>
            <p:cNvPr id="15" name="Rounded Rectangle 14"/>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6"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smtClean="0"/>
                <a:t>Time Series</a:t>
              </a:r>
              <a:endParaRPr lang="en-US" sz="1600" kern="1200" dirty="0"/>
            </a:p>
          </p:txBody>
        </p:sp>
      </p:grpSp>
      <p:grpSp>
        <p:nvGrpSpPr>
          <p:cNvPr id="17" name="Group 16"/>
          <p:cNvGrpSpPr/>
          <p:nvPr/>
        </p:nvGrpSpPr>
        <p:grpSpPr>
          <a:xfrm>
            <a:off x="5074988" y="5348664"/>
            <a:ext cx="994833" cy="572648"/>
            <a:chOff x="366225" y="1131662"/>
            <a:chExt cx="1930488" cy="549485"/>
          </a:xfrm>
        </p:grpSpPr>
        <p:sp>
          <p:nvSpPr>
            <p:cNvPr id="18" name="Rounded Rectangle 17"/>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9"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Risk</a:t>
              </a:r>
              <a:endParaRPr lang="en-US" sz="1600" kern="1200" dirty="0"/>
            </a:p>
          </p:txBody>
        </p:sp>
      </p:grpSp>
      <p:sp>
        <p:nvSpPr>
          <p:cNvPr id="20" name="Rounded Rectangle 19"/>
          <p:cNvSpPr/>
          <p:nvPr/>
        </p:nvSpPr>
        <p:spPr>
          <a:xfrm>
            <a:off x="3630632" y="6225961"/>
            <a:ext cx="6152346" cy="931334"/>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grpSp>
        <p:nvGrpSpPr>
          <p:cNvPr id="21" name="Group 20"/>
          <p:cNvGrpSpPr/>
          <p:nvPr/>
        </p:nvGrpSpPr>
        <p:grpSpPr>
          <a:xfrm>
            <a:off x="3895831" y="6430702"/>
            <a:ext cx="994833" cy="572648"/>
            <a:chOff x="366225" y="1131662"/>
            <a:chExt cx="1930488" cy="549485"/>
          </a:xfrm>
        </p:grpSpPr>
        <p:sp>
          <p:nvSpPr>
            <p:cNvPr id="22" name="Rounded Rectangle 21"/>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3"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P&amp;L</a:t>
              </a:r>
              <a:endParaRPr lang="en-US" sz="1600" kern="1200" dirty="0"/>
            </a:p>
          </p:txBody>
        </p:sp>
      </p:grpSp>
      <p:grpSp>
        <p:nvGrpSpPr>
          <p:cNvPr id="24" name="Group 23"/>
          <p:cNvGrpSpPr/>
          <p:nvPr/>
        </p:nvGrpSpPr>
        <p:grpSpPr>
          <a:xfrm>
            <a:off x="4992437" y="6430702"/>
            <a:ext cx="994833" cy="572648"/>
            <a:chOff x="366225" y="1131662"/>
            <a:chExt cx="1930488" cy="549485"/>
          </a:xfrm>
        </p:grpSpPr>
        <p:sp>
          <p:nvSpPr>
            <p:cNvPr id="25" name="Rounded Rectangle 24"/>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6"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Risk</a:t>
              </a:r>
              <a:endParaRPr lang="en-US" sz="1600" kern="1200" dirty="0"/>
            </a:p>
          </p:txBody>
        </p:sp>
      </p:grpSp>
      <p:sp>
        <p:nvSpPr>
          <p:cNvPr id="3" name="Down Arrow 2"/>
          <p:cNvSpPr/>
          <p:nvPr/>
        </p:nvSpPr>
        <p:spPr>
          <a:xfrm rot="16200000">
            <a:off x="6503430" y="2637543"/>
            <a:ext cx="484632" cy="6478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p:cNvGrpSpPr/>
          <p:nvPr/>
        </p:nvGrpSpPr>
        <p:grpSpPr>
          <a:xfrm>
            <a:off x="6180593" y="5354207"/>
            <a:ext cx="994833" cy="572648"/>
            <a:chOff x="366225" y="1131662"/>
            <a:chExt cx="1930488" cy="549485"/>
          </a:xfrm>
        </p:grpSpPr>
        <p:sp>
          <p:nvSpPr>
            <p:cNvPr id="28" name="Rounded Rectangle 27"/>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9"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CMO</a:t>
              </a:r>
              <a:endParaRPr lang="en-US" sz="1600" kern="1200" dirty="0"/>
            </a:p>
          </p:txBody>
        </p:sp>
      </p:grpSp>
      <p:grpSp>
        <p:nvGrpSpPr>
          <p:cNvPr id="33" name="Group 32"/>
          <p:cNvGrpSpPr/>
          <p:nvPr/>
        </p:nvGrpSpPr>
        <p:grpSpPr>
          <a:xfrm>
            <a:off x="7327826" y="5357131"/>
            <a:ext cx="994833" cy="572648"/>
            <a:chOff x="366225" y="1131662"/>
            <a:chExt cx="1930488" cy="549485"/>
          </a:xfrm>
        </p:grpSpPr>
        <p:sp>
          <p:nvSpPr>
            <p:cNvPr id="34" name="Rounded Rectangle 33"/>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5"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Pool</a:t>
              </a:r>
              <a:endParaRPr lang="en-US" sz="1600" kern="1200" dirty="0"/>
            </a:p>
          </p:txBody>
        </p:sp>
      </p:grpSp>
      <p:grpSp>
        <p:nvGrpSpPr>
          <p:cNvPr id="36" name="Group 35"/>
          <p:cNvGrpSpPr/>
          <p:nvPr/>
        </p:nvGrpSpPr>
        <p:grpSpPr>
          <a:xfrm>
            <a:off x="8443391" y="5362511"/>
            <a:ext cx="994833" cy="572648"/>
            <a:chOff x="366225" y="1131662"/>
            <a:chExt cx="1930488" cy="549485"/>
          </a:xfrm>
        </p:grpSpPr>
        <p:sp>
          <p:nvSpPr>
            <p:cNvPr id="37" name="Rounded Rectangle 36"/>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8"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Loan</a:t>
              </a:r>
              <a:endParaRPr lang="en-US" sz="1600" kern="1200" dirty="0"/>
            </a:p>
          </p:txBody>
        </p:sp>
      </p:grpSp>
      <p:grpSp>
        <p:nvGrpSpPr>
          <p:cNvPr id="39" name="Group 38"/>
          <p:cNvGrpSpPr/>
          <p:nvPr/>
        </p:nvGrpSpPr>
        <p:grpSpPr>
          <a:xfrm>
            <a:off x="6140653" y="6447473"/>
            <a:ext cx="994833" cy="572648"/>
            <a:chOff x="366225" y="1131662"/>
            <a:chExt cx="1930488" cy="549485"/>
          </a:xfrm>
        </p:grpSpPr>
        <p:sp>
          <p:nvSpPr>
            <p:cNvPr id="40" name="Rounded Rectangle 39"/>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41"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Balance</a:t>
              </a:r>
              <a:br>
                <a:rPr lang="en-US" sz="1600" dirty="0" smtClean="0"/>
              </a:br>
              <a:r>
                <a:rPr lang="en-US" sz="1600" dirty="0" smtClean="0"/>
                <a:t>Sheet</a:t>
              </a:r>
              <a:endParaRPr lang="en-US" sz="1600" kern="1200" dirty="0"/>
            </a:p>
          </p:txBody>
        </p:sp>
      </p:grpSp>
      <p:grpSp>
        <p:nvGrpSpPr>
          <p:cNvPr id="42" name="Group 41"/>
          <p:cNvGrpSpPr/>
          <p:nvPr/>
        </p:nvGrpSpPr>
        <p:grpSpPr>
          <a:xfrm>
            <a:off x="7334545" y="6447474"/>
            <a:ext cx="994833" cy="572648"/>
            <a:chOff x="366225" y="1131662"/>
            <a:chExt cx="1930488" cy="549485"/>
          </a:xfrm>
        </p:grpSpPr>
        <p:sp>
          <p:nvSpPr>
            <p:cNvPr id="43" name="Rounded Rectangle 42"/>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44"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Prepay</a:t>
              </a:r>
              <a:endParaRPr lang="en-US" sz="1600" kern="1200" dirty="0"/>
            </a:p>
          </p:txBody>
        </p:sp>
      </p:grpSp>
      <p:grpSp>
        <p:nvGrpSpPr>
          <p:cNvPr id="45" name="Group 44"/>
          <p:cNvGrpSpPr/>
          <p:nvPr/>
        </p:nvGrpSpPr>
        <p:grpSpPr>
          <a:xfrm>
            <a:off x="8481778" y="6455779"/>
            <a:ext cx="1204089" cy="572648"/>
            <a:chOff x="366225" y="1131662"/>
            <a:chExt cx="1930488" cy="549485"/>
          </a:xfrm>
        </p:grpSpPr>
        <p:sp>
          <p:nvSpPr>
            <p:cNvPr id="46" name="Rounded Rectangle 45"/>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47"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Collateral</a:t>
              </a:r>
              <a:br>
                <a:rPr lang="en-US" sz="1600" dirty="0" smtClean="0"/>
              </a:br>
              <a:r>
                <a:rPr lang="en-US" sz="1600" dirty="0" smtClean="0"/>
                <a:t>Distribution</a:t>
              </a:r>
              <a:endParaRPr lang="en-US" sz="1600" kern="1200" dirty="0"/>
            </a:p>
          </p:txBody>
        </p:sp>
      </p:grpSp>
      <p:sp>
        <p:nvSpPr>
          <p:cNvPr id="48" name="Rectangle 47"/>
          <p:cNvSpPr/>
          <p:nvPr/>
        </p:nvSpPr>
        <p:spPr>
          <a:xfrm>
            <a:off x="2904073" y="1121971"/>
            <a:ext cx="575735" cy="3365362"/>
          </a:xfrm>
          <a:prstGeom prst="rect">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solidFill>
                  <a:schemeClr val="bg1"/>
                </a:solidFill>
              </a:rPr>
              <a:t>Analytics System</a:t>
            </a:r>
          </a:p>
        </p:txBody>
      </p:sp>
      <p:sp>
        <p:nvSpPr>
          <p:cNvPr id="49" name="Rectangle 48"/>
          <p:cNvSpPr/>
          <p:nvPr/>
        </p:nvSpPr>
        <p:spPr>
          <a:xfrm>
            <a:off x="2904073" y="5128522"/>
            <a:ext cx="575735" cy="931334"/>
          </a:xfrm>
          <a:prstGeom prst="rect">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solidFill>
                  <a:schemeClr val="bg1"/>
                </a:solidFill>
              </a:rPr>
              <a:t>Data Warehouse</a:t>
            </a:r>
          </a:p>
        </p:txBody>
      </p:sp>
      <p:sp>
        <p:nvSpPr>
          <p:cNvPr id="50" name="Rectangle 49"/>
          <p:cNvSpPr/>
          <p:nvPr/>
        </p:nvSpPr>
        <p:spPr>
          <a:xfrm>
            <a:off x="2904071" y="6225961"/>
            <a:ext cx="575735" cy="931334"/>
          </a:xfrm>
          <a:prstGeom prst="rect">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solidFill>
                  <a:schemeClr val="bg1"/>
                </a:solidFill>
              </a:rPr>
              <a:t>Report Suite</a:t>
            </a:r>
          </a:p>
        </p:txBody>
      </p:sp>
      <p:sp>
        <p:nvSpPr>
          <p:cNvPr id="51" name="Rounded Rectangle 50"/>
          <p:cNvSpPr/>
          <p:nvPr/>
        </p:nvSpPr>
        <p:spPr>
          <a:xfrm>
            <a:off x="3651536" y="4902609"/>
            <a:ext cx="6131442" cy="73514"/>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sp>
        <p:nvSpPr>
          <p:cNvPr id="4" name="Rectangle 3"/>
          <p:cNvSpPr/>
          <p:nvPr/>
        </p:nvSpPr>
        <p:spPr>
          <a:xfrm>
            <a:off x="4813226" y="206970"/>
            <a:ext cx="5029200" cy="830997"/>
          </a:xfrm>
          <a:prstGeom prst="rect">
            <a:avLst/>
          </a:prstGeom>
        </p:spPr>
        <p:txBody>
          <a:bodyPr>
            <a:spAutoFit/>
          </a:bodyPr>
          <a:lstStyle/>
          <a:p>
            <a:pPr algn="r" defTabSz="1018705" eaLnBrk="0" hangingPunct="0">
              <a:defRPr/>
            </a:pPr>
            <a:r>
              <a:rPr lang="en-US" sz="1400" b="1" kern="0" dirty="0" smtClean="0">
                <a:solidFill>
                  <a:schemeClr val="bg1"/>
                </a:solidFill>
                <a:latin typeface="Calibri" pitchFamily="34" charset="0"/>
              </a:rPr>
              <a:t>TECHNOLOGY AND ANALYTICS VISION</a:t>
            </a:r>
            <a:r>
              <a:rPr lang="en-US" b="1" kern="0" dirty="0">
                <a:solidFill>
                  <a:schemeClr val="bg1"/>
                </a:solidFill>
                <a:latin typeface="Calibri" pitchFamily="34" charset="0"/>
              </a:rPr>
              <a:t/>
            </a:r>
            <a:br>
              <a:rPr lang="en-US" b="1" kern="0" dirty="0">
                <a:solidFill>
                  <a:schemeClr val="bg1"/>
                </a:solidFill>
                <a:latin typeface="Calibri" pitchFamily="34" charset="0"/>
              </a:rPr>
            </a:br>
            <a:r>
              <a:rPr lang="en-US" sz="1600" kern="0" dirty="0">
                <a:solidFill>
                  <a:schemeClr val="bg1"/>
                </a:solidFill>
                <a:latin typeface="Calibri" pitchFamily="34" charset="0"/>
              </a:rPr>
              <a:t/>
            </a:r>
            <a:br>
              <a:rPr lang="en-US" sz="1600" kern="0" dirty="0">
                <a:solidFill>
                  <a:schemeClr val="bg1"/>
                </a:solidFill>
                <a:latin typeface="Calibri" pitchFamily="34" charset="0"/>
              </a:rPr>
            </a:br>
            <a:endParaRPr lang="en-US" kern="0" dirty="0">
              <a:solidFill>
                <a:schemeClr val="bg1"/>
              </a:solidFill>
            </a:endParaRPr>
          </a:p>
        </p:txBody>
      </p:sp>
    </p:spTree>
    <p:extLst>
      <p:ext uri="{BB962C8B-B14F-4D97-AF65-F5344CB8AC3E}">
        <p14:creationId xmlns:p14="http://schemas.microsoft.com/office/powerpoint/2010/main" val="162559211"/>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wAe8W4muTkmaA6FOkUfbYg"/>
</p:tagLst>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70790</TotalTime>
  <Words>1937</Words>
  <Application>Microsoft Office PowerPoint</Application>
  <PresentationFormat>Custom</PresentationFormat>
  <Paragraphs>394</Paragraphs>
  <Slides>19</Slides>
  <Notes>5</Notes>
  <HiddenSlides>0</HiddenSlides>
  <MMClips>0</MMClips>
  <ScaleCrop>false</ScaleCrop>
  <HeadingPairs>
    <vt:vector size="4" baseType="variant">
      <vt:variant>
        <vt:lpstr>Theme</vt:lpstr>
      </vt:variant>
      <vt:variant>
        <vt:i4>13</vt:i4>
      </vt:variant>
      <vt:variant>
        <vt:lpstr>Slide Titles</vt:lpstr>
      </vt:variant>
      <vt:variant>
        <vt:i4>19</vt:i4>
      </vt:variant>
    </vt:vector>
  </HeadingPairs>
  <TitlesOfParts>
    <vt:vector size="32"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PowerPoint Presentation</vt:lpstr>
      <vt:lpstr>PowerPoint Presentation</vt:lpstr>
      <vt:lpstr>PowerPoint Presentation</vt:lpstr>
      <vt:lpstr>PowerPoint Presentation</vt:lpstr>
      <vt:lpstr>PowerPoint Presentation</vt:lpstr>
      <vt:lpstr>PowerPoint Presentation</vt:lpstr>
      <vt:lpstr> A COMPLEX RANGE OF FACTORS IMPACTS HOMEOWNER PREPAYMENT BEHAVIOR  </vt:lpstr>
      <vt:lpstr>PREPAYMENT RESEARCH TARGETS BOTH THE LEVEL OF PREPAYMENTS…</vt:lpstr>
      <vt:lpstr>…AND THE DISTRIBUTION OF PREPAYMENTS ACROSS COLLATERAL CHARACTERISTICS</vt:lpstr>
      <vt:lpstr>MODEL CUSTOMIZATIONS ARE BASED ON EMPIRICAL RESEARCH AND ECONOMICS  </vt:lpstr>
      <vt:lpstr>EACH PREPAYMENT “STORY” TYPICALLY REQUIRES A CUSTOMIZED MODEL  </vt:lpstr>
      <vt:lpstr>EXAMPLE 1: MODELING PREPAYMENT BEHAVIOR</vt:lpstr>
      <vt:lpstr>EXAMPLE 2: GSE LOAN-LEVEL PREPAYMENT AND CREDIT MODEL </vt:lpstr>
      <vt:lpstr>EXAMPLE 3: MODELING MORTGAGE CREDIT AVAILABILITY</vt:lpstr>
      <vt:lpstr>EXAMPLE 3: HISTORY OF CELLO’s MCAI </vt:lpstr>
      <vt:lpstr>EXAMPLE 4: ACTIVE MANAGEMENT OF IO BETA</vt:lpstr>
      <vt:lpstr>PowerPoint Presentation</vt:lpstr>
      <vt:lpstr>PowerPoint Presentation</vt:lpstr>
      <vt:lpstr> </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2107</cp:revision>
  <cp:lastPrinted>2015-12-11T20:05:57Z</cp:lastPrinted>
  <dcterms:created xsi:type="dcterms:W3CDTF">2011-07-07T12:37:32Z</dcterms:created>
  <dcterms:modified xsi:type="dcterms:W3CDTF">2016-01-19T15:52:32Z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