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18"/>
  </p:notesMasterIdLst>
  <p:handoutMasterIdLst>
    <p:handoutMasterId r:id="rId19"/>
  </p:handoutMasterIdLst>
  <p:sldIdLst>
    <p:sldId id="633" r:id="rId16"/>
    <p:sldId id="635" r:id="rId17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872">
          <p15:clr>
            <a:srgbClr val="A4A3A4"/>
          </p15:clr>
        </p15:guide>
        <p15:guide id="2" orient="horz" pos="1976">
          <p15:clr>
            <a:srgbClr val="A4A3A4"/>
          </p15:clr>
        </p15:guide>
        <p15:guide id="3" orient="horz" pos="797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4327">
          <p15:clr>
            <a:srgbClr val="A4A3A4"/>
          </p15:clr>
        </p15:guide>
        <p15:guide id="6" orient="horz" pos="145">
          <p15:clr>
            <a:srgbClr val="A4A3A4"/>
          </p15:clr>
        </p15:guide>
        <p15:guide id="7" pos="5282">
          <p15:clr>
            <a:srgbClr val="A4A3A4"/>
          </p15:clr>
        </p15:guide>
        <p15:guide id="8" pos="2736">
          <p15:clr>
            <a:srgbClr val="A4A3A4"/>
          </p15:clr>
        </p15:guide>
        <p15:guide id="9" pos="5046">
          <p15:clr>
            <a:srgbClr val="A4A3A4"/>
          </p15:clr>
        </p15:guide>
        <p15:guide id="10" pos="1973">
          <p15:clr>
            <a:srgbClr val="A4A3A4"/>
          </p15:clr>
        </p15:guide>
        <p15:guide id="11" pos="3396">
          <p15:clr>
            <a:srgbClr val="A4A3A4"/>
          </p15:clr>
        </p15:guide>
        <p15:guide id="12" pos="3165">
          <p15:clr>
            <a:srgbClr val="A4A3A4"/>
          </p15:clr>
        </p15:guide>
        <p15:guide id="13" pos="1575">
          <p15:clr>
            <a:srgbClr val="A4A3A4"/>
          </p15:clr>
        </p15:guide>
        <p15:guide id="14" pos="10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05">
          <p15:clr>
            <a:srgbClr val="A4A3A4"/>
          </p15:clr>
        </p15:guide>
        <p15:guide id="2" pos="218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A60"/>
    <a:srgbClr val="AD275C"/>
    <a:srgbClr val="F6D6E3"/>
    <a:srgbClr val="968880"/>
    <a:srgbClr val="8C2B18"/>
    <a:srgbClr val="2E398A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29" d="100"/>
          <a:sy n="129" d="100"/>
        </p:scale>
        <p:origin x="-108" y="-426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6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04657" y="5582952"/>
            <a:ext cx="431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  <a:latin typeface="Calibri" panose="020F0502020204030204" pitchFamily="34" charset="0"/>
              </a:rPr>
              <a:t>Prepayment Model Release Process</a:t>
            </a:r>
            <a:endParaRPr lang="en-US" dirty="0">
              <a:solidFill>
                <a:schemeClr val="accent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4657" y="6115097"/>
            <a:ext cx="431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accent1"/>
                </a:solidFill>
                <a:latin typeface="Calibri" panose="020F0502020204030204" pitchFamily="34" charset="0"/>
              </a:rPr>
              <a:t>July 2016</a:t>
            </a:r>
            <a:endParaRPr lang="en-US" dirty="0">
              <a:solidFill>
                <a:schemeClr val="accent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040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Overview of Current Model Release Process</a:t>
            </a:r>
            <a:endParaRPr lang="en-US" sz="16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79220" y="955037"/>
            <a:ext cx="4762500" cy="36471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 smtClean="0">
                <a:latin typeface="+mn-lt"/>
              </a:rPr>
              <a:t>New Baton Model Complete / </a:t>
            </a:r>
            <a:r>
              <a:rPr lang="en-US" sz="1400" dirty="0">
                <a:latin typeface="+mn-lt"/>
              </a:rPr>
              <a:t>Tracking Looks Good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R Model Release (New Baton JSON File)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Code </a:t>
            </a:r>
            <a:r>
              <a:rPr lang="en-US" sz="1400" dirty="0" smtClean="0">
                <a:latin typeface="+mn-lt"/>
              </a:rPr>
              <a:t>the </a:t>
            </a:r>
            <a:r>
              <a:rPr lang="en-US" sz="1400" dirty="0">
                <a:latin typeface="+mn-lt"/>
              </a:rPr>
              <a:t>New Curves / </a:t>
            </a:r>
            <a:r>
              <a:rPr lang="en-US" sz="1400" dirty="0" err="1">
                <a:latin typeface="+mn-lt"/>
              </a:rPr>
              <a:t>Algos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smtClean="0">
                <a:latin typeface="+mn-lt"/>
              </a:rPr>
              <a:t>(if any) in </a:t>
            </a:r>
            <a:r>
              <a:rPr lang="en-US" sz="1400" dirty="0">
                <a:latin typeface="+mn-lt"/>
              </a:rPr>
              <a:t>C++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Test </a:t>
            </a:r>
            <a:r>
              <a:rPr lang="en-US" sz="1400" dirty="0" smtClean="0">
                <a:latin typeface="+mn-lt"/>
              </a:rPr>
              <a:t>Splines </a:t>
            </a:r>
            <a:r>
              <a:rPr lang="en-US" sz="1400" dirty="0">
                <a:latin typeface="+mn-lt"/>
              </a:rPr>
              <a:t>in C++ against </a:t>
            </a:r>
            <a:r>
              <a:rPr lang="en-US" sz="1400" dirty="0" smtClean="0">
                <a:latin typeface="+mn-lt"/>
              </a:rPr>
              <a:t>R Splines</a:t>
            </a:r>
            <a:endParaRPr lang="en-US" sz="1400" dirty="0">
              <a:latin typeface="+mn-lt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Run a Sample Set of Pools in R and C++ </a:t>
            </a:r>
            <a:endParaRPr lang="en-US" sz="1400" dirty="0" smtClean="0">
              <a:latin typeface="+mn-lt"/>
            </a:endParaRPr>
          </a:p>
          <a:p>
            <a:pPr marL="736126" lvl="1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No </a:t>
            </a:r>
            <a:r>
              <a:rPr lang="en-US" sz="1400" dirty="0">
                <a:latin typeface="+mn-lt"/>
              </a:rPr>
              <a:t>CPR </a:t>
            </a:r>
            <a:r>
              <a:rPr lang="en-US" sz="1400" dirty="0" smtClean="0">
                <a:latin typeface="+mn-lt"/>
              </a:rPr>
              <a:t>Differences +- 0.5</a:t>
            </a:r>
            <a:endParaRPr lang="en-US" sz="1400" dirty="0">
              <a:latin typeface="+mn-lt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+mn-lt"/>
              </a:rPr>
              <a:t>Create Symphony Tracking Data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SQL Code Changes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Update Python Code to run the data extraction</a:t>
            </a:r>
          </a:p>
          <a:p>
            <a:pPr marL="1188268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Test with 1000 pools at first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Run Scale on the full data files </a:t>
            </a:r>
            <a:endParaRPr lang="en-US" sz="1400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9220" y="4657374"/>
            <a:ext cx="4762500" cy="138499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7"/>
            </a:pPr>
            <a:r>
              <a:rPr lang="en-US" sz="1400" dirty="0">
                <a:latin typeface="+mn-lt"/>
              </a:rPr>
              <a:t>Code C++ projections in Scale</a:t>
            </a:r>
          </a:p>
          <a:p>
            <a:pPr marL="793276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Add any new data update </a:t>
            </a:r>
            <a:r>
              <a:rPr lang="en-US" sz="1400" dirty="0" smtClean="0">
                <a:latin typeface="+mn-lt"/>
              </a:rPr>
              <a:t>steps</a:t>
            </a:r>
          </a:p>
          <a:p>
            <a:pPr marL="342900" indent="-342900">
              <a:buFont typeface="+mj-lt"/>
              <a:buAutoNum type="arabicPeriod" startAt="7"/>
            </a:pPr>
            <a:r>
              <a:rPr lang="en-US" sz="1400" dirty="0" smtClean="0">
                <a:latin typeface="+mn-lt"/>
              </a:rPr>
              <a:t>CDU File Creation </a:t>
            </a:r>
          </a:p>
          <a:p>
            <a:pPr marL="850426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Validation (no missing fields / inputs tie out</a:t>
            </a:r>
            <a:r>
              <a:rPr lang="en-US" sz="1400" dirty="0" smtClean="0">
                <a:latin typeface="+mn-lt"/>
              </a:rPr>
              <a:t>)</a:t>
            </a:r>
          </a:p>
          <a:p>
            <a:pPr marL="342900" indent="-342900">
              <a:buFont typeface="+mj-lt"/>
              <a:buAutoNum type="arabicPeriod" startAt="7"/>
            </a:pPr>
            <a:r>
              <a:rPr lang="en-US" sz="1400" dirty="0" smtClean="0">
                <a:latin typeface="+mn-lt"/>
              </a:rPr>
              <a:t>Tie-out between Symphony and Scale Tracking</a:t>
            </a:r>
          </a:p>
          <a:p>
            <a:pPr marL="850426" lvl="1" indent="-34290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No CPR Differences +- 0.5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9220" y="6097554"/>
            <a:ext cx="4762500" cy="10618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en-US" sz="1400" dirty="0" smtClean="0">
                <a:latin typeface="+mn-lt"/>
              </a:rPr>
              <a:t>Test IOS, </a:t>
            </a:r>
            <a:r>
              <a:rPr lang="en-US" sz="1400" dirty="0" smtClean="0">
                <a:latin typeface="+mn-lt"/>
              </a:rPr>
              <a:t>Cohorts, </a:t>
            </a:r>
            <a:r>
              <a:rPr lang="en-US" sz="1400" dirty="0" smtClean="0">
                <a:latin typeface="+mn-lt"/>
              </a:rPr>
              <a:t>Bonds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en-US" sz="1400" dirty="0" smtClean="0">
                <a:latin typeface="+mn-lt"/>
              </a:rPr>
              <a:t>Test Tracking </a:t>
            </a:r>
            <a:r>
              <a:rPr lang="en-US" sz="1400" dirty="0">
                <a:latin typeface="+mn-lt"/>
              </a:rPr>
              <a:t>for IOS, </a:t>
            </a:r>
            <a:r>
              <a:rPr lang="en-US" sz="1400" dirty="0" smtClean="0">
                <a:latin typeface="+mn-lt"/>
              </a:rPr>
              <a:t>Cohorts, </a:t>
            </a:r>
            <a:r>
              <a:rPr lang="en-US" sz="1400" dirty="0" smtClean="0">
                <a:latin typeface="+mn-lt"/>
              </a:rPr>
              <a:t>Bonds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en-US" sz="1400" dirty="0" smtClean="0">
                <a:latin typeface="+mn-lt"/>
              </a:rPr>
              <a:t>Test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87680" y="955037"/>
            <a:ext cx="891540" cy="3647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 smtClean="0"/>
              <a:t>Research</a:t>
            </a:r>
            <a:endParaRPr lang="en-US" sz="1400" dirty="0"/>
          </a:p>
        </p:txBody>
      </p:sp>
      <p:sp>
        <p:nvSpPr>
          <p:cNvPr id="8" name="Rectangle 7"/>
          <p:cNvSpPr/>
          <p:nvPr/>
        </p:nvSpPr>
        <p:spPr>
          <a:xfrm>
            <a:off x="487680" y="4657374"/>
            <a:ext cx="891540" cy="138499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 smtClean="0"/>
              <a:t>Research &amp;</a:t>
            </a:r>
          </a:p>
          <a:p>
            <a:pPr algn="ctr"/>
            <a:r>
              <a:rPr lang="en-US" sz="1400" dirty="0" smtClean="0"/>
              <a:t>Technology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87680" y="6097554"/>
            <a:ext cx="891540" cy="106182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 smtClean="0"/>
              <a:t>Technology</a:t>
            </a:r>
            <a:endParaRPr lang="en-US" sz="1400" dirty="0"/>
          </a:p>
        </p:txBody>
      </p:sp>
      <p:sp>
        <p:nvSpPr>
          <p:cNvPr id="7" name="Isosceles Triangle 6"/>
          <p:cNvSpPr/>
          <p:nvPr/>
        </p:nvSpPr>
        <p:spPr>
          <a:xfrm rot="5400000">
            <a:off x="5965466" y="2637643"/>
            <a:ext cx="1341120" cy="28194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315200" y="2108053"/>
            <a:ext cx="2141220" cy="13411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Symphony Tracking is Ready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Isosceles Triangle 16"/>
          <p:cNvSpPr/>
          <p:nvPr/>
        </p:nvSpPr>
        <p:spPr>
          <a:xfrm rot="5400000">
            <a:off x="6108134" y="6484474"/>
            <a:ext cx="1055781" cy="281940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315199" y="6097553"/>
            <a:ext cx="2141220" cy="105578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Reports are Ready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Isosceles Triangle 19"/>
          <p:cNvSpPr/>
          <p:nvPr/>
        </p:nvSpPr>
        <p:spPr>
          <a:xfrm rot="5400000">
            <a:off x="6108135" y="5208901"/>
            <a:ext cx="1055781" cy="281940"/>
          </a:xfrm>
          <a:prstGeom prst="triangl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15200" y="4821980"/>
            <a:ext cx="2141220" cy="10557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Projection is Ready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Arc 25"/>
          <p:cNvSpPr/>
          <p:nvPr/>
        </p:nvSpPr>
        <p:spPr>
          <a:xfrm rot="2742658">
            <a:off x="843713" y="531161"/>
            <a:ext cx="5037367" cy="4926437"/>
          </a:xfrm>
          <a:prstGeom prst="arc">
            <a:avLst>
              <a:gd name="adj1" fmla="val 16315922"/>
              <a:gd name="adj2" fmla="val 19958734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5090160" y="3931920"/>
            <a:ext cx="1051560" cy="670269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PM </a:t>
            </a:r>
            <a:r>
              <a:rPr lang="en-US" sz="1200" dirty="0" smtClean="0">
                <a:solidFill>
                  <a:schemeClr val="tx1"/>
                </a:solidFill>
              </a:rPr>
              <a:t>provides feedback on model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42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93510</TotalTime>
  <Words>166</Words>
  <Application>Microsoft Office PowerPoint</Application>
  <PresentationFormat>Custom</PresentationFormat>
  <Paragraphs>31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</vt:i4>
      </vt:variant>
    </vt:vector>
  </HeadingPairs>
  <TitlesOfParts>
    <vt:vector size="17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Overview of Current Model Release Process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Sharad Chaudhary</cp:lastModifiedBy>
  <cp:revision>2184</cp:revision>
  <cp:lastPrinted>2016-07-07T23:03:06Z</cp:lastPrinted>
  <dcterms:created xsi:type="dcterms:W3CDTF">2011-07-07T12:37:32Z</dcterms:created>
  <dcterms:modified xsi:type="dcterms:W3CDTF">2016-07-08T12:54:43Z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