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25"/>
  </p:notesMasterIdLst>
  <p:handoutMasterIdLst>
    <p:handoutMasterId r:id="rId26"/>
  </p:handoutMasterIdLst>
  <p:sldIdLst>
    <p:sldId id="433" r:id="rId16"/>
    <p:sldId id="583" r:id="rId17"/>
    <p:sldId id="547" r:id="rId18"/>
    <p:sldId id="586" r:id="rId19"/>
    <p:sldId id="679" r:id="rId20"/>
    <p:sldId id="684" r:id="rId21"/>
    <p:sldId id="685" r:id="rId22"/>
    <p:sldId id="622" r:id="rId23"/>
    <p:sldId id="686" r:id="rId24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12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FF9966"/>
    <a:srgbClr val="FFCC00"/>
    <a:srgbClr val="FF9933"/>
    <a:srgbClr val="FF6600"/>
    <a:srgbClr val="E519CD"/>
    <a:srgbClr val="968880"/>
    <a:srgbClr val="2E398A"/>
    <a:srgbClr val="533D2D"/>
    <a:srgbClr val="533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72" autoAdjust="0"/>
    <p:restoredTop sz="95014" autoAdjust="0"/>
  </p:normalViewPr>
  <p:slideViewPr>
    <p:cSldViewPr snapToGrid="0" snapToObjects="1">
      <p:cViewPr varScale="1">
        <p:scale>
          <a:sx n="116" d="100"/>
          <a:sy n="116" d="100"/>
        </p:scale>
        <p:origin x="-144" y="-90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12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4" y="4416438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15"/>
            <a:fld id="{1FE077EC-684A-4FD9-A6C3-9AE90D8B81D6}" type="slidenum">
              <a:rPr lang="en-US" smtClean="0"/>
              <a:pPr defTabSz="919915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17547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3144033" y="6084608"/>
            <a:ext cx="6547664" cy="856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3100" dirty="0" err="1" smtClean="0">
                <a:solidFill>
                  <a:srgbClr val="968880"/>
                </a:solidFill>
                <a:latin typeface="Calibri" pitchFamily="34" charset="0"/>
              </a:rPr>
              <a:t>Repline</a:t>
            </a:r>
            <a:r>
              <a:rPr lang="en-US" sz="3100" dirty="0" smtClean="0">
                <a:solidFill>
                  <a:srgbClr val="968880"/>
                </a:solidFill>
                <a:latin typeface="Calibri" pitchFamily="34" charset="0"/>
              </a:rPr>
              <a:t> Strategy</a:t>
            </a:r>
            <a:endParaRPr lang="en-US" sz="31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February</a:t>
            </a:r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Outline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08760" y="2059512"/>
            <a:ext cx="7040880" cy="5042746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Introduction to </a:t>
            </a:r>
            <a:r>
              <a:rPr lang="en-US" sz="1800" dirty="0" err="1" smtClean="0"/>
              <a:t>Replines</a:t>
            </a:r>
            <a:endParaRPr lang="en-US" sz="1800" dirty="0" smtClean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Description of Model Variables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Identification of </a:t>
            </a:r>
            <a:r>
              <a:rPr lang="en-US" sz="1800" dirty="0" err="1" smtClean="0"/>
              <a:t>Repline</a:t>
            </a:r>
            <a:r>
              <a:rPr lang="en-US" sz="1800" dirty="0" smtClean="0"/>
              <a:t> Variables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Tracking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Forward Projection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73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Introduction to </a:t>
            </a:r>
            <a:r>
              <a:rPr lang="en-US" sz="2400" b="0" dirty="0" err="1" smtClean="0">
                <a:solidFill>
                  <a:schemeClr val="tx1"/>
                </a:solidFill>
              </a:rPr>
              <a:t>Replines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err="1" smtClean="0"/>
              <a:t>Repline</a:t>
            </a:r>
            <a:r>
              <a:rPr lang="en-US" sz="1400" b="1" dirty="0" smtClean="0"/>
              <a:t> Definition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Replines</a:t>
            </a:r>
            <a:r>
              <a:rPr lang="en-US" sz="1400" dirty="0" smtClean="0"/>
              <a:t> are groupings of loans which are representative of the actual loans underlying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err="1" smtClean="0"/>
              <a:t>Repline</a:t>
            </a:r>
            <a:r>
              <a:rPr lang="en-US" sz="1400" b="1" dirty="0" smtClean="0"/>
              <a:t> Goal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goal for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creation is the reduction in dimensionality. Ex) 1,000,000 loans can be reduced to 1,000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Ideal </a:t>
            </a:r>
            <a:r>
              <a:rPr lang="en-US" sz="1400" b="1" dirty="0" err="1" smtClean="0"/>
              <a:t>Repline</a:t>
            </a:r>
            <a:r>
              <a:rPr lang="en-US" sz="1400" b="1" dirty="0" smtClean="0"/>
              <a:t> Algorithm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ideal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algorithm optimizes 2 outputs: 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reduction in dimensionality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matches underlying distribution of loans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err="1" smtClean="0"/>
              <a:t>Repline</a:t>
            </a:r>
            <a:r>
              <a:rPr lang="en-US" sz="1400" b="1" dirty="0" smtClean="0"/>
              <a:t> Construction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Determine which loan characteristics to “bucket” by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Determine granularity of buckets within each loan characteristic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Group loans into the combination of these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Average the loan characteristics within each of these combined buckets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6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Model Variables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4927174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Curtailment Module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WALA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Default Module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WALA, </a:t>
            </a:r>
            <a:r>
              <a:rPr lang="en-US" sz="1400" dirty="0"/>
              <a:t>CLTV, </a:t>
            </a:r>
            <a:r>
              <a:rPr lang="en-US" sz="1400" dirty="0" smtClean="0"/>
              <a:t>FICO, DTI, Occupancy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Turnover Module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WALA, CLTV, Hpa2yr</a:t>
            </a:r>
            <a:r>
              <a:rPr lang="en-US" sz="1400" dirty="0" smtClean="0"/>
              <a:t>, </a:t>
            </a:r>
            <a:r>
              <a:rPr lang="en-US" sz="1400" dirty="0" err="1" smtClean="0"/>
              <a:t>LockIn</a:t>
            </a:r>
            <a:r>
              <a:rPr lang="en-US" sz="1400" dirty="0" smtClean="0"/>
              <a:t>, Seasonality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Refinance Module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WALA, CLTV, </a:t>
            </a:r>
            <a:r>
              <a:rPr lang="en-US" sz="1400" dirty="0" smtClean="0"/>
              <a:t>Credit Availability</a:t>
            </a:r>
            <a:r>
              <a:rPr lang="en-US" sz="1400" dirty="0" smtClean="0"/>
              <a:t>, Incentive, Media, </a:t>
            </a:r>
            <a:r>
              <a:rPr lang="en-US" sz="1400" dirty="0" smtClean="0"/>
              <a:t>Loan Size</a:t>
            </a:r>
            <a:r>
              <a:rPr lang="en-US" sz="1400" dirty="0" smtClean="0"/>
              <a:t>, </a:t>
            </a:r>
            <a:r>
              <a:rPr lang="en-US" sz="1400" dirty="0" smtClean="0"/>
              <a:t>Burnout</a:t>
            </a:r>
            <a:endParaRPr lang="en-US" sz="1400" b="1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13 variables total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Static: FICO, DTI, Occupancy, [State, </a:t>
            </a:r>
            <a:r>
              <a:rPr lang="en-US" sz="1400" dirty="0" smtClean="0"/>
              <a:t>Loan Coupon</a:t>
            </a:r>
            <a:r>
              <a:rPr lang="en-US" sz="1400" dirty="0" smtClean="0"/>
              <a:t>]*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Independent: Credit Availability, Media, Hpa2yr</a:t>
            </a:r>
          </a:p>
          <a:p>
            <a:pPr lvl="1" algn="l"/>
            <a:r>
              <a:rPr lang="en-US" sz="1400" dirty="0" smtClean="0"/>
              <a:t>       * Not in model, but available at loan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19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>
                <a:solidFill>
                  <a:schemeClr val="tx1"/>
                </a:solidFill>
              </a:rPr>
              <a:t>I</a:t>
            </a:r>
            <a:r>
              <a:rPr lang="en-US" sz="2400" b="0" dirty="0" smtClean="0">
                <a:solidFill>
                  <a:schemeClr val="tx1"/>
                </a:solidFill>
              </a:rPr>
              <a:t>dentification of </a:t>
            </a:r>
            <a:r>
              <a:rPr lang="en-US" sz="2400" b="0" dirty="0" err="1" smtClean="0">
                <a:solidFill>
                  <a:schemeClr val="tx1"/>
                </a:solidFill>
              </a:rPr>
              <a:t>Repline</a:t>
            </a:r>
            <a:r>
              <a:rPr lang="en-US" sz="2400" b="0" dirty="0" smtClean="0">
                <a:solidFill>
                  <a:schemeClr val="tx1"/>
                </a:solidFill>
              </a:rPr>
              <a:t> Variables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4"/>
          <p:cNvSpPr txBox="1">
            <a:spLocks/>
          </p:cNvSpPr>
          <p:nvPr/>
        </p:nvSpPr>
        <p:spPr bwMode="auto">
          <a:xfrm>
            <a:off x="970059" y="1836881"/>
            <a:ext cx="7579581" cy="4927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110000"/>
              </a:spcBef>
              <a:spcAft>
                <a:spcPct val="0"/>
              </a:spcAft>
              <a:buClr>
                <a:schemeClr val="tx2"/>
              </a:buClr>
              <a:buNone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235" indent="0" algn="ctr" rtl="0" eaLnBrk="0" fontAlgn="base" hangingPunct="0">
              <a:spcBef>
                <a:spcPct val="47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1018472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None/>
              <a:defRPr sz="1200">
                <a:solidFill>
                  <a:schemeClr val="tx1"/>
                </a:solidFill>
                <a:latin typeface="+mn-lt"/>
              </a:defRPr>
            </a:lvl3pPr>
            <a:lvl4pPr marL="1527709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36945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4618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6pPr>
            <a:lvl7pPr marL="3055417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7pPr>
            <a:lvl8pPr marL="3564653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8pPr>
            <a:lvl9pPr marL="4073887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kern="0" dirty="0" err="1" smtClean="0"/>
              <a:t>Repline</a:t>
            </a:r>
            <a:r>
              <a:rPr lang="en-US" sz="1400" b="1" kern="0" dirty="0" smtClean="0"/>
              <a:t>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Coupon – 64 buckets (12.5 </a:t>
            </a:r>
            <a:r>
              <a:rPr lang="en-US" sz="1400" dirty="0" err="1" smtClean="0"/>
              <a:t>bp</a:t>
            </a:r>
            <a:r>
              <a:rPr lang="en-US" sz="1400" dirty="0" smtClean="0"/>
              <a:t> increments)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FICO – 6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Occupancy – 2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DTI – 4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LoanSize</a:t>
            </a:r>
            <a:r>
              <a:rPr lang="en-US" sz="1400" dirty="0" smtClean="0"/>
              <a:t> – 4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State – 11 buckets (10 states + US)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Total Possible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 = ~135,000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Conclusion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135,000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 are computationally tractable for tracking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Clever selection of variables captures a large part of underlying distribution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Reduces dimensionality by order of ~100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endParaRPr lang="en-US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20436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Tracking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Overview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Taking the entire set of loan level data we have ~500MM observations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Under the proposed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schema we could reduce dimensionality to &lt; 130,000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 per period. ~5MM observations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This results in a computationally tractable tracking process. We can run tracking on the entire universe of loans (converted to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) in ~1HR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Our process of controlling for model variables helps us to reduce dimensionality but also captures a majority of the underlying distribution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tracking results can easily be stored in IQ and used within Symphony in the same way that the Pool level tracking results are used</a:t>
            </a:r>
          </a:p>
        </p:txBody>
      </p:sp>
    </p:spTree>
    <p:extLst>
      <p:ext uri="{BB962C8B-B14F-4D97-AF65-F5344CB8AC3E}">
        <p14:creationId xmlns:p14="http://schemas.microsoft.com/office/powerpoint/2010/main" val="4158276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Tracking Results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1865010"/>
            <a:ext cx="8615957" cy="528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8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Forward Projections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Overview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Taking the loan level data beneath a bond we could have 1,000+ loans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Scale has the ability to run projections very quickly (~100 / sec)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Hence a very granular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algorithm can be used</a:t>
            </a:r>
          </a:p>
        </p:txBody>
      </p:sp>
    </p:spTree>
    <p:extLst>
      <p:ext uri="{BB962C8B-B14F-4D97-AF65-F5344CB8AC3E}">
        <p14:creationId xmlns:p14="http://schemas.microsoft.com/office/powerpoint/2010/main" val="306455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OAS Projections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Overview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OAS is a much more time consuming calculation (~6 seconds /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@ 200 paths)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Assuming the loan level data beneath a bond is 1,000+ loans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Under the proposed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schema we could reduce dimensionality, but the reduction could be minimal with &gt;100,000 possible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combinations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To keep OAS calculations to ~1minute, we will need to have ~10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 per bond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Reducing the dimensionality can easily be achieved by removing state from the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algorithm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Removing state does not hurt our projections provided our HPA projections are at the US level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With state removed, we have ~12,000 possible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 which is a substantial reduction in dimension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last step would be to map each loan into the top 9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buckets, with the remaining loans all mapped into 1 </a:t>
            </a:r>
            <a:r>
              <a:rPr lang="en-US" sz="1400" dirty="0" err="1" smtClean="0"/>
              <a:t>repline</a:t>
            </a: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This gives us a total of 10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, which should keep our OAS calculations manageable</a:t>
            </a:r>
          </a:p>
        </p:txBody>
      </p:sp>
    </p:spTree>
    <p:extLst>
      <p:ext uri="{BB962C8B-B14F-4D97-AF65-F5344CB8AC3E}">
        <p14:creationId xmlns:p14="http://schemas.microsoft.com/office/powerpoint/2010/main" val="29526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101471</TotalTime>
  <Words>584</Words>
  <Application>Microsoft Office PowerPoint</Application>
  <PresentationFormat>Custom</PresentationFormat>
  <Paragraphs>74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9</vt:i4>
      </vt:variant>
    </vt:vector>
  </HeadingPairs>
  <TitlesOfParts>
    <vt:vector size="24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Outline</vt:lpstr>
      <vt:lpstr>Introduction to Replines</vt:lpstr>
      <vt:lpstr>Description of Model Variables</vt:lpstr>
      <vt:lpstr>Identification of Repline Variables</vt:lpstr>
      <vt:lpstr>Tracking</vt:lpstr>
      <vt:lpstr>Tracking Results</vt:lpstr>
      <vt:lpstr>Forward Projections</vt:lpstr>
      <vt:lpstr>OAS Projections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1955</cp:revision>
  <cp:lastPrinted>2015-07-21T20:38:21Z</cp:lastPrinted>
  <dcterms:created xsi:type="dcterms:W3CDTF">2011-07-07T12:37:32Z</dcterms:created>
  <dcterms:modified xsi:type="dcterms:W3CDTF">2016-02-11T21:53:30Z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