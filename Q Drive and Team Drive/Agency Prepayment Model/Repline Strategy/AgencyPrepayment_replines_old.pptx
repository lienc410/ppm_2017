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4"/>
  </p:notesMasterIdLst>
  <p:handoutMasterIdLst>
    <p:handoutMasterId r:id="rId25"/>
  </p:handoutMasterIdLst>
  <p:sldIdLst>
    <p:sldId id="433" r:id="rId16"/>
    <p:sldId id="583" r:id="rId17"/>
    <p:sldId id="547" r:id="rId18"/>
    <p:sldId id="586" r:id="rId19"/>
    <p:sldId id="679" r:id="rId20"/>
    <p:sldId id="684" r:id="rId21"/>
    <p:sldId id="685" r:id="rId22"/>
    <p:sldId id="622" r:id="rId23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9966"/>
    <a:srgbClr val="FFCC00"/>
    <a:srgbClr val="FF9933"/>
    <a:srgbClr val="FF6600"/>
    <a:srgbClr val="E519CD"/>
    <a:srgbClr val="968880"/>
    <a:srgbClr val="2E398A"/>
    <a:srgbClr val="533D2D"/>
    <a:srgbClr val="533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72" autoAdjust="0"/>
    <p:restoredTop sz="95014" autoAdjust="0"/>
  </p:normalViewPr>
  <p:slideViewPr>
    <p:cSldViewPr snapToGrid="0" snapToObjects="1">
      <p:cViewPr varScale="1">
        <p:scale>
          <a:sx n="153" d="100"/>
          <a:sy n="153" d="100"/>
        </p:scale>
        <p:origin x="156" y="41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4" y="4416438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15"/>
            <a:fld id="{1FE077EC-684A-4FD9-A6C3-9AE90D8B81D6}" type="slidenum">
              <a:rPr lang="en-US" smtClean="0"/>
              <a:pPr defTabSz="919915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144033" y="6084608"/>
            <a:ext cx="6547664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Agency Prepayment: </a:t>
            </a:r>
            <a:r>
              <a:rPr lang="en-US" sz="3100" dirty="0" err="1" smtClean="0">
                <a:solidFill>
                  <a:srgbClr val="968880"/>
                </a:solidFill>
                <a:latin typeface="Calibri" pitchFamily="34" charset="0"/>
              </a:rPr>
              <a:t>Repline</a:t>
            </a:r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 Algorithm</a:t>
            </a:r>
            <a:endParaRPr lang="en-US" sz="31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October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Outline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5042746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Introduction to </a:t>
            </a:r>
            <a:r>
              <a:rPr lang="en-US" sz="1800" dirty="0" err="1" smtClean="0"/>
              <a:t>Replines</a:t>
            </a:r>
            <a:endParaRPr lang="en-US" sz="1800" dirty="0" smtClean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</a:t>
            </a:r>
            <a:r>
              <a:rPr lang="en-US" sz="1800" dirty="0" smtClean="0"/>
              <a:t>Model Variables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Identification of </a:t>
            </a:r>
            <a:r>
              <a:rPr lang="en-US" sz="1800" dirty="0" err="1" smtClean="0"/>
              <a:t>Repline</a:t>
            </a:r>
            <a:r>
              <a:rPr lang="en-US" sz="1800" dirty="0" smtClean="0"/>
              <a:t> Variables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Tracking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Forward Projection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3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Introduction to </a:t>
            </a:r>
            <a:r>
              <a:rPr lang="en-US" sz="2400" b="0" dirty="0" err="1" smtClean="0">
                <a:solidFill>
                  <a:schemeClr val="tx1"/>
                </a:solidFill>
              </a:rPr>
              <a:t>Replines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Repline</a:t>
            </a:r>
            <a:r>
              <a:rPr lang="en-US" sz="1400" b="1" dirty="0" smtClean="0"/>
              <a:t> </a:t>
            </a:r>
            <a:r>
              <a:rPr lang="en-US" sz="1400" b="1" dirty="0" smtClean="0"/>
              <a:t>Definition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Replines</a:t>
            </a:r>
            <a:r>
              <a:rPr lang="en-US" sz="1400" dirty="0" smtClean="0"/>
              <a:t> are groupings of loans which are representative of the actual loans underlying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Repline</a:t>
            </a:r>
            <a:r>
              <a:rPr lang="en-US" sz="1400" b="1" dirty="0" smtClean="0"/>
              <a:t> Goal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goal for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creation is the reduction in dimensionality. Ex) 1,000,000 loans can be reduced to 1,000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Ideal </a:t>
            </a:r>
            <a:r>
              <a:rPr lang="en-US" sz="1400" b="1" dirty="0" err="1" smtClean="0"/>
              <a:t>Repline</a:t>
            </a:r>
            <a:r>
              <a:rPr lang="en-US" sz="1400" b="1" dirty="0" smtClean="0"/>
              <a:t> Algorithm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ideal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algorithm optimizes 2 outputs: 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reduction in dimensionality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matches underlying distribution of loans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Repline</a:t>
            </a:r>
            <a:r>
              <a:rPr lang="en-US" sz="1400" b="1" dirty="0" smtClean="0"/>
              <a:t> Construction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Determine which loan characteristics to “bucket” by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Determine granularity of buckets within each loan characteristic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Group loans into the combination of these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Average the loan characteristics within each of these combined buckets </a:t>
            </a: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</a:t>
            </a:r>
            <a:r>
              <a:rPr lang="en-US" sz="2400" b="0" dirty="0" smtClean="0">
                <a:solidFill>
                  <a:schemeClr val="tx1"/>
                </a:solidFill>
              </a:rPr>
              <a:t>Model Variables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927174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Curtailment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WALA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Default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WALA, </a:t>
            </a:r>
            <a:r>
              <a:rPr lang="en-US" sz="1400" dirty="0"/>
              <a:t>CLTV, </a:t>
            </a:r>
            <a:r>
              <a:rPr lang="en-US" sz="1400" dirty="0" smtClean="0"/>
              <a:t>FICO, </a:t>
            </a:r>
            <a:r>
              <a:rPr lang="en-US" sz="1400" dirty="0" smtClean="0"/>
              <a:t>DTI, Occupancy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Turnover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WALA, CLTV, Hpa2yr</a:t>
            </a:r>
            <a:r>
              <a:rPr lang="en-US" sz="1400" dirty="0" smtClean="0"/>
              <a:t>, </a:t>
            </a:r>
            <a:r>
              <a:rPr lang="en-US" sz="1400" dirty="0" err="1" smtClean="0"/>
              <a:t>LockIn</a:t>
            </a:r>
            <a:r>
              <a:rPr lang="en-US" sz="1400" dirty="0" smtClean="0"/>
              <a:t>, Seasonality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Refinance Module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WALA, CLTV, </a:t>
            </a:r>
            <a:r>
              <a:rPr lang="en-US" sz="1400" dirty="0" err="1" smtClean="0"/>
              <a:t>CreditAvailability</a:t>
            </a:r>
            <a:r>
              <a:rPr lang="en-US" sz="1400" dirty="0" smtClean="0"/>
              <a:t>, Incentive, Media, </a:t>
            </a:r>
            <a:r>
              <a:rPr lang="en-US" sz="1400" dirty="0" err="1" smtClean="0"/>
              <a:t>LoanSize</a:t>
            </a:r>
            <a:r>
              <a:rPr lang="en-US" sz="1400" dirty="0" smtClean="0"/>
              <a:t>, Burnout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b="1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13 variables total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Static: FICO, DTI, Occupancy, [State, </a:t>
            </a:r>
            <a:r>
              <a:rPr lang="en-US" sz="1400" dirty="0" err="1" smtClean="0"/>
              <a:t>LoanCoupon</a:t>
            </a:r>
            <a:r>
              <a:rPr lang="en-US" sz="1400" dirty="0" smtClean="0"/>
              <a:t>]*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Independent: Credit Availability, Media, Hpa2yr</a:t>
            </a:r>
          </a:p>
          <a:p>
            <a:pPr lvl="1" algn="l"/>
            <a:r>
              <a:rPr lang="en-US" sz="1400" dirty="0" smtClean="0"/>
              <a:t>       * Not in model, but available at loan level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I</a:t>
            </a:r>
            <a:r>
              <a:rPr lang="en-US" sz="2400" b="0" dirty="0" smtClean="0">
                <a:solidFill>
                  <a:schemeClr val="tx1"/>
                </a:solidFill>
              </a:rPr>
              <a:t>dentification of </a:t>
            </a:r>
            <a:r>
              <a:rPr lang="en-US" sz="2400" b="0" dirty="0" err="1" smtClean="0">
                <a:solidFill>
                  <a:schemeClr val="tx1"/>
                </a:solidFill>
              </a:rPr>
              <a:t>Repline</a:t>
            </a:r>
            <a:r>
              <a:rPr lang="en-US" sz="2400" b="0" dirty="0" smtClean="0">
                <a:solidFill>
                  <a:schemeClr val="tx1"/>
                </a:solidFill>
              </a:rPr>
              <a:t> Variables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 txBox="1">
            <a:spLocks/>
          </p:cNvSpPr>
          <p:nvPr/>
        </p:nvSpPr>
        <p:spPr bwMode="auto">
          <a:xfrm>
            <a:off x="970059" y="1836881"/>
            <a:ext cx="7579581" cy="492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235" indent="0" algn="ctr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1018472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1527709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36945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4618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6pPr>
            <a:lvl7pPr marL="305541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7pPr>
            <a:lvl8pPr marL="3564653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8pPr>
            <a:lvl9pPr marL="407388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kern="0" dirty="0" err="1" smtClean="0"/>
              <a:t>Repline</a:t>
            </a:r>
            <a:r>
              <a:rPr lang="en-US" sz="1400" b="1" kern="0" dirty="0" smtClean="0"/>
              <a:t>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Coupon – 64 buckets (12.5 </a:t>
            </a:r>
            <a:r>
              <a:rPr lang="en-US" sz="1400" dirty="0" err="1" smtClean="0"/>
              <a:t>bp</a:t>
            </a:r>
            <a:r>
              <a:rPr lang="en-US" sz="1400" dirty="0" smtClean="0"/>
              <a:t> increments)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FICO – 6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Occupancy – 2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DTI – 4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LoanSize</a:t>
            </a:r>
            <a:r>
              <a:rPr lang="en-US" sz="1400" dirty="0" smtClean="0"/>
              <a:t> – 4 buckets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State – 11 buckets (10 states + US)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Total Possible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= ~135,000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Conclusion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135,000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are computationally tractable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Clever selection of variables captures a large part of underlying distribution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Reduces dimensionality by order of ~100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20436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Tracking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Overview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Taking the entire set of loan level data we have ~500MM observations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Under the proposed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schema we could reduce dimensionality to &lt; 130,000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per period. ~5MM observations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results in a computationally tractable tracking process. We can run tracking on the entire universe of loans (converted to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) in ~1HR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Our process of controlling for model variables helps us to reduce dimensionality but also captures a majority of the underlying distribution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tracking results can easily be stored in IQ and used within Symphony in the same way that the Pool level tracking results are used</a:t>
            </a:r>
          </a:p>
        </p:txBody>
      </p:sp>
    </p:spTree>
    <p:extLst>
      <p:ext uri="{BB962C8B-B14F-4D97-AF65-F5344CB8AC3E}">
        <p14:creationId xmlns:p14="http://schemas.microsoft.com/office/powerpoint/2010/main" val="415827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Tracking Results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65010"/>
            <a:ext cx="8615957" cy="528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8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Forward Projections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Overview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Taking the loan level data beneath a bond we could have 100,000+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Under the proposed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schema we could reduce dimensionality, but the reduction could be minimal with &gt;100,000 possible </a:t>
            </a:r>
            <a:r>
              <a:rPr lang="en-US" sz="1400" dirty="0" err="1" smtClean="0"/>
              <a:t>replines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Reducing the dimensionality can easily be achieved by removing state from the </a:t>
            </a:r>
            <a:r>
              <a:rPr lang="en-US" sz="1400" dirty="0" err="1" smtClean="0"/>
              <a:t>repline</a:t>
            </a:r>
            <a:r>
              <a:rPr lang="en-US" sz="1400" dirty="0" smtClean="0"/>
              <a:t> algorithm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Removing state does not hurt our projections provided our HPA projections are at the US level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With state removed, we have ~12,000 possible </a:t>
            </a:r>
            <a:r>
              <a:rPr lang="en-US" sz="1400" dirty="0" err="1" smtClean="0"/>
              <a:t>replines</a:t>
            </a:r>
            <a:r>
              <a:rPr lang="en-US" sz="1400" dirty="0" smtClean="0"/>
              <a:t> which is a substantial reduction in dimension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06455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101345</TotalTime>
  <Words>467</Words>
  <Application>Microsoft Office PowerPoint</Application>
  <PresentationFormat>Custom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8</vt:i4>
      </vt:variant>
    </vt:vector>
  </HeadingPairs>
  <TitlesOfParts>
    <vt:vector size="28" baseType="lpstr">
      <vt:lpstr>Arial</vt:lpstr>
      <vt:lpstr>Calibri</vt:lpstr>
      <vt:lpstr>Calisto MT</vt:lpstr>
      <vt:lpstr>Cambria</vt:lpstr>
      <vt:lpstr>Times</vt:lpstr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 to Replines</vt:lpstr>
      <vt:lpstr>Description of Model Variables</vt:lpstr>
      <vt:lpstr>Identification of Repline Variables</vt:lpstr>
      <vt:lpstr>Tracking</vt:lpstr>
      <vt:lpstr>Tracking Results</vt:lpstr>
      <vt:lpstr>Forward Projections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Robert Morris</cp:lastModifiedBy>
  <cp:revision>1949</cp:revision>
  <cp:lastPrinted>2015-07-21T20:38:21Z</cp:lastPrinted>
  <dcterms:created xsi:type="dcterms:W3CDTF">2011-07-07T12:37:32Z</dcterms:created>
  <dcterms:modified xsi:type="dcterms:W3CDTF">2015-10-09T22:43:26Z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