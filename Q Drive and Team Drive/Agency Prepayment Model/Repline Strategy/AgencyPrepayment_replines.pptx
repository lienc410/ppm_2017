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</p:sldMasterIdLst>
  <p:notesMasterIdLst>
    <p:notesMasterId r:id="rId25"/>
  </p:notesMasterIdLst>
  <p:handoutMasterIdLst>
    <p:handoutMasterId r:id="rId26"/>
  </p:handoutMasterIdLst>
  <p:sldIdLst>
    <p:sldId id="433" r:id="rId16"/>
    <p:sldId id="583" r:id="rId17"/>
    <p:sldId id="547" r:id="rId18"/>
    <p:sldId id="586" r:id="rId19"/>
    <p:sldId id="679" r:id="rId20"/>
    <p:sldId id="684" r:id="rId21"/>
    <p:sldId id="685" r:id="rId22"/>
    <p:sldId id="622" r:id="rId23"/>
    <p:sldId id="686" r:id="rId24"/>
  </p:sldIdLst>
  <p:sldSz cx="10058400" cy="77724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72">
          <p15:clr>
            <a:srgbClr val="A4A3A4"/>
          </p15:clr>
        </p15:guide>
        <p15:guide id="2" orient="horz" pos="1976">
          <p15:clr>
            <a:srgbClr val="A4A3A4"/>
          </p15:clr>
        </p15:guide>
        <p15:guide id="3" orient="horz" pos="797">
          <p15:clr>
            <a:srgbClr val="A4A3A4"/>
          </p15:clr>
        </p15:guide>
        <p15:guide id="4" orient="horz" pos="981">
          <p15:clr>
            <a:srgbClr val="A4A3A4"/>
          </p15:clr>
        </p15:guide>
        <p15:guide id="5" orient="horz" pos="4327">
          <p15:clr>
            <a:srgbClr val="A4A3A4"/>
          </p15:clr>
        </p15:guide>
        <p15:guide id="6" orient="horz" pos="145">
          <p15:clr>
            <a:srgbClr val="A4A3A4"/>
          </p15:clr>
        </p15:guide>
        <p15:guide id="7" pos="5282">
          <p15:clr>
            <a:srgbClr val="A4A3A4"/>
          </p15:clr>
        </p15:guide>
        <p15:guide id="8" pos="126">
          <p15:clr>
            <a:srgbClr val="A4A3A4"/>
          </p15:clr>
        </p15:guide>
        <p15:guide id="9" pos="5046">
          <p15:clr>
            <a:srgbClr val="A4A3A4"/>
          </p15:clr>
        </p15:guide>
        <p15:guide id="10" pos="1973">
          <p15:clr>
            <a:srgbClr val="A4A3A4"/>
          </p15:clr>
        </p15:guide>
        <p15:guide id="11" pos="3396">
          <p15:clr>
            <a:srgbClr val="A4A3A4"/>
          </p15:clr>
        </p15:guide>
        <p15:guide id="12" pos="3165">
          <p15:clr>
            <a:srgbClr val="A4A3A4"/>
          </p15:clr>
        </p15:guide>
        <p15:guide id="13" pos="1575">
          <p15:clr>
            <a:srgbClr val="A4A3A4"/>
          </p15:clr>
        </p15:guide>
        <p15:guide id="14" pos="105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 userDrawn="1">
          <p15:clr>
            <a:srgbClr val="A4A3A4"/>
          </p15:clr>
        </p15:guide>
        <p15:guide id="2" pos="220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CC"/>
    <a:srgbClr val="FF9966"/>
    <a:srgbClr val="FFCC00"/>
    <a:srgbClr val="FF9933"/>
    <a:srgbClr val="FF6600"/>
    <a:srgbClr val="E519CD"/>
    <a:srgbClr val="968880"/>
    <a:srgbClr val="2E398A"/>
    <a:srgbClr val="533D2D"/>
    <a:srgbClr val="533D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172" autoAdjust="0"/>
    <p:restoredTop sz="95014" autoAdjust="0"/>
  </p:normalViewPr>
  <p:slideViewPr>
    <p:cSldViewPr snapToGrid="0" snapToObjects="1">
      <p:cViewPr varScale="1">
        <p:scale>
          <a:sx n="119" d="100"/>
          <a:sy n="119" d="100"/>
        </p:scale>
        <p:origin x="126" y="720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12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6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7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t" anchorCtr="0" compatLnSpc="1">
            <a:prstTxWarp prst="textNoShape">
              <a:avLst/>
            </a:prstTxWarp>
          </a:bodyPr>
          <a:lstStyle>
            <a:lvl1pPr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640" y="7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t" anchorCtr="0" compatLnSpc="1">
            <a:prstTxWarp prst="textNoShape">
              <a:avLst/>
            </a:prstTxWarp>
          </a:bodyPr>
          <a:lstStyle>
            <a:lvl1pPr algn="r"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3" y="8831271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b" anchorCtr="0" compatLnSpc="1">
            <a:prstTxWarp prst="textNoShape">
              <a:avLst/>
            </a:prstTxWarp>
          </a:bodyPr>
          <a:lstStyle>
            <a:lvl1pPr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640" y="8831271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b" anchorCtr="0" compatLnSpc="1">
            <a:prstTxWarp prst="textNoShape">
              <a:avLst/>
            </a:prstTxWarp>
          </a:bodyPr>
          <a:lstStyle>
            <a:lvl1pPr algn="r"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7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t" anchorCtr="0" compatLnSpc="1">
            <a:prstTxWarp prst="textNoShape">
              <a:avLst/>
            </a:prstTxWarp>
          </a:bodyPr>
          <a:lstStyle>
            <a:lvl1pPr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640" y="7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t" anchorCtr="0" compatLnSpc="1">
            <a:prstTxWarp prst="textNoShape">
              <a:avLst/>
            </a:prstTxWarp>
          </a:bodyPr>
          <a:lstStyle>
            <a:lvl1pPr algn="r"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49363" y="698500"/>
            <a:ext cx="451167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364" y="4416438"/>
            <a:ext cx="5607678" cy="418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" y="8831271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b" anchorCtr="0" compatLnSpc="1">
            <a:prstTxWarp prst="textNoShape">
              <a:avLst/>
            </a:prstTxWarp>
          </a:bodyPr>
          <a:lstStyle>
            <a:lvl1pPr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640" y="8831271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b" anchorCtr="0" compatLnSpc="1">
            <a:prstTxWarp prst="textNoShape">
              <a:avLst/>
            </a:prstTxWarp>
          </a:bodyPr>
          <a:lstStyle>
            <a:lvl1pPr algn="r"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49363" y="698500"/>
            <a:ext cx="4511675" cy="3486150"/>
          </a:xfrm>
          <a:ln/>
        </p:spPr>
      </p:sp>
      <p:sp>
        <p:nvSpPr>
          <p:cNvPr id="9011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9011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9915"/>
            <a:fld id="{1FE077EC-684A-4FD9-A6C3-9AE90D8B81D6}" type="slidenum">
              <a:rPr lang="en-US" smtClean="0"/>
              <a:pPr defTabSz="919915"/>
              <a:t>1</a:t>
            </a:fld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617547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8"/>
          <p:cNvSpPr txBox="1">
            <a:spLocks noChangeArrowheads="1"/>
          </p:cNvSpPr>
          <p:nvPr/>
        </p:nvSpPr>
        <p:spPr bwMode="auto">
          <a:xfrm>
            <a:off x="3144033" y="6084608"/>
            <a:ext cx="6547664" cy="8568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  <a:spAutoFit/>
          </a:bodyPr>
          <a:lstStyle/>
          <a:p>
            <a:pPr algn="r" defTabSz="1018586"/>
            <a:r>
              <a:rPr lang="en-US" sz="3100" dirty="0" smtClean="0">
                <a:solidFill>
                  <a:srgbClr val="968880"/>
                </a:solidFill>
                <a:latin typeface="Calibri" pitchFamily="34" charset="0"/>
              </a:rPr>
              <a:t>Agency Prepayment: </a:t>
            </a:r>
            <a:r>
              <a:rPr lang="en-US" sz="3100" dirty="0" err="1" smtClean="0">
                <a:solidFill>
                  <a:srgbClr val="968880"/>
                </a:solidFill>
                <a:latin typeface="Calibri" pitchFamily="34" charset="0"/>
              </a:rPr>
              <a:t>Repline</a:t>
            </a:r>
            <a:r>
              <a:rPr lang="en-US" sz="3100" dirty="0" smtClean="0">
                <a:solidFill>
                  <a:srgbClr val="968880"/>
                </a:solidFill>
                <a:latin typeface="Calibri" pitchFamily="34" charset="0"/>
              </a:rPr>
              <a:t> Algorithm</a:t>
            </a:r>
            <a:endParaRPr lang="en-US" sz="3100" dirty="0">
              <a:solidFill>
                <a:srgbClr val="968880"/>
              </a:solidFill>
              <a:latin typeface="Calibri" pitchFamily="34" charset="0"/>
            </a:endParaRPr>
          </a:p>
          <a:p>
            <a:pPr algn="r" defTabSz="1018586"/>
            <a:r>
              <a:rPr lang="en-US" dirty="0" smtClean="0">
                <a:solidFill>
                  <a:schemeClr val="tx2"/>
                </a:solidFill>
                <a:latin typeface="Calibri" pitchFamily="34" charset="0"/>
              </a:rPr>
              <a:t>October 2015</a:t>
            </a:r>
            <a:endParaRPr lang="en-US" dirty="0">
              <a:solidFill>
                <a:schemeClr val="tx2"/>
              </a:solidFill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Outline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508760" y="2059512"/>
            <a:ext cx="7040880" cy="5042746"/>
          </a:xfrm>
        </p:spPr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Introduction to </a:t>
            </a:r>
            <a:r>
              <a:rPr lang="en-US" sz="1800" dirty="0" err="1" smtClean="0"/>
              <a:t>Replines</a:t>
            </a:r>
            <a:endParaRPr lang="en-US" sz="1800" dirty="0" smtClean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Description of Model Variables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Identification of </a:t>
            </a:r>
            <a:r>
              <a:rPr lang="en-US" sz="1800" dirty="0" err="1" smtClean="0"/>
              <a:t>Repline</a:t>
            </a:r>
            <a:r>
              <a:rPr lang="en-US" sz="1800" dirty="0" smtClean="0"/>
              <a:t> Variables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Tracking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Forward Projection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6738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Introduction to </a:t>
            </a:r>
            <a:r>
              <a:rPr lang="en-US" sz="2400" b="0" dirty="0" err="1" smtClean="0">
                <a:solidFill>
                  <a:schemeClr val="tx1"/>
                </a:solidFill>
              </a:rPr>
              <a:t>Replines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2"/>
            <a:ext cx="7579581" cy="5335196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err="1" smtClean="0"/>
              <a:t>Repline</a:t>
            </a:r>
            <a:r>
              <a:rPr lang="en-US" sz="1400" b="1" dirty="0" smtClean="0"/>
              <a:t> Definition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err="1" smtClean="0"/>
              <a:t>Replines</a:t>
            </a:r>
            <a:r>
              <a:rPr lang="en-US" sz="1400" dirty="0" smtClean="0"/>
              <a:t> are groupings of loans which are representative of the actual loans underlying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err="1" smtClean="0"/>
              <a:t>Repline</a:t>
            </a:r>
            <a:r>
              <a:rPr lang="en-US" sz="1400" b="1" dirty="0" smtClean="0"/>
              <a:t> Goal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The goal for </a:t>
            </a:r>
            <a:r>
              <a:rPr lang="en-US" sz="1400" dirty="0" err="1" smtClean="0"/>
              <a:t>repline</a:t>
            </a:r>
            <a:r>
              <a:rPr lang="en-US" sz="1400" dirty="0" smtClean="0"/>
              <a:t> creation is the reduction in dimensionality. Ex) 1,000,000 loans can be reduced to 1,000 </a:t>
            </a:r>
            <a:r>
              <a:rPr lang="en-US" sz="1400" dirty="0" err="1" smtClean="0"/>
              <a:t>replines</a:t>
            </a:r>
            <a:r>
              <a:rPr lang="en-US" sz="1400" dirty="0" smtClean="0"/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Ideal </a:t>
            </a:r>
            <a:r>
              <a:rPr lang="en-US" sz="1400" b="1" dirty="0" err="1" smtClean="0"/>
              <a:t>Repline</a:t>
            </a:r>
            <a:r>
              <a:rPr lang="en-US" sz="1400" b="1" dirty="0" smtClean="0"/>
              <a:t> Algorithm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The ideal </a:t>
            </a:r>
            <a:r>
              <a:rPr lang="en-US" sz="1400" dirty="0" err="1" smtClean="0"/>
              <a:t>repline</a:t>
            </a:r>
            <a:r>
              <a:rPr lang="en-US" sz="1400" dirty="0" smtClean="0"/>
              <a:t> algorithm optimizes 2 outputs: 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reduction in dimensionality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matches underlying distribution of loans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err="1" smtClean="0"/>
              <a:t>Repline</a:t>
            </a:r>
            <a:r>
              <a:rPr lang="en-US" sz="1400" b="1" dirty="0" smtClean="0"/>
              <a:t> Construction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Determine which loan characteristics to “bucket” by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Determine granularity of buckets within each loan characteristic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Group loans into the combination of these buckets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Average the loan characteristics within each of these combined buckets 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3161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Description of Model Variables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1"/>
            <a:ext cx="7579581" cy="4927174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Curtailment Module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WALA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Default Module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WALA, </a:t>
            </a:r>
            <a:r>
              <a:rPr lang="en-US" sz="1400" dirty="0"/>
              <a:t>CLTV, </a:t>
            </a:r>
            <a:r>
              <a:rPr lang="en-US" sz="1400" dirty="0" smtClean="0"/>
              <a:t>FICO, DTI, Occupancy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Turnover Module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WALA, CLTV, Hpa2yr</a:t>
            </a:r>
            <a:r>
              <a:rPr lang="en-US" sz="1400" dirty="0" smtClean="0"/>
              <a:t>, </a:t>
            </a:r>
            <a:r>
              <a:rPr lang="en-US" sz="1400" dirty="0" err="1" smtClean="0"/>
              <a:t>LockIn</a:t>
            </a:r>
            <a:r>
              <a:rPr lang="en-US" sz="1400" dirty="0" smtClean="0"/>
              <a:t>, Seasonality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Refinance Module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WALA, CLTV, </a:t>
            </a:r>
            <a:r>
              <a:rPr lang="en-US" sz="1400" dirty="0" err="1" smtClean="0"/>
              <a:t>CreditAvailability</a:t>
            </a:r>
            <a:r>
              <a:rPr lang="en-US" sz="1400" dirty="0" smtClean="0"/>
              <a:t>, Incentive, Media, </a:t>
            </a:r>
            <a:r>
              <a:rPr lang="en-US" sz="1400" dirty="0" err="1" smtClean="0"/>
              <a:t>LoanSize</a:t>
            </a:r>
            <a:r>
              <a:rPr lang="en-US" sz="1400" dirty="0" smtClean="0"/>
              <a:t>, Burnout</a:t>
            </a:r>
            <a:endParaRPr lang="en-US" sz="1400" dirty="0"/>
          </a:p>
          <a:p>
            <a:pPr marL="794985" lvl="1" indent="-285750" algn="l">
              <a:buFont typeface="Arial" panose="020B0604020202020204" pitchFamily="34" charset="0"/>
              <a:buChar char="•"/>
            </a:pPr>
            <a:endParaRPr lang="en-US" sz="1400" b="1" dirty="0" smtClean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13 variables total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Static: FICO, DTI, Occupancy, [State, </a:t>
            </a:r>
            <a:r>
              <a:rPr lang="en-US" sz="1400" dirty="0" err="1" smtClean="0"/>
              <a:t>LoanCoupon</a:t>
            </a:r>
            <a:r>
              <a:rPr lang="en-US" sz="1400" dirty="0" smtClean="0"/>
              <a:t>]*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Loan Independent: Credit Availability, Media, Hpa2yr</a:t>
            </a:r>
          </a:p>
          <a:p>
            <a:pPr lvl="1" algn="l"/>
            <a:r>
              <a:rPr lang="en-US" sz="1400" dirty="0" smtClean="0"/>
              <a:t>       * Not in model, but available at loan level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1196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>
                <a:solidFill>
                  <a:schemeClr val="tx1"/>
                </a:solidFill>
              </a:rPr>
              <a:t>I</a:t>
            </a:r>
            <a:r>
              <a:rPr lang="en-US" sz="2400" b="0" dirty="0" smtClean="0">
                <a:solidFill>
                  <a:schemeClr val="tx1"/>
                </a:solidFill>
              </a:rPr>
              <a:t>dentification of </a:t>
            </a:r>
            <a:r>
              <a:rPr lang="en-US" sz="2400" b="0" dirty="0" err="1" smtClean="0">
                <a:solidFill>
                  <a:schemeClr val="tx1"/>
                </a:solidFill>
              </a:rPr>
              <a:t>Repline</a:t>
            </a:r>
            <a:r>
              <a:rPr lang="en-US" sz="2400" b="0" dirty="0" smtClean="0">
                <a:solidFill>
                  <a:schemeClr val="tx1"/>
                </a:solidFill>
              </a:rPr>
              <a:t> Variables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ubtitle 4"/>
          <p:cNvSpPr txBox="1">
            <a:spLocks/>
          </p:cNvSpPr>
          <p:nvPr/>
        </p:nvSpPr>
        <p:spPr bwMode="auto">
          <a:xfrm>
            <a:off x="970059" y="1836881"/>
            <a:ext cx="7579581" cy="4927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110000"/>
              </a:spcBef>
              <a:spcAft>
                <a:spcPct val="0"/>
              </a:spcAft>
              <a:buClr>
                <a:schemeClr val="tx2"/>
              </a:buClr>
              <a:buNone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9235" indent="0" algn="ctr" rtl="0" eaLnBrk="0" fontAlgn="base" hangingPunct="0">
              <a:spcBef>
                <a:spcPct val="47000"/>
              </a:spcBef>
              <a:spcAft>
                <a:spcPct val="0"/>
              </a:spcAft>
              <a:buClr>
                <a:schemeClr val="tx2"/>
              </a:buClr>
              <a:buFont typeface="Times" pitchFamily="18" charset="0"/>
              <a:buNone/>
              <a:defRPr sz="1200">
                <a:solidFill>
                  <a:schemeClr val="tx1"/>
                </a:solidFill>
                <a:latin typeface="+mn-lt"/>
              </a:defRPr>
            </a:lvl2pPr>
            <a:lvl3pPr marL="1018472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Times" pitchFamily="18" charset="0"/>
              <a:buNone/>
              <a:defRPr sz="1200">
                <a:solidFill>
                  <a:schemeClr val="tx1"/>
                </a:solidFill>
                <a:latin typeface="+mn-lt"/>
              </a:defRPr>
            </a:lvl3pPr>
            <a:lvl4pPr marL="1527709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36945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4618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 charset="0"/>
              </a:defRPr>
            </a:lvl6pPr>
            <a:lvl7pPr marL="3055417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 charset="0"/>
              </a:defRPr>
            </a:lvl7pPr>
            <a:lvl8pPr marL="3564653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 charset="0"/>
              </a:defRPr>
            </a:lvl8pPr>
            <a:lvl9pPr marL="4073887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kern="0" dirty="0" err="1" smtClean="0"/>
              <a:t>Repline</a:t>
            </a:r>
            <a:r>
              <a:rPr lang="en-US" sz="1400" b="1" kern="0" dirty="0" smtClean="0"/>
              <a:t> Buckets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Loan Coupon – 64 buckets (12.5 </a:t>
            </a:r>
            <a:r>
              <a:rPr lang="en-US" sz="1400" dirty="0" err="1" smtClean="0"/>
              <a:t>bp</a:t>
            </a:r>
            <a:r>
              <a:rPr lang="en-US" sz="1400" dirty="0" smtClean="0"/>
              <a:t> increments)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FICO – 6 buckets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Occupancy – 2 buckets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DTI – 4 buckets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err="1" smtClean="0"/>
              <a:t>LoanSize</a:t>
            </a:r>
            <a:r>
              <a:rPr lang="en-US" sz="1400" dirty="0" smtClean="0"/>
              <a:t> – 4 buckets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State – 11 buckets (10 states + US)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Total Possible </a:t>
            </a:r>
            <a:r>
              <a:rPr lang="en-US" sz="1400" dirty="0" err="1" smtClean="0"/>
              <a:t>Replines</a:t>
            </a:r>
            <a:r>
              <a:rPr lang="en-US" sz="1400" dirty="0" smtClean="0"/>
              <a:t> = ~135,000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Conclusion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135,000 </a:t>
            </a:r>
            <a:r>
              <a:rPr lang="en-US" sz="1400" dirty="0" err="1" smtClean="0"/>
              <a:t>replines</a:t>
            </a:r>
            <a:r>
              <a:rPr lang="en-US" sz="1400" dirty="0" smtClean="0"/>
              <a:t> are computationally </a:t>
            </a:r>
            <a:r>
              <a:rPr lang="en-US" sz="1400" dirty="0" smtClean="0"/>
              <a:t>tractable for tracking</a:t>
            </a:r>
            <a:endParaRPr lang="en-US" sz="1400" dirty="0" smtClean="0"/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Clever selection of variables captures a large part of underlying distribution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Reduces dimensionality by order of ~100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endParaRPr lang="en-US" sz="1400" b="1" dirty="0" smtClean="0"/>
          </a:p>
        </p:txBody>
      </p:sp>
    </p:spTree>
    <p:extLst>
      <p:ext uri="{BB962C8B-B14F-4D97-AF65-F5344CB8AC3E}">
        <p14:creationId xmlns:p14="http://schemas.microsoft.com/office/powerpoint/2010/main" val="204361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Tracking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2"/>
            <a:ext cx="7579581" cy="5335196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Overview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Taking the entire set of loan level data we have ~500MM observations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Under the proposed </a:t>
            </a:r>
            <a:r>
              <a:rPr lang="en-US" sz="1400" dirty="0" err="1" smtClean="0"/>
              <a:t>repline</a:t>
            </a:r>
            <a:r>
              <a:rPr lang="en-US" sz="1400" dirty="0" smtClean="0"/>
              <a:t> schema we could reduce dimensionality to &lt; 130,000 </a:t>
            </a:r>
            <a:r>
              <a:rPr lang="en-US" sz="1400" dirty="0" err="1" smtClean="0"/>
              <a:t>replines</a:t>
            </a:r>
            <a:r>
              <a:rPr lang="en-US" sz="1400" dirty="0" smtClean="0"/>
              <a:t> per period. ~5MM observations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This results in a computationally tractable tracking process. We can run tracking on the entire universe of loans (converted to </a:t>
            </a:r>
            <a:r>
              <a:rPr lang="en-US" sz="1400" dirty="0" err="1" smtClean="0"/>
              <a:t>replines</a:t>
            </a:r>
            <a:r>
              <a:rPr lang="en-US" sz="1400" dirty="0" smtClean="0"/>
              <a:t>) in ~1HR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Our process of controlling for model variables helps us to reduce dimensionality but also captures a majority of the underlying distribution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The tracking results can easily be stored in IQ and used within Symphony in the same way that the Pool level tracking results are used</a:t>
            </a:r>
          </a:p>
        </p:txBody>
      </p:sp>
    </p:spTree>
    <p:extLst>
      <p:ext uri="{BB962C8B-B14F-4D97-AF65-F5344CB8AC3E}">
        <p14:creationId xmlns:p14="http://schemas.microsoft.com/office/powerpoint/2010/main" val="4158276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Tracking Results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3" y="1865010"/>
            <a:ext cx="8615957" cy="5281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181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Forward Projections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2"/>
            <a:ext cx="7579581" cy="5335196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Overview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Taking the loan level data beneath a bond we could have </a:t>
            </a:r>
            <a:r>
              <a:rPr lang="en-US" sz="1400" dirty="0" smtClean="0"/>
              <a:t>1,000</a:t>
            </a:r>
            <a:r>
              <a:rPr lang="en-US" sz="1400" dirty="0" smtClean="0"/>
              <a:t>+ loans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Scale has the ability to run projections very quickly (~100 / sec)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Hence a very granular </a:t>
            </a:r>
            <a:r>
              <a:rPr lang="en-US" sz="1400" dirty="0" err="1" smtClean="0"/>
              <a:t>repline</a:t>
            </a:r>
            <a:r>
              <a:rPr lang="en-US" sz="1400" dirty="0" smtClean="0"/>
              <a:t> algorithm can be used</a:t>
            </a:r>
          </a:p>
        </p:txBody>
      </p:sp>
    </p:spTree>
    <p:extLst>
      <p:ext uri="{BB962C8B-B14F-4D97-AF65-F5344CB8AC3E}">
        <p14:creationId xmlns:p14="http://schemas.microsoft.com/office/powerpoint/2010/main" val="3064555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OAS Projections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2"/>
            <a:ext cx="7579581" cy="5335196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Overview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OAS is a much more time consuming calculation (~6 seconds / </a:t>
            </a:r>
            <a:r>
              <a:rPr lang="en-US" sz="1400" dirty="0" err="1" smtClean="0"/>
              <a:t>repline</a:t>
            </a:r>
            <a:r>
              <a:rPr lang="en-US" sz="1400" dirty="0" smtClean="0"/>
              <a:t> @ 200 paths)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Assuming the loan </a:t>
            </a:r>
            <a:r>
              <a:rPr lang="en-US" sz="1400" dirty="0" smtClean="0"/>
              <a:t>level data beneath a bond </a:t>
            </a:r>
            <a:r>
              <a:rPr lang="en-US" sz="1400" dirty="0" smtClean="0"/>
              <a:t>is 1,000</a:t>
            </a:r>
            <a:r>
              <a:rPr lang="en-US" sz="1400" dirty="0" smtClean="0"/>
              <a:t>+ loans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Under the proposed </a:t>
            </a:r>
            <a:r>
              <a:rPr lang="en-US" sz="1400" dirty="0" err="1" smtClean="0"/>
              <a:t>repline</a:t>
            </a:r>
            <a:r>
              <a:rPr lang="en-US" sz="1400" dirty="0" smtClean="0"/>
              <a:t> schema we could reduce dimensionality, but the reduction could be minimal with &gt;100,000 possible </a:t>
            </a:r>
            <a:r>
              <a:rPr lang="en-US" sz="1400" dirty="0" err="1" smtClean="0"/>
              <a:t>repline</a:t>
            </a:r>
            <a:r>
              <a:rPr lang="en-US" sz="1400" dirty="0" smtClean="0"/>
              <a:t> combinations</a:t>
            </a:r>
            <a:endParaRPr lang="en-US" sz="1400" dirty="0" smtClean="0"/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To keep OAS calculations to ~1minute, we will need to have ~10 </a:t>
            </a:r>
            <a:r>
              <a:rPr lang="en-US" sz="1400" dirty="0" err="1" smtClean="0"/>
              <a:t>replines</a:t>
            </a:r>
            <a:r>
              <a:rPr lang="en-US" sz="1400" dirty="0" smtClean="0"/>
              <a:t> per bond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Reducing </a:t>
            </a:r>
            <a:r>
              <a:rPr lang="en-US" sz="1400" dirty="0" smtClean="0"/>
              <a:t>the dimensionality can easily be achieved by removing state from the </a:t>
            </a:r>
            <a:r>
              <a:rPr lang="en-US" sz="1400" dirty="0" err="1" smtClean="0"/>
              <a:t>repline</a:t>
            </a:r>
            <a:r>
              <a:rPr lang="en-US" sz="1400" dirty="0" smtClean="0"/>
              <a:t> algorithm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Removing state does not hurt our projections provided our HPA projections are at the US level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With state removed, we have ~12,000 possible </a:t>
            </a:r>
            <a:r>
              <a:rPr lang="en-US" sz="1400" dirty="0" err="1" smtClean="0"/>
              <a:t>replines</a:t>
            </a:r>
            <a:r>
              <a:rPr lang="en-US" sz="1400" dirty="0" smtClean="0"/>
              <a:t> which is a substantial reduction in </a:t>
            </a:r>
            <a:r>
              <a:rPr lang="en-US" sz="1400" dirty="0" smtClean="0"/>
              <a:t>dimension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The last step would be to map each loan into the top 9 </a:t>
            </a:r>
            <a:r>
              <a:rPr lang="en-US" sz="1400" dirty="0" err="1" smtClean="0"/>
              <a:t>repline</a:t>
            </a:r>
            <a:r>
              <a:rPr lang="en-US" sz="1400" dirty="0" smtClean="0"/>
              <a:t> buckets, with the remaining loans all mapped into 1 </a:t>
            </a:r>
            <a:r>
              <a:rPr lang="en-US" sz="1400" dirty="0" err="1" smtClean="0"/>
              <a:t>repline</a:t>
            </a:r>
            <a:endParaRPr lang="en-US" sz="1400" dirty="0" smtClean="0"/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This gives us a total of 10 </a:t>
            </a:r>
            <a:r>
              <a:rPr lang="en-US" sz="1400" dirty="0" err="1" smtClean="0"/>
              <a:t>replines</a:t>
            </a:r>
            <a:r>
              <a:rPr lang="en-US" sz="1400" dirty="0" smtClean="0"/>
              <a:t>, which should keep our OAS calculations manageable</a:t>
            </a:r>
            <a:endParaRPr lang="en-US" sz="1400" dirty="0" smtClean="0"/>
          </a:p>
        </p:txBody>
      </p:sp>
    </p:spTree>
    <p:extLst>
      <p:ext uri="{BB962C8B-B14F-4D97-AF65-F5344CB8AC3E}">
        <p14:creationId xmlns:p14="http://schemas.microsoft.com/office/powerpoint/2010/main" val="295265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101360</TotalTime>
  <Words>584</Words>
  <Application>Microsoft Office PowerPoint</Application>
  <PresentationFormat>Custom</PresentationFormat>
  <Paragraphs>75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15</vt:i4>
      </vt:variant>
      <vt:variant>
        <vt:lpstr>Slide Titles</vt:lpstr>
      </vt:variant>
      <vt:variant>
        <vt:i4>9</vt:i4>
      </vt:variant>
    </vt:vector>
  </HeadingPairs>
  <TitlesOfParts>
    <vt:vector size="29" baseType="lpstr">
      <vt:lpstr>Arial</vt:lpstr>
      <vt:lpstr>Calibri</vt:lpstr>
      <vt:lpstr>Calisto MT</vt:lpstr>
      <vt:lpstr>Cambria</vt:lpstr>
      <vt:lpstr>Times</vt:lpstr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PowerPoint Presentation</vt:lpstr>
      <vt:lpstr>Outline</vt:lpstr>
      <vt:lpstr>Introduction to Replines</vt:lpstr>
      <vt:lpstr>Description of Model Variables</vt:lpstr>
      <vt:lpstr>Identification of Repline Variables</vt:lpstr>
      <vt:lpstr>Tracking</vt:lpstr>
      <vt:lpstr>Tracking Results</vt:lpstr>
      <vt:lpstr>Forward Projections</vt:lpstr>
      <vt:lpstr>OAS Projections</vt:lpstr>
    </vt:vector>
  </TitlesOfParts>
  <Company>Microsoft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Robert Morris</cp:lastModifiedBy>
  <cp:revision>1951</cp:revision>
  <cp:lastPrinted>2015-07-21T20:38:21Z</cp:lastPrinted>
  <dcterms:created xsi:type="dcterms:W3CDTF">2011-07-07T12:37:32Z</dcterms:created>
  <dcterms:modified xsi:type="dcterms:W3CDTF">2016-02-11T19:57:17Z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