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Layouts/slideLayout13.xml" ContentType="application/vnd.openxmlformats-officedocument.presentationml.slideLayout+xml"/>
  <Override PartName="/ppt/theme/theme9.xml" ContentType="application/vnd.openxmlformats-officedocument.theme+xml"/>
  <Override PartName="/ppt/slideLayouts/slideLayout14.xml" ContentType="application/vnd.openxmlformats-officedocument.presentationml.slideLayout+xml"/>
  <Override PartName="/ppt/theme/theme10.xml" ContentType="application/vnd.openxmlformats-officedocument.theme+xml"/>
  <Override PartName="/ppt/slideLayouts/slideLayout15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4" r:id="rId2"/>
    <p:sldMasterId id="2147483656" r:id="rId3"/>
    <p:sldMasterId id="2147483653" r:id="rId4"/>
    <p:sldMasterId id="2147483659" r:id="rId5"/>
    <p:sldMasterId id="2147483657" r:id="rId6"/>
    <p:sldMasterId id="2147483658" r:id="rId7"/>
    <p:sldMasterId id="2147483655" r:id="rId8"/>
    <p:sldMasterId id="2147483749" r:id="rId9"/>
    <p:sldMasterId id="2147483761" r:id="rId10"/>
    <p:sldMasterId id="2147483773" r:id="rId11"/>
    <p:sldMasterId id="2147483834" r:id="rId12"/>
    <p:sldMasterId id="2147483846" r:id="rId13"/>
    <p:sldMasterId id="2147483847" r:id="rId14"/>
    <p:sldMasterId id="2147483853" r:id="rId15"/>
  </p:sldMasterIdLst>
  <p:notesMasterIdLst>
    <p:notesMasterId r:id="rId24"/>
  </p:notesMasterIdLst>
  <p:handoutMasterIdLst>
    <p:handoutMasterId r:id="rId25"/>
  </p:handoutMasterIdLst>
  <p:sldIdLst>
    <p:sldId id="433" r:id="rId16"/>
    <p:sldId id="547" r:id="rId17"/>
    <p:sldId id="586" r:id="rId18"/>
    <p:sldId id="587" r:id="rId19"/>
    <p:sldId id="588" r:id="rId20"/>
    <p:sldId id="589" r:id="rId21"/>
    <p:sldId id="590" r:id="rId22"/>
    <p:sldId id="591" r:id="rId23"/>
  </p:sldIdLst>
  <p:sldSz cx="10058400" cy="77724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1pPr>
    <a:lvl2pPr marL="507526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2pPr>
    <a:lvl3pPr marL="1016818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3pPr>
    <a:lvl4pPr marL="1526111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4pPr>
    <a:lvl5pPr marL="2035405" indent="176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mbria" pitchFamily="18" charset="0"/>
        <a:ea typeface="+mn-ea"/>
        <a:cs typeface="+mn-cs"/>
      </a:defRPr>
    </a:lvl5pPr>
    <a:lvl6pPr marL="2546466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6pPr>
    <a:lvl7pPr marL="3055758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7pPr>
    <a:lvl8pPr marL="3565052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8pPr>
    <a:lvl9pPr marL="4074344" algn="l" defTabSz="1018586" rtl="0" eaLnBrk="1" latinLnBrk="0" hangingPunct="1">
      <a:defRPr kern="1200">
        <a:solidFill>
          <a:schemeClr val="tx1"/>
        </a:solidFill>
        <a:latin typeface="Cambri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72">
          <p15:clr>
            <a:srgbClr val="A4A3A4"/>
          </p15:clr>
        </p15:guide>
        <p15:guide id="2" orient="horz" pos="1976">
          <p15:clr>
            <a:srgbClr val="A4A3A4"/>
          </p15:clr>
        </p15:guide>
        <p15:guide id="3" orient="horz" pos="797">
          <p15:clr>
            <a:srgbClr val="A4A3A4"/>
          </p15:clr>
        </p15:guide>
        <p15:guide id="4" orient="horz" pos="981">
          <p15:clr>
            <a:srgbClr val="A4A3A4"/>
          </p15:clr>
        </p15:guide>
        <p15:guide id="5" orient="horz" pos="4327">
          <p15:clr>
            <a:srgbClr val="A4A3A4"/>
          </p15:clr>
        </p15:guide>
        <p15:guide id="6" orient="horz" pos="145">
          <p15:clr>
            <a:srgbClr val="A4A3A4"/>
          </p15:clr>
        </p15:guide>
        <p15:guide id="7" pos="5282">
          <p15:clr>
            <a:srgbClr val="A4A3A4"/>
          </p15:clr>
        </p15:guide>
        <p15:guide id="8" pos="126">
          <p15:clr>
            <a:srgbClr val="A4A3A4"/>
          </p15:clr>
        </p15:guide>
        <p15:guide id="9" pos="5046">
          <p15:clr>
            <a:srgbClr val="A4A3A4"/>
          </p15:clr>
        </p15:guide>
        <p15:guide id="10" pos="1973">
          <p15:clr>
            <a:srgbClr val="A4A3A4"/>
          </p15:clr>
        </p15:guide>
        <p15:guide id="11" pos="3396">
          <p15:clr>
            <a:srgbClr val="A4A3A4"/>
          </p15:clr>
        </p15:guide>
        <p15:guide id="12" pos="3165">
          <p15:clr>
            <a:srgbClr val="A4A3A4"/>
          </p15:clr>
        </p15:guide>
        <p15:guide id="13" pos="1575">
          <p15:clr>
            <a:srgbClr val="A4A3A4"/>
          </p15:clr>
        </p15:guide>
        <p15:guide id="14" pos="105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9966"/>
    <a:srgbClr val="FFCC00"/>
    <a:srgbClr val="FF9933"/>
    <a:srgbClr val="FF6600"/>
    <a:srgbClr val="E519CD"/>
    <a:srgbClr val="968880"/>
    <a:srgbClr val="2E398A"/>
    <a:srgbClr val="533D2D"/>
    <a:srgbClr val="533D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72" autoAdjust="0"/>
    <p:restoredTop sz="95014" autoAdjust="0"/>
  </p:normalViewPr>
  <p:slideViewPr>
    <p:cSldViewPr snapToGrid="0" snapToObjects="1">
      <p:cViewPr varScale="1">
        <p:scale>
          <a:sx n="153" d="100"/>
          <a:sy n="153" d="100"/>
        </p:scale>
        <p:origin x="156" y="414"/>
      </p:cViewPr>
      <p:guideLst>
        <p:guide orient="horz" pos="3872"/>
        <p:guide orient="horz" pos="1976"/>
        <p:guide orient="horz" pos="797"/>
        <p:guide orient="horz" pos="981"/>
        <p:guide orient="horz" pos="4327"/>
        <p:guide orient="horz" pos="145"/>
        <p:guide pos="5282"/>
        <p:guide pos="126"/>
        <p:guide pos="5046"/>
        <p:guide pos="1973"/>
        <p:guide pos="3396"/>
        <p:guide pos="3165"/>
        <p:guide pos="1575"/>
        <p:guide pos="10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notesViewPr>
    <p:cSldViewPr snapToGrid="0" snapToObjects="1">
      <p:cViewPr varScale="1">
        <p:scale>
          <a:sx n="79" d="100"/>
          <a:sy n="79" d="100"/>
        </p:scale>
        <p:origin x="-1956" y="-9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6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2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.xml"/><Relationship Id="rId20" Type="http://schemas.openxmlformats.org/officeDocument/2006/relationships/slide" Target="slides/slide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8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44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BDCE5F9F-0CCF-4CAC-B31C-496A1DC306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462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640" y="7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70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49363" y="698500"/>
            <a:ext cx="451167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1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64" y="4416438"/>
            <a:ext cx="5607678" cy="4181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1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1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640" y="8831271"/>
            <a:ext cx="3038161" cy="463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25" tIns="46211" rIns="92425" bIns="46211" numCol="1" anchor="b" anchorCtr="0" compatLnSpc="1">
            <a:prstTxWarp prst="textNoShape">
              <a:avLst/>
            </a:prstTxWarp>
          </a:bodyPr>
          <a:lstStyle>
            <a:lvl1pPr algn="r" defTabSz="921506">
              <a:defRPr sz="1300">
                <a:latin typeface="Arial" charset="0"/>
              </a:defRPr>
            </a:lvl1pPr>
          </a:lstStyle>
          <a:p>
            <a:pPr>
              <a:defRPr/>
            </a:pPr>
            <a:fld id="{993BEEDA-D9FC-4A9F-BB3F-83B0CB94093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4655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507526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101681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526111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203540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546180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541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4653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73887" algn="l" defTabSz="1018472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49363" y="698500"/>
            <a:ext cx="4511675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915"/>
            <a:fld id="{1FE077EC-684A-4FD9-A6C3-9AE90D8B81D6}" type="slidenum">
              <a:rPr lang="en-US" smtClean="0"/>
              <a:pPr defTabSz="919915"/>
              <a:t>1</a:t>
            </a:fld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17547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088" indent="-234895">
              <a:defRPr sz="1200">
                <a:latin typeface="+mn-lt"/>
              </a:defRPr>
            </a:lvl4pPr>
            <a:lvl5pPr marL="1025285" indent="-222198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1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1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35" indent="0">
              <a:buNone/>
              <a:defRPr sz="2000"/>
            </a:lvl2pPr>
            <a:lvl3pPr marL="1018472" indent="0">
              <a:buNone/>
              <a:defRPr sz="1800"/>
            </a:lvl3pPr>
            <a:lvl4pPr marL="1527709" indent="0">
              <a:buNone/>
              <a:defRPr sz="1600"/>
            </a:lvl4pPr>
            <a:lvl5pPr marL="2036945" indent="0">
              <a:buNone/>
              <a:defRPr sz="1600"/>
            </a:lvl5pPr>
            <a:lvl6pPr marL="2546180" indent="0">
              <a:buNone/>
              <a:defRPr sz="1600"/>
            </a:lvl6pPr>
            <a:lvl7pPr marL="3055417" indent="0">
              <a:buNone/>
              <a:defRPr sz="1600"/>
            </a:lvl7pPr>
            <a:lvl8pPr marL="3564653" indent="0">
              <a:buNone/>
              <a:defRPr sz="1600"/>
            </a:lvl8pPr>
            <a:lvl9pPr marL="4073887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8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8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43183"/>
            <a:ext cx="8574088" cy="609918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5" y="179917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  <a:prstGeom prst="rect">
            <a:avLst/>
          </a:prstGeom>
        </p:spPr>
        <p:txBody>
          <a:bodyPr lIns="101847" tIns="50923" rIns="101847" bIns="50923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47" tIns="50923" rIns="101847" bIns="50923"/>
          <a:lstStyle>
            <a:lvl1pPr marL="0" indent="0" algn="ctr">
              <a:buNone/>
              <a:defRPr/>
            </a:lvl1pPr>
            <a:lvl2pPr marL="509235" indent="0" algn="ctr">
              <a:buNone/>
              <a:defRPr/>
            </a:lvl2pPr>
            <a:lvl3pPr marL="1018472" indent="0" algn="ctr">
              <a:buNone/>
              <a:defRPr/>
            </a:lvl3pPr>
            <a:lvl4pPr marL="1527709" indent="0" algn="ctr">
              <a:buNone/>
              <a:defRPr/>
            </a:lvl4pPr>
            <a:lvl5pPr marL="2036945" indent="0" algn="ctr">
              <a:buNone/>
              <a:defRPr/>
            </a:lvl5pPr>
            <a:lvl6pPr marL="2546180" indent="0" algn="ctr">
              <a:buNone/>
              <a:defRPr/>
            </a:lvl6pPr>
            <a:lvl7pPr marL="3055417" indent="0" algn="ctr">
              <a:buNone/>
              <a:defRPr/>
            </a:lvl7pPr>
            <a:lvl8pPr marL="3564653" indent="0" algn="ctr">
              <a:buNone/>
              <a:defRPr/>
            </a:lvl8pPr>
            <a:lvl9pPr marL="407388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2"/>
            <a:ext cx="8549640" cy="1666028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509292" indent="0" algn="ctr">
              <a:buNone/>
              <a:defRPr/>
            </a:lvl2pPr>
            <a:lvl3pPr marL="1018586" indent="0" algn="ctr">
              <a:buNone/>
              <a:defRPr/>
            </a:lvl3pPr>
            <a:lvl4pPr marL="1527879" indent="0" algn="ctr">
              <a:buNone/>
              <a:defRPr/>
            </a:lvl4pPr>
            <a:lvl5pPr marL="2037173" indent="0" algn="ctr">
              <a:buNone/>
              <a:defRPr/>
            </a:lvl5pPr>
            <a:lvl6pPr marL="2546466" indent="0" algn="ctr">
              <a:buNone/>
              <a:defRPr/>
            </a:lvl6pPr>
            <a:lvl7pPr marL="3055758" indent="0" algn="ctr">
              <a:buNone/>
              <a:defRPr/>
            </a:lvl7pPr>
            <a:lvl8pPr marL="3565052" indent="0" algn="ctr">
              <a:buNone/>
              <a:defRPr/>
            </a:lvl8pPr>
            <a:lvl9pPr marL="4074344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6195" y="176176"/>
            <a:ext cx="8574088" cy="609918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627" y="6521118"/>
            <a:ext cx="9454198" cy="915732"/>
          </a:xfrm>
          <a:prstGeom prst="rect">
            <a:avLst/>
          </a:prstGeom>
        </p:spPr>
        <p:txBody>
          <a:bodyPr lIns="91418" tIns="45710" rIns="91418" bIns="4571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813563"/>
            <a:ext cx="9052560" cy="5129425"/>
          </a:xfrm>
          <a:prstGeom prst="rect">
            <a:avLst/>
          </a:prstGeom>
        </p:spPr>
        <p:txBody>
          <a:bodyPr lIns="101858" tIns="50929" rIns="101858" bIns="50929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3" y="179917"/>
            <a:ext cx="6806130" cy="677966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9295" indent="0" algn="ctr">
              <a:buNone/>
              <a:defRPr/>
            </a:lvl2pPr>
            <a:lvl3pPr marL="1018592" indent="0" algn="ctr">
              <a:buNone/>
              <a:defRPr/>
            </a:lvl3pPr>
            <a:lvl4pPr marL="1527887" indent="0" algn="ctr">
              <a:buNone/>
              <a:defRPr/>
            </a:lvl4pPr>
            <a:lvl5pPr marL="2037183" indent="0" algn="ctr">
              <a:buNone/>
              <a:defRPr/>
            </a:lvl5pPr>
            <a:lvl6pPr marL="2546478" indent="0" algn="ctr">
              <a:buNone/>
              <a:defRPr/>
            </a:lvl6pPr>
            <a:lvl7pPr marL="3055774" indent="0" algn="ctr">
              <a:buNone/>
              <a:defRPr/>
            </a:lvl7pPr>
            <a:lvl8pPr marL="3565070" indent="0" algn="ctr">
              <a:buNone/>
              <a:defRPr/>
            </a:lvl8pPr>
            <a:lvl9pPr marL="4074364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2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2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3181" indent="-234922">
              <a:defRPr sz="1200">
                <a:latin typeface="+mn-lt"/>
              </a:defRPr>
            </a:lvl4pPr>
            <a:lvl5pPr marL="1025405" indent="-222224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8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490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0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9295" indent="0">
              <a:buNone/>
              <a:defRPr sz="2000"/>
            </a:lvl2pPr>
            <a:lvl3pPr marL="1018592" indent="0">
              <a:buNone/>
              <a:defRPr sz="1800"/>
            </a:lvl3pPr>
            <a:lvl4pPr marL="1527887" indent="0">
              <a:buNone/>
              <a:defRPr sz="1600"/>
            </a:lvl4pPr>
            <a:lvl5pPr marL="2037183" indent="0">
              <a:buNone/>
              <a:defRPr sz="1600"/>
            </a:lvl5pPr>
            <a:lvl6pPr marL="2546478" indent="0">
              <a:buNone/>
              <a:defRPr sz="1600"/>
            </a:lvl6pPr>
            <a:lvl7pPr marL="3055774" indent="0">
              <a:buNone/>
              <a:defRPr sz="1600"/>
            </a:lvl7pPr>
            <a:lvl8pPr marL="3565070" indent="0">
              <a:buNone/>
              <a:defRPr sz="1600"/>
            </a:lvl8pPr>
            <a:lvl9pPr marL="4074364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5483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77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77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3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81207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414488"/>
            <a:ext cx="8549640" cy="166602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60" y="4404360"/>
            <a:ext cx="7040880" cy="1986280"/>
          </a:xfrm>
        </p:spPr>
        <p:txBody>
          <a:bodyPr/>
          <a:lstStyle>
            <a:lvl1pPr marL="0" indent="0" algn="ctr">
              <a:buNone/>
              <a:defRPr/>
            </a:lvl1pPr>
            <a:lvl2pPr marL="508463" indent="0" algn="ctr">
              <a:buNone/>
              <a:defRPr/>
            </a:lvl2pPr>
            <a:lvl3pPr marL="1016925" indent="0" algn="ctr">
              <a:buNone/>
              <a:defRPr/>
            </a:lvl3pPr>
            <a:lvl4pPr marL="1525388" indent="0" algn="ctr">
              <a:buNone/>
              <a:defRPr/>
            </a:lvl4pPr>
            <a:lvl5pPr marL="2033851" indent="0" algn="ctr">
              <a:buNone/>
              <a:defRPr/>
            </a:lvl5pPr>
            <a:lvl6pPr marL="2542312" indent="0" algn="ctr">
              <a:buNone/>
              <a:defRPr/>
            </a:lvl6pPr>
            <a:lvl7pPr marL="3050775" indent="0" algn="ctr">
              <a:buNone/>
              <a:defRPr/>
            </a:lvl7pPr>
            <a:lvl8pPr marL="3559239" indent="0" algn="ctr">
              <a:buNone/>
              <a:defRPr/>
            </a:lvl8pPr>
            <a:lvl9pPr marL="4067698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286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52277" y="179917"/>
            <a:ext cx="6806130" cy="67796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 marL="801869" indent="-234537">
              <a:defRPr sz="1200">
                <a:latin typeface="+mn-lt"/>
              </a:defRPr>
            </a:lvl4pPr>
            <a:lvl5pPr marL="1023730" indent="-221860">
              <a:defRPr sz="12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5115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544" y="4994505"/>
            <a:ext cx="8549640" cy="1543685"/>
          </a:xfrm>
        </p:spPr>
        <p:txBody>
          <a:bodyPr/>
          <a:lstStyle>
            <a:lvl1pPr algn="l">
              <a:defRPr sz="45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4544" y="3294282"/>
            <a:ext cx="8549640" cy="1700212"/>
          </a:xfrm>
        </p:spPr>
        <p:txBody>
          <a:bodyPr anchor="b"/>
          <a:lstStyle>
            <a:lvl1pPr marL="0" indent="0">
              <a:buNone/>
              <a:defRPr sz="2200"/>
            </a:lvl1pPr>
            <a:lvl2pPr marL="508463" indent="0">
              <a:buNone/>
              <a:defRPr sz="2000"/>
            </a:lvl2pPr>
            <a:lvl3pPr marL="1016925" indent="0">
              <a:buNone/>
              <a:defRPr sz="1800"/>
            </a:lvl3pPr>
            <a:lvl4pPr marL="1525388" indent="0">
              <a:buNone/>
              <a:defRPr sz="1600"/>
            </a:lvl4pPr>
            <a:lvl5pPr marL="2033851" indent="0">
              <a:buNone/>
              <a:defRPr sz="1600"/>
            </a:lvl5pPr>
            <a:lvl6pPr marL="2542312" indent="0">
              <a:buNone/>
              <a:defRPr sz="1600"/>
            </a:lvl6pPr>
            <a:lvl7pPr marL="3050775" indent="0">
              <a:buNone/>
              <a:defRPr sz="1600"/>
            </a:lvl7pPr>
            <a:lvl8pPr marL="3559239" indent="0">
              <a:buNone/>
              <a:defRPr sz="1600"/>
            </a:lvl8pPr>
            <a:lvl9pPr marL="4067698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577153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567092"/>
            <a:ext cx="4716784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3025" y="1567092"/>
            <a:ext cx="4716776" cy="5375911"/>
          </a:xfrm>
        </p:spPr>
        <p:txBody>
          <a:bodyPr/>
          <a:lstStyle>
            <a:lvl1pPr>
              <a:defRPr sz="12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2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1410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02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gif"/><Relationship Id="rId4" Type="http://schemas.openxmlformats.org/officeDocument/2006/relationships/image" Target="../media/image3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jpe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3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5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5.jpe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theme" Target="../theme/theme13.xml"/><Relationship Id="rId4" Type="http://schemas.openxmlformats.org/officeDocument/2006/relationships/image" Target="../media/image4.gif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theme" Target="../theme/theme14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theme" Target="../theme/theme15.xml"/><Relationship Id="rId5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9" r:id="rId2"/>
    <p:sldLayoutId id="2147483668" r:id="rId3"/>
    <p:sldLayoutId id="2147483667" r:id="rId4"/>
    <p:sldLayoutId id="2147483664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331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87124" y="1829756"/>
            <a:ext cx="749315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555039" name="Line 31"/>
          <p:cNvSpPr>
            <a:spLocks noChangeShapeType="1"/>
          </p:cNvSpPr>
          <p:nvPr/>
        </p:nvSpPr>
        <p:spPr bwMode="auto">
          <a:xfrm>
            <a:off x="2305050" y="1887328"/>
            <a:ext cx="0" cy="536691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56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 txBox="1">
            <a:spLocks noChangeArrowheads="1"/>
          </p:cNvSpPr>
          <p:nvPr userDrawn="1"/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18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Click to edit Master title style</a:t>
            </a:r>
          </a:p>
        </p:txBody>
      </p:sp>
      <p:pic>
        <p:nvPicPr>
          <p:cNvPr id="37" name="Picture 20" descr="Cello_LOGO_Horizontal_Short.png"/>
          <p:cNvPicPr>
            <a:picLocks noChangeAspect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40" name="Straight Connector 39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0" r:id="rId2"/>
    <p:sldLayoutId id="2147483676" r:id="rId3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0501" y="1168402"/>
            <a:ext cx="7539782" cy="581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2302546" y="1265239"/>
            <a:ext cx="0" cy="5968682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3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50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3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7897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0" name="Rectangle 29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rgbClr val="EFEB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39" name="Picture 38" descr="GUGG_logo_262.gif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43" r:id="rId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fontAlgn="base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fontAlgn="base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fontAlgn="base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fontAlgn="base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5640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588" y="5157198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18111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grpSp>
        <p:nvGrpSpPr>
          <p:cNvPr id="50185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7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472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3" cstate="print"/>
          <a:srcRect t="88849"/>
          <a:stretch>
            <a:fillRect/>
          </a:stretch>
        </p:blipFill>
        <p:spPr bwMode="auto">
          <a:xfrm>
            <a:off x="228600" y="4687169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2478" name="Group 33"/>
          <p:cNvGrpSpPr>
            <a:grpSpLocks/>
          </p:cNvGrpSpPr>
          <p:nvPr userDrawn="1"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50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1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2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3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4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5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6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7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8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59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7" name="Rectangle 20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Arial" charset="0"/>
        </a:defRPr>
      </a:lvl9pPr>
    </p:titleStyle>
    <p:bodyStyle>
      <a:lvl1pPr marL="381970" indent="-381970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7601" indent="-318309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3233" indent="-254646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2525" indent="-254646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1819" indent="-254646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111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406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698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992" indent="-254646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14830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4756" name="Picture 33" descr="Cello_CoverDesigns_FINAL_2-02"/>
          <p:cNvPicPr>
            <a:picLocks noChangeAspect="1" noChangeArrowheads="1"/>
          </p:cNvPicPr>
          <p:nvPr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4761" name="Group 19"/>
          <p:cNvGrpSpPr>
            <a:grpSpLocks/>
          </p:cNvGrpSpPr>
          <p:nvPr/>
        </p:nvGrpSpPr>
        <p:grpSpPr bwMode="auto">
          <a:xfrm>
            <a:off x="4498340" y="4332396"/>
            <a:ext cx="1068705" cy="1417743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2" y="3620"/>
              <a:ext cx="279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3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7" y="3627"/>
              <a:ext cx="256" cy="302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299" y="3620"/>
              <a:ext cx="310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2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8" cy="1393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7" y="2105"/>
              <a:ext cx="784" cy="1393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4" cy="1393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74762" name="Rectangle 30"/>
          <p:cNvSpPr>
            <a:spLocks noGrp="1" noChangeArrowheads="1"/>
          </p:cNvSpPr>
          <p:nvPr>
            <p:ph type="title"/>
          </p:nvPr>
        </p:nvSpPr>
        <p:spPr bwMode="auto">
          <a:xfrm>
            <a:off x="493294" y="6160168"/>
            <a:ext cx="9071812" cy="987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8" tIns="50929" rIns="101858" bIns="5092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6" name="Rectangle 20"/>
          <p:cNvSpPr>
            <a:spLocks noChangeArrowheads="1"/>
          </p:cNvSpPr>
          <p:nvPr userDrawn="1"/>
        </p:nvSpPr>
        <p:spPr bwMode="auto">
          <a:xfrm>
            <a:off x="228600" y="231774"/>
            <a:ext cx="9601200" cy="7315200"/>
          </a:xfrm>
          <a:prstGeom prst="rect">
            <a:avLst/>
          </a:prstGeom>
          <a:noFill/>
          <a:ln w="19050" cmpd="sng">
            <a:solidFill>
              <a:srgbClr val="EFEBE4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809115" y="1313395"/>
            <a:ext cx="8071168" cy="5149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68703" name="Line 31"/>
          <p:cNvSpPr>
            <a:spLocks noChangeShapeType="1"/>
          </p:cNvSpPr>
          <p:nvPr/>
        </p:nvSpPr>
        <p:spPr bwMode="auto">
          <a:xfrm>
            <a:off x="1789907" y="1394357"/>
            <a:ext cx="0" cy="5849725"/>
          </a:xfrm>
          <a:prstGeom prst="line">
            <a:avLst/>
          </a:prstGeom>
          <a:noFill/>
          <a:ln w="3175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5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2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49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6pPr>
      <a:lvl7pPr marL="1018586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7pPr>
      <a:lvl8pPr marL="152787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8pPr>
      <a:lvl9pPr marL="203717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bri" pitchFamily="34" charset="0"/>
        </a:defRPr>
      </a:lvl9pPr>
    </p:titleStyle>
    <p:bodyStyle>
      <a:lvl1pPr algn="just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17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2pPr>
      <a:lvl3pPr marL="3538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30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grpSp>
        <p:nvGrpSpPr>
          <p:cNvPr id="31" name="Group 33"/>
          <p:cNvGrpSpPr>
            <a:grpSpLocks/>
          </p:cNvGrpSpPr>
          <p:nvPr userDrawn="1"/>
        </p:nvGrpSpPr>
        <p:grpSpPr bwMode="auto">
          <a:xfrm>
            <a:off x="1011082" y="3986954"/>
            <a:ext cx="2175828" cy="2880466"/>
            <a:chOff x="2173" y="2091"/>
            <a:chExt cx="1436" cy="1845"/>
          </a:xfrm>
        </p:grpSpPr>
        <p:sp>
          <p:nvSpPr>
            <p:cNvPr id="32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4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5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6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7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8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39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0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1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42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</p:grpSp>
      <p:sp>
        <p:nvSpPr>
          <p:cNvPr id="43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itchFamily="34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1" y="1567075"/>
            <a:ext cx="9372600" cy="537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20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1" name="Line 54"/>
          <p:cNvSpPr>
            <a:spLocks noChangeShapeType="1"/>
          </p:cNvSpPr>
          <p:nvPr userDrawn="1"/>
        </p:nvSpPr>
        <p:spPr bwMode="auto">
          <a:xfrm>
            <a:off x="43657" y="1126278"/>
            <a:ext cx="9971088" cy="0"/>
          </a:xfrm>
          <a:prstGeom prst="line">
            <a:avLst/>
          </a:prstGeom>
          <a:noFill/>
          <a:ln w="3175">
            <a:solidFill>
              <a:schemeClr val="bg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36" name="Picture 20" descr="Cello_LOGO_Horizontal_Short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8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Rectangle 200"/>
          <p:cNvSpPr>
            <a:spLocks noChangeArrowheads="1"/>
          </p:cNvSpPr>
          <p:nvPr userDrawn="1"/>
        </p:nvSpPr>
        <p:spPr bwMode="auto">
          <a:xfrm>
            <a:off x="228602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38" name="Straight Connector 37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3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47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709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694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49" indent="-18744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665" indent="-185681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882" indent="-185681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20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323601" name="Line 17"/>
          <p:cNvSpPr>
            <a:spLocks noChangeShapeType="1"/>
          </p:cNvSpPr>
          <p:nvPr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Line 17"/>
          <p:cNvSpPr>
            <a:spLocks noChangeShapeType="1"/>
          </p:cNvSpPr>
          <p:nvPr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94604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8" name="Picture 27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9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586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87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7173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799345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08637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7931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7224" indent="-252880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8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79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73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66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58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52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44" algn="l" defTabSz="1018586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18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697402"/>
            <a:ext cx="9601200" cy="482500"/>
          </a:xfrm>
          <a:prstGeom prst="rect">
            <a:avLst/>
          </a:prstGeom>
          <a:noFill/>
        </p:spPr>
      </p:pic>
      <p:pic>
        <p:nvPicPr>
          <p:cNvPr id="37892" name="Picture 33" descr="Cello_CoverDesigns_FINAL_2-02"/>
          <p:cNvPicPr>
            <a:picLocks noChangeAspect="1" noChangeArrowheads="1"/>
          </p:cNvPicPr>
          <p:nvPr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Rectangle 20"/>
          <p:cNvSpPr>
            <a:spLocks noChangeArrowheads="1"/>
          </p:cNvSpPr>
          <p:nvPr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38100">
            <a:solidFill>
              <a:srgbClr val="DAD6D3"/>
            </a:solidFill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3775395" y="3762061"/>
            <a:ext cx="2507615" cy="3319462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7" y="3627"/>
              <a:ext cx="255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7" cy="1417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4" y="2105"/>
              <a:ext cx="736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7" name="Picture 26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3992880" y="468949"/>
            <a:ext cx="2072640" cy="1533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5pPr>
      <a:lvl6pPr marL="50923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6pPr>
      <a:lvl7pPr marL="1018472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7pPr>
      <a:lvl8pPr marL="1527709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8pPr>
      <a:lvl9pPr marL="2036945" algn="ctr" rtl="0" fontAlgn="base">
        <a:spcBef>
          <a:spcPct val="0"/>
        </a:spcBef>
        <a:spcAft>
          <a:spcPct val="0"/>
        </a:spcAft>
        <a:defRPr sz="4900">
          <a:solidFill>
            <a:schemeClr val="tx2"/>
          </a:solidFill>
          <a:latin typeface="Cambria" pitchFamily="18" charset="0"/>
        </a:defRPr>
      </a:lvl9pPr>
    </p:titleStyle>
    <p:bodyStyle>
      <a:lvl1pPr marL="380202" indent="-380202" algn="l" rtl="0" eaLnBrk="0" fontAlgn="base" hangingPunct="0">
        <a:spcBef>
          <a:spcPct val="20000"/>
        </a:spcBef>
        <a:spcAft>
          <a:spcPct val="0"/>
        </a:spcAft>
        <a:buChar char="•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825834" indent="-316540" algn="l" rtl="0" eaLnBrk="0" fontAlgn="base" hangingPunct="0">
        <a:spcBef>
          <a:spcPct val="20000"/>
        </a:spcBef>
        <a:spcAft>
          <a:spcPct val="0"/>
        </a:spcAft>
        <a:buChar char="–"/>
        <a:defRPr sz="3100">
          <a:solidFill>
            <a:schemeClr val="tx1"/>
          </a:solidFill>
          <a:latin typeface="+mn-lt"/>
        </a:defRPr>
      </a:lvl2pPr>
      <a:lvl3pPr marL="1271465" indent="-252880" algn="l" rtl="0" eaLnBrk="0" fontAlgn="base" hangingPunct="0">
        <a:spcBef>
          <a:spcPct val="20000"/>
        </a:spcBef>
        <a:spcAft>
          <a:spcPct val="0"/>
        </a:spcAft>
        <a:buChar char="•"/>
        <a:defRPr sz="2700">
          <a:solidFill>
            <a:schemeClr val="tx1"/>
          </a:solidFill>
          <a:latin typeface="+mn-lt"/>
        </a:defRPr>
      </a:lvl3pPr>
      <a:lvl4pPr marL="1780758" indent="-25288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290051" indent="-252880" algn="l" rtl="0" eaLnBrk="0" fontAlgn="base" hangingPunct="0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5pPr>
      <a:lvl6pPr marL="2800798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6pPr>
      <a:lvl7pPr marL="331003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7pPr>
      <a:lvl8pPr marL="3819270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8pPr>
      <a:lvl9pPr marL="4328505" indent="-254617" algn="l" rtl="0" fontAlgn="base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3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472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709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6945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180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41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4653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3887" algn="l" defTabSz="101847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1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59" tIns="50929" rIns="101859" bIns="50929" anchor="ctr"/>
          <a:lstStyle/>
          <a:p>
            <a:pPr defTabSz="1018824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4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59" tIns="50929" rIns="101859" bIns="5092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01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8824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8824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6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929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8592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7887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718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470" indent="-187470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709" indent="-18570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948" indent="-18570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80966" indent="-252909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90319" indent="-252909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801126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1042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9717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9012" indent="-254647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295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592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7887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183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6478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577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070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4364" algn="l" defTabSz="1018592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65238"/>
            <a:ext cx="9601200" cy="5684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28600" y="230124"/>
            <a:ext cx="9601200" cy="649224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692" tIns="50847" rIns="101692" bIns="50847" anchor="ctr"/>
          <a:lstStyle/>
          <a:p>
            <a:pPr defTabSz="1017157"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18975" y="220861"/>
            <a:ext cx="7280116" cy="644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692" tIns="50847" rIns="101692" bIns="5084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/>
        </p:nvSpPr>
        <p:spPr bwMode="auto">
          <a:xfrm>
            <a:off x="228617" y="733357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defTabSz="1017157">
              <a:defRPr/>
            </a:pPr>
            <a:r>
              <a:rPr lang="en-US" sz="900" b="1" dirty="0">
                <a:solidFill>
                  <a:srgbClr val="203353"/>
                </a:solidFill>
                <a:latin typeface="Calibri"/>
              </a:rPr>
              <a:t>PAGE </a:t>
            </a:r>
            <a:fld id="{54B17DE0-6D87-48AB-BBA0-9128AA86CC3B}" type="slidenum">
              <a:rPr lang="en-US" sz="900" b="1">
                <a:solidFill>
                  <a:srgbClr val="203353"/>
                </a:solidFill>
                <a:latin typeface="Calibri"/>
              </a:rPr>
              <a:pPr defTabSz="1017157">
                <a:defRPr/>
              </a:pPr>
              <a:t>‹#›</a:t>
            </a:fld>
            <a:endParaRPr lang="en-US" sz="900" b="1" dirty="0">
              <a:solidFill>
                <a:srgbClr val="203353"/>
              </a:solidFill>
              <a:latin typeface="Calibri"/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08121" y="322236"/>
            <a:ext cx="2416810" cy="451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28600" y="7240271"/>
            <a:ext cx="960120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7169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</p:sldLayoutIdLst>
  <p:timing>
    <p:tnLst>
      <p:par>
        <p:cTn id="1" dur="indefinite" restart="never" nodeType="tmRoot"/>
      </p:par>
    </p:tnLst>
  </p:timing>
  <p:txStyles>
    <p:titleStyle>
      <a:lvl1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400" b="1">
          <a:solidFill>
            <a:schemeClr val="bg1"/>
          </a:solidFill>
          <a:latin typeface="Calibri" pitchFamily="34" charset="0"/>
        </a:defRPr>
      </a:lvl5pPr>
      <a:lvl6pPr marL="508463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6pPr>
      <a:lvl7pPr marL="1016925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7pPr>
      <a:lvl8pPr marL="1525388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8pPr>
      <a:lvl9pPr marL="2033851" algn="r" rtl="0" fontAlgn="base">
        <a:spcBef>
          <a:spcPct val="0"/>
        </a:spcBef>
        <a:spcAft>
          <a:spcPct val="0"/>
        </a:spcAft>
        <a:defRPr sz="1900">
          <a:solidFill>
            <a:schemeClr val="bg1"/>
          </a:solidFill>
          <a:latin typeface="Calisto MT" pitchFamily="18" charset="0"/>
        </a:defRPr>
      </a:lvl9pPr>
    </p:titleStyle>
    <p:bodyStyle>
      <a:lvl1pPr marL="187164" indent="-187164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200">
          <a:solidFill>
            <a:schemeClr val="tx1"/>
          </a:solidFill>
          <a:latin typeface="+mn-lt"/>
          <a:ea typeface="+mn-ea"/>
          <a:cs typeface="+mn-cs"/>
        </a:defRPr>
      </a:lvl1pPr>
      <a:lvl2pPr marL="376093" indent="-185400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2pPr>
      <a:lvl3pPr marL="565023" indent="-1854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200">
          <a:solidFill>
            <a:schemeClr val="tx1"/>
          </a:solidFill>
          <a:latin typeface="+mn-lt"/>
        </a:defRPr>
      </a:lvl3pPr>
      <a:lvl4pPr marL="1778054" indent="-2525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Arial" charset="0"/>
        </a:defRPr>
      </a:lvl4pPr>
      <a:lvl5pPr marL="2286573" indent="-2525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5pPr>
      <a:lvl6pPr marL="2796545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6pPr>
      <a:lvl7pPr marL="330500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7pPr>
      <a:lvl8pPr marL="3813470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8pPr>
      <a:lvl9pPr marL="4321928" indent="-254235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463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692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38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3851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2312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0775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9239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7698" algn="l" defTabSz="101692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144033" y="6084608"/>
            <a:ext cx="6547664" cy="8568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1847" tIns="50923" rIns="101847" bIns="50923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1018586"/>
            <a:r>
              <a:rPr lang="en-US" sz="3100" dirty="0" smtClean="0">
                <a:solidFill>
                  <a:srgbClr val="968880"/>
                </a:solidFill>
                <a:latin typeface="Calibri" pitchFamily="34" charset="0"/>
              </a:rPr>
              <a:t>Agency Prepay: Refinance Incentive </a:t>
            </a:r>
            <a:r>
              <a:rPr lang="en-US" dirty="0" smtClean="0">
                <a:solidFill>
                  <a:schemeClr val="tx2"/>
                </a:solidFill>
                <a:latin typeface="Calibri" pitchFamily="34" charset="0"/>
              </a:rPr>
              <a:t>December 2015</a:t>
            </a:r>
            <a:endParaRPr lang="en-US" dirty="0">
              <a:solidFill>
                <a:schemeClr val="tx2"/>
              </a:solidFill>
              <a:latin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Refinance Incentive Overview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2"/>
            <a:ext cx="7579581" cy="5335196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Formula Description: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Basic Refinance Incentive:=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WAC + PMI (@origination) {in basis points}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- </a:t>
            </a:r>
            <a:r>
              <a:rPr lang="en-US" sz="1400" dirty="0" err="1" smtClean="0"/>
              <a:t>MtgRate</a:t>
            </a:r>
            <a:r>
              <a:rPr lang="en-US" sz="1400" dirty="0"/>
              <a:t> </a:t>
            </a:r>
            <a:endParaRPr lang="en-US" sz="1400" dirty="0" smtClean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- LLPA Adjustment {in basis points / 4}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- PMI (@current date)</a:t>
            </a:r>
            <a:r>
              <a:rPr lang="en-US" sz="1400" dirty="0"/>
              <a:t> {in basis points</a:t>
            </a:r>
            <a:r>
              <a:rPr lang="en-US" sz="1400" dirty="0" smtClean="0"/>
              <a:t>}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 Detailed Refinance </a:t>
            </a:r>
            <a:r>
              <a:rPr lang="en-US" sz="1400" dirty="0"/>
              <a:t>Incentive:=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WAC + PMI Base(@origination) + PMI </a:t>
            </a:r>
            <a:r>
              <a:rPr lang="en-US" sz="1400" dirty="0" smtClean="0"/>
              <a:t>Occupancy </a:t>
            </a:r>
            <a:r>
              <a:rPr lang="en-US" sz="1400" dirty="0"/>
              <a:t>(@origination) + PMI Loan Size(@origination)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- </a:t>
            </a:r>
            <a:r>
              <a:rPr lang="en-US" sz="1400" dirty="0" err="1"/>
              <a:t>MtgRate</a:t>
            </a:r>
            <a:r>
              <a:rPr lang="en-US" sz="1400" dirty="0"/>
              <a:t>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- (LLPA Base + LLPA ADMC + LLPA Occupancy + LLPA LTV + </a:t>
            </a:r>
            <a:r>
              <a:rPr lang="en-US" sz="1400" dirty="0" smtClean="0"/>
              <a:t>LLPA Units + LLPA </a:t>
            </a:r>
            <a:r>
              <a:rPr lang="en-US" sz="1400" dirty="0"/>
              <a:t>Loan Size)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- (PMI Base (@current date) + PMI Occupancy (@current date) + PMI Loan Size (@current date))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When </a:t>
            </a:r>
            <a:r>
              <a:rPr lang="en-US" sz="1400" dirty="0" err="1" smtClean="0"/>
              <a:t>IssueDate</a:t>
            </a:r>
            <a:r>
              <a:rPr lang="en-US" sz="1400" dirty="0" smtClean="0"/>
              <a:t> &lt;= ‘2009-06-01’: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LLPA Adjustment is capped at 75 basis points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PMI (@current date) is set to 0 basis points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WAC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Pools – </a:t>
            </a:r>
            <a:r>
              <a:rPr lang="en-US" sz="1400" dirty="0" smtClean="0"/>
              <a:t>WAC from </a:t>
            </a:r>
            <a:r>
              <a:rPr lang="en-US" sz="1400" dirty="0" err="1" smtClean="0"/>
              <a:t>SecFactor</a:t>
            </a:r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Loans </a:t>
            </a:r>
            <a:r>
              <a:rPr lang="en-US" sz="1400" b="1" dirty="0" smtClean="0"/>
              <a:t>– </a:t>
            </a:r>
            <a:r>
              <a:rPr lang="en-US" sz="1400" dirty="0" err="1"/>
              <a:t>O</a:t>
            </a:r>
            <a:r>
              <a:rPr lang="en-US" sz="1400" dirty="0" err="1" smtClean="0"/>
              <a:t>rigNoteRate</a:t>
            </a:r>
            <a:r>
              <a:rPr lang="en-US" sz="1400" dirty="0" smtClean="0"/>
              <a:t> </a:t>
            </a:r>
            <a:r>
              <a:rPr lang="en-US" sz="1400" dirty="0"/>
              <a:t>from </a:t>
            </a:r>
            <a:r>
              <a:rPr lang="en-US" sz="1400" dirty="0" err="1"/>
              <a:t>Cello_Loan</a:t>
            </a:r>
            <a:endParaRPr lang="en-US" sz="1400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196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err="1" smtClean="0">
                <a:solidFill>
                  <a:schemeClr val="tx1"/>
                </a:solidFill>
              </a:rPr>
              <a:t>Mtg</a:t>
            </a:r>
            <a:r>
              <a:rPr lang="en-US" sz="2400" b="0" dirty="0" smtClean="0">
                <a:solidFill>
                  <a:schemeClr val="tx1"/>
                </a:solidFill>
              </a:rPr>
              <a:t> Rate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Conventional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Same calculation for Pools and 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 1 Point Adjusted Mortgage Rate from Freddie PMMS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Monthly series obtained by averaging weekly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Lag = </a:t>
            </a:r>
            <a:r>
              <a:rPr lang="en-US" sz="1400" dirty="0" smtClean="0"/>
              <a:t>2 months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Jumbo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Pools and </a:t>
            </a:r>
            <a:r>
              <a:rPr lang="en-US" sz="1400" dirty="0" smtClean="0"/>
              <a:t>Loans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1 </a:t>
            </a:r>
            <a:r>
              <a:rPr lang="en-US" sz="1400" dirty="0"/>
              <a:t>Point Adjusted Mortgage Rate from Freddie PMMS time </a:t>
            </a:r>
            <a:r>
              <a:rPr lang="en-US" sz="1400" dirty="0" smtClean="0"/>
              <a:t>series + Jumbo Spread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Monthly series obtained by averaging weekly time series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Jumbo Spread </a:t>
            </a:r>
            <a:r>
              <a:rPr lang="en-US" sz="1400" dirty="0"/>
              <a:t>= </a:t>
            </a:r>
            <a:r>
              <a:rPr lang="en-US" sz="1400" dirty="0" err="1"/>
              <a:t>WAC_Jumbo</a:t>
            </a:r>
            <a:r>
              <a:rPr lang="en-US" sz="1400" dirty="0"/>
              <a:t> - </a:t>
            </a:r>
            <a:r>
              <a:rPr lang="en-US" sz="1400" dirty="0" err="1" smtClean="0"/>
              <a:t>WAC_Conventional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Lag = 2 months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41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LLPA Adjustment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0"/>
            <a:ext cx="7579581" cy="5302955"/>
          </a:xfrm>
        </p:spPr>
        <p:txBody>
          <a:bodyPr/>
          <a:lstStyle/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LLPA </a:t>
            </a:r>
            <a:r>
              <a:rPr lang="en-US" sz="1400" b="1" dirty="0" smtClean="0"/>
              <a:t>Base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adjustment based on FICO and LTV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LLPA ADMC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25 BP from {2008-01 to 2014-04} and {2015-01 to 2015-09}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0 BP other periods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LLPA Occupancy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</a:t>
            </a:r>
            <a:r>
              <a:rPr lang="en-US" sz="1400" dirty="0"/>
              <a:t>adjustment based on </a:t>
            </a:r>
            <a:r>
              <a:rPr lang="en-US" sz="1400" dirty="0" smtClean="0"/>
              <a:t>Occupancy and LTV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LLPA LTV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</a:t>
            </a:r>
            <a:r>
              <a:rPr lang="en-US" sz="1400" dirty="0"/>
              <a:t>adjustment based on </a:t>
            </a:r>
            <a:r>
              <a:rPr lang="en-US" sz="1400" dirty="0" smtClean="0"/>
              <a:t>LTV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LLPA </a:t>
            </a:r>
            <a:r>
              <a:rPr lang="en-US" sz="1400" b="1" dirty="0" smtClean="0"/>
              <a:t>Units</a:t>
            </a:r>
            <a:endParaRPr lang="en-US" sz="1400" b="1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</a:t>
            </a:r>
            <a:r>
              <a:rPr lang="en-US" sz="1400" dirty="0"/>
              <a:t>adjustment based on </a:t>
            </a:r>
            <a:r>
              <a:rPr lang="en-US" sz="1400" dirty="0" smtClean="0"/>
              <a:t>Number of Units and LTV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LLPA </a:t>
            </a:r>
            <a:r>
              <a:rPr lang="en-US" sz="1400" b="1" dirty="0"/>
              <a:t>Loan Size</a:t>
            </a:r>
            <a:endParaRPr lang="en-US" sz="1400" b="1" dirty="0" smtClean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</a:t>
            </a:r>
            <a:r>
              <a:rPr lang="en-US" sz="1400" dirty="0"/>
              <a:t>adjustment based on </a:t>
            </a:r>
            <a:r>
              <a:rPr lang="en-US" sz="1400" dirty="0" smtClean="0"/>
              <a:t>Loan Size and LTV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Adjustment:</a:t>
            </a:r>
            <a:r>
              <a:rPr lang="en-US" sz="1400" dirty="0" smtClean="0"/>
              <a:t> when any collateral characteristics are missing or outside the range of these tables, we use the maximum table value.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Ex) LTV &gt; 97%, we use the maximum LLPA adjustment for each table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Adjustment:</a:t>
            </a:r>
            <a:r>
              <a:rPr lang="en-US" sz="1400" dirty="0"/>
              <a:t> </a:t>
            </a:r>
            <a:r>
              <a:rPr lang="en-US" sz="1400" dirty="0" smtClean="0"/>
              <a:t>we cap the LLPA adjustment at 75 BPs for origination date &lt;= 2009-06-01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This is for the HARP program</a:t>
            </a: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823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PMI Adjustment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PMI Base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adjustment based on FICO and </a:t>
            </a:r>
            <a:r>
              <a:rPr lang="en-US" sz="1400" dirty="0" smtClean="0"/>
              <a:t>LTV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Uses </a:t>
            </a:r>
            <a:r>
              <a:rPr lang="en-US" sz="1400" dirty="0" err="1"/>
              <a:t>LoanPurpose</a:t>
            </a:r>
            <a:r>
              <a:rPr lang="en-US" sz="1400" dirty="0"/>
              <a:t> = ‘REFI’ (for pools). For loans, we should use the actual Loan Purpose code at origination. **Going forward we could try and use the </a:t>
            </a:r>
            <a:r>
              <a:rPr lang="en-US" sz="1400" dirty="0" err="1"/>
              <a:t>LoanPurpose</a:t>
            </a:r>
            <a:r>
              <a:rPr lang="en-US" sz="1400" dirty="0"/>
              <a:t> distribution for pool </a:t>
            </a:r>
            <a:r>
              <a:rPr lang="en-US" sz="1400" dirty="0" smtClean="0"/>
              <a:t>calculation</a:t>
            </a: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PMI </a:t>
            </a:r>
            <a:r>
              <a:rPr lang="en-US" sz="1400" b="1" dirty="0" smtClean="0"/>
              <a:t>Loan Size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</a:t>
            </a:r>
            <a:r>
              <a:rPr lang="en-US" sz="1400" dirty="0"/>
              <a:t>adjustment based </a:t>
            </a:r>
            <a:r>
              <a:rPr lang="en-US" sz="1400" dirty="0" smtClean="0"/>
              <a:t>on Loan Size, FICO </a:t>
            </a:r>
            <a:r>
              <a:rPr lang="en-US" sz="1400" dirty="0"/>
              <a:t>and </a:t>
            </a:r>
            <a:r>
              <a:rPr lang="en-US" sz="1400" dirty="0" smtClean="0"/>
              <a:t>LTV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PMI </a:t>
            </a:r>
            <a:r>
              <a:rPr lang="en-US" sz="1400" b="1" dirty="0" smtClean="0"/>
              <a:t>Occupancy</a:t>
            </a:r>
            <a:endParaRPr lang="en-US" sz="1400" b="1" dirty="0"/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Time-dependent </a:t>
            </a:r>
            <a:r>
              <a:rPr lang="en-US" sz="1400" dirty="0"/>
              <a:t>adjustment based on </a:t>
            </a:r>
            <a:r>
              <a:rPr lang="en-US" sz="1400" dirty="0" smtClean="0"/>
              <a:t>Occupancy, FICO </a:t>
            </a:r>
            <a:r>
              <a:rPr lang="en-US" sz="1400" dirty="0"/>
              <a:t>and LTV</a:t>
            </a:r>
          </a:p>
          <a:p>
            <a:pPr lvl="2" algn="l"/>
            <a:endParaRPr lang="en-US" sz="1400" dirty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 smtClean="0"/>
              <a:t>Adjustment:</a:t>
            </a:r>
            <a:r>
              <a:rPr lang="en-US" sz="1400" dirty="0" smtClean="0"/>
              <a:t> When any collateral characteristics are missing or outside the range of these tables, we use the maximum table value.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Ex) LTV &gt; 97%, we use the maximum PMI adjustment for each table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b="1" dirty="0"/>
              <a:t>Adjustment:</a:t>
            </a:r>
            <a:r>
              <a:rPr lang="en-US" sz="1400" dirty="0"/>
              <a:t> </a:t>
            </a:r>
            <a:r>
              <a:rPr lang="en-US" sz="1400" dirty="0" smtClean="0"/>
              <a:t>We set the PMI adjustment to 0.0 for origination </a:t>
            </a:r>
            <a:r>
              <a:rPr lang="en-US" sz="1400" dirty="0"/>
              <a:t>date &lt;= 2009-06-01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This is for the HARP </a:t>
            </a:r>
            <a:r>
              <a:rPr lang="en-US" sz="1400" dirty="0" smtClean="0"/>
              <a:t>program</a:t>
            </a: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45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Summary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The refinance incentive is calculated for pools and for loans.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use the collateral characteristics of the pool/loan to adjust for LLPA and PMI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cap the LLPA at 75BP and PMI at 0BP for origination date &lt; 2009-06-01 (HARP eligible pools/loans)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use the 1 Point Adjusted Freddie Primary Market Survey Rate with a lag of 2 months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Jumbo pools/loans add a spread to the 1 Pt PMMS rate, which is based on the WAC difference of Conventional and Jumbo pools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We take the maximum table value for each LLPA or PMI adjustment when a collateral characteristic is outside the bounds of the table range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b="1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074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754380" y="1174163"/>
            <a:ext cx="8549640" cy="437354"/>
          </a:xfrm>
        </p:spPr>
        <p:txBody>
          <a:bodyPr/>
          <a:lstStyle/>
          <a:p>
            <a:pPr algn="l"/>
            <a:r>
              <a:rPr lang="en-US" sz="2400" b="0" dirty="0" smtClean="0">
                <a:solidFill>
                  <a:schemeClr val="tx1"/>
                </a:solidFill>
              </a:rPr>
              <a:t>Going Forward</a:t>
            </a:r>
            <a:endParaRPr lang="en-US" sz="2400" b="0" dirty="0">
              <a:solidFill>
                <a:schemeClr val="tx1"/>
              </a:solidFill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970059" y="1836881"/>
            <a:ext cx="7579581" cy="4927174"/>
          </a:xfrm>
        </p:spPr>
        <p:txBody>
          <a:bodyPr/>
          <a:lstStyle/>
          <a:p>
            <a:pPr marL="794985" lvl="1" indent="-285750" algn="l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Check to see if using the maximum value for LLPA and PMI is the best solution for loans/pools which are outside the CLTV range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Lien is in progress of understanding these tail situations for the CQ/CR model. 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Lien will also see if his findings can apply to the refinance incentive calculation for conventional/jumbo loans/pools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 smtClean="0"/>
              <a:t>Investigate calculating the LLPA and PMI adjusted Refinance </a:t>
            </a:r>
            <a:r>
              <a:rPr lang="en-US" sz="1400" dirty="0"/>
              <a:t>I</a:t>
            </a:r>
            <a:r>
              <a:rPr lang="en-US" sz="1400" dirty="0" smtClean="0"/>
              <a:t>ncentive at the loan level and rolling up for pools. Rather than calculating the LLPA and PMI adjusted Refinance Incentive based on pool level </a:t>
            </a:r>
            <a:r>
              <a:rPr lang="en-US" sz="1400" dirty="0" smtClean="0"/>
              <a:t>collateral</a:t>
            </a:r>
          </a:p>
          <a:p>
            <a:pPr marL="794985" lvl="1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Add the LLPA Adjustment and the PMI Adjustment to the </a:t>
            </a:r>
            <a:r>
              <a:rPr lang="en-US" sz="1400" dirty="0" err="1"/>
              <a:t>secSupp</a:t>
            </a:r>
            <a:r>
              <a:rPr lang="en-US" sz="1400" dirty="0"/>
              <a:t> and </a:t>
            </a:r>
            <a:r>
              <a:rPr lang="en-US" sz="1400" dirty="0" err="1"/>
              <a:t>Cello_LoanHist</a:t>
            </a:r>
            <a:r>
              <a:rPr lang="en-US" sz="1400" dirty="0"/>
              <a:t> tables</a:t>
            </a:r>
          </a:p>
          <a:p>
            <a:pPr marL="1304222" lvl="2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Additionally create a small file which maps the </a:t>
            </a:r>
            <a:r>
              <a:rPr lang="en-US" sz="1400" dirty="0" err="1"/>
              <a:t>MtgRate</a:t>
            </a:r>
            <a:r>
              <a:rPr lang="en-US" sz="1400" dirty="0"/>
              <a:t> and Lag used for each Ticker</a:t>
            </a:r>
          </a:p>
          <a:p>
            <a:pPr lvl="1" algn="l"/>
            <a:endParaRPr lang="en-US" sz="1400" dirty="0" smtClean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688063" y="1738263"/>
            <a:ext cx="86159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824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ustom Design">
  <a:themeElements>
    <a:clrScheme name="1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Custom Design">
  <a:themeElements>
    <a:clrScheme name="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Custom Design">
  <a:themeElements>
    <a:clrScheme name="2_Custom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Custom Design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5_Default Design">
  <a:themeElements>
    <a:clrScheme name="2_Default Design 1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2_Default Design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5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6_Default Design">
  <a:themeElements>
    <a:clrScheme name="3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3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7_Default Design">
  <a:themeElements>
    <a:clrScheme name="1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1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6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7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101560</TotalTime>
  <Words>716</Words>
  <Application>Microsoft Office PowerPoint</Application>
  <PresentationFormat>Custom</PresentationFormat>
  <Paragraphs>79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15</vt:i4>
      </vt:variant>
      <vt:variant>
        <vt:lpstr>Slide Titles</vt:lpstr>
      </vt:variant>
      <vt:variant>
        <vt:i4>8</vt:i4>
      </vt:variant>
    </vt:vector>
  </HeadingPairs>
  <TitlesOfParts>
    <vt:vector size="28" baseType="lpstr">
      <vt:lpstr>Arial</vt:lpstr>
      <vt:lpstr>Calibri</vt:lpstr>
      <vt:lpstr>Calisto MT</vt:lpstr>
      <vt:lpstr>Cambria</vt:lpstr>
      <vt:lpstr>Times</vt:lpstr>
      <vt:lpstr>Custom Design</vt:lpstr>
      <vt:lpstr>1_Custom Design</vt:lpstr>
      <vt:lpstr>2_Custom Design</vt:lpstr>
      <vt:lpstr>1_Default Design</vt:lpstr>
      <vt:lpstr>4_Default Design</vt:lpstr>
      <vt:lpstr>3_Default Design</vt:lpstr>
      <vt:lpstr>3_Custom Design</vt:lpstr>
      <vt:lpstr>2_Default Design</vt:lpstr>
      <vt:lpstr>4_Custom Design</vt:lpstr>
      <vt:lpstr>5_Default Design</vt:lpstr>
      <vt:lpstr>5_Custom Design</vt:lpstr>
      <vt:lpstr>6_Default Design</vt:lpstr>
      <vt:lpstr>7_Default Design</vt:lpstr>
      <vt:lpstr>6_Custom Design</vt:lpstr>
      <vt:lpstr>7_Custom Design</vt:lpstr>
      <vt:lpstr>PowerPoint Presentation</vt:lpstr>
      <vt:lpstr>Refinance Incentive Overview</vt:lpstr>
      <vt:lpstr>WAC</vt:lpstr>
      <vt:lpstr>Mtg Rate</vt:lpstr>
      <vt:lpstr>LLPA Adjustment</vt:lpstr>
      <vt:lpstr>PMI Adjustment</vt:lpstr>
      <vt:lpstr>Summary</vt:lpstr>
      <vt:lpstr>Going Forward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William Gates</dc:creator>
  <cp:lastModifiedBy>Robert Morris</cp:lastModifiedBy>
  <cp:revision>1972</cp:revision>
  <cp:lastPrinted>2015-07-21T20:38:21Z</cp:lastPrinted>
  <dcterms:created xsi:type="dcterms:W3CDTF">2011-07-07T12:37:32Z</dcterms:created>
  <dcterms:modified xsi:type="dcterms:W3CDTF">2015-12-16T16:13:44Z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-1471813815</vt:i4>
  </property>
  <property fmtid="{D5CDD505-2E9C-101B-9397-08002B2CF9AE}" pid="3" name="_NewReviewCycle">
    <vt:lpwstr/>
  </property>
  <property fmtid="{D5CDD505-2E9C-101B-9397-08002B2CF9AE}" pid="4" name="_EmailSubject">
    <vt:lpwstr>FW: 2012 05 15 cello presentation.pptx</vt:lpwstr>
  </property>
  <property fmtid="{D5CDD505-2E9C-101B-9397-08002B2CF9AE}" pid="5" name="_AuthorEmail">
    <vt:lpwstr>Marisa.Goldberg@guggenheimpartners.com</vt:lpwstr>
  </property>
  <property fmtid="{D5CDD505-2E9C-101B-9397-08002B2CF9AE}" pid="6" name="_AuthorEmailDisplayName">
    <vt:lpwstr>Goldberg, Marisa</vt:lpwstr>
  </property>
  <property fmtid="{D5CDD505-2E9C-101B-9397-08002B2CF9AE}" pid="7" name="_PreviousAdHocReviewCycleID">
    <vt:i4>-274319563</vt:i4>
  </property>
</Properties>
</file>