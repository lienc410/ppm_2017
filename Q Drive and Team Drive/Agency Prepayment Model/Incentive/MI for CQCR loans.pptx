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5"/>
  </p:notesMasterIdLst>
  <p:handoutMasterIdLst>
    <p:handoutMasterId r:id="rId26"/>
  </p:handoutMasterIdLst>
  <p:sldIdLst>
    <p:sldId id="606" r:id="rId16"/>
    <p:sldId id="607" r:id="rId17"/>
    <p:sldId id="608" r:id="rId18"/>
    <p:sldId id="609" r:id="rId19"/>
    <p:sldId id="610" r:id="rId20"/>
    <p:sldId id="611" r:id="rId21"/>
    <p:sldId id="613" r:id="rId22"/>
    <p:sldId id="612" r:id="rId23"/>
    <p:sldId id="615" r:id="rId24"/>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8880"/>
    <a:srgbClr val="2E8A60"/>
    <a:srgbClr val="8C2B18"/>
    <a:srgbClr val="AD275C"/>
    <a:srgbClr val="2E398A"/>
    <a:srgbClr val="F6D6E3"/>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25" d="100"/>
          <a:sy n="125" d="100"/>
        </p:scale>
        <p:origin x="-816" y="-600"/>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Current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145569782"/>
              </p:ext>
            </p:extLst>
          </p:nvPr>
        </p:nvGraphicFramePr>
        <p:xfrm>
          <a:off x="442912" y="2089150"/>
          <a:ext cx="4110038" cy="296672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accent5">
                        <a:lumMod val="60000"/>
                        <a:lumOff val="40000"/>
                      </a:schemeClr>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OWNER</a:t>
                      </a:r>
                      <a:endParaRPr lang="en-US" sz="1600" b="0" i="0" u="none" strike="noStrike" dirty="0">
                        <a:solidFill>
                          <a:srgbClr val="000000"/>
                        </a:solidFill>
                        <a:effectLst/>
                        <a:latin typeface="Calibri"/>
                      </a:endParaRPr>
                    </a:p>
                  </a:txBody>
                  <a:tcPr marL="9525" marR="9525" marT="9525" marB="0" anchor="ct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89320</a:t>
                      </a:r>
                      <a:endParaRPr lang="en-US" sz="1600" b="0" i="0" u="none" strike="noStrike" dirty="0">
                        <a:solidFill>
                          <a:srgbClr val="000000"/>
                        </a:solidFill>
                        <a:effectLst/>
                        <a:latin typeface="Calibri"/>
                      </a:endParaRPr>
                    </a:p>
                  </a:txBody>
                  <a:tcPr marL="9525" marR="9525" marT="9525" marB="0" anchor="ct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tc>
              </a:tr>
              <a:tr h="370840">
                <a:tc>
                  <a:txBody>
                    <a:bodyPr/>
                    <a:lstStyle/>
                    <a:p>
                      <a:pPr algn="ctr" fontAlgn="b"/>
                      <a:r>
                        <a:rPr lang="en-US" sz="1600" u="none" strike="noStrike">
                          <a:effectLst/>
                        </a:rPr>
                        <a:t>origPMI</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1.83</a:t>
                      </a:r>
                      <a:endParaRPr lang="en-US" sz="1600" b="0" i="0" u="none" strike="noStrike" dirty="0">
                        <a:solidFill>
                          <a:srgbClr val="000000"/>
                        </a:solidFill>
                        <a:effectLst/>
                        <a:latin typeface="Calibri"/>
                      </a:endParaRPr>
                    </a:p>
                  </a:txBody>
                  <a:tcPr marL="9525" marR="9525" marT="9525" marB="0" anchor="ctr"/>
                </a:tc>
              </a:tr>
            </a:tbl>
          </a:graphicData>
        </a:graphic>
      </p:graphicFrame>
      <p:sp>
        <p:nvSpPr>
          <p:cNvPr id="34" name="TextBox 33"/>
          <p:cNvSpPr txBox="1"/>
          <p:nvPr/>
        </p:nvSpPr>
        <p:spPr>
          <a:xfrm>
            <a:off x="5124450" y="1104900"/>
            <a:ext cx="4719267" cy="646331"/>
          </a:xfrm>
          <a:prstGeom prst="rect">
            <a:avLst/>
          </a:prstGeom>
          <a:noFill/>
        </p:spPr>
        <p:txBody>
          <a:bodyPr wrap="square" rtlCol="0">
            <a:spAutoFit/>
          </a:bodyPr>
          <a:lstStyle/>
          <a:p>
            <a:r>
              <a:rPr lang="en-US" dirty="0" smtClean="0">
                <a:latin typeface="+mn-lt"/>
              </a:rPr>
              <a:t>Step 1: Find the right version of MGIC document based on loan origination date</a:t>
            </a:r>
            <a:endParaRPr lang="en-US" dirty="0">
              <a:solidFill>
                <a:schemeClr val="bg1">
                  <a:lumMod val="65000"/>
                </a:schemeClr>
              </a:solidFill>
              <a:latin typeface="+mn-lt"/>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34075" y="1751231"/>
            <a:ext cx="2400306" cy="3820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075" y="5581649"/>
            <a:ext cx="2408328" cy="1619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4781" y="1751231"/>
            <a:ext cx="686893"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Rectangle 38"/>
          <p:cNvSpPr/>
          <p:nvPr/>
        </p:nvSpPr>
        <p:spPr>
          <a:xfrm>
            <a:off x="8904780" y="1761390"/>
            <a:ext cx="686893" cy="7804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09996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Current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3327766950"/>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solidFill>
                      <a:schemeClr val="accent2">
                        <a:lumMod val="20000"/>
                        <a:lumOff val="80000"/>
                      </a:schemeClr>
                    </a:solid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solidFill>
                      <a:schemeClr val="accent2">
                        <a:lumMod val="20000"/>
                        <a:lumOff val="80000"/>
                      </a:schemeClr>
                    </a:solid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solidFill>
                      <a:schemeClr val="bg2"/>
                    </a:solid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solidFill>
                      <a:schemeClr val="bg2"/>
                    </a:solid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solidFill>
                      <a:schemeClr val="bg2"/>
                    </a:solid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tc>
              </a:tr>
            </a:tbl>
          </a:graphicData>
        </a:graphic>
      </p:graphicFrame>
      <p:sp>
        <p:nvSpPr>
          <p:cNvPr id="34" name="TextBox 33"/>
          <p:cNvSpPr txBox="1"/>
          <p:nvPr/>
        </p:nvSpPr>
        <p:spPr>
          <a:xfrm>
            <a:off x="5124450" y="1104900"/>
            <a:ext cx="4719267" cy="369332"/>
          </a:xfrm>
          <a:prstGeom prst="rect">
            <a:avLst/>
          </a:prstGeom>
          <a:noFill/>
        </p:spPr>
        <p:txBody>
          <a:bodyPr wrap="square" rtlCol="0">
            <a:spAutoFit/>
          </a:bodyPr>
          <a:lstStyle/>
          <a:p>
            <a:r>
              <a:rPr lang="en-US" dirty="0" smtClean="0">
                <a:latin typeface="+mn-lt"/>
              </a:rPr>
              <a:t>Step 2: Find the MI premium based on loan info</a:t>
            </a:r>
            <a:endParaRPr lang="en-US" dirty="0">
              <a:solidFill>
                <a:schemeClr val="bg1">
                  <a:lumMod val="65000"/>
                </a:schemeClr>
              </a:solidFill>
              <a:latin typeface="+mn-lt"/>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34075" y="1751231"/>
            <a:ext cx="2400306" cy="3820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075" y="5581649"/>
            <a:ext cx="2408328" cy="1619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4781" y="1751231"/>
            <a:ext cx="686893"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7391400" y="2654300"/>
            <a:ext cx="450850" cy="158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934074" y="6311900"/>
            <a:ext cx="1200153" cy="1587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934074" y="6007100"/>
            <a:ext cx="1200153" cy="1587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9106" y="5105400"/>
            <a:ext cx="4719267" cy="738664"/>
          </a:xfrm>
          <a:prstGeom prst="rect">
            <a:avLst/>
          </a:prstGeom>
          <a:noFill/>
        </p:spPr>
        <p:txBody>
          <a:bodyPr wrap="square" rtlCol="0">
            <a:spAutoFit/>
          </a:bodyPr>
          <a:lstStyle/>
          <a:p>
            <a:r>
              <a:rPr lang="en-US" sz="1400" dirty="0" smtClean="0">
                <a:latin typeface="+mn-lt"/>
              </a:rPr>
              <a:t>As the LTV is greater than the largest number in the table, we assigned the max number (or a number of 1000 bps) in the table to the base MI (i.e., we ignore what the credit score is).</a:t>
            </a:r>
            <a:endParaRPr lang="en-US" sz="1400" dirty="0">
              <a:solidFill>
                <a:schemeClr val="bg1">
                  <a:lumMod val="65000"/>
                </a:schemeClr>
              </a:solidFill>
              <a:latin typeface="+mn-lt"/>
            </a:endParaRPr>
          </a:p>
        </p:txBody>
      </p:sp>
      <p:sp>
        <p:nvSpPr>
          <p:cNvPr id="6" name="Down Arrow 5"/>
          <p:cNvSpPr/>
          <p:nvPr/>
        </p:nvSpPr>
        <p:spPr>
          <a:xfrm>
            <a:off x="2202180" y="5844064"/>
            <a:ext cx="636559" cy="3217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56261" y="6319520"/>
            <a:ext cx="3893819" cy="307777"/>
          </a:xfrm>
          <a:prstGeom prst="rect">
            <a:avLst/>
          </a:prstGeom>
          <a:noFill/>
        </p:spPr>
        <p:txBody>
          <a:bodyPr wrap="square" rtlCol="0">
            <a:spAutoFit/>
          </a:bodyPr>
          <a:lstStyle/>
          <a:p>
            <a:pPr algn="ctr"/>
            <a:r>
              <a:rPr lang="en-US" sz="1400" dirty="0" smtClean="0">
                <a:latin typeface="+mn-lt"/>
              </a:rPr>
              <a:t>We will have a PMI of </a:t>
            </a:r>
            <a:r>
              <a:rPr lang="en-US" sz="1400" b="1" dirty="0" smtClean="0">
                <a:latin typeface="+mn-lt"/>
              </a:rPr>
              <a:t>110 bps </a:t>
            </a:r>
            <a:r>
              <a:rPr lang="en-US" sz="1400" dirty="0" smtClean="0">
                <a:latin typeface="+mn-lt"/>
              </a:rPr>
              <a:t>for the loan.</a:t>
            </a:r>
            <a:endParaRPr lang="en-US" sz="1400" dirty="0">
              <a:solidFill>
                <a:schemeClr val="bg1">
                  <a:lumMod val="65000"/>
                </a:schemeClr>
              </a:solidFill>
              <a:latin typeface="+mn-lt"/>
            </a:endParaRPr>
          </a:p>
        </p:txBody>
      </p:sp>
    </p:spTree>
    <p:extLst>
      <p:ext uri="{BB962C8B-B14F-4D97-AF65-F5344CB8AC3E}">
        <p14:creationId xmlns:p14="http://schemas.microsoft.com/office/powerpoint/2010/main" val="14604028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Current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257242479"/>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no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tc>
              </a:tr>
            </a:tbl>
          </a:graphicData>
        </a:graphic>
      </p:graphicFrame>
      <p:sp>
        <p:nvSpPr>
          <p:cNvPr id="12" name="TextBox 11"/>
          <p:cNvSpPr txBox="1"/>
          <p:nvPr/>
        </p:nvSpPr>
        <p:spPr>
          <a:xfrm>
            <a:off x="479106" y="5105400"/>
            <a:ext cx="4719267" cy="738664"/>
          </a:xfrm>
          <a:prstGeom prst="rect">
            <a:avLst/>
          </a:prstGeom>
          <a:noFill/>
        </p:spPr>
        <p:txBody>
          <a:bodyPr wrap="square" rtlCol="0">
            <a:spAutoFit/>
          </a:bodyPr>
          <a:lstStyle/>
          <a:p>
            <a:r>
              <a:rPr lang="en-US" sz="1400" dirty="0" smtClean="0">
                <a:latin typeface="+mn-lt"/>
              </a:rPr>
              <a:t>As LTV greater than the largest number in the table, we assigned the max number (or a number of 1000 bps) to the base MI.</a:t>
            </a:r>
            <a:endParaRPr lang="en-US" sz="1400" dirty="0">
              <a:solidFill>
                <a:schemeClr val="bg1">
                  <a:lumMod val="65000"/>
                </a:schemeClr>
              </a:solidFill>
              <a:latin typeface="+mn-lt"/>
            </a:endParaRPr>
          </a:p>
        </p:txBody>
      </p:sp>
      <p:sp>
        <p:nvSpPr>
          <p:cNvPr id="6" name="Down Arrow 5"/>
          <p:cNvSpPr/>
          <p:nvPr/>
        </p:nvSpPr>
        <p:spPr>
          <a:xfrm>
            <a:off x="2202180" y="5844064"/>
            <a:ext cx="636559" cy="321786"/>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56261" y="6319520"/>
            <a:ext cx="3893819" cy="307777"/>
          </a:xfrm>
          <a:prstGeom prst="rect">
            <a:avLst/>
          </a:prstGeom>
          <a:noFill/>
        </p:spPr>
        <p:txBody>
          <a:bodyPr wrap="square" rtlCol="0">
            <a:spAutoFit/>
          </a:bodyPr>
          <a:lstStyle/>
          <a:p>
            <a:pPr algn="ctr"/>
            <a:r>
              <a:rPr lang="en-US" sz="1400" dirty="0" smtClean="0">
                <a:latin typeface="+mn-lt"/>
              </a:rPr>
              <a:t>We will have a PMI of </a:t>
            </a:r>
            <a:r>
              <a:rPr lang="en-US" sz="1400" b="1" dirty="0" smtClean="0">
                <a:latin typeface="+mn-lt"/>
              </a:rPr>
              <a:t>110 bps </a:t>
            </a:r>
            <a:r>
              <a:rPr lang="en-US" sz="1400" dirty="0" smtClean="0">
                <a:latin typeface="+mn-lt"/>
              </a:rPr>
              <a:t>for the loan.</a:t>
            </a:r>
            <a:endParaRPr lang="en-US" sz="1400" dirty="0">
              <a:solidFill>
                <a:schemeClr val="bg1">
                  <a:lumMod val="65000"/>
                </a:schemeClr>
              </a:solidFill>
              <a:latin typeface="+mn-lt"/>
            </a:endParaRPr>
          </a:p>
        </p:txBody>
      </p:sp>
      <p:sp>
        <p:nvSpPr>
          <p:cNvPr id="7" name="Isosceles Triangle 6"/>
          <p:cNvSpPr/>
          <p:nvPr/>
        </p:nvSpPr>
        <p:spPr>
          <a:xfrm rot="5400000">
            <a:off x="4429388" y="3725545"/>
            <a:ext cx="1697990" cy="220980"/>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728480" y="2058670"/>
            <a:ext cx="4037276" cy="523220"/>
          </a:xfrm>
          <a:prstGeom prst="rect">
            <a:avLst/>
          </a:prstGeom>
          <a:noFill/>
        </p:spPr>
        <p:txBody>
          <a:bodyPr wrap="square" rtlCol="0">
            <a:spAutoFit/>
          </a:bodyPr>
          <a:lstStyle/>
          <a:p>
            <a:r>
              <a:rPr lang="en-US" sz="1400" b="1" dirty="0" smtClean="0">
                <a:latin typeface="+mn-lt"/>
              </a:rPr>
              <a:t>110 bps </a:t>
            </a:r>
            <a:r>
              <a:rPr lang="en-US" sz="1400" dirty="0" smtClean="0">
                <a:latin typeface="+mn-lt"/>
              </a:rPr>
              <a:t>is misleading since </a:t>
            </a:r>
            <a:r>
              <a:rPr lang="en-US" sz="1400" dirty="0" err="1" smtClean="0">
                <a:latin typeface="+mn-lt"/>
              </a:rPr>
              <a:t>HARPed</a:t>
            </a:r>
            <a:r>
              <a:rPr lang="en-US" sz="1400" dirty="0" smtClean="0">
                <a:latin typeface="+mn-lt"/>
              </a:rPr>
              <a:t> loans pay no MI or carry over their MI from the previous loan.</a:t>
            </a:r>
            <a:endParaRPr lang="en-US" sz="1400" dirty="0">
              <a:solidFill>
                <a:schemeClr val="bg1">
                  <a:lumMod val="65000"/>
                </a:schemeClr>
              </a:solidFill>
              <a:latin typeface="+mn-lt"/>
            </a:endParaRPr>
          </a:p>
        </p:txBody>
      </p:sp>
      <p:sp>
        <p:nvSpPr>
          <p:cNvPr id="17" name="Down Arrow 16"/>
          <p:cNvSpPr/>
          <p:nvPr/>
        </p:nvSpPr>
        <p:spPr>
          <a:xfrm>
            <a:off x="7252479" y="2723039"/>
            <a:ext cx="636559" cy="321786"/>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728480" y="3140710"/>
            <a:ext cx="4037276" cy="523220"/>
          </a:xfrm>
          <a:prstGeom prst="rect">
            <a:avLst/>
          </a:prstGeom>
          <a:noFill/>
        </p:spPr>
        <p:txBody>
          <a:bodyPr wrap="square" rtlCol="0">
            <a:spAutoFit/>
          </a:bodyPr>
          <a:lstStyle/>
          <a:p>
            <a:r>
              <a:rPr lang="en-US" sz="1400" dirty="0" smtClean="0">
                <a:latin typeface="+mn-lt"/>
              </a:rPr>
              <a:t>We need to find out what MI the </a:t>
            </a:r>
            <a:r>
              <a:rPr lang="en-US" sz="1400" dirty="0" err="1" smtClean="0">
                <a:latin typeface="+mn-lt"/>
              </a:rPr>
              <a:t>HARPed</a:t>
            </a:r>
            <a:r>
              <a:rPr lang="en-US" sz="1400" dirty="0" smtClean="0">
                <a:latin typeface="+mn-lt"/>
              </a:rPr>
              <a:t> borrower was paying before they refinanced.</a:t>
            </a:r>
            <a:endParaRPr lang="en-US" sz="1400" dirty="0">
              <a:solidFill>
                <a:schemeClr val="bg1">
                  <a:lumMod val="65000"/>
                </a:schemeClr>
              </a:solidFill>
              <a:latin typeface="+mn-lt"/>
            </a:endParaRPr>
          </a:p>
        </p:txBody>
      </p:sp>
      <p:sp>
        <p:nvSpPr>
          <p:cNvPr id="19" name="TextBox 18"/>
          <p:cNvSpPr txBox="1"/>
          <p:nvPr/>
        </p:nvSpPr>
        <p:spPr>
          <a:xfrm>
            <a:off x="5728480" y="4155460"/>
            <a:ext cx="4037276" cy="523220"/>
          </a:xfrm>
          <a:prstGeom prst="rect">
            <a:avLst/>
          </a:prstGeom>
          <a:noFill/>
        </p:spPr>
        <p:txBody>
          <a:bodyPr wrap="square" rtlCol="0">
            <a:spAutoFit/>
          </a:bodyPr>
          <a:lstStyle/>
          <a:p>
            <a:r>
              <a:rPr lang="en-US" sz="1400" b="1" dirty="0" smtClean="0">
                <a:latin typeface="+mn-lt"/>
              </a:rPr>
              <a:t>Problem:</a:t>
            </a:r>
          </a:p>
          <a:p>
            <a:r>
              <a:rPr lang="en-US" sz="1400" dirty="0" smtClean="0">
                <a:latin typeface="+mn-lt"/>
              </a:rPr>
              <a:t>We don’t have information for their previous loan.</a:t>
            </a:r>
            <a:endParaRPr lang="en-US" sz="1400" dirty="0">
              <a:solidFill>
                <a:schemeClr val="bg1">
                  <a:lumMod val="65000"/>
                </a:schemeClr>
              </a:solidFill>
              <a:latin typeface="+mn-lt"/>
            </a:endParaRPr>
          </a:p>
        </p:txBody>
      </p:sp>
      <p:sp>
        <p:nvSpPr>
          <p:cNvPr id="20" name="Down Arrow 19"/>
          <p:cNvSpPr/>
          <p:nvPr/>
        </p:nvSpPr>
        <p:spPr>
          <a:xfrm>
            <a:off x="7252479" y="3760629"/>
            <a:ext cx="636559" cy="321786"/>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728480" y="5315784"/>
            <a:ext cx="4037276" cy="1169551"/>
          </a:xfrm>
          <a:prstGeom prst="rect">
            <a:avLst/>
          </a:prstGeom>
          <a:noFill/>
        </p:spPr>
        <p:txBody>
          <a:bodyPr wrap="square" rtlCol="0">
            <a:spAutoFit/>
          </a:bodyPr>
          <a:lstStyle/>
          <a:p>
            <a:r>
              <a:rPr lang="en-US" sz="1400" b="1" dirty="0" smtClean="0">
                <a:latin typeface="+mn-lt"/>
              </a:rPr>
              <a:t>Possible solution:</a:t>
            </a:r>
          </a:p>
          <a:p>
            <a:r>
              <a:rPr lang="en-US" sz="1400" dirty="0" smtClean="0">
                <a:latin typeface="+mn-lt"/>
              </a:rPr>
              <a:t>One information we can use is the </a:t>
            </a:r>
            <a:r>
              <a:rPr lang="en-US" sz="1400" dirty="0" err="1" smtClean="0">
                <a:latin typeface="+mn-lt"/>
              </a:rPr>
              <a:t>pctMtgIns</a:t>
            </a:r>
            <a:r>
              <a:rPr lang="en-US" sz="1400" dirty="0" smtClean="0">
                <a:latin typeface="+mn-lt"/>
              </a:rPr>
              <a:t> which is the MI coverage level.</a:t>
            </a:r>
          </a:p>
          <a:p>
            <a:r>
              <a:rPr lang="en-US" sz="1400" dirty="0">
                <a:latin typeface="+mn-lt"/>
              </a:rPr>
              <a:t>We could use </a:t>
            </a:r>
            <a:r>
              <a:rPr lang="en-US" sz="1400" dirty="0" smtClean="0">
                <a:latin typeface="+mn-lt"/>
              </a:rPr>
              <a:t>the coverage level to look up MI rates from MGIC documents from before 2009/06.</a:t>
            </a:r>
            <a:endParaRPr lang="en-US" sz="1400" dirty="0">
              <a:latin typeface="+mn-lt"/>
            </a:endParaRPr>
          </a:p>
        </p:txBody>
      </p:sp>
      <p:sp>
        <p:nvSpPr>
          <p:cNvPr id="22" name="Down Arrow 21"/>
          <p:cNvSpPr/>
          <p:nvPr/>
        </p:nvSpPr>
        <p:spPr>
          <a:xfrm>
            <a:off x="7252478" y="4920953"/>
            <a:ext cx="636559" cy="321786"/>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90734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Updated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4100062998"/>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no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solidFill>
                      <a:schemeClr val="accent1">
                        <a:lumMod val="20000"/>
                        <a:lumOff val="80000"/>
                      </a:schemeClr>
                    </a:solidFill>
                  </a:tcPr>
                </a:tc>
              </a:tr>
            </a:tbl>
          </a:graphicData>
        </a:graphic>
      </p:graphicFrame>
      <p:sp>
        <p:nvSpPr>
          <p:cNvPr id="23" name="TextBox 22"/>
          <p:cNvSpPr txBox="1"/>
          <p:nvPr/>
        </p:nvSpPr>
        <p:spPr>
          <a:xfrm>
            <a:off x="5124450" y="1104900"/>
            <a:ext cx="4719267" cy="646331"/>
          </a:xfrm>
          <a:prstGeom prst="rect">
            <a:avLst/>
          </a:prstGeom>
          <a:noFill/>
        </p:spPr>
        <p:txBody>
          <a:bodyPr wrap="square" rtlCol="0">
            <a:spAutoFit/>
          </a:bodyPr>
          <a:lstStyle/>
          <a:p>
            <a:r>
              <a:rPr lang="en-US" dirty="0" smtClean="0">
                <a:latin typeface="+mn-lt"/>
              </a:rPr>
              <a:t>Step 1: Find the historical version of MIGC document before June 2009</a:t>
            </a:r>
            <a:endParaRPr lang="en-US" dirty="0">
              <a:solidFill>
                <a:schemeClr val="bg1">
                  <a:lumMod val="65000"/>
                </a:schemeClr>
              </a:solidFill>
              <a:latin typeface="+mn-lt"/>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4934" y="1751231"/>
            <a:ext cx="2883128" cy="3937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831" y="5791946"/>
            <a:ext cx="2935333" cy="1355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3284" y="1804530"/>
            <a:ext cx="1254506" cy="423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50303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Updated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586916976"/>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no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solidFill>
                      <a:schemeClr val="accent1">
                        <a:lumMod val="20000"/>
                        <a:lumOff val="80000"/>
                      </a:schemeClr>
                    </a:solidFill>
                  </a:tcPr>
                </a:tc>
              </a:tr>
            </a:tbl>
          </a:graphicData>
        </a:graphic>
      </p:graphicFrame>
      <p:sp>
        <p:nvSpPr>
          <p:cNvPr id="23" name="TextBox 22"/>
          <p:cNvSpPr txBox="1"/>
          <p:nvPr/>
        </p:nvSpPr>
        <p:spPr>
          <a:xfrm>
            <a:off x="5124450" y="1104900"/>
            <a:ext cx="4719267" cy="369332"/>
          </a:xfrm>
          <a:prstGeom prst="rect">
            <a:avLst/>
          </a:prstGeom>
          <a:noFill/>
        </p:spPr>
        <p:txBody>
          <a:bodyPr wrap="square" rtlCol="0">
            <a:spAutoFit/>
          </a:bodyPr>
          <a:lstStyle/>
          <a:p>
            <a:r>
              <a:rPr lang="en-US" dirty="0" smtClean="0">
                <a:latin typeface="+mn-lt"/>
              </a:rPr>
              <a:t>Step 2: Look up the MI coverage</a:t>
            </a:r>
            <a:endParaRPr lang="en-US" dirty="0">
              <a:solidFill>
                <a:schemeClr val="bg1">
                  <a:lumMod val="65000"/>
                </a:schemeClr>
              </a:solidFill>
              <a:latin typeface="+mn-lt"/>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4934" y="1751231"/>
            <a:ext cx="2883128" cy="3937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831" y="5791946"/>
            <a:ext cx="2935333" cy="1355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3284" y="1804530"/>
            <a:ext cx="1254506" cy="423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479106" y="5105400"/>
            <a:ext cx="4719267" cy="738664"/>
          </a:xfrm>
          <a:prstGeom prst="rect">
            <a:avLst/>
          </a:prstGeom>
          <a:noFill/>
        </p:spPr>
        <p:txBody>
          <a:bodyPr wrap="square" rtlCol="0">
            <a:spAutoFit/>
          </a:bodyPr>
          <a:lstStyle/>
          <a:p>
            <a:r>
              <a:rPr lang="en-US" sz="1400" dirty="0" smtClean="0">
                <a:latin typeface="+mn-lt"/>
              </a:rPr>
              <a:t>Problem:</a:t>
            </a:r>
          </a:p>
          <a:p>
            <a:r>
              <a:rPr lang="en-US" sz="1400" dirty="0" smtClean="0">
                <a:latin typeface="+mn-lt"/>
              </a:rPr>
              <a:t>There is not a unique LTV range: each of the possible LTV ranges has 20% coverage</a:t>
            </a:r>
            <a:endParaRPr lang="en-US" sz="1400" dirty="0">
              <a:latin typeface="+mn-lt"/>
            </a:endParaRPr>
          </a:p>
        </p:txBody>
      </p:sp>
      <p:sp>
        <p:nvSpPr>
          <p:cNvPr id="10" name="Rectangle 9"/>
          <p:cNvSpPr/>
          <p:nvPr/>
        </p:nvSpPr>
        <p:spPr>
          <a:xfrm>
            <a:off x="5503816" y="3176813"/>
            <a:ext cx="1182681" cy="2391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03817" y="3977640"/>
            <a:ext cx="1182681" cy="1436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503817" y="4931230"/>
            <a:ext cx="1182681" cy="1436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82709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Updated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3639332556"/>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no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solidFill>
                      <a:schemeClr val="accent1">
                        <a:lumMod val="20000"/>
                        <a:lumOff val="80000"/>
                      </a:schemeClr>
                    </a:solidFill>
                  </a:tcPr>
                </a:tc>
              </a:tr>
            </a:tbl>
          </a:graphicData>
        </a:graphic>
      </p:graphicFrame>
      <p:sp>
        <p:nvSpPr>
          <p:cNvPr id="23" name="TextBox 22"/>
          <p:cNvSpPr txBox="1"/>
          <p:nvPr/>
        </p:nvSpPr>
        <p:spPr>
          <a:xfrm>
            <a:off x="5124450" y="1104900"/>
            <a:ext cx="4719267" cy="369332"/>
          </a:xfrm>
          <a:prstGeom prst="rect">
            <a:avLst/>
          </a:prstGeom>
          <a:noFill/>
        </p:spPr>
        <p:txBody>
          <a:bodyPr wrap="square" rtlCol="0">
            <a:spAutoFit/>
          </a:bodyPr>
          <a:lstStyle/>
          <a:p>
            <a:r>
              <a:rPr lang="en-US" dirty="0" smtClean="0">
                <a:latin typeface="+mn-lt"/>
              </a:rPr>
              <a:t>Step 2: Look up the MI coverage</a:t>
            </a:r>
            <a:endParaRPr lang="en-US" dirty="0">
              <a:solidFill>
                <a:schemeClr val="bg1">
                  <a:lumMod val="65000"/>
                </a:schemeClr>
              </a:solidFill>
              <a:latin typeface="+mn-lt"/>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4934" y="1751231"/>
            <a:ext cx="2883128" cy="3937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831" y="5791946"/>
            <a:ext cx="2935333" cy="1355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3284" y="1804530"/>
            <a:ext cx="1254506" cy="423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479106" y="5105400"/>
            <a:ext cx="4719267" cy="738664"/>
          </a:xfrm>
          <a:prstGeom prst="rect">
            <a:avLst/>
          </a:prstGeom>
          <a:noFill/>
        </p:spPr>
        <p:txBody>
          <a:bodyPr wrap="square" rtlCol="0">
            <a:spAutoFit/>
          </a:bodyPr>
          <a:lstStyle/>
          <a:p>
            <a:r>
              <a:rPr lang="en-US" sz="1400" dirty="0" smtClean="0">
                <a:latin typeface="+mn-lt"/>
              </a:rPr>
              <a:t>Problem:</a:t>
            </a:r>
          </a:p>
          <a:p>
            <a:r>
              <a:rPr lang="en-US" sz="1400" dirty="0"/>
              <a:t>There is not a unique LTV range: each of the possible LTV ranges has 20% </a:t>
            </a:r>
            <a:r>
              <a:rPr lang="en-US" sz="1400" dirty="0" smtClean="0"/>
              <a:t>coverage</a:t>
            </a:r>
            <a:endParaRPr lang="en-US" sz="1400" dirty="0"/>
          </a:p>
        </p:txBody>
      </p:sp>
      <p:sp>
        <p:nvSpPr>
          <p:cNvPr id="13" name="TextBox 12"/>
          <p:cNvSpPr txBox="1"/>
          <p:nvPr/>
        </p:nvSpPr>
        <p:spPr>
          <a:xfrm>
            <a:off x="499564" y="5926970"/>
            <a:ext cx="4719267" cy="738664"/>
          </a:xfrm>
          <a:prstGeom prst="rect">
            <a:avLst/>
          </a:prstGeom>
          <a:noFill/>
        </p:spPr>
        <p:txBody>
          <a:bodyPr wrap="square" rtlCol="0">
            <a:spAutoFit/>
          </a:bodyPr>
          <a:lstStyle/>
          <a:p>
            <a:r>
              <a:rPr lang="en-US" sz="1400" dirty="0" smtClean="0">
                <a:latin typeface="+mn-lt"/>
              </a:rPr>
              <a:t>Solution:</a:t>
            </a:r>
          </a:p>
          <a:p>
            <a:r>
              <a:rPr lang="en-US" sz="1400" dirty="0" smtClean="0">
                <a:latin typeface="+mn-lt"/>
              </a:rPr>
              <a:t>Check the LTV distribution of loans with MI coverage of 20%. Choose the LTV bucket that </a:t>
            </a:r>
            <a:r>
              <a:rPr lang="en-US" sz="1400" dirty="0">
                <a:latin typeface="+mn-lt"/>
              </a:rPr>
              <a:t>the majority of </a:t>
            </a:r>
            <a:r>
              <a:rPr lang="en-US" sz="1400" dirty="0" smtClean="0">
                <a:latin typeface="+mn-lt"/>
              </a:rPr>
              <a:t>the loans fall in.</a:t>
            </a:r>
            <a:endParaRPr lang="en-US" sz="1400" dirty="0">
              <a:latin typeface="+mn-lt"/>
            </a:endParaRPr>
          </a:p>
        </p:txBody>
      </p:sp>
      <p:sp>
        <p:nvSpPr>
          <p:cNvPr id="12" name="Rectangle 11"/>
          <p:cNvSpPr/>
          <p:nvPr/>
        </p:nvSpPr>
        <p:spPr>
          <a:xfrm>
            <a:off x="5503816" y="3176813"/>
            <a:ext cx="1182681" cy="2391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503817" y="3977640"/>
            <a:ext cx="1182681" cy="1436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503817" y="4931230"/>
            <a:ext cx="1182681" cy="1436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0041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S</a:t>
            </a:r>
            <a:r>
              <a:rPr lang="en-US" sz="1600" dirty="0" smtClean="0">
                <a:latin typeface="+mn-lt"/>
              </a:rPr>
              <a:t>uggested </a:t>
            </a:r>
            <a:r>
              <a:rPr lang="en-US" sz="1600" dirty="0">
                <a:latin typeface="+mn-lt"/>
              </a:rPr>
              <a:t>MI coverage </a:t>
            </a:r>
            <a:r>
              <a:rPr lang="en-US" sz="1600" dirty="0" smtClean="0">
                <a:latin typeface="+mn-lt"/>
              </a:rPr>
              <a:t>Look </a:t>
            </a:r>
            <a:r>
              <a:rPr lang="en-US" sz="1600" dirty="0">
                <a:latin typeface="+mn-lt"/>
              </a:rPr>
              <a:t>up table</a:t>
            </a:r>
            <a:br>
              <a:rPr lang="en-US" sz="1600" dirty="0">
                <a:latin typeface="+mn-lt"/>
              </a:rPr>
            </a:br>
            <a:r>
              <a:rPr lang="en-US" sz="1600" dirty="0" smtClean="0">
                <a:latin typeface="+mn-lt"/>
              </a:rPr>
              <a:t>MI </a:t>
            </a:r>
            <a:r>
              <a:rPr lang="en-US" sz="1600" dirty="0">
                <a:latin typeface="+mn-lt"/>
              </a:rPr>
              <a:t>coverage </a:t>
            </a:r>
            <a:r>
              <a:rPr lang="en-US" sz="1600" dirty="0" smtClean="0">
                <a:latin typeface="+mn-lt"/>
              </a:rPr>
              <a:t>as a function of </a:t>
            </a:r>
            <a:r>
              <a:rPr lang="en-US" sz="1600" dirty="0">
                <a:latin typeface="+mn-lt"/>
              </a:rPr>
              <a:t>LTV distribution</a:t>
            </a:r>
            <a:br>
              <a:rPr lang="en-US" sz="1600" dirty="0">
                <a:latin typeface="+mn-lt"/>
              </a:rPr>
            </a:br>
            <a:endParaRPr lang="en-US" dirty="0">
              <a:latin typeface="+mn-lt"/>
            </a:endParaRPr>
          </a:p>
        </p:txBody>
      </p:sp>
      <p:sp>
        <p:nvSpPr>
          <p:cNvPr id="11" name="TextBox 10"/>
          <p:cNvSpPr txBox="1"/>
          <p:nvPr/>
        </p:nvSpPr>
        <p:spPr>
          <a:xfrm>
            <a:off x="601579" y="1280575"/>
            <a:ext cx="4267200" cy="307777"/>
          </a:xfrm>
          <a:prstGeom prst="rect">
            <a:avLst/>
          </a:prstGeom>
          <a:noFill/>
        </p:spPr>
        <p:txBody>
          <a:bodyPr wrap="square" rtlCol="0">
            <a:spAutoFit/>
          </a:bodyPr>
          <a:lstStyle/>
          <a:p>
            <a:r>
              <a:rPr lang="en-US" sz="1400" dirty="0" smtClean="0">
                <a:latin typeface="+mn-lt"/>
              </a:rPr>
              <a:t>LTV distribution</a:t>
            </a:r>
            <a:endParaRPr lang="en-US" sz="1400"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2350644801"/>
              </p:ext>
            </p:extLst>
          </p:nvPr>
        </p:nvGraphicFramePr>
        <p:xfrm>
          <a:off x="601579" y="1592180"/>
          <a:ext cx="4267200" cy="2095500"/>
        </p:xfrm>
        <a:graphic>
          <a:graphicData uri="http://schemas.openxmlformats.org/drawingml/2006/table">
            <a:tbl>
              <a:tblPr>
                <a:tableStyleId>{3B4B98B0-60AC-42C2-AFA5-B58CD77FA1E5}</a:tableStyleId>
              </a:tblPr>
              <a:tblGrid>
                <a:gridCol w="609600"/>
                <a:gridCol w="609600"/>
                <a:gridCol w="609600"/>
                <a:gridCol w="609600"/>
                <a:gridCol w="609600"/>
                <a:gridCol w="609600"/>
                <a:gridCol w="609600"/>
              </a:tblGrid>
              <a:tr h="190500">
                <a:tc rowSpan="2">
                  <a:txBody>
                    <a:bodyPr/>
                    <a:lstStyle/>
                    <a:p>
                      <a:pPr algn="ctr" fontAlgn="b"/>
                      <a:r>
                        <a:rPr lang="en-US" sz="1100" u="none" strike="noStrike" dirty="0" smtClean="0">
                          <a:effectLst/>
                        </a:rPr>
                        <a:t>MI Coverage</a:t>
                      </a:r>
                      <a:endParaRPr lang="en-US" sz="1100" b="1"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olid"/>
                      <a:round/>
                      <a:headEnd type="none" w="med" len="med"/>
                      <a:tailEnd type="none" w="med" len="med"/>
                    </a:lnB>
                  </a:tcPr>
                </a:tc>
                <a:tc gridSpan="6">
                  <a:txBody>
                    <a:bodyPr/>
                    <a:lstStyle/>
                    <a:p>
                      <a:pPr algn="ctr" fontAlgn="b"/>
                      <a:r>
                        <a:rPr lang="en-US" sz="1100" u="none" strike="noStrike" dirty="0" smtClean="0">
                          <a:effectLst/>
                        </a:rPr>
                        <a:t>OLTV</a:t>
                      </a:r>
                      <a:endParaRPr lang="en-US" sz="1100" b="1"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r>
              <a:tr h="190500">
                <a:tc vMerge="1">
                  <a:txBody>
                    <a:bodyPr/>
                    <a:lstStyle/>
                    <a:p>
                      <a:pPr algn="ctr" fontAlgn="b"/>
                      <a:endParaRPr lang="en-US" sz="1100" b="1"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&lt; 80</a:t>
                      </a:r>
                      <a:endParaRPr lang="en-US" sz="1100" b="1"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85</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90</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95</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97</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&gt; 97</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r>
              <a:tr h="190500">
                <a:tc>
                  <a:txBody>
                    <a:bodyPr/>
                    <a:lstStyle/>
                    <a:p>
                      <a:pPr algn="ctr" fontAlgn="b"/>
                      <a:r>
                        <a:rPr lang="en-US" sz="1100" u="none" strike="noStrike" dirty="0">
                          <a:effectLst/>
                        </a:rPr>
                        <a:t>6</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tcPr>
                </a:tc>
                <a:tc>
                  <a:txBody>
                    <a:bodyPr/>
                    <a:lstStyle/>
                    <a:p>
                      <a:pPr algn="ctr" fontAlgn="b"/>
                      <a:r>
                        <a:rPr lang="en-US" sz="1100" u="none" strike="noStrike" dirty="0">
                          <a:effectLst/>
                        </a:rPr>
                        <a:t>45%</a:t>
                      </a:r>
                      <a:endParaRPr lang="en-US" sz="1100" b="0"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noFill/>
                  </a:tcPr>
                </a:tc>
                <a:tc>
                  <a:txBody>
                    <a:bodyPr/>
                    <a:lstStyle/>
                    <a:p>
                      <a:pPr algn="ctr" fontAlgn="b"/>
                      <a:r>
                        <a:rPr lang="en-US" sz="1100" u="none" strike="noStrike" dirty="0">
                          <a:solidFill>
                            <a:srgbClr val="C00000"/>
                          </a:solidFill>
                          <a:effectLst/>
                        </a:rPr>
                        <a:t>54%</a:t>
                      </a:r>
                      <a:endParaRPr lang="en-US" sz="1100" b="1" i="0" u="none" strike="noStrike" dirty="0">
                        <a:solidFill>
                          <a:srgbClr val="C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solidFill>
                      <a:schemeClr val="bg2"/>
                    </a:solidFill>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r>
              <a:tr h="190500">
                <a:tc>
                  <a:txBody>
                    <a:bodyPr/>
                    <a:lstStyle/>
                    <a:p>
                      <a:pPr algn="ctr" fontAlgn="b"/>
                      <a:r>
                        <a:rPr lang="en-US" sz="1100" u="none" strike="noStrike" dirty="0">
                          <a:effectLst/>
                        </a:rPr>
                        <a:t>12</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a:effectLst/>
                        </a:rPr>
                        <a:t>0%</a:t>
                      </a:r>
                      <a:endParaRPr lang="en-US" sz="1100" b="0" i="0" u="none" strike="noStrike">
                        <a:solidFill>
                          <a:srgbClr val="FFFFFF"/>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dirty="0">
                          <a:effectLst/>
                        </a:rPr>
                        <a:t>34%</a:t>
                      </a:r>
                      <a:endParaRPr lang="en-US" sz="1100" b="0" i="0" u="none" strike="noStrike" dirty="0">
                        <a:solidFill>
                          <a:srgbClr val="0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solidFill>
                            <a:srgbClr val="C00000"/>
                          </a:solidFill>
                          <a:effectLst/>
                        </a:rPr>
                        <a:t>51%</a:t>
                      </a:r>
                      <a:endParaRPr lang="en-US" sz="1100" b="1" i="0" u="none" strike="noStrike" dirty="0">
                        <a:solidFill>
                          <a:srgbClr val="C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0%</a:t>
                      </a:r>
                      <a:endParaRPr lang="en-US" sz="1100" b="0" i="0" u="none" strike="noStrike" dirty="0">
                        <a:solidFill>
                          <a:srgbClr val="FFFFFF"/>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14%</a:t>
                      </a:r>
                      <a:endParaRPr lang="en-US" sz="1100" b="0" i="0" u="none" strike="noStrike" dirty="0">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17</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dirty="0">
                          <a:effectLst/>
                        </a:rPr>
                        <a:t>17%</a:t>
                      </a:r>
                      <a:endParaRPr lang="en-US" sz="1100" b="0" i="0" u="none" strike="noStrike" dirty="0">
                        <a:solidFill>
                          <a:srgbClr val="0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solidFill>
                            <a:srgbClr val="C00000"/>
                          </a:solidFill>
                          <a:effectLst/>
                        </a:rPr>
                        <a:t>53%</a:t>
                      </a:r>
                      <a:endParaRPr lang="en-US" sz="1100" b="1" i="0" u="none" strike="noStrike" dirty="0">
                        <a:solidFill>
                          <a:srgbClr val="C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11%</a:t>
                      </a:r>
                      <a:endParaRPr lang="en-US" sz="1100" b="0" i="0" u="none" strike="noStrike" dirty="0">
                        <a:solidFill>
                          <a:srgbClr val="0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19%</a:t>
                      </a:r>
                      <a:endParaRPr lang="en-US" sz="1100" b="0" i="0" u="none" strike="noStrike" dirty="0">
                        <a:solidFill>
                          <a:srgbClr val="000000"/>
                        </a:solidFill>
                        <a:effectLst/>
                        <a:latin typeface="Calibri"/>
                      </a:endParaRPr>
                    </a:p>
                  </a:txBody>
                  <a:tcPr marL="9525" marR="9525" marT="9525" marB="0" anchor="b">
                    <a:noFill/>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18</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17%</a:t>
                      </a:r>
                      <a:endParaRPr lang="en-US" sz="1100" b="0" i="0" u="none" strike="noStrike" dirty="0">
                        <a:solidFill>
                          <a:srgbClr val="0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solidFill>
                            <a:srgbClr val="C00000"/>
                          </a:solidFill>
                          <a:effectLst/>
                        </a:rPr>
                        <a:t>83%</a:t>
                      </a:r>
                      <a:endParaRPr lang="en-US" sz="1100" b="1" i="0" u="none" strike="noStrike" dirty="0">
                        <a:solidFill>
                          <a:srgbClr val="C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FFFFFF"/>
                        </a:solidFill>
                        <a:effectLst/>
                        <a:latin typeface="Calibri"/>
                      </a:endParaRPr>
                    </a:p>
                  </a:txBody>
                  <a:tcPr marL="9525" marR="9525" marT="9525" marB="0" anchor="b"/>
                </a:tc>
              </a:tr>
              <a:tr h="190500">
                <a:tc>
                  <a:txBody>
                    <a:bodyPr/>
                    <a:lstStyle/>
                    <a:p>
                      <a:pPr algn="ctr" fontAlgn="b"/>
                      <a:r>
                        <a:rPr lang="en-US" sz="1100" u="none" strike="noStrike" dirty="0">
                          <a:effectLst/>
                        </a:rPr>
                        <a:t>25</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20%</a:t>
                      </a:r>
                      <a:endParaRPr lang="en-US" sz="1100" b="0" i="0" u="none" strike="noStrike" dirty="0">
                        <a:solidFill>
                          <a:srgbClr val="0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solidFill>
                            <a:srgbClr val="C00000"/>
                          </a:solidFill>
                          <a:effectLst/>
                        </a:rPr>
                        <a:t>67%</a:t>
                      </a:r>
                      <a:endParaRPr lang="en-US" sz="1100" b="1" i="0" u="none" strike="noStrike" dirty="0">
                        <a:solidFill>
                          <a:srgbClr val="C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7%</a:t>
                      </a:r>
                      <a:endParaRPr lang="en-US" sz="1100" b="0" i="0" u="none" strike="noStrike" dirty="0">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30</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solidFill>
                            <a:srgbClr val="C00000"/>
                          </a:solidFill>
                          <a:effectLst/>
                        </a:rPr>
                        <a:t>72%</a:t>
                      </a:r>
                      <a:endParaRPr lang="en-US" sz="1100" b="1" i="0" u="none" strike="noStrike" dirty="0">
                        <a:solidFill>
                          <a:srgbClr val="C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16%</a:t>
                      </a:r>
                      <a:endParaRPr lang="en-US" sz="1100" b="0" i="0" u="none" strike="noStrike" dirty="0">
                        <a:solidFill>
                          <a:srgbClr val="0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35</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11%</a:t>
                      </a:r>
                      <a:endParaRPr lang="en-US" sz="1100" b="0" i="0" u="none" strike="noStrike" dirty="0">
                        <a:solidFill>
                          <a:srgbClr val="000000"/>
                        </a:solidFill>
                        <a:effectLst/>
                        <a:latin typeface="Calibri"/>
                      </a:endParaRPr>
                    </a:p>
                  </a:txBody>
                  <a:tcPr marL="9525" marR="9525" marT="9525" marB="0" anchor="b">
                    <a:noFill/>
                  </a:tcPr>
                </a:tc>
                <a:tc>
                  <a:txBody>
                    <a:bodyPr/>
                    <a:lstStyle/>
                    <a:p>
                      <a:pPr algn="ctr" fontAlgn="b"/>
                      <a:r>
                        <a:rPr lang="en-US" sz="1100" u="none" strike="noStrike" dirty="0">
                          <a:solidFill>
                            <a:srgbClr val="C00000"/>
                          </a:solidFill>
                          <a:effectLst/>
                        </a:rPr>
                        <a:t>88%</a:t>
                      </a:r>
                      <a:endParaRPr lang="en-US" sz="1100" b="1" i="0" u="none" strike="noStrike" dirty="0">
                        <a:solidFill>
                          <a:srgbClr val="C00000"/>
                        </a:solidFill>
                        <a:effectLst/>
                        <a:latin typeface="Calibri"/>
                      </a:endParaRPr>
                    </a:p>
                  </a:txBody>
                  <a:tcPr marL="9525" marR="9525" marT="9525" marB="0" anchor="b">
                    <a:solidFill>
                      <a:schemeClr val="bg2"/>
                    </a:solidFill>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40</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7%</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solidFill>
                            <a:srgbClr val="C00000"/>
                          </a:solidFill>
                          <a:effectLst/>
                        </a:rPr>
                        <a:t>92%</a:t>
                      </a:r>
                      <a:endParaRPr lang="en-US" sz="1100" b="1" i="0" u="none" strike="noStrike" dirty="0">
                        <a:solidFill>
                          <a:srgbClr val="C00000"/>
                        </a:solidFill>
                        <a:effectLst/>
                        <a:latin typeface="Calibri"/>
                      </a:endParaRPr>
                    </a:p>
                  </a:txBody>
                  <a:tcPr marL="9525" marR="9525" marT="9525" marB="0" anchor="b">
                    <a:noFill/>
                  </a:tcPr>
                </a:tc>
              </a:tr>
              <a:tr h="190500">
                <a:tc>
                  <a:txBody>
                    <a:bodyPr/>
                    <a:lstStyle/>
                    <a:p>
                      <a:pPr algn="ctr" fontAlgn="b"/>
                      <a:r>
                        <a:rPr lang="en-US" sz="1100" u="none" strike="noStrike" dirty="0">
                          <a:effectLst/>
                        </a:rPr>
                        <a:t>&gt; 40</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u="none" strike="noStrike" dirty="0">
                          <a:effectLst/>
                        </a:rPr>
                        <a:t>0%</a:t>
                      </a:r>
                      <a:endParaRPr lang="en-US" sz="1100" b="0" i="0" u="none" strike="noStrike" dirty="0">
                        <a:solidFill>
                          <a:srgbClr val="FFFFFF"/>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u="none" strike="noStrike">
                          <a:effectLst/>
                        </a:rPr>
                        <a:t>0%</a:t>
                      </a:r>
                      <a:endParaRPr lang="en-US" sz="1100" b="0" i="0" u="none" strike="noStrike">
                        <a:solidFill>
                          <a:srgbClr val="FFFFFF"/>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FFFFFF"/>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solidFill>
                            <a:srgbClr val="C00000"/>
                          </a:solidFill>
                          <a:effectLst/>
                        </a:rPr>
                        <a:t>97%</a:t>
                      </a:r>
                      <a:endParaRPr lang="en-US" sz="1100" b="1" i="0" u="none" strike="noStrike" dirty="0">
                        <a:solidFill>
                          <a:srgbClr val="C00000"/>
                        </a:solidFill>
                        <a:effectLst/>
                        <a:latin typeface="Calibri"/>
                      </a:endParaRPr>
                    </a:p>
                  </a:txBody>
                  <a:tcPr marL="9525" marR="9525" marT="9525" marB="0" anchor="b">
                    <a:noFill/>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068803459"/>
              </p:ext>
            </p:extLst>
          </p:nvPr>
        </p:nvGraphicFramePr>
        <p:xfrm>
          <a:off x="601579" y="4584032"/>
          <a:ext cx="4267200" cy="2095500"/>
        </p:xfrm>
        <a:graphic>
          <a:graphicData uri="http://schemas.openxmlformats.org/drawingml/2006/table">
            <a:tbl>
              <a:tblPr>
                <a:tableStyleId>{3B4B98B0-60AC-42C2-AFA5-B58CD77FA1E5}</a:tableStyleId>
              </a:tblPr>
              <a:tblGrid>
                <a:gridCol w="609600"/>
                <a:gridCol w="609600"/>
                <a:gridCol w="609600"/>
                <a:gridCol w="609600"/>
                <a:gridCol w="609600"/>
                <a:gridCol w="609600"/>
                <a:gridCol w="609600"/>
              </a:tblGrid>
              <a:tr h="190500">
                <a:tc rowSpan="2">
                  <a:txBody>
                    <a:bodyPr/>
                    <a:lstStyle/>
                    <a:p>
                      <a:pPr algn="ctr" fontAlgn="b"/>
                      <a:r>
                        <a:rPr lang="en-US" sz="1100" u="none" strike="noStrike" dirty="0" smtClean="0">
                          <a:effectLst/>
                        </a:rPr>
                        <a:t>MI Coverage</a:t>
                      </a:r>
                      <a:endParaRPr lang="en-US" sz="1100" b="1"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olid"/>
                      <a:round/>
                      <a:headEnd type="none" w="med" len="med"/>
                      <a:tailEnd type="none" w="med" len="med"/>
                    </a:lnB>
                  </a:tcPr>
                </a:tc>
                <a:tc gridSpan="6">
                  <a:txBody>
                    <a:bodyPr/>
                    <a:lstStyle/>
                    <a:p>
                      <a:pPr algn="ctr" fontAlgn="b"/>
                      <a:r>
                        <a:rPr lang="en-US" sz="1100" b="0" i="0" u="none" strike="noStrike" dirty="0" smtClean="0">
                          <a:solidFill>
                            <a:schemeClr val="tx1"/>
                          </a:solidFill>
                          <a:effectLst/>
                          <a:latin typeface="+mn-lt"/>
                        </a:rPr>
                        <a:t>OLTV</a:t>
                      </a:r>
                      <a:endParaRPr lang="en-US" sz="1100" b="1"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c hMerge="1">
                  <a:txBody>
                    <a:bodyPr/>
                    <a:lstStyle/>
                    <a:p>
                      <a:pPr algn="ctr" fontAlgn="b"/>
                      <a:endParaRPr lang="en-US" sz="1100" b="1" i="0" u="none" strike="noStrike" dirty="0">
                        <a:solidFill>
                          <a:srgbClr val="000000"/>
                        </a:solidFill>
                        <a:effectLst/>
                        <a:latin typeface="Calibri"/>
                      </a:endParaRPr>
                    </a:p>
                  </a:txBody>
                  <a:tcPr marL="9525" marR="9525" marT="9525" marB="0" anchor="b"/>
                </a:tc>
              </a:tr>
              <a:tr h="190500">
                <a:tc vMerge="1">
                  <a:txBody>
                    <a:bodyPr/>
                    <a:lstStyle/>
                    <a:p>
                      <a:pPr algn="ctr" fontAlgn="b"/>
                      <a:endParaRPr lang="en-US" sz="1100" b="1"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&lt; 80</a:t>
                      </a:r>
                      <a:endParaRPr lang="en-US" sz="1100" b="1"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85</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90</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95</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97</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c>
                  <a:txBody>
                    <a:bodyPr/>
                    <a:lstStyle/>
                    <a:p>
                      <a:pPr algn="ctr" fontAlgn="b"/>
                      <a:r>
                        <a:rPr lang="en-US" sz="1100" u="none" strike="noStrike" dirty="0">
                          <a:effectLst/>
                        </a:rPr>
                        <a:t>&gt; 97</a:t>
                      </a:r>
                      <a:endParaRPr lang="en-US" sz="1100" b="1" i="0" u="none" strike="noStrike" dirty="0">
                        <a:solidFill>
                          <a:srgbClr val="000000"/>
                        </a:solidFill>
                        <a:effectLst/>
                        <a:latin typeface="Calibri"/>
                      </a:endParaRPr>
                    </a:p>
                  </a:txBody>
                  <a:tcPr marL="9525" marR="9525" marT="9525" marB="0" anchor="b">
                    <a:lnB w="12700" cap="flat" cmpd="sng" algn="ctr">
                      <a:solidFill>
                        <a:schemeClr val="accent2">
                          <a:lumMod val="50000"/>
                        </a:schemeClr>
                      </a:solidFill>
                      <a:prstDash val="solid"/>
                      <a:round/>
                      <a:headEnd type="none" w="med" len="med"/>
                      <a:tailEnd type="none" w="med" len="med"/>
                    </a:lnB>
                  </a:tcPr>
                </a:tc>
              </a:tr>
              <a:tr h="190500">
                <a:tc>
                  <a:txBody>
                    <a:bodyPr/>
                    <a:lstStyle/>
                    <a:p>
                      <a:pPr algn="ctr" fontAlgn="b"/>
                      <a:r>
                        <a:rPr lang="en-US" sz="1100" u="none" strike="noStrike" dirty="0">
                          <a:effectLst/>
                        </a:rPr>
                        <a:t>6</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tcPr>
                </a:tc>
                <a:tc>
                  <a:txBody>
                    <a:bodyPr/>
                    <a:lstStyle/>
                    <a:p>
                      <a:pPr algn="ctr" fontAlgn="b"/>
                      <a:endParaRPr lang="en-US" sz="1100" b="0" i="0" u="none" strike="noStrike" dirty="0">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tcPr>
                </a:tc>
                <a:tc>
                  <a:txBody>
                    <a:bodyPr/>
                    <a:lstStyle/>
                    <a:p>
                      <a:pPr algn="ctr" fontAlgn="b"/>
                      <a:r>
                        <a:rPr lang="en-US" sz="1100" b="0" i="0" u="none" strike="noStrike" dirty="0">
                          <a:solidFill>
                            <a:srgbClr val="000000"/>
                          </a:solidFill>
                          <a:effectLst/>
                          <a:latin typeface="Calibri"/>
                        </a:rPr>
                        <a:t>0.34</a:t>
                      </a:r>
                    </a:p>
                  </a:txBody>
                  <a:tcPr marL="9525" marR="9525" marT="9525" marB="0" anchor="b">
                    <a:lnT w="12700" cap="flat" cmpd="sng" algn="ctr">
                      <a:solidFill>
                        <a:schemeClr val="accent2">
                          <a:lumMod val="50000"/>
                        </a:schemeClr>
                      </a:solidFill>
                      <a:prstDash val="solid"/>
                      <a:round/>
                      <a:headEnd type="none" w="med" len="med"/>
                      <a:tailEnd type="none" w="med" len="med"/>
                    </a:lnT>
                    <a:solidFill>
                      <a:schemeClr val="bg2"/>
                    </a:solidFill>
                  </a:tcPr>
                </a:tc>
                <a:tc>
                  <a:txBody>
                    <a:bodyPr/>
                    <a:lstStyle/>
                    <a:p>
                      <a:pPr algn="ctr" fontAlgn="b"/>
                      <a:endParaRPr lang="en-US" sz="1100" b="1" i="0" u="none" strike="noStrike">
                        <a:solidFill>
                          <a:srgbClr val="C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c>
                  <a:txBody>
                    <a:bodyPr/>
                    <a:lstStyle/>
                    <a:p>
                      <a:pPr algn="ctr" fontAlgn="b"/>
                      <a:endParaRPr lang="en-US" sz="1100" b="0" i="0" u="none" strike="noStrike">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c>
                  <a:txBody>
                    <a:bodyPr/>
                    <a:lstStyle/>
                    <a:p>
                      <a:pPr algn="ctr" fontAlgn="b"/>
                      <a:endParaRPr lang="en-US" sz="1100" b="0" i="0" u="none" strike="noStrike">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c>
                  <a:txBody>
                    <a:bodyPr/>
                    <a:lstStyle/>
                    <a:p>
                      <a:pPr algn="ctr" fontAlgn="b"/>
                      <a:endParaRPr lang="en-US" sz="1100" b="0" i="0" u="none" strike="noStrike">
                        <a:solidFill>
                          <a:srgbClr val="000000"/>
                        </a:solidFill>
                        <a:effectLst/>
                        <a:latin typeface="Calibri"/>
                      </a:endParaRPr>
                    </a:p>
                  </a:txBody>
                  <a:tcPr marL="9525" marR="9525" marT="9525" marB="0" anchor="b">
                    <a:lnT w="12700" cap="flat" cmpd="sng" algn="ctr">
                      <a:solidFill>
                        <a:schemeClr val="accent2">
                          <a:lumMod val="50000"/>
                        </a:schemeClr>
                      </a:solidFill>
                      <a:prstDash val="solid"/>
                      <a:round/>
                      <a:headEnd type="none" w="med" len="med"/>
                      <a:tailEnd type="none" w="med" len="med"/>
                    </a:lnT>
                  </a:tcPr>
                </a:tc>
              </a:tr>
              <a:tr h="190500">
                <a:tc>
                  <a:txBody>
                    <a:bodyPr/>
                    <a:lstStyle/>
                    <a:p>
                      <a:pPr algn="ctr" fontAlgn="b"/>
                      <a:r>
                        <a:rPr lang="en-US" sz="1100" u="none" strike="noStrike" dirty="0">
                          <a:effectLst/>
                        </a:rPr>
                        <a:t>12</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b="0" i="0" u="none" strike="noStrike" dirty="0">
                          <a:solidFill>
                            <a:srgbClr val="000000"/>
                          </a:solidFill>
                          <a:effectLst/>
                          <a:latin typeface="Calibri"/>
                        </a:rPr>
                        <a:t>0.38</a:t>
                      </a:r>
                    </a:p>
                  </a:txBody>
                  <a:tcPr marL="9525" marR="9525" marT="9525" marB="0" anchor="b">
                    <a:solidFill>
                      <a:schemeClr val="bg2"/>
                    </a:solidFill>
                  </a:tcPr>
                </a:tc>
                <a:tc>
                  <a:txBody>
                    <a:bodyPr/>
                    <a:lstStyle/>
                    <a:p>
                      <a:pPr algn="ctr" fontAlgn="b"/>
                      <a:r>
                        <a:rPr lang="en-US" sz="1100" b="0" i="0" u="none" strike="noStrike" dirty="0">
                          <a:solidFill>
                            <a:srgbClr val="000000"/>
                          </a:solidFill>
                          <a:effectLst/>
                          <a:latin typeface="Calibri"/>
                        </a:rPr>
                        <a:t>0.44</a:t>
                      </a:r>
                    </a:p>
                  </a:txBody>
                  <a:tcPr marL="9525" marR="9525" marT="9525" marB="0" anchor="b">
                    <a:solidFill>
                      <a:schemeClr val="bg2"/>
                    </a:solidFill>
                  </a:tcPr>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17</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b="0" i="0" u="none" strike="noStrike" dirty="0">
                          <a:solidFill>
                            <a:srgbClr val="000000"/>
                          </a:solidFill>
                          <a:effectLst/>
                          <a:latin typeface="Calibri"/>
                        </a:rPr>
                        <a:t>0.43</a:t>
                      </a:r>
                    </a:p>
                  </a:txBody>
                  <a:tcPr marL="9525" marR="9525" marT="9525" marB="0" anchor="b">
                    <a:solidFill>
                      <a:schemeClr val="bg2"/>
                    </a:solidFill>
                  </a:tcPr>
                </a:tc>
                <a:tc>
                  <a:txBody>
                    <a:bodyPr/>
                    <a:lstStyle/>
                    <a:p>
                      <a:pPr algn="ctr" fontAlgn="b"/>
                      <a:r>
                        <a:rPr lang="en-US" sz="1100" b="0" i="0" u="none" strike="noStrike" dirty="0">
                          <a:solidFill>
                            <a:srgbClr val="000000"/>
                          </a:solidFill>
                          <a:effectLst/>
                          <a:latin typeface="Calibri"/>
                        </a:rPr>
                        <a:t>0.49</a:t>
                      </a:r>
                    </a:p>
                  </a:txBody>
                  <a:tcPr marL="9525" marR="9525" marT="9525" marB="0" anchor="b">
                    <a:solidFill>
                      <a:schemeClr val="bg2"/>
                    </a:solidFill>
                  </a:tcPr>
                </a:tc>
                <a:tc>
                  <a:txBody>
                    <a:bodyPr/>
                    <a:lstStyle/>
                    <a:p>
                      <a:pPr algn="ctr" fontAlgn="b"/>
                      <a:r>
                        <a:rPr lang="en-US" sz="1100" b="0" i="0" u="none" strike="noStrike" dirty="0">
                          <a:solidFill>
                            <a:srgbClr val="000000"/>
                          </a:solidFill>
                          <a:effectLst/>
                          <a:latin typeface="Calibri"/>
                        </a:rPr>
                        <a:t>0.72</a:t>
                      </a:r>
                    </a:p>
                  </a:txBody>
                  <a:tcPr marL="9525" marR="9525" marT="9525" marB="0" anchor="b">
                    <a:solidFill>
                      <a:schemeClr val="bg2"/>
                    </a:solidFill>
                  </a:tcPr>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18</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b="0" i="0" u="none" strike="noStrike">
                          <a:solidFill>
                            <a:srgbClr val="000000"/>
                          </a:solidFill>
                          <a:effectLst/>
                          <a:latin typeface="Calibri"/>
                        </a:rPr>
                        <a:t>0.44</a:t>
                      </a:r>
                    </a:p>
                  </a:txBody>
                  <a:tcPr marL="9525" marR="9525" marT="9525" marB="0" anchor="b"/>
                </a:tc>
                <a:tc>
                  <a:txBody>
                    <a:bodyPr/>
                    <a:lstStyle/>
                    <a:p>
                      <a:pPr algn="ctr" fontAlgn="b"/>
                      <a:r>
                        <a:rPr lang="en-US" sz="1100" b="0" i="0" u="none" strike="noStrike" dirty="0">
                          <a:solidFill>
                            <a:srgbClr val="000000"/>
                          </a:solidFill>
                          <a:effectLst/>
                          <a:latin typeface="Calibri"/>
                        </a:rPr>
                        <a:t>0.50</a:t>
                      </a:r>
                    </a:p>
                  </a:txBody>
                  <a:tcPr marL="9525" marR="9525" marT="9525" marB="0" anchor="b">
                    <a:solidFill>
                      <a:schemeClr val="bg2"/>
                    </a:solidFill>
                  </a:tcPr>
                </a:tc>
                <a:tc>
                  <a:txBody>
                    <a:bodyPr/>
                    <a:lstStyle/>
                    <a:p>
                      <a:pPr algn="ctr" fontAlgn="b"/>
                      <a:r>
                        <a:rPr lang="en-US" sz="1100" b="0" i="0" u="none" strike="noStrike" dirty="0">
                          <a:solidFill>
                            <a:srgbClr val="000000"/>
                          </a:solidFill>
                          <a:effectLst/>
                          <a:latin typeface="Calibri"/>
                        </a:rPr>
                        <a:t>0.74</a:t>
                      </a:r>
                    </a:p>
                  </a:txBody>
                  <a:tcPr marL="9525" marR="9525" marT="9525" marB="0" anchor="b">
                    <a:solidFill>
                      <a:schemeClr val="bg2"/>
                    </a:solidFill>
                  </a:tcPr>
                </a:tc>
                <a:tc>
                  <a:txBody>
                    <a:bodyPr/>
                    <a:lstStyle/>
                    <a:p>
                      <a:pPr algn="ctr" fontAlgn="b"/>
                      <a:r>
                        <a:rPr lang="en-US" sz="1100" b="0" i="0" u="none" strike="noStrike">
                          <a:solidFill>
                            <a:srgbClr val="000000"/>
                          </a:solidFill>
                          <a:effectLst/>
                          <a:latin typeface="Calibri"/>
                        </a:rPr>
                        <a:t>0.61</a:t>
                      </a: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25</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b="0" i="0" u="none" strike="noStrike">
                          <a:solidFill>
                            <a:srgbClr val="000000"/>
                          </a:solidFill>
                          <a:effectLst/>
                          <a:latin typeface="Calibri"/>
                        </a:rPr>
                        <a:t>0.48</a:t>
                      </a:r>
                    </a:p>
                  </a:txBody>
                  <a:tcPr marL="9525" marR="9525" marT="9525" marB="0" anchor="b"/>
                </a:tc>
                <a:tc>
                  <a:txBody>
                    <a:bodyPr/>
                    <a:lstStyle/>
                    <a:p>
                      <a:pPr algn="ctr" fontAlgn="b"/>
                      <a:r>
                        <a:rPr lang="en-US" sz="1100" b="0" i="0" u="none" strike="noStrike" dirty="0">
                          <a:solidFill>
                            <a:srgbClr val="000000"/>
                          </a:solidFill>
                          <a:effectLst/>
                          <a:latin typeface="Calibri"/>
                        </a:rPr>
                        <a:t>0.62</a:t>
                      </a:r>
                    </a:p>
                  </a:txBody>
                  <a:tcPr marL="9525" marR="9525" marT="9525" marB="0" anchor="b">
                    <a:solidFill>
                      <a:schemeClr val="bg2"/>
                    </a:solidFill>
                  </a:tcPr>
                </a:tc>
                <a:tc>
                  <a:txBody>
                    <a:bodyPr/>
                    <a:lstStyle/>
                    <a:p>
                      <a:pPr algn="ctr" fontAlgn="b"/>
                      <a:r>
                        <a:rPr lang="en-US" sz="1100" b="0" i="0" u="none" strike="noStrike">
                          <a:solidFill>
                            <a:srgbClr val="000000"/>
                          </a:solidFill>
                          <a:effectLst/>
                          <a:latin typeface="Calibri"/>
                        </a:rPr>
                        <a:t>0.84</a:t>
                      </a:r>
                    </a:p>
                  </a:txBody>
                  <a:tcPr marL="9525" marR="9525" marT="9525" marB="0" anchor="b">
                    <a:solidFill>
                      <a:schemeClr val="bg2"/>
                    </a:solidFill>
                  </a:tcPr>
                </a:tc>
                <a:tc>
                  <a:txBody>
                    <a:bodyPr/>
                    <a:lstStyle/>
                    <a:p>
                      <a:pPr algn="ctr" fontAlgn="b"/>
                      <a:r>
                        <a:rPr lang="en-US" sz="1100" b="0" i="0" u="none" strike="noStrike" dirty="0" smtClean="0">
                          <a:solidFill>
                            <a:srgbClr val="000000"/>
                          </a:solidFill>
                          <a:effectLst/>
                          <a:latin typeface="+mn-lt"/>
                        </a:rPr>
                        <a:t>0.77</a:t>
                      </a:r>
                      <a:endParaRPr lang="en-US" sz="1100" b="0" i="0" u="none" strike="noStrike" dirty="0">
                        <a:solidFill>
                          <a:srgbClr val="000000"/>
                        </a:solidFill>
                        <a:effectLst/>
                        <a:latin typeface="+mn-lt"/>
                      </a:endParaRPr>
                    </a:p>
                  </a:txBody>
                  <a:tcPr marL="9525" marR="9525" marT="9525" marB="0" anchor="b"/>
                </a:tc>
                <a:tc>
                  <a:txBody>
                    <a:bodyPr/>
                    <a:lstStyle/>
                    <a:p>
                      <a:pPr algn="ctr" fontAlgn="b"/>
                      <a:endParaRPr lang="en-US" sz="1100" b="1" i="0" u="none" strike="noStrike" dirty="0">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30</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b="0" i="0" u="none" strike="noStrike">
                          <a:solidFill>
                            <a:srgbClr val="000000"/>
                          </a:solidFill>
                          <a:effectLst/>
                          <a:latin typeface="Calibri"/>
                        </a:rPr>
                        <a:t>0.57</a:t>
                      </a:r>
                    </a:p>
                  </a:txBody>
                  <a:tcPr marL="9525" marR="9525" marT="9525" marB="0" anchor="b"/>
                </a:tc>
                <a:tc>
                  <a:txBody>
                    <a:bodyPr/>
                    <a:lstStyle/>
                    <a:p>
                      <a:pPr algn="ctr" fontAlgn="b"/>
                      <a:r>
                        <a:rPr lang="en-US" sz="1100" b="0" i="0" u="none" strike="noStrike">
                          <a:solidFill>
                            <a:srgbClr val="000000"/>
                          </a:solidFill>
                          <a:effectLst/>
                          <a:latin typeface="Calibri"/>
                        </a:rPr>
                        <a:t>0.69</a:t>
                      </a:r>
                    </a:p>
                  </a:txBody>
                  <a:tcPr marL="9525" marR="9525" marT="9525" marB="0" anchor="b"/>
                </a:tc>
                <a:tc>
                  <a:txBody>
                    <a:bodyPr/>
                    <a:lstStyle/>
                    <a:p>
                      <a:pPr algn="ctr" fontAlgn="b"/>
                      <a:r>
                        <a:rPr lang="en-US" sz="1100" b="0" i="0" u="none" strike="noStrike">
                          <a:solidFill>
                            <a:srgbClr val="000000"/>
                          </a:solidFill>
                          <a:effectLst/>
                          <a:latin typeface="Calibri"/>
                        </a:rPr>
                        <a:t>0.88</a:t>
                      </a:r>
                    </a:p>
                  </a:txBody>
                  <a:tcPr marL="9525" marR="9525" marT="9525" marB="0" anchor="b">
                    <a:solidFill>
                      <a:schemeClr val="bg2"/>
                    </a:solidFill>
                  </a:tcPr>
                </a:tc>
                <a:tc>
                  <a:txBody>
                    <a:bodyPr/>
                    <a:lstStyle/>
                    <a:p>
                      <a:pPr algn="ctr" fontAlgn="b"/>
                      <a:r>
                        <a:rPr lang="en-US" sz="1100" b="0" i="0" u="none" strike="noStrike" dirty="0">
                          <a:solidFill>
                            <a:srgbClr val="000000"/>
                          </a:solidFill>
                          <a:effectLst/>
                          <a:latin typeface="Calibri"/>
                        </a:rPr>
                        <a:t>0.94</a:t>
                      </a:r>
                    </a:p>
                  </a:txBody>
                  <a:tcPr marL="9525" marR="9525" marT="9525" marB="0" anchor="b">
                    <a:solidFill>
                      <a:schemeClr val="bg2"/>
                    </a:solidFill>
                  </a:tcPr>
                </a:tc>
                <a:tc>
                  <a:txBody>
                    <a:bodyPr/>
                    <a:lstStyle/>
                    <a:p>
                      <a:pPr algn="ctr" fontAlgn="b"/>
                      <a:endParaRPr lang="en-US" sz="1100" b="1" i="0" u="none" strike="noStrike" dirty="0">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35</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r>
                        <a:rPr lang="en-US" sz="1100" b="0" i="0" u="none" strike="noStrike">
                          <a:solidFill>
                            <a:srgbClr val="000000"/>
                          </a:solidFill>
                          <a:effectLst/>
                          <a:latin typeface="Calibri"/>
                        </a:rPr>
                        <a:t>0.65</a:t>
                      </a:r>
                    </a:p>
                  </a:txBody>
                  <a:tcPr marL="9525" marR="9525" marT="9525" marB="0" anchor="b"/>
                </a:tc>
                <a:tc>
                  <a:txBody>
                    <a:bodyPr/>
                    <a:lstStyle/>
                    <a:p>
                      <a:pPr algn="ctr" fontAlgn="b"/>
                      <a:r>
                        <a:rPr lang="en-US" sz="1100" b="0" i="0" u="none" strike="noStrike">
                          <a:solidFill>
                            <a:srgbClr val="000000"/>
                          </a:solidFill>
                          <a:effectLst/>
                          <a:latin typeface="Calibri"/>
                        </a:rPr>
                        <a:t>0.75</a:t>
                      </a:r>
                    </a:p>
                  </a:txBody>
                  <a:tcPr marL="9525" marR="9525" marT="9525" marB="0" anchor="b"/>
                </a:tc>
                <a:tc>
                  <a:txBody>
                    <a:bodyPr/>
                    <a:lstStyle/>
                    <a:p>
                      <a:pPr algn="ctr" fontAlgn="b"/>
                      <a:r>
                        <a:rPr lang="en-US" sz="1100" b="0" i="0" u="none" strike="noStrike" dirty="0">
                          <a:solidFill>
                            <a:srgbClr val="000000"/>
                          </a:solidFill>
                          <a:effectLst/>
                          <a:latin typeface="Calibri"/>
                        </a:rPr>
                        <a:t>0.94</a:t>
                      </a:r>
                    </a:p>
                  </a:txBody>
                  <a:tcPr marL="9525" marR="9525" marT="9525" marB="0" anchor="b">
                    <a:noFill/>
                  </a:tcPr>
                </a:tc>
                <a:tc>
                  <a:txBody>
                    <a:bodyPr/>
                    <a:lstStyle/>
                    <a:p>
                      <a:pPr algn="ctr" fontAlgn="b"/>
                      <a:r>
                        <a:rPr lang="en-US" sz="1100" b="0" i="0" u="none" strike="noStrike" dirty="0">
                          <a:solidFill>
                            <a:srgbClr val="000000"/>
                          </a:solidFill>
                          <a:effectLst/>
                          <a:latin typeface="Calibri"/>
                        </a:rPr>
                        <a:t>0.98</a:t>
                      </a:r>
                    </a:p>
                  </a:txBody>
                  <a:tcPr marL="9525" marR="9525" marT="9525" marB="0" anchor="b">
                    <a:solidFill>
                      <a:schemeClr val="bg2"/>
                    </a:solidFill>
                  </a:tcPr>
                </a:tc>
                <a:tc>
                  <a:txBody>
                    <a:bodyPr/>
                    <a:lstStyle/>
                    <a:p>
                      <a:pPr algn="ctr" fontAlgn="b"/>
                      <a:endParaRPr lang="en-US" sz="1100" b="1" i="0" u="none" strike="noStrike" dirty="0">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40</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r>
                        <a:rPr lang="en-US" sz="1100" b="0" i="0" u="none" strike="noStrike">
                          <a:solidFill>
                            <a:srgbClr val="000000"/>
                          </a:solidFill>
                          <a:effectLst/>
                          <a:latin typeface="Calibri"/>
                        </a:rPr>
                        <a:t>1.10</a:t>
                      </a:r>
                    </a:p>
                  </a:txBody>
                  <a:tcPr marL="9525" marR="9525" marT="9525" marB="0" anchor="b"/>
                </a:tc>
                <a:tc>
                  <a:txBody>
                    <a:bodyPr/>
                    <a:lstStyle/>
                    <a:p>
                      <a:pPr algn="ctr" fontAlgn="b"/>
                      <a:endParaRPr lang="en-US" sz="1100" b="1" i="0" u="none" strike="noStrike" dirty="0">
                        <a:solidFill>
                          <a:srgbClr val="C00000"/>
                        </a:solidFill>
                        <a:effectLst/>
                        <a:latin typeface="Calibri"/>
                      </a:endParaRPr>
                    </a:p>
                  </a:txBody>
                  <a:tcPr marL="9525" marR="9525" marT="9525" marB="0" anchor="b"/>
                </a:tc>
              </a:tr>
              <a:tr h="190500">
                <a:tc>
                  <a:txBody>
                    <a:bodyPr/>
                    <a:lstStyle/>
                    <a:p>
                      <a:pPr algn="ctr" fontAlgn="b"/>
                      <a:r>
                        <a:rPr lang="en-US" sz="1100" u="none" strike="noStrike" dirty="0">
                          <a:effectLst/>
                        </a:rPr>
                        <a:t>&gt; 40</a:t>
                      </a:r>
                      <a:endParaRPr lang="en-US" sz="1100" b="0" i="0" u="none" strike="noStrike" dirty="0">
                        <a:solidFill>
                          <a:srgbClr val="000000"/>
                        </a:solidFill>
                        <a:effectLst/>
                        <a:latin typeface="Calibri"/>
                      </a:endParaRPr>
                    </a:p>
                  </a:txBody>
                  <a:tcPr marL="9525" marR="9525" marT="9525" marB="0" anchor="b">
                    <a:lnR w="12700" cap="flat" cmpd="sng" algn="ctr">
                      <a:solidFill>
                        <a:schemeClr val="accent2">
                          <a:lumMod val="50000"/>
                        </a:schemeClr>
                      </a:solidFill>
                      <a:prstDash val="solid"/>
                      <a:round/>
                      <a:headEnd type="none" w="med" len="med"/>
                      <a:tailEnd type="none" w="med" len="med"/>
                    </a:lnR>
                  </a:tcPr>
                </a:tc>
                <a:tc>
                  <a:txBody>
                    <a:bodyPr/>
                    <a:lstStyle/>
                    <a:p>
                      <a:pPr algn="ctr" fontAlgn="b"/>
                      <a:endParaRPr lang="en-US" sz="1100" b="1" i="0" u="none" strike="noStrike">
                        <a:solidFill>
                          <a:srgbClr val="C00000"/>
                        </a:solidFill>
                        <a:effectLst/>
                        <a:latin typeface="Calibri"/>
                      </a:endParaRPr>
                    </a:p>
                  </a:txBody>
                  <a:tcPr marL="9525" marR="9525" marT="9525" marB="0" anchor="b">
                    <a:lnL w="12700" cap="flat" cmpd="sng" algn="ctr">
                      <a:solidFill>
                        <a:schemeClr val="accent2">
                          <a:lumMod val="50000"/>
                        </a:schemeClr>
                      </a:solidFill>
                      <a:prstDash val="solid"/>
                      <a:round/>
                      <a:headEnd type="none" w="med" len="med"/>
                      <a:tailEnd type="none" w="med" len="med"/>
                    </a:lnL>
                  </a:tcPr>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1" i="0" u="none" strike="noStrike">
                        <a:solidFill>
                          <a:srgbClr val="C00000"/>
                        </a:solidFill>
                        <a:effectLst/>
                        <a:latin typeface="Calibri"/>
                      </a:endParaRPr>
                    </a:p>
                  </a:txBody>
                  <a:tcPr marL="9525" marR="9525" marT="9525" marB="0" anchor="b"/>
                </a:tc>
                <a:tc>
                  <a:txBody>
                    <a:bodyPr/>
                    <a:lstStyle/>
                    <a:p>
                      <a:pPr algn="ctr" fontAlgn="b"/>
                      <a:endParaRPr lang="en-US" sz="1100" b="1" i="0" u="none" strike="noStrike" dirty="0">
                        <a:solidFill>
                          <a:srgbClr val="C00000"/>
                        </a:solidFill>
                        <a:effectLst/>
                        <a:latin typeface="Calibri"/>
                      </a:endParaRPr>
                    </a:p>
                  </a:txBody>
                  <a:tcPr marL="9525" marR="9525" marT="9525" marB="0" anchor="b"/>
                </a:tc>
                <a:tc>
                  <a:txBody>
                    <a:bodyPr/>
                    <a:lstStyle/>
                    <a:p>
                      <a:pPr algn="ctr" fontAlgn="b"/>
                      <a:endParaRPr lang="en-US" sz="1100" b="1" i="0" u="none" strike="noStrike" dirty="0">
                        <a:solidFill>
                          <a:srgbClr val="C00000"/>
                        </a:solidFill>
                        <a:effectLst/>
                        <a:latin typeface="Calibri"/>
                      </a:endParaRPr>
                    </a:p>
                  </a:txBody>
                  <a:tcPr marL="9525" marR="9525" marT="9525" marB="0" anchor="b"/>
                </a:tc>
              </a:tr>
            </a:tbl>
          </a:graphicData>
        </a:graphic>
      </p:graphicFrame>
      <p:sp>
        <p:nvSpPr>
          <p:cNvPr id="15" name="TextBox 14"/>
          <p:cNvSpPr txBox="1"/>
          <p:nvPr/>
        </p:nvSpPr>
        <p:spPr>
          <a:xfrm>
            <a:off x="601579" y="4276255"/>
            <a:ext cx="4267200" cy="307777"/>
          </a:xfrm>
          <a:prstGeom prst="rect">
            <a:avLst/>
          </a:prstGeom>
          <a:noFill/>
        </p:spPr>
        <p:txBody>
          <a:bodyPr wrap="square" rtlCol="0">
            <a:spAutoFit/>
          </a:bodyPr>
          <a:lstStyle/>
          <a:p>
            <a:r>
              <a:rPr lang="en-US" sz="1400" dirty="0" smtClean="0">
                <a:latin typeface="+mn-lt"/>
              </a:rPr>
              <a:t>MI Premiums</a:t>
            </a:r>
            <a:endParaRPr lang="en-US" sz="1400" dirty="0">
              <a:latin typeface="+mn-lt"/>
            </a:endParaRPr>
          </a:p>
        </p:txBody>
      </p:sp>
      <p:sp>
        <p:nvSpPr>
          <p:cNvPr id="17" name="Isosceles Triangle 16"/>
          <p:cNvSpPr/>
          <p:nvPr/>
        </p:nvSpPr>
        <p:spPr>
          <a:xfrm rot="5400000">
            <a:off x="4437939" y="3813811"/>
            <a:ext cx="1697990" cy="220980"/>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662863" y="1279086"/>
            <a:ext cx="3906253" cy="1169551"/>
          </a:xfrm>
          <a:prstGeom prst="rect">
            <a:avLst/>
          </a:prstGeom>
          <a:noFill/>
        </p:spPr>
        <p:txBody>
          <a:bodyPr wrap="square" rtlCol="0">
            <a:spAutoFit/>
          </a:bodyPr>
          <a:lstStyle/>
          <a:p>
            <a:r>
              <a:rPr lang="en-US" sz="1400" b="1" dirty="0" smtClean="0">
                <a:latin typeface="+mn-lt"/>
              </a:rPr>
              <a:t>Criteria to combine the MI:</a:t>
            </a:r>
          </a:p>
          <a:p>
            <a:r>
              <a:rPr lang="en-US" sz="1400" dirty="0" smtClean="0">
                <a:latin typeface="+mn-lt"/>
              </a:rPr>
              <a:t>Pick all cells such that the cumulative distribution cover 80% or more of the balance. Then, calculate the weighted average MI premium by looking up the MI premiums corresponding to these cells.</a:t>
            </a:r>
          </a:p>
        </p:txBody>
      </p:sp>
      <p:graphicFrame>
        <p:nvGraphicFramePr>
          <p:cNvPr id="19" name="Table 18"/>
          <p:cNvGraphicFramePr>
            <a:graphicFrameLocks noGrp="1"/>
          </p:cNvGraphicFramePr>
          <p:nvPr>
            <p:extLst>
              <p:ext uri="{D42A27DB-BD31-4B8C-83A1-F6EECF244321}">
                <p14:modId xmlns:p14="http://schemas.microsoft.com/office/powerpoint/2010/main" val="304426082"/>
              </p:ext>
            </p:extLst>
          </p:nvPr>
        </p:nvGraphicFramePr>
        <p:xfrm>
          <a:off x="5704458" y="2832832"/>
          <a:ext cx="3823062" cy="3502400"/>
        </p:xfrm>
        <a:graphic>
          <a:graphicData uri="http://schemas.openxmlformats.org/drawingml/2006/table">
            <a:tbl>
              <a:tblPr firstRow="1">
                <a:tableStyleId>{3B4B98B0-60AC-42C2-AFA5-B58CD77FA1E5}</a:tableStyleId>
              </a:tblPr>
              <a:tblGrid>
                <a:gridCol w="1274354"/>
                <a:gridCol w="1274354"/>
                <a:gridCol w="1274354"/>
              </a:tblGrid>
              <a:tr h="373030">
                <a:tc>
                  <a:txBody>
                    <a:bodyPr/>
                    <a:lstStyle/>
                    <a:p>
                      <a:pPr algn="ctr"/>
                      <a:r>
                        <a:rPr lang="en-US" sz="1400" dirty="0" smtClean="0"/>
                        <a:t>MI Coverage</a:t>
                      </a:r>
                    </a:p>
                    <a:p>
                      <a:pPr algn="ctr"/>
                      <a:r>
                        <a:rPr lang="en-US" sz="1400" dirty="0" smtClean="0"/>
                        <a:t>From (&gt;)</a:t>
                      </a:r>
                      <a:endParaRPr lang="en-US" sz="1400" dirty="0">
                        <a:solidFill>
                          <a:schemeClr val="tx1"/>
                        </a:solidFill>
                      </a:endParaRPr>
                    </a:p>
                  </a:txBody>
                  <a:tcPr anchor="ctr"/>
                </a:tc>
                <a:tc>
                  <a:txBody>
                    <a:bodyPr/>
                    <a:lstStyle/>
                    <a:p>
                      <a:pPr algn="ctr"/>
                      <a:r>
                        <a:rPr lang="en-US" sz="1400" dirty="0" smtClean="0"/>
                        <a:t>To</a:t>
                      </a:r>
                    </a:p>
                    <a:p>
                      <a:pPr algn="ctr"/>
                      <a:r>
                        <a:rPr lang="en-US" sz="1400" dirty="0" smtClean="0">
                          <a:solidFill>
                            <a:schemeClr val="tx1"/>
                          </a:solidFill>
                        </a:rPr>
                        <a:t>(&lt;=)</a:t>
                      </a:r>
                      <a:endParaRPr lang="en-US" sz="1400" dirty="0">
                        <a:solidFill>
                          <a:schemeClr val="tx1"/>
                        </a:solidFill>
                      </a:endParaRPr>
                    </a:p>
                  </a:txBody>
                  <a:tcPr anchor="ctr">
                    <a:lnR w="12700" cap="flat" cmpd="sng" algn="ctr">
                      <a:solidFill>
                        <a:schemeClr val="accent2">
                          <a:lumMod val="50000"/>
                        </a:schemeClr>
                      </a:solidFill>
                      <a:prstDash val="solid"/>
                      <a:round/>
                      <a:headEnd type="none" w="med" len="med"/>
                      <a:tailEnd type="none" w="med" len="med"/>
                    </a:lnR>
                  </a:tcPr>
                </a:tc>
                <a:tc>
                  <a:txBody>
                    <a:bodyPr/>
                    <a:lstStyle/>
                    <a:p>
                      <a:pPr algn="ctr"/>
                      <a:r>
                        <a:rPr lang="en-US" sz="1400" dirty="0" smtClean="0"/>
                        <a:t>MI Premium</a:t>
                      </a:r>
                      <a:endParaRPr lang="en-US" sz="1400" dirty="0">
                        <a:solidFill>
                          <a:schemeClr val="tx1"/>
                        </a:solidFill>
                      </a:endParaRPr>
                    </a:p>
                  </a:txBody>
                  <a:tcPr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dirty="0">
                          <a:solidFill>
                            <a:srgbClr val="000000"/>
                          </a:solidFill>
                          <a:effectLst/>
                          <a:latin typeface="Calibri"/>
                        </a:rPr>
                        <a:t>0</a:t>
                      </a:r>
                    </a:p>
                  </a:txBody>
                  <a:tcPr marL="9525" marR="9525" marT="9525" marB="0" anchor="ctr"/>
                </a:tc>
                <a:tc>
                  <a:txBody>
                    <a:bodyPr/>
                    <a:lstStyle/>
                    <a:p>
                      <a:pPr algn="ctr" fontAlgn="b"/>
                      <a:r>
                        <a:rPr lang="en-US" sz="1100" b="0" i="0" u="none" strike="noStrike" dirty="0">
                          <a:solidFill>
                            <a:srgbClr val="000000"/>
                          </a:solidFill>
                          <a:effectLst/>
                          <a:latin typeface="Calibri"/>
                        </a:rPr>
                        <a:t>6</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a:solidFill>
                            <a:srgbClr val="000000"/>
                          </a:solidFill>
                          <a:effectLst/>
                          <a:latin typeface="Calibri"/>
                        </a:rPr>
                        <a:t>0.34</a:t>
                      </a: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dirty="0">
                          <a:solidFill>
                            <a:srgbClr val="000000"/>
                          </a:solidFill>
                          <a:effectLst/>
                          <a:latin typeface="Calibri"/>
                        </a:rPr>
                        <a:t>6</a:t>
                      </a:r>
                    </a:p>
                  </a:txBody>
                  <a:tcPr marL="9525" marR="9525" marT="9525" marB="0" anchor="ctr"/>
                </a:tc>
                <a:tc>
                  <a:txBody>
                    <a:bodyPr/>
                    <a:lstStyle/>
                    <a:p>
                      <a:pPr algn="ctr" fontAlgn="b"/>
                      <a:r>
                        <a:rPr lang="en-US" sz="1100" b="0" i="0" u="none" strike="noStrike" dirty="0">
                          <a:solidFill>
                            <a:srgbClr val="000000"/>
                          </a:solidFill>
                          <a:effectLst/>
                          <a:latin typeface="Calibri"/>
                        </a:rPr>
                        <a:t>12</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a:solidFill>
                            <a:srgbClr val="000000"/>
                          </a:solidFill>
                          <a:effectLst/>
                          <a:latin typeface="Calibri"/>
                        </a:rPr>
                        <a:t>0.42</a:t>
                      </a: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a:solidFill>
                            <a:srgbClr val="000000"/>
                          </a:solidFill>
                          <a:effectLst/>
                          <a:latin typeface="Calibri"/>
                        </a:rPr>
                        <a:t>12</a:t>
                      </a:r>
                    </a:p>
                  </a:txBody>
                  <a:tcPr marL="9525" marR="9525" marT="9525" marB="0" anchor="ctr"/>
                </a:tc>
                <a:tc>
                  <a:txBody>
                    <a:bodyPr/>
                    <a:lstStyle/>
                    <a:p>
                      <a:pPr algn="ctr" fontAlgn="b"/>
                      <a:r>
                        <a:rPr lang="en-US" sz="1100" b="0" i="0" u="none" strike="noStrike" dirty="0">
                          <a:solidFill>
                            <a:srgbClr val="000000"/>
                          </a:solidFill>
                          <a:effectLst/>
                          <a:latin typeface="Calibri"/>
                        </a:rPr>
                        <a:t>17</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a:solidFill>
                            <a:srgbClr val="000000"/>
                          </a:solidFill>
                          <a:effectLst/>
                          <a:latin typeface="Calibri"/>
                        </a:rPr>
                        <a:t>0.51</a:t>
                      </a: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a:solidFill>
                            <a:srgbClr val="000000"/>
                          </a:solidFill>
                          <a:effectLst/>
                          <a:latin typeface="Calibri"/>
                        </a:rPr>
                        <a:t>17</a:t>
                      </a:r>
                    </a:p>
                  </a:txBody>
                  <a:tcPr marL="9525" marR="9525" marT="9525" marB="0" anchor="ctr"/>
                </a:tc>
                <a:tc>
                  <a:txBody>
                    <a:bodyPr/>
                    <a:lstStyle/>
                    <a:p>
                      <a:pPr algn="ctr" fontAlgn="b"/>
                      <a:r>
                        <a:rPr lang="en-US" sz="1100" b="0" i="0" u="none" strike="noStrike" dirty="0">
                          <a:solidFill>
                            <a:srgbClr val="000000"/>
                          </a:solidFill>
                          <a:effectLst/>
                          <a:latin typeface="Calibri"/>
                        </a:rPr>
                        <a:t>18</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a:solidFill>
                            <a:srgbClr val="000000"/>
                          </a:solidFill>
                          <a:effectLst/>
                          <a:latin typeface="Calibri"/>
                        </a:rPr>
                        <a:t>0.70</a:t>
                      </a: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dirty="0" smtClean="0">
                          <a:solidFill>
                            <a:srgbClr val="000000"/>
                          </a:solidFill>
                          <a:effectLst/>
                          <a:latin typeface="Calibri"/>
                        </a:rPr>
                        <a:t>18</a:t>
                      </a:r>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b="0" i="0" u="none" strike="noStrike" dirty="0">
                          <a:solidFill>
                            <a:srgbClr val="000000"/>
                          </a:solidFill>
                          <a:effectLst/>
                          <a:latin typeface="Calibri"/>
                        </a:rPr>
                        <a:t>25</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smtClean="0">
                          <a:solidFill>
                            <a:srgbClr val="000000"/>
                          </a:solidFill>
                          <a:effectLst/>
                          <a:latin typeface="Calibri"/>
                        </a:rPr>
                        <a:t>0.79</a:t>
                      </a:r>
                      <a:endParaRPr lang="en-US" sz="1100" b="0" i="0" u="none" strike="noStrike" dirty="0">
                        <a:solidFill>
                          <a:srgbClr val="000000"/>
                        </a:solidFill>
                        <a:effectLst/>
                        <a:latin typeface="Calibri"/>
                      </a:endParaRP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a:solidFill>
                            <a:srgbClr val="000000"/>
                          </a:solidFill>
                          <a:effectLst/>
                          <a:latin typeface="Calibri"/>
                        </a:rPr>
                        <a:t>25</a:t>
                      </a:r>
                    </a:p>
                  </a:txBody>
                  <a:tcPr marL="9525" marR="9525" marT="9525" marB="0" anchor="ctr"/>
                </a:tc>
                <a:tc>
                  <a:txBody>
                    <a:bodyPr/>
                    <a:lstStyle/>
                    <a:p>
                      <a:pPr algn="ctr" fontAlgn="b"/>
                      <a:r>
                        <a:rPr lang="en-US" sz="1100" b="0" i="0" u="none" strike="noStrike" dirty="0">
                          <a:solidFill>
                            <a:srgbClr val="000000"/>
                          </a:solidFill>
                          <a:effectLst/>
                          <a:latin typeface="Calibri"/>
                        </a:rPr>
                        <a:t>30</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smtClean="0">
                          <a:solidFill>
                            <a:srgbClr val="000000"/>
                          </a:solidFill>
                          <a:effectLst/>
                          <a:latin typeface="Calibri"/>
                        </a:rPr>
                        <a:t>0.89</a:t>
                      </a:r>
                      <a:endParaRPr lang="en-US" sz="1100" b="0" i="0" u="none" strike="noStrike" dirty="0">
                        <a:solidFill>
                          <a:srgbClr val="000000"/>
                        </a:solidFill>
                        <a:effectLst/>
                        <a:latin typeface="Calibri"/>
                      </a:endParaRP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dirty="0">
                          <a:solidFill>
                            <a:srgbClr val="000000"/>
                          </a:solidFill>
                          <a:effectLst/>
                          <a:latin typeface="Calibri"/>
                        </a:rPr>
                        <a:t>30</a:t>
                      </a:r>
                    </a:p>
                  </a:txBody>
                  <a:tcPr marL="9525" marR="9525" marT="9525" marB="0" anchor="ctr"/>
                </a:tc>
                <a:tc>
                  <a:txBody>
                    <a:bodyPr/>
                    <a:lstStyle/>
                    <a:p>
                      <a:pPr algn="ctr" fontAlgn="b"/>
                      <a:r>
                        <a:rPr lang="en-US" sz="1100" b="0" i="0" u="none" strike="noStrike" dirty="0" smtClean="0">
                          <a:solidFill>
                            <a:srgbClr val="000000"/>
                          </a:solidFill>
                          <a:effectLst/>
                          <a:latin typeface="Calibri"/>
                        </a:rPr>
                        <a:t>35</a:t>
                      </a: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a:solidFill>
                            <a:srgbClr val="000000"/>
                          </a:solidFill>
                          <a:effectLst/>
                          <a:latin typeface="Calibri"/>
                        </a:rPr>
                        <a:t>0.98</a:t>
                      </a:r>
                    </a:p>
                  </a:txBody>
                  <a:tcPr marL="9525" marR="9525" marT="9525" marB="0" anchor="ctr">
                    <a:lnL w="12700" cap="flat" cmpd="sng" algn="ctr">
                      <a:solidFill>
                        <a:schemeClr val="accent2">
                          <a:lumMod val="50000"/>
                        </a:schemeClr>
                      </a:solidFill>
                      <a:prstDash val="solid"/>
                      <a:round/>
                      <a:headEnd type="none" w="med" len="med"/>
                      <a:tailEnd type="none" w="med" len="med"/>
                    </a:lnL>
                  </a:tcPr>
                </a:tc>
              </a:tr>
              <a:tr h="373030">
                <a:tc>
                  <a:txBody>
                    <a:bodyPr/>
                    <a:lstStyle/>
                    <a:p>
                      <a:pPr algn="ctr" fontAlgn="b"/>
                      <a:r>
                        <a:rPr lang="en-US" sz="1100" b="0" i="0" u="none" strike="noStrike" dirty="0" smtClean="0">
                          <a:solidFill>
                            <a:srgbClr val="000000"/>
                          </a:solidFill>
                          <a:effectLst/>
                          <a:latin typeface="Calibri"/>
                        </a:rPr>
                        <a:t>35</a:t>
                      </a:r>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b="0" i="0" u="none" strike="noStrike" dirty="0" smtClean="0">
                          <a:solidFill>
                            <a:srgbClr val="000000"/>
                          </a:solidFill>
                          <a:effectLst/>
                          <a:latin typeface="Calibri"/>
                        </a:rPr>
                        <a:t>40</a:t>
                      </a:r>
                      <a:endParaRPr lang="en-US" sz="1100" b="0" i="0" u="none" strike="noStrike" dirty="0">
                        <a:solidFill>
                          <a:srgbClr val="000000"/>
                        </a:solidFill>
                        <a:effectLst/>
                        <a:latin typeface="Calibri"/>
                      </a:endParaRPr>
                    </a:p>
                  </a:txBody>
                  <a:tcPr marL="9525" marR="9525" marT="9525" marB="0" anchor="ctr">
                    <a:lnR w="12700" cap="flat" cmpd="sng" algn="ctr">
                      <a:solidFill>
                        <a:schemeClr val="accent2">
                          <a:lumMod val="50000"/>
                        </a:schemeClr>
                      </a:solidFill>
                      <a:prstDash val="solid"/>
                      <a:round/>
                      <a:headEnd type="none" w="med" len="med"/>
                      <a:tailEnd type="none" w="med" len="med"/>
                    </a:lnR>
                  </a:tcPr>
                </a:tc>
                <a:tc>
                  <a:txBody>
                    <a:bodyPr/>
                    <a:lstStyle/>
                    <a:p>
                      <a:pPr algn="ctr" fontAlgn="b"/>
                      <a:r>
                        <a:rPr lang="en-US" sz="1100" b="0" i="0" u="none" strike="noStrike" dirty="0" smtClean="0">
                          <a:solidFill>
                            <a:srgbClr val="000000"/>
                          </a:solidFill>
                          <a:effectLst/>
                          <a:latin typeface="Calibri"/>
                        </a:rPr>
                        <a:t>1.10</a:t>
                      </a:r>
                      <a:endParaRPr lang="en-US" sz="1100" b="0" i="0" u="none" strike="noStrike" dirty="0">
                        <a:solidFill>
                          <a:srgbClr val="000000"/>
                        </a:solidFill>
                        <a:effectLst/>
                        <a:latin typeface="Calibri"/>
                      </a:endParaRPr>
                    </a:p>
                  </a:txBody>
                  <a:tcPr marL="9525" marR="9525" marT="9525" marB="0" anchor="ctr">
                    <a:lnL w="12700" cap="flat" cmpd="sng" algn="ctr">
                      <a:solidFill>
                        <a:schemeClr val="accent2">
                          <a:lumMod val="50000"/>
                        </a:schemeClr>
                      </a:solidFill>
                      <a:prstDash val="solid"/>
                      <a:round/>
                      <a:headEnd type="none" w="med" len="med"/>
                      <a:tailEnd type="none" w="med" len="med"/>
                    </a:lnL>
                  </a:tcPr>
                </a:tc>
              </a:tr>
            </a:tbl>
          </a:graphicData>
        </a:graphic>
      </p:graphicFrame>
    </p:spTree>
    <p:extLst>
      <p:ext uri="{BB962C8B-B14F-4D97-AF65-F5344CB8AC3E}">
        <p14:creationId xmlns:p14="http://schemas.microsoft.com/office/powerpoint/2010/main" val="1546825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Updated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47316714"/>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no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solidFill>
                      <a:schemeClr val="accent1">
                        <a:lumMod val="20000"/>
                        <a:lumOff val="80000"/>
                      </a:schemeClr>
                    </a:solidFill>
                  </a:tcPr>
                </a:tc>
              </a:tr>
            </a:tbl>
          </a:graphicData>
        </a:graphic>
      </p:graphicFrame>
      <p:sp>
        <p:nvSpPr>
          <p:cNvPr id="23" name="TextBox 22"/>
          <p:cNvSpPr txBox="1"/>
          <p:nvPr/>
        </p:nvSpPr>
        <p:spPr>
          <a:xfrm>
            <a:off x="5124450" y="1104900"/>
            <a:ext cx="4719267" cy="369332"/>
          </a:xfrm>
          <a:prstGeom prst="rect">
            <a:avLst/>
          </a:prstGeom>
          <a:noFill/>
        </p:spPr>
        <p:txBody>
          <a:bodyPr wrap="square" rtlCol="0">
            <a:spAutoFit/>
          </a:bodyPr>
          <a:lstStyle/>
          <a:p>
            <a:r>
              <a:rPr lang="en-US" dirty="0" smtClean="0">
                <a:latin typeface="+mn-lt"/>
              </a:rPr>
              <a:t>Step 2: Look up the MI coverage</a:t>
            </a:r>
            <a:endParaRPr lang="en-US" dirty="0">
              <a:solidFill>
                <a:schemeClr val="bg1">
                  <a:lumMod val="65000"/>
                </a:schemeClr>
              </a:solidFill>
              <a:latin typeface="+mn-lt"/>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4934" y="1751231"/>
            <a:ext cx="2883128" cy="3937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831" y="5791946"/>
            <a:ext cx="2935333" cy="1355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3284" y="1804530"/>
            <a:ext cx="1254506" cy="423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5503816" y="3167514"/>
            <a:ext cx="1182681" cy="233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9106" y="5105400"/>
            <a:ext cx="4719267" cy="523220"/>
          </a:xfrm>
          <a:prstGeom prst="rect">
            <a:avLst/>
          </a:prstGeom>
          <a:noFill/>
        </p:spPr>
        <p:txBody>
          <a:bodyPr wrap="square" rtlCol="0">
            <a:spAutoFit/>
          </a:bodyPr>
          <a:lstStyle/>
          <a:p>
            <a:r>
              <a:rPr lang="en-US" sz="1400" dirty="0" smtClean="0">
                <a:latin typeface="+mn-lt"/>
              </a:rPr>
              <a:t>Based on the historical MI documents, we assign 79 bps MI to the example loan instead of 110 bps.</a:t>
            </a:r>
            <a:endParaRPr lang="en-US" sz="1400" dirty="0">
              <a:solidFill>
                <a:schemeClr val="bg1">
                  <a:lumMod val="65000"/>
                </a:schemeClr>
              </a:solidFill>
              <a:latin typeface="+mn-lt"/>
            </a:endParaRPr>
          </a:p>
        </p:txBody>
      </p:sp>
      <p:sp>
        <p:nvSpPr>
          <p:cNvPr id="14" name="Down Arrow 13"/>
          <p:cNvSpPr/>
          <p:nvPr/>
        </p:nvSpPr>
        <p:spPr>
          <a:xfrm>
            <a:off x="2202180" y="5844064"/>
            <a:ext cx="636559" cy="321786"/>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56261" y="6319520"/>
            <a:ext cx="3893819" cy="307777"/>
          </a:xfrm>
          <a:prstGeom prst="rect">
            <a:avLst/>
          </a:prstGeom>
          <a:noFill/>
        </p:spPr>
        <p:txBody>
          <a:bodyPr wrap="square" rtlCol="0">
            <a:spAutoFit/>
          </a:bodyPr>
          <a:lstStyle/>
          <a:p>
            <a:pPr algn="ctr"/>
            <a:r>
              <a:rPr lang="en-US" sz="1400" dirty="0" smtClean="0">
                <a:latin typeface="+mn-lt"/>
              </a:rPr>
              <a:t>Makes the incentive 3</a:t>
            </a:r>
            <a:r>
              <a:rPr lang="en-US" sz="1400" dirty="0">
                <a:latin typeface="+mn-lt"/>
              </a:rPr>
              <a:t>1</a:t>
            </a:r>
            <a:r>
              <a:rPr lang="en-US" sz="1400" dirty="0" smtClean="0">
                <a:latin typeface="+mn-lt"/>
              </a:rPr>
              <a:t> bps lower.</a:t>
            </a:r>
            <a:endParaRPr lang="en-US" sz="1400" dirty="0">
              <a:solidFill>
                <a:schemeClr val="bg1">
                  <a:lumMod val="65000"/>
                </a:schemeClr>
              </a:solidFill>
              <a:latin typeface="+mn-lt"/>
            </a:endParaRPr>
          </a:p>
        </p:txBody>
      </p:sp>
    </p:spTree>
    <p:extLst>
      <p:ext uri="{BB962C8B-B14F-4D97-AF65-F5344CB8AC3E}">
        <p14:creationId xmlns:p14="http://schemas.microsoft.com/office/powerpoint/2010/main" val="32742598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970059" y="1836881"/>
            <a:ext cx="7579581" cy="4927174"/>
          </a:xfrm>
        </p:spPr>
        <p:txBody>
          <a:bodyPr/>
          <a:lstStyle/>
          <a:p>
            <a:pPr marL="794985" lvl="1" indent="-285750" algn="l">
              <a:buFont typeface="Arial" panose="020B0604020202020204" pitchFamily="34" charset="0"/>
              <a:buChar char="•"/>
            </a:pPr>
            <a:endParaRPr lang="en-US" sz="1400" dirty="0" smtClean="0"/>
          </a:p>
          <a:p>
            <a:pPr marL="794985" lvl="1" indent="-285750" algn="l">
              <a:buFont typeface="Arial" panose="020B0604020202020204" pitchFamily="34" charset="0"/>
              <a:buChar char="•"/>
            </a:pPr>
            <a:r>
              <a:rPr lang="en-US" sz="1400" dirty="0" smtClean="0"/>
              <a:t>For non-</a:t>
            </a:r>
            <a:r>
              <a:rPr lang="en-US" sz="1400" dirty="0" err="1" smtClean="0"/>
              <a:t>HARPed</a:t>
            </a:r>
            <a:r>
              <a:rPr lang="en-US" sz="1400" dirty="0" smtClean="0"/>
              <a:t> loans where there is no ambiguity about which MI Rate Card applies, we make the simplification that the coverage level is constant within each LTV range. This is not quite true as even within a fixed LTV range there is some small variation in coverage levels. This would introduce modest differences in our MI premium calculations.</a:t>
            </a:r>
          </a:p>
          <a:p>
            <a:pPr marL="794985" lvl="1" indent="-285750" algn="l">
              <a:buFont typeface="Arial" panose="020B0604020202020204" pitchFamily="34" charset="0"/>
              <a:buChar char="•"/>
            </a:pPr>
            <a:r>
              <a:rPr lang="en-US" sz="1400" dirty="0" smtClean="0"/>
              <a:t>While the presentation is focused towards CQ/CR loans, in principle the method applies to any </a:t>
            </a:r>
            <a:r>
              <a:rPr lang="en-US" sz="1400" dirty="0" err="1" smtClean="0"/>
              <a:t>HARPed</a:t>
            </a:r>
            <a:r>
              <a:rPr lang="en-US" sz="1400" dirty="0"/>
              <a:t> </a:t>
            </a:r>
            <a:r>
              <a:rPr lang="en-US" sz="1400" dirty="0" smtClean="0"/>
              <a:t>loan. The method is implemented on a broad level across all FNMA/FHLMC pools using the following assumptions:</a:t>
            </a:r>
          </a:p>
          <a:p>
            <a:pPr marL="1304222" lvl="2" indent="-285750" algn="l">
              <a:buFont typeface="Arial" panose="020B0604020202020204" pitchFamily="34" charset="0"/>
              <a:buChar char="•"/>
            </a:pPr>
            <a:r>
              <a:rPr lang="en-US" sz="1400" dirty="0" smtClean="0"/>
              <a:t>CL loans: Identify whether it is </a:t>
            </a:r>
            <a:r>
              <a:rPr lang="en-US" sz="1400" dirty="0" err="1" smtClean="0"/>
              <a:t>HARPed</a:t>
            </a:r>
            <a:r>
              <a:rPr lang="en-US" sz="1400" dirty="0" smtClean="0"/>
              <a:t> or not using our HARP matching algorithms</a:t>
            </a:r>
          </a:p>
          <a:p>
            <a:pPr marL="1304222" lvl="2" indent="-285750" algn="l">
              <a:buFont typeface="Arial" panose="020B0604020202020204" pitchFamily="34" charset="0"/>
              <a:buChar char="•"/>
            </a:pPr>
            <a:r>
              <a:rPr lang="en-US" sz="1400" dirty="0" smtClean="0"/>
              <a:t>CQ/CR loans: All </a:t>
            </a:r>
            <a:r>
              <a:rPr lang="en-US" sz="1400" dirty="0" err="1" smtClean="0"/>
              <a:t>HARPed</a:t>
            </a:r>
            <a:endParaRPr lang="en-US" sz="1400" dirty="0" smtClean="0"/>
          </a:p>
          <a:p>
            <a:pPr marL="1304222" lvl="2" indent="-285750" algn="l">
              <a:buFont typeface="Arial" panose="020B0604020202020204" pitchFamily="34" charset="0"/>
              <a:buChar char="•"/>
            </a:pPr>
            <a:r>
              <a:rPr lang="en-US" sz="1400" dirty="0" smtClean="0"/>
              <a:t>CK (Jumbo) loans: No HARP (we may want to revisit this at some point)</a:t>
            </a:r>
          </a:p>
          <a:p>
            <a:pPr marL="794985" lvl="1" indent="-285750" algn="l">
              <a:buFont typeface="Arial" panose="020B0604020202020204" pitchFamily="34" charset="0"/>
              <a:buChar char="•"/>
            </a:pPr>
            <a:r>
              <a:rPr lang="en-US" sz="1400" dirty="0" smtClean="0"/>
              <a:t>We are making the assumption that the MGIC rate card accurately represents the evolution of industry MI premiums.  While this is the assumption we’re retaining for historical calculations, we may implement a scheme where current premiums are calculated as a simple average across 3-5 PMI providers.</a:t>
            </a:r>
          </a:p>
          <a:p>
            <a:pPr marL="794985" lvl="1" indent="-285750" algn="l">
              <a:buFont typeface="Arial" panose="020B0604020202020204" pitchFamily="34" charset="0"/>
              <a:buChar char="•"/>
            </a:pPr>
            <a:endParaRPr lang="en-US" sz="1400" dirty="0" smtClean="0"/>
          </a:p>
          <a:p>
            <a:pPr lvl="1" algn="l"/>
            <a:endParaRPr lang="en-US" sz="1400" dirty="0" smtClean="0"/>
          </a:p>
          <a:p>
            <a:pPr marL="285750" indent="-285750" algn="l">
              <a:buFont typeface="Arial" panose="020B0604020202020204" pitchFamily="34" charset="0"/>
              <a:buChar char="•"/>
            </a:pPr>
            <a:endParaRPr lang="en-US" sz="1400" dirty="0"/>
          </a:p>
        </p:txBody>
      </p:sp>
      <p:sp>
        <p:nvSpPr>
          <p:cNvPr id="6" name="Title 1"/>
          <p:cNvSpPr txBox="1">
            <a:spLocks/>
          </p:cNvSpPr>
          <p:nvPr/>
        </p:nvSpPr>
        <p:spPr bwMode="auto">
          <a:xfrm>
            <a:off x="3037587" y="219672"/>
            <a:ext cx="6806130" cy="677966"/>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a:lstStyle>
          <a:p>
            <a:r>
              <a:rPr lang="en-US" sz="1600" kern="0" dirty="0" smtClean="0">
                <a:latin typeface="+mn-lt"/>
              </a:rPr>
              <a:t>Observations and Future Improvements</a:t>
            </a:r>
            <a:endParaRPr lang="en-US" kern="0" dirty="0">
              <a:latin typeface="+mn-lt"/>
            </a:endParaRPr>
          </a:p>
        </p:txBody>
      </p:sp>
    </p:spTree>
    <p:extLst>
      <p:ext uri="{BB962C8B-B14F-4D97-AF65-F5344CB8AC3E}">
        <p14:creationId xmlns:p14="http://schemas.microsoft.com/office/powerpoint/2010/main" val="372937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87625</TotalTime>
  <Words>962</Words>
  <Application>Microsoft Office PowerPoint</Application>
  <PresentationFormat>Custom</PresentationFormat>
  <Paragraphs>300</Paragraphs>
  <Slides>9</Slides>
  <Notes>0</Notes>
  <HiddenSlides>0</HiddenSlides>
  <MMClips>0</MMClips>
  <ScaleCrop>false</ScaleCrop>
  <HeadingPairs>
    <vt:vector size="4" baseType="variant">
      <vt:variant>
        <vt:lpstr>Theme</vt:lpstr>
      </vt:variant>
      <vt:variant>
        <vt:i4>15</vt:i4>
      </vt:variant>
      <vt:variant>
        <vt:lpstr>Slide Titles</vt:lpstr>
      </vt:variant>
      <vt:variant>
        <vt:i4>9</vt:i4>
      </vt:variant>
    </vt:vector>
  </HeadingPairs>
  <TitlesOfParts>
    <vt:vector size="24"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Current MI Calculation</vt:lpstr>
      <vt:lpstr>Current MI Calculation</vt:lpstr>
      <vt:lpstr>Current MI Calculation</vt:lpstr>
      <vt:lpstr>Updated MI Calculation</vt:lpstr>
      <vt:lpstr>Updated MI Calculation</vt:lpstr>
      <vt:lpstr>Updated MI Calculation</vt:lpstr>
      <vt:lpstr>Suggested MI coverage Look up table MI coverage as a function of LTV distribution </vt:lpstr>
      <vt:lpstr>Updated MI Calculation</vt:lpstr>
      <vt:lpstr>PowerPoint Presentation</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2082</cp:revision>
  <cp:lastPrinted>2016-03-15T19:30:46Z</cp:lastPrinted>
  <dcterms:created xsi:type="dcterms:W3CDTF">2011-07-07T12:37:32Z</dcterms:created>
  <dcterms:modified xsi:type="dcterms:W3CDTF">2016-03-16T14:53:26Z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