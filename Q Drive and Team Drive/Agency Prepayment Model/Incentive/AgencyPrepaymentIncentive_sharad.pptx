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4"/>
  </p:notesMasterIdLst>
  <p:handoutMasterIdLst>
    <p:handoutMasterId r:id="rId25"/>
  </p:handoutMasterIdLst>
  <p:sldIdLst>
    <p:sldId id="433" r:id="rId16"/>
    <p:sldId id="547" r:id="rId17"/>
    <p:sldId id="586" r:id="rId18"/>
    <p:sldId id="587" r:id="rId19"/>
    <p:sldId id="588" r:id="rId20"/>
    <p:sldId id="589" r:id="rId21"/>
    <p:sldId id="590" r:id="rId22"/>
    <p:sldId id="591" r:id="rId23"/>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29"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rad Chaudhary" initials="SC"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FF9966"/>
    <a:srgbClr val="FFCC00"/>
    <a:srgbClr val="FF9933"/>
    <a:srgbClr val="FF6600"/>
    <a:srgbClr val="E519CD"/>
    <a:srgbClr val="968880"/>
    <a:srgbClr val="2E398A"/>
    <a:srgbClr val="533D2D"/>
    <a:srgbClr val="533D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72" autoAdjust="0"/>
    <p:restoredTop sz="95014" autoAdjust="0"/>
  </p:normalViewPr>
  <p:slideViewPr>
    <p:cSldViewPr snapToGrid="0" snapToObjects="1">
      <p:cViewPr varScale="1">
        <p:scale>
          <a:sx n="119" d="100"/>
          <a:sy n="119" d="100"/>
        </p:scale>
        <p:origin x="-120" y="-660"/>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6-03-11T15:39:50.023" idx="8">
    <p:pos x="2082" y="768"/>
    <p:text>Note that incentive gets used both in the Turnover and Refinance submodels</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6-03-11T15:07:59.467" idx="1">
    <p:pos x="3784" y="1718"/>
    <p:text>Alternative might be to average daily mortgage rates where the daily rate is the current coupon + servicing spread. For this, we would need to backfill current coupon. Alternatively, stitch together monthly series based on weekly data and daily data depending upon where you are in history.</p:text>
  </p:cm>
  <p:cm authorId="0" dt="2016-03-11T15:10:37.713" idx="2">
    <p:pos x="3501" y="2986"/>
    <p:text>This calculation has been refined to the loan level. Basically, for every month partition pools into conforming and jumbo balances and then calculate the relevant average mortgage rates corresponding to each group. The spread is the difference of these two rate series.</p:text>
  </p:cm>
  <p:cm authorId="0" dt="2016-03-11T15:19:10.370" idx="3">
    <p:pos x="1415" y="3380"/>
    <p:text>Add description</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16-03-11T15:21:58.368" idx="5">
    <p:pos x="4623" y="3931"/>
    <p:text>Handle collateral that's outside the range using the "Refinanceable" % flag. One other thought is to synthetically create the mortgage rate for borrowers who are outside the range by "extrapolating" from the LLPA matrix (or calibrating the default model to the LLPA matrix and then using it to infer the appropriate adjustment for such loans)</p:text>
  </p:cm>
  <p:cm authorId="0" dt="2016-03-11T16:54:00.276" idx="10">
    <p:pos x="1905" y="768"/>
    <p:text>Do we have to introduce a notion of Purchase Incentive versus Refi Incentive? Does LLPA apply if you're a purchase mortgage?
Not an issue unless you're a jumbo purchase mortgage.
For PMI, there's a slight premium you pay if you're a refinance versus a purchase mortgage</p:text>
  </p:cm>
</p:cmLst>
</file>

<file path=ppt/comments/comment4.xml><?xml version="1.0" encoding="utf-8"?>
<p:cmLst xmlns:a="http://schemas.openxmlformats.org/drawingml/2006/main" xmlns:r="http://schemas.openxmlformats.org/officeDocument/2006/relationships" xmlns:p="http://schemas.openxmlformats.org/presentationml/2006/main">
  <p:cm authorId="0" dt="2016-03-11T15:28:14.607" idx="6">
    <p:pos x="4941" y="3284"/>
    <p:text>Including for CQ/CRs?</p:text>
  </p:cm>
  <p:cm authorId="0" dt="2016-03-11T15:41:55.956" idx="9">
    <p:pos x="3234" y="1480"/>
    <p:text>There's a subtlety here in terms of turnover because in this case the new loan purpose would be "Purchase."</p:text>
  </p:cm>
</p:cmLst>
</file>

<file path=ppt/comments/comment5.xml><?xml version="1.0" encoding="utf-8"?>
<p:cmLst xmlns:a="http://schemas.openxmlformats.org/drawingml/2006/main" xmlns:r="http://schemas.openxmlformats.org/officeDocument/2006/relationships" xmlns:p="http://schemas.openxmlformats.org/presentationml/2006/main">
  <p:cm authorId="0" dt="2016-03-11T15:29:22.929" idx="7">
    <p:pos x="3931" y="1187"/>
    <p:text>Is there a pool incentive based on a loan-level calculation?</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3"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defTabSz="921506">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algn="r" defTabSz="921506">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3"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defTabSz="921506">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algn="r" defTabSz="921506">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3"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defTabSz="921506">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7"/>
            <a:ext cx="3038161" cy="463541"/>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lvl1pPr algn="r" defTabSz="921506">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4" y="4416438"/>
            <a:ext cx="5607678" cy="4181463"/>
          </a:xfrm>
          <a:prstGeom prst="rect">
            <a:avLst/>
          </a:prstGeom>
          <a:noFill/>
          <a:ln w="9525">
            <a:noFill/>
            <a:miter lim="800000"/>
            <a:headEnd/>
            <a:tailEnd/>
          </a:ln>
        </p:spPr>
        <p:txBody>
          <a:bodyPr vert="horz" wrap="square" lIns="92425" tIns="46211" rIns="92425" bIns="4621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3"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defTabSz="921506">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71"/>
            <a:ext cx="3038161" cy="463541"/>
          </a:xfrm>
          <a:prstGeom prst="rect">
            <a:avLst/>
          </a:prstGeom>
          <a:noFill/>
          <a:ln w="9525">
            <a:noFill/>
            <a:miter lim="800000"/>
            <a:headEnd/>
            <a:tailEnd/>
          </a:ln>
        </p:spPr>
        <p:txBody>
          <a:bodyPr vert="horz" wrap="square" lIns="92425" tIns="46211" rIns="92425" bIns="46211" numCol="1" anchor="b" anchorCtr="0" compatLnSpc="1">
            <a:prstTxWarp prst="textNoShape">
              <a:avLst/>
            </a:prstTxWarp>
          </a:bodyPr>
          <a:lstStyle>
            <a:lvl1pPr algn="r" defTabSz="921506">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15"/>
            <a:fld id="{1FE077EC-684A-4FD9-A6C3-9AE90D8B81D6}" type="slidenum">
              <a:rPr lang="en-US" smtClean="0"/>
              <a:pPr defTabSz="919915"/>
              <a:t>1</a:t>
            </a:fld>
            <a:endParaRPr lang="en-US" dirty="0" smtClean="0"/>
          </a:p>
        </p:txBody>
      </p:sp>
    </p:spTree>
    <p:extLst>
      <p:ext uri="{BB962C8B-B14F-4D97-AF65-F5344CB8AC3E}">
        <p14:creationId xmlns:p14="http://schemas.microsoft.com/office/powerpoint/2010/main" val="361754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144033" y="6084608"/>
            <a:ext cx="6547664"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Agency Prepayment: Incentive </a:t>
            </a:r>
          </a:p>
          <a:p>
            <a:pPr algn="r" defTabSz="1018586"/>
            <a:r>
              <a:rPr lang="en-US" dirty="0" smtClean="0">
                <a:solidFill>
                  <a:schemeClr val="tx2"/>
                </a:solidFill>
                <a:latin typeface="Calibri" pitchFamily="34" charset="0"/>
              </a:rPr>
              <a:t>March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Incentive Overview</a:t>
            </a:r>
            <a:endParaRPr lang="en-US" sz="2400" b="0" dirty="0">
              <a:solidFill>
                <a:schemeClr val="tx1"/>
              </a:solidFill>
            </a:endParaRPr>
          </a:p>
        </p:txBody>
      </p:sp>
      <p:sp>
        <p:nvSpPr>
          <p:cNvPr id="5" name="Subtitle 4"/>
          <p:cNvSpPr>
            <a:spLocks noGrp="1"/>
          </p:cNvSpPr>
          <p:nvPr>
            <p:ph type="subTitle" idx="1"/>
          </p:nvPr>
        </p:nvSpPr>
        <p:spPr>
          <a:xfrm>
            <a:off x="970059" y="1836882"/>
            <a:ext cx="7579581" cy="5335196"/>
          </a:xfrm>
        </p:spPr>
        <p:txBody>
          <a:bodyPr/>
          <a:lstStyle/>
          <a:p>
            <a:pPr marL="285750" indent="-285750" algn="l">
              <a:buFont typeface="Arial" panose="020B0604020202020204" pitchFamily="34" charset="0"/>
              <a:buChar char="•"/>
            </a:pPr>
            <a:r>
              <a:rPr lang="en-US" sz="1400" b="1" dirty="0" smtClean="0"/>
              <a:t>Formula Description:</a:t>
            </a:r>
          </a:p>
          <a:p>
            <a:pPr marL="794985" lvl="1" indent="-285750" algn="l">
              <a:buFont typeface="Arial" panose="020B0604020202020204" pitchFamily="34" charset="0"/>
              <a:buChar char="•"/>
            </a:pPr>
            <a:r>
              <a:rPr lang="en-US" sz="1400" dirty="0" smtClean="0"/>
              <a:t>Basic Refinance Incentive:= </a:t>
            </a:r>
          </a:p>
          <a:p>
            <a:pPr marL="1304222" lvl="2" indent="-285750" algn="l">
              <a:buFont typeface="Arial" panose="020B0604020202020204" pitchFamily="34" charset="0"/>
              <a:buChar char="•"/>
            </a:pPr>
            <a:r>
              <a:rPr lang="en-US" sz="1400" dirty="0" smtClean="0"/>
              <a:t>WAC + PMI (@origination) {in basis points}</a:t>
            </a:r>
          </a:p>
          <a:p>
            <a:pPr marL="1304222" lvl="2" indent="-285750" algn="l">
              <a:buFont typeface="Arial" panose="020B0604020202020204" pitchFamily="34" charset="0"/>
              <a:buChar char="•"/>
            </a:pPr>
            <a:r>
              <a:rPr lang="en-US" sz="1400" dirty="0" smtClean="0"/>
              <a:t>- </a:t>
            </a:r>
            <a:r>
              <a:rPr lang="en-US" sz="1400" dirty="0" err="1" smtClean="0"/>
              <a:t>MtgRate</a:t>
            </a:r>
            <a:r>
              <a:rPr lang="en-US" sz="1400" dirty="0"/>
              <a:t> </a:t>
            </a:r>
            <a:endParaRPr lang="en-US" sz="1400" dirty="0" smtClean="0"/>
          </a:p>
          <a:p>
            <a:pPr marL="1304222" lvl="2" indent="-285750" algn="l">
              <a:buFont typeface="Arial" panose="020B0604020202020204" pitchFamily="34" charset="0"/>
              <a:buChar char="•"/>
            </a:pPr>
            <a:r>
              <a:rPr lang="en-US" sz="1400" dirty="0" smtClean="0"/>
              <a:t>- LLPA Adjustment {in basis points / 4}</a:t>
            </a:r>
          </a:p>
          <a:p>
            <a:pPr marL="1304222" lvl="2" indent="-285750" algn="l">
              <a:buFont typeface="Arial" panose="020B0604020202020204" pitchFamily="34" charset="0"/>
              <a:buChar char="•"/>
            </a:pPr>
            <a:r>
              <a:rPr lang="en-US" sz="1400" dirty="0" smtClean="0"/>
              <a:t>- PMI (@current date)</a:t>
            </a:r>
            <a:r>
              <a:rPr lang="en-US" sz="1400" dirty="0"/>
              <a:t> {in basis points</a:t>
            </a:r>
            <a:r>
              <a:rPr lang="en-US" sz="1400" dirty="0" smtClean="0"/>
              <a:t>}</a:t>
            </a:r>
          </a:p>
          <a:p>
            <a:pPr marL="794985" lvl="1" indent="-285750" algn="l">
              <a:buFont typeface="Arial" panose="020B0604020202020204" pitchFamily="34" charset="0"/>
              <a:buChar char="•"/>
            </a:pPr>
            <a:r>
              <a:rPr lang="en-US" sz="1400" dirty="0" smtClean="0"/>
              <a:t> Detailed Refinance </a:t>
            </a:r>
            <a:r>
              <a:rPr lang="en-US" sz="1400" dirty="0"/>
              <a:t>Incentive:= </a:t>
            </a:r>
          </a:p>
          <a:p>
            <a:pPr marL="1304222" lvl="2" indent="-285750" algn="l">
              <a:buFont typeface="Arial" panose="020B0604020202020204" pitchFamily="34" charset="0"/>
              <a:buChar char="•"/>
            </a:pPr>
            <a:r>
              <a:rPr lang="en-US" sz="1400" dirty="0"/>
              <a:t>WAC + PMI Base(@origination) + PMI </a:t>
            </a:r>
            <a:r>
              <a:rPr lang="en-US" sz="1400" dirty="0" smtClean="0"/>
              <a:t>Occupancy </a:t>
            </a:r>
            <a:r>
              <a:rPr lang="en-US" sz="1400" dirty="0"/>
              <a:t>(@origination) + PMI Loan Size(@origination) </a:t>
            </a:r>
          </a:p>
          <a:p>
            <a:pPr marL="1304222" lvl="2" indent="-285750" algn="l">
              <a:buFont typeface="Arial" panose="020B0604020202020204" pitchFamily="34" charset="0"/>
              <a:buChar char="•"/>
            </a:pPr>
            <a:r>
              <a:rPr lang="en-US" sz="1400" dirty="0"/>
              <a:t>- </a:t>
            </a:r>
            <a:r>
              <a:rPr lang="en-US" sz="1400" dirty="0" err="1"/>
              <a:t>MtgRate</a:t>
            </a:r>
            <a:r>
              <a:rPr lang="en-US" sz="1400" dirty="0"/>
              <a:t> </a:t>
            </a:r>
          </a:p>
          <a:p>
            <a:pPr marL="1304222" lvl="2" indent="-285750" algn="l">
              <a:buFont typeface="Arial" panose="020B0604020202020204" pitchFamily="34" charset="0"/>
              <a:buChar char="•"/>
            </a:pPr>
            <a:r>
              <a:rPr lang="en-US" sz="1400" dirty="0"/>
              <a:t>- (LLPA Base + LLPA ADMC + LLPA Occupancy + LLPA LTV + </a:t>
            </a:r>
            <a:r>
              <a:rPr lang="en-US" sz="1400" dirty="0" smtClean="0"/>
              <a:t>LLPA Units + LLPA </a:t>
            </a:r>
            <a:r>
              <a:rPr lang="en-US" sz="1400" dirty="0"/>
              <a:t>Loan Size)</a:t>
            </a:r>
          </a:p>
          <a:p>
            <a:pPr marL="1304222" lvl="2" indent="-285750" algn="l">
              <a:buFont typeface="Arial" panose="020B0604020202020204" pitchFamily="34" charset="0"/>
              <a:buChar char="•"/>
            </a:pPr>
            <a:r>
              <a:rPr lang="en-US" sz="1400" dirty="0"/>
              <a:t>- (PMI Base (@current date) + PMI Occupancy (@current date) + PMI Loan Size (@current date))</a:t>
            </a:r>
          </a:p>
          <a:p>
            <a:pPr marL="794985" lvl="1" indent="-285750" algn="l">
              <a:buFont typeface="Arial" panose="020B0604020202020204" pitchFamily="34" charset="0"/>
              <a:buChar char="•"/>
            </a:pPr>
            <a:r>
              <a:rPr lang="en-US" sz="1400" dirty="0" smtClean="0"/>
              <a:t>When </a:t>
            </a:r>
            <a:r>
              <a:rPr lang="en-US" sz="1400" dirty="0" err="1" smtClean="0"/>
              <a:t>IssueDate</a:t>
            </a:r>
            <a:r>
              <a:rPr lang="en-US" sz="1400" dirty="0" smtClean="0"/>
              <a:t> &lt;= ‘2009-06-01’ (HARP-eligible loans):</a:t>
            </a:r>
          </a:p>
          <a:p>
            <a:pPr marL="1304222" lvl="2" indent="-285750" algn="l">
              <a:buFont typeface="Arial" panose="020B0604020202020204" pitchFamily="34" charset="0"/>
              <a:buChar char="•"/>
            </a:pPr>
            <a:r>
              <a:rPr lang="en-US" sz="1400" dirty="0" smtClean="0"/>
              <a:t>LLPA Adjustment is capped at 75 basis points</a:t>
            </a:r>
          </a:p>
          <a:p>
            <a:pPr marL="1304222" lvl="2" indent="-285750" algn="l">
              <a:buFont typeface="Arial" panose="020B0604020202020204" pitchFamily="34" charset="0"/>
              <a:buChar char="•"/>
            </a:pPr>
            <a:r>
              <a:rPr lang="en-US" sz="1400" dirty="0" smtClean="0"/>
              <a:t>PMI (@current date) is set to 0 basis points</a:t>
            </a: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1616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WAC</a:t>
            </a:r>
            <a:endParaRPr lang="en-US" sz="2400" b="0" dirty="0">
              <a:solidFill>
                <a:schemeClr val="tx1"/>
              </a:solidFill>
            </a:endParaRPr>
          </a:p>
        </p:txBody>
      </p:sp>
      <p:sp>
        <p:nvSpPr>
          <p:cNvPr id="5" name="Subtitle 4"/>
          <p:cNvSpPr>
            <a:spLocks noGrp="1"/>
          </p:cNvSpPr>
          <p:nvPr>
            <p:ph type="subTitle" idx="1"/>
          </p:nvPr>
        </p:nvSpPr>
        <p:spPr>
          <a:xfrm>
            <a:off x="970059" y="1836881"/>
            <a:ext cx="7579581" cy="4927174"/>
          </a:xfrm>
        </p:spPr>
        <p:txBody>
          <a:bodyPr/>
          <a:lstStyle/>
          <a:p>
            <a:pPr marL="285750" indent="-285750" algn="l">
              <a:buFont typeface="Arial" panose="020B0604020202020204" pitchFamily="34" charset="0"/>
              <a:buChar char="•"/>
            </a:pPr>
            <a:r>
              <a:rPr lang="en-US" sz="1400" b="1" dirty="0" smtClean="0"/>
              <a:t>Pools – </a:t>
            </a:r>
            <a:r>
              <a:rPr lang="en-US" sz="1400" dirty="0" smtClean="0"/>
              <a:t>WAC from </a:t>
            </a:r>
            <a:r>
              <a:rPr lang="en-US" sz="1400" dirty="0" err="1" smtClean="0"/>
              <a:t>SecFactor</a:t>
            </a:r>
            <a:endParaRPr lang="en-US" sz="1400" dirty="0" smtClean="0"/>
          </a:p>
          <a:p>
            <a:pPr marL="285750" indent="-285750" algn="l">
              <a:buFont typeface="Arial" panose="020B0604020202020204" pitchFamily="34" charset="0"/>
              <a:buChar char="•"/>
            </a:pPr>
            <a:r>
              <a:rPr lang="en-US" sz="1400" b="1" dirty="0"/>
              <a:t>Loans </a:t>
            </a:r>
            <a:r>
              <a:rPr lang="en-US" sz="1400" b="1" dirty="0" smtClean="0"/>
              <a:t>– </a:t>
            </a:r>
            <a:r>
              <a:rPr lang="en-US" sz="1400" dirty="0" err="1"/>
              <a:t>O</a:t>
            </a:r>
            <a:r>
              <a:rPr lang="en-US" sz="1400" dirty="0" err="1" smtClean="0"/>
              <a:t>rigNoteRate</a:t>
            </a:r>
            <a:r>
              <a:rPr lang="en-US" sz="1400" dirty="0" smtClean="0"/>
              <a:t> </a:t>
            </a:r>
            <a:r>
              <a:rPr lang="en-US" sz="1400" dirty="0"/>
              <a:t>from </a:t>
            </a:r>
            <a:r>
              <a:rPr lang="en-US" sz="1400" dirty="0" err="1"/>
              <a:t>Cello_Loan</a:t>
            </a:r>
            <a:endParaRPr lang="en-US" sz="1400" dirty="0" smtClean="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1969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Mortgage Rates</a:t>
            </a:r>
            <a:endParaRPr lang="en-US" sz="2400" b="0" dirty="0">
              <a:solidFill>
                <a:schemeClr val="tx1"/>
              </a:solidFill>
            </a:endParaRPr>
          </a:p>
        </p:txBody>
      </p:sp>
      <p:sp>
        <p:nvSpPr>
          <p:cNvPr id="5" name="Subtitle 4"/>
          <p:cNvSpPr>
            <a:spLocks noGrp="1"/>
          </p:cNvSpPr>
          <p:nvPr>
            <p:ph type="subTitle" idx="1"/>
          </p:nvPr>
        </p:nvSpPr>
        <p:spPr>
          <a:xfrm>
            <a:off x="970059" y="1836881"/>
            <a:ext cx="7579581" cy="4927174"/>
          </a:xfrm>
        </p:spPr>
        <p:txBody>
          <a:bodyPr/>
          <a:lstStyle/>
          <a:p>
            <a:pPr marL="285750" indent="-285750" algn="l">
              <a:buFont typeface="Arial" panose="020B0604020202020204" pitchFamily="34" charset="0"/>
              <a:buChar char="•"/>
            </a:pPr>
            <a:r>
              <a:rPr lang="en-US" sz="1400" b="1" dirty="0" smtClean="0"/>
              <a:t>Conventional</a:t>
            </a:r>
          </a:p>
          <a:p>
            <a:pPr marL="794985" lvl="1" indent="-285750" algn="l">
              <a:buFont typeface="Arial" panose="020B0604020202020204" pitchFamily="34" charset="0"/>
              <a:buChar char="•"/>
            </a:pPr>
            <a:r>
              <a:rPr lang="en-US" sz="1400" dirty="0" smtClean="0"/>
              <a:t>Same calculation for Pools and Loans</a:t>
            </a:r>
          </a:p>
          <a:p>
            <a:pPr marL="794985" lvl="1" indent="-285750" algn="l">
              <a:buFont typeface="Arial" panose="020B0604020202020204" pitchFamily="34" charset="0"/>
              <a:buChar char="•"/>
            </a:pPr>
            <a:r>
              <a:rPr lang="en-US" sz="1400" dirty="0" smtClean="0"/>
              <a:t> 1 Point Adjusted Mortgage Rate from Freddie PMMS time series</a:t>
            </a:r>
          </a:p>
          <a:p>
            <a:pPr marL="794985" lvl="1" indent="-285750" algn="l">
              <a:buFont typeface="Arial" panose="020B0604020202020204" pitchFamily="34" charset="0"/>
              <a:buChar char="•"/>
            </a:pPr>
            <a:r>
              <a:rPr lang="en-US" sz="1400" dirty="0" smtClean="0"/>
              <a:t>Monthly series obtained by averaging weekly time series</a:t>
            </a:r>
          </a:p>
          <a:p>
            <a:pPr marL="794985" lvl="1" indent="-285750" algn="l">
              <a:buFont typeface="Arial" panose="020B0604020202020204" pitchFamily="34" charset="0"/>
              <a:buChar char="•"/>
            </a:pPr>
            <a:r>
              <a:rPr lang="en-US" sz="1400" dirty="0"/>
              <a:t>Lag = </a:t>
            </a:r>
            <a:r>
              <a:rPr lang="en-US" sz="1400" dirty="0" smtClean="0"/>
              <a:t>2 months</a:t>
            </a:r>
          </a:p>
          <a:p>
            <a:pPr marL="285750" indent="-285750" algn="l">
              <a:buFont typeface="Arial" panose="020B0604020202020204" pitchFamily="34" charset="0"/>
              <a:buChar char="•"/>
            </a:pPr>
            <a:r>
              <a:rPr lang="en-US" sz="1400" b="1" dirty="0" smtClean="0"/>
              <a:t>Jumbo</a:t>
            </a:r>
          </a:p>
          <a:p>
            <a:pPr marL="794985" lvl="1" indent="-285750" algn="l">
              <a:buFont typeface="Arial" panose="020B0604020202020204" pitchFamily="34" charset="0"/>
              <a:buChar char="•"/>
            </a:pPr>
            <a:r>
              <a:rPr lang="en-US" sz="1400" dirty="0"/>
              <a:t>Pools and </a:t>
            </a:r>
            <a:r>
              <a:rPr lang="en-US" sz="1400" dirty="0" smtClean="0"/>
              <a:t>Loans</a:t>
            </a:r>
          </a:p>
          <a:p>
            <a:pPr marL="794985" lvl="1" indent="-285750" algn="l">
              <a:buFont typeface="Arial" panose="020B0604020202020204" pitchFamily="34" charset="0"/>
              <a:buChar char="•"/>
            </a:pPr>
            <a:r>
              <a:rPr lang="en-US" sz="1400" dirty="0" smtClean="0"/>
              <a:t>1 </a:t>
            </a:r>
            <a:r>
              <a:rPr lang="en-US" sz="1400" dirty="0"/>
              <a:t>Point Adjusted Mortgage Rate from Freddie PMMS time </a:t>
            </a:r>
            <a:r>
              <a:rPr lang="en-US" sz="1400" dirty="0" smtClean="0"/>
              <a:t>series + Jumbo Spread</a:t>
            </a:r>
          </a:p>
          <a:p>
            <a:pPr marL="794985" lvl="1" indent="-285750" algn="l">
              <a:buFont typeface="Arial" panose="020B0604020202020204" pitchFamily="34" charset="0"/>
              <a:buChar char="•"/>
            </a:pPr>
            <a:r>
              <a:rPr lang="en-US" sz="1400" dirty="0" smtClean="0"/>
              <a:t>Monthly series obtained by averaging weekly time series</a:t>
            </a:r>
          </a:p>
          <a:p>
            <a:pPr marL="794985" lvl="1" indent="-285750" algn="l">
              <a:buFont typeface="Arial" panose="020B0604020202020204" pitchFamily="34" charset="0"/>
              <a:buChar char="•"/>
            </a:pPr>
            <a:r>
              <a:rPr lang="en-US" sz="1400" dirty="0" smtClean="0"/>
              <a:t>Jumbo Spread </a:t>
            </a:r>
            <a:r>
              <a:rPr lang="en-US" sz="1400" dirty="0"/>
              <a:t>= </a:t>
            </a:r>
            <a:r>
              <a:rPr lang="en-US" sz="1400" dirty="0" err="1"/>
              <a:t>WAC_Jumbo</a:t>
            </a:r>
            <a:r>
              <a:rPr lang="en-US" sz="1400" dirty="0"/>
              <a:t> - </a:t>
            </a:r>
            <a:r>
              <a:rPr lang="en-US" sz="1400" dirty="0" err="1" smtClean="0"/>
              <a:t>WAC_Conventional</a:t>
            </a:r>
            <a:endParaRPr lang="en-US" sz="1400" dirty="0" smtClean="0"/>
          </a:p>
          <a:p>
            <a:pPr marL="794985" lvl="1" indent="-285750" algn="l">
              <a:buFont typeface="Arial" panose="020B0604020202020204" pitchFamily="34" charset="0"/>
              <a:buChar char="•"/>
            </a:pPr>
            <a:r>
              <a:rPr lang="en-US" sz="1400" dirty="0" smtClean="0"/>
              <a:t>Lag = 2 months</a:t>
            </a:r>
          </a:p>
          <a:p>
            <a:pPr marL="285750" indent="-285750" algn="l">
              <a:buFont typeface="Arial" panose="020B0604020202020204" pitchFamily="34" charset="0"/>
              <a:buChar char="•"/>
            </a:pPr>
            <a:r>
              <a:rPr lang="en-US" sz="1400" b="1" dirty="0" err="1" smtClean="0"/>
              <a:t>Ginnie</a:t>
            </a:r>
            <a:r>
              <a:rPr lang="en-US" sz="1400" b="1" dirty="0" smtClean="0"/>
              <a:t> Mae</a:t>
            </a:r>
            <a:endParaRPr lang="en-US" sz="1400" b="1" dirty="0"/>
          </a:p>
          <a:p>
            <a:pPr marL="794985" lvl="1" indent="-285750" algn="l">
              <a:buFont typeface="Arial" panose="020B0604020202020204" pitchFamily="34" charset="0"/>
              <a:buChar char="•"/>
            </a:pPr>
            <a:r>
              <a:rPr lang="en-US" sz="1400" dirty="0"/>
              <a:t>Pools and Loans</a:t>
            </a:r>
          </a:p>
          <a:p>
            <a:pPr marL="794985" lvl="1" indent="-285750" algn="l">
              <a:buFont typeface="Arial" panose="020B0604020202020204" pitchFamily="34" charset="0"/>
              <a:buChar char="•"/>
            </a:pPr>
            <a:endParaRPr lang="en-US" sz="1400" b="1" dirty="0" smtClean="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841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LLPA Adjustment</a:t>
            </a:r>
            <a:endParaRPr lang="en-US" sz="2400" b="0" dirty="0">
              <a:solidFill>
                <a:schemeClr val="tx1"/>
              </a:solidFill>
            </a:endParaRPr>
          </a:p>
        </p:txBody>
      </p:sp>
      <p:sp>
        <p:nvSpPr>
          <p:cNvPr id="5" name="Subtitle 4"/>
          <p:cNvSpPr>
            <a:spLocks noGrp="1"/>
          </p:cNvSpPr>
          <p:nvPr>
            <p:ph type="subTitle" idx="1"/>
          </p:nvPr>
        </p:nvSpPr>
        <p:spPr>
          <a:xfrm>
            <a:off x="970059" y="1836880"/>
            <a:ext cx="7579581" cy="5302955"/>
          </a:xfrm>
        </p:spPr>
        <p:txBody>
          <a:bodyPr/>
          <a:lstStyle/>
          <a:p>
            <a:pPr marL="794985" lvl="1" indent="-285750" algn="l">
              <a:buFont typeface="Arial" panose="020B0604020202020204" pitchFamily="34" charset="0"/>
              <a:buChar char="•"/>
            </a:pPr>
            <a:r>
              <a:rPr lang="en-US" sz="1400" b="1" dirty="0"/>
              <a:t>LLPA </a:t>
            </a:r>
            <a:r>
              <a:rPr lang="en-US" sz="1400" b="1" dirty="0" smtClean="0"/>
              <a:t>Base</a:t>
            </a:r>
          </a:p>
          <a:p>
            <a:pPr marL="1304222" lvl="2" indent="-285750" algn="l">
              <a:buFont typeface="Arial" panose="020B0604020202020204" pitchFamily="34" charset="0"/>
              <a:buChar char="•"/>
            </a:pPr>
            <a:r>
              <a:rPr lang="en-US" sz="1400" dirty="0" smtClean="0"/>
              <a:t>Time-dependent adjustment based on FICO and LTV</a:t>
            </a:r>
          </a:p>
          <a:p>
            <a:pPr marL="794985" lvl="1" indent="-285750" algn="l">
              <a:buFont typeface="Arial" panose="020B0604020202020204" pitchFamily="34" charset="0"/>
              <a:buChar char="•"/>
            </a:pPr>
            <a:r>
              <a:rPr lang="en-US" sz="1400" b="1" dirty="0" smtClean="0"/>
              <a:t>LLPA ADMC</a:t>
            </a:r>
          </a:p>
          <a:p>
            <a:pPr marL="1304222" lvl="2" indent="-285750" algn="l">
              <a:buFont typeface="Arial" panose="020B0604020202020204" pitchFamily="34" charset="0"/>
              <a:buChar char="•"/>
            </a:pPr>
            <a:r>
              <a:rPr lang="en-US" sz="1400" dirty="0" smtClean="0"/>
              <a:t>25 BP from {2008-01 to 2014-04} and {2015-01 to 2015-09}</a:t>
            </a:r>
          </a:p>
          <a:p>
            <a:pPr marL="1304222" lvl="2" indent="-285750" algn="l">
              <a:buFont typeface="Arial" panose="020B0604020202020204" pitchFamily="34" charset="0"/>
              <a:buChar char="•"/>
            </a:pPr>
            <a:r>
              <a:rPr lang="en-US" sz="1400" dirty="0" smtClean="0"/>
              <a:t>0 BP other periods</a:t>
            </a:r>
          </a:p>
          <a:p>
            <a:pPr marL="794985" lvl="1" indent="-285750" algn="l">
              <a:buFont typeface="Arial" panose="020B0604020202020204" pitchFamily="34" charset="0"/>
              <a:buChar char="•"/>
            </a:pPr>
            <a:r>
              <a:rPr lang="en-US" sz="1400" b="1" dirty="0" smtClean="0"/>
              <a:t>LLPA Occupancy</a:t>
            </a:r>
          </a:p>
          <a:p>
            <a:pPr marL="1304222" lvl="2" indent="-285750" algn="l">
              <a:buFont typeface="Arial" panose="020B0604020202020204" pitchFamily="34" charset="0"/>
              <a:buChar char="•"/>
            </a:pPr>
            <a:r>
              <a:rPr lang="en-US" sz="1400" dirty="0" smtClean="0"/>
              <a:t>Time-dependent </a:t>
            </a:r>
            <a:r>
              <a:rPr lang="en-US" sz="1400" dirty="0"/>
              <a:t>adjustment based on </a:t>
            </a:r>
            <a:r>
              <a:rPr lang="en-US" sz="1400" dirty="0" smtClean="0"/>
              <a:t>Occupancy and LTV</a:t>
            </a:r>
          </a:p>
          <a:p>
            <a:pPr marL="794985" lvl="1" indent="-285750" algn="l">
              <a:buFont typeface="Arial" panose="020B0604020202020204" pitchFamily="34" charset="0"/>
              <a:buChar char="•"/>
            </a:pPr>
            <a:r>
              <a:rPr lang="en-US" sz="1400" b="1" dirty="0" smtClean="0"/>
              <a:t>LLPA LTV</a:t>
            </a:r>
          </a:p>
          <a:p>
            <a:pPr marL="1304222" lvl="2" indent="-285750" algn="l">
              <a:buFont typeface="Arial" panose="020B0604020202020204" pitchFamily="34" charset="0"/>
              <a:buChar char="•"/>
            </a:pPr>
            <a:r>
              <a:rPr lang="en-US" sz="1400" dirty="0" smtClean="0"/>
              <a:t>Time-dependent </a:t>
            </a:r>
            <a:r>
              <a:rPr lang="en-US" sz="1400" dirty="0"/>
              <a:t>adjustment based on </a:t>
            </a:r>
            <a:r>
              <a:rPr lang="en-US" sz="1400" dirty="0" smtClean="0"/>
              <a:t>LTV</a:t>
            </a:r>
          </a:p>
          <a:p>
            <a:pPr marL="794985" lvl="1" indent="-285750" algn="l">
              <a:buFont typeface="Arial" panose="020B0604020202020204" pitchFamily="34" charset="0"/>
              <a:buChar char="•"/>
            </a:pPr>
            <a:r>
              <a:rPr lang="en-US" sz="1400" b="1" dirty="0"/>
              <a:t>LLPA </a:t>
            </a:r>
            <a:r>
              <a:rPr lang="en-US" sz="1400" b="1" dirty="0" smtClean="0"/>
              <a:t>Units</a:t>
            </a:r>
            <a:endParaRPr lang="en-US" sz="1400" b="1" dirty="0"/>
          </a:p>
          <a:p>
            <a:pPr marL="1304222" lvl="2" indent="-285750" algn="l">
              <a:buFont typeface="Arial" panose="020B0604020202020204" pitchFamily="34" charset="0"/>
              <a:buChar char="•"/>
            </a:pPr>
            <a:r>
              <a:rPr lang="en-US" sz="1400" dirty="0" smtClean="0"/>
              <a:t>Time-dependent </a:t>
            </a:r>
            <a:r>
              <a:rPr lang="en-US" sz="1400" dirty="0"/>
              <a:t>adjustment based on </a:t>
            </a:r>
            <a:r>
              <a:rPr lang="en-US" sz="1400" dirty="0" smtClean="0"/>
              <a:t>Number of Units and LTV</a:t>
            </a:r>
          </a:p>
          <a:p>
            <a:pPr marL="794985" lvl="1" indent="-285750" algn="l">
              <a:buFont typeface="Arial" panose="020B0604020202020204" pitchFamily="34" charset="0"/>
              <a:buChar char="•"/>
            </a:pPr>
            <a:r>
              <a:rPr lang="en-US" sz="1400" b="1" dirty="0" smtClean="0"/>
              <a:t>LLPA </a:t>
            </a:r>
            <a:r>
              <a:rPr lang="en-US" sz="1400" b="1" dirty="0"/>
              <a:t>Loan Size</a:t>
            </a:r>
            <a:endParaRPr lang="en-US" sz="1400" b="1" dirty="0" smtClean="0"/>
          </a:p>
          <a:p>
            <a:pPr marL="1304222" lvl="2" indent="-285750" algn="l">
              <a:buFont typeface="Arial" panose="020B0604020202020204" pitchFamily="34" charset="0"/>
              <a:buChar char="•"/>
            </a:pPr>
            <a:r>
              <a:rPr lang="en-US" sz="1400" dirty="0" smtClean="0"/>
              <a:t>Time-dependent </a:t>
            </a:r>
            <a:r>
              <a:rPr lang="en-US" sz="1400" dirty="0"/>
              <a:t>adjustment based on </a:t>
            </a:r>
            <a:r>
              <a:rPr lang="en-US" sz="1400" dirty="0" smtClean="0"/>
              <a:t>Loan Size and LTV</a:t>
            </a:r>
          </a:p>
          <a:p>
            <a:pPr marL="1304222" lvl="2" indent="-285750" algn="l">
              <a:buFont typeface="Arial" panose="020B0604020202020204" pitchFamily="34" charset="0"/>
              <a:buChar char="•"/>
            </a:pPr>
            <a:endParaRPr lang="en-US" sz="1400" dirty="0"/>
          </a:p>
          <a:p>
            <a:pPr marL="794985" lvl="1" indent="-285750" algn="l">
              <a:buFont typeface="Arial" panose="020B0604020202020204" pitchFamily="34" charset="0"/>
              <a:buChar char="•"/>
            </a:pPr>
            <a:r>
              <a:rPr lang="en-US" sz="1400" b="1" dirty="0" smtClean="0"/>
              <a:t>Adjustment:</a:t>
            </a:r>
            <a:r>
              <a:rPr lang="en-US" sz="1400" dirty="0" smtClean="0"/>
              <a:t> when any collateral characteristics are missing or outside the range of these tables, we use the maximum table value.</a:t>
            </a:r>
          </a:p>
          <a:p>
            <a:pPr marL="1304222" lvl="2" indent="-285750" algn="l">
              <a:buFont typeface="Arial" panose="020B0604020202020204" pitchFamily="34" charset="0"/>
              <a:buChar char="•"/>
            </a:pPr>
            <a:r>
              <a:rPr lang="en-US" sz="1400" dirty="0" smtClean="0"/>
              <a:t>Ex) LTV &gt; 97%, we use the maximum LLPA adjustment for each table</a:t>
            </a:r>
          </a:p>
          <a:p>
            <a:pPr marL="794985" lvl="1" indent="-285750" algn="l">
              <a:buFont typeface="Arial" panose="020B0604020202020204" pitchFamily="34" charset="0"/>
              <a:buChar char="•"/>
            </a:pPr>
            <a:r>
              <a:rPr lang="en-US" sz="1400" b="1" dirty="0"/>
              <a:t>Adjustment:</a:t>
            </a:r>
            <a:r>
              <a:rPr lang="en-US" sz="1400" dirty="0"/>
              <a:t> </a:t>
            </a:r>
            <a:r>
              <a:rPr lang="en-US" sz="1400" dirty="0" smtClean="0"/>
              <a:t>we cap the LLPA adjustment at 75 BPs for origination date &lt;= 2009-06-01</a:t>
            </a:r>
          </a:p>
          <a:p>
            <a:pPr marL="1304222" lvl="2" indent="-285750" algn="l">
              <a:buFont typeface="Arial" panose="020B0604020202020204" pitchFamily="34" charset="0"/>
              <a:buChar char="•"/>
            </a:pPr>
            <a:r>
              <a:rPr lang="en-US" sz="1400" dirty="0" smtClean="0"/>
              <a:t>This is for the HARP program</a:t>
            </a:r>
            <a:endParaRPr lang="en-US" sz="1400" dirty="0"/>
          </a:p>
          <a:p>
            <a:pPr marL="794985" lvl="1" indent="-285750" algn="l">
              <a:buFont typeface="Arial" panose="020B0604020202020204" pitchFamily="34" charset="0"/>
              <a:buChar char="•"/>
            </a:pPr>
            <a:endParaRPr lang="en-US" sz="1400" dirty="0"/>
          </a:p>
          <a:p>
            <a:pPr marL="794985" lvl="1" indent="-285750" algn="l">
              <a:buFont typeface="Arial" panose="020B0604020202020204" pitchFamily="34" charset="0"/>
              <a:buChar char="•"/>
            </a:pPr>
            <a:endParaRPr lang="en-US" sz="1400" b="1" dirty="0" smtClean="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823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PMI Adjustment</a:t>
            </a:r>
            <a:endParaRPr lang="en-US" sz="2400" b="0" dirty="0">
              <a:solidFill>
                <a:schemeClr val="tx1"/>
              </a:solidFill>
            </a:endParaRPr>
          </a:p>
        </p:txBody>
      </p:sp>
      <p:sp>
        <p:nvSpPr>
          <p:cNvPr id="5" name="Subtitle 4"/>
          <p:cNvSpPr>
            <a:spLocks noGrp="1"/>
          </p:cNvSpPr>
          <p:nvPr>
            <p:ph type="subTitle" idx="1"/>
          </p:nvPr>
        </p:nvSpPr>
        <p:spPr>
          <a:xfrm>
            <a:off x="970059" y="1836881"/>
            <a:ext cx="7579581" cy="4927174"/>
          </a:xfrm>
        </p:spPr>
        <p:txBody>
          <a:bodyPr/>
          <a:lstStyle/>
          <a:p>
            <a:pPr marL="794985" lvl="1" indent="-285750" algn="l">
              <a:buFont typeface="Arial" panose="020B0604020202020204" pitchFamily="34" charset="0"/>
              <a:buChar char="•"/>
            </a:pPr>
            <a:r>
              <a:rPr lang="en-US" sz="1400" b="1" dirty="0" smtClean="0"/>
              <a:t>PMI Base</a:t>
            </a:r>
          </a:p>
          <a:p>
            <a:pPr marL="1304222" lvl="2" indent="-285750" algn="l">
              <a:buFont typeface="Arial" panose="020B0604020202020204" pitchFamily="34" charset="0"/>
              <a:buChar char="•"/>
            </a:pPr>
            <a:r>
              <a:rPr lang="en-US" sz="1400" dirty="0" smtClean="0"/>
              <a:t>Time-dependent adjustment based on FICO and LTV</a:t>
            </a:r>
          </a:p>
          <a:p>
            <a:pPr marL="1304222" lvl="2" indent="-285750" algn="l">
              <a:buFont typeface="Arial" panose="020B0604020202020204" pitchFamily="34" charset="0"/>
              <a:buChar char="•"/>
            </a:pPr>
            <a:r>
              <a:rPr lang="en-US" sz="1400" dirty="0"/>
              <a:t>Uses </a:t>
            </a:r>
            <a:r>
              <a:rPr lang="en-US" sz="1400" dirty="0" err="1"/>
              <a:t>LoanPurpose</a:t>
            </a:r>
            <a:r>
              <a:rPr lang="en-US" sz="1400" dirty="0"/>
              <a:t> = ‘REFI’ (for pools). For loans, we should use the actual Loan Purpose code at origination. **Going forward we could try and use the </a:t>
            </a:r>
            <a:r>
              <a:rPr lang="en-US" sz="1400" dirty="0" err="1"/>
              <a:t>LoanPurpose</a:t>
            </a:r>
            <a:r>
              <a:rPr lang="en-US" sz="1400" dirty="0"/>
              <a:t> distribution for pool </a:t>
            </a:r>
            <a:r>
              <a:rPr lang="en-US" sz="1400" dirty="0" smtClean="0"/>
              <a:t>calculation</a:t>
            </a:r>
          </a:p>
          <a:p>
            <a:pPr marL="794985" lvl="1" indent="-285750" algn="l">
              <a:buFont typeface="Arial" panose="020B0604020202020204" pitchFamily="34" charset="0"/>
              <a:buChar char="•"/>
            </a:pPr>
            <a:r>
              <a:rPr lang="en-US" sz="1400" b="1" dirty="0" smtClean="0"/>
              <a:t>PMI Loan Size</a:t>
            </a:r>
          </a:p>
          <a:p>
            <a:pPr marL="1304222" lvl="2" indent="-285750" algn="l">
              <a:buFont typeface="Arial" panose="020B0604020202020204" pitchFamily="34" charset="0"/>
              <a:buChar char="•"/>
            </a:pPr>
            <a:r>
              <a:rPr lang="en-US" sz="1400" dirty="0" smtClean="0"/>
              <a:t>Time-dependent </a:t>
            </a:r>
            <a:r>
              <a:rPr lang="en-US" sz="1400" dirty="0"/>
              <a:t>adjustment based </a:t>
            </a:r>
            <a:r>
              <a:rPr lang="en-US" sz="1400" dirty="0" smtClean="0"/>
              <a:t>on Loan Size, FICO </a:t>
            </a:r>
            <a:r>
              <a:rPr lang="en-US" sz="1400" dirty="0"/>
              <a:t>and </a:t>
            </a:r>
            <a:r>
              <a:rPr lang="en-US" sz="1400" dirty="0" smtClean="0"/>
              <a:t>LTV</a:t>
            </a:r>
          </a:p>
          <a:p>
            <a:pPr marL="794985" lvl="1" indent="-285750" algn="l">
              <a:buFont typeface="Arial" panose="020B0604020202020204" pitchFamily="34" charset="0"/>
              <a:buChar char="•"/>
            </a:pPr>
            <a:r>
              <a:rPr lang="en-US" sz="1400" b="1" dirty="0"/>
              <a:t>PMI </a:t>
            </a:r>
            <a:r>
              <a:rPr lang="en-US" sz="1400" b="1" dirty="0" smtClean="0"/>
              <a:t>Occupancy</a:t>
            </a:r>
            <a:endParaRPr lang="en-US" sz="1400" b="1" dirty="0"/>
          </a:p>
          <a:p>
            <a:pPr marL="1304222" lvl="2" indent="-285750" algn="l">
              <a:buFont typeface="Arial" panose="020B0604020202020204" pitchFamily="34" charset="0"/>
              <a:buChar char="•"/>
            </a:pPr>
            <a:r>
              <a:rPr lang="en-US" sz="1400" dirty="0" smtClean="0"/>
              <a:t>Time-dependent </a:t>
            </a:r>
            <a:r>
              <a:rPr lang="en-US" sz="1400" dirty="0"/>
              <a:t>adjustment based on </a:t>
            </a:r>
            <a:r>
              <a:rPr lang="en-US" sz="1400" dirty="0" smtClean="0"/>
              <a:t>Occupancy, FICO </a:t>
            </a:r>
            <a:r>
              <a:rPr lang="en-US" sz="1400" dirty="0"/>
              <a:t>and LTV</a:t>
            </a:r>
          </a:p>
          <a:p>
            <a:pPr lvl="2" algn="l"/>
            <a:r>
              <a:rPr lang="en-US" sz="1400" dirty="0" smtClean="0">
                <a:solidFill>
                  <a:srgbClr val="FF0000"/>
                </a:solidFill>
              </a:rPr>
              <a:t>PMI Coverage – we map different LTV ranges to different coverage levels. We assume that all loans within an LTV range have the same coverage – this doesn’t quite turn out to be true. </a:t>
            </a:r>
            <a:endParaRPr lang="en-US" sz="1400" dirty="0">
              <a:solidFill>
                <a:srgbClr val="FF0000"/>
              </a:solidFill>
            </a:endParaRPr>
          </a:p>
          <a:p>
            <a:pPr marL="794985" lvl="1" indent="-285750" algn="l">
              <a:buFont typeface="Arial" panose="020B0604020202020204" pitchFamily="34" charset="0"/>
              <a:buChar char="•"/>
            </a:pPr>
            <a:r>
              <a:rPr lang="en-US" sz="1400" b="1" dirty="0" smtClean="0"/>
              <a:t>Adjustment:</a:t>
            </a:r>
            <a:r>
              <a:rPr lang="en-US" sz="1400" dirty="0" smtClean="0"/>
              <a:t> When any collateral characteristics are missing or outside the range of these tables, we use the maximum table value.</a:t>
            </a:r>
          </a:p>
          <a:p>
            <a:pPr marL="1304222" lvl="2" indent="-285750" algn="l">
              <a:buFont typeface="Arial" panose="020B0604020202020204" pitchFamily="34" charset="0"/>
              <a:buChar char="•"/>
            </a:pPr>
            <a:r>
              <a:rPr lang="en-US" sz="1400" dirty="0" smtClean="0"/>
              <a:t>Ex) LTV &gt; 97%, we use the maximum PMI adjustment for each table</a:t>
            </a:r>
          </a:p>
          <a:p>
            <a:pPr marL="794985" lvl="1" indent="-285750" algn="l">
              <a:buFont typeface="Arial" panose="020B0604020202020204" pitchFamily="34" charset="0"/>
              <a:buChar char="•"/>
            </a:pPr>
            <a:r>
              <a:rPr lang="en-US" sz="1400" b="1" dirty="0"/>
              <a:t>Adjustment:</a:t>
            </a:r>
            <a:r>
              <a:rPr lang="en-US" sz="1400" dirty="0"/>
              <a:t> </a:t>
            </a:r>
            <a:r>
              <a:rPr lang="en-US" sz="1400" dirty="0" smtClean="0"/>
              <a:t>We set the PMI adjustment to 0.0 for origination </a:t>
            </a:r>
            <a:r>
              <a:rPr lang="en-US" sz="1400" dirty="0"/>
              <a:t>date &lt;= 2009-06-01</a:t>
            </a:r>
          </a:p>
          <a:p>
            <a:pPr marL="1304222" lvl="2" indent="-285750" algn="l">
              <a:buFont typeface="Arial" panose="020B0604020202020204" pitchFamily="34" charset="0"/>
              <a:buChar char="•"/>
            </a:pPr>
            <a:r>
              <a:rPr lang="en-US" sz="1400" dirty="0"/>
              <a:t>This is for the HARP </a:t>
            </a:r>
            <a:r>
              <a:rPr lang="en-US" sz="1400" dirty="0" smtClean="0"/>
              <a:t>program</a:t>
            </a:r>
            <a:endParaRPr lang="en-US" sz="1400" dirty="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55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Summary</a:t>
            </a:r>
            <a:endParaRPr lang="en-US" sz="2400" b="0" dirty="0">
              <a:solidFill>
                <a:schemeClr val="tx1"/>
              </a:solidFill>
            </a:endParaRPr>
          </a:p>
        </p:txBody>
      </p:sp>
      <p:sp>
        <p:nvSpPr>
          <p:cNvPr id="5" name="Subtitle 4"/>
          <p:cNvSpPr>
            <a:spLocks noGrp="1"/>
          </p:cNvSpPr>
          <p:nvPr>
            <p:ph type="subTitle" idx="1"/>
          </p:nvPr>
        </p:nvSpPr>
        <p:spPr>
          <a:xfrm>
            <a:off x="970059" y="1836881"/>
            <a:ext cx="7579581" cy="4927174"/>
          </a:xfrm>
        </p:spPr>
        <p:txBody>
          <a:bodyPr/>
          <a:lstStyle/>
          <a:p>
            <a:pPr marL="794985" lvl="1" indent="-285750" algn="l">
              <a:buFont typeface="Arial" panose="020B0604020202020204" pitchFamily="34" charset="0"/>
              <a:buChar char="•"/>
            </a:pPr>
            <a:r>
              <a:rPr lang="en-US" sz="1400" dirty="0" smtClean="0"/>
              <a:t>The refinance incentive is calculated for pools and for loans.</a:t>
            </a:r>
          </a:p>
          <a:p>
            <a:pPr marL="794985" lvl="1" indent="-285750" algn="l">
              <a:buFont typeface="Arial" panose="020B0604020202020204" pitchFamily="34" charset="0"/>
              <a:buChar char="•"/>
            </a:pPr>
            <a:r>
              <a:rPr lang="en-US" sz="1400" dirty="0" smtClean="0"/>
              <a:t>We use the collateral characteristics of the pool/loan to adjust for LLPA and PMI</a:t>
            </a:r>
          </a:p>
          <a:p>
            <a:pPr marL="794985" lvl="1" indent="-285750" algn="l">
              <a:buFont typeface="Arial" panose="020B0604020202020204" pitchFamily="34" charset="0"/>
              <a:buChar char="•"/>
            </a:pPr>
            <a:r>
              <a:rPr lang="en-US" sz="1400" dirty="0" smtClean="0"/>
              <a:t>We cap the LLPA at 75BP and PMI at 0BP for origination date &lt; 2009-06-01 (HARP eligible pools/loans)</a:t>
            </a:r>
          </a:p>
          <a:p>
            <a:pPr marL="794985" lvl="1" indent="-285750" algn="l">
              <a:buFont typeface="Arial" panose="020B0604020202020204" pitchFamily="34" charset="0"/>
              <a:buChar char="•"/>
            </a:pPr>
            <a:r>
              <a:rPr lang="en-US" sz="1400" dirty="0" smtClean="0"/>
              <a:t>We use the 1 Point Adjusted Freddie Primary Market Survey Rate with a lag of 2 months</a:t>
            </a:r>
          </a:p>
          <a:p>
            <a:pPr marL="794985" lvl="1" indent="-285750" algn="l">
              <a:buFont typeface="Arial" panose="020B0604020202020204" pitchFamily="34" charset="0"/>
              <a:buChar char="•"/>
            </a:pPr>
            <a:r>
              <a:rPr lang="en-US" sz="1400" dirty="0" smtClean="0"/>
              <a:t>Jumbo pools/loans add a spread to the 1 Pt PMMS rate, which is based on the WAC difference of Conventional and Jumbo pools</a:t>
            </a:r>
          </a:p>
          <a:p>
            <a:pPr marL="794985" lvl="1" indent="-285750" algn="l">
              <a:buFont typeface="Arial" panose="020B0604020202020204" pitchFamily="34" charset="0"/>
              <a:buChar char="•"/>
            </a:pPr>
            <a:r>
              <a:rPr lang="en-US" sz="1400" dirty="0" smtClean="0"/>
              <a:t>We take the maximum table value for each LLPA or PMI adjustment when a collateral characteristic is outside the bounds of the table range</a:t>
            </a:r>
          </a:p>
          <a:p>
            <a:pPr marL="794985" lvl="1" indent="-285750" algn="l">
              <a:buFont typeface="Arial" panose="020B0604020202020204" pitchFamily="34" charset="0"/>
              <a:buChar char="•"/>
            </a:pPr>
            <a:endParaRPr lang="en-US" sz="1400" b="1" dirty="0" smtClean="0"/>
          </a:p>
          <a:p>
            <a:pPr marL="794985" lvl="1" indent="-285750" algn="l">
              <a:buFont typeface="Arial" panose="020B0604020202020204" pitchFamily="34" charset="0"/>
              <a:buChar char="•"/>
            </a:pPr>
            <a:endParaRPr lang="en-US" sz="1400" dirty="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7425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Going Forward</a:t>
            </a:r>
            <a:endParaRPr lang="en-US" sz="2400" b="0" dirty="0">
              <a:solidFill>
                <a:schemeClr val="tx1"/>
              </a:solidFill>
            </a:endParaRPr>
          </a:p>
        </p:txBody>
      </p:sp>
      <p:sp>
        <p:nvSpPr>
          <p:cNvPr id="5" name="Subtitle 4"/>
          <p:cNvSpPr>
            <a:spLocks noGrp="1"/>
          </p:cNvSpPr>
          <p:nvPr>
            <p:ph type="subTitle" idx="1"/>
          </p:nvPr>
        </p:nvSpPr>
        <p:spPr>
          <a:xfrm>
            <a:off x="970059" y="1836881"/>
            <a:ext cx="7579581" cy="4927174"/>
          </a:xfrm>
        </p:spPr>
        <p:txBody>
          <a:bodyPr/>
          <a:lstStyle/>
          <a:p>
            <a:pPr marL="794985" lvl="1" indent="-285750" algn="l">
              <a:buFont typeface="Arial" panose="020B0604020202020204" pitchFamily="34" charset="0"/>
              <a:buChar char="•"/>
            </a:pPr>
            <a:endParaRPr lang="en-US" sz="1400" dirty="0" smtClean="0"/>
          </a:p>
          <a:p>
            <a:pPr marL="794985" lvl="1" indent="-285750" algn="l">
              <a:buFont typeface="Arial" panose="020B0604020202020204" pitchFamily="34" charset="0"/>
              <a:buChar char="•"/>
            </a:pPr>
            <a:r>
              <a:rPr lang="en-US" sz="1400" dirty="0" smtClean="0"/>
              <a:t>Check to see if using the maximum value for LLPA and PMI is the best solution for loans/pools which are outside the CLTV range</a:t>
            </a:r>
          </a:p>
          <a:p>
            <a:pPr marL="1304222" lvl="2" indent="-285750" algn="l">
              <a:buFont typeface="Arial" panose="020B0604020202020204" pitchFamily="34" charset="0"/>
              <a:buChar char="•"/>
            </a:pPr>
            <a:r>
              <a:rPr lang="en-US" sz="1400" dirty="0" smtClean="0"/>
              <a:t>Lien is in progress of understanding these tail situations for the CQ/CR model. </a:t>
            </a:r>
          </a:p>
          <a:p>
            <a:pPr marL="1304222" lvl="2" indent="-285750" algn="l">
              <a:buFont typeface="Arial" panose="020B0604020202020204" pitchFamily="34" charset="0"/>
              <a:buChar char="•"/>
            </a:pPr>
            <a:r>
              <a:rPr lang="en-US" sz="1400" dirty="0" smtClean="0"/>
              <a:t>Lien will also see if his findings can apply to the refinance incentive calculation for conventional/jumbo loans/pools</a:t>
            </a:r>
          </a:p>
          <a:p>
            <a:pPr marL="794985" lvl="1" indent="-285750" algn="l">
              <a:buFont typeface="Arial" panose="020B0604020202020204" pitchFamily="34" charset="0"/>
              <a:buChar char="•"/>
            </a:pPr>
            <a:r>
              <a:rPr lang="en-US" sz="1400" dirty="0" smtClean="0"/>
              <a:t>Investigate calculating the LLPA and PMI adjusted Refinance </a:t>
            </a:r>
            <a:r>
              <a:rPr lang="en-US" sz="1400" dirty="0"/>
              <a:t>I</a:t>
            </a:r>
            <a:r>
              <a:rPr lang="en-US" sz="1400" dirty="0" smtClean="0"/>
              <a:t>ncentive at the loan level and rolling up for pools. Rather than calculating the LLPA and PMI adjusted Refinance Incentive based on pool level collateral</a:t>
            </a:r>
          </a:p>
          <a:p>
            <a:pPr marL="794985" lvl="1" indent="-285750" algn="l">
              <a:buFont typeface="Arial" panose="020B0604020202020204" pitchFamily="34" charset="0"/>
              <a:buChar char="•"/>
            </a:pPr>
            <a:r>
              <a:rPr lang="en-US" sz="1400" dirty="0"/>
              <a:t>Add the LLPA Adjustment and the PMI Adjustment to the </a:t>
            </a:r>
            <a:r>
              <a:rPr lang="en-US" sz="1400" dirty="0" err="1"/>
              <a:t>secSupp</a:t>
            </a:r>
            <a:r>
              <a:rPr lang="en-US" sz="1400" dirty="0"/>
              <a:t> and </a:t>
            </a:r>
            <a:r>
              <a:rPr lang="en-US" sz="1400" dirty="0" err="1"/>
              <a:t>Cello_LoanHist</a:t>
            </a:r>
            <a:r>
              <a:rPr lang="en-US" sz="1400" dirty="0"/>
              <a:t> tables</a:t>
            </a:r>
          </a:p>
          <a:p>
            <a:pPr marL="1304222" lvl="2" indent="-285750" algn="l">
              <a:buFont typeface="Arial" panose="020B0604020202020204" pitchFamily="34" charset="0"/>
              <a:buChar char="•"/>
            </a:pPr>
            <a:r>
              <a:rPr lang="en-US" sz="1400" dirty="0"/>
              <a:t>Additionally create a small file which maps the </a:t>
            </a:r>
            <a:r>
              <a:rPr lang="en-US" sz="1400" dirty="0" err="1"/>
              <a:t>MtgRate</a:t>
            </a:r>
            <a:r>
              <a:rPr lang="en-US" sz="1400" dirty="0"/>
              <a:t> and Lag used for each Ticker</a:t>
            </a:r>
          </a:p>
          <a:p>
            <a:pPr lvl="1" algn="l"/>
            <a:endParaRPr lang="en-US" sz="1400" dirty="0" smtClean="0"/>
          </a:p>
          <a:p>
            <a:pPr marL="285750" indent="-285750" algn="l">
              <a:buFont typeface="Arial" panose="020B0604020202020204" pitchFamily="34" charset="0"/>
              <a:buChar char="•"/>
            </a:pPr>
            <a:endParaRPr lang="en-US" sz="1400" dirty="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24677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101775</TotalTime>
  <Words>759</Words>
  <Application>Microsoft Office PowerPoint</Application>
  <PresentationFormat>Custom</PresentationFormat>
  <Paragraphs>82</Paragraphs>
  <Slides>8</Slides>
  <Notes>1</Notes>
  <HiddenSlides>0</HiddenSlides>
  <MMClips>0</MMClips>
  <ScaleCrop>false</ScaleCrop>
  <HeadingPairs>
    <vt:vector size="4" baseType="variant">
      <vt:variant>
        <vt:lpstr>Theme</vt:lpstr>
      </vt:variant>
      <vt:variant>
        <vt:i4>15</vt:i4>
      </vt:variant>
      <vt:variant>
        <vt:lpstr>Slide Titles</vt:lpstr>
      </vt:variant>
      <vt:variant>
        <vt:i4>8</vt:i4>
      </vt:variant>
    </vt:vector>
  </HeadingPairs>
  <TitlesOfParts>
    <vt:vector size="23"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Incentive Overview</vt:lpstr>
      <vt:lpstr>WAC</vt:lpstr>
      <vt:lpstr>Mortgage Rates</vt:lpstr>
      <vt:lpstr>LLPA Adjustment</vt:lpstr>
      <vt:lpstr>PMI Adjustment</vt:lpstr>
      <vt:lpstr>Summary</vt:lpstr>
      <vt:lpstr>Going Forward</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1983</cp:revision>
  <cp:lastPrinted>2015-07-21T20:38:21Z</cp:lastPrinted>
  <dcterms:created xsi:type="dcterms:W3CDTF">2011-07-07T12:37:32Z</dcterms:created>
  <dcterms:modified xsi:type="dcterms:W3CDTF">2016-03-14T19:01:07Z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