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4"/>
  </p:notesMasterIdLst>
  <p:handoutMasterIdLst>
    <p:handoutMasterId r:id="rId25"/>
  </p:handoutMasterIdLst>
  <p:sldIdLst>
    <p:sldId id="433" r:id="rId16"/>
    <p:sldId id="606" r:id="rId17"/>
    <p:sldId id="605" r:id="rId18"/>
    <p:sldId id="604" r:id="rId19"/>
    <p:sldId id="627" r:id="rId20"/>
    <p:sldId id="625" r:id="rId21"/>
    <p:sldId id="626" r:id="rId22"/>
    <p:sldId id="620" r:id="rId2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25" d="100"/>
          <a:sy n="125" d="100"/>
        </p:scale>
        <p:origin x="-792" y="-438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Lien%20Workspace\01.Work%20Progress%20Documents\Ginnie_Default%20Model%20Analysis_201608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Tracking!$C$1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Tracking!$B$2:$B$130</c:f>
              <c:numCache>
                <c:formatCode>m/d/yyyy</c:formatCode>
                <c:ptCount val="128"/>
                <c:pt idx="0">
                  <c:v>38657</c:v>
                </c:pt>
                <c:pt idx="1">
                  <c:v>38687</c:v>
                </c:pt>
                <c:pt idx="2">
                  <c:v>38718</c:v>
                </c:pt>
                <c:pt idx="3">
                  <c:v>38749</c:v>
                </c:pt>
                <c:pt idx="4">
                  <c:v>38777</c:v>
                </c:pt>
                <c:pt idx="5">
                  <c:v>38808</c:v>
                </c:pt>
                <c:pt idx="6">
                  <c:v>38838</c:v>
                </c:pt>
                <c:pt idx="7">
                  <c:v>38869</c:v>
                </c:pt>
                <c:pt idx="8">
                  <c:v>38899</c:v>
                </c:pt>
                <c:pt idx="9">
                  <c:v>38930</c:v>
                </c:pt>
                <c:pt idx="10">
                  <c:v>38961</c:v>
                </c:pt>
                <c:pt idx="11">
                  <c:v>38991</c:v>
                </c:pt>
                <c:pt idx="12">
                  <c:v>39022</c:v>
                </c:pt>
                <c:pt idx="13">
                  <c:v>39052</c:v>
                </c:pt>
                <c:pt idx="14">
                  <c:v>39083</c:v>
                </c:pt>
                <c:pt idx="15">
                  <c:v>39114</c:v>
                </c:pt>
                <c:pt idx="16">
                  <c:v>39142</c:v>
                </c:pt>
                <c:pt idx="17">
                  <c:v>39173</c:v>
                </c:pt>
                <c:pt idx="18">
                  <c:v>39203</c:v>
                </c:pt>
                <c:pt idx="19">
                  <c:v>39234</c:v>
                </c:pt>
                <c:pt idx="20">
                  <c:v>39264</c:v>
                </c:pt>
                <c:pt idx="21">
                  <c:v>39295</c:v>
                </c:pt>
                <c:pt idx="22">
                  <c:v>39326</c:v>
                </c:pt>
                <c:pt idx="23">
                  <c:v>39356</c:v>
                </c:pt>
                <c:pt idx="24">
                  <c:v>39387</c:v>
                </c:pt>
                <c:pt idx="25">
                  <c:v>39417</c:v>
                </c:pt>
                <c:pt idx="26">
                  <c:v>39448</c:v>
                </c:pt>
                <c:pt idx="27">
                  <c:v>39479</c:v>
                </c:pt>
                <c:pt idx="28">
                  <c:v>39508</c:v>
                </c:pt>
                <c:pt idx="29">
                  <c:v>39539</c:v>
                </c:pt>
                <c:pt idx="30">
                  <c:v>39569</c:v>
                </c:pt>
                <c:pt idx="31">
                  <c:v>39600</c:v>
                </c:pt>
                <c:pt idx="32">
                  <c:v>39630</c:v>
                </c:pt>
                <c:pt idx="33">
                  <c:v>39661</c:v>
                </c:pt>
                <c:pt idx="34">
                  <c:v>39692</c:v>
                </c:pt>
                <c:pt idx="35">
                  <c:v>39722</c:v>
                </c:pt>
                <c:pt idx="36">
                  <c:v>39753</c:v>
                </c:pt>
                <c:pt idx="37">
                  <c:v>39783</c:v>
                </c:pt>
                <c:pt idx="38">
                  <c:v>39814</c:v>
                </c:pt>
                <c:pt idx="39">
                  <c:v>39845</c:v>
                </c:pt>
                <c:pt idx="40">
                  <c:v>39873</c:v>
                </c:pt>
                <c:pt idx="41">
                  <c:v>39904</c:v>
                </c:pt>
                <c:pt idx="42">
                  <c:v>39934</c:v>
                </c:pt>
                <c:pt idx="43">
                  <c:v>39965</c:v>
                </c:pt>
                <c:pt idx="44">
                  <c:v>39995</c:v>
                </c:pt>
                <c:pt idx="45">
                  <c:v>40026</c:v>
                </c:pt>
                <c:pt idx="46">
                  <c:v>40057</c:v>
                </c:pt>
                <c:pt idx="47">
                  <c:v>40087</c:v>
                </c:pt>
                <c:pt idx="48">
                  <c:v>40118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  <c:pt idx="122">
                  <c:v>42401</c:v>
                </c:pt>
                <c:pt idx="123">
                  <c:v>42430</c:v>
                </c:pt>
                <c:pt idx="124">
                  <c:v>42461</c:v>
                </c:pt>
                <c:pt idx="125">
                  <c:v>42491</c:v>
                </c:pt>
                <c:pt idx="126">
                  <c:v>42522</c:v>
                </c:pt>
                <c:pt idx="127">
                  <c:v>42552</c:v>
                </c:pt>
              </c:numCache>
            </c:numRef>
          </c:cat>
          <c:val>
            <c:numRef>
              <c:f>Tracking!$C$2:$C$130</c:f>
              <c:numCache>
                <c:formatCode>General</c:formatCode>
                <c:ptCount val="128"/>
                <c:pt idx="0">
                  <c:v>3.4289129493455102</c:v>
                </c:pt>
                <c:pt idx="1">
                  <c:v>3.9127734015496101</c:v>
                </c:pt>
                <c:pt idx="2">
                  <c:v>3.6460789776340401</c:v>
                </c:pt>
                <c:pt idx="3">
                  <c:v>2.7818363221188598</c:v>
                </c:pt>
                <c:pt idx="4">
                  <c:v>2.4572992716566802</c:v>
                </c:pt>
                <c:pt idx="5">
                  <c:v>1.93438098082258</c:v>
                </c:pt>
                <c:pt idx="6">
                  <c:v>1.69214342272509</c:v>
                </c:pt>
                <c:pt idx="7">
                  <c:v>1.4238484171005401</c:v>
                </c:pt>
                <c:pt idx="8">
                  <c:v>1.6312896478784999</c:v>
                </c:pt>
                <c:pt idx="9">
                  <c:v>2.2058162952099898</c:v>
                </c:pt>
                <c:pt idx="10">
                  <c:v>2.1623327387673998</c:v>
                </c:pt>
                <c:pt idx="11">
                  <c:v>2.1165266008310599</c:v>
                </c:pt>
                <c:pt idx="12">
                  <c:v>3.2817168696298502</c:v>
                </c:pt>
                <c:pt idx="13">
                  <c:v>2.8072341754826402</c:v>
                </c:pt>
                <c:pt idx="14">
                  <c:v>2.4886386834535101</c:v>
                </c:pt>
                <c:pt idx="15">
                  <c:v>3.2553207686941001</c:v>
                </c:pt>
                <c:pt idx="16">
                  <c:v>2.4059077301925398</c:v>
                </c:pt>
                <c:pt idx="17">
                  <c:v>2.41029217207989</c:v>
                </c:pt>
                <c:pt idx="18">
                  <c:v>2.0738773871732499</c:v>
                </c:pt>
                <c:pt idx="19">
                  <c:v>2.57593614531344</c:v>
                </c:pt>
                <c:pt idx="20">
                  <c:v>2.6601566502018201</c:v>
                </c:pt>
                <c:pt idx="21">
                  <c:v>2.9397921953245998</c:v>
                </c:pt>
                <c:pt idx="22">
                  <c:v>4.4208838944186697</c:v>
                </c:pt>
                <c:pt idx="23">
                  <c:v>3.4502132572956299</c:v>
                </c:pt>
                <c:pt idx="24">
                  <c:v>3.6024280708447498</c:v>
                </c:pt>
                <c:pt idx="25">
                  <c:v>3.3081831987529</c:v>
                </c:pt>
                <c:pt idx="26">
                  <c:v>4.2298510762162298</c:v>
                </c:pt>
                <c:pt idx="27">
                  <c:v>3.4797117250876499</c:v>
                </c:pt>
                <c:pt idx="28">
                  <c:v>3.4644562710321098</c:v>
                </c:pt>
                <c:pt idx="29">
                  <c:v>2.8626322512323901</c:v>
                </c:pt>
                <c:pt idx="30">
                  <c:v>2.8458525680884001</c:v>
                </c:pt>
                <c:pt idx="31">
                  <c:v>2.01054305911887</c:v>
                </c:pt>
                <c:pt idx="32">
                  <c:v>2.0900282835013</c:v>
                </c:pt>
                <c:pt idx="33">
                  <c:v>1.9833633347275299</c:v>
                </c:pt>
                <c:pt idx="34">
                  <c:v>2.9391871986438098</c:v>
                </c:pt>
                <c:pt idx="35">
                  <c:v>2.56537877294127</c:v>
                </c:pt>
                <c:pt idx="36">
                  <c:v>2.4298588486024602</c:v>
                </c:pt>
                <c:pt idx="37">
                  <c:v>4.9254752743563204</c:v>
                </c:pt>
                <c:pt idx="38">
                  <c:v>4.5627035189456304</c:v>
                </c:pt>
                <c:pt idx="39">
                  <c:v>4.2022862277143904</c:v>
                </c:pt>
                <c:pt idx="40">
                  <c:v>4.7202050681660097</c:v>
                </c:pt>
                <c:pt idx="41">
                  <c:v>4.0791501739238596</c:v>
                </c:pt>
                <c:pt idx="42">
                  <c:v>6.0462564640546796</c:v>
                </c:pt>
                <c:pt idx="43">
                  <c:v>4.8156717431110403</c:v>
                </c:pt>
                <c:pt idx="44">
                  <c:v>2.4420710429181902</c:v>
                </c:pt>
                <c:pt idx="45">
                  <c:v>5.05317606918815</c:v>
                </c:pt>
                <c:pt idx="46">
                  <c:v>6.1763214054081601</c:v>
                </c:pt>
                <c:pt idx="47">
                  <c:v>5.7849426990558097</c:v>
                </c:pt>
                <c:pt idx="48">
                  <c:v>6.9076205675519304</c:v>
                </c:pt>
                <c:pt idx="49">
                  <c:v>5.9847781633846999</c:v>
                </c:pt>
                <c:pt idx="50">
                  <c:v>7.3154077484700304</c:v>
                </c:pt>
                <c:pt idx="51">
                  <c:v>6.5719590459395798</c:v>
                </c:pt>
                <c:pt idx="52">
                  <c:v>5.8013674024397401</c:v>
                </c:pt>
                <c:pt idx="53">
                  <c:v>7.2420547084279399</c:v>
                </c:pt>
                <c:pt idx="54">
                  <c:v>5.9808140566657704</c:v>
                </c:pt>
                <c:pt idx="55">
                  <c:v>4.3724988916016896</c:v>
                </c:pt>
                <c:pt idx="56">
                  <c:v>7.3741419395454502</c:v>
                </c:pt>
                <c:pt idx="57">
                  <c:v>5.2982375129620296</c:v>
                </c:pt>
                <c:pt idx="58">
                  <c:v>4.9605239170976896</c:v>
                </c:pt>
                <c:pt idx="59">
                  <c:v>5.4173977697527604</c:v>
                </c:pt>
                <c:pt idx="60">
                  <c:v>8.2772253461866701</c:v>
                </c:pt>
                <c:pt idx="61">
                  <c:v>4.0792492346849203</c:v>
                </c:pt>
                <c:pt idx="62">
                  <c:v>5.1147885372308499</c:v>
                </c:pt>
                <c:pt idx="63">
                  <c:v>3.4779192030929198</c:v>
                </c:pt>
                <c:pt idx="64">
                  <c:v>3.2595327692803902</c:v>
                </c:pt>
                <c:pt idx="65">
                  <c:v>2.5464616722631899</c:v>
                </c:pt>
                <c:pt idx="66">
                  <c:v>3.1923785969584602</c:v>
                </c:pt>
                <c:pt idx="67">
                  <c:v>2.7840753259058801</c:v>
                </c:pt>
                <c:pt idx="68">
                  <c:v>4.2902867395293498</c:v>
                </c:pt>
                <c:pt idx="69">
                  <c:v>6.0257766770427503</c:v>
                </c:pt>
                <c:pt idx="70">
                  <c:v>5.1904453412015297</c:v>
                </c:pt>
                <c:pt idx="71">
                  <c:v>4.5501382814104803</c:v>
                </c:pt>
                <c:pt idx="72">
                  <c:v>3.9643533072389001</c:v>
                </c:pt>
                <c:pt idx="73">
                  <c:v>4.0454208142870796</c:v>
                </c:pt>
                <c:pt idx="74">
                  <c:v>3.6550183541861898</c:v>
                </c:pt>
                <c:pt idx="75">
                  <c:v>3.5063704219542702</c:v>
                </c:pt>
                <c:pt idx="76">
                  <c:v>3.9454263497954201</c:v>
                </c:pt>
                <c:pt idx="77">
                  <c:v>3.3184917473696598</c:v>
                </c:pt>
                <c:pt idx="78">
                  <c:v>4.3788594768117397</c:v>
                </c:pt>
                <c:pt idx="79">
                  <c:v>3.7516007286045099</c:v>
                </c:pt>
                <c:pt idx="80">
                  <c:v>4.5742798843730803</c:v>
                </c:pt>
                <c:pt idx="81">
                  <c:v>5.0501800077206598</c:v>
                </c:pt>
                <c:pt idx="82">
                  <c:v>5.0762727175926798</c:v>
                </c:pt>
                <c:pt idx="83">
                  <c:v>5.1739161209361502</c:v>
                </c:pt>
                <c:pt idx="84">
                  <c:v>5.3802537500524803</c:v>
                </c:pt>
                <c:pt idx="85">
                  <c:v>5.5336870837328203</c:v>
                </c:pt>
                <c:pt idx="86">
                  <c:v>6.0239474943484996</c:v>
                </c:pt>
                <c:pt idx="87">
                  <c:v>3.9668977662629898</c:v>
                </c:pt>
                <c:pt idx="88">
                  <c:v>4.0671090624596298</c:v>
                </c:pt>
                <c:pt idx="89">
                  <c:v>4.50913331788718</c:v>
                </c:pt>
                <c:pt idx="90">
                  <c:v>4.6108568655687199</c:v>
                </c:pt>
                <c:pt idx="91">
                  <c:v>5.3536749961708603</c:v>
                </c:pt>
                <c:pt idx="92">
                  <c:v>4.9968321081673501</c:v>
                </c:pt>
                <c:pt idx="93">
                  <c:v>4.9162896396261297</c:v>
                </c:pt>
                <c:pt idx="94">
                  <c:v>5.0549239283879901</c:v>
                </c:pt>
                <c:pt idx="95">
                  <c:v>4.0640976058181204</c:v>
                </c:pt>
                <c:pt idx="96">
                  <c:v>4.0248765108435904</c:v>
                </c:pt>
                <c:pt idx="97">
                  <c:v>4.6353135403071004</c:v>
                </c:pt>
                <c:pt idx="98">
                  <c:v>4.4481321805711396</c:v>
                </c:pt>
                <c:pt idx="99">
                  <c:v>3.0454018843188302</c:v>
                </c:pt>
                <c:pt idx="100">
                  <c:v>5.0320245939024604</c:v>
                </c:pt>
                <c:pt idx="101">
                  <c:v>4.7359527415641596</c:v>
                </c:pt>
                <c:pt idx="102">
                  <c:v>3.88579689144475</c:v>
                </c:pt>
                <c:pt idx="103">
                  <c:v>4.33455282323514</c:v>
                </c:pt>
                <c:pt idx="104">
                  <c:v>3.8604971084732602</c:v>
                </c:pt>
                <c:pt idx="105">
                  <c:v>3.6945924606077498</c:v>
                </c:pt>
                <c:pt idx="106">
                  <c:v>3.9629759871878201</c:v>
                </c:pt>
                <c:pt idx="107">
                  <c:v>4.1619475588573502</c:v>
                </c:pt>
                <c:pt idx="108">
                  <c:v>3.67970421535522</c:v>
                </c:pt>
                <c:pt idx="109">
                  <c:v>3.8057647063404398</c:v>
                </c:pt>
                <c:pt idx="110">
                  <c:v>3.2453349621788901</c:v>
                </c:pt>
                <c:pt idx="111">
                  <c:v>3.0307358229670802</c:v>
                </c:pt>
                <c:pt idx="112">
                  <c:v>2.6732671835164799</c:v>
                </c:pt>
                <c:pt idx="113">
                  <c:v>2.6130068077846702</c:v>
                </c:pt>
                <c:pt idx="114">
                  <c:v>3.2650335116695701</c:v>
                </c:pt>
                <c:pt idx="115">
                  <c:v>2.8230606124631898</c:v>
                </c:pt>
                <c:pt idx="116">
                  <c:v>3.40107204018403</c:v>
                </c:pt>
                <c:pt idx="117">
                  <c:v>3.6073108652652901</c:v>
                </c:pt>
                <c:pt idx="118">
                  <c:v>2.8812428622286701</c:v>
                </c:pt>
                <c:pt idx="119">
                  <c:v>3.2957071813517298</c:v>
                </c:pt>
                <c:pt idx="120">
                  <c:v>2.74591159141097</c:v>
                </c:pt>
                <c:pt idx="121">
                  <c:v>3.6555303432098598</c:v>
                </c:pt>
                <c:pt idx="122">
                  <c:v>2.48010737178712</c:v>
                </c:pt>
                <c:pt idx="123">
                  <c:v>2.7023928449283101</c:v>
                </c:pt>
                <c:pt idx="124">
                  <c:v>2.4813786466070602</c:v>
                </c:pt>
                <c:pt idx="125">
                  <c:v>2.4698903843559701</c:v>
                </c:pt>
                <c:pt idx="126">
                  <c:v>2.5677348651250198</c:v>
                </c:pt>
                <c:pt idx="127">
                  <c:v>2.0155029833606601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Tracking!$D$1</c:f>
              <c:strCache>
                <c:ptCount val="1"/>
                <c:pt idx="0">
                  <c:v>model 1.0</c:v>
                </c:pt>
              </c:strCache>
            </c:strRef>
          </c:tx>
          <c:spPr>
            <a:ln>
              <a:solidFill>
                <a:schemeClr val="tx2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Tracking!$B$2:$B$130</c:f>
              <c:numCache>
                <c:formatCode>m/d/yyyy</c:formatCode>
                <c:ptCount val="128"/>
                <c:pt idx="0">
                  <c:v>38657</c:v>
                </c:pt>
                <c:pt idx="1">
                  <c:v>38687</c:v>
                </c:pt>
                <c:pt idx="2">
                  <c:v>38718</c:v>
                </c:pt>
                <c:pt idx="3">
                  <c:v>38749</c:v>
                </c:pt>
                <c:pt idx="4">
                  <c:v>38777</c:v>
                </c:pt>
                <c:pt idx="5">
                  <c:v>38808</c:v>
                </c:pt>
                <c:pt idx="6">
                  <c:v>38838</c:v>
                </c:pt>
                <c:pt idx="7">
                  <c:v>38869</c:v>
                </c:pt>
                <c:pt idx="8">
                  <c:v>38899</c:v>
                </c:pt>
                <c:pt idx="9">
                  <c:v>38930</c:v>
                </c:pt>
                <c:pt idx="10">
                  <c:v>38961</c:v>
                </c:pt>
                <c:pt idx="11">
                  <c:v>38991</c:v>
                </c:pt>
                <c:pt idx="12">
                  <c:v>39022</c:v>
                </c:pt>
                <c:pt idx="13">
                  <c:v>39052</c:v>
                </c:pt>
                <c:pt idx="14">
                  <c:v>39083</c:v>
                </c:pt>
                <c:pt idx="15">
                  <c:v>39114</c:v>
                </c:pt>
                <c:pt idx="16">
                  <c:v>39142</c:v>
                </c:pt>
                <c:pt idx="17">
                  <c:v>39173</c:v>
                </c:pt>
                <c:pt idx="18">
                  <c:v>39203</c:v>
                </c:pt>
                <c:pt idx="19">
                  <c:v>39234</c:v>
                </c:pt>
                <c:pt idx="20">
                  <c:v>39264</c:v>
                </c:pt>
                <c:pt idx="21">
                  <c:v>39295</c:v>
                </c:pt>
                <c:pt idx="22">
                  <c:v>39326</c:v>
                </c:pt>
                <c:pt idx="23">
                  <c:v>39356</c:v>
                </c:pt>
                <c:pt idx="24">
                  <c:v>39387</c:v>
                </c:pt>
                <c:pt idx="25">
                  <c:v>39417</c:v>
                </c:pt>
                <c:pt idx="26">
                  <c:v>39448</c:v>
                </c:pt>
                <c:pt idx="27">
                  <c:v>39479</c:v>
                </c:pt>
                <c:pt idx="28">
                  <c:v>39508</c:v>
                </c:pt>
                <c:pt idx="29">
                  <c:v>39539</c:v>
                </c:pt>
                <c:pt idx="30">
                  <c:v>39569</c:v>
                </c:pt>
                <c:pt idx="31">
                  <c:v>39600</c:v>
                </c:pt>
                <c:pt idx="32">
                  <c:v>39630</c:v>
                </c:pt>
                <c:pt idx="33">
                  <c:v>39661</c:v>
                </c:pt>
                <c:pt idx="34">
                  <c:v>39692</c:v>
                </c:pt>
                <c:pt idx="35">
                  <c:v>39722</c:v>
                </c:pt>
                <c:pt idx="36">
                  <c:v>39753</c:v>
                </c:pt>
                <c:pt idx="37">
                  <c:v>39783</c:v>
                </c:pt>
                <c:pt idx="38">
                  <c:v>39814</c:v>
                </c:pt>
                <c:pt idx="39">
                  <c:v>39845</c:v>
                </c:pt>
                <c:pt idx="40">
                  <c:v>39873</c:v>
                </c:pt>
                <c:pt idx="41">
                  <c:v>39904</c:v>
                </c:pt>
                <c:pt idx="42">
                  <c:v>39934</c:v>
                </c:pt>
                <c:pt idx="43">
                  <c:v>39965</c:v>
                </c:pt>
                <c:pt idx="44">
                  <c:v>39995</c:v>
                </c:pt>
                <c:pt idx="45">
                  <c:v>40026</c:v>
                </c:pt>
                <c:pt idx="46">
                  <c:v>40057</c:v>
                </c:pt>
                <c:pt idx="47">
                  <c:v>40087</c:v>
                </c:pt>
                <c:pt idx="48">
                  <c:v>40118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  <c:pt idx="122">
                  <c:v>42401</c:v>
                </c:pt>
                <c:pt idx="123">
                  <c:v>42430</c:v>
                </c:pt>
                <c:pt idx="124">
                  <c:v>42461</c:v>
                </c:pt>
                <c:pt idx="125">
                  <c:v>42491</c:v>
                </c:pt>
                <c:pt idx="126">
                  <c:v>42522</c:v>
                </c:pt>
                <c:pt idx="127">
                  <c:v>42552</c:v>
                </c:pt>
              </c:numCache>
            </c:numRef>
          </c:cat>
          <c:val>
            <c:numRef>
              <c:f>Tracking!$D$2:$D$130</c:f>
              <c:numCache>
                <c:formatCode>General</c:formatCode>
                <c:ptCount val="128"/>
                <c:pt idx="0">
                  <c:v>3.1</c:v>
                </c:pt>
                <c:pt idx="1">
                  <c:v>2.7</c:v>
                </c:pt>
                <c:pt idx="2">
                  <c:v>2.2999999999999998</c:v>
                </c:pt>
                <c:pt idx="3">
                  <c:v>2.2999999999999998</c:v>
                </c:pt>
                <c:pt idx="4">
                  <c:v>2.6</c:v>
                </c:pt>
                <c:pt idx="5">
                  <c:v>2.4</c:v>
                </c:pt>
                <c:pt idx="6">
                  <c:v>2.2999999999999998</c:v>
                </c:pt>
                <c:pt idx="7">
                  <c:v>2.1</c:v>
                </c:pt>
                <c:pt idx="8">
                  <c:v>2</c:v>
                </c:pt>
                <c:pt idx="9">
                  <c:v>1.9</c:v>
                </c:pt>
                <c:pt idx="10">
                  <c:v>1.8</c:v>
                </c:pt>
                <c:pt idx="11">
                  <c:v>2.2000000000000002</c:v>
                </c:pt>
                <c:pt idx="12">
                  <c:v>2.4</c:v>
                </c:pt>
                <c:pt idx="13">
                  <c:v>2.5</c:v>
                </c:pt>
                <c:pt idx="14">
                  <c:v>2.7</c:v>
                </c:pt>
                <c:pt idx="15">
                  <c:v>2.9</c:v>
                </c:pt>
                <c:pt idx="16">
                  <c:v>2.7</c:v>
                </c:pt>
                <c:pt idx="17">
                  <c:v>2.7</c:v>
                </c:pt>
                <c:pt idx="18">
                  <c:v>2.8</c:v>
                </c:pt>
                <c:pt idx="19">
                  <c:v>2.7</c:v>
                </c:pt>
                <c:pt idx="20">
                  <c:v>2.6</c:v>
                </c:pt>
                <c:pt idx="21">
                  <c:v>2</c:v>
                </c:pt>
                <c:pt idx="22">
                  <c:v>2</c:v>
                </c:pt>
                <c:pt idx="23">
                  <c:v>2.2999999999999998</c:v>
                </c:pt>
                <c:pt idx="24">
                  <c:v>2.6</c:v>
                </c:pt>
                <c:pt idx="25">
                  <c:v>2.8</c:v>
                </c:pt>
                <c:pt idx="26">
                  <c:v>3.2</c:v>
                </c:pt>
                <c:pt idx="27">
                  <c:v>3.6</c:v>
                </c:pt>
                <c:pt idx="28">
                  <c:v>4.5999999999999996</c:v>
                </c:pt>
                <c:pt idx="29">
                  <c:v>4</c:v>
                </c:pt>
                <c:pt idx="30">
                  <c:v>3.8</c:v>
                </c:pt>
                <c:pt idx="31">
                  <c:v>3.9</c:v>
                </c:pt>
                <c:pt idx="32">
                  <c:v>3.6</c:v>
                </c:pt>
                <c:pt idx="33">
                  <c:v>2.9</c:v>
                </c:pt>
                <c:pt idx="34">
                  <c:v>2.7</c:v>
                </c:pt>
                <c:pt idx="35">
                  <c:v>2.7</c:v>
                </c:pt>
                <c:pt idx="36">
                  <c:v>4.0999999999999996</c:v>
                </c:pt>
                <c:pt idx="37">
                  <c:v>3.7</c:v>
                </c:pt>
                <c:pt idx="38">
                  <c:v>4.4000000000000004</c:v>
                </c:pt>
                <c:pt idx="39">
                  <c:v>7.7</c:v>
                </c:pt>
                <c:pt idx="40">
                  <c:v>8.6</c:v>
                </c:pt>
                <c:pt idx="41">
                  <c:v>7.9</c:v>
                </c:pt>
                <c:pt idx="42">
                  <c:v>7.9</c:v>
                </c:pt>
                <c:pt idx="43">
                  <c:v>8.5</c:v>
                </c:pt>
                <c:pt idx="44">
                  <c:v>8.1999999999999993</c:v>
                </c:pt>
                <c:pt idx="45">
                  <c:v>6.1</c:v>
                </c:pt>
                <c:pt idx="46">
                  <c:v>6.7</c:v>
                </c:pt>
                <c:pt idx="47">
                  <c:v>7.1</c:v>
                </c:pt>
                <c:pt idx="48">
                  <c:v>7.4</c:v>
                </c:pt>
                <c:pt idx="49">
                  <c:v>7.8</c:v>
                </c:pt>
                <c:pt idx="50">
                  <c:v>6.9</c:v>
                </c:pt>
                <c:pt idx="51">
                  <c:v>6.6</c:v>
                </c:pt>
                <c:pt idx="52">
                  <c:v>6.5</c:v>
                </c:pt>
                <c:pt idx="53">
                  <c:v>6.3</c:v>
                </c:pt>
                <c:pt idx="54">
                  <c:v>5.7</c:v>
                </c:pt>
                <c:pt idx="55">
                  <c:v>6.2</c:v>
                </c:pt>
                <c:pt idx="56">
                  <c:v>6.8</c:v>
                </c:pt>
                <c:pt idx="57">
                  <c:v>6.8</c:v>
                </c:pt>
                <c:pt idx="58">
                  <c:v>7.3</c:v>
                </c:pt>
                <c:pt idx="59">
                  <c:v>7.5</c:v>
                </c:pt>
                <c:pt idx="60">
                  <c:v>7.3</c:v>
                </c:pt>
                <c:pt idx="61">
                  <c:v>7.1</c:v>
                </c:pt>
                <c:pt idx="62">
                  <c:v>5.9</c:v>
                </c:pt>
                <c:pt idx="63">
                  <c:v>5.8</c:v>
                </c:pt>
                <c:pt idx="64">
                  <c:v>5.2</c:v>
                </c:pt>
                <c:pt idx="65">
                  <c:v>5.3</c:v>
                </c:pt>
                <c:pt idx="66">
                  <c:v>4.5999999999999996</c:v>
                </c:pt>
                <c:pt idx="67">
                  <c:v>5.0999999999999996</c:v>
                </c:pt>
                <c:pt idx="68">
                  <c:v>5.5</c:v>
                </c:pt>
                <c:pt idx="69">
                  <c:v>5.3</c:v>
                </c:pt>
                <c:pt idx="70">
                  <c:v>6.2</c:v>
                </c:pt>
                <c:pt idx="71">
                  <c:v>6.7</c:v>
                </c:pt>
                <c:pt idx="72">
                  <c:v>6.7</c:v>
                </c:pt>
                <c:pt idx="73">
                  <c:v>6.9</c:v>
                </c:pt>
                <c:pt idx="74">
                  <c:v>6.9</c:v>
                </c:pt>
                <c:pt idx="75">
                  <c:v>6.9</c:v>
                </c:pt>
                <c:pt idx="76">
                  <c:v>6.6</c:v>
                </c:pt>
                <c:pt idx="77">
                  <c:v>5.9</c:v>
                </c:pt>
                <c:pt idx="78">
                  <c:v>5.4</c:v>
                </c:pt>
                <c:pt idx="79">
                  <c:v>5.5</c:v>
                </c:pt>
                <c:pt idx="80">
                  <c:v>5.9</c:v>
                </c:pt>
                <c:pt idx="81">
                  <c:v>6</c:v>
                </c:pt>
                <c:pt idx="82">
                  <c:v>5.8</c:v>
                </c:pt>
                <c:pt idx="83">
                  <c:v>5.9</c:v>
                </c:pt>
                <c:pt idx="84">
                  <c:v>6</c:v>
                </c:pt>
                <c:pt idx="85">
                  <c:v>5.8</c:v>
                </c:pt>
                <c:pt idx="86">
                  <c:v>5.8</c:v>
                </c:pt>
                <c:pt idx="87">
                  <c:v>5.5</c:v>
                </c:pt>
                <c:pt idx="88">
                  <c:v>5</c:v>
                </c:pt>
                <c:pt idx="89">
                  <c:v>4.8</c:v>
                </c:pt>
                <c:pt idx="90">
                  <c:v>4.8</c:v>
                </c:pt>
                <c:pt idx="91">
                  <c:v>4.5</c:v>
                </c:pt>
                <c:pt idx="92">
                  <c:v>3.5</c:v>
                </c:pt>
                <c:pt idx="93">
                  <c:v>2.9</c:v>
                </c:pt>
                <c:pt idx="94">
                  <c:v>2.8</c:v>
                </c:pt>
                <c:pt idx="95">
                  <c:v>2.7</c:v>
                </c:pt>
                <c:pt idx="96">
                  <c:v>3.1</c:v>
                </c:pt>
                <c:pt idx="97">
                  <c:v>3.1</c:v>
                </c:pt>
                <c:pt idx="98">
                  <c:v>2.8</c:v>
                </c:pt>
                <c:pt idx="99">
                  <c:v>2.9</c:v>
                </c:pt>
                <c:pt idx="100">
                  <c:v>3.1</c:v>
                </c:pt>
                <c:pt idx="101">
                  <c:v>3.1</c:v>
                </c:pt>
                <c:pt idx="102">
                  <c:v>3</c:v>
                </c:pt>
                <c:pt idx="103">
                  <c:v>3.2</c:v>
                </c:pt>
                <c:pt idx="104">
                  <c:v>3.3</c:v>
                </c:pt>
                <c:pt idx="105">
                  <c:v>3.3</c:v>
                </c:pt>
                <c:pt idx="106">
                  <c:v>3.3</c:v>
                </c:pt>
                <c:pt idx="107">
                  <c:v>3.2</c:v>
                </c:pt>
                <c:pt idx="108">
                  <c:v>3.4</c:v>
                </c:pt>
                <c:pt idx="109">
                  <c:v>3.6</c:v>
                </c:pt>
                <c:pt idx="110">
                  <c:v>3.7</c:v>
                </c:pt>
                <c:pt idx="111">
                  <c:v>4.7</c:v>
                </c:pt>
                <c:pt idx="112">
                  <c:v>4.5</c:v>
                </c:pt>
                <c:pt idx="113">
                  <c:v>4.2</c:v>
                </c:pt>
                <c:pt idx="114">
                  <c:v>4.3</c:v>
                </c:pt>
                <c:pt idx="115">
                  <c:v>3.8</c:v>
                </c:pt>
                <c:pt idx="116">
                  <c:v>3.5</c:v>
                </c:pt>
                <c:pt idx="117">
                  <c:v>3.3</c:v>
                </c:pt>
                <c:pt idx="118">
                  <c:v>3.5</c:v>
                </c:pt>
                <c:pt idx="119">
                  <c:v>3.6</c:v>
                </c:pt>
                <c:pt idx="120">
                  <c:v>3.7</c:v>
                </c:pt>
                <c:pt idx="121">
                  <c:v>3.5</c:v>
                </c:pt>
                <c:pt idx="122">
                  <c:v>3.4</c:v>
                </c:pt>
                <c:pt idx="123">
                  <c:v>3.6</c:v>
                </c:pt>
                <c:pt idx="124">
                  <c:v>3.9</c:v>
                </c:pt>
                <c:pt idx="125">
                  <c:v>4.0999999999999996</c:v>
                </c:pt>
                <c:pt idx="126">
                  <c:v>4.0999999999999996</c:v>
                </c:pt>
                <c:pt idx="127">
                  <c:v>4.0999999999999996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Tracking!$E$1</c:f>
              <c:strCache>
                <c:ptCount val="1"/>
                <c:pt idx="0">
                  <c:v>model 2.0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cat>
            <c:numRef>
              <c:f>Tracking!$B$2:$B$130</c:f>
              <c:numCache>
                <c:formatCode>m/d/yyyy</c:formatCode>
                <c:ptCount val="128"/>
                <c:pt idx="0">
                  <c:v>38657</c:v>
                </c:pt>
                <c:pt idx="1">
                  <c:v>38687</c:v>
                </c:pt>
                <c:pt idx="2">
                  <c:v>38718</c:v>
                </c:pt>
                <c:pt idx="3">
                  <c:v>38749</c:v>
                </c:pt>
                <c:pt idx="4">
                  <c:v>38777</c:v>
                </c:pt>
                <c:pt idx="5">
                  <c:v>38808</c:v>
                </c:pt>
                <c:pt idx="6">
                  <c:v>38838</c:v>
                </c:pt>
                <c:pt idx="7">
                  <c:v>38869</c:v>
                </c:pt>
                <c:pt idx="8">
                  <c:v>38899</c:v>
                </c:pt>
                <c:pt idx="9">
                  <c:v>38930</c:v>
                </c:pt>
                <c:pt idx="10">
                  <c:v>38961</c:v>
                </c:pt>
                <c:pt idx="11">
                  <c:v>38991</c:v>
                </c:pt>
                <c:pt idx="12">
                  <c:v>39022</c:v>
                </c:pt>
                <c:pt idx="13">
                  <c:v>39052</c:v>
                </c:pt>
                <c:pt idx="14">
                  <c:v>39083</c:v>
                </c:pt>
                <c:pt idx="15">
                  <c:v>39114</c:v>
                </c:pt>
                <c:pt idx="16">
                  <c:v>39142</c:v>
                </c:pt>
                <c:pt idx="17">
                  <c:v>39173</c:v>
                </c:pt>
                <c:pt idx="18">
                  <c:v>39203</c:v>
                </c:pt>
                <c:pt idx="19">
                  <c:v>39234</c:v>
                </c:pt>
                <c:pt idx="20">
                  <c:v>39264</c:v>
                </c:pt>
                <c:pt idx="21">
                  <c:v>39295</c:v>
                </c:pt>
                <c:pt idx="22">
                  <c:v>39326</c:v>
                </c:pt>
                <c:pt idx="23">
                  <c:v>39356</c:v>
                </c:pt>
                <c:pt idx="24">
                  <c:v>39387</c:v>
                </c:pt>
                <c:pt idx="25">
                  <c:v>39417</c:v>
                </c:pt>
                <c:pt idx="26">
                  <c:v>39448</c:v>
                </c:pt>
                <c:pt idx="27">
                  <c:v>39479</c:v>
                </c:pt>
                <c:pt idx="28">
                  <c:v>39508</c:v>
                </c:pt>
                <c:pt idx="29">
                  <c:v>39539</c:v>
                </c:pt>
                <c:pt idx="30">
                  <c:v>39569</c:v>
                </c:pt>
                <c:pt idx="31">
                  <c:v>39600</c:v>
                </c:pt>
                <c:pt idx="32">
                  <c:v>39630</c:v>
                </c:pt>
                <c:pt idx="33">
                  <c:v>39661</c:v>
                </c:pt>
                <c:pt idx="34">
                  <c:v>39692</c:v>
                </c:pt>
                <c:pt idx="35">
                  <c:v>39722</c:v>
                </c:pt>
                <c:pt idx="36">
                  <c:v>39753</c:v>
                </c:pt>
                <c:pt idx="37">
                  <c:v>39783</c:v>
                </c:pt>
                <c:pt idx="38">
                  <c:v>39814</c:v>
                </c:pt>
                <c:pt idx="39">
                  <c:v>39845</c:v>
                </c:pt>
                <c:pt idx="40">
                  <c:v>39873</c:v>
                </c:pt>
                <c:pt idx="41">
                  <c:v>39904</c:v>
                </c:pt>
                <c:pt idx="42">
                  <c:v>39934</c:v>
                </c:pt>
                <c:pt idx="43">
                  <c:v>39965</c:v>
                </c:pt>
                <c:pt idx="44">
                  <c:v>39995</c:v>
                </c:pt>
                <c:pt idx="45">
                  <c:v>40026</c:v>
                </c:pt>
                <c:pt idx="46">
                  <c:v>40057</c:v>
                </c:pt>
                <c:pt idx="47">
                  <c:v>40087</c:v>
                </c:pt>
                <c:pt idx="48">
                  <c:v>40118</c:v>
                </c:pt>
                <c:pt idx="49">
                  <c:v>40179</c:v>
                </c:pt>
                <c:pt idx="50">
                  <c:v>40210</c:v>
                </c:pt>
                <c:pt idx="51">
                  <c:v>40238</c:v>
                </c:pt>
                <c:pt idx="52">
                  <c:v>40269</c:v>
                </c:pt>
                <c:pt idx="53">
                  <c:v>40299</c:v>
                </c:pt>
                <c:pt idx="54">
                  <c:v>40330</c:v>
                </c:pt>
                <c:pt idx="55">
                  <c:v>40360</c:v>
                </c:pt>
                <c:pt idx="56">
                  <c:v>40391</c:v>
                </c:pt>
                <c:pt idx="57">
                  <c:v>40422</c:v>
                </c:pt>
                <c:pt idx="58">
                  <c:v>40452</c:v>
                </c:pt>
                <c:pt idx="59">
                  <c:v>40483</c:v>
                </c:pt>
                <c:pt idx="60">
                  <c:v>40513</c:v>
                </c:pt>
                <c:pt idx="61">
                  <c:v>40544</c:v>
                </c:pt>
                <c:pt idx="62">
                  <c:v>40575</c:v>
                </c:pt>
                <c:pt idx="63">
                  <c:v>40603</c:v>
                </c:pt>
                <c:pt idx="64">
                  <c:v>40634</c:v>
                </c:pt>
                <c:pt idx="65">
                  <c:v>40664</c:v>
                </c:pt>
                <c:pt idx="66">
                  <c:v>40695</c:v>
                </c:pt>
                <c:pt idx="67">
                  <c:v>40725</c:v>
                </c:pt>
                <c:pt idx="68">
                  <c:v>40756</c:v>
                </c:pt>
                <c:pt idx="69">
                  <c:v>40787</c:v>
                </c:pt>
                <c:pt idx="70">
                  <c:v>40817</c:v>
                </c:pt>
                <c:pt idx="71">
                  <c:v>40848</c:v>
                </c:pt>
                <c:pt idx="72">
                  <c:v>40878</c:v>
                </c:pt>
                <c:pt idx="73">
                  <c:v>40909</c:v>
                </c:pt>
                <c:pt idx="74">
                  <c:v>40940</c:v>
                </c:pt>
                <c:pt idx="75">
                  <c:v>40969</c:v>
                </c:pt>
                <c:pt idx="76">
                  <c:v>41000</c:v>
                </c:pt>
                <c:pt idx="77">
                  <c:v>41030</c:v>
                </c:pt>
                <c:pt idx="78">
                  <c:v>41061</c:v>
                </c:pt>
                <c:pt idx="79">
                  <c:v>41091</c:v>
                </c:pt>
                <c:pt idx="80">
                  <c:v>41122</c:v>
                </c:pt>
                <c:pt idx="81">
                  <c:v>41153</c:v>
                </c:pt>
                <c:pt idx="82">
                  <c:v>41183</c:v>
                </c:pt>
                <c:pt idx="83">
                  <c:v>41214</c:v>
                </c:pt>
                <c:pt idx="84">
                  <c:v>41244</c:v>
                </c:pt>
                <c:pt idx="85">
                  <c:v>41275</c:v>
                </c:pt>
                <c:pt idx="86">
                  <c:v>41306</c:v>
                </c:pt>
                <c:pt idx="87">
                  <c:v>41334</c:v>
                </c:pt>
                <c:pt idx="88">
                  <c:v>41365</c:v>
                </c:pt>
                <c:pt idx="89">
                  <c:v>41395</c:v>
                </c:pt>
                <c:pt idx="90">
                  <c:v>41426</c:v>
                </c:pt>
                <c:pt idx="91">
                  <c:v>41456</c:v>
                </c:pt>
                <c:pt idx="92">
                  <c:v>41487</c:v>
                </c:pt>
                <c:pt idx="93">
                  <c:v>41518</c:v>
                </c:pt>
                <c:pt idx="94">
                  <c:v>41548</c:v>
                </c:pt>
                <c:pt idx="95">
                  <c:v>41579</c:v>
                </c:pt>
                <c:pt idx="96">
                  <c:v>41609</c:v>
                </c:pt>
                <c:pt idx="97">
                  <c:v>41640</c:v>
                </c:pt>
                <c:pt idx="98">
                  <c:v>41671</c:v>
                </c:pt>
                <c:pt idx="99">
                  <c:v>41699</c:v>
                </c:pt>
                <c:pt idx="100">
                  <c:v>41730</c:v>
                </c:pt>
                <c:pt idx="101">
                  <c:v>41760</c:v>
                </c:pt>
                <c:pt idx="102">
                  <c:v>41791</c:v>
                </c:pt>
                <c:pt idx="103">
                  <c:v>41821</c:v>
                </c:pt>
                <c:pt idx="104">
                  <c:v>41852</c:v>
                </c:pt>
                <c:pt idx="105">
                  <c:v>41883</c:v>
                </c:pt>
                <c:pt idx="106">
                  <c:v>41913</c:v>
                </c:pt>
                <c:pt idx="107">
                  <c:v>41944</c:v>
                </c:pt>
                <c:pt idx="108">
                  <c:v>41974</c:v>
                </c:pt>
                <c:pt idx="109">
                  <c:v>42005</c:v>
                </c:pt>
                <c:pt idx="110">
                  <c:v>42036</c:v>
                </c:pt>
                <c:pt idx="111">
                  <c:v>42064</c:v>
                </c:pt>
                <c:pt idx="112">
                  <c:v>42095</c:v>
                </c:pt>
                <c:pt idx="113">
                  <c:v>42125</c:v>
                </c:pt>
                <c:pt idx="114">
                  <c:v>42156</c:v>
                </c:pt>
                <c:pt idx="115">
                  <c:v>42186</c:v>
                </c:pt>
                <c:pt idx="116">
                  <c:v>42217</c:v>
                </c:pt>
                <c:pt idx="117">
                  <c:v>42248</c:v>
                </c:pt>
                <c:pt idx="118">
                  <c:v>42278</c:v>
                </c:pt>
                <c:pt idx="119">
                  <c:v>42309</c:v>
                </c:pt>
                <c:pt idx="120">
                  <c:v>42339</c:v>
                </c:pt>
                <c:pt idx="121">
                  <c:v>42370</c:v>
                </c:pt>
                <c:pt idx="122">
                  <c:v>42401</c:v>
                </c:pt>
                <c:pt idx="123">
                  <c:v>42430</c:v>
                </c:pt>
                <c:pt idx="124">
                  <c:v>42461</c:v>
                </c:pt>
                <c:pt idx="125">
                  <c:v>42491</c:v>
                </c:pt>
                <c:pt idx="126">
                  <c:v>42522</c:v>
                </c:pt>
                <c:pt idx="127">
                  <c:v>42552</c:v>
                </c:pt>
              </c:numCache>
            </c:numRef>
          </c:cat>
          <c:val>
            <c:numRef>
              <c:f>Tracking!$E$2:$E$130</c:f>
              <c:numCache>
                <c:formatCode>General</c:formatCode>
                <c:ptCount val="128"/>
                <c:pt idx="0">
                  <c:v>2.3282368813923502</c:v>
                </c:pt>
                <c:pt idx="1">
                  <c:v>2.41296526414212</c:v>
                </c:pt>
                <c:pt idx="2">
                  <c:v>2.3685053282139901</c:v>
                </c:pt>
                <c:pt idx="3">
                  <c:v>2.2653256855236998</c:v>
                </c:pt>
                <c:pt idx="4">
                  <c:v>2.0719146567754798</c:v>
                </c:pt>
                <c:pt idx="5">
                  <c:v>1.7299468889565901</c:v>
                </c:pt>
                <c:pt idx="6">
                  <c:v>2.0329076165748399</c:v>
                </c:pt>
                <c:pt idx="7">
                  <c:v>2.1117071351688499</c:v>
                </c:pt>
                <c:pt idx="8">
                  <c:v>2.0841622358530598</c:v>
                </c:pt>
                <c:pt idx="9">
                  <c:v>2.2985177643271499</c:v>
                </c:pt>
                <c:pt idx="10">
                  <c:v>2.3346695445690999</c:v>
                </c:pt>
                <c:pt idx="11">
                  <c:v>2.4638027272785501</c:v>
                </c:pt>
                <c:pt idx="12">
                  <c:v>2.5193273237542901</c:v>
                </c:pt>
                <c:pt idx="13">
                  <c:v>2.57696104673163</c:v>
                </c:pt>
                <c:pt idx="14">
                  <c:v>2.7740275784120998</c:v>
                </c:pt>
                <c:pt idx="15">
                  <c:v>2.5068650072396799</c:v>
                </c:pt>
                <c:pt idx="16">
                  <c:v>2.32587717989716</c:v>
                </c:pt>
                <c:pt idx="17">
                  <c:v>2.07985347250633</c:v>
                </c:pt>
                <c:pt idx="18">
                  <c:v>2.2510241766712702</c:v>
                </c:pt>
                <c:pt idx="19">
                  <c:v>2.3721989946062201</c:v>
                </c:pt>
                <c:pt idx="20">
                  <c:v>2.5376328000224602</c:v>
                </c:pt>
                <c:pt idx="21">
                  <c:v>2.6539097481660501</c:v>
                </c:pt>
                <c:pt idx="22">
                  <c:v>2.5472923029949901</c:v>
                </c:pt>
                <c:pt idx="23">
                  <c:v>2.8542053765835198</c:v>
                </c:pt>
                <c:pt idx="24">
                  <c:v>2.90397963653094</c:v>
                </c:pt>
                <c:pt idx="25">
                  <c:v>2.7845763090378499</c:v>
                </c:pt>
                <c:pt idx="26">
                  <c:v>3.1345860207808198</c:v>
                </c:pt>
                <c:pt idx="27">
                  <c:v>3.0017813957467299</c:v>
                </c:pt>
                <c:pt idx="28">
                  <c:v>2.67397962886852</c:v>
                </c:pt>
                <c:pt idx="29">
                  <c:v>2.6209139283359302</c:v>
                </c:pt>
                <c:pt idx="30">
                  <c:v>2.7885931193015301</c:v>
                </c:pt>
                <c:pt idx="31">
                  <c:v>2.02838742156601</c:v>
                </c:pt>
                <c:pt idx="32">
                  <c:v>2.1903123493440999</c:v>
                </c:pt>
                <c:pt idx="33">
                  <c:v>2.4946271234204</c:v>
                </c:pt>
                <c:pt idx="34">
                  <c:v>2.7940897020394599</c:v>
                </c:pt>
                <c:pt idx="35">
                  <c:v>3.0936274696558699</c:v>
                </c:pt>
                <c:pt idx="36">
                  <c:v>3.2955001138559901</c:v>
                </c:pt>
                <c:pt idx="37">
                  <c:v>4.0061179209031996</c:v>
                </c:pt>
                <c:pt idx="38">
                  <c:v>4.1262280621272698</c:v>
                </c:pt>
                <c:pt idx="39">
                  <c:v>4.2852408090646499</c:v>
                </c:pt>
                <c:pt idx="40">
                  <c:v>3.99196890518453</c:v>
                </c:pt>
                <c:pt idx="41">
                  <c:v>4.2281749894066403</c:v>
                </c:pt>
                <c:pt idx="42">
                  <c:v>5.3286617031898196</c:v>
                </c:pt>
                <c:pt idx="43">
                  <c:v>5.2477109555404002</c:v>
                </c:pt>
                <c:pt idx="44">
                  <c:v>4.79159981512732</c:v>
                </c:pt>
                <c:pt idx="45">
                  <c:v>5.1944352038059698</c:v>
                </c:pt>
                <c:pt idx="46">
                  <c:v>6.1380451097678197</c:v>
                </c:pt>
                <c:pt idx="47">
                  <c:v>6.2087602882261601</c:v>
                </c:pt>
                <c:pt idx="48">
                  <c:v>6.1612895572271897</c:v>
                </c:pt>
                <c:pt idx="49">
                  <c:v>5.8457055697862899</c:v>
                </c:pt>
                <c:pt idx="50">
                  <c:v>6.1627291888096201</c:v>
                </c:pt>
                <c:pt idx="51">
                  <c:v>5.5960920012974498</c:v>
                </c:pt>
                <c:pt idx="52">
                  <c:v>5.0120375163626196</c:v>
                </c:pt>
                <c:pt idx="53">
                  <c:v>4.8831030442691103</c:v>
                </c:pt>
                <c:pt idx="54">
                  <c:v>5.2369550874011699</c:v>
                </c:pt>
                <c:pt idx="55">
                  <c:v>5.3794981684053802</c:v>
                </c:pt>
                <c:pt idx="56">
                  <c:v>5.0919746683164</c:v>
                </c:pt>
                <c:pt idx="57">
                  <c:v>5.2889237998348797</c:v>
                </c:pt>
                <c:pt idx="58">
                  <c:v>5.4252978820360998</c:v>
                </c:pt>
                <c:pt idx="59">
                  <c:v>5.7181048738298204</c:v>
                </c:pt>
                <c:pt idx="60">
                  <c:v>5.8845235460642797</c:v>
                </c:pt>
                <c:pt idx="61">
                  <c:v>4.5203024479666301</c:v>
                </c:pt>
                <c:pt idx="62">
                  <c:v>4.7227980509808596</c:v>
                </c:pt>
                <c:pt idx="63">
                  <c:v>4.54035178771095</c:v>
                </c:pt>
                <c:pt idx="64">
                  <c:v>3.8320475308430302</c:v>
                </c:pt>
                <c:pt idx="65">
                  <c:v>4.0017927959026398</c:v>
                </c:pt>
                <c:pt idx="66">
                  <c:v>4.2517250645072204</c:v>
                </c:pt>
                <c:pt idx="67">
                  <c:v>4.3474637092739803</c:v>
                </c:pt>
                <c:pt idx="68">
                  <c:v>4.8216508245531502</c:v>
                </c:pt>
                <c:pt idx="69">
                  <c:v>5.0711520337362304</c:v>
                </c:pt>
                <c:pt idx="70">
                  <c:v>4.9365371731192296</c:v>
                </c:pt>
                <c:pt idx="71">
                  <c:v>5.1079087983606497</c:v>
                </c:pt>
                <c:pt idx="72">
                  <c:v>4.9467554933479896</c:v>
                </c:pt>
                <c:pt idx="73">
                  <c:v>5.0974109785011299</c:v>
                </c:pt>
                <c:pt idx="74">
                  <c:v>5.13709172077085</c:v>
                </c:pt>
                <c:pt idx="75">
                  <c:v>4.6084077247213298</c:v>
                </c:pt>
                <c:pt idx="76">
                  <c:v>4.2649466799082099</c:v>
                </c:pt>
                <c:pt idx="77">
                  <c:v>4.5297524270066596</c:v>
                </c:pt>
                <c:pt idx="78">
                  <c:v>4.6741471887210002</c:v>
                </c:pt>
                <c:pt idx="79">
                  <c:v>4.4621178960091097</c:v>
                </c:pt>
                <c:pt idx="80">
                  <c:v>4.7926200371024601</c:v>
                </c:pt>
                <c:pt idx="81">
                  <c:v>4.7259699874994396</c:v>
                </c:pt>
                <c:pt idx="82">
                  <c:v>5.1025749742358899</c:v>
                </c:pt>
                <c:pt idx="83">
                  <c:v>5.1539274539311597</c:v>
                </c:pt>
                <c:pt idx="84">
                  <c:v>5.0905447665908801</c:v>
                </c:pt>
                <c:pt idx="85">
                  <c:v>5.4713351787919002</c:v>
                </c:pt>
                <c:pt idx="86">
                  <c:v>5.2920457523517204</c:v>
                </c:pt>
                <c:pt idx="87">
                  <c:v>4.8388407146419601</c:v>
                </c:pt>
                <c:pt idx="88">
                  <c:v>4.4636300929850696</c:v>
                </c:pt>
                <c:pt idx="89">
                  <c:v>4.4411076320338898</c:v>
                </c:pt>
                <c:pt idx="90">
                  <c:v>4.3504506873305298</c:v>
                </c:pt>
                <c:pt idx="91">
                  <c:v>4.9289320639847896</c:v>
                </c:pt>
                <c:pt idx="92">
                  <c:v>4.9090257908336898</c:v>
                </c:pt>
                <c:pt idx="93">
                  <c:v>4.8855469245118099</c:v>
                </c:pt>
                <c:pt idx="94">
                  <c:v>4.6929271108568296</c:v>
                </c:pt>
                <c:pt idx="95">
                  <c:v>4.5337858181422996</c:v>
                </c:pt>
                <c:pt idx="96">
                  <c:v>4.67935811772543</c:v>
                </c:pt>
                <c:pt idx="97">
                  <c:v>4.9487539143355903</c:v>
                </c:pt>
                <c:pt idx="98">
                  <c:v>4.5649935060573696</c:v>
                </c:pt>
                <c:pt idx="99">
                  <c:v>4.0283606146838302</c:v>
                </c:pt>
                <c:pt idx="100">
                  <c:v>3.7934153266830402</c:v>
                </c:pt>
                <c:pt idx="101">
                  <c:v>3.3655632599533698</c:v>
                </c:pt>
                <c:pt idx="102">
                  <c:v>3.3686180587901502</c:v>
                </c:pt>
                <c:pt idx="103">
                  <c:v>3.6177332104628399</c:v>
                </c:pt>
                <c:pt idx="104">
                  <c:v>3.5558922682526299</c:v>
                </c:pt>
                <c:pt idx="105">
                  <c:v>3.81253260962173</c:v>
                </c:pt>
                <c:pt idx="106">
                  <c:v>3.9001351319571098</c:v>
                </c:pt>
                <c:pt idx="107">
                  <c:v>3.6333902598724301</c:v>
                </c:pt>
                <c:pt idx="108">
                  <c:v>4.0656681975315099</c:v>
                </c:pt>
                <c:pt idx="109">
                  <c:v>3.8991453199362698</c:v>
                </c:pt>
                <c:pt idx="110">
                  <c:v>3.6779687741850702</c:v>
                </c:pt>
                <c:pt idx="111">
                  <c:v>3.3584388214617</c:v>
                </c:pt>
                <c:pt idx="112">
                  <c:v>3.0488649739835099</c:v>
                </c:pt>
                <c:pt idx="113">
                  <c:v>3.0423441240843401</c:v>
                </c:pt>
                <c:pt idx="114">
                  <c:v>3.2837881789345098</c:v>
                </c:pt>
                <c:pt idx="115">
                  <c:v>3.3544012058745101</c:v>
                </c:pt>
                <c:pt idx="116">
                  <c:v>3.2144317526946802</c:v>
                </c:pt>
                <c:pt idx="117">
                  <c:v>3.3855302481354501</c:v>
                </c:pt>
                <c:pt idx="118">
                  <c:v>3.4216354468347401</c:v>
                </c:pt>
                <c:pt idx="119">
                  <c:v>3.2833318149029802</c:v>
                </c:pt>
                <c:pt idx="120">
                  <c:v>3.50949438195497</c:v>
                </c:pt>
                <c:pt idx="121">
                  <c:v>3.36613518891492</c:v>
                </c:pt>
                <c:pt idx="122">
                  <c:v>3.4978995999697999</c:v>
                </c:pt>
                <c:pt idx="123">
                  <c:v>2.9988910362515302</c:v>
                </c:pt>
                <c:pt idx="124">
                  <c:v>2.6156113342489902</c:v>
                </c:pt>
                <c:pt idx="125">
                  <c:v>2.63896129551661</c:v>
                </c:pt>
                <c:pt idx="126">
                  <c:v>2.0124308913358</c:v>
                </c:pt>
                <c:pt idx="127">
                  <c:v>2.2362970148425001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95712"/>
        <c:axId val="116622080"/>
      </c:lineChart>
      <c:dateAx>
        <c:axId val="1165957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16622080"/>
        <c:crosses val="autoZero"/>
        <c:auto val="1"/>
        <c:lblOffset val="100"/>
        <c:baseTimeUnit val="months"/>
        <c:majorUnit val="12"/>
        <c:majorTimeUnit val="months"/>
      </c:dateAx>
      <c:valAx>
        <c:axId val="11662208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165957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err="1" smtClean="0">
                <a:solidFill>
                  <a:srgbClr val="968880"/>
                </a:solidFill>
                <a:latin typeface="Calibri" pitchFamily="34" charset="0"/>
              </a:rPr>
              <a:t>Ginnie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 Mae </a:t>
            </a:r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Prepayment: Default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August 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</a:t>
            </a:r>
            <a:r>
              <a:rPr lang="en-US" sz="1600" dirty="0" smtClean="0">
                <a:latin typeface="+mn-lt"/>
              </a:rPr>
              <a:t>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2063158"/>
            <a:chOff x="4662742" y="3056033"/>
            <a:chExt cx="3071559" cy="2063158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I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ncentive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Pct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 delinquency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Decay </a:t>
              </a: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function for CLTV, </a:t>
              </a: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WALA, and incentive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redit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vailability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pct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FHA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765023"/>
            <a:ext cx="4052888" cy="50359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Add plausible long-range forecast : Months Since Starting Payment Status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268613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For each starting payment status (current/</a:t>
            </a:r>
            <a:r>
              <a:rPr lang="en-US" sz="1100" dirty="0" err="1" smtClean="0">
                <a:solidFill>
                  <a:srgbClr val="313131"/>
                </a:solidFill>
              </a:rPr>
              <a:t>delinq</a:t>
            </a:r>
            <a:r>
              <a:rPr lang="en-US" sz="1100" dirty="0" smtClean="0">
                <a:solidFill>
                  <a:srgbClr val="313131"/>
                </a:solidFill>
              </a:rPr>
              <a:t>),we build a curve to show how default rates evolve over time.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With the FHA % goes up, the default rate of a </a:t>
            </a:r>
            <a:r>
              <a:rPr lang="en-US" sz="1100" dirty="0" err="1" smtClean="0">
                <a:solidFill>
                  <a:srgbClr val="313131"/>
                </a:solidFill>
              </a:rPr>
              <a:t>ginnie</a:t>
            </a:r>
            <a:r>
              <a:rPr lang="en-US" sz="1100" dirty="0" smtClean="0">
                <a:solidFill>
                  <a:srgbClr val="313131"/>
                </a:solidFill>
              </a:rPr>
              <a:t> </a:t>
            </a:r>
            <a:r>
              <a:rPr lang="en-US" sz="1100" dirty="0" err="1" smtClean="0">
                <a:solidFill>
                  <a:srgbClr val="313131"/>
                </a:solidFill>
              </a:rPr>
              <a:t>mae</a:t>
            </a:r>
            <a:r>
              <a:rPr lang="en-US" sz="1100" dirty="0" smtClean="0">
                <a:solidFill>
                  <a:srgbClr val="313131"/>
                </a:solidFill>
              </a:rPr>
              <a:t> pool increases.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there is more credit availability (CA), it tends to be easier for borrowers to refinance instead of default. </a:t>
            </a:r>
            <a:r>
              <a:rPr lang="en-US" sz="1100" dirty="0">
                <a:solidFill>
                  <a:srgbClr val="313131"/>
                </a:solidFill>
              </a:rPr>
              <a:t>R</a:t>
            </a:r>
            <a:r>
              <a:rPr lang="en-US" sz="1100" dirty="0" smtClean="0">
                <a:solidFill>
                  <a:srgbClr val="313131"/>
                </a:solidFill>
              </a:rPr>
              <a:t>egression results support a negative correlation between CA and the default rate.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1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2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Changes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</a:t>
            </a:r>
            <a:r>
              <a:rPr lang="en-US" sz="1600" dirty="0" smtClean="0">
                <a:latin typeface="+mn-lt"/>
              </a:rPr>
              <a:t>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532479" y="3293631"/>
            <a:ext cx="3326513" cy="2709489"/>
            <a:chOff x="4662742" y="3056033"/>
            <a:chExt cx="3326513" cy="2709489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8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96005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MonthSinceStartingPaymentStatus</a:t>
              </a:r>
              <a:endParaRPr lang="en-GB" sz="1400" dirty="0" smtClean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Pct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Delinquency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Incentive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Pct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FHA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FICO</a:t>
              </a:r>
              <a:endParaRPr lang="en-GB" sz="1400" dirty="0" smtClean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Availability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532479" y="5779054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895199"/>
            <a:ext cx="3999665" cy="1416827"/>
            <a:chOff x="4662742" y="1618200"/>
            <a:chExt cx="3999665" cy="1416827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2">
                    <a:lumMod val="75000"/>
                  </a:schemeClr>
                </a:solidFill>
                <a:latin typeface="Arial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CDR  = Current% *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Model_CurrentLoans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 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 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            +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Delinq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% * </a:t>
              </a: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Model_DelqLoans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96153" y="3332343"/>
            <a:ext cx="3071559" cy="2063158"/>
            <a:chOff x="4662742" y="3056033"/>
            <a:chExt cx="3071559" cy="2063158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accent2"/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I</a:t>
              </a: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ncentive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err="1" smtClean="0">
                  <a:solidFill>
                    <a:srgbClr val="313131"/>
                  </a:solidFill>
                  <a:latin typeface="Arial"/>
                </a:rPr>
                <a:t>Pct</a:t>
              </a: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 delinquency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69277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</a:t>
            </a:r>
            <a:r>
              <a:rPr lang="en-US" sz="1100" b="1" dirty="0" smtClean="0">
                <a:solidFill>
                  <a:srgbClr val="313131"/>
                </a:solidFill>
              </a:rPr>
              <a:t>Performance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7861836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v2 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has better performance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in two areas: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Overall, the v2 model fits closer to the actual defaul</a:t>
            </a:r>
            <a:r>
              <a:rPr lang="en-GB" sz="1400" dirty="0" smtClean="0">
                <a:solidFill>
                  <a:srgbClr val="313131"/>
                </a:solidFill>
              </a:rPr>
              <a:t>t data. Lower the RMSE from 1.72 to 1.13.(by 34%)</a:t>
            </a:r>
            <a:endParaRPr lang="en-GB" sz="1400" dirty="0" smtClean="0">
              <a:solidFill>
                <a:srgbClr val="313131"/>
              </a:solidFill>
            </a:endParaRPr>
          </a:p>
          <a:p>
            <a:pPr marL="342900" indent="-342900" fontAlgn="auto">
              <a:spcAft>
                <a:spcPts val="0"/>
              </a:spcAft>
              <a:buFontTx/>
              <a:buAutoNum type="arabicParenR"/>
              <a:defRPr/>
            </a:pPr>
            <a:r>
              <a:rPr lang="en-GB" sz="1400" dirty="0">
                <a:solidFill>
                  <a:srgbClr val="313131"/>
                </a:solidFill>
              </a:rPr>
              <a:t>For the most recent </a:t>
            </a:r>
            <a:r>
              <a:rPr lang="en-GB" sz="1400" dirty="0" smtClean="0">
                <a:solidFill>
                  <a:srgbClr val="313131"/>
                </a:solidFill>
              </a:rPr>
              <a:t>months, </a:t>
            </a:r>
            <a:r>
              <a:rPr lang="en-GB" sz="1400" dirty="0">
                <a:solidFill>
                  <a:srgbClr val="313131"/>
                </a:solidFill>
              </a:rPr>
              <a:t>model v1 is too fast, while v2 has better </a:t>
            </a:r>
            <a:r>
              <a:rPr lang="en-GB" sz="1400" dirty="0" smtClean="0">
                <a:solidFill>
                  <a:srgbClr val="313131"/>
                </a:solidFill>
              </a:rPr>
              <a:t>tracking</a:t>
            </a:r>
            <a:endParaRPr lang="en-GB" sz="1400" dirty="0">
              <a:solidFill>
                <a:srgbClr val="313131"/>
              </a:solidFill>
            </a:endParaRPr>
          </a:p>
        </p:txBody>
      </p:sp>
      <p:graphicFrame>
        <p:nvGraphicFramePr>
          <p:cNvPr id="25" name="Chart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7704960"/>
              </p:ext>
            </p:extLst>
          </p:nvPr>
        </p:nvGraphicFramePr>
        <p:xfrm>
          <a:off x="771525" y="1508104"/>
          <a:ext cx="8455602" cy="4405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01784" y="968769"/>
            <a:ext cx="5054281" cy="833437"/>
            <a:chOff x="301784" y="1075644"/>
            <a:chExt cx="5054281" cy="833437"/>
          </a:xfrm>
        </p:grpSpPr>
        <p:grpSp>
          <p:nvGrpSpPr>
            <p:cNvPr id="71" name="Group 70"/>
            <p:cNvGrpSpPr/>
            <p:nvPr/>
          </p:nvGrpSpPr>
          <p:grpSpPr>
            <a:xfrm>
              <a:off x="301784" y="1075644"/>
              <a:ext cx="5054281" cy="833437"/>
              <a:chOff x="393700" y="1376363"/>
              <a:chExt cx="5054281" cy="833437"/>
            </a:xfrm>
          </p:grpSpPr>
          <p:sp>
            <p:nvSpPr>
              <p:cNvPr id="104" name="Pentagon 9"/>
              <p:cNvSpPr/>
              <p:nvPr/>
            </p:nvSpPr>
            <p:spPr>
              <a:xfrm>
                <a:off x="393700" y="1376363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5" name="Pentagon 12"/>
              <p:cNvSpPr/>
              <p:nvPr/>
            </p:nvSpPr>
            <p:spPr>
              <a:xfrm flipH="1">
                <a:off x="2111387" y="1376363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76" name="TextBox 67"/>
            <p:cNvSpPr txBox="1"/>
            <p:nvPr/>
          </p:nvSpPr>
          <p:spPr>
            <a:xfrm>
              <a:off x="384334" y="1088344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01</a:t>
              </a:r>
            </a:p>
          </p:txBody>
        </p:sp>
        <p:sp>
          <p:nvSpPr>
            <p:cNvPr id="77" name="TextBox 68"/>
            <p:cNvSpPr txBox="1"/>
            <p:nvPr/>
          </p:nvSpPr>
          <p:spPr>
            <a:xfrm>
              <a:off x="384333" y="1550205"/>
              <a:ext cx="1558767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smtClean="0">
                  <a:solidFill>
                    <a:schemeClr val="bg2"/>
                  </a:solidFill>
                </a:rPr>
                <a:t>Month Since Start</a:t>
              </a:r>
            </a:p>
          </p:txBody>
        </p:sp>
        <p:sp>
          <p:nvSpPr>
            <p:cNvPr id="86" name="Half Frame 85"/>
            <p:cNvSpPr/>
            <p:nvPr/>
          </p:nvSpPr>
          <p:spPr>
            <a:xfrm rot="8142470">
              <a:off x="2658984" y="1363677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3073985" y="1195337"/>
              <a:ext cx="2212390" cy="48474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chemeClr val="bg2"/>
                  </a:solidFill>
                </a:rPr>
                <a:t>Month since current / </a:t>
              </a:r>
              <a:r>
                <a:rPr lang="en-US" sz="1050" dirty="0" err="1" smtClean="0">
                  <a:solidFill>
                    <a:schemeClr val="bg2"/>
                  </a:solidFill>
                </a:rPr>
                <a:t>delinq</a:t>
              </a:r>
              <a:r>
                <a:rPr lang="en-US" sz="1050" dirty="0" smtClean="0">
                  <a:solidFill>
                    <a:schemeClr val="bg2"/>
                  </a:solidFill>
                </a:rPr>
                <a:t> status helps to predict the long term evolution of pool default rates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01784" y="1862875"/>
            <a:ext cx="5054281" cy="833437"/>
            <a:chOff x="301784" y="2100375"/>
            <a:chExt cx="5054281" cy="833437"/>
          </a:xfrm>
        </p:grpSpPr>
        <p:grpSp>
          <p:nvGrpSpPr>
            <p:cNvPr id="72" name="Group 71"/>
            <p:cNvGrpSpPr/>
            <p:nvPr/>
          </p:nvGrpSpPr>
          <p:grpSpPr>
            <a:xfrm>
              <a:off x="301784" y="2100375"/>
              <a:ext cx="5054281" cy="833437"/>
              <a:chOff x="393700" y="2392363"/>
              <a:chExt cx="5054281" cy="833437"/>
            </a:xfrm>
          </p:grpSpPr>
          <p:sp>
            <p:nvSpPr>
              <p:cNvPr id="102" name="Pentagon 9"/>
              <p:cNvSpPr/>
              <p:nvPr/>
            </p:nvSpPr>
            <p:spPr>
              <a:xfrm>
                <a:off x="393700" y="2392363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3" name="Pentagon 12"/>
              <p:cNvSpPr/>
              <p:nvPr/>
            </p:nvSpPr>
            <p:spPr>
              <a:xfrm flipH="1">
                <a:off x="2111387" y="2392363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78" name="TextBox 69"/>
            <p:cNvSpPr txBox="1"/>
            <p:nvPr/>
          </p:nvSpPr>
          <p:spPr>
            <a:xfrm>
              <a:off x="384334" y="2148286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02</a:t>
              </a:r>
            </a:p>
          </p:txBody>
        </p:sp>
        <p:sp>
          <p:nvSpPr>
            <p:cNvPr id="79" name="TextBox 70"/>
            <p:cNvSpPr txBox="1"/>
            <p:nvPr/>
          </p:nvSpPr>
          <p:spPr>
            <a:xfrm>
              <a:off x="384333" y="2610147"/>
              <a:ext cx="966677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smtClean="0">
                  <a:solidFill>
                    <a:schemeClr val="bg2"/>
                  </a:solidFill>
                </a:rPr>
                <a:t>Incentive</a:t>
              </a:r>
              <a:endParaRPr lang="en-US" sz="1400" b="1" dirty="0" smtClean="0">
                <a:solidFill>
                  <a:schemeClr val="bg2"/>
                </a:solidFill>
              </a:endParaRPr>
            </a:p>
          </p:txBody>
        </p:sp>
        <p:sp>
          <p:nvSpPr>
            <p:cNvPr id="88" name="Half Frame 87"/>
            <p:cNvSpPr/>
            <p:nvPr/>
          </p:nvSpPr>
          <p:spPr>
            <a:xfrm rot="8142470">
              <a:off x="2658984" y="2388409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3073985" y="2220069"/>
              <a:ext cx="1945849" cy="48474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chemeClr val="bg2"/>
                  </a:solidFill>
                </a:rPr>
                <a:t>Borrower with higher </a:t>
              </a:r>
              <a:r>
                <a:rPr lang="en-US" sz="1050" dirty="0" smtClean="0">
                  <a:solidFill>
                    <a:schemeClr val="bg2"/>
                  </a:solidFill>
                </a:rPr>
                <a:t>incentive normally has better profile and lower risk of default.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01784" y="2768856"/>
            <a:ext cx="5054281" cy="833437"/>
            <a:chOff x="301784" y="3125106"/>
            <a:chExt cx="5054281" cy="833437"/>
          </a:xfrm>
        </p:grpSpPr>
        <p:grpSp>
          <p:nvGrpSpPr>
            <p:cNvPr id="73" name="Group 72"/>
            <p:cNvGrpSpPr/>
            <p:nvPr/>
          </p:nvGrpSpPr>
          <p:grpSpPr>
            <a:xfrm>
              <a:off x="301784" y="3125106"/>
              <a:ext cx="5054281" cy="833437"/>
              <a:chOff x="393700" y="3421063"/>
              <a:chExt cx="5054281" cy="833437"/>
            </a:xfrm>
          </p:grpSpPr>
          <p:sp>
            <p:nvSpPr>
              <p:cNvPr id="100" name="Pentagon 9"/>
              <p:cNvSpPr/>
              <p:nvPr/>
            </p:nvSpPr>
            <p:spPr>
              <a:xfrm>
                <a:off x="393700" y="3421063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01" name="Pentagon 12"/>
              <p:cNvSpPr/>
              <p:nvPr/>
            </p:nvSpPr>
            <p:spPr>
              <a:xfrm flipH="1">
                <a:off x="2111387" y="3421063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0" name="TextBox 71"/>
            <p:cNvSpPr txBox="1"/>
            <p:nvPr/>
          </p:nvSpPr>
          <p:spPr>
            <a:xfrm>
              <a:off x="384334" y="3189686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03</a:t>
              </a:r>
            </a:p>
          </p:txBody>
        </p:sp>
        <p:sp>
          <p:nvSpPr>
            <p:cNvPr id="81" name="TextBox 72"/>
            <p:cNvSpPr txBox="1"/>
            <p:nvPr/>
          </p:nvSpPr>
          <p:spPr>
            <a:xfrm>
              <a:off x="384333" y="3651547"/>
              <a:ext cx="145665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chemeClr val="bg2"/>
                  </a:solidFill>
                </a:rPr>
                <a:t>WALA</a:t>
              </a:r>
              <a:endParaRPr lang="en-US" sz="1400" b="1" dirty="0" smtClean="0">
                <a:solidFill>
                  <a:schemeClr val="bg2"/>
                </a:solidFill>
              </a:endParaRPr>
            </a:p>
          </p:txBody>
        </p:sp>
        <p:sp>
          <p:nvSpPr>
            <p:cNvPr id="90" name="Half Frame 89"/>
            <p:cNvSpPr/>
            <p:nvPr/>
          </p:nvSpPr>
          <p:spPr>
            <a:xfrm rot="8142470">
              <a:off x="2658984" y="3413140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3073985" y="3244800"/>
              <a:ext cx="1945849" cy="48474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bg2"/>
                  </a:solidFill>
                </a:rPr>
                <a:t>The WALA ramp effect shows a increasing trend of default as loan age goes up.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01784" y="3674837"/>
            <a:ext cx="5054281" cy="833437"/>
            <a:chOff x="301784" y="4149837"/>
            <a:chExt cx="5054281" cy="833437"/>
          </a:xfrm>
        </p:grpSpPr>
        <p:grpSp>
          <p:nvGrpSpPr>
            <p:cNvPr id="74" name="Group 73"/>
            <p:cNvGrpSpPr/>
            <p:nvPr/>
          </p:nvGrpSpPr>
          <p:grpSpPr>
            <a:xfrm>
              <a:off x="301784" y="4149837"/>
              <a:ext cx="5054281" cy="833437"/>
              <a:chOff x="393700" y="4481513"/>
              <a:chExt cx="5054281" cy="833437"/>
            </a:xfrm>
          </p:grpSpPr>
          <p:sp>
            <p:nvSpPr>
              <p:cNvPr id="98" name="Pentagon 9"/>
              <p:cNvSpPr/>
              <p:nvPr/>
            </p:nvSpPr>
            <p:spPr>
              <a:xfrm>
                <a:off x="393700" y="4481513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99" name="Pentagon 12"/>
              <p:cNvSpPr/>
              <p:nvPr/>
            </p:nvSpPr>
            <p:spPr>
              <a:xfrm flipH="1">
                <a:off x="2111387" y="4481513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2" name="TextBox 73"/>
            <p:cNvSpPr txBox="1"/>
            <p:nvPr/>
          </p:nvSpPr>
          <p:spPr>
            <a:xfrm>
              <a:off x="384334" y="4212036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04</a:t>
              </a:r>
            </a:p>
          </p:txBody>
        </p:sp>
        <p:sp>
          <p:nvSpPr>
            <p:cNvPr id="83" name="TextBox 74"/>
            <p:cNvSpPr txBox="1"/>
            <p:nvPr/>
          </p:nvSpPr>
          <p:spPr>
            <a:xfrm>
              <a:off x="384333" y="4673897"/>
              <a:ext cx="966677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chemeClr val="bg2"/>
                  </a:solidFill>
                </a:rPr>
                <a:t>CLTV</a:t>
              </a:r>
              <a:endParaRPr lang="en-US" sz="1400" b="1" dirty="0" smtClean="0">
                <a:solidFill>
                  <a:schemeClr val="bg2"/>
                </a:solidFill>
              </a:endParaRPr>
            </a:p>
          </p:txBody>
        </p:sp>
        <p:sp>
          <p:nvSpPr>
            <p:cNvPr id="92" name="Half Frame 91"/>
            <p:cNvSpPr/>
            <p:nvPr/>
          </p:nvSpPr>
          <p:spPr>
            <a:xfrm rot="8142470">
              <a:off x="2658984" y="4437871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073985" y="4404350"/>
              <a:ext cx="1945849" cy="32316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bg2"/>
                  </a:solidFill>
                </a:rPr>
                <a:t>Borrower with higher CLTVs will have a higher risk of default.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01784" y="4568944"/>
            <a:ext cx="5054281" cy="833437"/>
            <a:chOff x="301784" y="5174569"/>
            <a:chExt cx="5054281" cy="833437"/>
          </a:xfrm>
        </p:grpSpPr>
        <p:grpSp>
          <p:nvGrpSpPr>
            <p:cNvPr id="75" name="Group 74"/>
            <p:cNvGrpSpPr/>
            <p:nvPr/>
          </p:nvGrpSpPr>
          <p:grpSpPr>
            <a:xfrm>
              <a:off x="301784" y="5174569"/>
              <a:ext cx="5054281" cy="833437"/>
              <a:chOff x="393700" y="5475288"/>
              <a:chExt cx="5054281" cy="833437"/>
            </a:xfrm>
          </p:grpSpPr>
          <p:sp>
            <p:nvSpPr>
              <p:cNvPr id="96" name="Pentagon 9"/>
              <p:cNvSpPr/>
              <p:nvPr/>
            </p:nvSpPr>
            <p:spPr>
              <a:xfrm>
                <a:off x="393700" y="5475288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4B4B4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97" name="Pentagon 12"/>
              <p:cNvSpPr/>
              <p:nvPr/>
            </p:nvSpPr>
            <p:spPr>
              <a:xfrm flipH="1">
                <a:off x="2111387" y="5475288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7575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4" name="TextBox 75"/>
            <p:cNvSpPr txBox="1"/>
            <p:nvPr/>
          </p:nvSpPr>
          <p:spPr>
            <a:xfrm>
              <a:off x="384334" y="5240736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05</a:t>
              </a:r>
            </a:p>
          </p:txBody>
        </p:sp>
        <p:sp>
          <p:nvSpPr>
            <p:cNvPr id="85" name="TextBox 76"/>
            <p:cNvSpPr txBox="1"/>
            <p:nvPr/>
          </p:nvSpPr>
          <p:spPr>
            <a:xfrm>
              <a:off x="384333" y="5702597"/>
              <a:ext cx="966677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err="1" smtClean="0">
                  <a:solidFill>
                    <a:schemeClr val="bg2"/>
                  </a:solidFill>
                </a:rPr>
                <a:t>Pct</a:t>
              </a:r>
              <a:r>
                <a:rPr lang="en-US" sz="1400" b="1" dirty="0" smtClean="0">
                  <a:solidFill>
                    <a:schemeClr val="bg2"/>
                  </a:solidFill>
                </a:rPr>
                <a:t> FHA</a:t>
              </a:r>
              <a:endParaRPr lang="en-US" sz="1400" b="1" dirty="0" smtClean="0">
                <a:solidFill>
                  <a:schemeClr val="bg2"/>
                </a:solidFill>
              </a:endParaRPr>
            </a:p>
          </p:txBody>
        </p:sp>
        <p:sp>
          <p:nvSpPr>
            <p:cNvPr id="94" name="Half Frame 93"/>
            <p:cNvSpPr/>
            <p:nvPr/>
          </p:nvSpPr>
          <p:spPr>
            <a:xfrm rot="8142470">
              <a:off x="2658984" y="546260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3073985" y="5294263"/>
              <a:ext cx="1945849" cy="48474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 smtClean="0">
                  <a:solidFill>
                    <a:schemeClr val="bg2"/>
                  </a:solidFill>
                </a:rPr>
                <a:t>With the FHA% increases in the pool, the default probability goes up at the same time.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sp>
        <p:nvSpPr>
          <p:cNvPr id="106" name="Text Placeholder 3"/>
          <p:cNvSpPr txBox="1">
            <a:spLocks/>
          </p:cNvSpPr>
          <p:nvPr/>
        </p:nvSpPr>
        <p:spPr>
          <a:xfrm>
            <a:off x="5760523" y="1217199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v2 </a:t>
            </a:r>
            <a:r>
              <a:rPr lang="en-GB" dirty="0" smtClean="0">
                <a:solidFill>
                  <a:srgbClr val="313131"/>
                </a:solidFill>
                <a:latin typeface="Arial"/>
              </a:rPr>
              <a:t>of the default model</a:t>
            </a:r>
            <a:r>
              <a:rPr kumimoji="0" lang="en-GB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  <p:grpSp>
        <p:nvGrpSpPr>
          <p:cNvPr id="118" name="Group 117"/>
          <p:cNvGrpSpPr/>
          <p:nvPr/>
        </p:nvGrpSpPr>
        <p:grpSpPr>
          <a:xfrm>
            <a:off x="301784" y="6337896"/>
            <a:ext cx="5054281" cy="833437"/>
            <a:chOff x="301784" y="2100375"/>
            <a:chExt cx="5054281" cy="833437"/>
          </a:xfrm>
        </p:grpSpPr>
        <p:grpSp>
          <p:nvGrpSpPr>
            <p:cNvPr id="119" name="Group 118"/>
            <p:cNvGrpSpPr/>
            <p:nvPr/>
          </p:nvGrpSpPr>
          <p:grpSpPr>
            <a:xfrm>
              <a:off x="301784" y="2100375"/>
              <a:ext cx="5054281" cy="833437"/>
              <a:chOff x="393700" y="2392363"/>
              <a:chExt cx="5054281" cy="833437"/>
            </a:xfrm>
          </p:grpSpPr>
          <p:sp>
            <p:nvSpPr>
              <p:cNvPr id="124" name="Pentagon 9"/>
              <p:cNvSpPr/>
              <p:nvPr/>
            </p:nvSpPr>
            <p:spPr>
              <a:xfrm>
                <a:off x="393700" y="2392363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25" name="Pentagon 12"/>
              <p:cNvSpPr/>
              <p:nvPr/>
            </p:nvSpPr>
            <p:spPr>
              <a:xfrm flipH="1">
                <a:off x="2111387" y="2392363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20" name="TextBox 69"/>
            <p:cNvSpPr txBox="1"/>
            <p:nvPr/>
          </p:nvSpPr>
          <p:spPr>
            <a:xfrm>
              <a:off x="384334" y="2148286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07</a:t>
              </a:r>
              <a:endParaRPr lang="en-US" sz="3200" dirty="0" smtClean="0">
                <a:solidFill>
                  <a:schemeClr val="bg2"/>
                </a:solidFill>
              </a:endParaRPr>
            </a:p>
          </p:txBody>
        </p:sp>
        <p:sp>
          <p:nvSpPr>
            <p:cNvPr id="121" name="TextBox 70"/>
            <p:cNvSpPr txBox="1"/>
            <p:nvPr/>
          </p:nvSpPr>
          <p:spPr>
            <a:xfrm>
              <a:off x="384333" y="2610147"/>
              <a:ext cx="1558767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>
                  <a:solidFill>
                    <a:schemeClr val="bg2"/>
                  </a:solidFill>
                </a:rPr>
                <a:t>Credit </a:t>
              </a:r>
              <a:r>
                <a:rPr lang="en-US" sz="1400" b="1" dirty="0" smtClean="0">
                  <a:solidFill>
                    <a:schemeClr val="bg2"/>
                  </a:solidFill>
                </a:rPr>
                <a:t>Availability</a:t>
              </a:r>
              <a:endParaRPr lang="en-US" sz="1400" b="1" dirty="0">
                <a:solidFill>
                  <a:schemeClr val="bg2"/>
                </a:solidFill>
              </a:endParaRPr>
            </a:p>
          </p:txBody>
        </p:sp>
        <p:sp>
          <p:nvSpPr>
            <p:cNvPr id="122" name="Half Frame 121"/>
            <p:cNvSpPr/>
            <p:nvPr/>
          </p:nvSpPr>
          <p:spPr>
            <a:xfrm rot="8142470">
              <a:off x="2658984" y="2388409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3073985" y="2220069"/>
              <a:ext cx="1945849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bg2"/>
                  </a:solidFill>
                </a:rPr>
                <a:t>When credit availability goes higher, borrowers will have a better chance to refinance lowers the default rate.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301784" y="5449730"/>
            <a:ext cx="5054281" cy="833437"/>
            <a:chOff x="301784" y="3125106"/>
            <a:chExt cx="5054281" cy="833437"/>
          </a:xfrm>
        </p:grpSpPr>
        <p:grpSp>
          <p:nvGrpSpPr>
            <p:cNvPr id="127" name="Group 126"/>
            <p:cNvGrpSpPr/>
            <p:nvPr/>
          </p:nvGrpSpPr>
          <p:grpSpPr>
            <a:xfrm>
              <a:off x="301784" y="3125106"/>
              <a:ext cx="5054281" cy="833437"/>
              <a:chOff x="393700" y="3421063"/>
              <a:chExt cx="5054281" cy="833437"/>
            </a:xfrm>
          </p:grpSpPr>
          <p:sp>
            <p:nvSpPr>
              <p:cNvPr id="132" name="Pentagon 9"/>
              <p:cNvSpPr/>
              <p:nvPr/>
            </p:nvSpPr>
            <p:spPr>
              <a:xfrm>
                <a:off x="393700" y="3421063"/>
                <a:ext cx="1998662" cy="833437"/>
              </a:xfrm>
              <a:custGeom>
                <a:avLst/>
                <a:gdLst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  <a:gd name="connsiteX0" fmla="*/ 0 w 1998662"/>
                  <a:gd name="connsiteY0" fmla="*/ 0 h 833437"/>
                  <a:gd name="connsiteX1" fmla="*/ 1330487 w 1998662"/>
                  <a:gd name="connsiteY1" fmla="*/ 0 h 833437"/>
                  <a:gd name="connsiteX2" fmla="*/ 1998662 w 1998662"/>
                  <a:gd name="connsiteY2" fmla="*/ 416719 h 833437"/>
                  <a:gd name="connsiteX3" fmla="*/ 1330487 w 1998662"/>
                  <a:gd name="connsiteY3" fmla="*/ 833437 h 833437"/>
                  <a:gd name="connsiteX4" fmla="*/ 0 w 1998662"/>
                  <a:gd name="connsiteY4" fmla="*/ 833437 h 833437"/>
                  <a:gd name="connsiteX5" fmla="*/ 0 w 1998662"/>
                  <a:gd name="connsiteY5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8662" h="833437">
                    <a:moveTo>
                      <a:pt x="0" y="0"/>
                    </a:moveTo>
                    <a:lnTo>
                      <a:pt x="1330487" y="0"/>
                    </a:lnTo>
                    <a:cubicBezTo>
                      <a:pt x="1576072" y="9366"/>
                      <a:pt x="1768317" y="453073"/>
                      <a:pt x="1998662" y="416719"/>
                    </a:cubicBezTo>
                    <a:cubicBezTo>
                      <a:pt x="1775937" y="555625"/>
                      <a:pt x="1614172" y="793591"/>
                      <a:pt x="1330487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133" name="Pentagon 12"/>
              <p:cNvSpPr/>
              <p:nvPr/>
            </p:nvSpPr>
            <p:spPr>
              <a:xfrm flipH="1">
                <a:off x="2111387" y="3421063"/>
                <a:ext cx="3336594" cy="833437"/>
              </a:xfrm>
              <a:custGeom>
                <a:avLst/>
                <a:gdLst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055620"/>
                  <a:gd name="connsiteY0" fmla="*/ 0 h 833437"/>
                  <a:gd name="connsiteX1" fmla="*/ 2433159 w 3055620"/>
                  <a:gd name="connsiteY1" fmla="*/ 0 h 833437"/>
                  <a:gd name="connsiteX2" fmla="*/ 3055620 w 3055620"/>
                  <a:gd name="connsiteY2" fmla="*/ 416719 h 833437"/>
                  <a:gd name="connsiteX3" fmla="*/ 2433159 w 3055620"/>
                  <a:gd name="connsiteY3" fmla="*/ 833437 h 833437"/>
                  <a:gd name="connsiteX4" fmla="*/ 0 w 3055620"/>
                  <a:gd name="connsiteY4" fmla="*/ 833437 h 833437"/>
                  <a:gd name="connsiteX5" fmla="*/ 0 w 305562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15640"/>
                  <a:gd name="connsiteY0" fmla="*/ 0 h 833437"/>
                  <a:gd name="connsiteX1" fmla="*/ 2433159 w 3215640"/>
                  <a:gd name="connsiteY1" fmla="*/ 0 h 833437"/>
                  <a:gd name="connsiteX2" fmla="*/ 3215640 w 3215640"/>
                  <a:gd name="connsiteY2" fmla="*/ 531019 h 833437"/>
                  <a:gd name="connsiteX3" fmla="*/ 2433159 w 3215640"/>
                  <a:gd name="connsiteY3" fmla="*/ 833437 h 833437"/>
                  <a:gd name="connsiteX4" fmla="*/ 0 w 3215640"/>
                  <a:gd name="connsiteY4" fmla="*/ 833437 h 833437"/>
                  <a:gd name="connsiteX5" fmla="*/ 0 w 3215640"/>
                  <a:gd name="connsiteY5" fmla="*/ 0 h 833437"/>
                  <a:gd name="connsiteX0" fmla="*/ 0 w 3234548"/>
                  <a:gd name="connsiteY0" fmla="*/ 0 h 833437"/>
                  <a:gd name="connsiteX1" fmla="*/ 2433159 w 3234548"/>
                  <a:gd name="connsiteY1" fmla="*/ 0 h 833437"/>
                  <a:gd name="connsiteX2" fmla="*/ 3215640 w 3234548"/>
                  <a:gd name="connsiteY2" fmla="*/ 531019 h 833437"/>
                  <a:gd name="connsiteX3" fmla="*/ 2946082 w 3234548"/>
                  <a:gd name="connsiteY3" fmla="*/ 668337 h 833437"/>
                  <a:gd name="connsiteX4" fmla="*/ 2433159 w 3234548"/>
                  <a:gd name="connsiteY4" fmla="*/ 833437 h 833437"/>
                  <a:gd name="connsiteX5" fmla="*/ 0 w 3234548"/>
                  <a:gd name="connsiteY5" fmla="*/ 833437 h 833437"/>
                  <a:gd name="connsiteX6" fmla="*/ 0 w 3234548"/>
                  <a:gd name="connsiteY6" fmla="*/ 0 h 833437"/>
                  <a:gd name="connsiteX0" fmla="*/ 0 w 3243981"/>
                  <a:gd name="connsiteY0" fmla="*/ 0 h 833437"/>
                  <a:gd name="connsiteX1" fmla="*/ 2433159 w 3243981"/>
                  <a:gd name="connsiteY1" fmla="*/ 0 h 833437"/>
                  <a:gd name="connsiteX2" fmla="*/ 3215640 w 3243981"/>
                  <a:gd name="connsiteY2" fmla="*/ 531019 h 833437"/>
                  <a:gd name="connsiteX3" fmla="*/ 3047682 w 3243981"/>
                  <a:gd name="connsiteY3" fmla="*/ 528637 h 833437"/>
                  <a:gd name="connsiteX4" fmla="*/ 2433159 w 3243981"/>
                  <a:gd name="connsiteY4" fmla="*/ 833437 h 833437"/>
                  <a:gd name="connsiteX5" fmla="*/ 0 w 3243981"/>
                  <a:gd name="connsiteY5" fmla="*/ 833437 h 833437"/>
                  <a:gd name="connsiteX6" fmla="*/ 0 w 3243981"/>
                  <a:gd name="connsiteY6" fmla="*/ 0 h 833437"/>
                  <a:gd name="connsiteX0" fmla="*/ 0 w 3233439"/>
                  <a:gd name="connsiteY0" fmla="*/ 0 h 833437"/>
                  <a:gd name="connsiteX1" fmla="*/ 2433159 w 3233439"/>
                  <a:gd name="connsiteY1" fmla="*/ 0 h 833437"/>
                  <a:gd name="connsiteX2" fmla="*/ 3215640 w 3233439"/>
                  <a:gd name="connsiteY2" fmla="*/ 531019 h 833437"/>
                  <a:gd name="connsiteX3" fmla="*/ 3047682 w 3233439"/>
                  <a:gd name="connsiteY3" fmla="*/ 528637 h 833437"/>
                  <a:gd name="connsiteX4" fmla="*/ 2433159 w 3233439"/>
                  <a:gd name="connsiteY4" fmla="*/ 833437 h 833437"/>
                  <a:gd name="connsiteX5" fmla="*/ 0 w 3233439"/>
                  <a:gd name="connsiteY5" fmla="*/ 833437 h 833437"/>
                  <a:gd name="connsiteX6" fmla="*/ 0 w 3233439"/>
                  <a:gd name="connsiteY6" fmla="*/ 0 h 833437"/>
                  <a:gd name="connsiteX0" fmla="*/ 0 w 3215999"/>
                  <a:gd name="connsiteY0" fmla="*/ 0 h 833437"/>
                  <a:gd name="connsiteX1" fmla="*/ 2433159 w 3215999"/>
                  <a:gd name="connsiteY1" fmla="*/ 0 h 833437"/>
                  <a:gd name="connsiteX2" fmla="*/ 3215640 w 3215999"/>
                  <a:gd name="connsiteY2" fmla="*/ 531019 h 833437"/>
                  <a:gd name="connsiteX3" fmla="*/ 3047682 w 3215999"/>
                  <a:gd name="connsiteY3" fmla="*/ 528637 h 833437"/>
                  <a:gd name="connsiteX4" fmla="*/ 2433159 w 3215999"/>
                  <a:gd name="connsiteY4" fmla="*/ 833437 h 833437"/>
                  <a:gd name="connsiteX5" fmla="*/ 0 w 3215999"/>
                  <a:gd name="connsiteY5" fmla="*/ 833437 h 833437"/>
                  <a:gd name="connsiteX6" fmla="*/ 0 w 3215999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5"/>
                  <a:gd name="connsiteY0" fmla="*/ 0 h 833437"/>
                  <a:gd name="connsiteX1" fmla="*/ 2433159 w 3336505"/>
                  <a:gd name="connsiteY1" fmla="*/ 0 h 833437"/>
                  <a:gd name="connsiteX2" fmla="*/ 3336290 w 3336505"/>
                  <a:gd name="connsiteY2" fmla="*/ 632619 h 833437"/>
                  <a:gd name="connsiteX3" fmla="*/ 3047682 w 3336505"/>
                  <a:gd name="connsiteY3" fmla="*/ 528637 h 833437"/>
                  <a:gd name="connsiteX4" fmla="*/ 2433159 w 3336505"/>
                  <a:gd name="connsiteY4" fmla="*/ 833437 h 833437"/>
                  <a:gd name="connsiteX5" fmla="*/ 0 w 3336505"/>
                  <a:gd name="connsiteY5" fmla="*/ 833437 h 833437"/>
                  <a:gd name="connsiteX6" fmla="*/ 0 w 3336505"/>
                  <a:gd name="connsiteY6" fmla="*/ 0 h 833437"/>
                  <a:gd name="connsiteX0" fmla="*/ 0 w 3336509"/>
                  <a:gd name="connsiteY0" fmla="*/ 0 h 833437"/>
                  <a:gd name="connsiteX1" fmla="*/ 2433159 w 3336509"/>
                  <a:gd name="connsiteY1" fmla="*/ 0 h 833437"/>
                  <a:gd name="connsiteX2" fmla="*/ 3336290 w 3336509"/>
                  <a:gd name="connsiteY2" fmla="*/ 632619 h 833437"/>
                  <a:gd name="connsiteX3" fmla="*/ 3054032 w 3336509"/>
                  <a:gd name="connsiteY3" fmla="*/ 522287 h 833437"/>
                  <a:gd name="connsiteX4" fmla="*/ 2433159 w 3336509"/>
                  <a:gd name="connsiteY4" fmla="*/ 833437 h 833437"/>
                  <a:gd name="connsiteX5" fmla="*/ 0 w 3336509"/>
                  <a:gd name="connsiteY5" fmla="*/ 833437 h 833437"/>
                  <a:gd name="connsiteX6" fmla="*/ 0 w 3336509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336290 w 3336536"/>
                  <a:gd name="connsiteY2" fmla="*/ 632619 h 833437"/>
                  <a:gd name="connsiteX3" fmla="*/ 3054032 w 3336536"/>
                  <a:gd name="connsiteY3" fmla="*/ 522287 h 833437"/>
                  <a:gd name="connsiteX4" fmla="*/ 2433159 w 3336536"/>
                  <a:gd name="connsiteY4" fmla="*/ 833437 h 833437"/>
                  <a:gd name="connsiteX5" fmla="*/ 0 w 3336536"/>
                  <a:gd name="connsiteY5" fmla="*/ 833437 h 833437"/>
                  <a:gd name="connsiteX6" fmla="*/ 0 w 3336536"/>
                  <a:gd name="connsiteY6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326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36"/>
                  <a:gd name="connsiteY0" fmla="*/ 0 h 833437"/>
                  <a:gd name="connsiteX1" fmla="*/ 2433159 w 3336536"/>
                  <a:gd name="connsiteY1" fmla="*/ 0 h 833437"/>
                  <a:gd name="connsiteX2" fmla="*/ 3047681 w 3336536"/>
                  <a:gd name="connsiteY2" fmla="*/ 414337 h 833437"/>
                  <a:gd name="connsiteX3" fmla="*/ 3336290 w 3336536"/>
                  <a:gd name="connsiteY3" fmla="*/ 645319 h 833437"/>
                  <a:gd name="connsiteX4" fmla="*/ 3054032 w 3336536"/>
                  <a:gd name="connsiteY4" fmla="*/ 522287 h 833437"/>
                  <a:gd name="connsiteX5" fmla="*/ 2433159 w 3336536"/>
                  <a:gd name="connsiteY5" fmla="*/ 833437 h 833437"/>
                  <a:gd name="connsiteX6" fmla="*/ 0 w 3336536"/>
                  <a:gd name="connsiteY6" fmla="*/ 833437 h 833437"/>
                  <a:gd name="connsiteX7" fmla="*/ 0 w 3336536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  <a:gd name="connsiteX0" fmla="*/ 0 w 3336594"/>
                  <a:gd name="connsiteY0" fmla="*/ 0 h 833437"/>
                  <a:gd name="connsiteX1" fmla="*/ 2433159 w 3336594"/>
                  <a:gd name="connsiteY1" fmla="*/ 0 h 833437"/>
                  <a:gd name="connsiteX2" fmla="*/ 3047681 w 3336594"/>
                  <a:gd name="connsiteY2" fmla="*/ 414337 h 833437"/>
                  <a:gd name="connsiteX3" fmla="*/ 3336290 w 3336594"/>
                  <a:gd name="connsiteY3" fmla="*/ 645319 h 833437"/>
                  <a:gd name="connsiteX4" fmla="*/ 3054032 w 3336594"/>
                  <a:gd name="connsiteY4" fmla="*/ 522287 h 833437"/>
                  <a:gd name="connsiteX5" fmla="*/ 2433159 w 3336594"/>
                  <a:gd name="connsiteY5" fmla="*/ 833437 h 833437"/>
                  <a:gd name="connsiteX6" fmla="*/ 0 w 3336594"/>
                  <a:gd name="connsiteY6" fmla="*/ 833437 h 833437"/>
                  <a:gd name="connsiteX7" fmla="*/ 0 w 3336594"/>
                  <a:gd name="connsiteY7" fmla="*/ 0 h 83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6594" h="833437">
                    <a:moveTo>
                      <a:pt x="0" y="0"/>
                    </a:moveTo>
                    <a:lnTo>
                      <a:pt x="2433159" y="0"/>
                    </a:lnTo>
                    <a:cubicBezTo>
                      <a:pt x="2941106" y="69056"/>
                      <a:pt x="2897159" y="308900"/>
                      <a:pt x="3047681" y="414337"/>
                    </a:cubicBezTo>
                    <a:cubicBezTo>
                      <a:pt x="3198203" y="519774"/>
                      <a:pt x="3271732" y="592403"/>
                      <a:pt x="3336290" y="645319"/>
                    </a:cubicBezTo>
                    <a:cubicBezTo>
                      <a:pt x="3345577" y="667809"/>
                      <a:pt x="3139996" y="500459"/>
                      <a:pt x="3054032" y="522287"/>
                    </a:cubicBezTo>
                    <a:cubicBezTo>
                      <a:pt x="2783919" y="598090"/>
                      <a:pt x="2924173" y="805920"/>
                      <a:pt x="2433159" y="833437"/>
                    </a:cubicBezTo>
                    <a:lnTo>
                      <a:pt x="0" y="8334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128" name="TextBox 71"/>
            <p:cNvSpPr txBox="1"/>
            <p:nvPr/>
          </p:nvSpPr>
          <p:spPr>
            <a:xfrm>
              <a:off x="384334" y="3189686"/>
              <a:ext cx="631825" cy="565146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200" dirty="0" smtClean="0">
                  <a:solidFill>
                    <a:schemeClr val="bg2"/>
                  </a:solidFill>
                </a:rPr>
                <a:t>06</a:t>
              </a:r>
              <a:endParaRPr lang="en-US" sz="3200" dirty="0" smtClean="0">
                <a:solidFill>
                  <a:schemeClr val="bg2"/>
                </a:solidFill>
              </a:endParaRPr>
            </a:p>
          </p:txBody>
        </p:sp>
        <p:sp>
          <p:nvSpPr>
            <p:cNvPr id="129" name="TextBox 72"/>
            <p:cNvSpPr txBox="1"/>
            <p:nvPr/>
          </p:nvSpPr>
          <p:spPr>
            <a:xfrm>
              <a:off x="384333" y="3651547"/>
              <a:ext cx="1456653" cy="2881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 smtClean="0">
                  <a:solidFill>
                    <a:schemeClr val="bg2"/>
                  </a:solidFill>
                </a:rPr>
                <a:t>FICO</a:t>
              </a:r>
              <a:endParaRPr lang="en-US" sz="1400" b="1" dirty="0" smtClean="0">
                <a:solidFill>
                  <a:schemeClr val="bg2"/>
                </a:solidFill>
              </a:endParaRPr>
            </a:p>
          </p:txBody>
        </p:sp>
        <p:sp>
          <p:nvSpPr>
            <p:cNvPr id="130" name="Half Frame 129"/>
            <p:cNvSpPr/>
            <p:nvPr/>
          </p:nvSpPr>
          <p:spPr>
            <a:xfrm rot="8142470">
              <a:off x="2658984" y="3413140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chemeClr val="bg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073985" y="3244800"/>
              <a:ext cx="1945849" cy="646331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chemeClr val="bg2"/>
                  </a:solidFill>
                </a:rPr>
                <a:t>Borrowers with lower FICO scores have higher risk of default. </a:t>
              </a:r>
              <a:r>
                <a:rPr lang="en-US" sz="1050" dirty="0" smtClean="0">
                  <a:solidFill>
                    <a:schemeClr val="bg2"/>
                  </a:solidFill>
                </a:rPr>
                <a:t>But the FICO record for GNMA loans are not quite complete.</a:t>
              </a:r>
              <a:endParaRPr lang="en-US" sz="1050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887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 </a:t>
            </a:r>
            <a:r>
              <a:rPr lang="en-US" sz="1600" dirty="0" smtClean="0">
                <a:latin typeface="+mn-lt"/>
              </a:rPr>
              <a:t>– Baseline Curves</a:t>
            </a:r>
            <a:endParaRPr lang="en-US" dirty="0">
              <a:latin typeface="+mn-lt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t="11753"/>
          <a:stretch/>
        </p:blipFill>
        <p:spPr>
          <a:xfrm>
            <a:off x="911607" y="3596640"/>
            <a:ext cx="3862436" cy="296391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t="11514"/>
          <a:stretch/>
        </p:blipFill>
        <p:spPr>
          <a:xfrm>
            <a:off x="4941188" y="3596639"/>
            <a:ext cx="3862436" cy="2971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76527" y="3335030"/>
            <a:ext cx="14706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+mn-lt"/>
              </a:rPr>
              <a:t>Month Since Current</a:t>
            </a:r>
            <a:endParaRPr lang="en-US" sz="1100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04560" y="3356625"/>
            <a:ext cx="17602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+mn-lt"/>
              </a:rPr>
              <a:t>Month Since Delinquent</a:t>
            </a:r>
            <a:endParaRPr lang="en-US" sz="11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6527" y="6564375"/>
            <a:ext cx="14706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+mn-lt"/>
              </a:rPr>
              <a:t>Baseline Constant:</a:t>
            </a:r>
          </a:p>
          <a:p>
            <a:pPr algn="ctr"/>
            <a:r>
              <a:rPr lang="en-US" sz="1100" dirty="0" smtClean="0">
                <a:latin typeface="+mn-lt"/>
              </a:rPr>
              <a:t>CPR: 0.056</a:t>
            </a:r>
            <a:endParaRPr lang="en-US" sz="1100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49340" y="6648195"/>
            <a:ext cx="14706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>
                <a:latin typeface="+mn-lt"/>
              </a:rPr>
              <a:t>Baseline Constant:</a:t>
            </a:r>
          </a:p>
          <a:p>
            <a:pPr algn="ctr"/>
            <a:r>
              <a:rPr lang="en-US" sz="1100" dirty="0" smtClean="0">
                <a:latin typeface="+mn-lt"/>
              </a:rPr>
              <a:t>CPR: 48.45</a:t>
            </a:r>
            <a:endParaRPr lang="en-US" sz="1100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6932" y="1131391"/>
            <a:ext cx="7766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auto">
              <a:spcAft>
                <a:spcPts val="0"/>
              </a:spcAft>
              <a:defRPr/>
            </a:pPr>
            <a:r>
              <a:rPr lang="en-GB" sz="1200" dirty="0">
                <a:solidFill>
                  <a:srgbClr val="313131"/>
                </a:solidFill>
                <a:latin typeface="+mn-lt"/>
              </a:rPr>
              <a:t>For the loans that are currently delinquent/current, we have two separate baseline curves that describe the longer term of their default performance going forward.</a:t>
            </a:r>
          </a:p>
          <a:p>
            <a:pPr lvl="0" fontAlgn="auto">
              <a:spcAft>
                <a:spcPts val="0"/>
              </a:spcAft>
              <a:defRPr/>
            </a:pPr>
            <a:endParaRPr lang="en-GB" sz="1200" dirty="0">
              <a:solidFill>
                <a:srgbClr val="313131"/>
              </a:solidFill>
              <a:latin typeface="+mn-lt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200" dirty="0">
                <a:solidFill>
                  <a:srgbClr val="313131"/>
                </a:solidFill>
                <a:latin typeface="+mn-lt"/>
              </a:rPr>
              <a:t>The curves are a function of the Month Since Starting Payment Status. Meaning if the loan is currently at “current” status, its default rate will follow the left-hand-side chart starting from that month. Or it will follow the RHS curve is it is currently at “delinquent” status</a:t>
            </a:r>
            <a:r>
              <a:rPr lang="en-GB" sz="1200" dirty="0" smtClean="0">
                <a:solidFill>
                  <a:srgbClr val="313131"/>
                </a:solidFill>
                <a:latin typeface="+mn-lt"/>
              </a:rPr>
              <a:t>.</a:t>
            </a:r>
          </a:p>
          <a:p>
            <a:pPr lvl="0" fontAlgn="auto">
              <a:spcAft>
                <a:spcPts val="0"/>
              </a:spcAft>
              <a:defRPr/>
            </a:pPr>
            <a:endParaRPr lang="en-GB" sz="1200" dirty="0">
              <a:solidFill>
                <a:srgbClr val="313131"/>
              </a:solidFill>
              <a:latin typeface="+mn-lt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sz="1200" dirty="0" smtClean="0">
                <a:solidFill>
                  <a:srgbClr val="313131"/>
                </a:solidFill>
                <a:latin typeface="+mn-lt"/>
              </a:rPr>
              <a:t>On pool level, the LHS curve stands for pools with 100% current underling loans; and the RHS stands for 100% delinquent.</a:t>
            </a:r>
            <a:endParaRPr lang="en-GB" sz="1200" dirty="0">
              <a:solidFill>
                <a:srgbClr val="31313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48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v3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 - Delinquent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400425" y="1466850"/>
            <a:ext cx="314325" cy="142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36" y="1124295"/>
            <a:ext cx="3149621" cy="27432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944" y="1124295"/>
            <a:ext cx="3149621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851" y="1124295"/>
            <a:ext cx="3171880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44" y="4050375"/>
            <a:ext cx="3171881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198" y="4050375"/>
            <a:ext cx="3171880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3851" y="4050375"/>
            <a:ext cx="317188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5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74415"/>
              </p:ext>
            </p:extLst>
          </p:nvPr>
        </p:nvGraphicFramePr>
        <p:xfrm>
          <a:off x="1676400" y="1927225"/>
          <a:ext cx="6705600" cy="333756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48.45</a:t>
                      </a:r>
                      <a:endParaRPr lang="en-US" sz="140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48.45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1.11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wala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cltv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fico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0.44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 smtClean="0">
                          <a:effectLst/>
                        </a:rPr>
                        <a:t>pct_fha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0.64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1.05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Credit availability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1.17</a:t>
                      </a:r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Default (%CPR)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0.000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79.31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676398" y="1378982"/>
            <a:ext cx="243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100% Delinquent Pools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88700</TotalTime>
  <Words>703</Words>
  <Application>Microsoft Office PowerPoint</Application>
  <PresentationFormat>Custom</PresentationFormat>
  <Paragraphs>140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8</vt:i4>
      </vt:variant>
    </vt:vector>
  </HeadingPairs>
  <TitlesOfParts>
    <vt:vector size="23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Streamline Model Parameters</vt:lpstr>
      <vt:lpstr>Model Update Overview 1. Streamline Model Parameters</vt:lpstr>
      <vt:lpstr>Performance Comparison 1. Overall</vt:lpstr>
      <vt:lpstr>v3 Default Model Details 1. Model Multipliers</vt:lpstr>
      <vt:lpstr>v3 Default Model Details 2. Model Multiplier Splines – Baseline Curves</vt:lpstr>
      <vt:lpstr>v3 Default Model Details 2. Model Multiplier Splines - Delinquent</vt:lpstr>
      <vt:lpstr>Appendix 1. Max Value of Multipliers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2097</cp:revision>
  <cp:lastPrinted>2014-08-14T21:45:56Z</cp:lastPrinted>
  <dcterms:created xsi:type="dcterms:W3CDTF">2011-07-07T12:37:32Z</dcterms:created>
  <dcterms:modified xsi:type="dcterms:W3CDTF">2016-08-26T19:23:11Z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