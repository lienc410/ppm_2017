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9"/>
  </p:notesMasterIdLst>
  <p:handoutMasterIdLst>
    <p:handoutMasterId r:id="rId30"/>
  </p:handoutMasterIdLst>
  <p:sldIdLst>
    <p:sldId id="433" r:id="rId16"/>
    <p:sldId id="631" r:id="rId17"/>
    <p:sldId id="685" r:id="rId18"/>
    <p:sldId id="686" r:id="rId19"/>
    <p:sldId id="687" r:id="rId20"/>
    <p:sldId id="688" r:id="rId21"/>
    <p:sldId id="689" r:id="rId22"/>
    <p:sldId id="690" r:id="rId23"/>
    <p:sldId id="691" r:id="rId24"/>
    <p:sldId id="692" r:id="rId25"/>
    <p:sldId id="693" r:id="rId26"/>
    <p:sldId id="694" r:id="rId27"/>
    <p:sldId id="695" r:id="rId28"/>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F6D6E3"/>
    <a:srgbClr val="968880"/>
    <a:srgbClr val="8C2B18"/>
    <a:srgbClr val="AD275C"/>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varScale="1">
        <p:scale>
          <a:sx n="139" d="100"/>
          <a:sy n="139" d="100"/>
        </p:scale>
        <p:origin x="-366" y="-108"/>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01.Work%20Progress%20Documents\Turnover%20Model%20Analysis_v2.10_20160707.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6"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MBA CAI</c:v>
                </c:pt>
              </c:strCache>
            </c:strRef>
          </c:tx>
          <c:spPr>
            <a:ln>
              <a:solidFill>
                <a:srgbClr val="AD275C"/>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Sheet1!$C$2:$C$269</c:f>
              <c:numCache>
                <c:formatCode>0.00</c:formatCode>
                <c:ptCount val="26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598.08333333333337</c:v>
                </c:pt>
                <c:pt idx="143">
                  <c:v>624.25</c:v>
                </c:pt>
                <c:pt idx="144">
                  <c:v>650.26851851851859</c:v>
                </c:pt>
                <c:pt idx="145">
                  <c:v>676.13888888888891</c:v>
                </c:pt>
                <c:pt idx="146">
                  <c:v>701.86111111111109</c:v>
                </c:pt>
                <c:pt idx="147">
                  <c:v>727.43518518518522</c:v>
                </c:pt>
                <c:pt idx="148">
                  <c:v>752.86111111111109</c:v>
                </c:pt>
                <c:pt idx="149">
                  <c:v>778.13888888888891</c:v>
                </c:pt>
                <c:pt idx="150">
                  <c:v>798.47222222222229</c:v>
                </c:pt>
                <c:pt idx="151">
                  <c:v>813.86111111111097</c:v>
                </c:pt>
                <c:pt idx="152">
                  <c:v>824.30555555555543</c:v>
                </c:pt>
                <c:pt idx="153">
                  <c:v>829.80555555555554</c:v>
                </c:pt>
                <c:pt idx="154">
                  <c:v>830.36111111111109</c:v>
                </c:pt>
                <c:pt idx="155">
                  <c:v>825.97222222222217</c:v>
                </c:pt>
                <c:pt idx="156">
                  <c:v>819.53703703703695</c:v>
                </c:pt>
                <c:pt idx="157">
                  <c:v>811.05555555555554</c:v>
                </c:pt>
                <c:pt idx="158">
                  <c:v>800.52777777777783</c:v>
                </c:pt>
                <c:pt idx="159">
                  <c:v>787.9537037037037</c:v>
                </c:pt>
                <c:pt idx="160">
                  <c:v>773.33333333333348</c:v>
                </c:pt>
                <c:pt idx="161">
                  <c:v>756.66666666666663</c:v>
                </c:pt>
                <c:pt idx="162">
                  <c:v>737.64814814814827</c:v>
                </c:pt>
                <c:pt idx="163">
                  <c:v>716.27777777777783</c:v>
                </c:pt>
                <c:pt idx="164">
                  <c:v>692.55555555555554</c:v>
                </c:pt>
                <c:pt idx="165">
                  <c:v>666.48148148148152</c:v>
                </c:pt>
                <c:pt idx="166">
                  <c:v>638.05555555555554</c:v>
                </c:pt>
                <c:pt idx="167">
                  <c:v>607.27777777777783</c:v>
                </c:pt>
                <c:pt idx="168">
                  <c:v>576.00000000000011</c:v>
                </c:pt>
                <c:pt idx="169">
                  <c:v>544.22222222222217</c:v>
                </c:pt>
                <c:pt idx="170">
                  <c:v>511.94444444444446</c:v>
                </c:pt>
                <c:pt idx="171">
                  <c:v>479.16666666666669</c:v>
                </c:pt>
                <c:pt idx="172">
                  <c:v>445.88888888888891</c:v>
                </c:pt>
                <c:pt idx="173">
                  <c:v>412.11111111111109</c:v>
                </c:pt>
                <c:pt idx="174">
                  <c:v>379.66666666666674</c:v>
                </c:pt>
                <c:pt idx="175">
                  <c:v>348.55555555555554</c:v>
                </c:pt>
                <c:pt idx="176">
                  <c:v>318.77777777777777</c:v>
                </c:pt>
                <c:pt idx="177">
                  <c:v>290.33333333333331</c:v>
                </c:pt>
                <c:pt idx="178">
                  <c:v>263.22222222222223</c:v>
                </c:pt>
                <c:pt idx="179">
                  <c:v>237.44444444444446</c:v>
                </c:pt>
                <c:pt idx="180">
                  <c:v>214.2037037037037</c:v>
                </c:pt>
                <c:pt idx="181">
                  <c:v>193.5</c:v>
                </c:pt>
                <c:pt idx="182">
                  <c:v>175.33333333333334</c:v>
                </c:pt>
                <c:pt idx="183">
                  <c:v>159.7037037037037</c:v>
                </c:pt>
                <c:pt idx="184">
                  <c:v>146.61111111111111</c:v>
                </c:pt>
                <c:pt idx="185">
                  <c:v>136.05555555555554</c:v>
                </c:pt>
                <c:pt idx="186">
                  <c:v>127.03703703703705</c:v>
                </c:pt>
                <c:pt idx="187">
                  <c:v>119.55555555555556</c:v>
                </c:pt>
                <c:pt idx="188">
                  <c:v>113.61111111111111</c:v>
                </c:pt>
                <c:pt idx="189">
                  <c:v>109.2037037037037</c:v>
                </c:pt>
                <c:pt idx="190">
                  <c:v>106.33333333333331</c:v>
                </c:pt>
                <c:pt idx="191">
                  <c:v>105</c:v>
                </c:pt>
                <c:pt idx="192">
                  <c:v>104.01851851851852</c:v>
                </c:pt>
                <c:pt idx="193">
                  <c:v>103.38888888888889</c:v>
                </c:pt>
                <c:pt idx="194">
                  <c:v>103.11111111111111</c:v>
                </c:pt>
                <c:pt idx="195">
                  <c:v>103.18518518518518</c:v>
                </c:pt>
                <c:pt idx="196">
                  <c:v>103.61111111111111</c:v>
                </c:pt>
                <c:pt idx="197">
                  <c:v>104.38888888888889</c:v>
                </c:pt>
                <c:pt idx="198">
                  <c:v>104.94444444444446</c:v>
                </c:pt>
                <c:pt idx="199">
                  <c:v>105.27777777777777</c:v>
                </c:pt>
                <c:pt idx="200">
                  <c:v>105.38888888888889</c:v>
                </c:pt>
                <c:pt idx="201">
                  <c:v>105.27777777777777</c:v>
                </c:pt>
                <c:pt idx="202">
                  <c:v>104.94444444444444</c:v>
                </c:pt>
                <c:pt idx="203">
                  <c:v>104.38888888888889</c:v>
                </c:pt>
                <c:pt idx="204">
                  <c:v>104.07407407407408</c:v>
                </c:pt>
                <c:pt idx="205">
                  <c:v>104</c:v>
                </c:pt>
                <c:pt idx="206">
                  <c:v>104.08777777777777</c:v>
                </c:pt>
                <c:pt idx="207">
                  <c:v>104.20111111111112</c:v>
                </c:pt>
                <c:pt idx="208">
                  <c:v>104.74444444444444</c:v>
                </c:pt>
                <c:pt idx="209">
                  <c:v>105.66388888888888</c:v>
                </c:pt>
                <c:pt idx="210">
                  <c:v>106.51296296296296</c:v>
                </c:pt>
                <c:pt idx="211">
                  <c:v>107.20277777777777</c:v>
                </c:pt>
                <c:pt idx="212">
                  <c:v>108.04666666666668</c:v>
                </c:pt>
                <c:pt idx="213">
                  <c:v>108.62629629629629</c:v>
                </c:pt>
                <c:pt idx="214">
                  <c:v>109.12333333333333</c:v>
                </c:pt>
                <c:pt idx="215">
                  <c:v>109.50777777777779</c:v>
                </c:pt>
                <c:pt idx="216">
                  <c:v>109.57518518518519</c:v>
                </c:pt>
                <c:pt idx="217">
                  <c:v>109.2811111111111</c:v>
                </c:pt>
                <c:pt idx="218">
                  <c:v>108.86444444444444</c:v>
                </c:pt>
                <c:pt idx="219">
                  <c:v>108.36685185185186</c:v>
                </c:pt>
                <c:pt idx="220">
                  <c:v>107.68444444444444</c:v>
                </c:pt>
                <c:pt idx="221">
                  <c:v>106.90722222222222</c:v>
                </c:pt>
                <c:pt idx="222">
                  <c:v>106.00925925925928</c:v>
                </c:pt>
                <c:pt idx="223">
                  <c:v>105.41277777777778</c:v>
                </c:pt>
                <c:pt idx="224">
                  <c:v>104.95944444444446</c:v>
                </c:pt>
                <c:pt idx="225">
                  <c:v>104.64611111111113</c:v>
                </c:pt>
                <c:pt idx="226">
                  <c:v>104.46111111111112</c:v>
                </c:pt>
                <c:pt idx="227">
                  <c:v>104.32833333333335</c:v>
                </c:pt>
                <c:pt idx="228">
                  <c:v>104.23166666666668</c:v>
                </c:pt>
                <c:pt idx="229">
                  <c:v>104.30833333333337</c:v>
                </c:pt>
                <c:pt idx="230">
                  <c:v>104.1316666666667</c:v>
                </c:pt>
                <c:pt idx="231">
                  <c:v>104.21277777777779</c:v>
                </c:pt>
                <c:pt idx="232">
                  <c:v>104.35666666666667</c:v>
                </c:pt>
                <c:pt idx="233">
                  <c:v>104.62833333333333</c:v>
                </c:pt>
                <c:pt idx="234">
                  <c:v>105.17944444444446</c:v>
                </c:pt>
                <c:pt idx="235">
                  <c:v>105.87166666666666</c:v>
                </c:pt>
                <c:pt idx="236">
                  <c:v>106.4661111111111</c:v>
                </c:pt>
                <c:pt idx="237">
                  <c:v>107.00999999999999</c:v>
                </c:pt>
                <c:pt idx="238">
                  <c:v>107.49055555555556</c:v>
                </c:pt>
                <c:pt idx="239">
                  <c:v>107.92888888888889</c:v>
                </c:pt>
                <c:pt idx="240">
                  <c:v>108.66944444444444</c:v>
                </c:pt>
                <c:pt idx="241">
                  <c:v>109.20111111111112</c:v>
                </c:pt>
                <c:pt idx="242">
                  <c:v>109.76111111111112</c:v>
                </c:pt>
                <c:pt idx="243">
                  <c:v>110.45</c:v>
                </c:pt>
                <c:pt idx="244">
                  <c:v>110.95833333333333</c:v>
                </c:pt>
                <c:pt idx="245">
                  <c:v>111.38277777777778</c:v>
                </c:pt>
                <c:pt idx="246">
                  <c:v>111.83777777777777</c:v>
                </c:pt>
                <c:pt idx="247">
                  <c:v>112.22499999999999</c:v>
                </c:pt>
                <c:pt idx="248">
                  <c:v>112.67444444444443</c:v>
                </c:pt>
                <c:pt idx="249">
                  <c:v>112.93222222222222</c:v>
                </c:pt>
                <c:pt idx="250">
                  <c:v>113.25055555555554</c:v>
                </c:pt>
                <c:pt idx="251">
                  <c:v>113.57777777777777</c:v>
                </c:pt>
                <c:pt idx="252">
                  <c:v>113.88333333333331</c:v>
                </c:pt>
                <c:pt idx="253">
                  <c:v>114.27777777777777</c:v>
                </c:pt>
                <c:pt idx="254">
                  <c:v>114.86994444444443</c:v>
                </c:pt>
                <c:pt idx="255">
                  <c:v>115.45327777777776</c:v>
                </c:pt>
                <c:pt idx="256">
                  <c:v>116.14216666666665</c:v>
                </c:pt>
                <c:pt idx="257">
                  <c:v>116.75883333333331</c:v>
                </c:pt>
                <c:pt idx="258">
                  <c:v>117.45327777777776</c:v>
                </c:pt>
                <c:pt idx="259">
                  <c:v>118.15327777777777</c:v>
                </c:pt>
                <c:pt idx="260">
                  <c:v>118.84772222222222</c:v>
                </c:pt>
                <c:pt idx="261">
                  <c:v>119.65883333333333</c:v>
                </c:pt>
                <c:pt idx="262">
                  <c:v>120.34216666666664</c:v>
                </c:pt>
                <c:pt idx="263">
                  <c:v>120.81694444444445</c:v>
                </c:pt>
                <c:pt idx="264">
                  <c:v>121.22805555555558</c:v>
                </c:pt>
                <c:pt idx="265">
                  <c:v>121.65583333333335</c:v>
                </c:pt>
                <c:pt idx="266">
                  <c:v>122.06694444444445</c:v>
                </c:pt>
                <c:pt idx="267">
                  <c:v>122.57805555555557</c:v>
                </c:pt>
              </c:numCache>
            </c:numRef>
          </c:val>
          <c:smooth val="0"/>
        </c:ser>
        <c:ser>
          <c:idx val="2"/>
          <c:order val="2"/>
          <c:tx>
            <c:strRef>
              <c:f>Sheet1!$D$1</c:f>
              <c:strCache>
                <c:ptCount val="1"/>
                <c:pt idx="0">
                  <c:v>Regression</c:v>
                </c:pt>
              </c:strCache>
            </c:strRef>
          </c:tx>
          <c:spPr>
            <a:ln>
              <a:solidFill>
                <a:srgbClr val="2E8A60"/>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Sheet1!$D$2:$D$269</c:f>
              <c:numCache>
                <c:formatCode>0.00</c:formatCode>
                <c:ptCount val="268"/>
                <c:pt idx="0">
                  <c:v>35.547922555555573</c:v>
                </c:pt>
                <c:pt idx="1">
                  <c:v>36.96132922222224</c:v>
                </c:pt>
                <c:pt idx="2">
                  <c:v>37.383627555555563</c:v>
                </c:pt>
                <c:pt idx="3">
                  <c:v>39.934654222222235</c:v>
                </c:pt>
                <c:pt idx="4">
                  <c:v>40.822342555555579</c:v>
                </c:pt>
                <c:pt idx="5">
                  <c:v>41.965708111111127</c:v>
                </c:pt>
                <c:pt idx="6">
                  <c:v>42.664367666666671</c:v>
                </c:pt>
                <c:pt idx="7">
                  <c:v>41.253833777777793</c:v>
                </c:pt>
                <c:pt idx="8">
                  <c:v>39.843874444444459</c:v>
                </c:pt>
                <c:pt idx="9">
                  <c:v>36.232792777777782</c:v>
                </c:pt>
                <c:pt idx="10">
                  <c:v>34.566581666666671</c:v>
                </c:pt>
                <c:pt idx="11">
                  <c:v>30.736594333333343</c:v>
                </c:pt>
                <c:pt idx="12">
                  <c:v>26.538891444444456</c:v>
                </c:pt>
                <c:pt idx="13">
                  <c:v>25.111120888888898</c:v>
                </c:pt>
                <c:pt idx="14">
                  <c:v>20.797357777777783</c:v>
                </c:pt>
                <c:pt idx="15">
                  <c:v>19.19377322222223</c:v>
                </c:pt>
                <c:pt idx="16">
                  <c:v>18.495688222222228</c:v>
                </c:pt>
                <c:pt idx="17">
                  <c:v>20.890435777777775</c:v>
                </c:pt>
                <c:pt idx="18">
                  <c:v>23.987290222222217</c:v>
                </c:pt>
                <c:pt idx="19">
                  <c:v>23.906852444444443</c:v>
                </c:pt>
                <c:pt idx="20">
                  <c:v>28.256237999999996</c:v>
                </c:pt>
                <c:pt idx="21">
                  <c:v>31.231861222222214</c:v>
                </c:pt>
                <c:pt idx="22">
                  <c:v>36.112710666666658</c:v>
                </c:pt>
                <c:pt idx="23">
                  <c:v>42.950496333333327</c:v>
                </c:pt>
                <c:pt idx="24">
                  <c:v>46.701769555555551</c:v>
                </c:pt>
                <c:pt idx="25">
                  <c:v>50.338706222222221</c:v>
                </c:pt>
                <c:pt idx="26">
                  <c:v>55.075342222222226</c:v>
                </c:pt>
                <c:pt idx="27">
                  <c:v>59.910227222222225</c:v>
                </c:pt>
                <c:pt idx="28">
                  <c:v>66.053949777777774</c:v>
                </c:pt>
                <c:pt idx="29">
                  <c:v>72.851516555555563</c:v>
                </c:pt>
                <c:pt idx="30">
                  <c:v>78.809657666666652</c:v>
                </c:pt>
                <c:pt idx="31">
                  <c:v>83.733024222222241</c:v>
                </c:pt>
                <c:pt idx="32">
                  <c:v>89.124079000000009</c:v>
                </c:pt>
                <c:pt idx="33">
                  <c:v>92.829962333333327</c:v>
                </c:pt>
                <c:pt idx="34">
                  <c:v>97.855025222222238</c:v>
                </c:pt>
                <c:pt idx="35">
                  <c:v>99.915955999999994</c:v>
                </c:pt>
                <c:pt idx="36">
                  <c:v>102.50777611111113</c:v>
                </c:pt>
                <c:pt idx="37">
                  <c:v>105.9378727777778</c:v>
                </c:pt>
                <c:pt idx="38">
                  <c:v>107.79656000000003</c:v>
                </c:pt>
                <c:pt idx="39">
                  <c:v>106.97207277777781</c:v>
                </c:pt>
                <c:pt idx="40">
                  <c:v>107.49894022222227</c:v>
                </c:pt>
                <c:pt idx="41">
                  <c:v>107.85171733333338</c:v>
                </c:pt>
                <c:pt idx="42">
                  <c:v>111.84200566666669</c:v>
                </c:pt>
                <c:pt idx="43">
                  <c:v>116.49820388888891</c:v>
                </c:pt>
                <c:pt idx="44">
                  <c:v>120.98261000000005</c:v>
                </c:pt>
                <c:pt idx="45">
                  <c:v>125.89735822222227</c:v>
                </c:pt>
                <c:pt idx="46">
                  <c:v>129.99796122222227</c:v>
                </c:pt>
                <c:pt idx="47">
                  <c:v>135.07703233333339</c:v>
                </c:pt>
                <c:pt idx="48">
                  <c:v>145.26734966666669</c:v>
                </c:pt>
                <c:pt idx="49">
                  <c:v>151.3553403333334</c:v>
                </c:pt>
                <c:pt idx="50">
                  <c:v>155.76218144444451</c:v>
                </c:pt>
                <c:pt idx="51">
                  <c:v>163.6824297777778</c:v>
                </c:pt>
                <c:pt idx="52">
                  <c:v>171.15165200000004</c:v>
                </c:pt>
                <c:pt idx="53">
                  <c:v>179.46547088888892</c:v>
                </c:pt>
                <c:pt idx="54">
                  <c:v>188.47680022222224</c:v>
                </c:pt>
                <c:pt idx="55">
                  <c:v>196.57228800000001</c:v>
                </c:pt>
                <c:pt idx="56">
                  <c:v>206.62701022222225</c:v>
                </c:pt>
                <c:pt idx="57">
                  <c:v>220.27615200000002</c:v>
                </c:pt>
                <c:pt idx="58">
                  <c:v>230.8755528888889</c:v>
                </c:pt>
                <c:pt idx="59">
                  <c:v>239.32439233333332</c:v>
                </c:pt>
                <c:pt idx="60">
                  <c:v>245.62496855555557</c:v>
                </c:pt>
                <c:pt idx="61">
                  <c:v>249.42335533333335</c:v>
                </c:pt>
                <c:pt idx="62">
                  <c:v>253.89052477777776</c:v>
                </c:pt>
                <c:pt idx="63">
                  <c:v>260.44965100000002</c:v>
                </c:pt>
                <c:pt idx="64">
                  <c:v>267.74076099999996</c:v>
                </c:pt>
                <c:pt idx="65">
                  <c:v>277.13187155555556</c:v>
                </c:pt>
                <c:pt idx="66">
                  <c:v>278.93367777777775</c:v>
                </c:pt>
                <c:pt idx="67">
                  <c:v>283.81165444444446</c:v>
                </c:pt>
                <c:pt idx="68">
                  <c:v>288.42246277777781</c:v>
                </c:pt>
                <c:pt idx="69">
                  <c:v>290.85628011111106</c:v>
                </c:pt>
                <c:pt idx="70">
                  <c:v>294.37198555555563</c:v>
                </c:pt>
                <c:pt idx="71">
                  <c:v>295.21485855555551</c:v>
                </c:pt>
                <c:pt idx="72">
                  <c:v>297.35507800000005</c:v>
                </c:pt>
                <c:pt idx="73">
                  <c:v>300.23072855555557</c:v>
                </c:pt>
                <c:pt idx="74">
                  <c:v>300.66796533333337</c:v>
                </c:pt>
                <c:pt idx="75">
                  <c:v>301.39420355555563</c:v>
                </c:pt>
                <c:pt idx="76">
                  <c:v>303.52867744444444</c:v>
                </c:pt>
                <c:pt idx="77">
                  <c:v>307.38337066666674</c:v>
                </c:pt>
                <c:pt idx="78">
                  <c:v>312.66296166666666</c:v>
                </c:pt>
                <c:pt idx="79">
                  <c:v>319.72424944444452</c:v>
                </c:pt>
                <c:pt idx="80">
                  <c:v>326.45574233333343</c:v>
                </c:pt>
                <c:pt idx="81">
                  <c:v>329.56983344444455</c:v>
                </c:pt>
                <c:pt idx="82">
                  <c:v>332.39951955555563</c:v>
                </c:pt>
                <c:pt idx="83">
                  <c:v>330.76548355555565</c:v>
                </c:pt>
                <c:pt idx="84">
                  <c:v>334.01057333333341</c:v>
                </c:pt>
                <c:pt idx="85">
                  <c:v>335.30332333333331</c:v>
                </c:pt>
                <c:pt idx="86">
                  <c:v>339.27809866666672</c:v>
                </c:pt>
                <c:pt idx="87">
                  <c:v>342.64729244444447</c:v>
                </c:pt>
                <c:pt idx="88">
                  <c:v>344.07506300000006</c:v>
                </c:pt>
                <c:pt idx="89">
                  <c:v>350.46641900000009</c:v>
                </c:pt>
                <c:pt idx="90">
                  <c:v>353.98269900000008</c:v>
                </c:pt>
                <c:pt idx="91">
                  <c:v>356.88133177777786</c:v>
                </c:pt>
                <c:pt idx="92">
                  <c:v>356.89512111111122</c:v>
                </c:pt>
                <c:pt idx="93">
                  <c:v>353.11741833333338</c:v>
                </c:pt>
                <c:pt idx="94">
                  <c:v>354.40729555555561</c:v>
                </c:pt>
                <c:pt idx="95">
                  <c:v>354.42797955555557</c:v>
                </c:pt>
                <c:pt idx="96">
                  <c:v>359.48119566666668</c:v>
                </c:pt>
                <c:pt idx="97">
                  <c:v>360.27408233333335</c:v>
                </c:pt>
                <c:pt idx="98">
                  <c:v>361.70587477777781</c:v>
                </c:pt>
                <c:pt idx="99">
                  <c:v>366.67290755555558</c:v>
                </c:pt>
                <c:pt idx="100">
                  <c:v>373.13780666666668</c:v>
                </c:pt>
                <c:pt idx="101">
                  <c:v>382.07731655555557</c:v>
                </c:pt>
                <c:pt idx="102">
                  <c:v>388.98921988888895</c:v>
                </c:pt>
                <c:pt idx="103">
                  <c:v>397.25132877777781</c:v>
                </c:pt>
                <c:pt idx="104">
                  <c:v>405.30487399999998</c:v>
                </c:pt>
                <c:pt idx="105">
                  <c:v>410.69707788888888</c:v>
                </c:pt>
                <c:pt idx="106">
                  <c:v>416.33002055555556</c:v>
                </c:pt>
                <c:pt idx="107">
                  <c:v>420.0238382222222</c:v>
                </c:pt>
                <c:pt idx="108">
                  <c:v>426.14802588888892</c:v>
                </c:pt>
                <c:pt idx="109">
                  <c:v>428.96909366666665</c:v>
                </c:pt>
                <c:pt idx="110">
                  <c:v>436.30904088888889</c:v>
                </c:pt>
                <c:pt idx="111">
                  <c:v>447.93517255555554</c:v>
                </c:pt>
                <c:pt idx="112">
                  <c:v>459.61473788888884</c:v>
                </c:pt>
                <c:pt idx="113">
                  <c:v>471.89873566666665</c:v>
                </c:pt>
                <c:pt idx="114">
                  <c:v>480.6836901111111</c:v>
                </c:pt>
                <c:pt idx="115">
                  <c:v>491.03660666666667</c:v>
                </c:pt>
                <c:pt idx="116">
                  <c:v>500.46333966666657</c:v>
                </c:pt>
                <c:pt idx="117">
                  <c:v>505.44531088888874</c:v>
                </c:pt>
                <c:pt idx="118">
                  <c:v>511.94813066666666</c:v>
                </c:pt>
                <c:pt idx="119">
                  <c:v>516.14238622222229</c:v>
                </c:pt>
                <c:pt idx="120">
                  <c:v>524.7182024444445</c:v>
                </c:pt>
                <c:pt idx="121">
                  <c:v>531.03256800000008</c:v>
                </c:pt>
                <c:pt idx="122">
                  <c:v>539.52449911111103</c:v>
                </c:pt>
                <c:pt idx="123">
                  <c:v>552.08830544444436</c:v>
                </c:pt>
                <c:pt idx="124">
                  <c:v>564.45331555555549</c:v>
                </c:pt>
                <c:pt idx="125">
                  <c:v>559.73340722222213</c:v>
                </c:pt>
                <c:pt idx="126">
                  <c:v>554.501860111111</c:v>
                </c:pt>
                <c:pt idx="127">
                  <c:v>553.74179455555554</c:v>
                </c:pt>
                <c:pt idx="128">
                  <c:v>549.81219622222216</c:v>
                </c:pt>
                <c:pt idx="129">
                  <c:v>544.74699177777768</c:v>
                </c:pt>
                <c:pt idx="130">
                  <c:v>535.0511597777778</c:v>
                </c:pt>
                <c:pt idx="131">
                  <c:v>525.11200644444443</c:v>
                </c:pt>
                <c:pt idx="132">
                  <c:v>517.53941051851859</c:v>
                </c:pt>
                <c:pt idx="133">
                  <c:v>516.69769599999995</c:v>
                </c:pt>
                <c:pt idx="134">
                  <c:v>518.89993988888887</c:v>
                </c:pt>
                <c:pt idx="135">
                  <c:v>526.93273662962963</c:v>
                </c:pt>
                <c:pt idx="136">
                  <c:v>534.5604347777778</c:v>
                </c:pt>
                <c:pt idx="137">
                  <c:v>547.63718088888891</c:v>
                </c:pt>
                <c:pt idx="138">
                  <c:v>556.60698503703702</c:v>
                </c:pt>
                <c:pt idx="139">
                  <c:v>569.80492466666669</c:v>
                </c:pt>
                <c:pt idx="140">
                  <c:v>580.19786522222228</c:v>
                </c:pt>
                <c:pt idx="141">
                  <c:v>589.31872092592596</c:v>
                </c:pt>
              </c:numCache>
            </c:numRef>
          </c:val>
          <c:smooth val="0"/>
        </c:ser>
        <c:dLbls>
          <c:showLegendKey val="0"/>
          <c:showVal val="0"/>
          <c:showCatName val="0"/>
          <c:showSerName val="0"/>
          <c:showPercent val="0"/>
          <c:showBubbleSize val="0"/>
        </c:dLbls>
        <c:marker val="1"/>
        <c:smooth val="0"/>
        <c:axId val="266168960"/>
        <c:axId val="305205632"/>
      </c:lineChart>
      <c:lineChart>
        <c:grouping val="standard"/>
        <c:varyColors val="0"/>
        <c:ser>
          <c:idx val="0"/>
          <c:order val="0"/>
          <c:tx>
            <c:strRef>
              <c:f>Sheet1!$B$1</c:f>
              <c:strCache>
                <c:ptCount val="1"/>
                <c:pt idx="0">
                  <c:v>Purchase 18M</c:v>
                </c:pt>
              </c:strCache>
            </c:strRef>
          </c:tx>
          <c:spPr>
            <a:ln>
              <a:prstDash val="dash"/>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Sheet1!$B$2:$B$269</c:f>
              <c:numCache>
                <c:formatCode>0.00</c:formatCode>
                <c:ptCount val="268"/>
                <c:pt idx="0">
                  <c:v>151.4702777777778</c:v>
                </c:pt>
                <c:pt idx="1">
                  <c:v>152.1536111111111</c:v>
                </c:pt>
                <c:pt idx="2">
                  <c:v>152.35777777777778</c:v>
                </c:pt>
                <c:pt idx="3">
                  <c:v>153.59111111111113</c:v>
                </c:pt>
                <c:pt idx="4">
                  <c:v>154.02027777777778</c:v>
                </c:pt>
                <c:pt idx="5">
                  <c:v>154.57305555555558</c:v>
                </c:pt>
                <c:pt idx="6">
                  <c:v>154.91083333333336</c:v>
                </c:pt>
                <c:pt idx="7">
                  <c:v>154.22888888888892</c:v>
                </c:pt>
                <c:pt idx="8">
                  <c:v>153.54722222222225</c:v>
                </c:pt>
                <c:pt idx="9">
                  <c:v>151.80138888888891</c:v>
                </c:pt>
                <c:pt idx="10">
                  <c:v>150.99583333333334</c:v>
                </c:pt>
                <c:pt idx="11">
                  <c:v>149.14416666666668</c:v>
                </c:pt>
                <c:pt idx="12">
                  <c:v>147.11472222222221</c:v>
                </c:pt>
                <c:pt idx="13">
                  <c:v>146.42444444444448</c:v>
                </c:pt>
                <c:pt idx="14">
                  <c:v>144.3388888888889</c:v>
                </c:pt>
                <c:pt idx="15">
                  <c:v>143.5636111111111</c:v>
                </c:pt>
                <c:pt idx="16">
                  <c:v>143.22611111111112</c:v>
                </c:pt>
                <c:pt idx="17">
                  <c:v>144.38388888888889</c:v>
                </c:pt>
                <c:pt idx="18">
                  <c:v>145.8811111111111</c:v>
                </c:pt>
                <c:pt idx="19">
                  <c:v>145.8422222222222</c:v>
                </c:pt>
                <c:pt idx="20">
                  <c:v>147.94499999999999</c:v>
                </c:pt>
                <c:pt idx="21">
                  <c:v>149.38361111111109</c:v>
                </c:pt>
                <c:pt idx="22">
                  <c:v>151.74333333333334</c:v>
                </c:pt>
                <c:pt idx="23">
                  <c:v>155.04916666666665</c:v>
                </c:pt>
                <c:pt idx="24">
                  <c:v>156.86277777777775</c:v>
                </c:pt>
                <c:pt idx="25">
                  <c:v>158.62111111111108</c:v>
                </c:pt>
                <c:pt idx="26">
                  <c:v>160.9111111111111</c:v>
                </c:pt>
                <c:pt idx="27">
                  <c:v>163.2486111111111</c:v>
                </c:pt>
                <c:pt idx="28">
                  <c:v>166.21888888888887</c:v>
                </c:pt>
                <c:pt idx="29">
                  <c:v>169.50527777777776</c:v>
                </c:pt>
                <c:pt idx="30">
                  <c:v>172.38583333333335</c:v>
                </c:pt>
                <c:pt idx="31">
                  <c:v>174.76611111111114</c:v>
                </c:pt>
                <c:pt idx="32">
                  <c:v>177.3725</c:v>
                </c:pt>
                <c:pt idx="33">
                  <c:v>179.16416666666669</c:v>
                </c:pt>
                <c:pt idx="34">
                  <c:v>181.59361111111113</c:v>
                </c:pt>
                <c:pt idx="35">
                  <c:v>182.59000000000003</c:v>
                </c:pt>
                <c:pt idx="36">
                  <c:v>183.84305555555559</c:v>
                </c:pt>
                <c:pt idx="37">
                  <c:v>185.50138888888893</c:v>
                </c:pt>
                <c:pt idx="38">
                  <c:v>186.4</c:v>
                </c:pt>
                <c:pt idx="39">
                  <c:v>186.00138888888893</c:v>
                </c:pt>
                <c:pt idx="40">
                  <c:v>186.25611111111115</c:v>
                </c:pt>
                <c:pt idx="41">
                  <c:v>186.42666666666668</c:v>
                </c:pt>
                <c:pt idx="42">
                  <c:v>188.35583333333335</c:v>
                </c:pt>
                <c:pt idx="43">
                  <c:v>190.60694444444445</c:v>
                </c:pt>
                <c:pt idx="44">
                  <c:v>192.77499999999998</c:v>
                </c:pt>
                <c:pt idx="45">
                  <c:v>195.15111111111113</c:v>
                </c:pt>
                <c:pt idx="46">
                  <c:v>197.13361111111109</c:v>
                </c:pt>
                <c:pt idx="47">
                  <c:v>199.58916666666664</c:v>
                </c:pt>
                <c:pt idx="48">
                  <c:v>204.51583333333329</c:v>
                </c:pt>
                <c:pt idx="49">
                  <c:v>207.45916666666665</c:v>
                </c:pt>
                <c:pt idx="50">
                  <c:v>209.58972222222218</c:v>
                </c:pt>
                <c:pt idx="51">
                  <c:v>213.41888888888886</c:v>
                </c:pt>
                <c:pt idx="52">
                  <c:v>217.03</c:v>
                </c:pt>
                <c:pt idx="53">
                  <c:v>221.04944444444445</c:v>
                </c:pt>
                <c:pt idx="54">
                  <c:v>225.4061111111111</c:v>
                </c:pt>
                <c:pt idx="55">
                  <c:v>229.32000000000002</c:v>
                </c:pt>
                <c:pt idx="56">
                  <c:v>234.18111111111114</c:v>
                </c:pt>
                <c:pt idx="57">
                  <c:v>240.78</c:v>
                </c:pt>
                <c:pt idx="58">
                  <c:v>245.90444444444444</c:v>
                </c:pt>
                <c:pt idx="59">
                  <c:v>249.98916666666662</c:v>
                </c:pt>
                <c:pt idx="60">
                  <c:v>253.03527777777774</c:v>
                </c:pt>
                <c:pt idx="61">
                  <c:v>254.8716666666667</c:v>
                </c:pt>
                <c:pt idx="62">
                  <c:v>257.03138888888884</c:v>
                </c:pt>
                <c:pt idx="63">
                  <c:v>260.20249999999999</c:v>
                </c:pt>
                <c:pt idx="64">
                  <c:v>263.72749999999996</c:v>
                </c:pt>
                <c:pt idx="65">
                  <c:v>268.26777777777784</c:v>
                </c:pt>
                <c:pt idx="66">
                  <c:v>269.13888888888891</c:v>
                </c:pt>
                <c:pt idx="67">
                  <c:v>271.49722222222221</c:v>
                </c:pt>
                <c:pt idx="68">
                  <c:v>273.72638888888889</c:v>
                </c:pt>
                <c:pt idx="69">
                  <c:v>274.90305555555557</c:v>
                </c:pt>
                <c:pt idx="70">
                  <c:v>276.60277777777787</c:v>
                </c:pt>
                <c:pt idx="71">
                  <c:v>277.01027777777779</c:v>
                </c:pt>
                <c:pt idx="72">
                  <c:v>278.04499999999996</c:v>
                </c:pt>
                <c:pt idx="73">
                  <c:v>279.4352777777778</c:v>
                </c:pt>
                <c:pt idx="74">
                  <c:v>279.6466666666667</c:v>
                </c:pt>
                <c:pt idx="75">
                  <c:v>279.9977777777778</c:v>
                </c:pt>
                <c:pt idx="76">
                  <c:v>281.02972222222223</c:v>
                </c:pt>
                <c:pt idx="77">
                  <c:v>282.89333333333326</c:v>
                </c:pt>
                <c:pt idx="78">
                  <c:v>285.44583333333338</c:v>
                </c:pt>
                <c:pt idx="79">
                  <c:v>288.85972222222222</c:v>
                </c:pt>
                <c:pt idx="80">
                  <c:v>292.11416666666668</c:v>
                </c:pt>
                <c:pt idx="81">
                  <c:v>293.61972222222226</c:v>
                </c:pt>
                <c:pt idx="82">
                  <c:v>294.98777777777775</c:v>
                </c:pt>
                <c:pt idx="83">
                  <c:v>294.19777777777779</c:v>
                </c:pt>
                <c:pt idx="84">
                  <c:v>295.76666666666665</c:v>
                </c:pt>
                <c:pt idx="85">
                  <c:v>296.39166666666665</c:v>
                </c:pt>
                <c:pt idx="86">
                  <c:v>298.31333333333333</c:v>
                </c:pt>
                <c:pt idx="87">
                  <c:v>299.9422222222222</c:v>
                </c:pt>
                <c:pt idx="88">
                  <c:v>300.63249999999999</c:v>
                </c:pt>
                <c:pt idx="89">
                  <c:v>303.72249999999997</c:v>
                </c:pt>
                <c:pt idx="90">
                  <c:v>305.42249999999996</c:v>
                </c:pt>
                <c:pt idx="91">
                  <c:v>306.82388888888886</c:v>
                </c:pt>
                <c:pt idx="92">
                  <c:v>306.83055555555552</c:v>
                </c:pt>
                <c:pt idx="93">
                  <c:v>305.00416666666666</c:v>
                </c:pt>
                <c:pt idx="94">
                  <c:v>305.62777777777774</c:v>
                </c:pt>
                <c:pt idx="95">
                  <c:v>305.63777777777773</c:v>
                </c:pt>
                <c:pt idx="96">
                  <c:v>308.08083333333326</c:v>
                </c:pt>
                <c:pt idx="97">
                  <c:v>308.46416666666664</c:v>
                </c:pt>
                <c:pt idx="98">
                  <c:v>309.15638888888884</c:v>
                </c:pt>
                <c:pt idx="99">
                  <c:v>311.55777777777774</c:v>
                </c:pt>
                <c:pt idx="100">
                  <c:v>314.68333333333328</c:v>
                </c:pt>
                <c:pt idx="101">
                  <c:v>319.00527777777774</c:v>
                </c:pt>
                <c:pt idx="102">
                  <c:v>322.34694444444443</c:v>
                </c:pt>
                <c:pt idx="103">
                  <c:v>326.34138888888884</c:v>
                </c:pt>
                <c:pt idx="104">
                  <c:v>330.2349999999999</c:v>
                </c:pt>
                <c:pt idx="105">
                  <c:v>332.84194444444444</c:v>
                </c:pt>
                <c:pt idx="106">
                  <c:v>335.56527777777774</c:v>
                </c:pt>
                <c:pt idx="107">
                  <c:v>337.35111111111109</c:v>
                </c:pt>
                <c:pt idx="108">
                  <c:v>340.31194444444441</c:v>
                </c:pt>
                <c:pt idx="109">
                  <c:v>341.67583333333334</c:v>
                </c:pt>
                <c:pt idx="110">
                  <c:v>345.22444444444443</c:v>
                </c:pt>
                <c:pt idx="111">
                  <c:v>350.84527777777777</c:v>
                </c:pt>
                <c:pt idx="112">
                  <c:v>356.49194444444447</c:v>
                </c:pt>
                <c:pt idx="113">
                  <c:v>362.43083333333334</c:v>
                </c:pt>
                <c:pt idx="114">
                  <c:v>366.67805555555555</c:v>
                </c:pt>
                <c:pt idx="115">
                  <c:v>371.68333333333328</c:v>
                </c:pt>
                <c:pt idx="116">
                  <c:v>376.24083333333328</c:v>
                </c:pt>
                <c:pt idx="117">
                  <c:v>378.64944444444444</c:v>
                </c:pt>
                <c:pt idx="118">
                  <c:v>381.79333333333329</c:v>
                </c:pt>
                <c:pt idx="119">
                  <c:v>383.82111111111112</c:v>
                </c:pt>
                <c:pt idx="120">
                  <c:v>387.96722222222223</c:v>
                </c:pt>
                <c:pt idx="121">
                  <c:v>391.02</c:v>
                </c:pt>
                <c:pt idx="122">
                  <c:v>395.12555555555559</c:v>
                </c:pt>
                <c:pt idx="123">
                  <c:v>401.19972222222231</c:v>
                </c:pt>
                <c:pt idx="124">
                  <c:v>407.17777777777781</c:v>
                </c:pt>
                <c:pt idx="125">
                  <c:v>411.91527777777782</c:v>
                </c:pt>
                <c:pt idx="126">
                  <c:v>417.25638888888886</c:v>
                </c:pt>
                <c:pt idx="127">
                  <c:v>423.86888888888893</c:v>
                </c:pt>
                <c:pt idx="128">
                  <c:v>429.6563888888889</c:v>
                </c:pt>
                <c:pt idx="129">
                  <c:v>434.41305555555556</c:v>
                </c:pt>
                <c:pt idx="130">
                  <c:v>437.47333333333336</c:v>
                </c:pt>
                <c:pt idx="131">
                  <c:v>440.16777777777776</c:v>
                </c:pt>
                <c:pt idx="132">
                  <c:v>440.02749999999992</c:v>
                </c:pt>
                <c:pt idx="133">
                  <c:v>441.47222222222229</c:v>
                </c:pt>
                <c:pt idx="134">
                  <c:v>444.12083333333334</c:v>
                </c:pt>
                <c:pt idx="135">
                  <c:v>448.53527777777776</c:v>
                </c:pt>
                <c:pt idx="136">
                  <c:v>451.83388888888891</c:v>
                </c:pt>
                <c:pt idx="137">
                  <c:v>456.37138888888887</c:v>
                </c:pt>
                <c:pt idx="138">
                  <c:v>458.96805555555562</c:v>
                </c:pt>
                <c:pt idx="139">
                  <c:v>463.06388888888887</c:v>
                </c:pt>
                <c:pt idx="140">
                  <c:v>465.87027777777774</c:v>
                </c:pt>
                <c:pt idx="141">
                  <c:v>466.50305555555559</c:v>
                </c:pt>
                <c:pt idx="142">
                  <c:v>466.97527777777782</c:v>
                </c:pt>
                <c:pt idx="143">
                  <c:v>467.67305555555566</c:v>
                </c:pt>
                <c:pt idx="144">
                  <c:v>467.19055555555559</c:v>
                </c:pt>
                <c:pt idx="145">
                  <c:v>464.86277777777781</c:v>
                </c:pt>
                <c:pt idx="146">
                  <c:v>461.70888888888891</c:v>
                </c:pt>
                <c:pt idx="147">
                  <c:v>459.10499999999996</c:v>
                </c:pt>
                <c:pt idx="148">
                  <c:v>455.6077777777777</c:v>
                </c:pt>
                <c:pt idx="149">
                  <c:v>452.01</c:v>
                </c:pt>
                <c:pt idx="150">
                  <c:v>450.17944444444441</c:v>
                </c:pt>
                <c:pt idx="151">
                  <c:v>447.50166666666667</c:v>
                </c:pt>
                <c:pt idx="152">
                  <c:v>444.04111111111115</c:v>
                </c:pt>
                <c:pt idx="153">
                  <c:v>439.10555555555555</c:v>
                </c:pt>
                <c:pt idx="154">
                  <c:v>434.69861111111118</c:v>
                </c:pt>
                <c:pt idx="155">
                  <c:v>431.00138888888893</c:v>
                </c:pt>
                <c:pt idx="156">
                  <c:v>427.40027777777783</c:v>
                </c:pt>
                <c:pt idx="157">
                  <c:v>422.27527777777783</c:v>
                </c:pt>
                <c:pt idx="158">
                  <c:v>417.54750000000001</c:v>
                </c:pt>
                <c:pt idx="159">
                  <c:v>414.36972222222221</c:v>
                </c:pt>
                <c:pt idx="160">
                  <c:v>412.19749999999999</c:v>
                </c:pt>
                <c:pt idx="161">
                  <c:v>411.50972222222219</c:v>
                </c:pt>
                <c:pt idx="162">
                  <c:v>410.54444444444448</c:v>
                </c:pt>
                <c:pt idx="163">
                  <c:v>412.44138888888887</c:v>
                </c:pt>
                <c:pt idx="164">
                  <c:v>413.82861111111117</c:v>
                </c:pt>
                <c:pt idx="165">
                  <c:v>414.24944444444446</c:v>
                </c:pt>
                <c:pt idx="166">
                  <c:v>415.28305555555562</c:v>
                </c:pt>
                <c:pt idx="167">
                  <c:v>415.65722222222229</c:v>
                </c:pt>
                <c:pt idx="168">
                  <c:v>416.88499999999999</c:v>
                </c:pt>
                <c:pt idx="169">
                  <c:v>416.57361111111118</c:v>
                </c:pt>
                <c:pt idx="170">
                  <c:v>415.33555555555557</c:v>
                </c:pt>
                <c:pt idx="171">
                  <c:v>414.47027777777777</c:v>
                </c:pt>
                <c:pt idx="172">
                  <c:v>411.91027777777776</c:v>
                </c:pt>
                <c:pt idx="173">
                  <c:v>407.92972222222215</c:v>
                </c:pt>
                <c:pt idx="174">
                  <c:v>403.03249999999991</c:v>
                </c:pt>
                <c:pt idx="175">
                  <c:v>398.85666666666657</c:v>
                </c:pt>
                <c:pt idx="176">
                  <c:v>395.57249999999999</c:v>
                </c:pt>
                <c:pt idx="177">
                  <c:v>389.02305555555557</c:v>
                </c:pt>
                <c:pt idx="178">
                  <c:v>380.9661111111111</c:v>
                </c:pt>
                <c:pt idx="179">
                  <c:v>373.33805555555551</c:v>
                </c:pt>
                <c:pt idx="180">
                  <c:v>365.80805555555548</c:v>
                </c:pt>
                <c:pt idx="181">
                  <c:v>354.93611111111102</c:v>
                </c:pt>
                <c:pt idx="182">
                  <c:v>345.43611111111107</c:v>
                </c:pt>
                <c:pt idx="183">
                  <c:v>336.94027777777779</c:v>
                </c:pt>
                <c:pt idx="184">
                  <c:v>327.73361111111109</c:v>
                </c:pt>
                <c:pt idx="185">
                  <c:v>319.82250000000005</c:v>
                </c:pt>
                <c:pt idx="186">
                  <c:v>311.33944444444455</c:v>
                </c:pt>
                <c:pt idx="187">
                  <c:v>305.67861111111119</c:v>
                </c:pt>
                <c:pt idx="188">
                  <c:v>300.70916666666676</c:v>
                </c:pt>
                <c:pt idx="189">
                  <c:v>295.6133333333334</c:v>
                </c:pt>
                <c:pt idx="190">
                  <c:v>287.84972222222228</c:v>
                </c:pt>
                <c:pt idx="191">
                  <c:v>280.74</c:v>
                </c:pt>
                <c:pt idx="192">
                  <c:v>273.95055555555552</c:v>
                </c:pt>
                <c:pt idx="193">
                  <c:v>267.80277777777769</c:v>
                </c:pt>
                <c:pt idx="194">
                  <c:v>261.13472222222219</c:v>
                </c:pt>
                <c:pt idx="195">
                  <c:v>258.68583333333328</c:v>
                </c:pt>
                <c:pt idx="196">
                  <c:v>254.01638888888888</c:v>
                </c:pt>
                <c:pt idx="197">
                  <c:v>246.72055555555548</c:v>
                </c:pt>
                <c:pt idx="198">
                  <c:v>239.48944444444442</c:v>
                </c:pt>
                <c:pt idx="199">
                  <c:v>235.44499999999996</c:v>
                </c:pt>
                <c:pt idx="200">
                  <c:v>231.01999999999992</c:v>
                </c:pt>
                <c:pt idx="201">
                  <c:v>226.26999999999995</c:v>
                </c:pt>
                <c:pt idx="202">
                  <c:v>222.56805555555553</c:v>
                </c:pt>
                <c:pt idx="203">
                  <c:v>218.76611111111109</c:v>
                </c:pt>
                <c:pt idx="204">
                  <c:v>214.26444444444442</c:v>
                </c:pt>
                <c:pt idx="205">
                  <c:v>208.92000000000002</c:v>
                </c:pt>
                <c:pt idx="206">
                  <c:v>203.71861111111116</c:v>
                </c:pt>
                <c:pt idx="207">
                  <c:v>199.2463888888889</c:v>
                </c:pt>
                <c:pt idx="208">
                  <c:v>197.66861111111109</c:v>
                </c:pt>
                <c:pt idx="209">
                  <c:v>195.43805555555554</c:v>
                </c:pt>
                <c:pt idx="210">
                  <c:v>193.4025</c:v>
                </c:pt>
                <c:pt idx="211">
                  <c:v>190.95944444444444</c:v>
                </c:pt>
                <c:pt idx="212">
                  <c:v>187.69144444444444</c:v>
                </c:pt>
                <c:pt idx="213">
                  <c:v>183.30644444444442</c:v>
                </c:pt>
                <c:pt idx="214">
                  <c:v>182.31074999999998</c:v>
                </c:pt>
                <c:pt idx="215">
                  <c:v>182.9060833333333</c:v>
                </c:pt>
                <c:pt idx="216">
                  <c:v>183.7476111111111</c:v>
                </c:pt>
                <c:pt idx="217">
                  <c:v>183.69899999999996</c:v>
                </c:pt>
                <c:pt idx="218">
                  <c:v>184.0912222222222</c:v>
                </c:pt>
                <c:pt idx="219">
                  <c:v>184.5842777777778</c:v>
                </c:pt>
                <c:pt idx="220">
                  <c:v>184.33011111111111</c:v>
                </c:pt>
                <c:pt idx="221">
                  <c:v>183.66455555555555</c:v>
                </c:pt>
                <c:pt idx="222">
                  <c:v>183.81733333333332</c:v>
                </c:pt>
                <c:pt idx="223">
                  <c:v>183.7448333333333</c:v>
                </c:pt>
                <c:pt idx="224">
                  <c:v>183.72677777777776</c:v>
                </c:pt>
                <c:pt idx="225">
                  <c:v>183.65316666666664</c:v>
                </c:pt>
                <c:pt idx="226">
                  <c:v>183.96566666666661</c:v>
                </c:pt>
                <c:pt idx="227">
                  <c:v>184.3101111111111</c:v>
                </c:pt>
                <c:pt idx="228">
                  <c:v>185.5059444444444</c:v>
                </c:pt>
                <c:pt idx="229">
                  <c:v>187.12538888888884</c:v>
                </c:pt>
                <c:pt idx="230">
                  <c:v>189.10116666666664</c:v>
                </c:pt>
                <c:pt idx="231">
                  <c:v>191.55255555555556</c:v>
                </c:pt>
                <c:pt idx="232">
                  <c:v>192.8943611111111</c:v>
                </c:pt>
                <c:pt idx="233">
                  <c:v>194.41847222222219</c:v>
                </c:pt>
                <c:pt idx="234">
                  <c:v>195.19083333333333</c:v>
                </c:pt>
                <c:pt idx="235">
                  <c:v>196.10138888888889</c:v>
                </c:pt>
                <c:pt idx="236">
                  <c:v>196.18277777777777</c:v>
                </c:pt>
                <c:pt idx="237">
                  <c:v>195.79388888888889</c:v>
                </c:pt>
                <c:pt idx="238">
                  <c:v>195.60333333333332</c:v>
                </c:pt>
                <c:pt idx="239">
                  <c:v>194.82361111111109</c:v>
                </c:pt>
                <c:pt idx="240">
                  <c:v>194.54583333333335</c:v>
                </c:pt>
                <c:pt idx="241">
                  <c:v>193.76694444444445</c:v>
                </c:pt>
                <c:pt idx="242">
                  <c:v>192.76277777777779</c:v>
                </c:pt>
                <c:pt idx="243">
                  <c:v>191.95166666666668</c:v>
                </c:pt>
                <c:pt idx="244">
                  <c:v>190.99611111111113</c:v>
                </c:pt>
                <c:pt idx="245">
                  <c:v>190.3405555555556</c:v>
                </c:pt>
                <c:pt idx="246">
                  <c:v>188.46833333333336</c:v>
                </c:pt>
                <c:pt idx="247">
                  <c:v>186.7763888888889</c:v>
                </c:pt>
                <c:pt idx="248">
                  <c:v>184.59083333333334</c:v>
                </c:pt>
                <c:pt idx="249">
                  <c:v>181.76333333333335</c:v>
                </c:pt>
                <c:pt idx="250">
                  <c:v>179.58388888888891</c:v>
                </c:pt>
                <c:pt idx="251">
                  <c:v>176.98527777777778</c:v>
                </c:pt>
                <c:pt idx="252">
                  <c:v>176.20027777777776</c:v>
                </c:pt>
                <c:pt idx="253">
                  <c:v>175.18416666666664</c:v>
                </c:pt>
                <c:pt idx="254">
                  <c:v>174.48</c:v>
                </c:pt>
                <c:pt idx="255">
                  <c:v>175.5397222222222</c:v>
                </c:pt>
                <c:pt idx="256">
                  <c:v>176.36972222222221</c:v>
                </c:pt>
                <c:pt idx="257">
                  <c:v>178.10027777777776</c:v>
                </c:pt>
                <c:pt idx="258">
                  <c:v>179.13694444444445</c:v>
                </c:pt>
                <c:pt idx="259">
                  <c:v>181.10222222222222</c:v>
                </c:pt>
                <c:pt idx="260">
                  <c:v>182.90777777777782</c:v>
                </c:pt>
                <c:pt idx="261">
                  <c:v>184.20472222222224</c:v>
                </c:pt>
                <c:pt idx="262">
                  <c:v>185.9088888888889</c:v>
                </c:pt>
                <c:pt idx="263">
                  <c:v>188.46166666666667</c:v>
                </c:pt>
                <c:pt idx="264">
                  <c:v>191.29916666666665</c:v>
                </c:pt>
                <c:pt idx="265">
                  <c:v>194.1577777777778</c:v>
                </c:pt>
                <c:pt idx="266">
                  <c:v>197.43833333333333</c:v>
                </c:pt>
                <c:pt idx="267">
                  <c:v>201.36166666666665</c:v>
                </c:pt>
              </c:numCache>
            </c:numRef>
          </c:val>
          <c:smooth val="0"/>
        </c:ser>
        <c:dLbls>
          <c:showLegendKey val="0"/>
          <c:showVal val="0"/>
          <c:showCatName val="0"/>
          <c:showSerName val="0"/>
          <c:showPercent val="0"/>
          <c:showBubbleSize val="0"/>
        </c:dLbls>
        <c:marker val="1"/>
        <c:smooth val="0"/>
        <c:axId val="305208704"/>
        <c:axId val="305207168"/>
      </c:lineChart>
      <c:dateAx>
        <c:axId val="266168960"/>
        <c:scaling>
          <c:orientation val="minMax"/>
        </c:scaling>
        <c:delete val="0"/>
        <c:axPos val="b"/>
        <c:numFmt formatCode="m/d/yyyy" sourceLinked="1"/>
        <c:majorTickMark val="out"/>
        <c:minorTickMark val="none"/>
        <c:tickLblPos val="nextTo"/>
        <c:crossAx val="305205632"/>
        <c:crosses val="autoZero"/>
        <c:auto val="1"/>
        <c:lblOffset val="100"/>
        <c:baseTimeUnit val="months"/>
        <c:majorUnit val="12"/>
        <c:majorTimeUnit val="months"/>
      </c:dateAx>
      <c:valAx>
        <c:axId val="305205632"/>
        <c:scaling>
          <c:orientation val="minMax"/>
        </c:scaling>
        <c:delete val="0"/>
        <c:axPos val="l"/>
        <c:numFmt formatCode="0.00" sourceLinked="1"/>
        <c:majorTickMark val="out"/>
        <c:minorTickMark val="none"/>
        <c:tickLblPos val="nextTo"/>
        <c:crossAx val="266168960"/>
        <c:crosses val="autoZero"/>
        <c:crossBetween val="between"/>
      </c:valAx>
      <c:valAx>
        <c:axId val="305207168"/>
        <c:scaling>
          <c:orientation val="minMax"/>
          <c:min val="150"/>
        </c:scaling>
        <c:delete val="0"/>
        <c:axPos val="r"/>
        <c:numFmt formatCode="0.00" sourceLinked="1"/>
        <c:majorTickMark val="out"/>
        <c:minorTickMark val="none"/>
        <c:tickLblPos val="nextTo"/>
        <c:crossAx val="305208704"/>
        <c:crosses val="max"/>
        <c:crossBetween val="between"/>
      </c:valAx>
      <c:dateAx>
        <c:axId val="305208704"/>
        <c:scaling>
          <c:orientation val="minMax"/>
        </c:scaling>
        <c:delete val="1"/>
        <c:axPos val="b"/>
        <c:numFmt formatCode="m/d/yyyy" sourceLinked="1"/>
        <c:majorTickMark val="out"/>
        <c:minorTickMark val="none"/>
        <c:tickLblPos val="nextTo"/>
        <c:crossAx val="305207168"/>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Tracking for Turnover Model (FNU9)</a:t>
            </a:r>
            <a:endParaRPr lang="en-US" dirty="0"/>
          </a:p>
        </c:rich>
      </c:tx>
      <c:layout/>
      <c:overlay val="0"/>
    </c:title>
    <c:autoTitleDeleted val="0"/>
    <c:plotArea>
      <c:layout/>
      <c:lineChart>
        <c:grouping val="standard"/>
        <c:varyColors val="0"/>
        <c:ser>
          <c:idx val="0"/>
          <c:order val="0"/>
          <c:tx>
            <c:strRef>
              <c:f>'U9'!$C$1</c:f>
              <c:strCache>
                <c:ptCount val="1"/>
                <c:pt idx="0">
                  <c:v>act</c:v>
                </c:pt>
              </c:strCache>
            </c:strRef>
          </c:tx>
          <c:marker>
            <c:symbol val="none"/>
          </c:marker>
          <c:cat>
            <c:numRef>
              <c:f>'U9'!$B$2:$B$49</c:f>
              <c:numCache>
                <c:formatCode>m/d/yyyy</c:formatCode>
                <c:ptCount val="48"/>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numCache>
            </c:numRef>
          </c:cat>
          <c:val>
            <c:numRef>
              <c:f>'U9'!$C$2:$C$49</c:f>
              <c:numCache>
                <c:formatCode>General</c:formatCode>
                <c:ptCount val="48"/>
                <c:pt idx="0">
                  <c:v>7.1788920000000006E-2</c:v>
                </c:pt>
                <c:pt idx="1">
                  <c:v>0.55898559999999997</c:v>
                </c:pt>
                <c:pt idx="2">
                  <c:v>0.18544495999999999</c:v>
                </c:pt>
                <c:pt idx="3">
                  <c:v>0.15807616999999999</c:v>
                </c:pt>
                <c:pt idx="4">
                  <c:v>0.24945680000000001</c:v>
                </c:pt>
                <c:pt idx="5">
                  <c:v>0.35981758000000003</c:v>
                </c:pt>
                <c:pt idx="6">
                  <c:v>0.53134676000000003</c:v>
                </c:pt>
                <c:pt idx="7">
                  <c:v>0.14475556000000001</c:v>
                </c:pt>
                <c:pt idx="8">
                  <c:v>0.55789001000000005</c:v>
                </c:pt>
                <c:pt idx="9">
                  <c:v>0.68686804999999995</c:v>
                </c:pt>
                <c:pt idx="10">
                  <c:v>0.81045962999999999</c:v>
                </c:pt>
                <c:pt idx="11">
                  <c:v>1.30465567</c:v>
                </c:pt>
                <c:pt idx="12">
                  <c:v>1.8512056299999999</c:v>
                </c:pt>
                <c:pt idx="13">
                  <c:v>2.0984226600000002</c:v>
                </c:pt>
                <c:pt idx="14">
                  <c:v>2.3671759099999998</c:v>
                </c:pt>
                <c:pt idx="15">
                  <c:v>2.1746339400000001</c:v>
                </c:pt>
                <c:pt idx="16">
                  <c:v>1.7179118099999999</c:v>
                </c:pt>
                <c:pt idx="17">
                  <c:v>1.4847327299999999</c:v>
                </c:pt>
                <c:pt idx="18">
                  <c:v>2.2124128299999999</c:v>
                </c:pt>
                <c:pt idx="19">
                  <c:v>1.6395776200000001</c:v>
                </c:pt>
                <c:pt idx="20">
                  <c:v>1.78874482</c:v>
                </c:pt>
                <c:pt idx="21">
                  <c:v>1.9173450000000001</c:v>
                </c:pt>
                <c:pt idx="22">
                  <c:v>2.1653632100000002</c:v>
                </c:pt>
                <c:pt idx="23">
                  <c:v>2.26814465</c:v>
                </c:pt>
                <c:pt idx="24">
                  <c:v>2.4047091300000001</c:v>
                </c:pt>
                <c:pt idx="25">
                  <c:v>2.72050036</c:v>
                </c:pt>
                <c:pt idx="26">
                  <c:v>2.5974695099999998</c:v>
                </c:pt>
                <c:pt idx="27">
                  <c:v>2.54802953</c:v>
                </c:pt>
                <c:pt idx="28">
                  <c:v>3.1942328299999998</c:v>
                </c:pt>
                <c:pt idx="29">
                  <c:v>2.0287049599999998</c:v>
                </c:pt>
                <c:pt idx="30">
                  <c:v>2.6519022200000002</c:v>
                </c:pt>
                <c:pt idx="31">
                  <c:v>1.9977252299999999</c:v>
                </c:pt>
                <c:pt idx="32">
                  <c:v>2.9380731099999999</c:v>
                </c:pt>
                <c:pt idx="33">
                  <c:v>2.8449363399999998</c:v>
                </c:pt>
                <c:pt idx="34">
                  <c:v>3.3445007200000001</c:v>
                </c:pt>
                <c:pt idx="35">
                  <c:v>3.4377955199999999</c:v>
                </c:pt>
                <c:pt idx="36">
                  <c:v>3.9884886000000002</c:v>
                </c:pt>
                <c:pt idx="37">
                  <c:v>4.1431290499999998</c:v>
                </c:pt>
                <c:pt idx="38">
                  <c:v>4.30846339</c:v>
                </c:pt>
                <c:pt idx="39">
                  <c:v>3.8240843</c:v>
                </c:pt>
                <c:pt idx="40">
                  <c:v>3.0566604399999999</c:v>
                </c:pt>
                <c:pt idx="41">
                  <c:v>3.6798867799999999</c:v>
                </c:pt>
                <c:pt idx="42">
                  <c:v>3.17914472</c:v>
                </c:pt>
                <c:pt idx="43">
                  <c:v>2.8585455400000002</c:v>
                </c:pt>
                <c:pt idx="44">
                  <c:v>3.1438396900000001</c:v>
                </c:pt>
                <c:pt idx="45">
                  <c:v>5.05161002</c:v>
                </c:pt>
                <c:pt idx="46">
                  <c:v>4.5610821499999998</c:v>
                </c:pt>
                <c:pt idx="47">
                  <c:v>4.86307753</c:v>
                </c:pt>
              </c:numCache>
            </c:numRef>
          </c:val>
          <c:smooth val="0"/>
        </c:ser>
        <c:ser>
          <c:idx val="1"/>
          <c:order val="1"/>
          <c:tx>
            <c:strRef>
              <c:f>'U9'!$D$1</c:f>
              <c:strCache>
                <c:ptCount val="1"/>
                <c:pt idx="0">
                  <c:v>v2.1</c:v>
                </c:pt>
              </c:strCache>
            </c:strRef>
          </c:tx>
          <c:spPr>
            <a:ln>
              <a:solidFill>
                <a:srgbClr val="C00000"/>
              </a:solidFill>
            </a:ln>
          </c:spPr>
          <c:marker>
            <c:symbol val="none"/>
          </c:marker>
          <c:cat>
            <c:numRef>
              <c:f>'U9'!$B$2:$B$49</c:f>
              <c:numCache>
                <c:formatCode>m/d/yyyy</c:formatCode>
                <c:ptCount val="48"/>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numCache>
            </c:numRef>
          </c:cat>
          <c:val>
            <c:numRef>
              <c:f>'U9'!$D$2:$D$49</c:f>
              <c:numCache>
                <c:formatCode>General</c:formatCode>
                <c:ptCount val="48"/>
                <c:pt idx="0">
                  <c:v>0.65336740000000004</c:v>
                </c:pt>
                <c:pt idx="1">
                  <c:v>0.62317009999999995</c:v>
                </c:pt>
                <c:pt idx="2">
                  <c:v>0.68211699999999997</c:v>
                </c:pt>
                <c:pt idx="3">
                  <c:v>0.66562390000000005</c:v>
                </c:pt>
                <c:pt idx="4">
                  <c:v>0.68531120000000001</c:v>
                </c:pt>
                <c:pt idx="5">
                  <c:v>0.75966149999999999</c:v>
                </c:pt>
                <c:pt idx="6">
                  <c:v>0.63330470000000005</c:v>
                </c:pt>
                <c:pt idx="7">
                  <c:v>0.71658630000000001</c:v>
                </c:pt>
                <c:pt idx="8">
                  <c:v>1.0398122000000001</c:v>
                </c:pt>
                <c:pt idx="9">
                  <c:v>1.2638999</c:v>
                </c:pt>
                <c:pt idx="10">
                  <c:v>1.3819231999999999</c:v>
                </c:pt>
                <c:pt idx="11">
                  <c:v>1.8386593</c:v>
                </c:pt>
                <c:pt idx="12">
                  <c:v>2.0092824999999999</c:v>
                </c:pt>
                <c:pt idx="13">
                  <c:v>2.0228373999999998</c:v>
                </c:pt>
                <c:pt idx="14">
                  <c:v>1.7379511000000001</c:v>
                </c:pt>
                <c:pt idx="15">
                  <c:v>1.7845006999999999</c:v>
                </c:pt>
                <c:pt idx="16">
                  <c:v>1.8311009</c:v>
                </c:pt>
                <c:pt idx="17">
                  <c:v>1.9694718</c:v>
                </c:pt>
                <c:pt idx="18">
                  <c:v>1.4256574</c:v>
                </c:pt>
                <c:pt idx="19">
                  <c:v>1.5712398000000001</c:v>
                </c:pt>
                <c:pt idx="20">
                  <c:v>2.2492839999999998</c:v>
                </c:pt>
                <c:pt idx="21">
                  <c:v>2.5897456000000001</c:v>
                </c:pt>
                <c:pt idx="22">
                  <c:v>2.8705010999999998</c:v>
                </c:pt>
                <c:pt idx="23">
                  <c:v>3.3017840000000001</c:v>
                </c:pt>
                <c:pt idx="24">
                  <c:v>3.2277111000000001</c:v>
                </c:pt>
                <c:pt idx="25">
                  <c:v>3.3682696999999999</c:v>
                </c:pt>
                <c:pt idx="26">
                  <c:v>2.8881744</c:v>
                </c:pt>
                <c:pt idx="27">
                  <c:v>2.8928210000000001</c:v>
                </c:pt>
                <c:pt idx="28">
                  <c:v>2.7205463999999999</c:v>
                </c:pt>
                <c:pt idx="29">
                  <c:v>2.8710171999999998</c:v>
                </c:pt>
                <c:pt idx="30">
                  <c:v>2.1647064</c:v>
                </c:pt>
                <c:pt idx="31">
                  <c:v>2.3024263</c:v>
                </c:pt>
                <c:pt idx="32">
                  <c:v>3.0445305999999999</c:v>
                </c:pt>
                <c:pt idx="33">
                  <c:v>3.4757007999999998</c:v>
                </c:pt>
                <c:pt idx="34">
                  <c:v>3.8043360000000002</c:v>
                </c:pt>
                <c:pt idx="35">
                  <c:v>4.2329331000000003</c:v>
                </c:pt>
                <c:pt idx="36">
                  <c:v>4.0325679000000001</c:v>
                </c:pt>
                <c:pt idx="37">
                  <c:v>4.1744045999999999</c:v>
                </c:pt>
                <c:pt idx="38">
                  <c:v>3.5790377000000002</c:v>
                </c:pt>
                <c:pt idx="39">
                  <c:v>3.5943271000000001</c:v>
                </c:pt>
                <c:pt idx="40">
                  <c:v>3.2942977</c:v>
                </c:pt>
                <c:pt idx="41">
                  <c:v>3.4320029000000001</c:v>
                </c:pt>
                <c:pt idx="42">
                  <c:v>2.5549417000000001</c:v>
                </c:pt>
                <c:pt idx="43">
                  <c:v>2.7129224999999999</c:v>
                </c:pt>
                <c:pt idx="44">
                  <c:v>3.6006556999999999</c:v>
                </c:pt>
                <c:pt idx="45">
                  <c:v>4.0900176999999998</c:v>
                </c:pt>
                <c:pt idx="46">
                  <c:v>4.4740253000000001</c:v>
                </c:pt>
                <c:pt idx="47">
                  <c:v>4.9180384999999998</c:v>
                </c:pt>
              </c:numCache>
            </c:numRef>
          </c:val>
          <c:smooth val="0"/>
        </c:ser>
        <c:ser>
          <c:idx val="2"/>
          <c:order val="2"/>
          <c:tx>
            <c:strRef>
              <c:f>'U9'!$E$1</c:f>
              <c:strCache>
                <c:ptCount val="1"/>
                <c:pt idx="0">
                  <c:v>v2.0</c:v>
                </c:pt>
              </c:strCache>
            </c:strRef>
          </c:tx>
          <c:spPr>
            <a:ln>
              <a:solidFill>
                <a:schemeClr val="bg2">
                  <a:lumMod val="50000"/>
                </a:schemeClr>
              </a:solidFill>
            </a:ln>
          </c:spPr>
          <c:marker>
            <c:symbol val="none"/>
          </c:marker>
          <c:cat>
            <c:numRef>
              <c:f>'U9'!$B$2:$B$49</c:f>
              <c:numCache>
                <c:formatCode>m/d/yyyy</c:formatCode>
                <c:ptCount val="48"/>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numCache>
            </c:numRef>
          </c:cat>
          <c:val>
            <c:numRef>
              <c:f>'U9'!$E$2:$E$49</c:f>
              <c:numCache>
                <c:formatCode>General</c:formatCode>
                <c:ptCount val="48"/>
                <c:pt idx="1">
                  <c:v>0.1</c:v>
                </c:pt>
                <c:pt idx="2">
                  <c:v>0.1</c:v>
                </c:pt>
                <c:pt idx="3">
                  <c:v>0.1</c:v>
                </c:pt>
                <c:pt idx="4">
                  <c:v>0.1</c:v>
                </c:pt>
                <c:pt idx="5">
                  <c:v>0.1</c:v>
                </c:pt>
                <c:pt idx="6">
                  <c:v>0.1</c:v>
                </c:pt>
                <c:pt idx="7">
                  <c:v>0.1</c:v>
                </c:pt>
                <c:pt idx="8">
                  <c:v>0.1</c:v>
                </c:pt>
                <c:pt idx="9">
                  <c:v>0.1</c:v>
                </c:pt>
                <c:pt idx="10">
                  <c:v>0.2</c:v>
                </c:pt>
                <c:pt idx="11">
                  <c:v>0.2</c:v>
                </c:pt>
                <c:pt idx="12">
                  <c:v>0.3</c:v>
                </c:pt>
                <c:pt idx="13">
                  <c:v>0.3</c:v>
                </c:pt>
                <c:pt idx="14">
                  <c:v>0.3</c:v>
                </c:pt>
                <c:pt idx="15">
                  <c:v>0.2</c:v>
                </c:pt>
                <c:pt idx="16">
                  <c:v>0.2</c:v>
                </c:pt>
                <c:pt idx="17">
                  <c:v>0.2</c:v>
                </c:pt>
                <c:pt idx="18">
                  <c:v>0.3</c:v>
                </c:pt>
                <c:pt idx="19">
                  <c:v>0.2</c:v>
                </c:pt>
                <c:pt idx="20">
                  <c:v>0.2</c:v>
                </c:pt>
                <c:pt idx="21">
                  <c:v>0.3</c:v>
                </c:pt>
                <c:pt idx="22">
                  <c:v>0.4</c:v>
                </c:pt>
                <c:pt idx="23">
                  <c:v>0.5</c:v>
                </c:pt>
                <c:pt idx="24">
                  <c:v>0.6</c:v>
                </c:pt>
                <c:pt idx="25">
                  <c:v>0.6</c:v>
                </c:pt>
                <c:pt idx="26">
                  <c:v>0.6</c:v>
                </c:pt>
                <c:pt idx="27">
                  <c:v>0.5</c:v>
                </c:pt>
                <c:pt idx="28">
                  <c:v>0.5</c:v>
                </c:pt>
                <c:pt idx="29">
                  <c:v>0.5</c:v>
                </c:pt>
                <c:pt idx="30">
                  <c:v>0.5</c:v>
                </c:pt>
                <c:pt idx="31">
                  <c:v>0.4</c:v>
                </c:pt>
                <c:pt idx="32">
                  <c:v>0.5</c:v>
                </c:pt>
                <c:pt idx="33">
                  <c:v>0.7</c:v>
                </c:pt>
                <c:pt idx="34">
                  <c:v>0.8</c:v>
                </c:pt>
                <c:pt idx="35">
                  <c:v>1</c:v>
                </c:pt>
                <c:pt idx="36">
                  <c:v>1.2</c:v>
                </c:pt>
                <c:pt idx="37">
                  <c:v>1.2</c:v>
                </c:pt>
                <c:pt idx="38">
                  <c:v>1.3</c:v>
                </c:pt>
                <c:pt idx="39">
                  <c:v>1.2</c:v>
                </c:pt>
                <c:pt idx="40">
                  <c:v>1.3</c:v>
                </c:pt>
                <c:pt idx="41">
                  <c:v>1.2</c:v>
                </c:pt>
                <c:pt idx="42">
                  <c:v>1.3</c:v>
                </c:pt>
                <c:pt idx="43">
                  <c:v>1</c:v>
                </c:pt>
                <c:pt idx="44">
                  <c:v>1.1000000000000001</c:v>
                </c:pt>
                <c:pt idx="45">
                  <c:v>1.6</c:v>
                </c:pt>
                <c:pt idx="46">
                  <c:v>1.8</c:v>
                </c:pt>
                <c:pt idx="47">
                  <c:v>1.9</c:v>
                </c:pt>
              </c:numCache>
            </c:numRef>
          </c:val>
          <c:smooth val="0"/>
        </c:ser>
        <c:dLbls>
          <c:showLegendKey val="0"/>
          <c:showVal val="0"/>
          <c:showCatName val="0"/>
          <c:showSerName val="0"/>
          <c:showPercent val="0"/>
          <c:showBubbleSize val="0"/>
        </c:dLbls>
        <c:marker val="1"/>
        <c:smooth val="0"/>
        <c:axId val="219314048"/>
        <c:axId val="219315584"/>
      </c:lineChart>
      <c:dateAx>
        <c:axId val="219314048"/>
        <c:scaling>
          <c:orientation val="minMax"/>
        </c:scaling>
        <c:delete val="0"/>
        <c:axPos val="b"/>
        <c:numFmt formatCode="m/d/yyyy" sourceLinked="1"/>
        <c:majorTickMark val="out"/>
        <c:minorTickMark val="none"/>
        <c:tickLblPos val="nextTo"/>
        <c:crossAx val="219315584"/>
        <c:crosses val="autoZero"/>
        <c:auto val="1"/>
        <c:lblOffset val="100"/>
        <c:baseTimeUnit val="months"/>
      </c:dateAx>
      <c:valAx>
        <c:axId val="219315584"/>
        <c:scaling>
          <c:orientation val="minMax"/>
        </c:scaling>
        <c:delete val="0"/>
        <c:axPos val="l"/>
        <c:numFmt formatCode="General" sourceLinked="1"/>
        <c:majorTickMark val="out"/>
        <c:minorTickMark val="none"/>
        <c:tickLblPos val="nextTo"/>
        <c:crossAx val="219314048"/>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Conv!$N$1</c:f>
              <c:strCache>
                <c:ptCount val="1"/>
                <c:pt idx="0">
                  <c:v>Total</c:v>
                </c:pt>
              </c:strCache>
            </c:strRef>
          </c:tx>
          <c:marker>
            <c:symbol val="none"/>
          </c:marker>
          <c:cat>
            <c:numRef>
              <c:f>Conv!$M$2:$M$269</c:f>
              <c:numCache>
                <c:formatCode>m/d/yyyy</c:formatCode>
                <c:ptCount val="268"/>
                <c:pt idx="0">
                  <c:v>34394</c:v>
                </c:pt>
                <c:pt idx="1">
                  <c:v>34425</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35400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pt idx="262">
                  <c:v>42430</c:v>
                </c:pt>
                <c:pt idx="263">
                  <c:v>42461</c:v>
                </c:pt>
                <c:pt idx="264">
                  <c:v>42491</c:v>
                </c:pt>
                <c:pt idx="265">
                  <c:v>42522</c:v>
                </c:pt>
                <c:pt idx="266">
                  <c:v>42491</c:v>
                </c:pt>
                <c:pt idx="267">
                  <c:v>42522</c:v>
                </c:pt>
              </c:numCache>
            </c:numRef>
          </c:cat>
          <c:val>
            <c:numRef>
              <c:f>Conv!$N$2:$N$269</c:f>
              <c:numCache>
                <c:formatCode>General</c:formatCode>
                <c:ptCount val="268"/>
                <c:pt idx="0">
                  <c:v>21.3734637363298</c:v>
                </c:pt>
                <c:pt idx="1">
                  <c:v>17.650204472422999</c:v>
                </c:pt>
                <c:pt idx="2">
                  <c:v>0</c:v>
                </c:pt>
                <c:pt idx="3">
                  <c:v>7.5053673815989796</c:v>
                </c:pt>
                <c:pt idx="4">
                  <c:v>6.6884282297972497</c:v>
                </c:pt>
                <c:pt idx="5">
                  <c:v>5.5092176710814602</c:v>
                </c:pt>
                <c:pt idx="6">
                  <c:v>5.6972301491306396</c:v>
                </c:pt>
                <c:pt idx="7">
                  <c:v>4.6765548668613004</c:v>
                </c:pt>
                <c:pt idx="8">
                  <c:v>4.6360297969992503</c:v>
                </c:pt>
                <c:pt idx="9">
                  <c:v>4.2021153644901403</c:v>
                </c:pt>
                <c:pt idx="10">
                  <c:v>4.1584704328964603</c:v>
                </c:pt>
                <c:pt idx="11">
                  <c:v>3.7622110290408401</c:v>
                </c:pt>
                <c:pt idx="12">
                  <c:v>3.8361600336189099</c:v>
                </c:pt>
                <c:pt idx="13">
                  <c:v>4.1636085875222104</c:v>
                </c:pt>
                <c:pt idx="14">
                  <c:v>5.23476967437007</c:v>
                </c:pt>
                <c:pt idx="15">
                  <c:v>6.4906716406581699</c:v>
                </c:pt>
                <c:pt idx="16">
                  <c:v>8.1027573869048908</c:v>
                </c:pt>
                <c:pt idx="17">
                  <c:v>9.8463690164649798</c:v>
                </c:pt>
                <c:pt idx="18">
                  <c:v>9.4481306098570705</c:v>
                </c:pt>
                <c:pt idx="19">
                  <c:v>7.5913155536404</c:v>
                </c:pt>
                <c:pt idx="20">
                  <c:v>8.7727930747606404</c:v>
                </c:pt>
                <c:pt idx="21">
                  <c:v>9.8705623978557409</c:v>
                </c:pt>
                <c:pt idx="22">
                  <c:v>8.6492451424061603</c:v>
                </c:pt>
                <c:pt idx="23">
                  <c:v>11.442572141451601</c:v>
                </c:pt>
                <c:pt idx="24">
                  <c:v>15.3927971441226</c:v>
                </c:pt>
                <c:pt idx="25">
                  <c:v>13.363742170850299</c:v>
                </c:pt>
                <c:pt idx="26">
                  <c:v>10.3507520399087</c:v>
                </c:pt>
                <c:pt idx="27">
                  <c:v>8.8440049882606093</c:v>
                </c:pt>
                <c:pt idx="28">
                  <c:v>7.2887043845587103</c:v>
                </c:pt>
                <c:pt idx="29">
                  <c:v>7.31356868681591</c:v>
                </c:pt>
                <c:pt idx="30">
                  <c:v>6.8280834969149904</c:v>
                </c:pt>
                <c:pt idx="31">
                  <c:v>6.3041020146253599</c:v>
                </c:pt>
                <c:pt idx="32">
                  <c:v>6.6304897818760704</c:v>
                </c:pt>
                <c:pt idx="33">
                  <c:v>0</c:v>
                </c:pt>
                <c:pt idx="34">
                  <c:v>6.6663866776870799</c:v>
                </c:pt>
                <c:pt idx="35">
                  <c:v>6.4571351971162301</c:v>
                </c:pt>
                <c:pt idx="36">
                  <c:v>8.2709180334696502</c:v>
                </c:pt>
                <c:pt idx="37">
                  <c:v>7.4516998877907001</c:v>
                </c:pt>
                <c:pt idx="38">
                  <c:v>7.8975471302970597</c:v>
                </c:pt>
                <c:pt idx="39">
                  <c:v>8.7701973027371398</c:v>
                </c:pt>
                <c:pt idx="40">
                  <c:v>9.9266485637690103</c:v>
                </c:pt>
                <c:pt idx="41">
                  <c:v>11.6977796075025</c:v>
                </c:pt>
                <c:pt idx="42">
                  <c:v>8.1141183688766194</c:v>
                </c:pt>
                <c:pt idx="43">
                  <c:v>10.3521179142659</c:v>
                </c:pt>
                <c:pt idx="44">
                  <c:v>12.277333458876599</c:v>
                </c:pt>
                <c:pt idx="45">
                  <c:v>10.5407503268457</c:v>
                </c:pt>
                <c:pt idx="46">
                  <c:v>18.9067057580578</c:v>
                </c:pt>
                <c:pt idx="47">
                  <c:v>26.266477186768899</c:v>
                </c:pt>
                <c:pt idx="48">
                  <c:v>25.2189072486659</c:v>
                </c:pt>
                <c:pt idx="49">
                  <c:v>21.063111090732502</c:v>
                </c:pt>
                <c:pt idx="50">
                  <c:v>18.674087229866199</c:v>
                </c:pt>
                <c:pt idx="51">
                  <c:v>18.633801877520401</c:v>
                </c:pt>
                <c:pt idx="52">
                  <c:v>21.310972567811898</c:v>
                </c:pt>
                <c:pt idx="53">
                  <c:v>21.459284776218102</c:v>
                </c:pt>
                <c:pt idx="54">
                  <c:v>27.7269664150671</c:v>
                </c:pt>
                <c:pt idx="55">
                  <c:v>34.662700704981901</c:v>
                </c:pt>
                <c:pt idx="56">
                  <c:v>35.260544774731002</c:v>
                </c:pt>
                <c:pt idx="57">
                  <c:v>31.2687629600129</c:v>
                </c:pt>
                <c:pt idx="58">
                  <c:v>26.898087542265699</c:v>
                </c:pt>
                <c:pt idx="59">
                  <c:v>25.819907337817401</c:v>
                </c:pt>
                <c:pt idx="60">
                  <c:v>25.120730764464799</c:v>
                </c:pt>
                <c:pt idx="61">
                  <c:v>22.4885570575271</c:v>
                </c:pt>
                <c:pt idx="62">
                  <c:v>20.6654464871621</c:v>
                </c:pt>
                <c:pt idx="63">
                  <c:v>17.693142419919901</c:v>
                </c:pt>
                <c:pt idx="64">
                  <c:v>15.8464724437243</c:v>
                </c:pt>
                <c:pt idx="65">
                  <c:v>13.448148599927601</c:v>
                </c:pt>
                <c:pt idx="66">
                  <c:v>11.207851063900099</c:v>
                </c:pt>
                <c:pt idx="67">
                  <c:v>10.509102639567599</c:v>
                </c:pt>
                <c:pt idx="68">
                  <c:v>8.4267410315544709</c:v>
                </c:pt>
                <c:pt idx="69">
                  <c:v>6.9137883701049496</c:v>
                </c:pt>
                <c:pt idx="70">
                  <c:v>6.4668903583414803</c:v>
                </c:pt>
                <c:pt idx="71">
                  <c:v>6.55379681079327</c:v>
                </c:pt>
                <c:pt idx="72">
                  <c:v>8.4599441247118197</c:v>
                </c:pt>
                <c:pt idx="73">
                  <c:v>7.4381132169378299</c:v>
                </c:pt>
                <c:pt idx="74">
                  <c:v>9.2490412236164108</c:v>
                </c:pt>
                <c:pt idx="75">
                  <c:v>8.6199435531379507</c:v>
                </c:pt>
                <c:pt idx="76">
                  <c:v>8.2867842147027204</c:v>
                </c:pt>
                <c:pt idx="77">
                  <c:v>8.3050430455887891</c:v>
                </c:pt>
                <c:pt idx="78">
                  <c:v>7.2972483504587302</c:v>
                </c:pt>
                <c:pt idx="79">
                  <c:v>8.7248802415531497</c:v>
                </c:pt>
                <c:pt idx="80">
                  <c:v>8.0097117135588807</c:v>
                </c:pt>
                <c:pt idx="81">
                  <c:v>8.2137953221382602</c:v>
                </c:pt>
                <c:pt idx="82">
                  <c:v>18.353651658965202</c:v>
                </c:pt>
                <c:pt idx="83">
                  <c:v>23.963241657954999</c:v>
                </c:pt>
                <c:pt idx="84">
                  <c:v>26.476195521890901</c:v>
                </c:pt>
                <c:pt idx="85">
                  <c:v>28.239236139470901</c:v>
                </c:pt>
                <c:pt idx="86">
                  <c:v>32.6006320438388</c:v>
                </c:pt>
                <c:pt idx="87">
                  <c:v>22.016454985782001</c:v>
                </c:pt>
                <c:pt idx="88">
                  <c:v>24.478839575150602</c:v>
                </c:pt>
                <c:pt idx="89">
                  <c:v>21.595274171670699</c:v>
                </c:pt>
                <c:pt idx="90">
                  <c:v>29.216121647838399</c:v>
                </c:pt>
                <c:pt idx="91">
                  <c:v>37.106168632958699</c:v>
                </c:pt>
                <c:pt idx="92">
                  <c:v>41.406877455270298</c:v>
                </c:pt>
                <c:pt idx="93">
                  <c:v>32.190246897441199</c:v>
                </c:pt>
                <c:pt idx="94">
                  <c:v>26.811666034683299</c:v>
                </c:pt>
                <c:pt idx="95">
                  <c:v>22.1825112389397</c:v>
                </c:pt>
                <c:pt idx="96">
                  <c:v>19.052577127922699</c:v>
                </c:pt>
                <c:pt idx="97">
                  <c:v>17.390473289693901</c:v>
                </c:pt>
                <c:pt idx="98">
                  <c:v>17.961331339084602</c:v>
                </c:pt>
                <c:pt idx="99">
                  <c:v>23.5736785596565</c:v>
                </c:pt>
                <c:pt idx="100">
                  <c:v>35.483673295949004</c:v>
                </c:pt>
                <c:pt idx="101">
                  <c:v>39.145192493877403</c:v>
                </c:pt>
                <c:pt idx="102">
                  <c:v>51.356991556500397</c:v>
                </c:pt>
                <c:pt idx="103">
                  <c:v>51.4237825119327</c:v>
                </c:pt>
                <c:pt idx="104">
                  <c:v>47.703829446432103</c:v>
                </c:pt>
                <c:pt idx="105">
                  <c:v>45.809647146154397</c:v>
                </c:pt>
                <c:pt idx="106">
                  <c:v>47.285305411610402</c:v>
                </c:pt>
                <c:pt idx="107">
                  <c:v>49.9641914174723</c:v>
                </c:pt>
                <c:pt idx="108">
                  <c:v>58.5555816046692</c:v>
                </c:pt>
                <c:pt idx="109">
                  <c:v>54.646647565597803</c:v>
                </c:pt>
                <c:pt idx="110">
                  <c:v>57.3871809359593</c:v>
                </c:pt>
                <c:pt idx="111">
                  <c:v>69.526947491932603</c:v>
                </c:pt>
                <c:pt idx="112">
                  <c:v>61.290567735776797</c:v>
                </c:pt>
                <c:pt idx="113">
                  <c:v>46.481868624528602</c:v>
                </c:pt>
                <c:pt idx="114">
                  <c:v>36.731161802772199</c:v>
                </c:pt>
                <c:pt idx="115">
                  <c:v>27.851968080229099</c:v>
                </c:pt>
                <c:pt idx="116">
                  <c:v>26.300306972983901</c:v>
                </c:pt>
                <c:pt idx="117">
                  <c:v>20.147820080353601</c:v>
                </c:pt>
                <c:pt idx="118">
                  <c:v>25.455294686887299</c:v>
                </c:pt>
                <c:pt idx="119">
                  <c:v>33.706817613246997</c:v>
                </c:pt>
                <c:pt idx="120">
                  <c:v>39.229781862242</c:v>
                </c:pt>
                <c:pt idx="121">
                  <c:v>30.311159123071999</c:v>
                </c:pt>
                <c:pt idx="122">
                  <c:v>23.786273916972899</c:v>
                </c:pt>
                <c:pt idx="123">
                  <c:v>18.590960441809301</c:v>
                </c:pt>
                <c:pt idx="124">
                  <c:v>19.337674340207599</c:v>
                </c:pt>
                <c:pt idx="125">
                  <c:v>19.588709563680599</c:v>
                </c:pt>
                <c:pt idx="126">
                  <c:v>19.0963601900133</c:v>
                </c:pt>
                <c:pt idx="127">
                  <c:v>20.371335484656399</c:v>
                </c:pt>
                <c:pt idx="128">
                  <c:v>21.6574740080437</c:v>
                </c:pt>
                <c:pt idx="129">
                  <c:v>15.361219661364199</c:v>
                </c:pt>
                <c:pt idx="130">
                  <c:v>16.4806119106651</c:v>
                </c:pt>
                <c:pt idx="131">
                  <c:v>22.568145053828999</c:v>
                </c:pt>
                <c:pt idx="132">
                  <c:v>17.773826080902801</c:v>
                </c:pt>
                <c:pt idx="133">
                  <c:v>18.6806181152226</c:v>
                </c:pt>
                <c:pt idx="134">
                  <c:v>21.075789736955901</c:v>
                </c:pt>
                <c:pt idx="135">
                  <c:v>21.500872086904799</c:v>
                </c:pt>
                <c:pt idx="136">
                  <c:v>23.125397965521</c:v>
                </c:pt>
                <c:pt idx="137">
                  <c:v>17.791500473613301</c:v>
                </c:pt>
                <c:pt idx="138">
                  <c:v>16.186331465737702</c:v>
                </c:pt>
                <c:pt idx="139">
                  <c:v>13.9060815801343</c:v>
                </c:pt>
                <c:pt idx="140">
                  <c:v>12.798029777301201</c:v>
                </c:pt>
                <c:pt idx="141">
                  <c:v>8.5647851947332292</c:v>
                </c:pt>
                <c:pt idx="142">
                  <c:v>9.8123227401325295</c:v>
                </c:pt>
                <c:pt idx="143">
                  <c:v>12.334445502968</c:v>
                </c:pt>
                <c:pt idx="144">
                  <c:v>10.0222883933814</c:v>
                </c:pt>
                <c:pt idx="145">
                  <c:v>10.980207678447799</c:v>
                </c:pt>
                <c:pt idx="146">
                  <c:v>10.8303771983002</c:v>
                </c:pt>
                <c:pt idx="147">
                  <c:v>9.8630129259335106</c:v>
                </c:pt>
                <c:pt idx="148">
                  <c:v>11.0704811791376</c:v>
                </c:pt>
                <c:pt idx="149">
                  <c:v>8.9117408576943795</c:v>
                </c:pt>
                <c:pt idx="150">
                  <c:v>10.933313720115301</c:v>
                </c:pt>
                <c:pt idx="151">
                  <c:v>10.1980925203152</c:v>
                </c:pt>
                <c:pt idx="152">
                  <c:v>11.2622872719465</c:v>
                </c:pt>
                <c:pt idx="153">
                  <c:v>9.2261691683734401</c:v>
                </c:pt>
                <c:pt idx="154">
                  <c:v>9.3200059289340302</c:v>
                </c:pt>
                <c:pt idx="155">
                  <c:v>10.6943117815796</c:v>
                </c:pt>
                <c:pt idx="156">
                  <c:v>10.8790176423531</c:v>
                </c:pt>
                <c:pt idx="157">
                  <c:v>10.970187621107399</c:v>
                </c:pt>
                <c:pt idx="158">
                  <c:v>10.170038033719599</c:v>
                </c:pt>
                <c:pt idx="159">
                  <c:v>8.3995590296927993</c:v>
                </c:pt>
                <c:pt idx="160">
                  <c:v>8.3961152505007295</c:v>
                </c:pt>
                <c:pt idx="161">
                  <c:v>6.9568511518209899</c:v>
                </c:pt>
                <c:pt idx="162">
                  <c:v>7.89928897941176</c:v>
                </c:pt>
                <c:pt idx="163">
                  <c:v>7.5510066482228799</c:v>
                </c:pt>
                <c:pt idx="164">
                  <c:v>7.9684717938760503</c:v>
                </c:pt>
                <c:pt idx="165">
                  <c:v>9.1138833814856195</c:v>
                </c:pt>
                <c:pt idx="166">
                  <c:v>15.094858273862799</c:v>
                </c:pt>
                <c:pt idx="167">
                  <c:v>13.756712481733899</c:v>
                </c:pt>
                <c:pt idx="168">
                  <c:v>12.6805005635324</c:v>
                </c:pt>
                <c:pt idx="169">
                  <c:v>10.545192591246501</c:v>
                </c:pt>
                <c:pt idx="170">
                  <c:v>8.3896099295811997</c:v>
                </c:pt>
                <c:pt idx="171">
                  <c:v>7.8398229090917999</c:v>
                </c:pt>
                <c:pt idx="172">
                  <c:v>7.1333866189819402</c:v>
                </c:pt>
                <c:pt idx="173">
                  <c:v>6.3474408204876003</c:v>
                </c:pt>
                <c:pt idx="174">
                  <c:v>8.9058911753760501</c:v>
                </c:pt>
                <c:pt idx="175">
                  <c:v>6.1827797632715997</c:v>
                </c:pt>
                <c:pt idx="176">
                  <c:v>8.3188017768266604</c:v>
                </c:pt>
                <c:pt idx="177">
                  <c:v>18.285101644260301</c:v>
                </c:pt>
                <c:pt idx="178">
                  <c:v>25.068900943056999</c:v>
                </c:pt>
                <c:pt idx="179">
                  <c:v>24.404796748116802</c:v>
                </c:pt>
                <c:pt idx="180">
                  <c:v>24.567460472858201</c:v>
                </c:pt>
                <c:pt idx="181">
                  <c:v>25.0667046954106</c:v>
                </c:pt>
                <c:pt idx="182">
                  <c:v>25.709723850635701</c:v>
                </c:pt>
                <c:pt idx="183">
                  <c:v>20.385558690864801</c:v>
                </c:pt>
                <c:pt idx="184">
                  <c:v>14.8146449751041</c:v>
                </c:pt>
                <c:pt idx="185">
                  <c:v>13.461465509348701</c:v>
                </c:pt>
                <c:pt idx="186">
                  <c:v>14.7913334157683</c:v>
                </c:pt>
                <c:pt idx="187">
                  <c:v>16.599354895886702</c:v>
                </c:pt>
                <c:pt idx="188">
                  <c:v>18.6637844766128</c:v>
                </c:pt>
                <c:pt idx="189">
                  <c:v>15.052502190786999</c:v>
                </c:pt>
                <c:pt idx="190">
                  <c:v>47.672244900307497</c:v>
                </c:pt>
                <c:pt idx="191">
                  <c:v>19.2016986368597</c:v>
                </c:pt>
                <c:pt idx="192">
                  <c:v>18.832641150310501</c:v>
                </c:pt>
                <c:pt idx="193">
                  <c:v>16.187341156715</c:v>
                </c:pt>
                <c:pt idx="194">
                  <c:v>18.337287921093601</c:v>
                </c:pt>
                <c:pt idx="195">
                  <c:v>20.5608824536307</c:v>
                </c:pt>
                <c:pt idx="196">
                  <c:v>26.941655944693501</c:v>
                </c:pt>
                <c:pt idx="197">
                  <c:v>29.557428983890201</c:v>
                </c:pt>
                <c:pt idx="198">
                  <c:v>28.836832349941801</c:v>
                </c:pt>
                <c:pt idx="199">
                  <c:v>32.165940163416799</c:v>
                </c:pt>
                <c:pt idx="200">
                  <c:v>29.453371815679301</c:v>
                </c:pt>
                <c:pt idx="201">
                  <c:v>22.534654301353399</c:v>
                </c:pt>
                <c:pt idx="202">
                  <c:v>19.2226710379176</c:v>
                </c:pt>
                <c:pt idx="203">
                  <c:v>15.655416727789101</c:v>
                </c:pt>
                <c:pt idx="204">
                  <c:v>13.7437776541913</c:v>
                </c:pt>
                <c:pt idx="205">
                  <c:v>12.6778545643065</c:v>
                </c:pt>
                <c:pt idx="206">
                  <c:v>14.223415635827701</c:v>
                </c:pt>
                <c:pt idx="207">
                  <c:v>15.0957041309353</c:v>
                </c:pt>
                <c:pt idx="208">
                  <c:v>17.390903426896301</c:v>
                </c:pt>
                <c:pt idx="209">
                  <c:v>23.408873194182402</c:v>
                </c:pt>
                <c:pt idx="210">
                  <c:v>28.478711106194901</c:v>
                </c:pt>
                <c:pt idx="211">
                  <c:v>26.832396254496299</c:v>
                </c:pt>
                <c:pt idx="212">
                  <c:v>26.327896248786502</c:v>
                </c:pt>
                <c:pt idx="213">
                  <c:v>24.786323767125399</c:v>
                </c:pt>
                <c:pt idx="214">
                  <c:v>27.5910971417577</c:v>
                </c:pt>
                <c:pt idx="215">
                  <c:v>29.080255693555699</c:v>
                </c:pt>
                <c:pt idx="216">
                  <c:v>27.207931516022999</c:v>
                </c:pt>
                <c:pt idx="217">
                  <c:v>26.417729379559301</c:v>
                </c:pt>
                <c:pt idx="218">
                  <c:v>26.459285823878002</c:v>
                </c:pt>
                <c:pt idx="219">
                  <c:v>28.554994449022999</c:v>
                </c:pt>
                <c:pt idx="220">
                  <c:v>31.106850535425298</c:v>
                </c:pt>
                <c:pt idx="221">
                  <c:v>28.942861943066902</c:v>
                </c:pt>
                <c:pt idx="222">
                  <c:v>31.650697288228798</c:v>
                </c:pt>
                <c:pt idx="223">
                  <c:v>28.840872321393999</c:v>
                </c:pt>
                <c:pt idx="224">
                  <c:v>29.9939797865831</c:v>
                </c:pt>
                <c:pt idx="225">
                  <c:v>30.7489809137729</c:v>
                </c:pt>
                <c:pt idx="226">
                  <c:v>28.1894976142462</c:v>
                </c:pt>
                <c:pt idx="227">
                  <c:v>28.531861175109899</c:v>
                </c:pt>
                <c:pt idx="228">
                  <c:v>27.261929412010101</c:v>
                </c:pt>
                <c:pt idx="229">
                  <c:v>27.182980382030699</c:v>
                </c:pt>
                <c:pt idx="230">
                  <c:v>24.861309161872899</c:v>
                </c:pt>
                <c:pt idx="231">
                  <c:v>23.645893780401401</c:v>
                </c:pt>
                <c:pt idx="232">
                  <c:v>18.633601176000301</c:v>
                </c:pt>
                <c:pt idx="233">
                  <c:v>13.7277433840549</c:v>
                </c:pt>
                <c:pt idx="234">
                  <c:v>13.0395684493399</c:v>
                </c:pt>
                <c:pt idx="235">
                  <c:v>11.4593126555867</c:v>
                </c:pt>
                <c:pt idx="236">
                  <c:v>11.3258364390024</c:v>
                </c:pt>
                <c:pt idx="237">
                  <c:v>8.7209556247992008</c:v>
                </c:pt>
                <c:pt idx="238">
                  <c:v>8.2169744172805697</c:v>
                </c:pt>
                <c:pt idx="239">
                  <c:v>9.2028443361798509</c:v>
                </c:pt>
                <c:pt idx="240">
                  <c:v>9.9610336514237705</c:v>
                </c:pt>
                <c:pt idx="241">
                  <c:v>9.8221527553030494</c:v>
                </c:pt>
                <c:pt idx="242">
                  <c:v>11.9885872162334</c:v>
                </c:pt>
                <c:pt idx="243">
                  <c:v>12.1308918169377</c:v>
                </c:pt>
                <c:pt idx="244">
                  <c:v>11.2724711309911</c:v>
                </c:pt>
                <c:pt idx="245">
                  <c:v>11.794761706870601</c:v>
                </c:pt>
                <c:pt idx="246">
                  <c:v>11.6298719538929</c:v>
                </c:pt>
                <c:pt idx="247">
                  <c:v>12.628204549500399</c:v>
                </c:pt>
                <c:pt idx="248">
                  <c:v>14.1730835681019</c:v>
                </c:pt>
                <c:pt idx="249">
                  <c:v>12.4615771563059</c:v>
                </c:pt>
                <c:pt idx="250">
                  <c:v>17.222731128176701</c:v>
                </c:pt>
                <c:pt idx="251">
                  <c:v>21.735879486513699</c:v>
                </c:pt>
                <c:pt idx="252">
                  <c:v>17.946369043426099</c:v>
                </c:pt>
                <c:pt idx="253">
                  <c:v>16.912412114547202</c:v>
                </c:pt>
                <c:pt idx="254">
                  <c:v>17.0089110060763</c:v>
                </c:pt>
                <c:pt idx="255">
                  <c:v>15.553488334154</c:v>
                </c:pt>
                <c:pt idx="256">
                  <c:v>13.0945759085783</c:v>
                </c:pt>
                <c:pt idx="257">
                  <c:v>12.710151715562001</c:v>
                </c:pt>
                <c:pt idx="258">
                  <c:v>14.3570369043236</c:v>
                </c:pt>
                <c:pt idx="259">
                  <c:v>11.2303178821593</c:v>
                </c:pt>
                <c:pt idx="260">
                  <c:v>12.646655307405601</c:v>
                </c:pt>
                <c:pt idx="261">
                  <c:v>10.202808382406401</c:v>
                </c:pt>
                <c:pt idx="262">
                  <c:v>11.093432227251499</c:v>
                </c:pt>
                <c:pt idx="263">
                  <c:v>15.8751471201457</c:v>
                </c:pt>
                <c:pt idx="264">
                  <c:v>16.324742185385102</c:v>
                </c:pt>
                <c:pt idx="265">
                  <c:v>17.3376981898423</c:v>
                </c:pt>
                <c:pt idx="266">
                  <c:v>12.855153567366902</c:v>
                </c:pt>
                <c:pt idx="267">
                  <c:v>13.281793464269679</c:v>
                </c:pt>
              </c:numCache>
            </c:numRef>
          </c:val>
          <c:smooth val="0"/>
        </c:ser>
        <c:ser>
          <c:idx val="1"/>
          <c:order val="1"/>
          <c:tx>
            <c:strRef>
              <c:f>Conv!$O$1</c:f>
              <c:strCache>
                <c:ptCount val="1"/>
                <c:pt idx="0">
                  <c:v>v 2.1</c:v>
                </c:pt>
              </c:strCache>
            </c:strRef>
          </c:tx>
          <c:spPr>
            <a:ln>
              <a:solidFill>
                <a:srgbClr val="2E8A60"/>
              </a:solidFill>
            </a:ln>
          </c:spPr>
          <c:marker>
            <c:symbol val="none"/>
          </c:marker>
          <c:cat>
            <c:numRef>
              <c:f>Conv!$M$2:$M$269</c:f>
              <c:numCache>
                <c:formatCode>m/d/yyyy</c:formatCode>
                <c:ptCount val="268"/>
                <c:pt idx="0">
                  <c:v>34394</c:v>
                </c:pt>
                <c:pt idx="1">
                  <c:v>34425</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35400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pt idx="262">
                  <c:v>42430</c:v>
                </c:pt>
                <c:pt idx="263">
                  <c:v>42461</c:v>
                </c:pt>
                <c:pt idx="264">
                  <c:v>42491</c:v>
                </c:pt>
                <c:pt idx="265">
                  <c:v>42522</c:v>
                </c:pt>
                <c:pt idx="266">
                  <c:v>42491</c:v>
                </c:pt>
                <c:pt idx="267">
                  <c:v>42522</c:v>
                </c:pt>
              </c:numCache>
            </c:numRef>
          </c:cat>
          <c:val>
            <c:numRef>
              <c:f>Conv!$O$2:$O$269</c:f>
              <c:numCache>
                <c:formatCode>General</c:formatCode>
                <c:ptCount val="268"/>
                <c:pt idx="0">
                  <c:v>5.29220788584714</c:v>
                </c:pt>
                <c:pt idx="1">
                  <c:v>6.1157424984673696</c:v>
                </c:pt>
                <c:pt idx="2">
                  <c:v>0.97419512390492002</c:v>
                </c:pt>
                <c:pt idx="3">
                  <c:v>4.6304875432175496</c:v>
                </c:pt>
                <c:pt idx="4">
                  <c:v>4.4166329654742302</c:v>
                </c:pt>
                <c:pt idx="5">
                  <c:v>4.0331490909116203</c:v>
                </c:pt>
                <c:pt idx="6">
                  <c:v>3.95300309460039</c:v>
                </c:pt>
                <c:pt idx="7">
                  <c:v>3.4340235465709301</c:v>
                </c:pt>
                <c:pt idx="8">
                  <c:v>3.4404008077628099</c:v>
                </c:pt>
                <c:pt idx="9">
                  <c:v>2.8961152114662299</c:v>
                </c:pt>
                <c:pt idx="10">
                  <c:v>3.0593444595406099</c:v>
                </c:pt>
                <c:pt idx="11">
                  <c:v>3.89324609811431</c:v>
                </c:pt>
                <c:pt idx="12">
                  <c:v>4.6240977821916296</c:v>
                </c:pt>
                <c:pt idx="13">
                  <c:v>4.9863092257631498</c:v>
                </c:pt>
                <c:pt idx="14">
                  <c:v>6.47929033752217</c:v>
                </c:pt>
                <c:pt idx="15">
                  <c:v>8.5866366636915501</c:v>
                </c:pt>
                <c:pt idx="16">
                  <c:v>8.5630082388168205</c:v>
                </c:pt>
                <c:pt idx="17">
                  <c:v>7.3064185631556899</c:v>
                </c:pt>
                <c:pt idx="18">
                  <c:v>8.7659057613483498</c:v>
                </c:pt>
                <c:pt idx="19">
                  <c:v>9.6051961829961794</c:v>
                </c:pt>
                <c:pt idx="20">
                  <c:v>10.704052881336599</c:v>
                </c:pt>
                <c:pt idx="21">
                  <c:v>12.3535456077205</c:v>
                </c:pt>
                <c:pt idx="22">
                  <c:v>15.123735864338499</c:v>
                </c:pt>
                <c:pt idx="23">
                  <c:v>14.5694113776545</c:v>
                </c:pt>
                <c:pt idx="24">
                  <c:v>8.4666432193846308</c:v>
                </c:pt>
                <c:pt idx="25">
                  <c:v>7.1798895638046796</c:v>
                </c:pt>
                <c:pt idx="26">
                  <c:v>6.9992378955597996</c:v>
                </c:pt>
                <c:pt idx="27">
                  <c:v>6.1837391255975502</c:v>
                </c:pt>
                <c:pt idx="28">
                  <c:v>6.3958445468564902</c:v>
                </c:pt>
                <c:pt idx="29">
                  <c:v>6.5925895138190898</c:v>
                </c:pt>
                <c:pt idx="30">
                  <c:v>5.88479426382714</c:v>
                </c:pt>
                <c:pt idx="31">
                  <c:v>6.2617652575124199</c:v>
                </c:pt>
                <c:pt idx="32">
                  <c:v>8.13834743274335</c:v>
                </c:pt>
                <c:pt idx="33">
                  <c:v>1.55081975475839</c:v>
                </c:pt>
                <c:pt idx="34">
                  <c:v>8.7131025370208892</c:v>
                </c:pt>
                <c:pt idx="35">
                  <c:v>7.5121363277130104</c:v>
                </c:pt>
                <c:pt idx="36">
                  <c:v>6.7797272849536103</c:v>
                </c:pt>
                <c:pt idx="37">
                  <c:v>8.0622995330542704</c:v>
                </c:pt>
                <c:pt idx="38">
                  <c:v>9.3112409749183396</c:v>
                </c:pt>
                <c:pt idx="39">
                  <c:v>11.079909772215199</c:v>
                </c:pt>
                <c:pt idx="40">
                  <c:v>10.584541467267</c:v>
                </c:pt>
                <c:pt idx="41">
                  <c:v>11.4537329040168</c:v>
                </c:pt>
                <c:pt idx="42">
                  <c:v>11.0013144000481</c:v>
                </c:pt>
                <c:pt idx="43">
                  <c:v>12.489953996986699</c:v>
                </c:pt>
                <c:pt idx="44">
                  <c:v>13.6721773998209</c:v>
                </c:pt>
                <c:pt idx="45">
                  <c:v>18.1330980468266</c:v>
                </c:pt>
                <c:pt idx="46">
                  <c:v>18.4999896532882</c:v>
                </c:pt>
                <c:pt idx="47">
                  <c:v>17.570981960180902</c:v>
                </c:pt>
                <c:pt idx="48">
                  <c:v>18.129921462190499</c:v>
                </c:pt>
                <c:pt idx="49">
                  <c:v>18.072908005016998</c:v>
                </c:pt>
                <c:pt idx="50">
                  <c:v>21.915632253192701</c:v>
                </c:pt>
                <c:pt idx="51">
                  <c:v>22.858643713620001</c:v>
                </c:pt>
                <c:pt idx="52">
                  <c:v>22.631864508045201</c:v>
                </c:pt>
                <c:pt idx="53">
                  <c:v>28.631224283593401</c:v>
                </c:pt>
                <c:pt idx="54">
                  <c:v>29.159128395540701</c:v>
                </c:pt>
                <c:pt idx="55">
                  <c:v>24.487768985636801</c:v>
                </c:pt>
                <c:pt idx="56">
                  <c:v>26.235323116264802</c:v>
                </c:pt>
                <c:pt idx="57">
                  <c:v>23.619505571036701</c:v>
                </c:pt>
                <c:pt idx="58">
                  <c:v>22.2005155286869</c:v>
                </c:pt>
                <c:pt idx="59">
                  <c:v>17.275084108115099</c:v>
                </c:pt>
                <c:pt idx="60">
                  <c:v>19.383608498156299</c:v>
                </c:pt>
                <c:pt idx="61">
                  <c:v>15.140459178938601</c:v>
                </c:pt>
                <c:pt idx="62">
                  <c:v>10.762428777871399</c:v>
                </c:pt>
                <c:pt idx="63">
                  <c:v>10.4027043137937</c:v>
                </c:pt>
                <c:pt idx="64">
                  <c:v>8.3995377170694994</c:v>
                </c:pt>
                <c:pt idx="65">
                  <c:v>8.8458366564771502</c:v>
                </c:pt>
                <c:pt idx="66">
                  <c:v>8.1557718594895192</c:v>
                </c:pt>
                <c:pt idx="67">
                  <c:v>8.8064399424400008</c:v>
                </c:pt>
                <c:pt idx="68">
                  <c:v>6.5606757476192801</c:v>
                </c:pt>
                <c:pt idx="69">
                  <c:v>5.9389548791761504</c:v>
                </c:pt>
                <c:pt idx="70">
                  <c:v>6.7281230214219798</c:v>
                </c:pt>
                <c:pt idx="71">
                  <c:v>7.3790246942813296</c:v>
                </c:pt>
                <c:pt idx="72">
                  <c:v>8.1209423229908193</c:v>
                </c:pt>
                <c:pt idx="73">
                  <c:v>7.1986445581530001</c:v>
                </c:pt>
                <c:pt idx="74">
                  <c:v>7.6397280392404898</c:v>
                </c:pt>
                <c:pt idx="75">
                  <c:v>8.3758617224894305</c:v>
                </c:pt>
                <c:pt idx="76">
                  <c:v>7.7671357202821998</c:v>
                </c:pt>
                <c:pt idx="77">
                  <c:v>8.3668626062995699</c:v>
                </c:pt>
                <c:pt idx="78">
                  <c:v>8.9959312733775398</c:v>
                </c:pt>
                <c:pt idx="79">
                  <c:v>9.9726383400840604</c:v>
                </c:pt>
                <c:pt idx="80">
                  <c:v>13.452798960580401</c:v>
                </c:pt>
                <c:pt idx="81">
                  <c:v>20.2760341523521</c:v>
                </c:pt>
                <c:pt idx="82">
                  <c:v>21.281178744898899</c:v>
                </c:pt>
                <c:pt idx="83">
                  <c:v>24.982559208400001</c:v>
                </c:pt>
                <c:pt idx="84">
                  <c:v>22.296204607078199</c:v>
                </c:pt>
                <c:pt idx="85">
                  <c:v>20.4650381729261</c:v>
                </c:pt>
                <c:pt idx="86">
                  <c:v>19.3139850637907</c:v>
                </c:pt>
                <c:pt idx="87">
                  <c:v>19.231574969397101</c:v>
                </c:pt>
                <c:pt idx="88">
                  <c:v>21.937816710461099</c:v>
                </c:pt>
                <c:pt idx="89">
                  <c:v>24.311156728906901</c:v>
                </c:pt>
                <c:pt idx="90">
                  <c:v>33.214516585276897</c:v>
                </c:pt>
                <c:pt idx="91">
                  <c:v>31.4203283188507</c:v>
                </c:pt>
                <c:pt idx="92">
                  <c:v>16.0563241490057</c:v>
                </c:pt>
                <c:pt idx="93">
                  <c:v>16.902647269006</c:v>
                </c:pt>
                <c:pt idx="94">
                  <c:v>20.007234982261</c:v>
                </c:pt>
                <c:pt idx="95">
                  <c:v>13.256336898164101</c:v>
                </c:pt>
                <c:pt idx="96">
                  <c:v>14.5165349326999</c:v>
                </c:pt>
                <c:pt idx="97">
                  <c:v>18.343378234773301</c:v>
                </c:pt>
                <c:pt idx="98">
                  <c:v>26.246049344005598</c:v>
                </c:pt>
                <c:pt idx="99">
                  <c:v>37.280436363249997</c:v>
                </c:pt>
                <c:pt idx="100">
                  <c:v>44.095894901458699</c:v>
                </c:pt>
                <c:pt idx="101">
                  <c:v>48.833682819557303</c:v>
                </c:pt>
                <c:pt idx="102">
                  <c:v>48.131808981113899</c:v>
                </c:pt>
                <c:pt idx="103">
                  <c:v>49.488361969136399</c:v>
                </c:pt>
                <c:pt idx="104">
                  <c:v>47.172522619896398</c:v>
                </c:pt>
                <c:pt idx="105">
                  <c:v>49.736212830726402</c:v>
                </c:pt>
                <c:pt idx="106">
                  <c:v>50.882094008207197</c:v>
                </c:pt>
                <c:pt idx="107">
                  <c:v>52.0044930851369</c:v>
                </c:pt>
                <c:pt idx="108">
                  <c:v>51.262474097573403</c:v>
                </c:pt>
                <c:pt idx="109">
                  <c:v>53.633786123161599</c:v>
                </c:pt>
                <c:pt idx="110">
                  <c:v>56.793348870924603</c:v>
                </c:pt>
                <c:pt idx="111">
                  <c:v>48.164859791649</c:v>
                </c:pt>
                <c:pt idx="112">
                  <c:v>23.029859132767399</c:v>
                </c:pt>
                <c:pt idx="113">
                  <c:v>25.3564795609885</c:v>
                </c:pt>
                <c:pt idx="114">
                  <c:v>27.396196693474501</c:v>
                </c:pt>
                <c:pt idx="115">
                  <c:v>26.104938893777501</c:v>
                </c:pt>
                <c:pt idx="116">
                  <c:v>24.044680922257001</c:v>
                </c:pt>
                <c:pt idx="117">
                  <c:v>27.146427850497702</c:v>
                </c:pt>
                <c:pt idx="118">
                  <c:v>29.824730925294201</c:v>
                </c:pt>
                <c:pt idx="119">
                  <c:v>38.1348237315921</c:v>
                </c:pt>
                <c:pt idx="120">
                  <c:v>23.915152415929899</c:v>
                </c:pt>
                <c:pt idx="121">
                  <c:v>17.257996396527599</c:v>
                </c:pt>
                <c:pt idx="122">
                  <c:v>16.181253155124899</c:v>
                </c:pt>
                <c:pt idx="123">
                  <c:v>19.332818766505</c:v>
                </c:pt>
                <c:pt idx="124">
                  <c:v>20.277087133601501</c:v>
                </c:pt>
                <c:pt idx="125">
                  <c:v>22.107275528732899</c:v>
                </c:pt>
                <c:pt idx="126">
                  <c:v>22.893462152468</c:v>
                </c:pt>
                <c:pt idx="127">
                  <c:v>22.6882137467524</c:v>
                </c:pt>
                <c:pt idx="128">
                  <c:v>20.118270569197801</c:v>
                </c:pt>
                <c:pt idx="129">
                  <c:v>20.9647490074397</c:v>
                </c:pt>
                <c:pt idx="130">
                  <c:v>23.955120871725502</c:v>
                </c:pt>
                <c:pt idx="131">
                  <c:v>18.494143392052202</c:v>
                </c:pt>
                <c:pt idx="132">
                  <c:v>20.268703282037698</c:v>
                </c:pt>
                <c:pt idx="133">
                  <c:v>22.9455278335892</c:v>
                </c:pt>
                <c:pt idx="134">
                  <c:v>26.9849327694061</c:v>
                </c:pt>
                <c:pt idx="135">
                  <c:v>23.669678393458401</c:v>
                </c:pt>
                <c:pt idx="136">
                  <c:v>19.726303443363701</c:v>
                </c:pt>
                <c:pt idx="137">
                  <c:v>18.628981682538502</c:v>
                </c:pt>
                <c:pt idx="138">
                  <c:v>14.4596051595001</c:v>
                </c:pt>
                <c:pt idx="139">
                  <c:v>12.528806107105</c:v>
                </c:pt>
                <c:pt idx="140">
                  <c:v>10.952237301598201</c:v>
                </c:pt>
                <c:pt idx="141">
                  <c:v>11.972978778265199</c:v>
                </c:pt>
                <c:pt idx="142">
                  <c:v>12.762147250015801</c:v>
                </c:pt>
                <c:pt idx="143">
                  <c:v>12.989896321336699</c:v>
                </c:pt>
                <c:pt idx="144">
                  <c:v>12.6493313340463</c:v>
                </c:pt>
                <c:pt idx="145">
                  <c:v>12.548428182723899</c:v>
                </c:pt>
                <c:pt idx="146">
                  <c:v>12.1258979041315</c:v>
                </c:pt>
                <c:pt idx="147">
                  <c:v>12.025063191684399</c:v>
                </c:pt>
                <c:pt idx="148">
                  <c:v>12.5306962389626</c:v>
                </c:pt>
                <c:pt idx="149">
                  <c:v>13.142522334653799</c:v>
                </c:pt>
                <c:pt idx="150">
                  <c:v>12.8804483557167</c:v>
                </c:pt>
                <c:pt idx="151">
                  <c:v>14.040545607702899</c:v>
                </c:pt>
                <c:pt idx="152">
                  <c:v>13.648779660462401</c:v>
                </c:pt>
                <c:pt idx="153">
                  <c:v>13.1877930629062</c:v>
                </c:pt>
                <c:pt idx="154">
                  <c:v>14.120661664440901</c:v>
                </c:pt>
                <c:pt idx="155">
                  <c:v>16.134199521744101</c:v>
                </c:pt>
                <c:pt idx="156">
                  <c:v>16.1966017012934</c:v>
                </c:pt>
                <c:pt idx="157">
                  <c:v>15.4754158926311</c:v>
                </c:pt>
                <c:pt idx="158">
                  <c:v>13.1074552813576</c:v>
                </c:pt>
                <c:pt idx="159">
                  <c:v>12.817920896782301</c:v>
                </c:pt>
                <c:pt idx="160">
                  <c:v>12.364284745515301</c:v>
                </c:pt>
                <c:pt idx="161">
                  <c:v>13.411819034439301</c:v>
                </c:pt>
                <c:pt idx="162">
                  <c:v>12.949794778795001</c:v>
                </c:pt>
                <c:pt idx="163">
                  <c:v>14.910269452656101</c:v>
                </c:pt>
                <c:pt idx="164">
                  <c:v>15.304073755923399</c:v>
                </c:pt>
                <c:pt idx="165">
                  <c:v>24.1158260874709</c:v>
                </c:pt>
                <c:pt idx="166">
                  <c:v>20.194927985562</c:v>
                </c:pt>
                <c:pt idx="167">
                  <c:v>19.0316346107615</c:v>
                </c:pt>
                <c:pt idx="168">
                  <c:v>19.147240427096801</c:v>
                </c:pt>
                <c:pt idx="169">
                  <c:v>16.604684503123501</c:v>
                </c:pt>
                <c:pt idx="170">
                  <c:v>12.5641244138474</c:v>
                </c:pt>
                <c:pt idx="171">
                  <c:v>11.5923329600048</c:v>
                </c:pt>
                <c:pt idx="172">
                  <c:v>10.0364884635542</c:v>
                </c:pt>
                <c:pt idx="173">
                  <c:v>12.3503570412212</c:v>
                </c:pt>
                <c:pt idx="174">
                  <c:v>10.533038859703</c:v>
                </c:pt>
                <c:pt idx="175">
                  <c:v>11.223527915156501</c:v>
                </c:pt>
                <c:pt idx="176">
                  <c:v>23.630220034663001</c:v>
                </c:pt>
                <c:pt idx="177">
                  <c:v>29.439853464168699</c:v>
                </c:pt>
                <c:pt idx="178">
                  <c:v>27.279335803206902</c:v>
                </c:pt>
                <c:pt idx="179">
                  <c:v>28.3646720758965</c:v>
                </c:pt>
                <c:pt idx="180">
                  <c:v>30.042606130860001</c:v>
                </c:pt>
                <c:pt idx="181">
                  <c:v>29.554809659501199</c:v>
                </c:pt>
                <c:pt idx="182">
                  <c:v>17.648196782979799</c:v>
                </c:pt>
                <c:pt idx="183">
                  <c:v>21.710287259471301</c:v>
                </c:pt>
                <c:pt idx="184">
                  <c:v>21.397159822962902</c:v>
                </c:pt>
                <c:pt idx="185">
                  <c:v>23.0258291152096</c:v>
                </c:pt>
                <c:pt idx="186">
                  <c:v>23.999132225715702</c:v>
                </c:pt>
                <c:pt idx="187">
                  <c:v>24.4428946110414</c:v>
                </c:pt>
                <c:pt idx="188">
                  <c:v>21.563448846700101</c:v>
                </c:pt>
                <c:pt idx="189">
                  <c:v>19.7221297723036</c:v>
                </c:pt>
                <c:pt idx="190">
                  <c:v>20.985660912413799</c:v>
                </c:pt>
                <c:pt idx="191">
                  <c:v>20.872089770289399</c:v>
                </c:pt>
                <c:pt idx="192">
                  <c:v>18.471963217642902</c:v>
                </c:pt>
                <c:pt idx="193">
                  <c:v>22.246942971196201</c:v>
                </c:pt>
                <c:pt idx="194">
                  <c:v>23.209916707122701</c:v>
                </c:pt>
                <c:pt idx="195">
                  <c:v>25.6532065731014</c:v>
                </c:pt>
                <c:pt idx="196">
                  <c:v>27.074268957056301</c:v>
                </c:pt>
                <c:pt idx="197">
                  <c:v>27.708085005853601</c:v>
                </c:pt>
                <c:pt idx="198">
                  <c:v>27.632538761273299</c:v>
                </c:pt>
                <c:pt idx="199">
                  <c:v>25.743259515113301</c:v>
                </c:pt>
                <c:pt idx="200">
                  <c:v>18.442858556592402</c:v>
                </c:pt>
                <c:pt idx="201">
                  <c:v>17.222252502349001</c:v>
                </c:pt>
                <c:pt idx="202">
                  <c:v>15.382807093551801</c:v>
                </c:pt>
                <c:pt idx="203">
                  <c:v>16.7996646426772</c:v>
                </c:pt>
                <c:pt idx="204">
                  <c:v>15.8668690804479</c:v>
                </c:pt>
                <c:pt idx="205">
                  <c:v>17.923887559355201</c:v>
                </c:pt>
                <c:pt idx="206">
                  <c:v>19.2687419388051</c:v>
                </c:pt>
                <c:pt idx="207">
                  <c:v>18.723994683212599</c:v>
                </c:pt>
                <c:pt idx="208">
                  <c:v>23.1517671470579</c:v>
                </c:pt>
                <c:pt idx="209">
                  <c:v>25.8895681353433</c:v>
                </c:pt>
                <c:pt idx="210">
                  <c:v>25.490368504108201</c:v>
                </c:pt>
                <c:pt idx="211">
                  <c:v>26.704555652423799</c:v>
                </c:pt>
                <c:pt idx="212">
                  <c:v>26.230980175179798</c:v>
                </c:pt>
                <c:pt idx="213">
                  <c:v>25.910073657860401</c:v>
                </c:pt>
                <c:pt idx="214">
                  <c:v>26.295822794604099</c:v>
                </c:pt>
                <c:pt idx="215">
                  <c:v>25.424692242200202</c:v>
                </c:pt>
                <c:pt idx="216">
                  <c:v>26.649911948673601</c:v>
                </c:pt>
                <c:pt idx="217">
                  <c:v>27.3422656268549</c:v>
                </c:pt>
                <c:pt idx="218">
                  <c:v>28.978863235730302</c:v>
                </c:pt>
                <c:pt idx="219">
                  <c:v>30.315048942959798</c:v>
                </c:pt>
                <c:pt idx="220">
                  <c:v>28.669016493369298</c:v>
                </c:pt>
                <c:pt idx="221">
                  <c:v>29.347046587487501</c:v>
                </c:pt>
                <c:pt idx="222">
                  <c:v>29.9214704530917</c:v>
                </c:pt>
                <c:pt idx="223">
                  <c:v>29.7528795855612</c:v>
                </c:pt>
                <c:pt idx="224">
                  <c:v>28.668231866071402</c:v>
                </c:pt>
                <c:pt idx="225">
                  <c:v>27.344614597549899</c:v>
                </c:pt>
                <c:pt idx="226">
                  <c:v>25.514009531873501</c:v>
                </c:pt>
                <c:pt idx="227">
                  <c:v>25.050710134065799</c:v>
                </c:pt>
                <c:pt idx="228">
                  <c:v>25.877625757427399</c:v>
                </c:pt>
                <c:pt idx="229">
                  <c:v>23.8023700578727</c:v>
                </c:pt>
                <c:pt idx="230">
                  <c:v>15.440446046674399</c:v>
                </c:pt>
                <c:pt idx="231">
                  <c:v>12.9245784834735</c:v>
                </c:pt>
                <c:pt idx="232">
                  <c:v>11.0351784205063</c:v>
                </c:pt>
                <c:pt idx="233">
                  <c:v>10.7147548049743</c:v>
                </c:pt>
                <c:pt idx="234">
                  <c:v>12.519168837286299</c:v>
                </c:pt>
                <c:pt idx="235">
                  <c:v>11.830570756860499</c:v>
                </c:pt>
                <c:pt idx="236">
                  <c:v>8.4758164130123799</c:v>
                </c:pt>
                <c:pt idx="237">
                  <c:v>8.4605589989140899</c:v>
                </c:pt>
                <c:pt idx="238">
                  <c:v>10.220579448688</c:v>
                </c:pt>
                <c:pt idx="239">
                  <c:v>10.6442412984131</c:v>
                </c:pt>
                <c:pt idx="240">
                  <c:v>11.002309487707</c:v>
                </c:pt>
                <c:pt idx="241">
                  <c:v>12.938736289070601</c:v>
                </c:pt>
                <c:pt idx="242">
                  <c:v>13.053029061633399</c:v>
                </c:pt>
                <c:pt idx="243">
                  <c:v>13.5557366122323</c:v>
                </c:pt>
                <c:pt idx="244">
                  <c:v>12.9462248965763</c:v>
                </c:pt>
                <c:pt idx="245">
                  <c:v>12.7868436767973</c:v>
                </c:pt>
                <c:pt idx="246">
                  <c:v>13.7351415081082</c:v>
                </c:pt>
                <c:pt idx="247">
                  <c:v>13.9170743030474</c:v>
                </c:pt>
                <c:pt idx="248">
                  <c:v>14.636619201320499</c:v>
                </c:pt>
                <c:pt idx="249">
                  <c:v>18.062940809560398</c:v>
                </c:pt>
                <c:pt idx="250">
                  <c:v>18.609814012649299</c:v>
                </c:pt>
                <c:pt idx="251">
                  <c:v>17.997410939247199</c:v>
                </c:pt>
                <c:pt idx="252">
                  <c:v>20.0825142743725</c:v>
                </c:pt>
                <c:pt idx="253">
                  <c:v>16.821032267916799</c:v>
                </c:pt>
                <c:pt idx="254">
                  <c:v>14.528913247170101</c:v>
                </c:pt>
                <c:pt idx="255">
                  <c:v>14.0475646983554</c:v>
                </c:pt>
                <c:pt idx="256">
                  <c:v>14.8255066783899</c:v>
                </c:pt>
                <c:pt idx="257">
                  <c:v>14.866363797619099</c:v>
                </c:pt>
                <c:pt idx="258">
                  <c:v>15.9043287225092</c:v>
                </c:pt>
                <c:pt idx="259">
                  <c:v>12.944823606798799</c:v>
                </c:pt>
                <c:pt idx="260">
                  <c:v>11.735909888383301</c:v>
                </c:pt>
                <c:pt idx="261">
                  <c:v>12.9140698730577</c:v>
                </c:pt>
                <c:pt idx="262">
                  <c:v>17.846752366810399</c:v>
                </c:pt>
                <c:pt idx="263">
                  <c:v>18.220305466389998</c:v>
                </c:pt>
                <c:pt idx="264">
                  <c:v>20.204014012267901</c:v>
                </c:pt>
                <c:pt idx="265">
                  <c:v>20.849750751616099</c:v>
                </c:pt>
                <c:pt idx="266" formatCode="0.00">
                  <c:v>16.870001801774499</c:v>
                </c:pt>
                <c:pt idx="267" formatCode="0.00">
                  <c:v>18.185137171769099</c:v>
                </c:pt>
              </c:numCache>
            </c:numRef>
          </c:val>
          <c:smooth val="0"/>
        </c:ser>
        <c:ser>
          <c:idx val="2"/>
          <c:order val="2"/>
          <c:tx>
            <c:strRef>
              <c:f>Conv!$P$1</c:f>
              <c:strCache>
                <c:ptCount val="1"/>
                <c:pt idx="0">
                  <c:v>v 2.0</c:v>
                </c:pt>
              </c:strCache>
            </c:strRef>
          </c:tx>
          <c:spPr>
            <a:ln>
              <a:solidFill>
                <a:srgbClr val="C00000"/>
              </a:solidFill>
            </a:ln>
          </c:spPr>
          <c:marker>
            <c:symbol val="none"/>
          </c:marker>
          <c:cat>
            <c:numRef>
              <c:f>Conv!$M$2:$M$269</c:f>
              <c:numCache>
                <c:formatCode>m/d/yyyy</c:formatCode>
                <c:ptCount val="268"/>
                <c:pt idx="0">
                  <c:v>34394</c:v>
                </c:pt>
                <c:pt idx="1">
                  <c:v>34425</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35400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pt idx="262">
                  <c:v>42430</c:v>
                </c:pt>
                <c:pt idx="263">
                  <c:v>42461</c:v>
                </c:pt>
                <c:pt idx="264">
                  <c:v>42491</c:v>
                </c:pt>
                <c:pt idx="265">
                  <c:v>42522</c:v>
                </c:pt>
                <c:pt idx="266">
                  <c:v>42491</c:v>
                </c:pt>
                <c:pt idx="267">
                  <c:v>42522</c:v>
                </c:pt>
              </c:numCache>
            </c:numRef>
          </c:cat>
          <c:val>
            <c:numRef>
              <c:f>Conv!$P$2:$P$269</c:f>
              <c:numCache>
                <c:formatCode>General</c:formatCode>
                <c:ptCount val="268"/>
                <c:pt idx="0">
                  <c:v>0</c:v>
                </c:pt>
                <c:pt idx="1">
                  <c:v>13.9</c:v>
                </c:pt>
                <c:pt idx="2">
                  <c:v>0</c:v>
                </c:pt>
                <c:pt idx="3">
                  <c:v>1.5</c:v>
                </c:pt>
                <c:pt idx="4">
                  <c:v>4.9000000000000004</c:v>
                </c:pt>
                <c:pt idx="5">
                  <c:v>4.5</c:v>
                </c:pt>
                <c:pt idx="6">
                  <c:v>4.3</c:v>
                </c:pt>
                <c:pt idx="7">
                  <c:v>4.3</c:v>
                </c:pt>
                <c:pt idx="8">
                  <c:v>3.7</c:v>
                </c:pt>
                <c:pt idx="9">
                  <c:v>3.5</c:v>
                </c:pt>
                <c:pt idx="10">
                  <c:v>2.7</c:v>
                </c:pt>
                <c:pt idx="11">
                  <c:v>2.8</c:v>
                </c:pt>
                <c:pt idx="12">
                  <c:v>4.0999999999999996</c:v>
                </c:pt>
                <c:pt idx="13">
                  <c:v>5.3</c:v>
                </c:pt>
                <c:pt idx="14">
                  <c:v>5.9</c:v>
                </c:pt>
                <c:pt idx="15">
                  <c:v>7.9</c:v>
                </c:pt>
                <c:pt idx="16">
                  <c:v>12.100000000000001</c:v>
                </c:pt>
                <c:pt idx="17">
                  <c:v>12.1</c:v>
                </c:pt>
                <c:pt idx="18">
                  <c:v>8.3999999999999986</c:v>
                </c:pt>
                <c:pt idx="19">
                  <c:v>10.399999999999999</c:v>
                </c:pt>
                <c:pt idx="20">
                  <c:v>11.5</c:v>
                </c:pt>
                <c:pt idx="21">
                  <c:v>13.100000000000001</c:v>
                </c:pt>
                <c:pt idx="22">
                  <c:v>16.5</c:v>
                </c:pt>
                <c:pt idx="23">
                  <c:v>20.5</c:v>
                </c:pt>
                <c:pt idx="24">
                  <c:v>18.200000000000003</c:v>
                </c:pt>
                <c:pt idx="25">
                  <c:v>9.1999999999999993</c:v>
                </c:pt>
                <c:pt idx="26">
                  <c:v>7.8000000000000007</c:v>
                </c:pt>
                <c:pt idx="27">
                  <c:v>7.6</c:v>
                </c:pt>
                <c:pt idx="28">
                  <c:v>6.3999999999999995</c:v>
                </c:pt>
                <c:pt idx="29">
                  <c:v>6.5</c:v>
                </c:pt>
                <c:pt idx="30">
                  <c:v>7.1</c:v>
                </c:pt>
                <c:pt idx="31">
                  <c:v>5.9</c:v>
                </c:pt>
                <c:pt idx="32">
                  <c:v>7.1</c:v>
                </c:pt>
                <c:pt idx="33">
                  <c:v>0</c:v>
                </c:pt>
                <c:pt idx="34">
                  <c:v>2.1</c:v>
                </c:pt>
                <c:pt idx="35">
                  <c:v>10.100000000000001</c:v>
                </c:pt>
                <c:pt idx="36">
                  <c:v>8.6</c:v>
                </c:pt>
                <c:pt idx="37">
                  <c:v>7.4</c:v>
                </c:pt>
                <c:pt idx="38">
                  <c:v>9.1</c:v>
                </c:pt>
                <c:pt idx="39">
                  <c:v>10.5</c:v>
                </c:pt>
                <c:pt idx="40">
                  <c:v>13.8</c:v>
                </c:pt>
                <c:pt idx="41">
                  <c:v>12.100000000000001</c:v>
                </c:pt>
                <c:pt idx="42">
                  <c:v>13.4</c:v>
                </c:pt>
                <c:pt idx="43">
                  <c:v>15.7</c:v>
                </c:pt>
                <c:pt idx="44">
                  <c:v>17.8</c:v>
                </c:pt>
                <c:pt idx="45">
                  <c:v>18.5</c:v>
                </c:pt>
                <c:pt idx="46">
                  <c:v>25.7</c:v>
                </c:pt>
                <c:pt idx="47">
                  <c:v>25.1</c:v>
                </c:pt>
                <c:pt idx="48">
                  <c:v>21</c:v>
                </c:pt>
                <c:pt idx="49">
                  <c:v>20</c:v>
                </c:pt>
                <c:pt idx="50">
                  <c:v>21.9</c:v>
                </c:pt>
                <c:pt idx="51">
                  <c:v>26.1</c:v>
                </c:pt>
                <c:pt idx="52">
                  <c:v>26.8</c:v>
                </c:pt>
                <c:pt idx="53">
                  <c:v>25.9</c:v>
                </c:pt>
                <c:pt idx="54">
                  <c:v>35</c:v>
                </c:pt>
                <c:pt idx="55">
                  <c:v>34.9</c:v>
                </c:pt>
                <c:pt idx="56">
                  <c:v>25.8</c:v>
                </c:pt>
                <c:pt idx="57">
                  <c:v>27.7</c:v>
                </c:pt>
                <c:pt idx="58">
                  <c:v>25.5</c:v>
                </c:pt>
                <c:pt idx="59">
                  <c:v>24.5</c:v>
                </c:pt>
                <c:pt idx="60">
                  <c:v>19.200000000000003</c:v>
                </c:pt>
                <c:pt idx="61">
                  <c:v>20.5</c:v>
                </c:pt>
                <c:pt idx="62">
                  <c:v>15.600000000000001</c:v>
                </c:pt>
                <c:pt idx="63">
                  <c:v>11.7</c:v>
                </c:pt>
                <c:pt idx="64">
                  <c:v>11.7</c:v>
                </c:pt>
                <c:pt idx="65">
                  <c:v>8.6999999999999993</c:v>
                </c:pt>
                <c:pt idx="66">
                  <c:v>9.6999999999999993</c:v>
                </c:pt>
                <c:pt idx="67">
                  <c:v>8.1</c:v>
                </c:pt>
                <c:pt idx="68">
                  <c:v>8.3729859231043395</c:v>
                </c:pt>
                <c:pt idx="69">
                  <c:v>5.0651950052649521</c:v>
                </c:pt>
                <c:pt idx="70">
                  <c:v>4.9680050972937773</c:v>
                </c:pt>
                <c:pt idx="71">
                  <c:v>6.3882602013484995</c:v>
                </c:pt>
                <c:pt idx="72">
                  <c:v>7.4819538346517396</c:v>
                </c:pt>
                <c:pt idx="73">
                  <c:v>8.2305623383231197</c:v>
                </c:pt>
                <c:pt idx="74">
                  <c:v>8.7282348560457699</c:v>
                </c:pt>
                <c:pt idx="75">
                  <c:v>9.5249456111727007</c:v>
                </c:pt>
                <c:pt idx="76">
                  <c:v>10.9576578306883</c:v>
                </c:pt>
                <c:pt idx="77">
                  <c:v>11.346739170230212</c:v>
                </c:pt>
                <c:pt idx="78">
                  <c:v>11.34486298769462</c:v>
                </c:pt>
                <c:pt idx="79">
                  <c:v>12.562228442733</c:v>
                </c:pt>
                <c:pt idx="80">
                  <c:v>20.832158939315999</c:v>
                </c:pt>
                <c:pt idx="81">
                  <c:v>33.0156281491616</c:v>
                </c:pt>
                <c:pt idx="82">
                  <c:v>34.255268907935999</c:v>
                </c:pt>
                <c:pt idx="83">
                  <c:v>36.2193202301086</c:v>
                </c:pt>
                <c:pt idx="84">
                  <c:v>30.418543904040501</c:v>
                </c:pt>
                <c:pt idx="85">
                  <c:v>25.181469399611601</c:v>
                </c:pt>
                <c:pt idx="86">
                  <c:v>24.228678629074402</c:v>
                </c:pt>
                <c:pt idx="87">
                  <c:v>24.556359305362299</c:v>
                </c:pt>
                <c:pt idx="88">
                  <c:v>29.489432258293402</c:v>
                </c:pt>
                <c:pt idx="89">
                  <c:v>33.876611162442003</c:v>
                </c:pt>
                <c:pt idx="90">
                  <c:v>47.221472533875598</c:v>
                </c:pt>
                <c:pt idx="91">
                  <c:v>43.375035392967206</c:v>
                </c:pt>
                <c:pt idx="92">
                  <c:v>19.602544914642898</c:v>
                </c:pt>
                <c:pt idx="93">
                  <c:v>16.548718325628801</c:v>
                </c:pt>
                <c:pt idx="94">
                  <c:v>19.5968333905642</c:v>
                </c:pt>
                <c:pt idx="95">
                  <c:v>14.605908552602491</c:v>
                </c:pt>
                <c:pt idx="96">
                  <c:v>16.2120337744662</c:v>
                </c:pt>
                <c:pt idx="97">
                  <c:v>21.544874743430601</c:v>
                </c:pt>
                <c:pt idx="98">
                  <c:v>34.926335893994498</c:v>
                </c:pt>
                <c:pt idx="99">
                  <c:v>45.722220377969904</c:v>
                </c:pt>
                <c:pt idx="100">
                  <c:v>51.9706209408549</c:v>
                </c:pt>
                <c:pt idx="101">
                  <c:v>57.199819696667305</c:v>
                </c:pt>
                <c:pt idx="102">
                  <c:v>54.1443971158957</c:v>
                </c:pt>
                <c:pt idx="103">
                  <c:v>49.196159939859001</c:v>
                </c:pt>
                <c:pt idx="104">
                  <c:v>46.6570101482911</c:v>
                </c:pt>
                <c:pt idx="105">
                  <c:v>#N/A</c:v>
                </c:pt>
                <c:pt idx="106">
                  <c:v>47.044174529459895</c:v>
                </c:pt>
                <c:pt idx="107">
                  <c:v>49.066557160856398</c:v>
                </c:pt>
                <c:pt idx="108">
                  <c:v>45.320673031486997</c:v>
                </c:pt>
                <c:pt idx="109">
                  <c:v>#N/A</c:v>
                </c:pt>
                <c:pt idx="110">
                  <c:v>#N/A</c:v>
                </c:pt>
                <c:pt idx="111">
                  <c:v>34.677014049948902</c:v>
                </c:pt>
                <c:pt idx="112">
                  <c:v>12.086487691265301</c:v>
                </c:pt>
                <c:pt idx="113">
                  <c:v>13.033363921435601</c:v>
                </c:pt>
                <c:pt idx="114">
                  <c:v>16.344512984404602</c:v>
                </c:pt>
                <c:pt idx="115">
                  <c:v>16.284174879846802</c:v>
                </c:pt>
                <c:pt idx="116">
                  <c:v>17.006401984944002</c:v>
                </c:pt>
                <c:pt idx="117">
                  <c:v>20.762364788484199</c:v>
                </c:pt>
                <c:pt idx="118">
                  <c:v>24.234024683585599</c:v>
                </c:pt>
                <c:pt idx="119">
                  <c:v>33.801353762217403</c:v>
                </c:pt>
                <c:pt idx="120">
                  <c:v>15.975119955465601</c:v>
                </c:pt>
                <c:pt idx="121">
                  <c:v>10.652306517184162</c:v>
                </c:pt>
                <c:pt idx="122">
                  <c:v>10.724793591489341</c:v>
                </c:pt>
                <c:pt idx="123">
                  <c:v>13.34601603091475</c:v>
                </c:pt>
                <c:pt idx="124">
                  <c:v>16.7020832067725</c:v>
                </c:pt>
                <c:pt idx="125">
                  <c:v>18.455455761183501</c:v>
                </c:pt>
                <c:pt idx="126">
                  <c:v>20.373601073961702</c:v>
                </c:pt>
                <c:pt idx="127">
                  <c:v>19.688661159653901</c:v>
                </c:pt>
                <c:pt idx="128">
                  <c:v>19.5985690750943</c:v>
                </c:pt>
                <c:pt idx="129">
                  <c:v>18.492927582994501</c:v>
                </c:pt>
                <c:pt idx="130">
                  <c:v>20.9821920350963</c:v>
                </c:pt>
                <c:pt idx="131">
                  <c:v>15.32534239894777</c:v>
                </c:pt>
                <c:pt idx="132">
                  <c:v>17.478457895030488</c:v>
                </c:pt>
                <c:pt idx="133">
                  <c:v>21.0615134131221</c:v>
                </c:pt>
                <c:pt idx="134">
                  <c:v>27.609128035027098</c:v>
                </c:pt>
                <c:pt idx="135">
                  <c:v>21.966906616335201</c:v>
                </c:pt>
                <c:pt idx="136">
                  <c:v>18.463103661014962</c:v>
                </c:pt>
                <c:pt idx="137">
                  <c:v>16.889341280285642</c:v>
                </c:pt>
                <c:pt idx="138">
                  <c:v>12.77275528825097</c:v>
                </c:pt>
                <c:pt idx="139">
                  <c:v>9.8174744385395591</c:v>
                </c:pt>
                <c:pt idx="140">
                  <c:v>10.36033715035334</c:v>
                </c:pt>
                <c:pt idx="141">
                  <c:v>9.8413344054200707</c:v>
                </c:pt>
                <c:pt idx="142">
                  <c:v>9.7102272725604308</c:v>
                </c:pt>
                <c:pt idx="143">
                  <c:v>10.88276905888517</c:v>
                </c:pt>
                <c:pt idx="144">
                  <c:v>10.861056367750161</c:v>
                </c:pt>
                <c:pt idx="145">
                  <c:v>10.692510845381829</c:v>
                </c:pt>
                <c:pt idx="146">
                  <c:v>10.76481321312596</c:v>
                </c:pt>
                <c:pt idx="147">
                  <c:v>10.28743626601854</c:v>
                </c:pt>
                <c:pt idx="148">
                  <c:v>11.55826049319241</c:v>
                </c:pt>
                <c:pt idx="149">
                  <c:v>11.673735424396352</c:v>
                </c:pt>
                <c:pt idx="150">
                  <c:v>12.19184573262312</c:v>
                </c:pt>
                <c:pt idx="151">
                  <c:v>12.5460427424728</c:v>
                </c:pt>
                <c:pt idx="152">
                  <c:v>14.547096108762272</c:v>
                </c:pt>
                <c:pt idx="153">
                  <c:v>11.23481510283915</c:v>
                </c:pt>
                <c:pt idx="154">
                  <c:v>11.03456544348483</c:v>
                </c:pt>
                <c:pt idx="155">
                  <c:v>13.707549058575701</c:v>
                </c:pt>
                <c:pt idx="156">
                  <c:v>13.658454273148189</c:v>
                </c:pt>
                <c:pt idx="157">
                  <c:v>12.709305066159649</c:v>
                </c:pt>
                <c:pt idx="158">
                  <c:v>10.23777760373037</c:v>
                </c:pt>
                <c:pt idx="159">
                  <c:v>8.4424842314872297</c:v>
                </c:pt>
                <c:pt idx="160">
                  <c:v>8.2816588139582397</c:v>
                </c:pt>
                <c:pt idx="161">
                  <c:v>7.94032089074007</c:v>
                </c:pt>
                <c:pt idx="162">
                  <c:v>8.2527802126146099</c:v>
                </c:pt>
                <c:pt idx="163">
                  <c:v>8.8047385912025113</c:v>
                </c:pt>
                <c:pt idx="164">
                  <c:v>10.40983187457336</c:v>
                </c:pt>
                <c:pt idx="165">
                  <c:v>17.401365509702</c:v>
                </c:pt>
                <c:pt idx="166">
                  <c:v>11.325855006375289</c:v>
                </c:pt>
                <c:pt idx="167">
                  <c:v>10.930763653526661</c:v>
                </c:pt>
                <c:pt idx="168">
                  <c:v>11.382184319924669</c:v>
                </c:pt>
                <c:pt idx="169">
                  <c:v>9.56136455899534</c:v>
                </c:pt>
                <c:pt idx="170">
                  <c:v>7.5888870203396603</c:v>
                </c:pt>
                <c:pt idx="171">
                  <c:v>6.5643872840188298</c:v>
                </c:pt>
                <c:pt idx="172">
                  <c:v>6.2719252736890994</c:v>
                </c:pt>
                <c:pt idx="173">
                  <c:v>6.7724666970248801</c:v>
                </c:pt>
                <c:pt idx="174">
                  <c:v>6.6097187606892795</c:v>
                </c:pt>
                <c:pt idx="175">
                  <c:v>7.0669435403080598</c:v>
                </c:pt>
                <c:pt idx="176">
                  <c:v>22.514685642697497</c:v>
                </c:pt>
                <c:pt idx="177">
                  <c:v>28.7698281415379</c:v>
                </c:pt>
                <c:pt idx="178">
                  <c:v>25.072768477331401</c:v>
                </c:pt>
                <c:pt idx="179">
                  <c:v>24.968774206086902</c:v>
                </c:pt>
                <c:pt idx="180">
                  <c:v>24.0681641525989</c:v>
                </c:pt>
                <c:pt idx="181">
                  <c:v>24.530089851110198</c:v>
                </c:pt>
                <c:pt idx="182">
                  <c:v>10.185856454704799</c:v>
                </c:pt>
                <c:pt idx="183">
                  <c:v>14.901307919315601</c:v>
                </c:pt>
                <c:pt idx="184">
                  <c:v>14.270446875838999</c:v>
                </c:pt>
                <c:pt idx="185">
                  <c:v>18.4292949038391</c:v>
                </c:pt>
                <c:pt idx="186">
                  <c:v>18.426717097766399</c:v>
                </c:pt>
                <c:pt idx="187">
                  <c:v>20.687665796410798</c:v>
                </c:pt>
                <c:pt idx="188">
                  <c:v>17.935236319709599</c:v>
                </c:pt>
                <c:pt idx="189">
                  <c:v>15.545926245981699</c:v>
                </c:pt>
                <c:pt idx="190">
                  <c:v>14.266917755614701</c:v>
                </c:pt>
                <c:pt idx="191">
                  <c:v>15.4508719396354</c:v>
                </c:pt>
                <c:pt idx="192">
                  <c:v>12.288061651547091</c:v>
                </c:pt>
                <c:pt idx="193">
                  <c:v>17.547069893587899</c:v>
                </c:pt>
                <c:pt idx="194">
                  <c:v>19.831902256760099</c:v>
                </c:pt>
                <c:pt idx="195">
                  <c:v>22.250648996131403</c:v>
                </c:pt>
                <c:pt idx="196">
                  <c:v>22.241578383662901</c:v>
                </c:pt>
                <c:pt idx="197">
                  <c:v>26.531211291014699</c:v>
                </c:pt>
                <c:pt idx="198">
                  <c:v>25.6455130515447</c:v>
                </c:pt>
                <c:pt idx="199">
                  <c:v>25.010736369838799</c:v>
                </c:pt>
                <c:pt idx="200">
                  <c:v>16.0062076233921</c:v>
                </c:pt>
                <c:pt idx="201">
                  <c:v>14.109732850173399</c:v>
                </c:pt>
                <c:pt idx="202">
                  <c:v>11.015807831016859</c:v>
                </c:pt>
                <c:pt idx="203">
                  <c:v>12.808837901908429</c:v>
                </c:pt>
                <c:pt idx="204">
                  <c:v>12.83665033061698</c:v>
                </c:pt>
                <c:pt idx="205">
                  <c:v>15.6194638278429</c:v>
                </c:pt>
                <c:pt idx="206">
                  <c:v>17.451303556884902</c:v>
                </c:pt>
                <c:pt idx="207">
                  <c:v>17.9515013689828</c:v>
                </c:pt>
                <c:pt idx="208">
                  <c:v>23.932656430311599</c:v>
                </c:pt>
                <c:pt idx="209">
                  <c:v>26.4758079693874</c:v>
                </c:pt>
                <c:pt idx="210">
                  <c:v>25.141333177827001</c:v>
                </c:pt>
                <c:pt idx="211">
                  <c:v>25.560111532336801</c:v>
                </c:pt>
                <c:pt idx="212">
                  <c:v>25.740315542561699</c:v>
                </c:pt>
                <c:pt idx="213">
                  <c:v>24.438995428417702</c:v>
                </c:pt>
                <c:pt idx="214">
                  <c:v>23.949064622868399</c:v>
                </c:pt>
                <c:pt idx="215">
                  <c:v>23.464706636429902</c:v>
                </c:pt>
                <c:pt idx="216">
                  <c:v>24.393472025907602</c:v>
                </c:pt>
                <c:pt idx="217">
                  <c:v>24.484244898968299</c:v>
                </c:pt>
                <c:pt idx="218">
                  <c:v>25.357303308525001</c:v>
                </c:pt>
                <c:pt idx="219">
                  <c:v>25.260329213787902</c:v>
                </c:pt>
                <c:pt idx="220">
                  <c:v>24.869160486155501</c:v>
                </c:pt>
                <c:pt idx="221">
                  <c:v>25.291866525735202</c:v>
                </c:pt>
                <c:pt idx="222">
                  <c:v>25.6382094285898</c:v>
                </c:pt>
                <c:pt idx="223">
                  <c:v>25.412560484231498</c:v>
                </c:pt>
                <c:pt idx="224">
                  <c:v>25.390695696935001</c:v>
                </c:pt>
                <c:pt idx="225">
                  <c:v>25.3504148662498</c:v>
                </c:pt>
                <c:pt idx="226">
                  <c:v>23.777788773887298</c:v>
                </c:pt>
                <c:pt idx="227">
                  <c:v>24.300014451919502</c:v>
                </c:pt>
                <c:pt idx="228">
                  <c:v>26.474992584821301</c:v>
                </c:pt>
                <c:pt idx="229">
                  <c:v>25.942636434936201</c:v>
                </c:pt>
                <c:pt idx="230">
                  <c:v>17.9056831776028</c:v>
                </c:pt>
                <c:pt idx="231">
                  <c:v>13.35734530094615</c:v>
                </c:pt>
                <c:pt idx="232">
                  <c:v>11.4050683788772</c:v>
                </c:pt>
                <c:pt idx="233">
                  <c:v>10.46171766272535</c:v>
                </c:pt>
                <c:pt idx="234">
                  <c:v>13.350537143573209</c:v>
                </c:pt>
                <c:pt idx="235">
                  <c:v>12.607980376574019</c:v>
                </c:pt>
                <c:pt idx="236">
                  <c:v>10.8656387462672</c:v>
                </c:pt>
                <c:pt idx="237">
                  <c:v>9.9097885150395797</c:v>
                </c:pt>
                <c:pt idx="238">
                  <c:v>11.88854248980534</c:v>
                </c:pt>
                <c:pt idx="239">
                  <c:v>13.18472882713067</c:v>
                </c:pt>
                <c:pt idx="240">
                  <c:v>14.21573708066537</c:v>
                </c:pt>
                <c:pt idx="241">
                  <c:v>16.613525827415341</c:v>
                </c:pt>
                <c:pt idx="242">
                  <c:v>18.519355563882609</c:v>
                </c:pt>
                <c:pt idx="243">
                  <c:v>18.22768643139846</c:v>
                </c:pt>
                <c:pt idx="244">
                  <c:v>19.027590853065668</c:v>
                </c:pt>
                <c:pt idx="245">
                  <c:v>17.36839273043309</c:v>
                </c:pt>
                <c:pt idx="246">
                  <c:v>19.823494642193399</c:v>
                </c:pt>
                <c:pt idx="247">
                  <c:v>20.7489019815403</c:v>
                </c:pt>
                <c:pt idx="248">
                  <c:v>24.6710069473537</c:v>
                </c:pt>
                <c:pt idx="249">
                  <c:v>26.8821491277962</c:v>
                </c:pt>
                <c:pt idx="250">
                  <c:v>25.955260072062899</c:v>
                </c:pt>
                <c:pt idx="251">
                  <c:v>25.827950077009802</c:v>
                </c:pt>
                <c:pt idx="252">
                  <c:v>29.088715815682598</c:v>
                </c:pt>
                <c:pt idx="253">
                  <c:v>24.828944853258498</c:v>
                </c:pt>
                <c:pt idx="254">
                  <c:v>22.33670413257833</c:v>
                </c:pt>
                <c:pt idx="255">
                  <c:v>20.341472153814969</c:v>
                </c:pt>
                <c:pt idx="256">
                  <c:v>23.422705504571301</c:v>
                </c:pt>
                <c:pt idx="257">
                  <c:v>22.200590940171708</c:v>
                </c:pt>
                <c:pt idx="258">
                  <c:v>23.152286372226239</c:v>
                </c:pt>
                <c:pt idx="259">
                  <c:v>20.609850922099838</c:v>
                </c:pt>
                <c:pt idx="260">
                  <c:v>20.60457810623598</c:v>
                </c:pt>
                <c:pt idx="261">
                  <c:v>19.46424385020596</c:v>
                </c:pt>
                <c:pt idx="262">
                  <c:v>23.122132620025599</c:v>
                </c:pt>
                <c:pt idx="263">
                  <c:v>25.2788536484187</c:v>
                </c:pt>
                <c:pt idx="264">
                  <c:v>27.527879538873201</c:v>
                </c:pt>
                <c:pt idx="265">
                  <c:v>28.073220108867801</c:v>
                </c:pt>
                <c:pt idx="266">
                  <c:v>27.527879538873201</c:v>
                </c:pt>
                <c:pt idx="267">
                  <c:v>28.073220108867801</c:v>
                </c:pt>
              </c:numCache>
            </c:numRef>
          </c:val>
          <c:smooth val="0"/>
        </c:ser>
        <c:dLbls>
          <c:showLegendKey val="0"/>
          <c:showVal val="0"/>
          <c:showCatName val="0"/>
          <c:showSerName val="0"/>
          <c:showPercent val="0"/>
          <c:showBubbleSize val="0"/>
        </c:dLbls>
        <c:marker val="1"/>
        <c:smooth val="0"/>
        <c:axId val="147145472"/>
        <c:axId val="147147392"/>
      </c:lineChart>
      <c:dateAx>
        <c:axId val="147145472"/>
        <c:scaling>
          <c:orientation val="minMax"/>
        </c:scaling>
        <c:delete val="0"/>
        <c:axPos val="b"/>
        <c:numFmt formatCode="m/d/yyyy" sourceLinked="1"/>
        <c:majorTickMark val="out"/>
        <c:minorTickMark val="none"/>
        <c:tickLblPos val="nextTo"/>
        <c:crossAx val="147147392"/>
        <c:crosses val="autoZero"/>
        <c:auto val="1"/>
        <c:lblOffset val="100"/>
        <c:baseTimeUnit val="days"/>
      </c:dateAx>
      <c:valAx>
        <c:axId val="147147392"/>
        <c:scaling>
          <c:orientation val="minMax"/>
        </c:scaling>
        <c:delete val="0"/>
        <c:axPos val="l"/>
        <c:majorGridlines/>
        <c:numFmt formatCode="General" sourceLinked="1"/>
        <c:majorTickMark val="out"/>
        <c:minorTickMark val="none"/>
        <c:tickLblPos val="nextTo"/>
        <c:crossAx val="147145472"/>
        <c:crosses val="autoZero"/>
        <c:crossBetween val="between"/>
      </c:valAx>
    </c:plotArea>
    <c:legend>
      <c:legendPos val="r"/>
      <c:layout/>
      <c:overlay val="0"/>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Agency </a:t>
            </a:r>
            <a:r>
              <a:rPr lang="en-US" sz="2400" dirty="0" smtClean="0">
                <a:solidFill>
                  <a:srgbClr val="968880"/>
                </a:solidFill>
                <a:latin typeface="Calibri" pitchFamily="34" charset="0"/>
              </a:rPr>
              <a:t>Prepayment V2.10</a:t>
            </a:r>
          </a:p>
          <a:p>
            <a:pPr algn="r" defTabSz="1018586"/>
            <a:r>
              <a:rPr lang="en-US" dirty="0" smtClean="0">
                <a:solidFill>
                  <a:schemeClr val="tx2"/>
                </a:solidFill>
                <a:latin typeface="Calibri" pitchFamily="34" charset="0"/>
              </a:rPr>
              <a:t>July</a:t>
            </a:r>
            <a:r>
              <a:rPr lang="en-US" dirty="0" smtClean="0">
                <a:solidFill>
                  <a:schemeClr val="tx2"/>
                </a:solidFill>
                <a:latin typeface="Calibri" pitchFamily="34" charset="0"/>
              </a:rPr>
              <a:t>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Three Problems Targeted to Fix in V2.1</a:t>
            </a:r>
            <a:endParaRPr lang="en-US" dirty="0">
              <a:latin typeface="+mn-lt"/>
            </a:endParaRPr>
          </a:p>
        </p:txBody>
      </p:sp>
      <p:grpSp>
        <p:nvGrpSpPr>
          <p:cNvPr id="3" name="Group 2"/>
          <p:cNvGrpSpPr/>
          <p:nvPr/>
        </p:nvGrpSpPr>
        <p:grpSpPr>
          <a:xfrm>
            <a:off x="819356" y="1118116"/>
            <a:ext cx="8549586" cy="1487618"/>
            <a:chOff x="819356" y="1118116"/>
            <a:chExt cx="8549586" cy="1487618"/>
          </a:xfrm>
        </p:grpSpPr>
        <p:sp>
          <p:nvSpPr>
            <p:cNvPr id="4" name="Rectangle 3"/>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257300"/>
              <a:ext cx="4069080" cy="307777"/>
            </a:xfrm>
            <a:prstGeom prst="rect">
              <a:avLst/>
            </a:prstGeom>
            <a:noFill/>
          </p:spPr>
          <p:txBody>
            <a:bodyPr wrap="square" rtlCol="0">
              <a:spAutoFit/>
            </a:bodyPr>
            <a:lstStyle/>
            <a:p>
              <a:r>
                <a:rPr lang="en-US" sz="1400" b="1" dirty="0" smtClean="0">
                  <a:latin typeface="+mn-lt"/>
                </a:rPr>
                <a:t>Tracking after 2014 is too fast</a:t>
              </a:r>
              <a:endParaRPr lang="en-US" sz="1400" b="1" dirty="0">
                <a:latin typeface="+mn-lt"/>
              </a:endParaRPr>
            </a:p>
          </p:txBody>
        </p:sp>
        <p:sp>
          <p:nvSpPr>
            <p:cNvPr id="8" name="TextBox 7"/>
            <p:cNvSpPr txBox="1"/>
            <p:nvPr/>
          </p:nvSpPr>
          <p:spPr>
            <a:xfrm>
              <a:off x="819356" y="1867070"/>
              <a:ext cx="8549586"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The model tracking for post 2014 period seems much faster than actual</a:t>
              </a:r>
            </a:p>
            <a:p>
              <a:pPr marL="285750" indent="-285750">
                <a:buFont typeface="Arial" panose="020B0604020202020204" pitchFamily="34" charset="0"/>
                <a:buChar char="•"/>
              </a:pPr>
              <a:r>
                <a:rPr lang="en-US" sz="1400" dirty="0" smtClean="0">
                  <a:latin typeface="+mn-lt"/>
                </a:rPr>
                <a:t>The problem is potentially caused by the dispersion of the market credit availability and the HPA 2yr index</a:t>
              </a:r>
            </a:p>
            <a:p>
              <a:pPr marL="285750" indent="-285750">
                <a:buFont typeface="Arial" panose="020B0604020202020204" pitchFamily="34" charset="0"/>
                <a:buChar char="•"/>
              </a:pPr>
              <a:r>
                <a:rPr lang="en-US" sz="1400" dirty="0" smtClean="0">
                  <a:latin typeface="+mn-lt"/>
                </a:rPr>
                <a:t>We can choose a better index to track the market credit availability changes, and improve our fits</a:t>
              </a:r>
              <a:endParaRPr lang="en-US" sz="1400" dirty="0" smtClean="0">
                <a:latin typeface="+mn-lt"/>
              </a:endParaRPr>
            </a:p>
          </p:txBody>
        </p:sp>
      </p:grpSp>
      <p:grpSp>
        <p:nvGrpSpPr>
          <p:cNvPr id="17" name="Group 16"/>
          <p:cNvGrpSpPr/>
          <p:nvPr/>
        </p:nvGrpSpPr>
        <p:grpSpPr>
          <a:xfrm>
            <a:off x="819356" y="3023735"/>
            <a:ext cx="8549586" cy="1272174"/>
            <a:chOff x="819356" y="3067764"/>
            <a:chExt cx="8549586" cy="1272174"/>
          </a:xfrm>
        </p:grpSpPr>
        <p:sp>
          <p:nvSpPr>
            <p:cNvPr id="9" name="Rectangle 8"/>
            <p:cNvSpPr/>
            <p:nvPr/>
          </p:nvSpPr>
          <p:spPr>
            <a:xfrm>
              <a:off x="819356" y="3067764"/>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669744"/>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4" y="3206948"/>
              <a:ext cx="4453055" cy="307777"/>
            </a:xfrm>
            <a:prstGeom prst="rect">
              <a:avLst/>
            </a:prstGeom>
            <a:noFill/>
          </p:spPr>
          <p:txBody>
            <a:bodyPr wrap="square" rtlCol="0">
              <a:spAutoFit/>
            </a:bodyPr>
            <a:lstStyle/>
            <a:p>
              <a:r>
                <a:rPr lang="en-US" sz="1400" b="1" dirty="0" smtClean="0">
                  <a:latin typeface="+mn-lt"/>
                </a:rPr>
                <a:t>Loan size parameter is too flat</a:t>
              </a:r>
              <a:endParaRPr lang="en-US" sz="1400" b="1" dirty="0">
                <a:latin typeface="+mn-lt"/>
              </a:endParaRPr>
            </a:p>
          </p:txBody>
        </p:sp>
        <p:sp>
          <p:nvSpPr>
            <p:cNvPr id="12" name="TextBox 11"/>
            <p:cNvSpPr txBox="1"/>
            <p:nvPr/>
          </p:nvSpPr>
          <p:spPr>
            <a:xfrm>
              <a:off x="819356" y="3816718"/>
              <a:ext cx="8549586"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The low size parameter for lower than 300K rang is too flat in v2.0 model</a:t>
              </a:r>
            </a:p>
            <a:p>
              <a:pPr marL="285750" indent="-285750">
                <a:buFont typeface="Arial" panose="020B0604020202020204" pitchFamily="34" charset="0"/>
                <a:buChar char="•"/>
              </a:pPr>
              <a:r>
                <a:rPr lang="en-US" sz="1400" dirty="0" smtClean="0">
                  <a:latin typeface="+mn-lt"/>
                </a:rPr>
                <a:t>We will focus on the lower loan size range (0-300K)  in the new model version</a:t>
              </a:r>
              <a:endParaRPr lang="en-US" sz="1400" dirty="0" smtClean="0">
                <a:latin typeface="+mn-lt"/>
              </a:endParaRPr>
            </a:p>
          </p:txBody>
        </p:sp>
      </p:grpSp>
      <p:grpSp>
        <p:nvGrpSpPr>
          <p:cNvPr id="18" name="Group 17"/>
          <p:cNvGrpSpPr/>
          <p:nvPr/>
        </p:nvGrpSpPr>
        <p:grpSpPr>
          <a:xfrm>
            <a:off x="819356" y="4929354"/>
            <a:ext cx="8549586" cy="1703061"/>
            <a:chOff x="819356" y="4839414"/>
            <a:chExt cx="8549586" cy="1703061"/>
          </a:xfrm>
        </p:grpSpPr>
        <p:sp>
          <p:nvSpPr>
            <p:cNvPr id="13" name="Rectangle 12"/>
            <p:cNvSpPr/>
            <p:nvPr/>
          </p:nvSpPr>
          <p:spPr>
            <a:xfrm>
              <a:off x="819356" y="4839414"/>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cxnSp>
          <p:nvCxnSpPr>
            <p:cNvPr id="14" name="Straight Connector 13"/>
            <p:cNvCxnSpPr/>
            <p:nvPr/>
          </p:nvCxnSpPr>
          <p:spPr>
            <a:xfrm>
              <a:off x="819356" y="5441394"/>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390855" y="4978598"/>
              <a:ext cx="4069080" cy="307777"/>
            </a:xfrm>
            <a:prstGeom prst="rect">
              <a:avLst/>
            </a:prstGeom>
            <a:noFill/>
          </p:spPr>
          <p:txBody>
            <a:bodyPr wrap="square" rtlCol="0">
              <a:spAutoFit/>
            </a:bodyPr>
            <a:lstStyle/>
            <a:p>
              <a:r>
                <a:rPr lang="en-US" sz="1400" b="1" dirty="0" smtClean="0">
                  <a:latin typeface="+mn-lt"/>
                </a:rPr>
                <a:t>High CLTV tracking is too slow</a:t>
              </a:r>
              <a:endParaRPr lang="en-US" sz="1400" b="1" dirty="0">
                <a:latin typeface="+mn-lt"/>
              </a:endParaRPr>
            </a:p>
          </p:txBody>
        </p:sp>
        <p:sp>
          <p:nvSpPr>
            <p:cNvPr id="16" name="TextBox 15"/>
            <p:cNvSpPr txBox="1"/>
            <p:nvPr/>
          </p:nvSpPr>
          <p:spPr>
            <a:xfrm>
              <a:off x="819356" y="5588368"/>
              <a:ext cx="8549586"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Our tracking for CR pools are too slow</a:t>
              </a:r>
            </a:p>
            <a:p>
              <a:pPr marL="285750" indent="-285750">
                <a:buFont typeface="Arial" panose="020B0604020202020204" pitchFamily="34" charset="0"/>
                <a:buChar char="•"/>
              </a:pPr>
              <a:r>
                <a:rPr lang="en-US" sz="1400" dirty="0" smtClean="0">
                  <a:latin typeface="+mn-lt"/>
                </a:rPr>
                <a:t>The potential cause is the Turnover module is too slow for CRs(as most of the CR pools are out-of-money, Turnover model has the most impact on them)</a:t>
              </a:r>
            </a:p>
            <a:p>
              <a:pPr marL="285750" indent="-285750">
                <a:buFont typeface="Arial" panose="020B0604020202020204" pitchFamily="34" charset="0"/>
                <a:buChar char="•"/>
              </a:pPr>
              <a:r>
                <a:rPr lang="en-US" sz="1400" dirty="0" smtClean="0">
                  <a:latin typeface="+mn-lt"/>
                </a:rPr>
                <a:t>We will re-visit the Turnover Lock-in and CLTV curves to fix the issue</a:t>
              </a:r>
              <a:endParaRPr lang="en-US" sz="1400" dirty="0" smtClean="0">
                <a:latin typeface="+mn-lt"/>
              </a:endParaRPr>
            </a:p>
          </p:txBody>
        </p:sp>
      </p:grpSp>
    </p:spTree>
    <p:extLst>
      <p:ext uri="{BB962C8B-B14F-4D97-AF65-F5344CB8AC3E}">
        <p14:creationId xmlns:p14="http://schemas.microsoft.com/office/powerpoint/2010/main" val="1308266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Model Update Overview</a:t>
            </a:r>
            <a:br>
              <a:rPr lang="en-US" sz="1600" dirty="0">
                <a:latin typeface="+mn-lt"/>
              </a:rPr>
            </a:br>
            <a:r>
              <a:rPr lang="en-US" sz="1600" dirty="0" smtClean="0">
                <a:latin typeface="+mn-lt"/>
              </a:rPr>
              <a:t>1. Credit Availability Update</a:t>
            </a:r>
            <a:endParaRPr lang="en-US" dirty="0">
              <a:latin typeface="+mn-lt"/>
            </a:endParaRPr>
          </a:p>
        </p:txBody>
      </p:sp>
      <p:sp>
        <p:nvSpPr>
          <p:cNvPr id="30" name="Rectangle 29"/>
          <p:cNvSpPr/>
          <p:nvPr/>
        </p:nvSpPr>
        <p:spPr>
          <a:xfrm>
            <a:off x="3745844" y="3555277"/>
            <a:ext cx="2350472" cy="167639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3745844" y="2867296"/>
            <a:ext cx="2350472" cy="685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943544" y="3794759"/>
            <a:ext cx="2350472" cy="2630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943544" y="2867296"/>
            <a:ext cx="2350472" cy="92746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494384" y="1044115"/>
            <a:ext cx="9003791" cy="276999"/>
          </a:xfrm>
          <a:prstGeom prst="rect">
            <a:avLst/>
          </a:prstGeom>
          <a:noFill/>
        </p:spPr>
        <p:txBody>
          <a:bodyPr wrap="square" rtlCol="0">
            <a:spAutoFit/>
          </a:bodyPr>
          <a:lstStyle/>
          <a:p>
            <a:r>
              <a:rPr lang="en-US" sz="1200" dirty="0" smtClean="0">
                <a:latin typeface="+mn-lt"/>
              </a:rPr>
              <a:t>For the potential CAI inputs, we did a comparison using a automatic curve optimization framework.</a:t>
            </a:r>
            <a:endParaRPr lang="en-US" sz="1200" dirty="0">
              <a:latin typeface="+mn-lt"/>
            </a:endParaRPr>
          </a:p>
        </p:txBody>
      </p:sp>
      <p:grpSp>
        <p:nvGrpSpPr>
          <p:cNvPr id="43" name="Group 42"/>
          <p:cNvGrpSpPr/>
          <p:nvPr/>
        </p:nvGrpSpPr>
        <p:grpSpPr>
          <a:xfrm>
            <a:off x="947900" y="2392536"/>
            <a:ext cx="2321151" cy="4032928"/>
            <a:chOff x="5029199" y="3563864"/>
            <a:chExt cx="2705102" cy="4032928"/>
          </a:xfrm>
        </p:grpSpPr>
        <p:sp>
          <p:nvSpPr>
            <p:cNvPr id="44" name="TextBox 43"/>
            <p:cNvSpPr txBox="1"/>
            <p:nvPr/>
          </p:nvSpPr>
          <p:spPr>
            <a:xfrm>
              <a:off x="5051263" y="3563864"/>
              <a:ext cx="250796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11 Parameters</a:t>
              </a:r>
              <a:endParaRPr lang="en-GB" sz="1400" dirty="0">
                <a:solidFill>
                  <a:schemeClr val="accent1"/>
                </a:solidFill>
                <a:latin typeface="Arial"/>
              </a:endParaRPr>
            </a:p>
          </p:txBody>
        </p:sp>
        <p:sp>
          <p:nvSpPr>
            <p:cNvPr id="45" name="TextBox 44"/>
            <p:cNvSpPr txBox="1"/>
            <p:nvPr/>
          </p:nvSpPr>
          <p:spPr>
            <a:xfrm>
              <a:off x="5029199" y="3949640"/>
              <a:ext cx="2705102" cy="36471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a:p>
              <a:pPr marL="0" lvl="1" indent="0" fontAlgn="auto">
                <a:lnSpc>
                  <a:spcPct val="150000"/>
                </a:lnSpc>
                <a:spcAft>
                  <a:spcPts val="0"/>
                </a:spcAft>
                <a:defRPr/>
              </a:pPr>
              <a:r>
                <a:rPr lang="en-GB" sz="1400" dirty="0" smtClean="0">
                  <a:solidFill>
                    <a:srgbClr val="313131"/>
                  </a:solidFill>
                  <a:latin typeface="Arial"/>
                </a:rPr>
                <a:t>Credit Availability</a:t>
              </a:r>
            </a:p>
            <a:p>
              <a:pPr marL="0" lvl="1" indent="0" fontAlgn="auto">
                <a:lnSpc>
                  <a:spcPct val="150000"/>
                </a:lnSpc>
                <a:spcAft>
                  <a:spcPts val="0"/>
                </a:spcAft>
                <a:defRPr/>
              </a:pPr>
              <a:r>
                <a:rPr lang="en-US" sz="1400" dirty="0">
                  <a:solidFill>
                    <a:schemeClr val="bg1">
                      <a:lumMod val="50000"/>
                    </a:schemeClr>
                  </a:solidFill>
                  <a:latin typeface="Arial"/>
                </a:rPr>
                <a:t>WALA</a:t>
              </a:r>
            </a:p>
            <a:p>
              <a:pPr marL="0" lvl="1" indent="0" fontAlgn="auto">
                <a:lnSpc>
                  <a:spcPct val="150000"/>
                </a:lnSpc>
                <a:spcAft>
                  <a:spcPts val="0"/>
                </a:spcAft>
                <a:defRPr/>
              </a:pPr>
              <a:r>
                <a:rPr lang="en-US" sz="1400" dirty="0" smtClean="0">
                  <a:solidFill>
                    <a:schemeClr val="bg1">
                      <a:lumMod val="50000"/>
                    </a:schemeClr>
                  </a:solidFill>
                  <a:latin typeface="Arial"/>
                </a:rPr>
                <a:t>Burnout</a:t>
              </a:r>
            </a:p>
            <a:p>
              <a:pPr marL="0" lvl="1" indent="0" fontAlgn="auto">
                <a:lnSpc>
                  <a:spcPct val="150000"/>
                </a:lnSpc>
                <a:spcAft>
                  <a:spcPts val="0"/>
                </a:spcAft>
                <a:defRPr/>
              </a:pPr>
              <a:r>
                <a:rPr lang="en-US" sz="1400" dirty="0">
                  <a:solidFill>
                    <a:schemeClr val="bg1">
                      <a:lumMod val="50000"/>
                    </a:schemeClr>
                  </a:solidFill>
                  <a:latin typeface="Arial"/>
                </a:rPr>
                <a:t>Loan size</a:t>
              </a:r>
            </a:p>
            <a:p>
              <a:pPr marL="0" lvl="1" indent="0" fontAlgn="auto">
                <a:lnSpc>
                  <a:spcPct val="150000"/>
                </a:lnSpc>
                <a:spcAft>
                  <a:spcPts val="0"/>
                </a:spcAft>
                <a:defRPr/>
              </a:pPr>
              <a:r>
                <a:rPr lang="en-US" sz="1400" dirty="0">
                  <a:solidFill>
                    <a:schemeClr val="bg1">
                      <a:lumMod val="50000"/>
                    </a:schemeClr>
                  </a:solidFill>
                  <a:latin typeface="Arial"/>
                </a:rPr>
                <a:t>CLTV(Normal / HARP)</a:t>
              </a:r>
            </a:p>
            <a:p>
              <a:pPr marL="0" lvl="1" indent="0" fontAlgn="auto">
                <a:lnSpc>
                  <a:spcPct val="150000"/>
                </a:lnSpc>
                <a:spcAft>
                  <a:spcPts val="0"/>
                </a:spcAft>
                <a:defRPr/>
              </a:pPr>
              <a:r>
                <a:rPr lang="en-US" sz="1400" dirty="0">
                  <a:solidFill>
                    <a:schemeClr val="bg1">
                      <a:lumMod val="50000"/>
                    </a:schemeClr>
                  </a:solidFill>
                  <a:latin typeface="Arial"/>
                </a:rPr>
                <a:t>HARP-Eligible</a:t>
              </a:r>
            </a:p>
            <a:p>
              <a:pPr marL="0" lvl="1" indent="0" fontAlgn="auto">
                <a:lnSpc>
                  <a:spcPct val="150000"/>
                </a:lnSpc>
                <a:spcAft>
                  <a:spcPts val="0"/>
                </a:spcAft>
                <a:defRPr/>
              </a:pPr>
              <a:r>
                <a:rPr lang="en-US" sz="1400" dirty="0">
                  <a:solidFill>
                    <a:schemeClr val="bg1">
                      <a:lumMod val="50000"/>
                    </a:schemeClr>
                  </a:solidFill>
                  <a:latin typeface="Arial"/>
                </a:rPr>
                <a:t>Refi-</a:t>
              </a:r>
              <a:r>
                <a:rPr lang="en-US" sz="1400" dirty="0" err="1">
                  <a:solidFill>
                    <a:schemeClr val="bg1">
                      <a:lumMod val="50000"/>
                    </a:schemeClr>
                  </a:solidFill>
                  <a:latin typeface="Arial"/>
                </a:rPr>
                <a:t>Elig</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err="1">
                  <a:solidFill>
                    <a:schemeClr val="bg1">
                      <a:lumMod val="50000"/>
                    </a:schemeClr>
                  </a:solidFill>
                  <a:latin typeface="Arial"/>
                </a:rPr>
                <a:t>HARPed</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a:solidFill>
                    <a:schemeClr val="bg1">
                      <a:lumMod val="50000"/>
                    </a:schemeClr>
                  </a:solidFill>
                  <a:latin typeface="Arial"/>
                </a:rPr>
                <a:t>TPO </a:t>
              </a:r>
              <a:r>
                <a:rPr lang="en-US" sz="1400" dirty="0" smtClean="0">
                  <a:solidFill>
                    <a:schemeClr val="bg1">
                      <a:lumMod val="50000"/>
                    </a:schemeClr>
                  </a:solidFill>
                  <a:latin typeface="Arial"/>
                </a:rPr>
                <a:t>%</a:t>
              </a:r>
              <a:endParaRPr lang="en-US" sz="1400" dirty="0">
                <a:solidFill>
                  <a:schemeClr val="bg1">
                    <a:lumMod val="50000"/>
                  </a:schemeClr>
                </a:solidFill>
                <a:latin typeface="Arial"/>
              </a:endParaRPr>
            </a:p>
          </p:txBody>
        </p:sp>
      </p:grpSp>
      <p:sp>
        <p:nvSpPr>
          <p:cNvPr id="46" name="Rectangle 45"/>
          <p:cNvSpPr/>
          <p:nvPr/>
        </p:nvSpPr>
        <p:spPr>
          <a:xfrm>
            <a:off x="94354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Refi Module</a:t>
            </a:r>
            <a:endParaRPr lang="en-US" dirty="0"/>
          </a:p>
        </p:txBody>
      </p:sp>
      <p:sp>
        <p:nvSpPr>
          <p:cNvPr id="47" name="Rectangle 46"/>
          <p:cNvSpPr/>
          <p:nvPr/>
        </p:nvSpPr>
        <p:spPr>
          <a:xfrm rot="5400000">
            <a:off x="1831778" y="4958872"/>
            <a:ext cx="2630705"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Don’t use in the Horse Race</a:t>
            </a:r>
            <a:endParaRPr lang="en-US" sz="1600" dirty="0"/>
          </a:p>
        </p:txBody>
      </p:sp>
      <p:sp>
        <p:nvSpPr>
          <p:cNvPr id="48" name="Rectangle 47"/>
          <p:cNvSpPr/>
          <p:nvPr/>
        </p:nvSpPr>
        <p:spPr>
          <a:xfrm>
            <a:off x="377516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Horse Race Framework</a:t>
            </a:r>
            <a:endParaRPr lang="en-US" dirty="0"/>
          </a:p>
        </p:txBody>
      </p:sp>
      <p:sp>
        <p:nvSpPr>
          <p:cNvPr id="49" name="TextBox 48"/>
          <p:cNvSpPr txBox="1"/>
          <p:nvPr/>
        </p:nvSpPr>
        <p:spPr>
          <a:xfrm>
            <a:off x="3745844" y="2867296"/>
            <a:ext cx="2321151" cy="738664"/>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p:txBody>
      </p:sp>
      <p:sp>
        <p:nvSpPr>
          <p:cNvPr id="50" name="Rectangle 49"/>
          <p:cNvSpPr/>
          <p:nvPr/>
        </p:nvSpPr>
        <p:spPr>
          <a:xfrm rot="5400000">
            <a:off x="5606529" y="3058959"/>
            <a:ext cx="685803"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Fixed</a:t>
            </a:r>
            <a:endParaRPr lang="en-US" sz="1600" dirty="0"/>
          </a:p>
        </p:txBody>
      </p:sp>
      <p:sp>
        <p:nvSpPr>
          <p:cNvPr id="51" name="TextBox 50"/>
          <p:cNvSpPr txBox="1"/>
          <p:nvPr/>
        </p:nvSpPr>
        <p:spPr>
          <a:xfrm>
            <a:off x="3745844" y="3572380"/>
            <a:ext cx="2321151" cy="1708160"/>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Credit Availability</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HPA2Yr</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MBA MCAI</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Purchase Index</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Cello MCAI</a:t>
            </a:r>
          </a:p>
        </p:txBody>
      </p:sp>
      <p:sp>
        <p:nvSpPr>
          <p:cNvPr id="52" name="Rectangle 51"/>
          <p:cNvSpPr/>
          <p:nvPr/>
        </p:nvSpPr>
        <p:spPr>
          <a:xfrm>
            <a:off x="6559729" y="1925752"/>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S-Curve</a:t>
            </a:r>
            <a:endParaRPr lang="en-US" dirty="0"/>
          </a:p>
        </p:txBody>
      </p:sp>
      <p:sp>
        <p:nvSpPr>
          <p:cNvPr id="53" name="Right Arrow 52"/>
          <p:cNvSpPr/>
          <p:nvPr/>
        </p:nvSpPr>
        <p:spPr>
          <a:xfrm>
            <a:off x="3422469" y="3210196"/>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p:cNvSpPr/>
          <p:nvPr/>
        </p:nvSpPr>
        <p:spPr>
          <a:xfrm>
            <a:off x="6193972" y="4228578"/>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559729" y="2859798"/>
            <a:ext cx="2350472" cy="333852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6533604" y="2893728"/>
            <a:ext cx="2505895" cy="3755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Generalised </a:t>
            </a:r>
            <a:r>
              <a:rPr lang="en-GB" sz="1400" dirty="0">
                <a:solidFill>
                  <a:srgbClr val="313131"/>
                </a:solidFill>
                <a:latin typeface="Arial"/>
              </a:rPr>
              <a:t>logistic </a:t>
            </a:r>
            <a:r>
              <a:rPr lang="en-GB" sz="1400" dirty="0" smtClean="0">
                <a:solidFill>
                  <a:srgbClr val="313131"/>
                </a:solidFill>
                <a:latin typeface="Arial"/>
              </a:rPr>
              <a:t>function</a:t>
            </a:r>
          </a:p>
        </p:txBody>
      </p:sp>
      <mc:AlternateContent xmlns:mc="http://schemas.openxmlformats.org/markup-compatibility/2006">
        <mc:Choice xmlns:a14="http://schemas.microsoft.com/office/drawing/2010/main" Requires="a14">
          <p:sp>
            <p:nvSpPr>
              <p:cNvPr id="57" name="TextBox 56"/>
              <p:cNvSpPr txBox="1"/>
              <p:nvPr/>
            </p:nvSpPr>
            <p:spPr>
              <a:xfrm>
                <a:off x="6669245" y="3280881"/>
                <a:ext cx="2106474" cy="4432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a:rPr>
                        <m:t>𝑌</m:t>
                      </m:r>
                      <m:d>
                        <m:dPr>
                          <m:ctrlPr>
                            <a:rPr lang="en-US" sz="1100" b="0" i="1" smtClean="0">
                              <a:latin typeface="Cambria Math"/>
                            </a:rPr>
                          </m:ctrlPr>
                        </m:dPr>
                        <m:e>
                          <m:r>
                            <a:rPr lang="en-US" sz="1100" b="0" i="1" smtClean="0">
                              <a:latin typeface="Cambria Math"/>
                            </a:rPr>
                            <m:t>𝑡</m:t>
                          </m:r>
                        </m:e>
                      </m:d>
                      <m:r>
                        <a:rPr lang="en-US" sz="1100" i="1" smtClean="0">
                          <a:latin typeface="Cambria Math"/>
                        </a:rPr>
                        <m:t>=</m:t>
                      </m:r>
                      <m:r>
                        <a:rPr lang="en-US" sz="1100" b="0" i="1" smtClean="0">
                          <a:latin typeface="Cambria Math"/>
                        </a:rPr>
                        <m:t>𝐴</m:t>
                      </m:r>
                      <m:r>
                        <a:rPr lang="en-US" sz="1100" b="0" i="1" smtClean="0">
                          <a:latin typeface="Cambria Math"/>
                        </a:rPr>
                        <m:t>+</m:t>
                      </m:r>
                      <m:f>
                        <m:fPr>
                          <m:ctrlPr>
                            <a:rPr lang="en-US" sz="1100" b="0" i="1" smtClean="0">
                              <a:latin typeface="Cambria Math"/>
                            </a:rPr>
                          </m:ctrlPr>
                        </m:fPr>
                        <m:num>
                          <m:r>
                            <a:rPr lang="en-US" sz="1100" b="0" i="1" smtClean="0">
                              <a:latin typeface="Cambria Math"/>
                            </a:rPr>
                            <m:t>𝐾</m:t>
                          </m:r>
                          <m:r>
                            <a:rPr lang="en-US" sz="1100" b="0" i="1" smtClean="0">
                              <a:latin typeface="Cambria Math"/>
                            </a:rPr>
                            <m:t>−</m:t>
                          </m:r>
                          <m:r>
                            <a:rPr lang="en-US" sz="1100" b="0" i="1" smtClean="0">
                              <a:latin typeface="Cambria Math"/>
                            </a:rPr>
                            <m:t>𝐴</m:t>
                          </m:r>
                        </m:num>
                        <m:den>
                          <m:sSup>
                            <m:sSupPr>
                              <m:ctrlPr>
                                <a:rPr lang="en-US" sz="1100" b="0" i="1" smtClean="0">
                                  <a:latin typeface="Cambria Math"/>
                                </a:rPr>
                              </m:ctrlPr>
                            </m:sSupPr>
                            <m:e>
                              <m:r>
                                <a:rPr lang="en-US" sz="1100" i="1">
                                  <a:latin typeface="Cambria Math"/>
                                </a:rPr>
                                <m:t>(</m:t>
                              </m:r>
                              <m:r>
                                <a:rPr lang="en-US" sz="1100" i="1">
                                  <a:latin typeface="Cambria Math"/>
                                </a:rPr>
                                <m:t>𝐶</m:t>
                              </m:r>
                              <m:r>
                                <a:rPr lang="en-US" sz="1100" i="1">
                                  <a:latin typeface="Cambria Math"/>
                                </a:rPr>
                                <m:t>+</m:t>
                              </m:r>
                              <m:r>
                                <a:rPr lang="en-US" sz="1100" i="1">
                                  <a:latin typeface="Cambria Math"/>
                                </a:rPr>
                                <m:t>𝑄</m:t>
                              </m:r>
                              <m:sSup>
                                <m:sSupPr>
                                  <m:ctrlPr>
                                    <a:rPr lang="en-US" sz="1100" i="1">
                                      <a:latin typeface="Cambria Math"/>
                                    </a:rPr>
                                  </m:ctrlPr>
                                </m:sSupPr>
                                <m:e>
                                  <m:r>
                                    <a:rPr lang="en-US" sz="1100" i="1">
                                      <a:latin typeface="Cambria Math"/>
                                    </a:rPr>
                                    <m:t>𝑒</m:t>
                                  </m:r>
                                </m:e>
                                <m:sup>
                                  <m:r>
                                    <a:rPr lang="en-US" sz="1100" i="1">
                                      <a:latin typeface="Cambria Math"/>
                                    </a:rPr>
                                    <m:t>−</m:t>
                                  </m:r>
                                  <m:r>
                                    <a:rPr lang="en-US" sz="1100" i="1">
                                      <a:latin typeface="Cambria Math"/>
                                    </a:rPr>
                                    <m:t>𝐵</m:t>
                                  </m:r>
                                  <m:r>
                                    <a:rPr lang="en-US" sz="1100" i="1">
                                      <a:latin typeface="Cambria Math"/>
                                    </a:rPr>
                                    <m:t>(</m:t>
                                  </m:r>
                                  <m:r>
                                    <a:rPr lang="en-US" sz="1100" i="1">
                                      <a:latin typeface="Cambria Math"/>
                                    </a:rPr>
                                    <m:t>𝑡</m:t>
                                  </m:r>
                                  <m:r>
                                    <a:rPr lang="en-US" sz="1100" i="1">
                                      <a:latin typeface="Cambria Math"/>
                                    </a:rPr>
                                    <m:t>−</m:t>
                                  </m:r>
                                  <m:r>
                                    <a:rPr lang="en-US" sz="1100" i="1">
                                      <a:latin typeface="Cambria Math"/>
                                    </a:rPr>
                                    <m:t>𝑀</m:t>
                                  </m:r>
                                  <m:r>
                                    <a:rPr lang="en-US" sz="1100" i="1">
                                      <a:latin typeface="Cambria Math"/>
                                    </a:rPr>
                                    <m:t>)</m:t>
                                  </m:r>
                                </m:sup>
                              </m:sSup>
                              <m:r>
                                <a:rPr lang="en-US" sz="1100" i="1">
                                  <a:latin typeface="Cambria Math"/>
                                </a:rPr>
                                <m:t>)</m:t>
                              </m:r>
                            </m:e>
                            <m:sup>
                              <m:r>
                                <a:rPr lang="en-US" sz="1100" b="0" i="1" smtClean="0">
                                  <a:latin typeface="Cambria Math"/>
                                </a:rPr>
                                <m:t>1/</m:t>
                              </m:r>
                              <m:r>
                                <m:rPr>
                                  <m:sty m:val="p"/>
                                </m:rPr>
                                <a:rPr lang="el-GR" sz="1100" b="0" i="1" smtClean="0">
                                  <a:latin typeface="Cambria Math"/>
                                </a:rPr>
                                <m:t>ν</m:t>
                              </m:r>
                            </m:sup>
                          </m:sSup>
                        </m:den>
                      </m:f>
                    </m:oMath>
                  </m:oMathPara>
                </a14:m>
                <a:endParaRPr lang="en-US" sz="1100" dirty="0"/>
              </a:p>
            </p:txBody>
          </p:sp>
        </mc:Choice>
        <mc:Fallback>
          <p:sp>
            <p:nvSpPr>
              <p:cNvPr id="57" name="TextBox 56"/>
              <p:cNvSpPr txBox="1">
                <a:spLocks noRot="1" noChangeAspect="1" noMove="1" noResize="1" noEditPoints="1" noAdjustHandles="1" noChangeArrowheads="1" noChangeShapeType="1" noTextEdit="1"/>
              </p:cNvSpPr>
              <p:nvPr/>
            </p:nvSpPr>
            <p:spPr>
              <a:xfrm>
                <a:off x="6669245" y="3280881"/>
                <a:ext cx="2106474" cy="443263"/>
              </a:xfrm>
              <a:prstGeom prst="rect">
                <a:avLst/>
              </a:prstGeom>
              <a:blipFill rotWithShape="1">
                <a:blip r:embed="rId2"/>
                <a:stretch>
                  <a:fillRect b="-2740"/>
                </a:stretch>
              </a:blipFill>
            </p:spPr>
            <p:txBody>
              <a:bodyPr/>
              <a:lstStyle/>
              <a:p>
                <a:r>
                  <a:rPr lang="en-US">
                    <a:noFill/>
                  </a:rPr>
                  <a:t> </a:t>
                </a:r>
              </a:p>
            </p:txBody>
          </p:sp>
        </mc:Fallback>
      </mc:AlternateContent>
      <p:sp>
        <p:nvSpPr>
          <p:cNvPr id="58" name="Right Arrow 57"/>
          <p:cNvSpPr/>
          <p:nvPr/>
        </p:nvSpPr>
        <p:spPr>
          <a:xfrm rot="5400000">
            <a:off x="7678783" y="5326125"/>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p:cNvSpPr txBox="1"/>
          <p:nvPr/>
        </p:nvSpPr>
        <p:spPr>
          <a:xfrm>
            <a:off x="6533604" y="3790710"/>
            <a:ext cx="2505895" cy="1615827"/>
          </a:xfrm>
          <a:prstGeom prst="rect">
            <a:avLst/>
          </a:prstGeom>
          <a:noFill/>
        </p:spPr>
        <p:txBody>
          <a:bodyPr wrap="square" rtlCol="0">
            <a:spAutoFit/>
          </a:bodyPr>
          <a:lstStyle/>
          <a:p>
            <a:pPr marL="0" lvl="1" indent="0" fontAlgn="auto">
              <a:lnSpc>
                <a:spcPct val="150000"/>
              </a:lnSpc>
              <a:spcAft>
                <a:spcPts val="0"/>
              </a:spcAft>
              <a:defRPr/>
            </a:pPr>
            <a:r>
              <a:rPr lang="en-US" sz="1100" dirty="0" smtClean="0">
                <a:solidFill>
                  <a:srgbClr val="313131"/>
                </a:solidFill>
                <a:latin typeface="Arial"/>
              </a:rPr>
              <a:t>A: </a:t>
            </a:r>
            <a:r>
              <a:rPr lang="en-US" sz="1100" dirty="0">
                <a:solidFill>
                  <a:srgbClr val="313131"/>
                </a:solidFill>
                <a:latin typeface="Arial"/>
              </a:rPr>
              <a:t>the lower </a:t>
            </a:r>
            <a:r>
              <a:rPr lang="en-US" sz="1100" dirty="0" smtClean="0">
                <a:solidFill>
                  <a:srgbClr val="313131"/>
                </a:solidFill>
                <a:latin typeface="Arial"/>
              </a:rPr>
              <a:t>asymptote</a:t>
            </a:r>
          </a:p>
          <a:p>
            <a:pPr marL="0" lvl="1" indent="0" fontAlgn="auto">
              <a:lnSpc>
                <a:spcPct val="150000"/>
              </a:lnSpc>
              <a:spcAft>
                <a:spcPts val="0"/>
              </a:spcAft>
              <a:defRPr/>
            </a:pPr>
            <a:r>
              <a:rPr lang="en-US" sz="1100" dirty="0">
                <a:solidFill>
                  <a:srgbClr val="313131"/>
                </a:solidFill>
                <a:latin typeface="Arial"/>
              </a:rPr>
              <a:t>K</a:t>
            </a:r>
            <a:r>
              <a:rPr lang="en-US" sz="1100" dirty="0" smtClean="0">
                <a:solidFill>
                  <a:srgbClr val="313131"/>
                </a:solidFill>
                <a:latin typeface="Arial"/>
              </a:rPr>
              <a:t>: </a:t>
            </a:r>
            <a:r>
              <a:rPr lang="en-US" sz="1100" dirty="0">
                <a:solidFill>
                  <a:srgbClr val="313131"/>
                </a:solidFill>
                <a:latin typeface="Arial"/>
              </a:rPr>
              <a:t>the upper asymptote. </a:t>
            </a:r>
            <a:endParaRPr lang="en-US" sz="1100" dirty="0" smtClean="0">
              <a:solidFill>
                <a:srgbClr val="313131"/>
              </a:solidFill>
              <a:latin typeface="Arial"/>
            </a:endParaRPr>
          </a:p>
          <a:p>
            <a:pPr marL="0" lvl="1" indent="0" fontAlgn="auto">
              <a:lnSpc>
                <a:spcPct val="150000"/>
              </a:lnSpc>
              <a:spcAft>
                <a:spcPts val="0"/>
              </a:spcAft>
              <a:defRPr/>
            </a:pPr>
            <a:r>
              <a:rPr lang="en-US" sz="1100" dirty="0" smtClean="0">
                <a:solidFill>
                  <a:srgbClr val="313131"/>
                </a:solidFill>
                <a:latin typeface="Arial"/>
              </a:rPr>
              <a:t>B </a:t>
            </a:r>
            <a:r>
              <a:rPr lang="en-US" sz="1100" dirty="0">
                <a:solidFill>
                  <a:srgbClr val="313131"/>
                </a:solidFill>
                <a:latin typeface="Arial"/>
              </a:rPr>
              <a:t>: the growth rate</a:t>
            </a:r>
          </a:p>
          <a:p>
            <a:pPr marL="0" lvl="1" indent="0" fontAlgn="auto">
              <a:lnSpc>
                <a:spcPct val="150000"/>
              </a:lnSpc>
              <a:spcAft>
                <a:spcPts val="0"/>
              </a:spcAft>
              <a:defRPr/>
            </a:pPr>
            <a:r>
              <a:rPr lang="en-US" sz="1100" dirty="0" smtClean="0">
                <a:solidFill>
                  <a:srgbClr val="313131"/>
                </a:solidFill>
                <a:latin typeface="Arial"/>
              </a:rPr>
              <a:t>nu</a:t>
            </a:r>
            <a:r>
              <a:rPr lang="en-US" sz="1100" dirty="0">
                <a:solidFill>
                  <a:srgbClr val="313131"/>
                </a:solidFill>
                <a:latin typeface="Arial"/>
              </a:rPr>
              <a:t>: affects near which asymptote maximum growth occurs</a:t>
            </a:r>
          </a:p>
          <a:p>
            <a:pPr marL="0" lvl="1" indent="0" fontAlgn="auto">
              <a:lnSpc>
                <a:spcPct val="150000"/>
              </a:lnSpc>
              <a:spcAft>
                <a:spcPts val="0"/>
              </a:spcAft>
              <a:defRPr/>
            </a:pPr>
            <a:r>
              <a:rPr lang="en-US" sz="1100" dirty="0" smtClean="0">
                <a:solidFill>
                  <a:srgbClr val="313131"/>
                </a:solidFill>
                <a:latin typeface="Arial"/>
              </a:rPr>
              <a:t>Q </a:t>
            </a:r>
            <a:r>
              <a:rPr lang="en-US" sz="1100" dirty="0">
                <a:solidFill>
                  <a:srgbClr val="313131"/>
                </a:solidFill>
                <a:latin typeface="Arial"/>
              </a:rPr>
              <a:t>: is related to the value Y(0)</a:t>
            </a:r>
            <a:endParaRPr lang="en-GB" sz="1100" dirty="0" smtClean="0">
              <a:solidFill>
                <a:srgbClr val="313131"/>
              </a:solidFill>
              <a:latin typeface="Arial"/>
            </a:endParaRPr>
          </a:p>
        </p:txBody>
      </p:sp>
      <p:sp>
        <p:nvSpPr>
          <p:cNvPr id="60" name="TextBox 59"/>
          <p:cNvSpPr txBox="1"/>
          <p:nvPr/>
        </p:nvSpPr>
        <p:spPr>
          <a:xfrm>
            <a:off x="6533603" y="5631776"/>
            <a:ext cx="2505895" cy="415498"/>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Optimization – Least Square</a:t>
            </a:r>
          </a:p>
        </p:txBody>
      </p:sp>
      <p:sp>
        <p:nvSpPr>
          <p:cNvPr id="61" name="Isosceles Triangle 60"/>
          <p:cNvSpPr/>
          <p:nvPr/>
        </p:nvSpPr>
        <p:spPr>
          <a:xfrm rot="10800000">
            <a:off x="4629695" y="6311895"/>
            <a:ext cx="3128554" cy="22713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3758326" y="6715467"/>
            <a:ext cx="51518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Compare </a:t>
            </a:r>
            <a:r>
              <a:rPr lang="en-US" sz="1600" dirty="0"/>
              <a:t>Tracking Root Mean Squared </a:t>
            </a:r>
            <a:r>
              <a:rPr lang="en-US" sz="1600" dirty="0" smtClean="0"/>
              <a:t>Error (RMSE)</a:t>
            </a:r>
            <a:endParaRPr lang="en-US" sz="1600" dirty="0"/>
          </a:p>
        </p:txBody>
      </p:sp>
      <p:cxnSp>
        <p:nvCxnSpPr>
          <p:cNvPr id="63" name="Straight Connector 62"/>
          <p:cNvCxnSpPr/>
          <p:nvPr/>
        </p:nvCxnSpPr>
        <p:spPr>
          <a:xfrm>
            <a:off x="3742509" y="2867297"/>
            <a:ext cx="0" cy="23643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59729" y="2859798"/>
            <a:ext cx="0" cy="333852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797434" y="2392536"/>
            <a:ext cx="21519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a:solidFill>
                  <a:schemeClr val="accent1"/>
                </a:solidFill>
                <a:latin typeface="Arial"/>
              </a:rPr>
              <a:t>3</a:t>
            </a:r>
            <a:r>
              <a:rPr lang="en-GB" sz="1400" dirty="0" smtClean="0">
                <a:solidFill>
                  <a:schemeClr val="accent1"/>
                </a:solidFill>
                <a:latin typeface="Arial"/>
              </a:rPr>
              <a:t> Parameters</a:t>
            </a:r>
            <a:endParaRPr lang="en-GB" sz="1400" dirty="0">
              <a:solidFill>
                <a:schemeClr val="accent1"/>
              </a:solidFill>
              <a:latin typeface="Arial"/>
            </a:endParaRPr>
          </a:p>
        </p:txBody>
      </p:sp>
      <p:sp>
        <p:nvSpPr>
          <p:cNvPr id="66" name="TextBox 65"/>
          <p:cNvSpPr txBox="1"/>
          <p:nvPr/>
        </p:nvSpPr>
        <p:spPr>
          <a:xfrm>
            <a:off x="6476678" y="2392536"/>
            <a:ext cx="26803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Automatic Curve Optimization</a:t>
            </a:r>
            <a:endParaRPr lang="en-GB" sz="1400" dirty="0">
              <a:solidFill>
                <a:schemeClr val="accent1"/>
              </a:solidFill>
              <a:latin typeface="Arial"/>
            </a:endParaRPr>
          </a:p>
        </p:txBody>
      </p:sp>
    </p:spTree>
    <p:extLst>
      <p:ext uri="{BB962C8B-B14F-4D97-AF65-F5344CB8AC3E}">
        <p14:creationId xmlns:p14="http://schemas.microsoft.com/office/powerpoint/2010/main" val="15296912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Model Update Overview</a:t>
            </a:r>
            <a:br>
              <a:rPr lang="en-US" sz="1600" dirty="0"/>
            </a:br>
            <a:r>
              <a:rPr lang="en-US" sz="1600" dirty="0"/>
              <a:t>1. Credit Availability Update</a:t>
            </a:r>
            <a:endParaRPr lang="en-US" dirty="0">
              <a:latin typeface="+mn-lt"/>
            </a:endParaRPr>
          </a:p>
        </p:txBody>
      </p:sp>
      <p:sp>
        <p:nvSpPr>
          <p:cNvPr id="20" name="TextBox 19"/>
          <p:cNvSpPr txBox="1"/>
          <p:nvPr/>
        </p:nvSpPr>
        <p:spPr>
          <a:xfrm>
            <a:off x="494384" y="6672872"/>
            <a:ext cx="9003791" cy="461665"/>
          </a:xfrm>
          <a:prstGeom prst="rect">
            <a:avLst/>
          </a:prstGeom>
          <a:noFill/>
        </p:spPr>
        <p:txBody>
          <a:bodyPr wrap="square" rtlCol="0">
            <a:spAutoFit/>
          </a:bodyPr>
          <a:lstStyle/>
          <a:p>
            <a:r>
              <a:rPr lang="en-US" sz="1200" dirty="0" smtClean="0">
                <a:latin typeface="+mn-lt"/>
              </a:rPr>
              <a:t>Using the four candidate CAIs, we tested the tracking from 2004 to 2016. The total RMSE shows the three new curves have better fits compared with the HPA-2yr index. The MBA CAI has the best performance among the four.</a:t>
            </a:r>
            <a:endParaRPr lang="en-US" sz="1200" dirty="0">
              <a:latin typeface="+mn-lt"/>
            </a:endParaRPr>
          </a:p>
        </p:txBody>
      </p:sp>
      <p:sp>
        <p:nvSpPr>
          <p:cNvPr id="46" name="Rectangle 45"/>
          <p:cNvSpPr/>
          <p:nvPr/>
        </p:nvSpPr>
        <p:spPr>
          <a:xfrm>
            <a:off x="2032363"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7.9710e-2</a:t>
            </a:r>
            <a:endParaRPr lang="en-US" sz="1200" dirty="0"/>
          </a:p>
        </p:txBody>
      </p:sp>
      <p:sp>
        <p:nvSpPr>
          <p:cNvPr id="47" name="Rectangle 46"/>
          <p:cNvSpPr/>
          <p:nvPr/>
        </p:nvSpPr>
        <p:spPr>
          <a:xfrm>
            <a:off x="5577799"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7.7610e-2</a:t>
            </a:r>
            <a:endParaRPr lang="en-US" sz="1200" dirty="0"/>
          </a:p>
        </p:txBody>
      </p:sp>
      <p:sp>
        <p:nvSpPr>
          <p:cNvPr id="48" name="Rectangle 47"/>
          <p:cNvSpPr/>
          <p:nvPr/>
        </p:nvSpPr>
        <p:spPr>
          <a:xfrm>
            <a:off x="2024742"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sp>
        <p:nvSpPr>
          <p:cNvPr id="49" name="Rectangle 48"/>
          <p:cNvSpPr/>
          <p:nvPr/>
        </p:nvSpPr>
        <p:spPr>
          <a:xfrm>
            <a:off x="5577800"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pic>
        <p:nvPicPr>
          <p:cNvPr id="50" name="Picture 49"/>
          <p:cNvPicPr>
            <a:picLocks noChangeAspect="1"/>
          </p:cNvPicPr>
          <p:nvPr/>
        </p:nvPicPr>
        <p:blipFill>
          <a:blip r:embed="rId2"/>
          <a:stretch>
            <a:fillRect/>
          </a:stretch>
        </p:blipFill>
        <p:spPr>
          <a:xfrm>
            <a:off x="1780479" y="1017375"/>
            <a:ext cx="2743200" cy="2524222"/>
          </a:xfrm>
          <a:prstGeom prst="rect">
            <a:avLst/>
          </a:prstGeom>
        </p:spPr>
      </p:pic>
      <p:pic>
        <p:nvPicPr>
          <p:cNvPr id="51" name="Picture 50"/>
          <p:cNvPicPr>
            <a:picLocks noChangeAspect="1"/>
          </p:cNvPicPr>
          <p:nvPr/>
        </p:nvPicPr>
        <p:blipFill>
          <a:blip r:embed="rId3"/>
          <a:stretch>
            <a:fillRect/>
          </a:stretch>
        </p:blipFill>
        <p:spPr>
          <a:xfrm>
            <a:off x="5333536" y="1017375"/>
            <a:ext cx="2743200" cy="2524222"/>
          </a:xfrm>
          <a:prstGeom prst="rect">
            <a:avLst/>
          </a:prstGeom>
        </p:spPr>
      </p:pic>
      <p:pic>
        <p:nvPicPr>
          <p:cNvPr id="52" name="Picture 51"/>
          <p:cNvPicPr>
            <a:picLocks noChangeAspect="1"/>
          </p:cNvPicPr>
          <p:nvPr/>
        </p:nvPicPr>
        <p:blipFill>
          <a:blip r:embed="rId4"/>
          <a:stretch>
            <a:fillRect/>
          </a:stretch>
        </p:blipFill>
        <p:spPr>
          <a:xfrm>
            <a:off x="1780479" y="3826677"/>
            <a:ext cx="2743200" cy="2524222"/>
          </a:xfrm>
          <a:prstGeom prst="rect">
            <a:avLst/>
          </a:prstGeom>
        </p:spPr>
      </p:pic>
      <p:pic>
        <p:nvPicPr>
          <p:cNvPr id="53" name="Picture 52"/>
          <p:cNvPicPr>
            <a:picLocks noChangeAspect="1"/>
          </p:cNvPicPr>
          <p:nvPr/>
        </p:nvPicPr>
        <p:blipFill>
          <a:blip r:embed="rId5"/>
          <a:stretch>
            <a:fillRect/>
          </a:stretch>
        </p:blipFill>
        <p:spPr>
          <a:xfrm>
            <a:off x="5235784" y="3826677"/>
            <a:ext cx="2743200" cy="2524222"/>
          </a:xfrm>
          <a:prstGeom prst="rect">
            <a:avLst/>
          </a:prstGeom>
        </p:spPr>
      </p:pic>
    </p:spTree>
    <p:extLst>
      <p:ext uri="{BB962C8B-B14F-4D97-AF65-F5344CB8AC3E}">
        <p14:creationId xmlns:p14="http://schemas.microsoft.com/office/powerpoint/2010/main" val="198619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Model Update Overview</a:t>
            </a:r>
            <a:br>
              <a:rPr lang="en-US" sz="1600" dirty="0"/>
            </a:br>
            <a:r>
              <a:rPr lang="en-US" sz="1600" dirty="0"/>
              <a:t>1. Credit Availability Update</a:t>
            </a:r>
            <a:endParaRPr lang="en-US" dirty="0">
              <a:latin typeface="+mn-lt"/>
            </a:endParaRPr>
          </a:p>
        </p:txBody>
      </p:sp>
      <p:sp>
        <p:nvSpPr>
          <p:cNvPr id="17" name="TextBox 16"/>
          <p:cNvSpPr txBox="1"/>
          <p:nvPr/>
        </p:nvSpPr>
        <p:spPr>
          <a:xfrm>
            <a:off x="494383" y="5049812"/>
            <a:ext cx="9003791" cy="646331"/>
          </a:xfrm>
          <a:prstGeom prst="rect">
            <a:avLst/>
          </a:prstGeom>
          <a:noFill/>
        </p:spPr>
        <p:txBody>
          <a:bodyPr wrap="square" rtlCol="0">
            <a:spAutoFit/>
          </a:bodyPr>
          <a:lstStyle/>
          <a:p>
            <a:r>
              <a:rPr lang="en-US" sz="1200" dirty="0" smtClean="0">
                <a:latin typeface="+mn-lt"/>
              </a:rPr>
              <a:t>From the RMSE numbers showed above, the best combination is MBA MCAI with 18 month moving average. </a:t>
            </a:r>
          </a:p>
          <a:p>
            <a:r>
              <a:rPr lang="en-US" sz="1200" dirty="0" smtClean="0">
                <a:latin typeface="+mn-lt"/>
              </a:rPr>
              <a:t>All the three curves with moving average of 24 or 18 month have a good performance in the tracking test. We can choose one of them based on other considerations, such as the difficulty of obtaining data.</a:t>
            </a:r>
            <a:endParaRPr lang="en-US" sz="12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3921023567"/>
              </p:ext>
            </p:extLst>
          </p:nvPr>
        </p:nvGraphicFramePr>
        <p:xfrm>
          <a:off x="1676400" y="1651000"/>
          <a:ext cx="6705600" cy="2806700"/>
        </p:xfrm>
        <a:graphic>
          <a:graphicData uri="http://schemas.openxmlformats.org/drawingml/2006/table">
            <a:tbl>
              <a:tblPr firstRow="1" bandRow="1">
                <a:tableStyleId>{6E25E649-3F16-4E02-A733-19D2CDBF48F0}</a:tableStyleId>
              </a:tblPr>
              <a:tblGrid>
                <a:gridCol w="1676400"/>
                <a:gridCol w="1676400"/>
                <a:gridCol w="1676400"/>
                <a:gridCol w="1676400"/>
              </a:tblGrid>
              <a:tr h="561340">
                <a:tc>
                  <a:txBody>
                    <a:bodyPr/>
                    <a:lstStyle/>
                    <a:p>
                      <a:pPr algn="ctr" fontAlgn="b"/>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u="none" strike="noStrike">
                          <a:effectLst/>
                        </a:rPr>
                        <a:t>mba_CAI</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purchase_idx</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cello_CAI</a:t>
                      </a:r>
                      <a:endParaRPr lang="en-US" sz="1100" b="0" i="0" u="none" strike="noStrike">
                        <a:solidFill>
                          <a:srgbClr val="000000"/>
                        </a:solidFill>
                        <a:effectLst/>
                        <a:latin typeface="Calibri"/>
                      </a:endParaRPr>
                    </a:p>
                  </a:txBody>
                  <a:tcPr marL="9525" marR="9525" marT="9525" marB="0" anchor="ctr"/>
                </a:tc>
              </a:tr>
              <a:tr h="561340">
                <a:tc>
                  <a:txBody>
                    <a:bodyPr/>
                    <a:lstStyle/>
                    <a:p>
                      <a:pPr algn="ctr" fontAlgn="b"/>
                      <a:r>
                        <a:rPr lang="en-US" sz="1100" u="none" strike="noStrike">
                          <a:effectLst/>
                        </a:rPr>
                        <a:t>24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0.0775741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0.0784130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0.0783926</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18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b="1" u="none" strike="noStrike" dirty="0">
                          <a:effectLst/>
                        </a:rPr>
                        <a:t>0.0770801</a:t>
                      </a:r>
                      <a:endParaRPr lang="en-US" sz="1000" b="1"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0.0787880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0.0777685</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12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0.0791511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0.0791555</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0.0862411</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6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0.0783332</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0.0807010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dirty="0">
                          <a:effectLst/>
                        </a:rPr>
                        <a:t>0.1008529</a:t>
                      </a:r>
                      <a:endParaRPr lang="en-US" sz="1000" b="0" i="0" u="none" strike="noStrike" dirty="0">
                        <a:solidFill>
                          <a:srgbClr val="000000"/>
                        </a:solidFill>
                        <a:effectLst/>
                        <a:latin typeface="Lucida Console"/>
                      </a:endParaRPr>
                    </a:p>
                  </a:txBody>
                  <a:tcPr marL="9525" marR="9525" marT="9525" marB="0" anchor="ctr"/>
                </a:tc>
              </a:tr>
            </a:tbl>
          </a:graphicData>
        </a:graphic>
      </p:graphicFrame>
    </p:spTree>
    <p:extLst>
      <p:ext uri="{BB962C8B-B14F-4D97-AF65-F5344CB8AC3E}">
        <p14:creationId xmlns:p14="http://schemas.microsoft.com/office/powerpoint/2010/main" val="10315070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VI. </a:t>
            </a:r>
            <a:r>
              <a:rPr lang="en-US" sz="1600" dirty="0" smtClean="0">
                <a:latin typeface="+mn-lt"/>
              </a:rPr>
              <a:t>Backfill MBA CAI Using Purchase Data</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539132"/>
            <a:ext cx="9003791" cy="276999"/>
          </a:xfrm>
          <a:prstGeom prst="rect">
            <a:avLst/>
          </a:prstGeom>
          <a:noFill/>
        </p:spPr>
        <p:txBody>
          <a:bodyPr wrap="square" rtlCol="0">
            <a:spAutoFit/>
          </a:bodyPr>
          <a:lstStyle/>
          <a:p>
            <a:r>
              <a:rPr lang="en-US" sz="1200" dirty="0" smtClean="0">
                <a:latin typeface="+mn-lt"/>
              </a:rPr>
              <a:t>Using a simple linear regression on Purchase data set, we can back fill the MBA-CAI time series historical data.</a:t>
            </a:r>
            <a:endParaRPr lang="en-US" sz="1200" dirty="0">
              <a:latin typeface="+mn-lt"/>
            </a:endParaRPr>
          </a:p>
        </p:txBody>
      </p:sp>
      <p:graphicFrame>
        <p:nvGraphicFramePr>
          <p:cNvPr id="9" name="Chart 8"/>
          <p:cNvGraphicFramePr/>
          <p:nvPr>
            <p:extLst>
              <p:ext uri="{D42A27DB-BD31-4B8C-83A1-F6EECF244321}">
                <p14:modId xmlns:p14="http://schemas.microsoft.com/office/powerpoint/2010/main" val="2622084172"/>
              </p:ext>
            </p:extLst>
          </p:nvPr>
        </p:nvGraphicFramePr>
        <p:xfrm>
          <a:off x="1686273" y="179995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494382" y="1177631"/>
            <a:ext cx="9003791" cy="461665"/>
          </a:xfrm>
          <a:prstGeom prst="rect">
            <a:avLst/>
          </a:prstGeom>
          <a:noFill/>
        </p:spPr>
        <p:txBody>
          <a:bodyPr wrap="square" rtlCol="0">
            <a:spAutoFit/>
          </a:bodyPr>
          <a:lstStyle/>
          <a:p>
            <a:r>
              <a:rPr lang="en-US" sz="1200" dirty="0" smtClean="0">
                <a:latin typeface="+mn-lt"/>
              </a:rPr>
              <a:t>As the MBA CAI data is only available after 2004, we need to back fill the data set. Here we choose Purchase data to do a regression, and generate the data for MBA CAI.</a:t>
            </a:r>
            <a:endParaRPr lang="en-US" sz="1200" dirty="0">
              <a:latin typeface="+mn-lt"/>
            </a:endParaRPr>
          </a:p>
        </p:txBody>
      </p:sp>
    </p:spTree>
    <p:extLst>
      <p:ext uri="{BB962C8B-B14F-4D97-AF65-F5344CB8AC3E}">
        <p14:creationId xmlns:p14="http://schemas.microsoft.com/office/powerpoint/2010/main" val="13075642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Model Update Overview</a:t>
            </a:r>
            <a:br>
              <a:rPr lang="en-US" sz="1600" dirty="0"/>
            </a:br>
            <a:r>
              <a:rPr lang="en-US" sz="1600" dirty="0"/>
              <a:t>1. Credit Availability Update</a:t>
            </a: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From the charts, we can see a clearly potential of improvement of model fitting. Especially, the issue that model tracking is too fast after 2014 will be fixed. </a:t>
            </a:r>
            <a:endParaRPr lang="en-US" sz="1200" dirty="0">
              <a:latin typeface="+mn-lt"/>
            </a:endParaRPr>
          </a:p>
        </p:txBody>
      </p:sp>
      <p:pic>
        <p:nvPicPr>
          <p:cNvPr id="5" name="Picture 4"/>
          <p:cNvPicPr>
            <a:picLocks noChangeAspect="1"/>
          </p:cNvPicPr>
          <p:nvPr/>
        </p:nvPicPr>
        <p:blipFill>
          <a:blip r:embed="rId2"/>
          <a:stretch>
            <a:fillRect/>
          </a:stretch>
        </p:blipFill>
        <p:spPr>
          <a:xfrm>
            <a:off x="5271717" y="1654487"/>
            <a:ext cx="4572000" cy="4207036"/>
          </a:xfrm>
          <a:prstGeom prst="rect">
            <a:avLst/>
          </a:prstGeom>
        </p:spPr>
      </p:pic>
      <p:pic>
        <p:nvPicPr>
          <p:cNvPr id="6" name="Picture 5"/>
          <p:cNvPicPr>
            <a:picLocks noChangeAspect="1"/>
          </p:cNvPicPr>
          <p:nvPr/>
        </p:nvPicPr>
        <p:blipFill>
          <a:blip r:embed="rId3"/>
          <a:stretch>
            <a:fillRect/>
          </a:stretch>
        </p:blipFill>
        <p:spPr>
          <a:xfrm>
            <a:off x="327660" y="1654487"/>
            <a:ext cx="4572000" cy="4207036"/>
          </a:xfrm>
          <a:prstGeom prst="rect">
            <a:avLst/>
          </a:prstGeom>
        </p:spPr>
      </p:pic>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Current HPA2Yr Model</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MBA MCAI 18 Month</a:t>
            </a:r>
            <a:endParaRPr lang="en-US" sz="1200" dirty="0"/>
          </a:p>
        </p:txBody>
      </p:sp>
    </p:spTree>
    <p:extLst>
      <p:ext uri="{BB962C8B-B14F-4D97-AF65-F5344CB8AC3E}">
        <p14:creationId xmlns:p14="http://schemas.microsoft.com/office/powerpoint/2010/main" val="35013240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Model Update Overview</a:t>
            </a:r>
            <a:br>
              <a:rPr lang="en-US" sz="1600" dirty="0"/>
            </a:br>
            <a:r>
              <a:rPr lang="en-US" sz="1600" dirty="0" smtClean="0"/>
              <a:t>2. Loan Size</a:t>
            </a: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In v2.1, we decided to focus on the rang between 0-300K, where most of the data falls in. In that way, we can better fit the changes in the circled range.  </a:t>
            </a:r>
            <a:endParaRPr lang="en-US" sz="1200" dirty="0">
              <a:latin typeface="+mn-lt"/>
            </a:endParaRPr>
          </a:p>
        </p:txBody>
      </p:sp>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Loan Size Curve in V2.00</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Loan Size Curve in </a:t>
            </a:r>
            <a:r>
              <a:rPr lang="en-US" sz="1200" dirty="0" smtClean="0"/>
              <a:t>V2.10</a:t>
            </a:r>
            <a:endParaRPr lang="en-US" sz="1200" dirty="0"/>
          </a:p>
        </p:txBody>
      </p:sp>
      <p:pic>
        <p:nvPicPr>
          <p:cNvPr id="9" name="Picture 8"/>
          <p:cNvPicPr>
            <a:picLocks noChangeAspect="1"/>
          </p:cNvPicPr>
          <p:nvPr/>
        </p:nvPicPr>
        <p:blipFill>
          <a:blip r:embed="rId2"/>
          <a:stretch>
            <a:fillRect/>
          </a:stretch>
        </p:blipFill>
        <p:spPr>
          <a:xfrm>
            <a:off x="709286" y="2205395"/>
            <a:ext cx="3930322" cy="3343227"/>
          </a:xfrm>
          <a:prstGeom prst="rect">
            <a:avLst/>
          </a:prstGeom>
        </p:spPr>
      </p:pic>
      <p:sp>
        <p:nvSpPr>
          <p:cNvPr id="3" name="Oval 2"/>
          <p:cNvSpPr/>
          <p:nvPr/>
        </p:nvSpPr>
        <p:spPr>
          <a:xfrm>
            <a:off x="1065654" y="3856980"/>
            <a:ext cx="1251284" cy="8525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961" y="2067546"/>
            <a:ext cx="3931920" cy="3618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9164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Model Update Overview</a:t>
            </a:r>
            <a:br>
              <a:rPr lang="en-US" sz="1600" dirty="0"/>
            </a:br>
            <a:r>
              <a:rPr lang="en-US" sz="1600" dirty="0"/>
              <a:t>3</a:t>
            </a:r>
            <a:r>
              <a:rPr lang="en-US" sz="1600" dirty="0" smtClean="0"/>
              <a:t>. High CLTV</a:t>
            </a:r>
            <a:endParaRPr lang="en-US" dirty="0">
              <a:latin typeface="+mn-lt"/>
            </a:endParaRPr>
          </a:p>
        </p:txBody>
      </p:sp>
      <p:sp>
        <p:nvSpPr>
          <p:cNvPr id="17" name="TextBox 16"/>
          <p:cNvSpPr txBox="1"/>
          <p:nvPr/>
        </p:nvSpPr>
        <p:spPr>
          <a:xfrm>
            <a:off x="494381" y="1147341"/>
            <a:ext cx="9003791" cy="461665"/>
          </a:xfrm>
          <a:prstGeom prst="rect">
            <a:avLst/>
          </a:prstGeom>
          <a:noFill/>
        </p:spPr>
        <p:txBody>
          <a:bodyPr wrap="square" rtlCol="0">
            <a:spAutoFit/>
          </a:bodyPr>
          <a:lstStyle/>
          <a:p>
            <a:r>
              <a:rPr lang="en-US" sz="1200" dirty="0" smtClean="0">
                <a:latin typeface="+mn-lt"/>
              </a:rPr>
              <a:t>In v2.0, the model tracking for high CLTV pools are too slow. The difference is coming from both turnover and refinance. But as the high LTV pools are mostly out of money, the turnover model might have a greater influence on the performance. </a:t>
            </a:r>
            <a:endParaRPr lang="en-US" sz="1200" dirty="0">
              <a:latin typeface="+mn-lt"/>
            </a:endParaRPr>
          </a:p>
        </p:txBody>
      </p:sp>
      <p:graphicFrame>
        <p:nvGraphicFramePr>
          <p:cNvPr id="10" name="Chart 9"/>
          <p:cNvGraphicFramePr>
            <a:graphicFrameLocks/>
          </p:cNvGraphicFramePr>
          <p:nvPr>
            <p:extLst>
              <p:ext uri="{D42A27DB-BD31-4B8C-83A1-F6EECF244321}">
                <p14:modId xmlns:p14="http://schemas.microsoft.com/office/powerpoint/2010/main" val="1738356108"/>
              </p:ext>
            </p:extLst>
          </p:nvPr>
        </p:nvGraphicFramePr>
        <p:xfrm>
          <a:off x="1058779" y="2005835"/>
          <a:ext cx="7720836" cy="367306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646781" y="5981744"/>
            <a:ext cx="9003791" cy="646331"/>
          </a:xfrm>
          <a:prstGeom prst="rect">
            <a:avLst/>
          </a:prstGeom>
          <a:noFill/>
        </p:spPr>
        <p:txBody>
          <a:bodyPr wrap="square" rtlCol="0">
            <a:spAutoFit/>
          </a:bodyPr>
          <a:lstStyle/>
          <a:p>
            <a:r>
              <a:rPr lang="en-US" sz="1200" dirty="0" smtClean="0">
                <a:latin typeface="+mn-lt"/>
              </a:rPr>
              <a:t>The improvement focused on the higher end of CLTV curve, and make sure the cap/floor function don’t push the curve too low when CLTV increases.</a:t>
            </a:r>
          </a:p>
          <a:p>
            <a:r>
              <a:rPr lang="en-US" sz="1200" dirty="0" smtClean="0">
                <a:latin typeface="+mn-lt"/>
              </a:rPr>
              <a:t>From the tracking result, we can see model v2.1 bring the tracking to the right level for U9 pools.</a:t>
            </a:r>
            <a:endParaRPr lang="en-US" sz="1200" dirty="0">
              <a:latin typeface="+mn-lt"/>
            </a:endParaRPr>
          </a:p>
        </p:txBody>
      </p:sp>
    </p:spTree>
    <p:extLst>
      <p:ext uri="{BB962C8B-B14F-4D97-AF65-F5344CB8AC3E}">
        <p14:creationId xmlns:p14="http://schemas.microsoft.com/office/powerpoint/2010/main" val="21517796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Curve Updates</a:t>
            </a:r>
            <a:r>
              <a:rPr lang="en-US" sz="1600" dirty="0"/>
              <a:t/>
            </a:r>
            <a:br>
              <a:rPr lang="en-US" sz="1600" dirty="0"/>
            </a:br>
            <a:r>
              <a:rPr lang="en-US" sz="1600" dirty="0" smtClean="0"/>
              <a:t>Turnover</a:t>
            </a:r>
            <a:endParaRPr lang="en-US" dirty="0">
              <a:latin typeface="+mn-lt"/>
            </a:endParaRPr>
          </a:p>
        </p:txBody>
      </p:sp>
      <p:sp>
        <p:nvSpPr>
          <p:cNvPr id="17" name="TextBox 16"/>
          <p:cNvSpPr txBox="1"/>
          <p:nvPr/>
        </p:nvSpPr>
        <p:spPr>
          <a:xfrm>
            <a:off x="494381" y="1147341"/>
            <a:ext cx="9003791" cy="461665"/>
          </a:xfrm>
          <a:prstGeom prst="rect">
            <a:avLst/>
          </a:prstGeom>
          <a:noFill/>
        </p:spPr>
        <p:txBody>
          <a:bodyPr wrap="square" rtlCol="0">
            <a:spAutoFit/>
          </a:bodyPr>
          <a:lstStyle/>
          <a:p>
            <a:r>
              <a:rPr lang="en-US" sz="1200" dirty="0" smtClean="0">
                <a:latin typeface="+mn-lt"/>
              </a:rPr>
              <a:t>As the credit availability parameter is the second in the sequential fitting process. After fitting it, we need to re-built all other curves after it.</a:t>
            </a:r>
          </a:p>
          <a:p>
            <a:r>
              <a:rPr lang="en-US" sz="1200" dirty="0" smtClean="0">
                <a:latin typeface="+mn-lt"/>
              </a:rPr>
              <a:t>WALA is not affected by the update.</a:t>
            </a:r>
            <a:endParaRPr lang="en-US" sz="1200" dirty="0">
              <a:latin typeface="+mn-lt"/>
            </a:endParaRPr>
          </a:p>
        </p:txBody>
      </p:sp>
      <p:pic>
        <p:nvPicPr>
          <p:cNvPr id="6" name="Picture 5"/>
          <p:cNvPicPr>
            <a:picLocks noChangeAspect="1"/>
          </p:cNvPicPr>
          <p:nvPr/>
        </p:nvPicPr>
        <p:blipFill>
          <a:blip r:embed="rId2"/>
          <a:stretch>
            <a:fillRect/>
          </a:stretch>
        </p:blipFill>
        <p:spPr>
          <a:xfrm>
            <a:off x="2913688" y="1609006"/>
            <a:ext cx="3247130" cy="2743200"/>
          </a:xfrm>
          <a:prstGeom prst="rect">
            <a:avLst/>
          </a:prstGeom>
        </p:spPr>
      </p:pic>
      <p:pic>
        <p:nvPicPr>
          <p:cNvPr id="7" name="Picture 6"/>
          <p:cNvPicPr>
            <a:picLocks noChangeAspect="1"/>
          </p:cNvPicPr>
          <p:nvPr/>
        </p:nvPicPr>
        <p:blipFill>
          <a:blip r:embed="rId3"/>
          <a:stretch>
            <a:fillRect/>
          </a:stretch>
        </p:blipFill>
        <p:spPr>
          <a:xfrm>
            <a:off x="6098941" y="1609006"/>
            <a:ext cx="3245407" cy="2743200"/>
          </a:xfrm>
          <a:prstGeom prst="rect">
            <a:avLst/>
          </a:prstGeom>
        </p:spPr>
      </p:pic>
      <p:pic>
        <p:nvPicPr>
          <p:cNvPr id="8" name="Picture 7"/>
          <p:cNvPicPr>
            <a:picLocks noChangeAspect="1"/>
          </p:cNvPicPr>
          <p:nvPr/>
        </p:nvPicPr>
        <p:blipFill>
          <a:blip r:embed="rId4"/>
          <a:stretch>
            <a:fillRect/>
          </a:stretch>
        </p:blipFill>
        <p:spPr>
          <a:xfrm>
            <a:off x="1043388" y="4436397"/>
            <a:ext cx="3245407" cy="2743200"/>
          </a:xfrm>
          <a:prstGeom prst="rect">
            <a:avLst/>
          </a:prstGeom>
        </p:spPr>
      </p:pic>
      <p:pic>
        <p:nvPicPr>
          <p:cNvPr id="9" name="Picture 8"/>
          <p:cNvPicPr>
            <a:picLocks noChangeAspect="1"/>
          </p:cNvPicPr>
          <p:nvPr/>
        </p:nvPicPr>
        <p:blipFill>
          <a:blip r:embed="rId5"/>
          <a:stretch>
            <a:fillRect/>
          </a:stretch>
        </p:blipFill>
        <p:spPr>
          <a:xfrm>
            <a:off x="5230944" y="4436397"/>
            <a:ext cx="3247130" cy="2743200"/>
          </a:xfrm>
          <a:prstGeom prst="rect">
            <a:avLst/>
          </a:prstGeom>
        </p:spPr>
      </p:pic>
      <p:pic>
        <p:nvPicPr>
          <p:cNvPr id="12" name="Picture 11"/>
          <p:cNvPicPr>
            <a:picLocks noChangeAspect="1"/>
          </p:cNvPicPr>
          <p:nvPr/>
        </p:nvPicPr>
        <p:blipFill>
          <a:blip r:embed="rId6"/>
          <a:stretch>
            <a:fillRect/>
          </a:stretch>
        </p:blipFill>
        <p:spPr>
          <a:xfrm>
            <a:off x="111018" y="1609006"/>
            <a:ext cx="3106652" cy="2743200"/>
          </a:xfrm>
          <a:prstGeom prst="rect">
            <a:avLst/>
          </a:prstGeom>
        </p:spPr>
      </p:pic>
    </p:spTree>
    <p:extLst>
      <p:ext uri="{BB962C8B-B14F-4D97-AF65-F5344CB8AC3E}">
        <p14:creationId xmlns:p14="http://schemas.microsoft.com/office/powerpoint/2010/main" val="15434518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Curve Updates</a:t>
            </a:r>
            <a:r>
              <a:rPr lang="en-US" sz="1600" dirty="0"/>
              <a:t/>
            </a:r>
            <a:br>
              <a:rPr lang="en-US" sz="1600" dirty="0"/>
            </a:br>
            <a:r>
              <a:rPr lang="en-US" sz="1600" dirty="0" smtClean="0"/>
              <a:t>Refinance</a:t>
            </a:r>
            <a:endParaRPr lang="en-US" dirty="0">
              <a:latin typeface="+mn-lt"/>
            </a:endParaRPr>
          </a:p>
        </p:txBody>
      </p:sp>
      <p:sp>
        <p:nvSpPr>
          <p:cNvPr id="17" name="TextBox 16"/>
          <p:cNvSpPr txBox="1"/>
          <p:nvPr/>
        </p:nvSpPr>
        <p:spPr>
          <a:xfrm>
            <a:off x="494381" y="1147341"/>
            <a:ext cx="9003791" cy="461665"/>
          </a:xfrm>
          <a:prstGeom prst="rect">
            <a:avLst/>
          </a:prstGeom>
          <a:noFill/>
        </p:spPr>
        <p:txBody>
          <a:bodyPr wrap="square" rtlCol="0">
            <a:spAutoFit/>
          </a:bodyPr>
          <a:lstStyle/>
          <a:p>
            <a:r>
              <a:rPr lang="en-US" sz="1200" dirty="0" smtClean="0">
                <a:latin typeface="+mn-lt"/>
              </a:rPr>
              <a:t>Similar as Turnover, </a:t>
            </a:r>
            <a:r>
              <a:rPr lang="en-US" sz="1200" dirty="0">
                <a:latin typeface="+mn-lt"/>
              </a:rPr>
              <a:t> </a:t>
            </a:r>
            <a:r>
              <a:rPr lang="en-US" sz="1200" dirty="0" smtClean="0">
                <a:latin typeface="+mn-lt"/>
              </a:rPr>
              <a:t>the credit availability parameter is the third in the sequential fitting process. After fitting it, we need to re-built all other curves after it. And due to the Turnover model update, the baseline curve also need to be updated.</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360" y="1609006"/>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6688" y="1609006"/>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359" y="4235617"/>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6688" y="4235617"/>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99597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Curve Updates</a:t>
            </a:r>
            <a:r>
              <a:rPr lang="en-US" sz="1600" dirty="0"/>
              <a:t/>
            </a:r>
            <a:br>
              <a:rPr lang="en-US" sz="1600" dirty="0"/>
            </a:br>
            <a:r>
              <a:rPr lang="en-US" sz="1600" dirty="0" smtClean="0"/>
              <a:t>Refinance</a:t>
            </a:r>
            <a:endParaRPr lang="en-US" dirty="0">
              <a:latin typeface="+mn-lt"/>
            </a:endParaRPr>
          </a:p>
        </p:txBody>
      </p:sp>
      <p:sp>
        <p:nvSpPr>
          <p:cNvPr id="17" name="TextBox 16"/>
          <p:cNvSpPr txBox="1"/>
          <p:nvPr/>
        </p:nvSpPr>
        <p:spPr>
          <a:xfrm>
            <a:off x="494381" y="1147341"/>
            <a:ext cx="9003791" cy="461665"/>
          </a:xfrm>
          <a:prstGeom prst="rect">
            <a:avLst/>
          </a:prstGeom>
          <a:noFill/>
        </p:spPr>
        <p:txBody>
          <a:bodyPr wrap="square" rtlCol="0">
            <a:spAutoFit/>
          </a:bodyPr>
          <a:lstStyle/>
          <a:p>
            <a:r>
              <a:rPr lang="en-US" sz="1200" dirty="0" smtClean="0">
                <a:latin typeface="+mn-lt"/>
              </a:rPr>
              <a:t>Similar as Turnover, </a:t>
            </a:r>
            <a:r>
              <a:rPr lang="en-US" sz="1200" dirty="0">
                <a:latin typeface="+mn-lt"/>
              </a:rPr>
              <a:t> </a:t>
            </a:r>
            <a:r>
              <a:rPr lang="en-US" sz="1200" dirty="0" smtClean="0">
                <a:latin typeface="+mn-lt"/>
              </a:rPr>
              <a:t>the credit availability parameter is the third in the sequential fitting process. After fitting it, we need to re-built all other curves after it. And due to the Turnover model update, the baseline curve also need to be updated.</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311" y="1609006"/>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824" y="4352206"/>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311" y="4448747"/>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7824" y="1609006"/>
            <a:ext cx="2980453"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45717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Model Tracking Result</a:t>
            </a:r>
            <a:endParaRPr lang="en-US" dirty="0">
              <a:latin typeface="+mn-lt"/>
            </a:endParaRPr>
          </a:p>
        </p:txBody>
      </p:sp>
      <p:sp>
        <p:nvSpPr>
          <p:cNvPr id="17" name="TextBox 16"/>
          <p:cNvSpPr txBox="1"/>
          <p:nvPr/>
        </p:nvSpPr>
        <p:spPr>
          <a:xfrm>
            <a:off x="494381" y="1147341"/>
            <a:ext cx="9003791" cy="461665"/>
          </a:xfrm>
          <a:prstGeom prst="rect">
            <a:avLst/>
          </a:prstGeom>
          <a:noFill/>
        </p:spPr>
        <p:txBody>
          <a:bodyPr wrap="square" rtlCol="0">
            <a:spAutoFit/>
          </a:bodyPr>
          <a:lstStyle/>
          <a:p>
            <a:r>
              <a:rPr lang="en-US" sz="1200" dirty="0" smtClean="0">
                <a:latin typeface="+mn-lt"/>
              </a:rPr>
              <a:t>From the overall tracking, we can see the v2.1 model has better performance for post 2014 period. As the new credit availability input fixed the dispersion from market credit availability and the HPA 2Yr </a:t>
            </a:r>
            <a:r>
              <a:rPr lang="en-US" sz="1200" dirty="0" err="1" smtClean="0">
                <a:latin typeface="+mn-lt"/>
              </a:rPr>
              <a:t>seriese</a:t>
            </a:r>
            <a:r>
              <a:rPr lang="en-US" sz="1200" dirty="0" smtClean="0">
                <a:latin typeface="+mn-lt"/>
              </a:rPr>
              <a:t>.</a:t>
            </a:r>
          </a:p>
        </p:txBody>
      </p:sp>
      <p:graphicFrame>
        <p:nvGraphicFramePr>
          <p:cNvPr id="8" name="Chart 7"/>
          <p:cNvGraphicFramePr>
            <a:graphicFrameLocks/>
          </p:cNvGraphicFramePr>
          <p:nvPr>
            <p:extLst>
              <p:ext uri="{D42A27DB-BD31-4B8C-83A1-F6EECF244321}">
                <p14:modId xmlns:p14="http://schemas.microsoft.com/office/powerpoint/2010/main" val="2120951286"/>
              </p:ext>
            </p:extLst>
          </p:nvPr>
        </p:nvGraphicFramePr>
        <p:xfrm>
          <a:off x="1409699" y="1781175"/>
          <a:ext cx="7424917" cy="4929008"/>
        </p:xfrm>
        <a:graphic>
          <a:graphicData uri="http://schemas.openxmlformats.org/drawingml/2006/chart">
            <c:chart xmlns:c="http://schemas.openxmlformats.org/drawingml/2006/chart" xmlns:r="http://schemas.openxmlformats.org/officeDocument/2006/relationships" r:id="rId2"/>
          </a:graphicData>
        </a:graphic>
      </p:graphicFrame>
      <p:sp>
        <p:nvSpPr>
          <p:cNvPr id="3" name="Oval 2"/>
          <p:cNvSpPr/>
          <p:nvPr/>
        </p:nvSpPr>
        <p:spPr>
          <a:xfrm>
            <a:off x="6868313" y="4193865"/>
            <a:ext cx="1244409" cy="1863176"/>
          </a:xfrm>
          <a:prstGeom prst="ellipse">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337718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96791</TotalTime>
  <Words>906</Words>
  <Application>Microsoft Office PowerPoint</Application>
  <PresentationFormat>Custom</PresentationFormat>
  <Paragraphs>108</Paragraphs>
  <Slides>13</Slides>
  <Notes>1</Notes>
  <HiddenSlides>0</HiddenSlides>
  <MMClips>0</MMClips>
  <ScaleCrop>false</ScaleCrop>
  <HeadingPairs>
    <vt:vector size="4" baseType="variant">
      <vt:variant>
        <vt:lpstr>Theme</vt:lpstr>
      </vt:variant>
      <vt:variant>
        <vt:i4>15</vt:i4>
      </vt:variant>
      <vt:variant>
        <vt:lpstr>Slide Titles</vt:lpstr>
      </vt:variant>
      <vt:variant>
        <vt:i4>13</vt:i4>
      </vt:variant>
    </vt:vector>
  </HeadingPairs>
  <TitlesOfParts>
    <vt:vector size="28"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Three Problems Targeted to Fix in V2.1</vt:lpstr>
      <vt:lpstr>Model Update Overview 1. Credit Availability Update</vt:lpstr>
      <vt:lpstr>Model Update Overview 1. Credit Availability Update</vt:lpstr>
      <vt:lpstr>Model Update Overview 1. Credit Availability Update</vt:lpstr>
      <vt:lpstr>VI. Backfill MBA CAI Using Purchase Data  </vt:lpstr>
      <vt:lpstr>Model Update Overview 1. Credit Availability Update</vt:lpstr>
      <vt:lpstr>Model Update Overview 2. Loan Size</vt:lpstr>
      <vt:lpstr>Model Update Overview 3. High CLTV</vt:lpstr>
      <vt:lpstr>Curve Updates Turnover</vt:lpstr>
      <vt:lpstr>Curve Updates Refinance</vt:lpstr>
      <vt:lpstr>Curve Updates Refinance</vt:lpstr>
      <vt:lpstr>Model Tracking Result</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2277</cp:revision>
  <cp:lastPrinted>2016-03-29T19:25:13Z</cp:lastPrinted>
  <dcterms:created xsi:type="dcterms:W3CDTF">2011-07-07T12:37:32Z</dcterms:created>
  <dcterms:modified xsi:type="dcterms:W3CDTF">2016-07-14T20:38:57Z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