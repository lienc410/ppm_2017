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2"/>
  </p:notesMasterIdLst>
  <p:handoutMasterIdLst>
    <p:handoutMasterId r:id="rId43"/>
  </p:handoutMasterIdLst>
  <p:sldIdLst>
    <p:sldId id="433" r:id="rId16"/>
    <p:sldId id="631" r:id="rId17"/>
    <p:sldId id="680" r:id="rId18"/>
    <p:sldId id="681" r:id="rId19"/>
    <p:sldId id="682" r:id="rId20"/>
    <p:sldId id="658" r:id="rId21"/>
    <p:sldId id="659" r:id="rId22"/>
    <p:sldId id="660" r:id="rId23"/>
    <p:sldId id="639" r:id="rId24"/>
    <p:sldId id="669" r:id="rId25"/>
    <p:sldId id="670" r:id="rId26"/>
    <p:sldId id="662" r:id="rId27"/>
    <p:sldId id="663" r:id="rId28"/>
    <p:sldId id="664" r:id="rId29"/>
    <p:sldId id="671" r:id="rId30"/>
    <p:sldId id="672" r:id="rId31"/>
    <p:sldId id="683" r:id="rId32"/>
    <p:sldId id="633" r:id="rId33"/>
    <p:sldId id="673" r:id="rId34"/>
    <p:sldId id="674" r:id="rId35"/>
    <p:sldId id="675" r:id="rId36"/>
    <p:sldId id="676" r:id="rId37"/>
    <p:sldId id="677" r:id="rId38"/>
    <p:sldId id="655" r:id="rId39"/>
    <p:sldId id="678" r:id="rId40"/>
    <p:sldId id="679" r:id="rId41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92" d="100"/>
          <a:sy n="92" d="100"/>
        </p:scale>
        <p:origin x="-114" y="-36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566912"/>
        <c:axId val="165110144"/>
      </c:lineChart>
      <c:dateAx>
        <c:axId val="164566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65110144"/>
        <c:crosses val="autoZero"/>
        <c:auto val="1"/>
        <c:lblOffset val="100"/>
        <c:baseTimeUnit val="months"/>
        <c:majorUnit val="5"/>
        <c:majorTimeUnit val="years"/>
      </c:dateAx>
      <c:valAx>
        <c:axId val="165110144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6456691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853184"/>
        <c:axId val="165286272"/>
      </c:lineChart>
      <c:dateAx>
        <c:axId val="958531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65286272"/>
        <c:crosses val="autoZero"/>
        <c:auto val="1"/>
        <c:lblOffset val="100"/>
        <c:baseTimeUnit val="months"/>
        <c:majorUnit val="24"/>
        <c:majorTimeUnit val="months"/>
      </c:dateAx>
      <c:valAx>
        <c:axId val="1652862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585318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989376"/>
        <c:axId val="183990912"/>
      </c:lineChart>
      <c:dateAx>
        <c:axId val="1839893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3990912"/>
        <c:crosses val="autoZero"/>
        <c:auto val="1"/>
        <c:lblOffset val="100"/>
        <c:baseTimeUnit val="months"/>
        <c:majorUnit val="18"/>
        <c:majorTimeUnit val="months"/>
      </c:dateAx>
      <c:valAx>
        <c:axId val="183990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8398937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CLTV:</a:t>
            </a:r>
            <a:r>
              <a:rPr lang="en-US" baseline="0" dirty="0" smtClean="0"/>
              <a:t> 90-97%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971200"/>
        <c:axId val="184177792"/>
      </c:lineChart>
      <c:dateAx>
        <c:axId val="18397120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4177792"/>
        <c:crosses val="autoZero"/>
        <c:auto val="1"/>
        <c:lblOffset val="100"/>
        <c:baseTimeUnit val="months"/>
        <c:majorUnit val="24"/>
        <c:majorTimeUnit val="months"/>
      </c:dateAx>
      <c:valAx>
        <c:axId val="1841777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839712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124544"/>
        <c:axId val="184126080"/>
      </c:lineChart>
      <c:dateAx>
        <c:axId val="1841245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4126080"/>
        <c:crosses val="autoZero"/>
        <c:auto val="1"/>
        <c:lblOffset val="100"/>
        <c:baseTimeUnit val="months"/>
        <c:majorUnit val="36"/>
        <c:majorTimeUnit val="months"/>
      </c:dateAx>
      <c:valAx>
        <c:axId val="184126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412454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026112"/>
        <c:axId val="174056576"/>
      </c:lineChart>
      <c:dateAx>
        <c:axId val="1740261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74056576"/>
        <c:crosses val="autoZero"/>
        <c:auto val="1"/>
        <c:lblOffset val="100"/>
        <c:baseTimeUnit val="months"/>
        <c:majorUnit val="12"/>
        <c:majorTimeUnit val="months"/>
      </c:dateAx>
      <c:valAx>
        <c:axId val="1740565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7402611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887552"/>
        <c:axId val="184893440"/>
      </c:barChart>
      <c:dateAx>
        <c:axId val="18488755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4893440"/>
        <c:crosses val="autoZero"/>
        <c:auto val="1"/>
        <c:lblOffset val="100"/>
        <c:baseTimeUnit val="months"/>
        <c:majorUnit val="18"/>
        <c:majorTimeUnit val="months"/>
      </c:dateAx>
      <c:valAx>
        <c:axId val="18489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1848875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4495488"/>
        <c:axId val="184505472"/>
      </c:barChart>
      <c:dateAx>
        <c:axId val="18449548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4505472"/>
        <c:crosses val="autoZero"/>
        <c:auto val="1"/>
        <c:lblOffset val="100"/>
        <c:baseTimeUnit val="months"/>
        <c:majorUnit val="24"/>
        <c:majorTimeUnit val="months"/>
      </c:dateAx>
      <c:valAx>
        <c:axId val="18450547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1844954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537856"/>
        <c:axId val="184539776"/>
      </c:lineChart>
      <c:catAx>
        <c:axId val="1845378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45397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8453977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45378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921792"/>
        <c:axId val="173923328"/>
      </c:lineChart>
      <c:dateAx>
        <c:axId val="1739217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73923328"/>
        <c:crosses val="autoZero"/>
        <c:auto val="1"/>
        <c:lblOffset val="100"/>
        <c:baseTimeUnit val="months"/>
        <c:majorUnit val="36"/>
        <c:majorTimeUnit val="months"/>
      </c:dateAx>
      <c:valAx>
        <c:axId val="1739233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7392179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342976"/>
        <c:axId val="185352960"/>
      </c:lineChart>
      <c:dateAx>
        <c:axId val="18534297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85352960"/>
        <c:crosses val="autoZero"/>
        <c:auto val="1"/>
        <c:lblOffset val="100"/>
        <c:baseTimeUnit val="months"/>
        <c:majorUnit val="12"/>
        <c:majorTimeUnit val="months"/>
      </c:dateAx>
      <c:valAx>
        <c:axId val="185352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8534297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379072"/>
        <c:axId val="185380864"/>
      </c:lineChart>
      <c:dateAx>
        <c:axId val="1853790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85380864"/>
        <c:crosses val="autoZero"/>
        <c:auto val="1"/>
        <c:lblOffset val="100"/>
        <c:baseTimeUnit val="months"/>
        <c:majorUnit val="12"/>
        <c:majorTimeUnit val="months"/>
      </c:dateAx>
      <c:valAx>
        <c:axId val="1853808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853790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570816"/>
        <c:axId val="185572352"/>
      </c:lineChart>
      <c:dateAx>
        <c:axId val="1855708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85572352"/>
        <c:crosses val="autoZero"/>
        <c:auto val="1"/>
        <c:lblOffset val="100"/>
        <c:baseTimeUnit val="months"/>
        <c:majorUnit val="12"/>
        <c:majorTimeUnit val="months"/>
      </c:dateAx>
      <c:valAx>
        <c:axId val="1855723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855708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151872"/>
        <c:axId val="185153408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157504"/>
        <c:axId val="185155584"/>
      </c:lineChart>
      <c:dateAx>
        <c:axId val="1851518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85153408"/>
        <c:crosses val="autoZero"/>
        <c:auto val="1"/>
        <c:lblOffset val="100"/>
        <c:baseTimeUnit val="months"/>
        <c:majorUnit val="12"/>
        <c:majorTimeUnit val="months"/>
      </c:dateAx>
      <c:valAx>
        <c:axId val="1851534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5151872"/>
        <c:crosses val="autoZero"/>
        <c:crossBetween val="between"/>
      </c:valAx>
      <c:valAx>
        <c:axId val="185155584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5157504"/>
        <c:crosses val="max"/>
        <c:crossBetween val="between"/>
      </c:valAx>
      <c:dateAx>
        <c:axId val="1851575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85155584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480704"/>
        <c:axId val="185482240"/>
      </c:lineChart>
      <c:dateAx>
        <c:axId val="18548070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85482240"/>
        <c:crosses val="autoZero"/>
        <c:auto val="1"/>
        <c:lblOffset val="100"/>
        <c:baseTimeUnit val="months"/>
        <c:majorUnit val="12"/>
        <c:majorTimeUnit val="months"/>
      </c:dateAx>
      <c:valAx>
        <c:axId val="18548224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548070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208832"/>
        <c:axId val="185210368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214464"/>
        <c:axId val="185212288"/>
      </c:lineChart>
      <c:dateAx>
        <c:axId val="1852088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85210368"/>
        <c:crosses val="autoZero"/>
        <c:auto val="1"/>
        <c:lblOffset val="100"/>
        <c:baseTimeUnit val="months"/>
        <c:majorUnit val="12"/>
        <c:majorTimeUnit val="months"/>
      </c:dateAx>
      <c:valAx>
        <c:axId val="18521036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185208832"/>
        <c:crosses val="autoZero"/>
        <c:crossBetween val="between"/>
      </c:valAx>
      <c:valAx>
        <c:axId val="185212288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5214464"/>
        <c:crosses val="max"/>
        <c:crossBetween val="between"/>
      </c:valAx>
      <c:dateAx>
        <c:axId val="18521446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85212288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5279616"/>
        <c:axId val="185281536"/>
      </c:lineChart>
      <c:catAx>
        <c:axId val="1852796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18528153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852815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8527961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Refinances – A </a:t>
              </a:r>
              <a:r>
                <a:rPr lang="en-US" sz="1400" b="1" dirty="0">
                  <a:latin typeface="+mn-lt"/>
                </a:rPr>
                <a:t>T</a:t>
              </a:r>
              <a:r>
                <a:rPr lang="en-US" sz="1400" b="1" dirty="0" smtClean="0">
                  <a:latin typeface="+mn-lt"/>
                </a:rPr>
                <a:t>hree Step </a:t>
              </a:r>
              <a:r>
                <a:rPr lang="en-US" sz="1400" b="1" dirty="0">
                  <a:latin typeface="+mn-lt"/>
                </a:rPr>
                <a:t>P</a:t>
              </a:r>
              <a:r>
                <a:rPr lang="en-US" sz="1400" b="1" dirty="0" smtClean="0">
                  <a:latin typeface="+mn-lt"/>
                </a:rPr>
                <a:t>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obtain Refinances from total prepayments, we need to subtract the Turnover, Default and Curtailment forecasts produced by the model: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 process to fit the multipliers for the Refinancing sub-model: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no-Media Effect data to build a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data to fit the Media Effect as a multiplier to the baseline S-Curve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the entire data set to fit all other multipliers (Credit Availability, 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our overall approach,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the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pool level information is calculated using weighted-average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>
                  <a:latin typeface="+mn-lt"/>
                </a:rPr>
                <a:t>I</a:t>
              </a:r>
              <a:r>
                <a:rPr lang="en-US" sz="1400" dirty="0" smtClean="0">
                  <a:latin typeface="+mn-lt"/>
                </a:rPr>
                <a:t>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 and Model Extensions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cross-sector incentive (Conventional to FHA)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calculating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pool-level info on third party originations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696168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784456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crossover incentive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High LTV (&gt;90%) conventional borrowers also have the option of refinancing into an FHA mortgage.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6" y="3078247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calculating the relative incentive, incorporate LLPA and PMI. Also, the calculation is performed at the loan-level.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3984315"/>
            <a:ext cx="3614737" cy="24198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</a:t>
            </a:r>
            <a:r>
              <a:rPr lang="en-US" sz="1100" dirty="0" smtClean="0">
                <a:solidFill>
                  <a:srgbClr val="313131"/>
                </a:solidFill>
              </a:rPr>
              <a:t>guidelines.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244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three cuts of the pool-level 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data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set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607880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551959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Add new CLTV curve for HARP eligible pools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4903239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N</a:t>
            </a:r>
            <a:r>
              <a:rPr lang="en-US" sz="1100" dirty="0" smtClean="0">
                <a:solidFill>
                  <a:srgbClr val="313131"/>
                </a:solidFill>
              </a:rPr>
              <a:t>ew parameter that measures the pool % that is </a:t>
            </a:r>
            <a:r>
              <a:rPr lang="en-US" sz="1100" dirty="0" err="1" smtClean="0">
                <a:solidFill>
                  <a:srgbClr val="313131"/>
                </a:solidFill>
              </a:rPr>
              <a:t>HARPed</a:t>
            </a:r>
            <a:r>
              <a:rPr lang="en-US" sz="1100" dirty="0" smtClean="0">
                <a:solidFill>
                  <a:srgbClr val="313131"/>
                </a:solidFill>
              </a:rPr>
              <a:t>. These borrowers tend to refi slower.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5803611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Have two CLTV curves for normal mortgages and HARP eligible mortgages.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479256" y="643130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6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Placeholder 5"/>
          <p:cNvSpPr txBox="1">
            <a:spLocks/>
          </p:cNvSpPr>
          <p:nvPr/>
        </p:nvSpPr>
        <p:spPr>
          <a:xfrm>
            <a:off x="5917407" y="6719450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0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2322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252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HARP-Eligible</a:t>
            </a:r>
            <a:endParaRPr lang="en-US" sz="1400" dirty="0">
              <a:solidFill>
                <a:srgbClr val="313131"/>
              </a:solidFill>
              <a:latin typeface="Arial"/>
            </a:endParaRP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424384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No-Media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HARP-</a:t>
            </a:r>
            <a:r>
              <a:rPr lang="en-US" sz="1400" dirty="0" err="1" smtClean="0"/>
              <a:t>Elig</a:t>
            </a:r>
            <a:endParaRPr lang="en-US" sz="1400" dirty="0" smtClean="0"/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Data set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Entire Data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HARP-Eligible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201384"/>
            <a:chOff x="4662742" y="1618200"/>
            <a:chExt cx="3999665" cy="120138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2387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v1. 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48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Crossover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incentive calculation only measures the refinance incentive for conventional 30-year borrowers to refinance into another 30-year conventional mortgage. 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offers the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risk-based MIP, borrowers with poorer credit profiles (higher CLTV/lower FICO) have greater incentive to refinance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separately calculate the incentive for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conventional loan to respectively refi into another conventional loan and an FHA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maximum of these two incentives corresponds to the “true” refinance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7014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Conv.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Incentive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FHA Incentive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OrigNoteRate</a:t>
                      </a:r>
                      <a:r>
                        <a:rPr lang="en-US" sz="1400" dirty="0" smtClean="0"/>
                        <a:t> + PMI)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32917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Conv. Incentive,</a:t>
                      </a:r>
                      <a:r>
                        <a:rPr lang="en-US" sz="1400" b="1" baseline="0" dirty="0" smtClean="0"/>
                        <a:t>   FHA Incentive)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35430" y="6795898"/>
            <a:ext cx="22765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Difference (4/4/2016)</a:t>
            </a:r>
            <a:endParaRPr lang="en-US" sz="1000" dirty="0">
              <a:latin typeface="+mn-lt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91830"/>
              </p:ext>
            </p:extLst>
          </p:nvPr>
        </p:nvGraphicFramePr>
        <p:xfrm>
          <a:off x="5035430" y="4713833"/>
          <a:ext cx="4642970" cy="2096082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-.17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2.22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.48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.13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1.00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-.39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.35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263490247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generic FGLMC pools, we see that the FHA incentive is lower than the conventional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FHA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increases with higher LTV. For 90-97% LTV, we see that FHA incentives are greater since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U6 pools, FHA incentives are much greater.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we initially calculated burnout, we used the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This calculation needs to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a loan-level weighted average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adjustments for when there’s a gap between loan age and pool 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pool-level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factor date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rot="16200000">
            <a:off x="714407" y="3754787"/>
            <a:ext cx="902906" cy="335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 rot="16200000">
            <a:off x="714407" y="4694587"/>
            <a:ext cx="902906" cy="335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 rot="16200000">
            <a:off x="714407" y="5634387"/>
            <a:ext cx="902906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3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 rot="16200000">
            <a:off x="714406" y="6574187"/>
            <a:ext cx="902906" cy="33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Step 4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⁡{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𝐼𝑛𝑐𝑒𝑛𝑡𝑖𝑣𝑒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 0}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095500" y="6557161"/>
                <a:ext cx="5279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𝐴𝑑𝑗𝑢𝑠𝑡𝑒𝑑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𝐴𝑑𝑗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6557161"/>
                <a:ext cx="527990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43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8646160"/>
              </p:ext>
            </p:extLst>
          </p:nvPr>
        </p:nvGraphicFramePr>
        <p:xfrm>
          <a:off x="496475" y="1697510"/>
          <a:ext cx="4227925" cy="290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951478851"/>
              </p:ext>
            </p:extLst>
          </p:nvPr>
        </p:nvGraphicFramePr>
        <p:xfrm>
          <a:off x="5041467" y="1697511"/>
          <a:ext cx="4357116" cy="290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7224" y="5214499"/>
            <a:ext cx="87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</a:t>
            </a:r>
            <a:r>
              <a:rPr lang="en-US" sz="1400" dirty="0" smtClean="0">
                <a:latin typeface="+mn-lt"/>
              </a:rPr>
              <a:t>or conventional pools, the updates don’t change aggregate burnout by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revised calculation is significantly lower for high LTV pools.</a:t>
            </a:r>
          </a:p>
        </p:txBody>
      </p:sp>
    </p:spTree>
    <p:extLst>
      <p:ext uri="{BB962C8B-B14F-4D97-AF65-F5344CB8AC3E}">
        <p14:creationId xmlns:p14="http://schemas.microsoft.com/office/powerpoint/2010/main" val="117384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constrain the maximum CLTV and minimum FICO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measure the number of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for ineligible mortgages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highest PMI / LLPA value in the underwriting matrix to these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the PMI/LLPA value to these mortgages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these two is a good solution. Using maximum values is misleading in that loans that are ineligible for refinancing will see an incentive if mortgage rates fall enough. </a:t>
            </a:r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very large numbers causes problems at the pool-level when we calculate a loan-level weighted-average refinance incentive. 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prevailing underwriting guidelines, we identify if each loan is eligible for refinancing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refinancing test is “global” in that it should apply across different mortgage products that a conventional borrower could theoretically refinance into (i.e., the refinance eligibility test shouldn’t just apply for refinancing into another 30-year conventional mortgage)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loan level information, we determine whether a borrower is eligible to refinance under current underwriting guidelines. This flag is </a:t>
            </a:r>
            <a:r>
              <a:rPr lang="en-US" sz="1400" b="1" dirty="0" smtClean="0">
                <a:latin typeface="+mn-lt"/>
              </a:rPr>
              <a:t>time-dependent</a:t>
            </a:r>
            <a:r>
              <a:rPr lang="en-US" sz="1400" dirty="0" smtClean="0">
                <a:latin typeface="+mn-lt"/>
              </a:rPr>
              <a:t> in that underwriting guidelines vary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</a:t>
            </a:r>
            <a:r>
              <a:rPr lang="en-US" sz="1400" dirty="0" smtClean="0">
                <a:latin typeface="+mn-lt"/>
              </a:rPr>
              <a:t>e then calculate the loan-level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Pools originated before 2009-06 are 100% Refinance Eligible after 2009-06 because of the HARP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treating a pool like a loan and calculating a refi-eligible flag is not practical. For example, a pool with an LTV of 96% would technically be 100% Refinance Eligible even though there may be several loans with LTVs &gt; 97%.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decrease from 2009 to 2014.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97%. So in that case 0% of the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loan ages increase, CLTV typically decreases.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round 50% of these loans are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For normal mortgages, it is harder for them to refinance when their CLTVs go up. However, this pattern doesn’t apply to HARP-eligible mortgages.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how can we capture the difference between normal mortgages and HARP eligible mortgages?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5080736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9" y="3628761"/>
            <a:ext cx="5511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orrowers with very high CLTVs have difficultly refinancing but HARP eligible borrowers appear to behave differently -- they refinance faster at higher CLTVs.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is a binary factor for the mode; linking it directly as a multiplier rescales the normal CLTV curve. However, given the opposing pattern of prepayment behavior as a function of CLTV for HARP and non-HARP eligible borrowers, this rescaling leads to significant distortions.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991267"/>
            <a:ext cx="507102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6138241"/>
            <a:ext cx="6266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the HARP eligibility as a switch and build two CLTV curves.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1: calibrate and apply on normal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2: calibrate and apply on HARP eligible mortgages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pool is HARP eligible, choose CLTV curve 2, otherwise use CLTV curve 1.</a:t>
            </a:r>
            <a:endParaRPr lang="en-US" sz="1400" dirty="0">
              <a:latin typeface="+mn-lt"/>
            </a:endParaRPr>
          </a:p>
          <a:p>
            <a:pPr marL="793276" lvl="1" indent="-285750">
              <a:buFontTx/>
              <a:buChar char="-"/>
            </a:pPr>
            <a:endParaRPr lang="en-US" sz="1400" dirty="0" smtClean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5114104"/>
            <a:ext cx="268583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621935"/>
            <a:ext cx="132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9506"/>
          <a:stretch/>
        </p:blipFill>
        <p:spPr>
          <a:xfrm>
            <a:off x="6977921" y="4888351"/>
            <a:ext cx="2760474" cy="22058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5023" y="4714407"/>
            <a:ext cx="15215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latin typeface="+mn-lt"/>
              </a:rPr>
              <a:t>CLTV Tracking</a:t>
            </a:r>
            <a:endParaRPr lang="en-US" sz="10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08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212" y="6544456"/>
            <a:ext cx="854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Notice the difference in behavior by the two groups.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73" y="1137381"/>
            <a:ext cx="2568787" cy="26638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53" y="3801256"/>
            <a:ext cx="2645607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6331" y="3266634"/>
            <a:ext cx="279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sz="1400" dirty="0" smtClean="0">
                <a:latin typeface="+mn-lt"/>
              </a:rPr>
              <a:t>Check origination date:</a:t>
            </a:r>
          </a:p>
          <a:p>
            <a:pPr lvl="1" indent="0"/>
            <a:r>
              <a:rPr lang="en-US" sz="1400" dirty="0" smtClean="0">
                <a:latin typeface="+mn-lt"/>
              </a:rPr>
              <a:t>If originated before 2009-06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7" y="1986197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00006" y="4865079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Eligible for HARP</a:t>
            </a:r>
            <a:endParaRPr lang="en-US" sz="1400" dirty="0">
              <a:latin typeface="+mn-lt"/>
            </a:endParaRPr>
          </a:p>
        </p:txBody>
      </p:sp>
      <p:cxnSp>
        <p:nvCxnSpPr>
          <p:cNvPr id="5" name="Elbow Connector 4"/>
          <p:cNvCxnSpPr>
            <a:stCxn id="34" idx="1"/>
            <a:endCxn id="33" idx="3"/>
          </p:cNvCxnSpPr>
          <p:nvPr/>
        </p:nvCxnSpPr>
        <p:spPr>
          <a:xfrm rot="10800000">
            <a:off x="3215390" y="3528244"/>
            <a:ext cx="584616" cy="1490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3" idx="1"/>
            <a:endCxn id="33" idx="3"/>
          </p:cNvCxnSpPr>
          <p:nvPr/>
        </p:nvCxnSpPr>
        <p:spPr>
          <a:xfrm rot="10800000" flipV="1">
            <a:off x="3215391" y="2140086"/>
            <a:ext cx="584617" cy="13881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3" idx="3"/>
          </p:cNvCxnSpPr>
          <p:nvPr/>
        </p:nvCxnSpPr>
        <p:spPr>
          <a:xfrm>
            <a:off x="5538866" y="2140086"/>
            <a:ext cx="94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538866" y="5018969"/>
            <a:ext cx="94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2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79" y="1923958"/>
            <a:ext cx="3935093" cy="34747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95" y="1923958"/>
            <a:ext cx="3935093" cy="3474720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5400000">
            <a:off x="3990015" y="3575125"/>
            <a:ext cx="1746354" cy="1723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33928" y="5398678"/>
            <a:ext cx="224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Using One CLTV Curve</a:t>
            </a:r>
            <a:endParaRPr lang="en-US" sz="14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3579" y="5398678"/>
            <a:ext cx="2248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Using Two CLTV Curves</a:t>
            </a:r>
          </a:p>
          <a:p>
            <a:pPr algn="ctr"/>
            <a:r>
              <a:rPr lang="en-US" sz="1400" dirty="0" smtClean="0">
                <a:latin typeface="+mn-lt"/>
              </a:rPr>
              <a:t>And HARP Eligible Factor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4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20958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baseline curve is built</a:t>
                      </a:r>
                      <a:r>
                        <a:rPr lang="en-US" sz="1200" baseline="0" dirty="0" smtClean="0"/>
                        <a:t> based on the pre-2007 no-media-effect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 Incentive.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Refinanceable</a:t>
                      </a:r>
                      <a:r>
                        <a:rPr lang="en-US" sz="1200" baseline="0" dirty="0" smtClean="0"/>
                        <a:t> Universe as Media Effect. Curve is calibrated based on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Higher levels of HPA are correlated with greater mortgage credit availability.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Short</a:t>
                      </a:r>
                      <a:r>
                        <a:rPr lang="en-US" sz="1200" baseline="0" dirty="0" smtClean="0"/>
                        <a:t> seasoning ramp for </a:t>
                      </a:r>
                      <a:r>
                        <a:rPr lang="en-US" sz="1200" baseline="0" dirty="0" err="1" smtClean="0"/>
                        <a:t>refinancings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in a loan’s life time. 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61458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balances.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</a:t>
                      </a:r>
                      <a:r>
                        <a:rPr lang="en-US" sz="1200" baseline="0" dirty="0" smtClean="0"/>
                        <a:t> will be more likely to refinance. And the HARP program made it even possible for loans with extremely high LTV to refi.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a pool’s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 compared to Purchase loans originated over the same time period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party-originated</a:t>
                      </a:r>
                      <a:r>
                        <a:rPr lang="en-US" sz="1200" baseline="0" dirty="0" smtClean="0"/>
                        <a:t> loans refinance faster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40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2" y="1137381"/>
            <a:ext cx="2568787" cy="266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73" y="1137381"/>
            <a:ext cx="2645607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51" y="1137380"/>
            <a:ext cx="2600645" cy="26638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935" y="3958653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445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214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95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009761287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473565227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957226277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936491915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faster.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08404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77100776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386454605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327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518559190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9947057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493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93819</TotalTime>
  <Words>2487</Words>
  <Application>Microsoft Office PowerPoint</Application>
  <PresentationFormat>Custom</PresentationFormat>
  <Paragraphs>544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Crossover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Data Preparation 4. CLTV Curve for HARP Eligible Mortgages</vt:lpstr>
      <vt:lpstr>Data Preparation 4. CLTV Curve for HARP Eligible Mortgages</vt:lpstr>
      <vt:lpstr>Data Preparation 4. CLTV Curve for HARP Eligible Mortgages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2249</cp:revision>
  <cp:lastPrinted>2016-03-29T19:25:13Z</cp:lastPrinted>
  <dcterms:created xsi:type="dcterms:W3CDTF">2011-07-07T12:37:32Z</dcterms:created>
  <dcterms:modified xsi:type="dcterms:W3CDTF">2016-05-20T17:21:14Z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