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18"/>
  </p:notesMasterIdLst>
  <p:handoutMasterIdLst>
    <p:handoutMasterId r:id="rId19"/>
  </p:handoutMasterIdLst>
  <p:sldIdLst>
    <p:sldId id="633" r:id="rId16"/>
    <p:sldId id="635" r:id="rId17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AD275C"/>
    <a:srgbClr val="F6D6E3"/>
    <a:srgbClr val="968880"/>
    <a:srgbClr val="8C2B18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822" y="-84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4657" y="5582952"/>
            <a:ext cx="431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Prepayment Model Release Process</a:t>
            </a:r>
            <a:endParaRPr lang="en-US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4657" y="6115097"/>
            <a:ext cx="431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July </a:t>
            </a:r>
            <a:r>
              <a:rPr lang="en-US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2016</a:t>
            </a:r>
            <a:endParaRPr lang="en-US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04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endParaRPr lang="en-US" sz="16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9220" y="955037"/>
            <a:ext cx="4762500" cy="36471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R Code / Tracking Looks Good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R Model Release (New Baton JSON File)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Code The New Curves / </a:t>
            </a:r>
            <a:r>
              <a:rPr lang="en-US" sz="1400" dirty="0" err="1">
                <a:latin typeface="+mn-lt"/>
              </a:rPr>
              <a:t>Algos</a:t>
            </a:r>
            <a:r>
              <a:rPr lang="en-US" sz="1400" dirty="0">
                <a:latin typeface="+mn-lt"/>
              </a:rPr>
              <a:t> in C++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Test Spline in C++ against R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Run a Sample Set of Pools in R and C++ </a:t>
            </a:r>
            <a:endParaRPr lang="en-US" sz="1400" dirty="0" smtClean="0">
              <a:latin typeface="+mn-lt"/>
            </a:endParaRPr>
          </a:p>
          <a:p>
            <a:pPr marL="736126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 </a:t>
            </a:r>
            <a:r>
              <a:rPr lang="en-US" sz="1400" dirty="0">
                <a:latin typeface="+mn-lt"/>
              </a:rPr>
              <a:t>CPR +- </a:t>
            </a:r>
            <a:r>
              <a:rPr lang="en-US" sz="1400" dirty="0" smtClean="0">
                <a:latin typeface="+mn-lt"/>
              </a:rPr>
              <a:t>0.5</a:t>
            </a:r>
            <a:endParaRPr lang="en-US" sz="1400" dirty="0">
              <a:latin typeface="+mn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Create Symphony Tracking Data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SQL Changes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Python Code to run the data extraction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Run 1000 pools for speed purpose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Run Scale on the data files </a:t>
            </a:r>
            <a:endParaRPr lang="en-US" sz="14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9220" y="4657374"/>
            <a:ext cx="4762500" cy="138499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en-US" sz="1400" dirty="0" smtClean="0">
                <a:latin typeface="+mn-lt"/>
              </a:rPr>
              <a:t>CUD Creation 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Validation (no missing fields / input para tie out)</a:t>
            </a:r>
            <a:endParaRPr lang="en-US" sz="1400" dirty="0">
              <a:latin typeface="+mn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7"/>
            </a:pPr>
            <a:r>
              <a:rPr lang="en-US" sz="1400" dirty="0" smtClean="0">
                <a:latin typeface="+mn-lt"/>
              </a:rPr>
              <a:t>Code C++ projections in Scale</a:t>
            </a:r>
          </a:p>
          <a:p>
            <a:pPr marL="79327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Data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9220" y="6097554"/>
            <a:ext cx="4762500" cy="1061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en-US" sz="1400" dirty="0" smtClean="0">
                <a:latin typeface="+mn-lt"/>
              </a:rPr>
              <a:t>Test IOS, Cohort, Bonds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en-US" sz="1400" dirty="0" smtClean="0">
                <a:latin typeface="+mn-lt"/>
              </a:rPr>
              <a:t>Test Tracking </a:t>
            </a:r>
            <a:r>
              <a:rPr lang="en-US" sz="1400" dirty="0">
                <a:latin typeface="+mn-lt"/>
              </a:rPr>
              <a:t>for IOS, Cohort, </a:t>
            </a:r>
            <a:r>
              <a:rPr lang="en-US" sz="1400" dirty="0" smtClean="0">
                <a:latin typeface="+mn-lt"/>
              </a:rPr>
              <a:t>Bonds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en-US" sz="1400" dirty="0" smtClean="0">
                <a:latin typeface="+mn-lt"/>
              </a:rPr>
              <a:t>Test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80" y="955037"/>
            <a:ext cx="891540" cy="3647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Research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487680" y="4657374"/>
            <a:ext cx="891540" cy="138499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Research &amp;</a:t>
            </a:r>
          </a:p>
          <a:p>
            <a:pPr algn="ctr"/>
            <a:r>
              <a:rPr lang="en-US" sz="1400" dirty="0" smtClean="0"/>
              <a:t>Technology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87680" y="6097554"/>
            <a:ext cx="891540" cy="106182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Technology</a:t>
            </a:r>
            <a:endParaRPr lang="en-US" sz="1400" dirty="0"/>
          </a:p>
        </p:txBody>
      </p:sp>
      <p:sp>
        <p:nvSpPr>
          <p:cNvPr id="7" name="Isosceles Triangle 6"/>
          <p:cNvSpPr/>
          <p:nvPr/>
        </p:nvSpPr>
        <p:spPr>
          <a:xfrm rot="5400000">
            <a:off x="5965466" y="2637643"/>
            <a:ext cx="1341120" cy="2819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315200" y="2108053"/>
            <a:ext cx="2141220" cy="13411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Symphony Tracking is Ready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Isosceles Triangle 16"/>
          <p:cNvSpPr/>
          <p:nvPr/>
        </p:nvSpPr>
        <p:spPr>
          <a:xfrm rot="5400000">
            <a:off x="6108134" y="6484474"/>
            <a:ext cx="1055781" cy="281940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199" y="6097553"/>
            <a:ext cx="2141220" cy="10557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Reports are Ready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 rot="5400000">
            <a:off x="6108135" y="5208901"/>
            <a:ext cx="1055781" cy="281940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15200" y="4821980"/>
            <a:ext cx="2141220" cy="10557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Projection is Ready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Arc 25"/>
          <p:cNvSpPr/>
          <p:nvPr/>
        </p:nvSpPr>
        <p:spPr>
          <a:xfrm rot="2742658">
            <a:off x="559024" y="434113"/>
            <a:ext cx="4777354" cy="4590975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090160" y="3931920"/>
            <a:ext cx="1051560" cy="670269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PM give feedback on model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42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92661</TotalTime>
  <Words>134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</vt:i4>
      </vt:variant>
    </vt:vector>
  </HeadingPairs>
  <TitlesOfParts>
    <vt:vector size="17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2179</cp:revision>
  <cp:lastPrinted>2016-03-29T19:25:13Z</cp:lastPrinted>
  <dcterms:created xsi:type="dcterms:W3CDTF">2011-07-07T12:37:32Z</dcterms:created>
  <dcterms:modified xsi:type="dcterms:W3CDTF">2016-07-07T19:18:16Z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