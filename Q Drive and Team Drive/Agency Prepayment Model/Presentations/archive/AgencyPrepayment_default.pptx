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2"/>
  </p:notesMasterIdLst>
  <p:handoutMasterIdLst>
    <p:handoutMasterId r:id="rId43"/>
  </p:handoutMasterIdLst>
  <p:sldIdLst>
    <p:sldId id="433" r:id="rId16"/>
    <p:sldId id="583" r:id="rId17"/>
    <p:sldId id="547" r:id="rId18"/>
    <p:sldId id="586" r:id="rId19"/>
    <p:sldId id="618" r:id="rId20"/>
    <p:sldId id="590" r:id="rId21"/>
    <p:sldId id="619" r:id="rId22"/>
    <p:sldId id="621" r:id="rId23"/>
    <p:sldId id="622" r:id="rId24"/>
    <p:sldId id="623" r:id="rId25"/>
    <p:sldId id="636" r:id="rId26"/>
    <p:sldId id="630" r:id="rId27"/>
    <p:sldId id="625" r:id="rId28"/>
    <p:sldId id="631" r:id="rId29"/>
    <p:sldId id="626" r:id="rId30"/>
    <p:sldId id="632" r:id="rId31"/>
    <p:sldId id="634" r:id="rId32"/>
    <p:sldId id="635" r:id="rId33"/>
    <p:sldId id="641" r:id="rId34"/>
    <p:sldId id="643" r:id="rId35"/>
    <p:sldId id="629" r:id="rId36"/>
    <p:sldId id="637" r:id="rId37"/>
    <p:sldId id="638" r:id="rId38"/>
    <p:sldId id="639" r:id="rId39"/>
    <p:sldId id="640" r:id="rId40"/>
    <p:sldId id="642" r:id="rId41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6600"/>
    <a:srgbClr val="FF9933"/>
    <a:srgbClr val="E519CD"/>
    <a:srgbClr val="968880"/>
    <a:srgbClr val="2E398A"/>
    <a:srgbClr val="533D2D"/>
    <a:srgbClr val="533D23"/>
    <a:srgbClr val="996633"/>
    <a:srgbClr val="8C2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72" autoAdjust="0"/>
    <p:restoredTop sz="95014" autoAdjust="0"/>
  </p:normalViewPr>
  <p:slideViewPr>
    <p:cSldViewPr snapToGrid="0" snapToObjects="1">
      <p:cViewPr>
        <p:scale>
          <a:sx n="100" d="100"/>
          <a:sy n="100" d="100"/>
        </p:scale>
        <p:origin x="1122" y="168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ev\cello-it-dev\trunk\Research\AgencyPrepayment\Baton\default\Default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dev\cello-it-dev\trunk\Research\AgencyPrepayment\Baton\default\Default_analysi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ev\cello-it-dev\trunk\Research\AgencyPrepayment\Baton\data\default_distribution3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dev\cello-it-dev\trunk\Research\AgencyPrepayment\Baton\default\Default_analysi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[Default_analysis.xlsx]Sheet2!PivotTable4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CDR of Pools vs </a:t>
            </a:r>
            <a:r>
              <a:rPr lang="en-US" dirty="0" smtClean="0"/>
              <a:t>Loans by WALA</a:t>
            </a:r>
            <a:endParaRPr lang="en-US" dirty="0"/>
          </a:p>
        </c:rich>
      </c:tx>
      <c:layout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Sheet2!$B$1:$B$2</c:f>
              <c:strCache>
                <c:ptCount val="1"/>
                <c:pt idx="0">
                  <c:v>Loan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Sheet2!$A$3:$A$16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14</c:v>
                </c:pt>
                <c:pt idx="12">
                  <c:v>16</c:v>
                </c:pt>
              </c:strCache>
            </c:strRef>
          </c:cat>
          <c:val>
            <c:numRef>
              <c:f>Sheet2!$B$3:$B$16</c:f>
              <c:numCache>
                <c:formatCode>General</c:formatCode>
                <c:ptCount val="13"/>
                <c:pt idx="0">
                  <c:v>0.28999999999999998</c:v>
                </c:pt>
                <c:pt idx="1">
                  <c:v>1.1599999999999999</c:v>
                </c:pt>
                <c:pt idx="2">
                  <c:v>1.94</c:v>
                </c:pt>
                <c:pt idx="3">
                  <c:v>2.4700000000000002</c:v>
                </c:pt>
                <c:pt idx="4">
                  <c:v>2.75</c:v>
                </c:pt>
                <c:pt idx="5">
                  <c:v>2.77</c:v>
                </c:pt>
                <c:pt idx="6">
                  <c:v>2.65</c:v>
                </c:pt>
                <c:pt idx="7">
                  <c:v>2.38</c:v>
                </c:pt>
                <c:pt idx="8">
                  <c:v>2.1</c:v>
                </c:pt>
                <c:pt idx="9">
                  <c:v>1.91</c:v>
                </c:pt>
                <c:pt idx="10">
                  <c:v>1.98</c:v>
                </c:pt>
                <c:pt idx="11">
                  <c:v>1.89</c:v>
                </c:pt>
                <c:pt idx="12">
                  <c:v>1.41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Sheet2!$C$1:$C$2</c:f>
              <c:strCache>
                <c:ptCount val="1"/>
                <c:pt idx="0">
                  <c:v>Pool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Sheet2!$A$3:$A$16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14</c:v>
                </c:pt>
                <c:pt idx="12">
                  <c:v>16</c:v>
                </c:pt>
              </c:strCache>
            </c:strRef>
          </c:cat>
          <c:val>
            <c:numRef>
              <c:f>Sheet2!$C$3:$C$16</c:f>
              <c:numCache>
                <c:formatCode>General</c:formatCode>
                <c:ptCount val="13"/>
                <c:pt idx="0">
                  <c:v>0.09</c:v>
                </c:pt>
                <c:pt idx="1">
                  <c:v>0.34</c:v>
                </c:pt>
                <c:pt idx="2">
                  <c:v>0.81</c:v>
                </c:pt>
                <c:pt idx="3">
                  <c:v>2.19</c:v>
                </c:pt>
                <c:pt idx="4">
                  <c:v>3.29</c:v>
                </c:pt>
                <c:pt idx="5">
                  <c:v>3.89</c:v>
                </c:pt>
                <c:pt idx="6">
                  <c:v>3.98</c:v>
                </c:pt>
                <c:pt idx="7">
                  <c:v>2.97</c:v>
                </c:pt>
                <c:pt idx="8">
                  <c:v>2.33</c:v>
                </c:pt>
                <c:pt idx="9">
                  <c:v>2.04</c:v>
                </c:pt>
                <c:pt idx="10">
                  <c:v>1.73</c:v>
                </c:pt>
                <c:pt idx="11">
                  <c:v>1.65</c:v>
                </c:pt>
                <c:pt idx="12">
                  <c:v>1.57</c:v>
                </c:pt>
              </c:numCache>
            </c:numRef>
          </c:val>
          <c:smooth val="0"/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51667584"/>
        <c:axId val="351866176"/>
      </c:lineChart>
      <c:catAx>
        <c:axId val="351667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aseline="0"/>
                  <a:t>WALA (YEARS)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1866176"/>
        <c:crosses val="autoZero"/>
        <c:auto val="1"/>
        <c:lblAlgn val="ctr"/>
        <c:lblOffset val="100"/>
        <c:noMultiLvlLbl val="0"/>
      </c:catAx>
      <c:valAx>
        <c:axId val="35186617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aseline="0"/>
                  <a:t>CDR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1667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b="1" i="0" baseline="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[Default_analysis.xlsx]Sheet4!PivotTable7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 dirty="0">
                <a:effectLst/>
              </a:rPr>
              <a:t>CDR of Pools vs Loans by Date</a:t>
            </a:r>
            <a:endParaRPr lang="en-US" dirty="0">
              <a:effectLst/>
            </a:endParaRPr>
          </a:p>
        </c:rich>
      </c:tx>
      <c:layout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00" b="1" i="0" u="none" strike="noStrike" kern="1200" baseline="0">
              <a:solidFill>
                <a:sysClr val="windowText" lastClr="000000">
                  <a:lumMod val="75000"/>
                  <a:lumOff val="2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Sheet4!$B$1:$B$2</c:f>
              <c:strCache>
                <c:ptCount val="1"/>
                <c:pt idx="0">
                  <c:v>Loan</c:v>
                </c:pt>
              </c:strCache>
            </c:strRef>
          </c:tx>
          <c:spPr>
            <a:ln w="31750" cap="rnd">
              <a:solidFill>
                <a:srgbClr val="8891D5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8891D5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Sheet4!$A$3:$A$7</c:f>
              <c:strCach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strCache>
            </c:strRef>
          </c:cat>
          <c:val>
            <c:numRef>
              <c:f>Sheet4!$B$3:$B$7</c:f>
              <c:numCache>
                <c:formatCode>General</c:formatCode>
                <c:ptCount val="4"/>
                <c:pt idx="0">
                  <c:v>2.12</c:v>
                </c:pt>
                <c:pt idx="1">
                  <c:v>1.81</c:v>
                </c:pt>
                <c:pt idx="2">
                  <c:v>1.1100000000000001</c:v>
                </c:pt>
                <c:pt idx="3">
                  <c:v>0.85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Sheet4!$C$1:$C$2</c:f>
              <c:strCache>
                <c:ptCount val="1"/>
                <c:pt idx="0">
                  <c:v>Pool</c:v>
                </c:pt>
              </c:strCache>
            </c:strRef>
          </c:tx>
          <c:spPr>
            <a:ln w="31750" cap="rnd">
              <a:solidFill>
                <a:srgbClr val="2E398A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2E398A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Sheet4!$A$3:$A$7</c:f>
              <c:strCach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strCache>
            </c:strRef>
          </c:cat>
          <c:val>
            <c:numRef>
              <c:f>Sheet4!$C$3:$C$7</c:f>
              <c:numCache>
                <c:formatCode>General</c:formatCode>
                <c:ptCount val="4"/>
                <c:pt idx="0">
                  <c:v>2.4</c:v>
                </c:pt>
                <c:pt idx="1">
                  <c:v>1.97</c:v>
                </c:pt>
                <c:pt idx="2">
                  <c:v>1.29</c:v>
                </c:pt>
                <c:pt idx="3">
                  <c:v>0.77</c:v>
                </c:pt>
              </c:numCache>
            </c:numRef>
          </c:val>
          <c:smooth val="0"/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04879696"/>
        <c:axId val="355202920"/>
      </c:lineChart>
      <c:catAx>
        <c:axId val="4048796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 (YEAR)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5202920"/>
        <c:crosses val="autoZero"/>
        <c:auto val="1"/>
        <c:lblAlgn val="ctr"/>
        <c:lblOffset val="100"/>
        <c:noMultiLvlLbl val="0"/>
      </c:catAx>
      <c:valAx>
        <c:axId val="355202920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CDR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4879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b="1" i="0" baseline="0"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>
                <a:effectLst/>
              </a:rPr>
              <a:t>Distribution of Pool CDRs</a:t>
            </a:r>
            <a:endParaRPr lang="en-US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Sheet1!$D$45</c:f>
              <c:strCache>
                <c:ptCount val="1"/>
                <c:pt idx="0">
                  <c:v>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Sheet1!$C$46:$C$52</c:f>
              <c:strCache>
                <c:ptCount val="7"/>
                <c:pt idx="0">
                  <c:v>0-5</c:v>
                </c:pt>
                <c:pt idx="1">
                  <c:v>5-10</c:v>
                </c:pt>
                <c:pt idx="2">
                  <c:v>10-15</c:v>
                </c:pt>
                <c:pt idx="3">
                  <c:v>15-20</c:v>
                </c:pt>
                <c:pt idx="4">
                  <c:v>20-25</c:v>
                </c:pt>
                <c:pt idx="5">
                  <c:v>25-30</c:v>
                </c:pt>
                <c:pt idx="6">
                  <c:v>30-35</c:v>
                </c:pt>
              </c:strCache>
            </c:strRef>
          </c:cat>
          <c:val>
            <c:numRef>
              <c:f>Sheet1!$D$46:$D$52</c:f>
              <c:numCache>
                <c:formatCode>0%</c:formatCode>
                <c:ptCount val="7"/>
                <c:pt idx="0">
                  <c:v>0.65402172656882007</c:v>
                </c:pt>
                <c:pt idx="1">
                  <c:v>0.24065353056743327</c:v>
                </c:pt>
                <c:pt idx="2">
                  <c:v>6.7548826996417427E-2</c:v>
                </c:pt>
                <c:pt idx="3">
                  <c:v>2.2549982664971685E-2</c:v>
                </c:pt>
                <c:pt idx="4">
                  <c:v>8.2341384490927996E-3</c:v>
                </c:pt>
                <c:pt idx="5">
                  <c:v>3.6836935166994107E-3</c:v>
                </c:pt>
                <c:pt idx="6">
                  <c:v>1.9068531145267538E-3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404300336"/>
        <c:axId val="404341016"/>
      </c:barChart>
      <c:lineChart>
        <c:grouping val="standard"/>
        <c:varyColors val="0"/>
        <c:ser>
          <c:idx val="1"/>
          <c:order val="1"/>
          <c:tx>
            <c:strRef>
              <c:f>Sheet1!$E$45</c:f>
              <c:strCache>
                <c:ptCount val="1"/>
                <c:pt idx="0">
                  <c:v>Pool Balance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Sheet1!$C$46:$C$52</c:f>
              <c:strCache>
                <c:ptCount val="7"/>
                <c:pt idx="0">
                  <c:v>0-5</c:v>
                </c:pt>
                <c:pt idx="1">
                  <c:v>5-10</c:v>
                </c:pt>
                <c:pt idx="2">
                  <c:v>10-15</c:v>
                </c:pt>
                <c:pt idx="3">
                  <c:v>15-20</c:v>
                </c:pt>
                <c:pt idx="4">
                  <c:v>20-25</c:v>
                </c:pt>
                <c:pt idx="5">
                  <c:v>25-30</c:v>
                </c:pt>
                <c:pt idx="6">
                  <c:v>30-35</c:v>
                </c:pt>
              </c:strCache>
            </c:strRef>
          </c:cat>
          <c:val>
            <c:numRef>
              <c:f>Sheet1!$E$46:$E$52</c:f>
              <c:numCache>
                <c:formatCode>_(* #,##0_);_(* \(#,##0\);_(* "-"??_);_(@_)</c:formatCode>
                <c:ptCount val="7"/>
                <c:pt idx="0">
                  <c:v>883.07180043180006</c:v>
                </c:pt>
                <c:pt idx="1">
                  <c:v>245.16196991796281</c:v>
                </c:pt>
                <c:pt idx="2">
                  <c:v>112.10718154072289</c:v>
                </c:pt>
                <c:pt idx="3">
                  <c:v>53.389325309967987</c:v>
                </c:pt>
                <c:pt idx="4">
                  <c:v>34.740365262000012</c:v>
                </c:pt>
                <c:pt idx="5">
                  <c:v>25.772159995372551</c:v>
                </c:pt>
                <c:pt idx="6">
                  <c:v>20.886928395075756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375744"/>
        <c:axId val="404341400"/>
      </c:lineChart>
      <c:catAx>
        <c:axId val="4043003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 smtClean="0"/>
                  <a:t>CDR Bucket</a:t>
                </a:r>
                <a:endParaRPr lang="en-US" b="1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4341016"/>
        <c:crosses val="autoZero"/>
        <c:auto val="1"/>
        <c:lblAlgn val="ctr"/>
        <c:lblOffset val="100"/>
        <c:noMultiLvlLbl val="0"/>
      </c:catAx>
      <c:valAx>
        <c:axId val="404341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Percent of Total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4300336"/>
        <c:crosses val="autoZero"/>
        <c:crossBetween val="between"/>
      </c:valAx>
      <c:valAx>
        <c:axId val="40434140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Balance (M)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4375744"/>
        <c:crosses val="max"/>
        <c:crossBetween val="between"/>
      </c:valAx>
      <c:catAx>
        <c:axId val="4043757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0434140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[Default_analysis.xlsx]DQ Pivot!PivotTable5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CDR of Current vs Delinquent</a:t>
            </a:r>
            <a:r>
              <a:rPr lang="en-US" baseline="0"/>
              <a:t> Loans</a:t>
            </a:r>
            <a:endParaRPr lang="en-US"/>
          </a:p>
        </c:rich>
      </c:tx>
      <c:layout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00" b="1" i="0" u="none" strike="noStrike" kern="1200" baseline="0">
              <a:solidFill>
                <a:sysClr val="windowText" lastClr="000000">
                  <a:lumMod val="75000"/>
                  <a:lumOff val="2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8891D5"/>
            </a:solidFill>
            <a:round/>
          </a:ln>
          <a:effectLst/>
        </c:spPr>
        <c:marker>
          <c:symbol val="circle"/>
          <c:size val="17"/>
          <c:spPr>
            <a:solidFill>
              <a:srgbClr val="8891D5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2E398A"/>
            </a:solidFill>
            <a:round/>
          </a:ln>
          <a:effectLst/>
        </c:spPr>
        <c:marker>
          <c:symbol val="circle"/>
          <c:size val="17"/>
          <c:spPr>
            <a:solidFill>
              <a:srgbClr val="2E398A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8891D5"/>
            </a:solidFill>
            <a:round/>
          </a:ln>
          <a:effectLst/>
        </c:spPr>
        <c:marker>
          <c:symbol val="circle"/>
          <c:size val="17"/>
          <c:spPr>
            <a:solidFill>
              <a:srgbClr val="8891D5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2E398A"/>
            </a:solidFill>
            <a:round/>
          </a:ln>
          <a:effectLst/>
        </c:spPr>
        <c:marker>
          <c:symbol val="circle"/>
          <c:size val="17"/>
          <c:spPr>
            <a:solidFill>
              <a:srgbClr val="2E398A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8891D5"/>
            </a:solidFill>
            <a:round/>
          </a:ln>
          <a:effectLst/>
        </c:spPr>
        <c:marker>
          <c:symbol val="circle"/>
          <c:size val="17"/>
          <c:spPr>
            <a:solidFill>
              <a:srgbClr val="8891D5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2E398A"/>
            </a:solidFill>
            <a:round/>
          </a:ln>
          <a:effectLst/>
        </c:spPr>
        <c:marker>
          <c:symbol val="circle"/>
          <c:size val="17"/>
          <c:spPr>
            <a:solidFill>
              <a:srgbClr val="2E398A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'DQ Pivot'!$B$1:$B$2</c:f>
              <c:strCache>
                <c:ptCount val="1"/>
                <c:pt idx="0">
                  <c:v>DQ</c:v>
                </c:pt>
              </c:strCache>
            </c:strRef>
          </c:tx>
          <c:spPr>
            <a:ln w="31750" cap="rnd">
              <a:solidFill>
                <a:srgbClr val="8891D5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8891D5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'DQ Pivot'!$A$3:$A$16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14</c:v>
                </c:pt>
                <c:pt idx="12">
                  <c:v>16</c:v>
                </c:pt>
              </c:strCache>
            </c:strRef>
          </c:cat>
          <c:val>
            <c:numRef>
              <c:f>'DQ Pivot'!$B$3:$B$16</c:f>
              <c:numCache>
                <c:formatCode>General</c:formatCode>
                <c:ptCount val="13"/>
                <c:pt idx="0">
                  <c:v>2</c:v>
                </c:pt>
                <c:pt idx="1">
                  <c:v>6.39</c:v>
                </c:pt>
                <c:pt idx="2">
                  <c:v>8.99</c:v>
                </c:pt>
                <c:pt idx="3">
                  <c:v>10.18</c:v>
                </c:pt>
                <c:pt idx="4">
                  <c:v>10.210000000000001</c:v>
                </c:pt>
                <c:pt idx="5">
                  <c:v>9.6</c:v>
                </c:pt>
                <c:pt idx="6">
                  <c:v>9.0399999999999991</c:v>
                </c:pt>
                <c:pt idx="7">
                  <c:v>7.87</c:v>
                </c:pt>
                <c:pt idx="8">
                  <c:v>6.75</c:v>
                </c:pt>
                <c:pt idx="9">
                  <c:v>5.81</c:v>
                </c:pt>
                <c:pt idx="10">
                  <c:v>5.2</c:v>
                </c:pt>
                <c:pt idx="11">
                  <c:v>4.04</c:v>
                </c:pt>
                <c:pt idx="12">
                  <c:v>3.12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'DQ Pivot'!$C$1:$C$2</c:f>
              <c:strCache>
                <c:ptCount val="1"/>
                <c:pt idx="0">
                  <c:v>CURR</c:v>
                </c:pt>
              </c:strCache>
            </c:strRef>
          </c:tx>
          <c:spPr>
            <a:ln w="31750" cap="rnd">
              <a:solidFill>
                <a:srgbClr val="2E398A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2E398A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'DQ Pivot'!$A$3:$A$16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14</c:v>
                </c:pt>
                <c:pt idx="12">
                  <c:v>16</c:v>
                </c:pt>
              </c:strCache>
            </c:strRef>
          </c:cat>
          <c:val>
            <c:numRef>
              <c:f>'DQ Pivot'!$C$3:$C$16</c:f>
              <c:numCache>
                <c:formatCode>General</c:formatCode>
                <c:ptCount val="13"/>
                <c:pt idx="0">
                  <c:v>0.28999999999999998</c:v>
                </c:pt>
                <c:pt idx="1">
                  <c:v>1.1599999999999999</c:v>
                </c:pt>
                <c:pt idx="2">
                  <c:v>1.94</c:v>
                </c:pt>
                <c:pt idx="3">
                  <c:v>2.4700000000000002</c:v>
                </c:pt>
                <c:pt idx="4">
                  <c:v>2.75</c:v>
                </c:pt>
                <c:pt idx="5">
                  <c:v>2.77</c:v>
                </c:pt>
                <c:pt idx="6">
                  <c:v>2.65</c:v>
                </c:pt>
                <c:pt idx="7">
                  <c:v>2.38</c:v>
                </c:pt>
                <c:pt idx="8">
                  <c:v>2.1</c:v>
                </c:pt>
                <c:pt idx="9">
                  <c:v>1.91</c:v>
                </c:pt>
                <c:pt idx="10">
                  <c:v>1.98</c:v>
                </c:pt>
                <c:pt idx="11">
                  <c:v>1.89</c:v>
                </c:pt>
                <c:pt idx="12">
                  <c:v>1.41</c:v>
                </c:pt>
              </c:numCache>
            </c:numRef>
          </c:val>
          <c:smooth val="0"/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07267136"/>
        <c:axId val="407269488"/>
      </c:lineChart>
      <c:catAx>
        <c:axId val="4072671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WALA (YEARS)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7269488"/>
        <c:crosses val="autoZero"/>
        <c:auto val="1"/>
        <c:lblAlgn val="ctr"/>
        <c:lblOffset val="100"/>
        <c:noMultiLvlLbl val="0"/>
      </c:catAx>
      <c:valAx>
        <c:axId val="40726948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CDR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7267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b="1" i="0" baseline="0"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4" y="4416438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15"/>
            <a:fld id="{1FE077EC-684A-4FD9-A6C3-9AE90D8B81D6}" type="slidenum">
              <a:rPr lang="en-US" smtClean="0"/>
              <a:pPr defTabSz="919915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17547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image" Target="../media/image16.e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emf"/><Relationship Id="rId12" Type="http://schemas.openxmlformats.org/officeDocument/2006/relationships/image" Target="../media/image15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9.emf"/><Relationship Id="rId11" Type="http://schemas.openxmlformats.org/officeDocument/2006/relationships/image" Target="../media/image14.emf"/><Relationship Id="rId5" Type="http://schemas.openxmlformats.org/officeDocument/2006/relationships/image" Target="../media/image8.emf"/><Relationship Id="rId10" Type="http://schemas.openxmlformats.org/officeDocument/2006/relationships/image" Target="../media/image13.emf"/><Relationship Id="rId4" Type="http://schemas.openxmlformats.org/officeDocument/2006/relationships/image" Target="../media/image7.emf"/><Relationship Id="rId9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544587" y="6084608"/>
            <a:ext cx="6147109" cy="856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3100" dirty="0" smtClean="0">
                <a:solidFill>
                  <a:srgbClr val="968880"/>
                </a:solidFill>
                <a:latin typeface="Calibri" pitchFamily="34" charset="0"/>
              </a:rPr>
              <a:t>Agency Prepayment: Default</a:t>
            </a:r>
            <a:endParaRPr lang="en-US" sz="31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June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Outline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2059512"/>
            <a:ext cx="7040880" cy="4893549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Introduction to Default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Data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Empirical Observations and Comparisons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Framework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Results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Spline Results</a:t>
            </a:r>
            <a:endParaRPr lang="en-US" sz="1800" dirty="0"/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Delinquent Loans Spline Results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Going Forward</a:t>
            </a:r>
            <a:endParaRPr lang="en-US" dirty="0"/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CLTV consistency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73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Introduction to Default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Agency Delinquency Definition</a:t>
            </a:r>
            <a:endParaRPr lang="en-US" sz="1400" b="1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Loans that miss monthly payments are marked as 30 Days, 60 Days, 90 Days, 120 Days delinquent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Agency Default Definition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Loans </a:t>
            </a:r>
            <a:r>
              <a:rPr lang="en-US" sz="1400" dirty="0" smtClean="0"/>
              <a:t>that </a:t>
            </a:r>
            <a:r>
              <a:rPr lang="en-US" sz="1400" dirty="0"/>
              <a:t>miss </a:t>
            </a:r>
            <a:r>
              <a:rPr lang="en-US" sz="1400" dirty="0" smtClean="0"/>
              <a:t>a certain number of payments (~120) are repurchased from the pool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Default Statistics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Current Loans: 1.37 CDR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Delinquent Loans: 6.75 CDR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Default Data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458337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Prepay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Pool Level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Delinquency/Default information only available for Freddie pools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~ </a:t>
            </a:r>
            <a:r>
              <a:rPr lang="en-US" sz="1400" dirty="0" smtClean="0"/>
              <a:t>352 </a:t>
            </a:r>
            <a:r>
              <a:rPr lang="en-US" sz="1400" dirty="0"/>
              <a:t>K pools with data as far back as </a:t>
            </a:r>
            <a:r>
              <a:rPr lang="en-US" sz="1400" dirty="0" smtClean="0"/>
              <a:t>2011</a:t>
            </a:r>
            <a:endParaRPr lang="en-US" sz="1400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30 Day, 60 Day, 90 Day, 120 Day and Repurchased balances are available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Level</a:t>
            </a:r>
            <a:endParaRPr lang="en-US" sz="1400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No </a:t>
            </a:r>
            <a:r>
              <a:rPr lang="en-US" sz="1400" dirty="0"/>
              <a:t>Delinquency/Default information </a:t>
            </a:r>
            <a:r>
              <a:rPr lang="en-US" sz="1400" dirty="0" smtClean="0"/>
              <a:t>is available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Credit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Delinquency/Default information </a:t>
            </a:r>
            <a:r>
              <a:rPr lang="en-US" sz="1400" dirty="0" smtClean="0"/>
              <a:t>available </a:t>
            </a:r>
            <a:r>
              <a:rPr lang="en-US" sz="1400" dirty="0"/>
              <a:t>for </a:t>
            </a:r>
            <a:r>
              <a:rPr lang="en-US" sz="1400" dirty="0" smtClean="0"/>
              <a:t>Fannie and Freddie loans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40 M loans with data as far back as 1999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Age up to 180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Has indicators for Prepayment, and Default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Excellent coverage for FICO, DTI, CLTV (</a:t>
            </a:r>
            <a:r>
              <a:rPr lang="en-US" sz="1400" dirty="0" err="1" smtClean="0"/>
              <a:t>msa</a:t>
            </a:r>
            <a:r>
              <a:rPr lang="en-US" sz="1400" dirty="0" smtClean="0"/>
              <a:t> level), Occupancy, etc.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9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Default Data: Default Definition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509665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Prepay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Pool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120 day delinquent loans are removed from the pool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Default balance is reported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Credit </a:t>
            </a:r>
            <a:r>
              <a:rPr lang="en-US" sz="1400" b="1" dirty="0"/>
              <a:t>Data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Loan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180 day delinquent loans are removed from the data and a Zero Balance Code is reported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Revised Credit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We </a:t>
            </a:r>
            <a:r>
              <a:rPr lang="en-US" sz="1400" dirty="0" smtClean="0"/>
              <a:t>must modify </a:t>
            </a:r>
            <a:r>
              <a:rPr lang="en-US" sz="1400" dirty="0"/>
              <a:t>the default criteria to match with the Pool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First time a loan reaches 120 days delinquent, the loan is marked as a default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Default Empirical Formula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MDR (monthly default rate) = default balance / current balance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77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057096"/>
              </p:ext>
            </p:extLst>
          </p:nvPr>
        </p:nvGraphicFramePr>
        <p:xfrm>
          <a:off x="688062" y="1865009"/>
          <a:ext cx="8615957" cy="5251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858247" y="2497274"/>
            <a:ext cx="3800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Different time periods make direct comparison of the CDRs difficult</a:t>
            </a:r>
          </a:p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- Pool ~2011-2015</a:t>
            </a:r>
          </a:p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- Loan ~2000-2015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11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276627"/>
              </p:ext>
            </p:extLst>
          </p:nvPr>
        </p:nvGraphicFramePr>
        <p:xfrm>
          <a:off x="688062" y="1860606"/>
          <a:ext cx="8615957" cy="52796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58247" y="2497274"/>
            <a:ext cx="3800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Same time period demonstrates comparable CDRs</a:t>
            </a:r>
          </a:p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- Pool ~2011-2014</a:t>
            </a:r>
          </a:p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- Loan ~2011-2014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14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7057900"/>
              </p:ext>
            </p:extLst>
          </p:nvPr>
        </p:nvGraphicFramePr>
        <p:xfrm>
          <a:off x="688063" y="1849903"/>
          <a:ext cx="8576857" cy="5270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47582" y="4655105"/>
            <a:ext cx="2963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Pools demonstrate significant CDR variability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21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Framework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Data</a:t>
            </a:r>
            <a:endParaRPr lang="en-US" sz="1400" b="1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Query the loan level credit data from IQ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Aggregate the Default data by loan characteristics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CLTV</a:t>
            </a:r>
            <a:r>
              <a:rPr lang="en-US" sz="1400" dirty="0" smtClean="0"/>
              <a:t>: 30, 40, 50, 60, 70, 80, 90, 100, 110, 120, 140, &gt;140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FICO</a:t>
            </a:r>
            <a:r>
              <a:rPr lang="en-US" sz="1400" dirty="0" smtClean="0"/>
              <a:t>: 500, 540, 580, 600, 620, 640, 660, 680, 700, 720, 740, 760, 780, 800, &gt;800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WALA</a:t>
            </a:r>
            <a:r>
              <a:rPr lang="en-US" sz="1400" dirty="0" smtClean="0"/>
              <a:t>: 10, 20, </a:t>
            </a:r>
            <a:r>
              <a:rPr lang="en-US" sz="1400" dirty="0"/>
              <a:t>30, 40, 50, 60, 70, 80, 90, 100, </a:t>
            </a:r>
            <a:r>
              <a:rPr lang="en-US" sz="1400" dirty="0" smtClean="0"/>
              <a:t>120</a:t>
            </a:r>
            <a:r>
              <a:rPr lang="en-US" sz="1400" dirty="0"/>
              <a:t>, 140, &gt;</a:t>
            </a:r>
            <a:r>
              <a:rPr lang="en-US" sz="1400" dirty="0" smtClean="0"/>
              <a:t>140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DTI</a:t>
            </a:r>
            <a:r>
              <a:rPr lang="en-US" sz="1400" dirty="0" smtClean="0"/>
              <a:t>: 20, 30, 40, 50, &gt;50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Occupancy</a:t>
            </a:r>
            <a:r>
              <a:rPr lang="en-US" sz="1400" dirty="0" smtClean="0"/>
              <a:t>: OWNER, NON_OWNER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R Program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Read in the aggregated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Determine by statistical methods which variable is most important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Calculate the balance weighted factor variables and MDR (monthly default rate)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Estimate a spline from the empirical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Repeat process for next most important variable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Output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Spline coefficients, which allow us to calculate an MDR given a set of loan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306455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3"/>
          <p:cNvSpPr txBox="1">
            <a:spLocks/>
          </p:cNvSpPr>
          <p:nvPr/>
        </p:nvSpPr>
        <p:spPr bwMode="auto">
          <a:xfrm>
            <a:off x="754380" y="1174163"/>
            <a:ext cx="8549640" cy="437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pPr algn="l"/>
            <a:r>
              <a:rPr lang="en-US" sz="2400" b="0" kern="0" smtClean="0">
                <a:solidFill>
                  <a:schemeClr val="tx1"/>
                </a:solidFill>
              </a:rPr>
              <a:t>Description of Framework</a:t>
            </a:r>
            <a:endParaRPr lang="en-US" sz="2400" b="0" kern="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90901" y="2314575"/>
            <a:ext cx="3476624" cy="117624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390901" y="3599623"/>
            <a:ext cx="3476624" cy="117624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390901" y="4884672"/>
            <a:ext cx="3476624" cy="117624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913431" y="6393321"/>
            <a:ext cx="916369" cy="7980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042509" y="6397650"/>
            <a:ext cx="1933915" cy="79805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62491" y="6397650"/>
            <a:ext cx="3880018" cy="79805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961971" y="6408198"/>
            <a:ext cx="2951460" cy="79805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45771" y="6393321"/>
            <a:ext cx="9684029" cy="79805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58" y="6350025"/>
            <a:ext cx="916369" cy="9144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955" y="6367374"/>
            <a:ext cx="916370" cy="914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140" y="6359550"/>
            <a:ext cx="916370" cy="914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325" y="6367374"/>
            <a:ext cx="916370" cy="914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510" y="6367374"/>
            <a:ext cx="916370" cy="914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785" y="6363879"/>
            <a:ext cx="916370" cy="914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694" y="6358446"/>
            <a:ext cx="916369" cy="914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064" y="6359550"/>
            <a:ext cx="916369" cy="914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248" y="6359550"/>
            <a:ext cx="916369" cy="914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31" y="6367374"/>
            <a:ext cx="916369" cy="914400"/>
          </a:xfrm>
          <a:prstGeom prst="rect">
            <a:avLst/>
          </a:prstGeom>
        </p:spPr>
      </p:pic>
      <p:pic>
        <p:nvPicPr>
          <p:cNvPr id="29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2491" y="2912477"/>
            <a:ext cx="2565834" cy="256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615" y="2912477"/>
            <a:ext cx="2565833" cy="256032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023" y="2576424"/>
            <a:ext cx="916370" cy="9144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208" y="2568600"/>
            <a:ext cx="916370" cy="9144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393" y="2576424"/>
            <a:ext cx="916370" cy="91440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933" y="3839636"/>
            <a:ext cx="916370" cy="91440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08" y="3839636"/>
            <a:ext cx="916370" cy="9144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934" y="5110671"/>
            <a:ext cx="916369" cy="914400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08" y="5111775"/>
            <a:ext cx="916369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92023" y="2314575"/>
            <a:ext cx="293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1.Bucket and Weighted 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713519" y="3599623"/>
            <a:ext cx="293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2. Spline and Interpolation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13518" y="4884672"/>
            <a:ext cx="293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3. Least Square Optimization</a:t>
            </a:r>
          </a:p>
        </p:txBody>
      </p:sp>
      <p:sp>
        <p:nvSpPr>
          <p:cNvPr id="46" name="AutoShape 1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10510" y="3871386"/>
            <a:ext cx="257175" cy="850900"/>
          </a:xfrm>
          <a:prstGeom prst="rightArrow">
            <a:avLst>
              <a:gd name="adj1" fmla="val 50000"/>
              <a:gd name="adj2" fmla="val 52278"/>
            </a:avLst>
          </a:prstGeom>
          <a:solidFill>
            <a:schemeClr val="accent1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tIns="91440" bIns="91440" anchor="ctr"/>
          <a:lstStyle/>
          <a:p>
            <a:pPr algn="ctr">
              <a:defRPr/>
            </a:pPr>
            <a:endParaRPr 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9" name="AutoShape 1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65064" y="3871386"/>
            <a:ext cx="257175" cy="850900"/>
          </a:xfrm>
          <a:prstGeom prst="rightArrow">
            <a:avLst>
              <a:gd name="adj1" fmla="val 50000"/>
              <a:gd name="adj2" fmla="val 52278"/>
            </a:avLst>
          </a:prstGeom>
          <a:solidFill>
            <a:schemeClr val="accent1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tIns="91440" bIns="91440" anchor="ctr"/>
          <a:lstStyle/>
          <a:p>
            <a:pPr algn="ctr">
              <a:defRPr/>
            </a:pPr>
            <a:endParaRPr 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74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CLTV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0"/>
            <a:ext cx="8615957" cy="525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78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CLTV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0"/>
            <a:ext cx="8615957" cy="529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3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Original FICO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0"/>
            <a:ext cx="8615957" cy="528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62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Original FICO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1865010"/>
            <a:ext cx="8615957" cy="527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3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WALA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1865011"/>
            <a:ext cx="8615957" cy="529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2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WALA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1"/>
            <a:ext cx="8615957" cy="526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2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Original DTI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1865010"/>
            <a:ext cx="8615957" cy="527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22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Original DTI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0"/>
            <a:ext cx="8615957" cy="528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1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</a:t>
            </a:r>
            <a:r>
              <a:rPr lang="en-US" sz="2400" b="0" dirty="0" smtClean="0">
                <a:solidFill>
                  <a:schemeClr val="tx1"/>
                </a:solidFill>
              </a:rPr>
              <a:t>Delinquency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Agency Pools reported by Freddie Mac have delinquency information: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Ex) 94% Current, 3% 30Days, 2% 60Days, 1% 90Days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Delinquency Status has a significant impact on the default rate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Hence we must specify a model for the part of the pool which is delinquent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We follow essentially the same strategy as before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The results are as expected: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A significantly higher average default rate (~5 x)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Similar spline shapes but with smaller impact on the default rate</a:t>
            </a:r>
          </a:p>
        </p:txBody>
      </p:sp>
    </p:spTree>
    <p:extLst>
      <p:ext uri="{BB962C8B-B14F-4D97-AF65-F5344CB8AC3E}">
        <p14:creationId xmlns:p14="http://schemas.microsoft.com/office/powerpoint/2010/main" val="278742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</a:t>
            </a:r>
            <a:r>
              <a:rPr lang="en-US" sz="2400" b="0" dirty="0" smtClean="0">
                <a:solidFill>
                  <a:schemeClr val="tx1"/>
                </a:solidFill>
              </a:rPr>
              <a:t>Delinquency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7677180"/>
              </p:ext>
            </p:extLst>
          </p:nvPr>
        </p:nvGraphicFramePr>
        <p:xfrm>
          <a:off x="688063" y="1869260"/>
          <a:ext cx="8615957" cy="5276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2757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Delinquency Multipliers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1865010"/>
            <a:ext cx="8615957" cy="526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Delinquency Multipliers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0"/>
            <a:ext cx="8615957" cy="525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3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Delinquency Multipliers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0"/>
            <a:ext cx="8615957" cy="528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1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Delinquency Multipliers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1865010"/>
            <a:ext cx="8615957" cy="527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61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Occupancy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 dirty="0" smtClean="0"/>
              <a:t>Occupancy Multipliers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2400" b="1" dirty="0" smtClean="0"/>
              <a:t>Current Loans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NON_OWNER = 1.368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OWNER = 0.963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2400" b="1" dirty="0" smtClean="0"/>
              <a:t>Delinquent Loans</a:t>
            </a:r>
            <a:endParaRPr lang="en-US" sz="2400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NON_OWNER = </a:t>
            </a:r>
            <a:r>
              <a:rPr lang="en-US" sz="2400" dirty="0" smtClean="0"/>
              <a:t>1.096</a:t>
            </a:r>
            <a:endParaRPr lang="en-US" sz="2400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OWNER = </a:t>
            </a:r>
            <a:r>
              <a:rPr lang="en-US" sz="2400" dirty="0" smtClean="0"/>
              <a:t>0.991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201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Going Forward: CLTV Consistency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T</a:t>
            </a:r>
            <a:r>
              <a:rPr lang="en-US" sz="1400" b="1" dirty="0" smtClean="0"/>
              <a:t>here is an issue with the CLTV calculation from the credit data vs the prepay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Prepay Pools calculate Current CLTV from “Purchase Only” HPI time series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Credit Data calculates </a:t>
            </a:r>
            <a:r>
              <a:rPr lang="en-US" sz="1400" b="1" dirty="0"/>
              <a:t>Current CLTV from </a:t>
            </a:r>
            <a:r>
              <a:rPr lang="en-US" sz="1400" b="1" dirty="0" smtClean="0"/>
              <a:t>“All Transactions” </a:t>
            </a:r>
            <a:r>
              <a:rPr lang="en-US" sz="1400" b="1" dirty="0"/>
              <a:t>HPI time </a:t>
            </a:r>
            <a:r>
              <a:rPr lang="en-US" sz="1400" b="1" dirty="0" smtClean="0"/>
              <a:t>series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Results are not consistent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TODO: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Create another CLTV in the credit tables with data from the Purchase Only HPI time series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Redo the analysis to use the compatible CLTV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endParaRPr lang="en-US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499372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Ty3XHNU30u3zebbKdVxJ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Ty3XHNU30u3zebbKdVxJQ"/>
</p:tagLst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74597</TotalTime>
  <Words>814</Words>
  <Application>Microsoft Office PowerPoint</Application>
  <PresentationFormat>Custom</PresentationFormat>
  <Paragraphs>130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26</vt:i4>
      </vt:variant>
    </vt:vector>
  </HeadingPairs>
  <TitlesOfParts>
    <vt:vector size="47" baseType="lpstr">
      <vt:lpstr>Arial Unicode MS</vt:lpstr>
      <vt:lpstr>Arial</vt:lpstr>
      <vt:lpstr>Calibri</vt:lpstr>
      <vt:lpstr>Calisto MT</vt:lpstr>
      <vt:lpstr>Cambria</vt:lpstr>
      <vt:lpstr>Times</vt:lpstr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Introduction to Default</vt:lpstr>
      <vt:lpstr>Description of Default Data</vt:lpstr>
      <vt:lpstr>Description of Default Data: Default Definition</vt:lpstr>
      <vt:lpstr>Empirical Observations and Comparisons</vt:lpstr>
      <vt:lpstr>Empirical Observations and Comparisons</vt:lpstr>
      <vt:lpstr>Empirical Observations and Comparisons</vt:lpstr>
      <vt:lpstr>Description of Framework</vt:lpstr>
      <vt:lpstr>PowerPoint Presentation</vt:lpstr>
      <vt:lpstr>Results: CLTV</vt:lpstr>
      <vt:lpstr>Results: CLTV</vt:lpstr>
      <vt:lpstr>Results: Original FICO</vt:lpstr>
      <vt:lpstr>Results: Original FICO</vt:lpstr>
      <vt:lpstr>Results: WALA</vt:lpstr>
      <vt:lpstr>Results: WALA</vt:lpstr>
      <vt:lpstr>Results: Original DTI</vt:lpstr>
      <vt:lpstr>Results: Original DTI</vt:lpstr>
      <vt:lpstr>Results: Delinquency</vt:lpstr>
      <vt:lpstr>Results: Delinquency</vt:lpstr>
      <vt:lpstr>Results: Delinquency Multipliers</vt:lpstr>
      <vt:lpstr>Results: Delinquency Multipliers</vt:lpstr>
      <vt:lpstr>Results: Delinquency Multipliers</vt:lpstr>
      <vt:lpstr>Results: Delinquency Multipliers</vt:lpstr>
      <vt:lpstr>Results: Occupancy</vt:lpstr>
      <vt:lpstr>Going Forward: CLTV Consistency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Robert Morris</cp:lastModifiedBy>
  <cp:revision>1850</cp:revision>
  <cp:lastPrinted>2015-05-06T13:01:55Z</cp:lastPrinted>
  <dcterms:created xsi:type="dcterms:W3CDTF">2011-07-07T12:37:32Z</dcterms:created>
  <dcterms:modified xsi:type="dcterms:W3CDTF">2015-06-09T15:41:20Z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