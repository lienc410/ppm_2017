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34"/>
  </p:notesMasterIdLst>
  <p:handoutMasterIdLst>
    <p:handoutMasterId r:id="rId35"/>
  </p:handoutMasterIdLst>
  <p:sldIdLst>
    <p:sldId id="433" r:id="rId16"/>
    <p:sldId id="583" r:id="rId17"/>
    <p:sldId id="547" r:id="rId18"/>
    <p:sldId id="586" r:id="rId19"/>
    <p:sldId id="589" r:id="rId20"/>
    <p:sldId id="590" r:id="rId21"/>
    <p:sldId id="591" r:id="rId22"/>
    <p:sldId id="592" r:id="rId23"/>
    <p:sldId id="614" r:id="rId24"/>
    <p:sldId id="615" r:id="rId25"/>
    <p:sldId id="616" r:id="rId26"/>
    <p:sldId id="617" r:id="rId27"/>
    <p:sldId id="600" r:id="rId28"/>
    <p:sldId id="599" r:id="rId29"/>
    <p:sldId id="602" r:id="rId30"/>
    <p:sldId id="603" r:id="rId31"/>
    <p:sldId id="604" r:id="rId32"/>
    <p:sldId id="607" r:id="rId33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12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F6600"/>
    <a:srgbClr val="FF9933"/>
    <a:srgbClr val="E519CD"/>
    <a:srgbClr val="968880"/>
    <a:srgbClr val="2E398A"/>
    <a:srgbClr val="533D2D"/>
    <a:srgbClr val="533D23"/>
    <a:srgbClr val="996633"/>
    <a:srgbClr val="8C2B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75" autoAdjust="0"/>
    <p:restoredTop sz="95014" autoAdjust="0"/>
  </p:normalViewPr>
  <p:slideViewPr>
    <p:cSldViewPr snapToGrid="0" snapToObjects="1">
      <p:cViewPr varScale="1">
        <p:scale>
          <a:sx n="120" d="100"/>
          <a:sy n="120" d="100"/>
        </p:scale>
        <p:origin x="102" y="948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12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4" y="4416438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15"/>
            <a:fld id="{1FE077EC-684A-4FD9-A6C3-9AE90D8B81D6}" type="slidenum">
              <a:rPr lang="en-US" smtClean="0"/>
              <a:pPr defTabSz="919915"/>
              <a:t>1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17547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3544587" y="6084608"/>
            <a:ext cx="6147109" cy="856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3100" dirty="0" smtClean="0">
                <a:solidFill>
                  <a:srgbClr val="968880"/>
                </a:solidFill>
                <a:latin typeface="Calibri" pitchFamily="34" charset="0"/>
              </a:rPr>
              <a:t>Agency Prepayment: Curtailment</a:t>
            </a:r>
            <a:endParaRPr lang="en-US" sz="31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May 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Outline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08760" y="2059512"/>
            <a:ext cx="7040880" cy="4893549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Introduction to Curtailment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Description of Data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Empirical Observations and Comparisons</a:t>
            </a:r>
            <a:endParaRPr lang="en-US" sz="1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Description of Framework</a:t>
            </a:r>
            <a:endParaRPr lang="en-US" sz="1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Results</a:t>
            </a:r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Spline Results</a:t>
            </a:r>
            <a:endParaRPr lang="en-US" sz="1800" dirty="0"/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Final FIX 30 Curtailment Vector</a:t>
            </a:r>
            <a:endParaRPr lang="en-US" sz="1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Going Forward</a:t>
            </a:r>
            <a:endParaRPr lang="en-US" dirty="0"/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In Progress: Non 360 Term Loans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738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Introduction to Curtailment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Standard Curtailment Definition: 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P</a:t>
            </a:r>
            <a:r>
              <a:rPr lang="en-US" sz="1400" dirty="0" smtClean="0"/>
              <a:t>rincipal reduction that is greater than the standard amortization schedule for that period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D</a:t>
            </a:r>
            <a:r>
              <a:rPr lang="en-US" sz="1400" dirty="0" smtClean="0"/>
              <a:t>oes not include Defaults, Turnover or Refinances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Curtailments Identification: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Curtailments are not explicitly identified in any data source (</a:t>
            </a:r>
            <a:r>
              <a:rPr lang="en-US" sz="1400" dirty="0" err="1" smtClean="0"/>
              <a:t>eMBS</a:t>
            </a:r>
            <a:r>
              <a:rPr lang="en-US" sz="1400" dirty="0" smtClean="0"/>
              <a:t> Loan Level data or GSE Loan Level data)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Other prepayment types (voluntary vs involuntary) are identified with a flag (GSE) but not in </a:t>
            </a:r>
            <a:r>
              <a:rPr lang="en-US" sz="1400" dirty="0" err="1" smtClean="0"/>
              <a:t>eMBS</a:t>
            </a:r>
            <a:r>
              <a:rPr lang="en-US" sz="1400" dirty="0"/>
              <a:t> </a:t>
            </a:r>
            <a:r>
              <a:rPr lang="en-US" sz="1400" dirty="0" smtClean="0"/>
              <a:t>data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Revised Curtailment Definition: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To estimate curtailments, we must restrict our definition of curtailments by excluding anything where the balance is reduced to zero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This has the drawback that we are excluding full payoffs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It has the benefit of separating curtailments from Defaults, Turnover and Refinances (as they reduce the balance to 0)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Curtailment Empirical Formulas: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GSE: abs(balance difference + scheduled principal </a:t>
            </a:r>
            <a:r>
              <a:rPr lang="en-US" sz="1400" dirty="0" err="1" smtClean="0"/>
              <a:t>pmt</a:t>
            </a:r>
            <a:r>
              <a:rPr lang="en-US" sz="1400" dirty="0" smtClean="0"/>
              <a:t> &lt; 0)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err="1" smtClean="0"/>
              <a:t>eMBS</a:t>
            </a:r>
            <a:r>
              <a:rPr lang="en-US" sz="1400" dirty="0" smtClean="0"/>
              <a:t>: 1 – current balance / scheduled amortization balance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16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Data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GSE Loan Level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~ 40 M loans with data as far back as 1999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 Age up to 180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Has indicators for Prepayment, and Default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Citi data: Table of data from a 1997 </a:t>
            </a:r>
            <a:r>
              <a:rPr lang="en-US" sz="1400" dirty="0"/>
              <a:t>paper by </a:t>
            </a:r>
            <a:r>
              <a:rPr lang="en-US" sz="1400" dirty="0" err="1" smtClean="0"/>
              <a:t>Qiang</a:t>
            </a:r>
            <a:r>
              <a:rPr lang="en-US" sz="1400" dirty="0" smtClean="0"/>
              <a:t> FU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~ 25 K loans from Citicorp Mortgage, Inc. (all 30 Year Fixed)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Origination years from </a:t>
            </a:r>
            <a:r>
              <a:rPr lang="en-US" sz="1400" dirty="0"/>
              <a:t>1967-1995 and </a:t>
            </a:r>
            <a:r>
              <a:rPr lang="en-US" sz="1400" dirty="0" smtClean="0"/>
              <a:t>observed curtailments </a:t>
            </a:r>
            <a:r>
              <a:rPr lang="en-US" sz="1400" dirty="0"/>
              <a:t>over a period of </a:t>
            </a:r>
            <a:r>
              <a:rPr lang="en-US" sz="1400" dirty="0" smtClean="0"/>
              <a:t>21 </a:t>
            </a:r>
            <a:r>
              <a:rPr lang="en-US" sz="1400" dirty="0"/>
              <a:t>months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This serves as our </a:t>
            </a:r>
            <a:r>
              <a:rPr lang="en-US" sz="1400" dirty="0" smtClean="0"/>
              <a:t>reference for late maturity curtailments, which can be significant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 smtClean="0"/>
              <a:t>eMBS</a:t>
            </a:r>
            <a:r>
              <a:rPr lang="en-US" sz="1400" dirty="0" smtClean="0"/>
              <a:t> Loan Level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~ 35 M loans with data as far back as 2006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 </a:t>
            </a:r>
            <a:r>
              <a:rPr lang="en-US" sz="1400" dirty="0"/>
              <a:t>Age </a:t>
            </a:r>
            <a:r>
              <a:rPr lang="en-US" sz="1400" dirty="0" smtClean="0"/>
              <a:t>up to 360 (* sparse data for very seasoned loans)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 smtClean="0"/>
              <a:t>eMBS</a:t>
            </a:r>
            <a:r>
              <a:rPr lang="en-US" sz="1400" dirty="0" smtClean="0"/>
              <a:t> Pool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~ 800 K pools with data as far back as 1994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 Age up to 360 (* less sparse than loan level data)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196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4"/>
          <p:cNvSpPr txBox="1">
            <a:spLocks/>
          </p:cNvSpPr>
          <p:nvPr/>
        </p:nvSpPr>
        <p:spPr bwMode="auto">
          <a:xfrm>
            <a:off x="970058" y="1865010"/>
            <a:ext cx="7579581" cy="989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110000"/>
              </a:spcBef>
              <a:spcAft>
                <a:spcPct val="0"/>
              </a:spcAft>
              <a:buClr>
                <a:schemeClr val="tx2"/>
              </a:buClr>
              <a:buNone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235" indent="0" algn="ctr" rtl="0" eaLnBrk="0" fontAlgn="base" hangingPunct="0">
              <a:spcBef>
                <a:spcPct val="47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marL="1018472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None/>
              <a:defRPr sz="1200">
                <a:solidFill>
                  <a:schemeClr val="tx1"/>
                </a:solidFill>
                <a:latin typeface="+mn-lt"/>
              </a:defRPr>
            </a:lvl3pPr>
            <a:lvl4pPr marL="1527709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36945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4618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6pPr>
            <a:lvl7pPr marL="3055417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7pPr>
            <a:lvl8pPr marL="3564653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8pPr>
            <a:lvl9pPr marL="4073887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kern="0" dirty="0" smtClean="0"/>
              <a:t>Partial Curtailment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kern="0" dirty="0" smtClean="0"/>
              <a:t>Occurs ~ 9 </a:t>
            </a:r>
            <a:r>
              <a:rPr lang="en-US" sz="1400" kern="0" dirty="0"/>
              <a:t>t</a:t>
            </a:r>
            <a:r>
              <a:rPr lang="en-US" sz="1400" kern="0" dirty="0" smtClean="0"/>
              <a:t>imes in the life of a loan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kern="0" dirty="0"/>
              <a:t>Average </a:t>
            </a:r>
            <a:r>
              <a:rPr lang="en-US" sz="1400" kern="0" dirty="0" smtClean="0"/>
              <a:t>Curtailment </a:t>
            </a:r>
            <a:r>
              <a:rPr lang="en-US" sz="1400" kern="0" dirty="0"/>
              <a:t>amount is </a:t>
            </a:r>
            <a:r>
              <a:rPr lang="en-US" sz="1400" kern="0" dirty="0" smtClean="0"/>
              <a:t>~ $3,100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729999"/>
              </p:ext>
            </p:extLst>
          </p:nvPr>
        </p:nvGraphicFramePr>
        <p:xfrm>
          <a:off x="897127" y="3198182"/>
          <a:ext cx="8264146" cy="3291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751"/>
                <a:gridCol w="806601"/>
                <a:gridCol w="857401"/>
                <a:gridCol w="1206651"/>
                <a:gridCol w="1295551"/>
                <a:gridCol w="1066951"/>
                <a:gridCol w="1039964"/>
                <a:gridCol w="1254276"/>
              </a:tblGrid>
              <a:tr h="1645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Loan Count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Avg Balance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Count Curtailment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Amount Curtailment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Avg # Curtailment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% Bal Curtailment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Avg Curtail Amount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15,563,076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115,336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135,717,582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48,366,768,722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    8.7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0.2%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3,108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9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WALA (Year)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Loan Count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Avg Balance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Count Curtailment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Amount Curtailment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% Curtailment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% Bal Curtailment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Avg Curtail Amount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15,664,852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176,093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15,750,700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6,676,899,030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21.0%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0.242%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2,029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14,194,272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169,632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31,843,233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11,970,215,809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21.6%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0.497%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3,906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10,402,492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162,021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24,164,141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8,782,407,996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0.521%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3,831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7,883,737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154,810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                    18,413,614 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6,222,090,684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22.3%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0.510%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3,541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5,844,150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147,804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13,718,693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4,473,243,048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22.4%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0.518%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3,414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4,252,594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139,520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10,197,011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3,230,010,612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22.5%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0.544%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3,382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3,263,579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132,014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7,714,931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2,520,913,937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22.6%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0.585%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3,419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2,380,627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122,951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5,523,412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1,830,669,331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22.7%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0.625%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3,395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1,671,904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113,144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3,778,787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1,229,958,493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22.7%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0.650%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3,236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1,069,439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102,567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2,372,588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768,831,834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22.7%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0.701%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3,170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647,065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92,112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1,303,343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399,174,393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22.8%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0.670%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2,707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275,059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77,348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516,412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145,361,073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22.6%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0.683%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2,344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126,231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69,468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235,275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64,614,703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22.5%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0.737%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2,274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53,508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64,271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118,193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33,007,555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22.7%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0.960%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2,722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34,007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61,761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  66,233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19,120,571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22.7%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0.910%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2,479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4,452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59,866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     1,016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    249,652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22.8%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0.094%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 $                                 246 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012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</a:t>
            </a:r>
            <a:r>
              <a:rPr lang="en-US" sz="2400" b="0" dirty="0" smtClean="0">
                <a:solidFill>
                  <a:schemeClr val="tx1"/>
                </a:solidFill>
              </a:rPr>
              <a:t>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1375417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Calculating Curtailments (GSE</a:t>
            </a:r>
            <a:r>
              <a:rPr lang="en-US" sz="1400" dirty="0"/>
              <a:t>, </a:t>
            </a:r>
            <a:r>
              <a:rPr lang="en-US" sz="1400" dirty="0" err="1"/>
              <a:t>eMBS</a:t>
            </a:r>
            <a:r>
              <a:rPr lang="en-US" sz="1400" dirty="0"/>
              <a:t>):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Using a matching algorithm we pulled 6.5 million loans from the GSE and </a:t>
            </a:r>
            <a:r>
              <a:rPr lang="en-US" sz="1400" dirty="0" err="1" smtClean="0"/>
              <a:t>eMBS</a:t>
            </a:r>
            <a:r>
              <a:rPr lang="en-US" sz="1400" dirty="0" smtClean="0"/>
              <a:t> loan level data tables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Using different calculation methods we demonstrate that the observed curtailments are comparable between the two sources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3132872"/>
            <a:ext cx="8615957" cy="40471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8063" y="4606907"/>
            <a:ext cx="6742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/>
              <a:t>GSE is Freddie data only as the matching algorithm is much more robust</a:t>
            </a:r>
            <a:endParaRPr lang="en-US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63113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</a:t>
            </a:r>
            <a:r>
              <a:rPr lang="en-US" sz="2400" b="0" dirty="0" smtClean="0">
                <a:solidFill>
                  <a:schemeClr val="tx1"/>
                </a:solidFill>
              </a:rPr>
              <a:t>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3"/>
            <a:ext cx="7895645" cy="1264600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Observations from the Data </a:t>
            </a:r>
            <a:r>
              <a:rPr lang="en-US" sz="1400" dirty="0" smtClean="0"/>
              <a:t>(CITI, </a:t>
            </a:r>
            <a:r>
              <a:rPr lang="en-US" sz="1400" dirty="0"/>
              <a:t>GSE, </a:t>
            </a:r>
            <a:r>
              <a:rPr lang="en-US" sz="1400" dirty="0" err="1"/>
              <a:t>eMBS</a:t>
            </a:r>
            <a:r>
              <a:rPr lang="en-US" sz="1400" dirty="0"/>
              <a:t>):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Curtailments are very low and stable for the first </a:t>
            </a:r>
            <a:r>
              <a:rPr lang="en-US" sz="1400" dirty="0" smtClean="0"/>
              <a:t>12-15 </a:t>
            </a:r>
            <a:r>
              <a:rPr lang="en-US" sz="1400" dirty="0"/>
              <a:t>years of the life of the loans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next 10-15 years are still stable, but curtailments become more significant @1-2 CPR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</a:t>
            </a:r>
            <a:r>
              <a:rPr lang="en-US" sz="1400" dirty="0"/>
              <a:t>last </a:t>
            </a:r>
            <a:r>
              <a:rPr lang="en-US" sz="1400" dirty="0" smtClean="0"/>
              <a:t>3 </a:t>
            </a:r>
            <a:r>
              <a:rPr lang="en-US" sz="1400" dirty="0"/>
              <a:t>years sees a sharp increase in curtailments as the borrowers seek to </a:t>
            </a:r>
            <a:r>
              <a:rPr lang="en-US" sz="1400" dirty="0" smtClean="0"/>
              <a:t>eliminate debt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3" y="3032295"/>
            <a:ext cx="8615957" cy="417953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10177" y="5208669"/>
            <a:ext cx="4238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/>
              <a:t>The </a:t>
            </a:r>
            <a:r>
              <a:rPr lang="en-US" sz="1400" dirty="0" err="1" smtClean="0"/>
              <a:t>eMBS</a:t>
            </a:r>
            <a:r>
              <a:rPr lang="en-US" sz="1400" dirty="0" smtClean="0"/>
              <a:t> data is sparse after WALA &gt; 250</a:t>
            </a: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1121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</a:t>
            </a:r>
            <a:r>
              <a:rPr lang="en-US" sz="2400" b="0" dirty="0" smtClean="0">
                <a:solidFill>
                  <a:schemeClr val="tx1"/>
                </a:solidFill>
              </a:rPr>
              <a:t>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3"/>
            <a:ext cx="7895645" cy="1470860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FHL </a:t>
            </a:r>
            <a:r>
              <a:rPr lang="en-US" sz="1400" dirty="0" err="1" smtClean="0"/>
              <a:t>eMBS</a:t>
            </a:r>
            <a:r>
              <a:rPr lang="en-US" sz="1400" dirty="0" smtClean="0"/>
              <a:t> data vs CITI data</a:t>
            </a: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Freddie data has loan ages up to 360 months, so we use that data to calculate curtailments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data is very sparse for the high WALA loans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Hence we group the data into Yearly Loan Age buckets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This is easily comparable with the CITI data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3" y="3226095"/>
            <a:ext cx="8615957" cy="39777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8115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</a:t>
            </a:r>
            <a:r>
              <a:rPr lang="en-US" sz="2400" b="0" dirty="0" smtClean="0">
                <a:solidFill>
                  <a:schemeClr val="tx1"/>
                </a:solidFill>
              </a:rPr>
              <a:t>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3"/>
            <a:ext cx="7895645" cy="985830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Curtailments Sensitivities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Curtailments are sensitive to Loan Attributes: FICO, LTV, DTI, and Loan Size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sensitivity only seems significant for the first </a:t>
            </a:r>
            <a:r>
              <a:rPr lang="en-US" sz="1400" dirty="0" smtClean="0"/>
              <a:t>10-15 </a:t>
            </a:r>
            <a:r>
              <a:rPr lang="en-US" sz="1400" dirty="0" smtClean="0"/>
              <a:t>years the loan (WALA &lt;= </a:t>
            </a:r>
            <a:r>
              <a:rPr lang="en-US" sz="1400" dirty="0" smtClean="0"/>
              <a:t>180)</a:t>
            </a: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2708915"/>
            <a:ext cx="8615957" cy="45023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36760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865009"/>
            <a:ext cx="8549640" cy="52937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98544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3" y="1801190"/>
            <a:ext cx="8613654" cy="5370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2694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807186"/>
            <a:ext cx="8549640" cy="53807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36478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and Comparisons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3"/>
            <a:ext cx="7895645" cy="1200515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Final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We make use of the Citi Curtailment data along with the FHL Curtailment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Additionally, we pull in the combined FHA/FNMA Pool level CPR to help capture the full payoffs that we miss from our restrictive definition of curtailment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949933"/>
            <a:ext cx="8549640" cy="42231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8220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Framework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We use R to combine and smooth the curtailment data just described into a finalized Fixed 30 </a:t>
            </a:r>
            <a:r>
              <a:rPr lang="en-US" sz="1400" dirty="0" err="1" smtClean="0"/>
              <a:t>Yr</a:t>
            </a:r>
            <a:r>
              <a:rPr lang="en-US" sz="1400" dirty="0" smtClean="0"/>
              <a:t> curtailment vector</a:t>
            </a:r>
          </a:p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Curtailment is assumed to be a monotonically increasing function of </a:t>
            </a:r>
            <a:r>
              <a:rPr lang="en-US" sz="1400" dirty="0" smtClean="0"/>
              <a:t>WALA</a:t>
            </a:r>
          </a:p>
          <a:p>
            <a:pPr marL="794987" lvl="2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It has no sensitivity to other loan attributes?</a:t>
            </a:r>
            <a:endParaRPr lang="en-US" sz="1400" dirty="0"/>
          </a:p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Care is taken to choose monotonically increasing data points to facilitate this assumption</a:t>
            </a:r>
          </a:p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Lastly, we make use of monotonically increasing spline functions to provide us with a smoothed fit to the data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110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349727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Smoothed Curtailment curve from Full and Partial Curtailment curves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2186609"/>
            <a:ext cx="8615957" cy="497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709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349727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Comparison of Pool CPR and Estimated Curtailment CPR Curve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2186608"/>
            <a:ext cx="8615957" cy="5009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1849" y="3539590"/>
            <a:ext cx="3503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/>
              <a:t>Pool CPR consists of </a:t>
            </a:r>
            <a:r>
              <a:rPr lang="en-US" sz="1400" dirty="0" err="1" smtClean="0"/>
              <a:t>Refis</a:t>
            </a:r>
            <a:r>
              <a:rPr lang="en-US" sz="1400" dirty="0" smtClean="0"/>
              <a:t>, Turnover, Defaults and Curtailment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19926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349727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Comparison of Pool CPR and </a:t>
            </a:r>
            <a:r>
              <a:rPr lang="en-US" sz="1400" dirty="0" smtClean="0"/>
              <a:t>Pool CPR less Estimated Curtailment</a:t>
            </a:r>
            <a:endParaRPr lang="en-US" sz="14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2186609"/>
            <a:ext cx="8615957" cy="500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025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Going Forward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Loans / Pools with Term = 180</a:t>
            </a:r>
          </a:p>
          <a:p>
            <a:pPr marL="794987" lvl="2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1" y="2184401"/>
            <a:ext cx="8549640" cy="498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57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72698</TotalTime>
  <Words>1097</Words>
  <Application>Microsoft Office PowerPoint</Application>
  <PresentationFormat>Custom</PresentationFormat>
  <Paragraphs>253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18</vt:i4>
      </vt:variant>
    </vt:vector>
  </HeadingPairs>
  <TitlesOfParts>
    <vt:vector size="39" baseType="lpstr">
      <vt:lpstr>Arial</vt:lpstr>
      <vt:lpstr>Calibri</vt:lpstr>
      <vt:lpstr>Calisto MT</vt:lpstr>
      <vt:lpstr>Cambria</vt:lpstr>
      <vt:lpstr>Times</vt:lpstr>
      <vt:lpstr>Times New Roman</vt:lpstr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Outline</vt:lpstr>
      <vt:lpstr>Introduction to Curtailment</vt:lpstr>
      <vt:lpstr>Description of Data</vt:lpstr>
      <vt:lpstr>Empirical Observations and Comparisons</vt:lpstr>
      <vt:lpstr>Empirical Observations and Comparisons</vt:lpstr>
      <vt:lpstr>Empirical Observations and Comparisons</vt:lpstr>
      <vt:lpstr>Empirical Observations and Comparisons</vt:lpstr>
      <vt:lpstr>Empirical Observations and Comparisons</vt:lpstr>
      <vt:lpstr>Empirical Observations and Comparisons</vt:lpstr>
      <vt:lpstr>Empirical Observations and Comparisons</vt:lpstr>
      <vt:lpstr>Empirical Observations and Comparisons</vt:lpstr>
      <vt:lpstr>Empirical Observations and Comparisons</vt:lpstr>
      <vt:lpstr>Description of Framework</vt:lpstr>
      <vt:lpstr>Results</vt:lpstr>
      <vt:lpstr>Results</vt:lpstr>
      <vt:lpstr>Results</vt:lpstr>
      <vt:lpstr>Going Forward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Robert Morris</cp:lastModifiedBy>
  <cp:revision>1812</cp:revision>
  <cp:lastPrinted>2015-05-06T13:01:55Z</cp:lastPrinted>
  <dcterms:created xsi:type="dcterms:W3CDTF">2011-07-07T12:37:32Z</dcterms:created>
  <dcterms:modified xsi:type="dcterms:W3CDTF">2015-05-07T19:19:25Z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