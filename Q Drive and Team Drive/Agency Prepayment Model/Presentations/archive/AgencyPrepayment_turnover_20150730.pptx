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9"/>
  </p:notesMasterIdLst>
  <p:handoutMasterIdLst>
    <p:handoutMasterId r:id="rId40"/>
  </p:handoutMasterIdLst>
  <p:sldIdLst>
    <p:sldId id="433" r:id="rId16"/>
    <p:sldId id="583" r:id="rId17"/>
    <p:sldId id="547" r:id="rId18"/>
    <p:sldId id="586" r:id="rId19"/>
    <p:sldId id="618" r:id="rId20"/>
    <p:sldId id="644" r:id="rId21"/>
    <p:sldId id="590" r:id="rId22"/>
    <p:sldId id="647" r:id="rId23"/>
    <p:sldId id="648" r:id="rId24"/>
    <p:sldId id="649" r:id="rId25"/>
    <p:sldId id="650" r:id="rId26"/>
    <p:sldId id="653" r:id="rId27"/>
    <p:sldId id="621" r:id="rId28"/>
    <p:sldId id="622" r:id="rId29"/>
    <p:sldId id="655" r:id="rId30"/>
    <p:sldId id="671" r:id="rId31"/>
    <p:sldId id="670" r:id="rId32"/>
    <p:sldId id="673" r:id="rId33"/>
    <p:sldId id="672" r:id="rId34"/>
    <p:sldId id="675" r:id="rId35"/>
    <p:sldId id="674" r:id="rId36"/>
    <p:sldId id="676" r:id="rId37"/>
    <p:sldId id="652" r:id="rId38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2" autoAdjust="0"/>
    <p:restoredTop sz="95014" autoAdjust="0"/>
  </p:normalViewPr>
  <p:slideViewPr>
    <p:cSldViewPr snapToGrid="0" snapToObjects="1">
      <p:cViewPr varScale="1">
        <p:scale>
          <a:sx n="132" d="100"/>
          <a:sy n="132" d="100"/>
        </p:scale>
        <p:origin x="132" y="8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dev\cello-it-dev\trunk\Research\AgencyPrepayment\Baton\turnover\Turnover_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dev\cello-it-dev\trunk\Research\AgencyPrepayment\Baton\turnover\Turnover_analysi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dev\cello-it-dev\trunk\Research\AgencyPrepayment\Baton\turnover\Turnover_analysi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dev\cello-it-dev\trunk\Research\AgencyPrepayment\Baton\turnover\Turnover_analysi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dev\cello-it-dev\trunk\Research\AgencyPrepayment\Baton\turnover\Turnover_distribution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[Turnover_analysis.xlsx]GSE Lock-In Graph!PivotTable7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CPR by WALA split</a:t>
            </a:r>
            <a:r>
              <a:rPr lang="en-US" baseline="0" dirty="0" smtClean="0"/>
              <a:t> by Refinance Incentive Buckets</a:t>
            </a:r>
            <a:endParaRPr lang="en-US" dirty="0"/>
          </a:p>
        </c:rich>
      </c:tx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1" i="0" u="none" strike="noStrike" kern="120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3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3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8891D5"/>
            </a:solidFill>
            <a:round/>
          </a:ln>
          <a:effectLst/>
        </c:spPr>
        <c:marker>
          <c:symbol val="circle"/>
          <c:size val="17"/>
          <c:spPr>
            <a:solidFill>
              <a:srgbClr val="8891D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>
              <a:alpha val="85000"/>
            </a:schemeClr>
          </a:solidFill>
          <a:ln w="31750" cap="rnd" cmpd="sng" algn="ctr">
            <a:solidFill>
              <a:srgbClr val="2E398A"/>
            </a:solidFill>
            <a:round/>
          </a:ln>
          <a:effectLst/>
        </c:spPr>
        <c:marker>
          <c:symbol val="circle"/>
          <c:size val="17"/>
          <c:spPr>
            <a:solidFill>
              <a:srgbClr val="2E398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3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5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'GSE Lock-In Graph'!$B$1:$B$2</c:f>
              <c:strCache>
                <c:ptCount val="1"/>
                <c:pt idx="0">
                  <c:v>-225</c:v>
                </c:pt>
              </c:strCache>
            </c:strRef>
          </c:tx>
          <c:spPr>
            <a:ln w="31750" cap="rnd">
              <a:solidFill>
                <a:srgbClr val="8891D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8891D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'GSE Lock-In Graph'!$A$3:$A$16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'GSE Lock-In Graph'!$B$3:$B$16</c:f>
              <c:numCache>
                <c:formatCode>General</c:formatCode>
                <c:ptCount val="13"/>
                <c:pt idx="0">
                  <c:v>3.75</c:v>
                </c:pt>
                <c:pt idx="1">
                  <c:v>2.65</c:v>
                </c:pt>
                <c:pt idx="2">
                  <c:v>0.43</c:v>
                </c:pt>
                <c:pt idx="3">
                  <c:v>0.27</c:v>
                </c:pt>
                <c:pt idx="4">
                  <c:v>0.37</c:v>
                </c:pt>
                <c:pt idx="5">
                  <c:v>0.95</c:v>
                </c:pt>
                <c:pt idx="6">
                  <c:v>0.82</c:v>
                </c:pt>
                <c:pt idx="7">
                  <c:v>0.54</c:v>
                </c:pt>
                <c:pt idx="8">
                  <c:v>0.74</c:v>
                </c:pt>
                <c:pt idx="9">
                  <c:v>1.28</c:v>
                </c:pt>
                <c:pt idx="10">
                  <c:v>1.1000000000000001</c:v>
                </c:pt>
                <c:pt idx="11">
                  <c:v>1.59</c:v>
                </c:pt>
                <c:pt idx="1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'GSE Lock-In Graph'!$C$1:$C$2</c:f>
              <c:strCache>
                <c:ptCount val="1"/>
                <c:pt idx="0">
                  <c:v>-75</c:v>
                </c:pt>
              </c:strCache>
            </c:strRef>
          </c:tx>
          <c:spPr>
            <a:ln w="31750" cap="rnd">
              <a:solidFill>
                <a:srgbClr val="2E398A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2E398A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'GSE Lock-In Graph'!$A$3:$A$16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'GSE Lock-In Graph'!$C$3:$C$16</c:f>
              <c:numCache>
                <c:formatCode>General</c:formatCode>
                <c:ptCount val="13"/>
                <c:pt idx="0">
                  <c:v>3.45</c:v>
                </c:pt>
                <c:pt idx="1">
                  <c:v>6.58</c:v>
                </c:pt>
                <c:pt idx="2">
                  <c:v>7.55</c:v>
                </c:pt>
                <c:pt idx="3">
                  <c:v>7.1</c:v>
                </c:pt>
                <c:pt idx="4">
                  <c:v>5.66</c:v>
                </c:pt>
                <c:pt idx="5">
                  <c:v>5.24</c:v>
                </c:pt>
                <c:pt idx="6">
                  <c:v>2.72</c:v>
                </c:pt>
                <c:pt idx="7">
                  <c:v>3.49</c:v>
                </c:pt>
                <c:pt idx="8">
                  <c:v>2.38</c:v>
                </c:pt>
                <c:pt idx="9">
                  <c:v>5.97</c:v>
                </c:pt>
                <c:pt idx="10">
                  <c:v>2.5099999999999998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'GSE Lock-In Graph'!$D$1:$D$2</c:f>
              <c:strCache>
                <c:ptCount val="1"/>
                <c:pt idx="0">
                  <c:v>-50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'GSE Lock-In Graph'!$A$3:$A$16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'GSE Lock-In Graph'!$D$3:$D$16</c:f>
              <c:numCache>
                <c:formatCode>General</c:formatCode>
                <c:ptCount val="13"/>
                <c:pt idx="0">
                  <c:v>3.79</c:v>
                </c:pt>
                <c:pt idx="1">
                  <c:v>7.42</c:v>
                </c:pt>
                <c:pt idx="2">
                  <c:v>8.15</c:v>
                </c:pt>
                <c:pt idx="3">
                  <c:v>7.68</c:v>
                </c:pt>
                <c:pt idx="4">
                  <c:v>6.43</c:v>
                </c:pt>
                <c:pt idx="5">
                  <c:v>5.84</c:v>
                </c:pt>
                <c:pt idx="6">
                  <c:v>4.49</c:v>
                </c:pt>
                <c:pt idx="7">
                  <c:v>4.68</c:v>
                </c:pt>
                <c:pt idx="8">
                  <c:v>2.14</c:v>
                </c:pt>
                <c:pt idx="9">
                  <c:v>3.4</c:v>
                </c:pt>
                <c:pt idx="10">
                  <c:v>4.63</c:v>
                </c:pt>
                <c:pt idx="11">
                  <c:v>6.47</c:v>
                </c:pt>
                <c:pt idx="12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'GSE Lock-In Graph'!$E$1:$E$2</c:f>
              <c:strCache>
                <c:ptCount val="1"/>
                <c:pt idx="0">
                  <c:v>-25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'GSE Lock-In Graph'!$A$3:$A$16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'GSE Lock-In Graph'!$E$3:$E$16</c:f>
              <c:numCache>
                <c:formatCode>General</c:formatCode>
                <c:ptCount val="13"/>
                <c:pt idx="0">
                  <c:v>4.75</c:v>
                </c:pt>
                <c:pt idx="1">
                  <c:v>8.98</c:v>
                </c:pt>
                <c:pt idx="2">
                  <c:v>9.44</c:v>
                </c:pt>
                <c:pt idx="3">
                  <c:v>8.52</c:v>
                </c:pt>
                <c:pt idx="4">
                  <c:v>7.63</c:v>
                </c:pt>
                <c:pt idx="5">
                  <c:v>7.12</c:v>
                </c:pt>
                <c:pt idx="6">
                  <c:v>7.18</c:v>
                </c:pt>
                <c:pt idx="7">
                  <c:v>5.38</c:v>
                </c:pt>
                <c:pt idx="8">
                  <c:v>4.1100000000000003</c:v>
                </c:pt>
                <c:pt idx="9">
                  <c:v>4.76</c:v>
                </c:pt>
                <c:pt idx="10">
                  <c:v>1.98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'GSE Lock-In Graph'!$F$1:$F$2</c:f>
              <c:strCache>
                <c:ptCount val="1"/>
                <c:pt idx="0">
                  <c:v>&gt;50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'GSE Lock-In Graph'!$A$3:$A$16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14</c:v>
                </c:pt>
                <c:pt idx="12">
                  <c:v>16</c:v>
                </c:pt>
              </c:strCache>
            </c:strRef>
          </c:cat>
          <c:val>
            <c:numRef>
              <c:f>'GSE Lock-In Graph'!$F$3:$F$16</c:f>
              <c:numCache>
                <c:formatCode>General</c:formatCode>
                <c:ptCount val="13"/>
                <c:pt idx="0">
                  <c:v>33.619999999999997</c:v>
                </c:pt>
                <c:pt idx="1">
                  <c:v>37.39</c:v>
                </c:pt>
                <c:pt idx="2">
                  <c:v>31.1</c:v>
                </c:pt>
                <c:pt idx="3">
                  <c:v>29.62</c:v>
                </c:pt>
                <c:pt idx="4">
                  <c:v>25.25</c:v>
                </c:pt>
                <c:pt idx="5">
                  <c:v>24.04</c:v>
                </c:pt>
                <c:pt idx="6">
                  <c:v>25.28</c:v>
                </c:pt>
                <c:pt idx="7">
                  <c:v>26.76</c:v>
                </c:pt>
                <c:pt idx="8">
                  <c:v>25.69</c:v>
                </c:pt>
                <c:pt idx="9">
                  <c:v>26.74</c:v>
                </c:pt>
                <c:pt idx="10">
                  <c:v>20.6</c:v>
                </c:pt>
                <c:pt idx="11">
                  <c:v>16.11</c:v>
                </c:pt>
                <c:pt idx="12">
                  <c:v>16.34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8782872"/>
        <c:axId val="227107920"/>
      </c:lineChart>
      <c:catAx>
        <c:axId val="168782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WALA (YEARS)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107920"/>
        <c:crosses val="autoZero"/>
        <c:auto val="1"/>
        <c:lblAlgn val="ctr"/>
        <c:lblOffset val="100"/>
        <c:noMultiLvlLbl val="0"/>
      </c:catAx>
      <c:valAx>
        <c:axId val="22710792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CPR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82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 smtClean="0"/>
              <a:t>Refinance</a:t>
            </a:r>
            <a:r>
              <a:rPr lang="en-US" sz="1800" b="1" baseline="0" dirty="0" smtClean="0"/>
              <a:t> Incentive Difference by Lag</a:t>
            </a:r>
            <a:endParaRPr lang="en-US" sz="18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'WAC vs PMMS'!$J$1</c:f>
              <c:strCache>
                <c:ptCount val="1"/>
                <c:pt idx="0">
                  <c:v>Diff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'WAC vs PMMS'!$I$2:$I$67</c:f>
              <c:numCache>
                <c:formatCode>m/d/yyyy</c:formatCode>
                <c:ptCount val="66"/>
                <c:pt idx="0">
                  <c:v>40179</c:v>
                </c:pt>
                <c:pt idx="1">
                  <c:v>40210</c:v>
                </c:pt>
                <c:pt idx="2">
                  <c:v>40238</c:v>
                </c:pt>
                <c:pt idx="3">
                  <c:v>40269</c:v>
                </c:pt>
                <c:pt idx="4">
                  <c:v>40299</c:v>
                </c:pt>
                <c:pt idx="5">
                  <c:v>40330</c:v>
                </c:pt>
                <c:pt idx="6">
                  <c:v>40360</c:v>
                </c:pt>
                <c:pt idx="7">
                  <c:v>40391</c:v>
                </c:pt>
                <c:pt idx="8">
                  <c:v>40422</c:v>
                </c:pt>
                <c:pt idx="9">
                  <c:v>40452</c:v>
                </c:pt>
                <c:pt idx="10">
                  <c:v>40483</c:v>
                </c:pt>
                <c:pt idx="11">
                  <c:v>40513</c:v>
                </c:pt>
                <c:pt idx="12">
                  <c:v>40544</c:v>
                </c:pt>
                <c:pt idx="13">
                  <c:v>40575</c:v>
                </c:pt>
                <c:pt idx="14">
                  <c:v>40603</c:v>
                </c:pt>
                <c:pt idx="15">
                  <c:v>40634</c:v>
                </c:pt>
                <c:pt idx="16">
                  <c:v>40664</c:v>
                </c:pt>
                <c:pt idx="17">
                  <c:v>40695</c:v>
                </c:pt>
                <c:pt idx="18">
                  <c:v>40725</c:v>
                </c:pt>
                <c:pt idx="19">
                  <c:v>40756</c:v>
                </c:pt>
                <c:pt idx="20">
                  <c:v>40787</c:v>
                </c:pt>
                <c:pt idx="21">
                  <c:v>40817</c:v>
                </c:pt>
                <c:pt idx="22">
                  <c:v>40848</c:v>
                </c:pt>
                <c:pt idx="23">
                  <c:v>40878</c:v>
                </c:pt>
                <c:pt idx="24">
                  <c:v>40909</c:v>
                </c:pt>
                <c:pt idx="25">
                  <c:v>40940</c:v>
                </c:pt>
                <c:pt idx="26">
                  <c:v>40969</c:v>
                </c:pt>
                <c:pt idx="27">
                  <c:v>41000</c:v>
                </c:pt>
                <c:pt idx="28">
                  <c:v>41030</c:v>
                </c:pt>
                <c:pt idx="29">
                  <c:v>41061</c:v>
                </c:pt>
                <c:pt idx="30">
                  <c:v>41091</c:v>
                </c:pt>
                <c:pt idx="31">
                  <c:v>41122</c:v>
                </c:pt>
                <c:pt idx="32">
                  <c:v>41153</c:v>
                </c:pt>
                <c:pt idx="33">
                  <c:v>41183</c:v>
                </c:pt>
                <c:pt idx="34">
                  <c:v>41214</c:v>
                </c:pt>
                <c:pt idx="35">
                  <c:v>41244</c:v>
                </c:pt>
                <c:pt idx="36">
                  <c:v>41275</c:v>
                </c:pt>
                <c:pt idx="37">
                  <c:v>41306</c:v>
                </c:pt>
                <c:pt idx="38">
                  <c:v>41334</c:v>
                </c:pt>
                <c:pt idx="39">
                  <c:v>41365</c:v>
                </c:pt>
                <c:pt idx="40">
                  <c:v>41395</c:v>
                </c:pt>
                <c:pt idx="41">
                  <c:v>41426</c:v>
                </c:pt>
                <c:pt idx="42">
                  <c:v>41456</c:v>
                </c:pt>
                <c:pt idx="43">
                  <c:v>41487</c:v>
                </c:pt>
                <c:pt idx="44">
                  <c:v>41518</c:v>
                </c:pt>
                <c:pt idx="45">
                  <c:v>41548</c:v>
                </c:pt>
                <c:pt idx="46">
                  <c:v>41579</c:v>
                </c:pt>
                <c:pt idx="47">
                  <c:v>41609</c:v>
                </c:pt>
                <c:pt idx="48">
                  <c:v>41640</c:v>
                </c:pt>
                <c:pt idx="49">
                  <c:v>41671</c:v>
                </c:pt>
                <c:pt idx="50">
                  <c:v>41699</c:v>
                </c:pt>
                <c:pt idx="51">
                  <c:v>41730</c:v>
                </c:pt>
                <c:pt idx="52">
                  <c:v>41760</c:v>
                </c:pt>
                <c:pt idx="53">
                  <c:v>41791</c:v>
                </c:pt>
                <c:pt idx="54">
                  <c:v>41821</c:v>
                </c:pt>
                <c:pt idx="55">
                  <c:v>41852</c:v>
                </c:pt>
                <c:pt idx="56">
                  <c:v>41883</c:v>
                </c:pt>
                <c:pt idx="57">
                  <c:v>41913</c:v>
                </c:pt>
                <c:pt idx="58">
                  <c:v>41944</c:v>
                </c:pt>
                <c:pt idx="59">
                  <c:v>41974</c:v>
                </c:pt>
                <c:pt idx="60">
                  <c:v>42005</c:v>
                </c:pt>
                <c:pt idx="61">
                  <c:v>42036</c:v>
                </c:pt>
                <c:pt idx="62">
                  <c:v>42064</c:v>
                </c:pt>
                <c:pt idx="63">
                  <c:v>42095</c:v>
                </c:pt>
                <c:pt idx="64">
                  <c:v>42125</c:v>
                </c:pt>
                <c:pt idx="65">
                  <c:v>42156</c:v>
                </c:pt>
              </c:numCache>
            </c:numRef>
          </c:cat>
          <c:val>
            <c:numRef>
              <c:f>'WAC vs PMMS'!$J$2:$J$67</c:f>
              <c:numCache>
                <c:formatCode>General</c:formatCode>
                <c:ptCount val="66"/>
                <c:pt idx="0">
                  <c:v>8.6483404783679774E-2</c:v>
                </c:pt>
                <c:pt idx="1">
                  <c:v>0.16479094413066964</c:v>
                </c:pt>
                <c:pt idx="2">
                  <c:v>0.23495872971328957</c:v>
                </c:pt>
                <c:pt idx="3">
                  <c:v>0.13186861266227989</c:v>
                </c:pt>
                <c:pt idx="4">
                  <c:v>0.34925139103403957</c:v>
                </c:pt>
                <c:pt idx="5">
                  <c:v>0.54612923377646982</c:v>
                </c:pt>
                <c:pt idx="6">
                  <c:v>0.55071630424358009</c:v>
                </c:pt>
                <c:pt idx="7">
                  <c:v>0.51942650736449014</c:v>
                </c:pt>
                <c:pt idx="8">
                  <c:v>0.43294250215070029</c:v>
                </c:pt>
                <c:pt idx="9">
                  <c:v>0.41025852891247983</c:v>
                </c:pt>
                <c:pt idx="10">
                  <c:v>0.25848909345232052</c:v>
                </c:pt>
                <c:pt idx="11">
                  <c:v>-0.21288843431029036</c:v>
                </c:pt>
                <c:pt idx="12">
                  <c:v>-0.1841003348615402</c:v>
                </c:pt>
                <c:pt idx="13">
                  <c:v>-0.13359914773949022</c:v>
                </c:pt>
                <c:pt idx="14">
                  <c:v>0.14910018298829986</c:v>
                </c:pt>
                <c:pt idx="15">
                  <c:v>0.2994451510853402</c:v>
                </c:pt>
                <c:pt idx="16">
                  <c:v>0.50833567717740991</c:v>
                </c:pt>
                <c:pt idx="17">
                  <c:v>0.59332000300840004</c:v>
                </c:pt>
                <c:pt idx="18">
                  <c:v>0.37998681414217028</c:v>
                </c:pt>
                <c:pt idx="19">
                  <c:v>0.59066945251183967</c:v>
                </c:pt>
                <c:pt idx="20">
                  <c:v>0.67176821599153946</c:v>
                </c:pt>
                <c:pt idx="21">
                  <c:v>0.4030634197873999</c:v>
                </c:pt>
                <c:pt idx="22">
                  <c:v>0.36205102912905973</c:v>
                </c:pt>
                <c:pt idx="23">
                  <c:v>0.3662324946758595</c:v>
                </c:pt>
                <c:pt idx="24">
                  <c:v>0.38033228212682957</c:v>
                </c:pt>
                <c:pt idx="25">
                  <c:v>0.32963063621427979</c:v>
                </c:pt>
                <c:pt idx="26">
                  <c:v>0.19707662415498017</c:v>
                </c:pt>
                <c:pt idx="27">
                  <c:v>0.25716300440160955</c:v>
                </c:pt>
                <c:pt idx="28">
                  <c:v>0.41577988063177029</c:v>
                </c:pt>
                <c:pt idx="29">
                  <c:v>0.51843397509079958</c:v>
                </c:pt>
                <c:pt idx="30">
                  <c:v>0.51336947030580982</c:v>
                </c:pt>
                <c:pt idx="31">
                  <c:v>0.37691363923761978</c:v>
                </c:pt>
                <c:pt idx="32">
                  <c:v>0.38718578506074008</c:v>
                </c:pt>
                <c:pt idx="33">
                  <c:v>0.46752736539987039</c:v>
                </c:pt>
                <c:pt idx="34">
                  <c:v>0.42144993329855973</c:v>
                </c:pt>
                <c:pt idx="35">
                  <c:v>0.35577631803396015</c:v>
                </c:pt>
                <c:pt idx="36">
                  <c:v>0.26798152178349</c:v>
                </c:pt>
                <c:pt idx="37">
                  <c:v>0.13728922618704997</c:v>
                </c:pt>
                <c:pt idx="38">
                  <c:v>0.1861909801462498</c:v>
                </c:pt>
                <c:pt idx="39">
                  <c:v>0.3958583006849401</c:v>
                </c:pt>
                <c:pt idx="40">
                  <c:v>0.35237839588605979</c:v>
                </c:pt>
                <c:pt idx="41">
                  <c:v>-0.25594688768566032</c:v>
                </c:pt>
                <c:pt idx="42">
                  <c:v>-0.44553860534452028</c:v>
                </c:pt>
                <c:pt idx="43">
                  <c:v>-0.17227405293766918</c:v>
                </c:pt>
                <c:pt idx="44">
                  <c:v>0.12349423078758992</c:v>
                </c:pt>
                <c:pt idx="45">
                  <c:v>0.57537649786999978</c:v>
                </c:pt>
                <c:pt idx="46">
                  <c:v>0.47204347361275012</c:v>
                </c:pt>
                <c:pt idx="47">
                  <c:v>0.15650017587401965</c:v>
                </c:pt>
                <c:pt idx="48">
                  <c:v>0.20714684201645017</c:v>
                </c:pt>
                <c:pt idx="49">
                  <c:v>0.48203921476092937</c:v>
                </c:pt>
                <c:pt idx="50">
                  <c:v>0.42652596957329969</c:v>
                </c:pt>
                <c:pt idx="51">
                  <c:v>0.37012179553978086</c:v>
                </c:pt>
                <c:pt idx="52">
                  <c:v>0.56933968692132009</c:v>
                </c:pt>
                <c:pt idx="53">
                  <c:v>0.53473772878415016</c:v>
                </c:pt>
                <c:pt idx="54">
                  <c:v>0.43534045058950976</c:v>
                </c:pt>
                <c:pt idx="55">
                  <c:v>0.42490880242574036</c:v>
                </c:pt>
                <c:pt idx="56">
                  <c:v>0.3934178845950802</c:v>
                </c:pt>
                <c:pt idx="57">
                  <c:v>0.51964471254831013</c:v>
                </c:pt>
                <c:pt idx="58">
                  <c:v>0.54351095500181978</c:v>
                </c:pt>
                <c:pt idx="59">
                  <c:v>0.54464421438359034</c:v>
                </c:pt>
                <c:pt idx="60">
                  <c:v>0.68882022630968009</c:v>
                </c:pt>
                <c:pt idx="61">
                  <c:v>0.53262546886601037</c:v>
                </c:pt>
                <c:pt idx="62">
                  <c:v>0.2971305407712399</c:v>
                </c:pt>
                <c:pt idx="63">
                  <c:v>0.41782663179703983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'WAC vs PMMS'!$K$1</c:f>
              <c:strCache>
                <c:ptCount val="1"/>
                <c:pt idx="0">
                  <c:v>Diff Lag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'WAC vs PMMS'!$I$2:$I$67</c:f>
              <c:numCache>
                <c:formatCode>m/d/yyyy</c:formatCode>
                <c:ptCount val="66"/>
                <c:pt idx="0">
                  <c:v>40179</c:v>
                </c:pt>
                <c:pt idx="1">
                  <c:v>40210</c:v>
                </c:pt>
                <c:pt idx="2">
                  <c:v>40238</c:v>
                </c:pt>
                <c:pt idx="3">
                  <c:v>40269</c:v>
                </c:pt>
                <c:pt idx="4">
                  <c:v>40299</c:v>
                </c:pt>
                <c:pt idx="5">
                  <c:v>40330</c:v>
                </c:pt>
                <c:pt idx="6">
                  <c:v>40360</c:v>
                </c:pt>
                <c:pt idx="7">
                  <c:v>40391</c:v>
                </c:pt>
                <c:pt idx="8">
                  <c:v>40422</c:v>
                </c:pt>
                <c:pt idx="9">
                  <c:v>40452</c:v>
                </c:pt>
                <c:pt idx="10">
                  <c:v>40483</c:v>
                </c:pt>
                <c:pt idx="11">
                  <c:v>40513</c:v>
                </c:pt>
                <c:pt idx="12">
                  <c:v>40544</c:v>
                </c:pt>
                <c:pt idx="13">
                  <c:v>40575</c:v>
                </c:pt>
                <c:pt idx="14">
                  <c:v>40603</c:v>
                </c:pt>
                <c:pt idx="15">
                  <c:v>40634</c:v>
                </c:pt>
                <c:pt idx="16">
                  <c:v>40664</c:v>
                </c:pt>
                <c:pt idx="17">
                  <c:v>40695</c:v>
                </c:pt>
                <c:pt idx="18">
                  <c:v>40725</c:v>
                </c:pt>
                <c:pt idx="19">
                  <c:v>40756</c:v>
                </c:pt>
                <c:pt idx="20">
                  <c:v>40787</c:v>
                </c:pt>
                <c:pt idx="21">
                  <c:v>40817</c:v>
                </c:pt>
                <c:pt idx="22">
                  <c:v>40848</c:v>
                </c:pt>
                <c:pt idx="23">
                  <c:v>40878</c:v>
                </c:pt>
                <c:pt idx="24">
                  <c:v>40909</c:v>
                </c:pt>
                <c:pt idx="25">
                  <c:v>40940</c:v>
                </c:pt>
                <c:pt idx="26">
                  <c:v>40969</c:v>
                </c:pt>
                <c:pt idx="27">
                  <c:v>41000</c:v>
                </c:pt>
                <c:pt idx="28">
                  <c:v>41030</c:v>
                </c:pt>
                <c:pt idx="29">
                  <c:v>41061</c:v>
                </c:pt>
                <c:pt idx="30">
                  <c:v>41091</c:v>
                </c:pt>
                <c:pt idx="31">
                  <c:v>41122</c:v>
                </c:pt>
                <c:pt idx="32">
                  <c:v>41153</c:v>
                </c:pt>
                <c:pt idx="33">
                  <c:v>41183</c:v>
                </c:pt>
                <c:pt idx="34">
                  <c:v>41214</c:v>
                </c:pt>
                <c:pt idx="35">
                  <c:v>41244</c:v>
                </c:pt>
                <c:pt idx="36">
                  <c:v>41275</c:v>
                </c:pt>
                <c:pt idx="37">
                  <c:v>41306</c:v>
                </c:pt>
                <c:pt idx="38">
                  <c:v>41334</c:v>
                </c:pt>
                <c:pt idx="39">
                  <c:v>41365</c:v>
                </c:pt>
                <c:pt idx="40">
                  <c:v>41395</c:v>
                </c:pt>
                <c:pt idx="41">
                  <c:v>41426</c:v>
                </c:pt>
                <c:pt idx="42">
                  <c:v>41456</c:v>
                </c:pt>
                <c:pt idx="43">
                  <c:v>41487</c:v>
                </c:pt>
                <c:pt idx="44">
                  <c:v>41518</c:v>
                </c:pt>
                <c:pt idx="45">
                  <c:v>41548</c:v>
                </c:pt>
                <c:pt idx="46">
                  <c:v>41579</c:v>
                </c:pt>
                <c:pt idx="47">
                  <c:v>41609</c:v>
                </c:pt>
                <c:pt idx="48">
                  <c:v>41640</c:v>
                </c:pt>
                <c:pt idx="49">
                  <c:v>41671</c:v>
                </c:pt>
                <c:pt idx="50">
                  <c:v>41699</c:v>
                </c:pt>
                <c:pt idx="51">
                  <c:v>41730</c:v>
                </c:pt>
                <c:pt idx="52">
                  <c:v>41760</c:v>
                </c:pt>
                <c:pt idx="53">
                  <c:v>41791</c:v>
                </c:pt>
                <c:pt idx="54">
                  <c:v>41821</c:v>
                </c:pt>
                <c:pt idx="55">
                  <c:v>41852</c:v>
                </c:pt>
                <c:pt idx="56">
                  <c:v>41883</c:v>
                </c:pt>
                <c:pt idx="57">
                  <c:v>41913</c:v>
                </c:pt>
                <c:pt idx="58">
                  <c:v>41944</c:v>
                </c:pt>
                <c:pt idx="59">
                  <c:v>41974</c:v>
                </c:pt>
                <c:pt idx="60">
                  <c:v>42005</c:v>
                </c:pt>
                <c:pt idx="61">
                  <c:v>42036</c:v>
                </c:pt>
                <c:pt idx="62">
                  <c:v>42064</c:v>
                </c:pt>
                <c:pt idx="63">
                  <c:v>42095</c:v>
                </c:pt>
                <c:pt idx="64">
                  <c:v>42125</c:v>
                </c:pt>
                <c:pt idx="65">
                  <c:v>42156</c:v>
                </c:pt>
              </c:numCache>
            </c:numRef>
          </c:cat>
          <c:val>
            <c:numRef>
              <c:f>'WAC vs PMMS'!$K$2:$K$67</c:f>
              <c:numCache>
                <c:formatCode>General</c:formatCode>
                <c:ptCount val="66"/>
                <c:pt idx="0">
                  <c:v>0.13104094413065948</c:v>
                </c:pt>
                <c:pt idx="1">
                  <c:v>0.22995872971329945</c:v>
                </c:pt>
                <c:pt idx="2">
                  <c:v>0.23686861266227943</c:v>
                </c:pt>
                <c:pt idx="3">
                  <c:v>0.14675139103403989</c:v>
                </c:pt>
                <c:pt idx="4">
                  <c:v>0.36962923377646018</c:v>
                </c:pt>
                <c:pt idx="5">
                  <c:v>0.3997163042435794</c:v>
                </c:pt>
                <c:pt idx="6">
                  <c:v>0.38692650736450052</c:v>
                </c:pt>
                <c:pt idx="7">
                  <c:v>0.35644250215070006</c:v>
                </c:pt>
                <c:pt idx="8">
                  <c:v>0.30925852891247985</c:v>
                </c:pt>
                <c:pt idx="9">
                  <c:v>0.33973909345232034</c:v>
                </c:pt>
                <c:pt idx="10">
                  <c:v>0.17986156568970024</c:v>
                </c:pt>
                <c:pt idx="11">
                  <c:v>-0.13435033486153003</c:v>
                </c:pt>
                <c:pt idx="12">
                  <c:v>4.5150852260509744E-2</c:v>
                </c:pt>
                <c:pt idx="13">
                  <c:v>3.2600182988299586E-2</c:v>
                </c:pt>
                <c:pt idx="14">
                  <c:v>0.29719515108534011</c:v>
                </c:pt>
                <c:pt idx="15">
                  <c:v>0.31208567717740987</c:v>
                </c:pt>
                <c:pt idx="16">
                  <c:v>0.46582000300839965</c:v>
                </c:pt>
                <c:pt idx="17">
                  <c:v>0.4212368141421603</c:v>
                </c:pt>
                <c:pt idx="18">
                  <c:v>0.30441945251185043</c:v>
                </c:pt>
                <c:pt idx="19">
                  <c:v>0.48426821599153946</c:v>
                </c:pt>
                <c:pt idx="20">
                  <c:v>0.41806341978739958</c:v>
                </c:pt>
                <c:pt idx="21">
                  <c:v>0.2635510291290597</c:v>
                </c:pt>
                <c:pt idx="22">
                  <c:v>0.3259824946758596</c:v>
                </c:pt>
                <c:pt idx="23">
                  <c:v>0.35408228212682946</c:v>
                </c:pt>
                <c:pt idx="24">
                  <c:v>0.31913063621427984</c:v>
                </c:pt>
                <c:pt idx="25">
                  <c:v>0.26632662415497999</c:v>
                </c:pt>
                <c:pt idx="26">
                  <c:v>0.18716300440160971</c:v>
                </c:pt>
                <c:pt idx="27">
                  <c:v>0.31252988063177023</c:v>
                </c:pt>
                <c:pt idx="28">
                  <c:v>0.38043397509079968</c:v>
                </c:pt>
                <c:pt idx="29">
                  <c:v>0.39461947030580991</c:v>
                </c:pt>
                <c:pt idx="30">
                  <c:v>0.40766363923761961</c:v>
                </c:pt>
                <c:pt idx="31">
                  <c:v>0.27893578506074013</c:v>
                </c:pt>
                <c:pt idx="32">
                  <c:v>0.36777736539987016</c:v>
                </c:pt>
                <c:pt idx="33">
                  <c:v>0.39119993329856007</c:v>
                </c:pt>
                <c:pt idx="34">
                  <c:v>0.35202631803396001</c:v>
                </c:pt>
                <c:pt idx="35">
                  <c:v>0.33698152178348995</c:v>
                </c:pt>
                <c:pt idx="36">
                  <c:v>0.28078922618704993</c:v>
                </c:pt>
                <c:pt idx="37">
                  <c:v>0.2124409801462499</c:v>
                </c:pt>
                <c:pt idx="38">
                  <c:v>0.27585830068493999</c:v>
                </c:pt>
                <c:pt idx="39">
                  <c:v>0.42962839588606005</c:v>
                </c:pt>
                <c:pt idx="40">
                  <c:v>0.28555311231433977</c:v>
                </c:pt>
                <c:pt idx="41">
                  <c:v>-0.1440386053445204</c:v>
                </c:pt>
                <c:pt idx="42">
                  <c:v>-7.752405293766973E-2</c:v>
                </c:pt>
                <c:pt idx="43">
                  <c:v>0.14099423078758999</c:v>
                </c:pt>
                <c:pt idx="44">
                  <c:v>0.27612649786999999</c:v>
                </c:pt>
                <c:pt idx="45">
                  <c:v>0.53629347361273982</c:v>
                </c:pt>
                <c:pt idx="46">
                  <c:v>0.34025017587403017</c:v>
                </c:pt>
                <c:pt idx="47">
                  <c:v>0.19914684201645017</c:v>
                </c:pt>
                <c:pt idx="48">
                  <c:v>0.34753921476091953</c:v>
                </c:pt>
                <c:pt idx="49">
                  <c:v>0.44777596957330967</c:v>
                </c:pt>
                <c:pt idx="50">
                  <c:v>0.36937179553977018</c:v>
                </c:pt>
                <c:pt idx="51">
                  <c:v>0.38883968692133042</c:v>
                </c:pt>
                <c:pt idx="52">
                  <c:v>0.51723772878415009</c:v>
                </c:pt>
                <c:pt idx="53">
                  <c:v>0.41534045058951019</c:v>
                </c:pt>
                <c:pt idx="54">
                  <c:v>0.40365880242574015</c:v>
                </c:pt>
                <c:pt idx="55">
                  <c:v>0.42216788459507981</c:v>
                </c:pt>
                <c:pt idx="56">
                  <c:v>0.38814471254831062</c:v>
                </c:pt>
                <c:pt idx="57">
                  <c:v>0.5100109550018197</c:v>
                </c:pt>
                <c:pt idx="58">
                  <c:v>0.42614421438359029</c:v>
                </c:pt>
                <c:pt idx="59">
                  <c:v>0.51107022630968002</c:v>
                </c:pt>
                <c:pt idx="60">
                  <c:v>0.5726254688660104</c:v>
                </c:pt>
                <c:pt idx="61">
                  <c:v>0.35088054077123987</c:v>
                </c:pt>
                <c:pt idx="62">
                  <c:v>0.32482663179703986</c:v>
                </c:pt>
                <c:pt idx="63">
                  <c:v>0.46388815602294997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'WAC vs PMMS'!$L$1</c:f>
              <c:strCache>
                <c:ptCount val="1"/>
                <c:pt idx="0">
                  <c:v>Diff Lag 2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'WAC vs PMMS'!$I$2:$I$67</c:f>
              <c:numCache>
                <c:formatCode>m/d/yyyy</c:formatCode>
                <c:ptCount val="66"/>
                <c:pt idx="0">
                  <c:v>40179</c:v>
                </c:pt>
                <c:pt idx="1">
                  <c:v>40210</c:v>
                </c:pt>
                <c:pt idx="2">
                  <c:v>40238</c:v>
                </c:pt>
                <c:pt idx="3">
                  <c:v>40269</c:v>
                </c:pt>
                <c:pt idx="4">
                  <c:v>40299</c:v>
                </c:pt>
                <c:pt idx="5">
                  <c:v>40330</c:v>
                </c:pt>
                <c:pt idx="6">
                  <c:v>40360</c:v>
                </c:pt>
                <c:pt idx="7">
                  <c:v>40391</c:v>
                </c:pt>
                <c:pt idx="8">
                  <c:v>40422</c:v>
                </c:pt>
                <c:pt idx="9">
                  <c:v>40452</c:v>
                </c:pt>
                <c:pt idx="10">
                  <c:v>40483</c:v>
                </c:pt>
                <c:pt idx="11">
                  <c:v>40513</c:v>
                </c:pt>
                <c:pt idx="12">
                  <c:v>40544</c:v>
                </c:pt>
                <c:pt idx="13">
                  <c:v>40575</c:v>
                </c:pt>
                <c:pt idx="14">
                  <c:v>40603</c:v>
                </c:pt>
                <c:pt idx="15">
                  <c:v>40634</c:v>
                </c:pt>
                <c:pt idx="16">
                  <c:v>40664</c:v>
                </c:pt>
                <c:pt idx="17">
                  <c:v>40695</c:v>
                </c:pt>
                <c:pt idx="18">
                  <c:v>40725</c:v>
                </c:pt>
                <c:pt idx="19">
                  <c:v>40756</c:v>
                </c:pt>
                <c:pt idx="20">
                  <c:v>40787</c:v>
                </c:pt>
                <c:pt idx="21">
                  <c:v>40817</c:v>
                </c:pt>
                <c:pt idx="22">
                  <c:v>40848</c:v>
                </c:pt>
                <c:pt idx="23">
                  <c:v>40878</c:v>
                </c:pt>
                <c:pt idx="24">
                  <c:v>40909</c:v>
                </c:pt>
                <c:pt idx="25">
                  <c:v>40940</c:v>
                </c:pt>
                <c:pt idx="26">
                  <c:v>40969</c:v>
                </c:pt>
                <c:pt idx="27">
                  <c:v>41000</c:v>
                </c:pt>
                <c:pt idx="28">
                  <c:v>41030</c:v>
                </c:pt>
                <c:pt idx="29">
                  <c:v>41061</c:v>
                </c:pt>
                <c:pt idx="30">
                  <c:v>41091</c:v>
                </c:pt>
                <c:pt idx="31">
                  <c:v>41122</c:v>
                </c:pt>
                <c:pt idx="32">
                  <c:v>41153</c:v>
                </c:pt>
                <c:pt idx="33">
                  <c:v>41183</c:v>
                </c:pt>
                <c:pt idx="34">
                  <c:v>41214</c:v>
                </c:pt>
                <c:pt idx="35">
                  <c:v>41244</c:v>
                </c:pt>
                <c:pt idx="36">
                  <c:v>41275</c:v>
                </c:pt>
                <c:pt idx="37">
                  <c:v>41306</c:v>
                </c:pt>
                <c:pt idx="38">
                  <c:v>41334</c:v>
                </c:pt>
                <c:pt idx="39">
                  <c:v>41365</c:v>
                </c:pt>
                <c:pt idx="40">
                  <c:v>41395</c:v>
                </c:pt>
                <c:pt idx="41">
                  <c:v>41426</c:v>
                </c:pt>
                <c:pt idx="42">
                  <c:v>41456</c:v>
                </c:pt>
                <c:pt idx="43">
                  <c:v>41487</c:v>
                </c:pt>
                <c:pt idx="44">
                  <c:v>41518</c:v>
                </c:pt>
                <c:pt idx="45">
                  <c:v>41548</c:v>
                </c:pt>
                <c:pt idx="46">
                  <c:v>41579</c:v>
                </c:pt>
                <c:pt idx="47">
                  <c:v>41609</c:v>
                </c:pt>
                <c:pt idx="48">
                  <c:v>41640</c:v>
                </c:pt>
                <c:pt idx="49">
                  <c:v>41671</c:v>
                </c:pt>
                <c:pt idx="50">
                  <c:v>41699</c:v>
                </c:pt>
                <c:pt idx="51">
                  <c:v>41730</c:v>
                </c:pt>
                <c:pt idx="52">
                  <c:v>41760</c:v>
                </c:pt>
                <c:pt idx="53">
                  <c:v>41791</c:v>
                </c:pt>
                <c:pt idx="54">
                  <c:v>41821</c:v>
                </c:pt>
                <c:pt idx="55">
                  <c:v>41852</c:v>
                </c:pt>
                <c:pt idx="56">
                  <c:v>41883</c:v>
                </c:pt>
                <c:pt idx="57">
                  <c:v>41913</c:v>
                </c:pt>
                <c:pt idx="58">
                  <c:v>41944</c:v>
                </c:pt>
                <c:pt idx="59">
                  <c:v>41974</c:v>
                </c:pt>
                <c:pt idx="60">
                  <c:v>42005</c:v>
                </c:pt>
                <c:pt idx="61">
                  <c:v>42036</c:v>
                </c:pt>
                <c:pt idx="62">
                  <c:v>42064</c:v>
                </c:pt>
                <c:pt idx="63">
                  <c:v>42095</c:v>
                </c:pt>
                <c:pt idx="64">
                  <c:v>42125</c:v>
                </c:pt>
                <c:pt idx="65">
                  <c:v>42156</c:v>
                </c:pt>
              </c:numCache>
            </c:numRef>
          </c:cat>
          <c:val>
            <c:numRef>
              <c:f>'WAC vs PMMS'!$L$2:$L$67</c:f>
              <c:numCache>
                <c:formatCode>General</c:formatCode>
                <c:ptCount val="66"/>
                <c:pt idx="0">
                  <c:v>0.19620872971328929</c:v>
                </c:pt>
                <c:pt idx="1">
                  <c:v>0.23186861266228931</c:v>
                </c:pt>
                <c:pt idx="2">
                  <c:v>0.25175139103403943</c:v>
                </c:pt>
                <c:pt idx="3">
                  <c:v>0.1671292337764605</c:v>
                </c:pt>
                <c:pt idx="4">
                  <c:v>0.22321630424356975</c:v>
                </c:pt>
                <c:pt idx="5">
                  <c:v>0.23592650736449983</c:v>
                </c:pt>
                <c:pt idx="6">
                  <c:v>0.22394250215071043</c:v>
                </c:pt>
                <c:pt idx="7">
                  <c:v>0.23275852891247961</c:v>
                </c:pt>
                <c:pt idx="8">
                  <c:v>0.23873909345232036</c:v>
                </c:pt>
                <c:pt idx="9">
                  <c:v>0.26111156568970006</c:v>
                </c:pt>
                <c:pt idx="10">
                  <c:v>0.25839966513846058</c:v>
                </c:pt>
                <c:pt idx="11">
                  <c:v>9.4900852260519919E-2</c:v>
                </c:pt>
                <c:pt idx="12">
                  <c:v>0.21135018298829955</c:v>
                </c:pt>
                <c:pt idx="13">
                  <c:v>0.18069515108533984</c:v>
                </c:pt>
                <c:pt idx="14">
                  <c:v>0.30983567717740979</c:v>
                </c:pt>
                <c:pt idx="15">
                  <c:v>0.26957000300839962</c:v>
                </c:pt>
                <c:pt idx="16">
                  <c:v>0.29373681414215991</c:v>
                </c:pt>
                <c:pt idx="17">
                  <c:v>0.34566945251184045</c:v>
                </c:pt>
                <c:pt idx="18">
                  <c:v>0.19801821599155023</c:v>
                </c:pt>
                <c:pt idx="19">
                  <c:v>0.23056341978739958</c:v>
                </c:pt>
                <c:pt idx="20">
                  <c:v>0.27855102912905938</c:v>
                </c:pt>
                <c:pt idx="21">
                  <c:v>0.22748249467585957</c:v>
                </c:pt>
                <c:pt idx="22">
                  <c:v>0.31383228212682956</c:v>
                </c:pt>
                <c:pt idx="23">
                  <c:v>0.29288063621427973</c:v>
                </c:pt>
                <c:pt idx="24">
                  <c:v>0.25582662415498003</c:v>
                </c:pt>
                <c:pt idx="25">
                  <c:v>0.25641300440160952</c:v>
                </c:pt>
                <c:pt idx="26">
                  <c:v>0.24252988063177039</c:v>
                </c:pt>
                <c:pt idx="27">
                  <c:v>0.27718397509079962</c:v>
                </c:pt>
                <c:pt idx="28">
                  <c:v>0.25661947030581</c:v>
                </c:pt>
                <c:pt idx="29">
                  <c:v>0.2889136392376197</c:v>
                </c:pt>
                <c:pt idx="30">
                  <c:v>0.30968578506073996</c:v>
                </c:pt>
                <c:pt idx="31">
                  <c:v>0.2595273653998702</c:v>
                </c:pt>
                <c:pt idx="32">
                  <c:v>0.29144993329855984</c:v>
                </c:pt>
                <c:pt idx="33">
                  <c:v>0.32177631803396034</c:v>
                </c:pt>
                <c:pt idx="34">
                  <c:v>0.3332315217834898</c:v>
                </c:pt>
                <c:pt idx="35">
                  <c:v>0.34978922618704988</c:v>
                </c:pt>
                <c:pt idx="36">
                  <c:v>0.35594098014624986</c:v>
                </c:pt>
                <c:pt idx="37">
                  <c:v>0.3021083006849401</c:v>
                </c:pt>
                <c:pt idx="38">
                  <c:v>0.30962839588605995</c:v>
                </c:pt>
                <c:pt idx="39">
                  <c:v>0.36280311231434004</c:v>
                </c:pt>
                <c:pt idx="40">
                  <c:v>0.39746139465547969</c:v>
                </c:pt>
                <c:pt idx="41">
                  <c:v>0.22397594706233015</c:v>
                </c:pt>
                <c:pt idx="42">
                  <c:v>0.23574423078758944</c:v>
                </c:pt>
                <c:pt idx="43">
                  <c:v>0.29362649787000006</c:v>
                </c:pt>
                <c:pt idx="44">
                  <c:v>0.23704347361274003</c:v>
                </c:pt>
                <c:pt idx="45">
                  <c:v>0.40450017587401987</c:v>
                </c:pt>
                <c:pt idx="46">
                  <c:v>0.38289684201646068</c:v>
                </c:pt>
                <c:pt idx="47">
                  <c:v>0.33953921476091953</c:v>
                </c:pt>
                <c:pt idx="48">
                  <c:v>0.31327596957329984</c:v>
                </c:pt>
                <c:pt idx="49">
                  <c:v>0.39062179553978016</c:v>
                </c:pt>
                <c:pt idx="50">
                  <c:v>0.38808968692131973</c:v>
                </c:pt>
                <c:pt idx="51">
                  <c:v>0.33673772878416042</c:v>
                </c:pt>
                <c:pt idx="52">
                  <c:v>0.39784045058951012</c:v>
                </c:pt>
                <c:pt idx="53">
                  <c:v>0.38365880242574057</c:v>
                </c:pt>
                <c:pt idx="54">
                  <c:v>0.4009178845950796</c:v>
                </c:pt>
                <c:pt idx="55">
                  <c:v>0.41689471254831023</c:v>
                </c:pt>
                <c:pt idx="56">
                  <c:v>0.37851095500182019</c:v>
                </c:pt>
                <c:pt idx="57">
                  <c:v>0.39264421438359021</c:v>
                </c:pt>
                <c:pt idx="58">
                  <c:v>0.39257022630967997</c:v>
                </c:pt>
                <c:pt idx="59">
                  <c:v>0.39487546886601033</c:v>
                </c:pt>
                <c:pt idx="60">
                  <c:v>0.3908805407712399</c:v>
                </c:pt>
                <c:pt idx="61">
                  <c:v>0.37857663179703982</c:v>
                </c:pt>
                <c:pt idx="62">
                  <c:v>0.37088815602295</c:v>
                </c:pt>
                <c:pt idx="63">
                  <c:v>0.41939085702601986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6171416"/>
        <c:axId val="416171808"/>
      </c:lineChart>
      <c:dateAx>
        <c:axId val="4161714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171808"/>
        <c:crosses val="autoZero"/>
        <c:auto val="1"/>
        <c:lblOffset val="100"/>
        <c:baseTimeUnit val="months"/>
      </c:dateAx>
      <c:valAx>
        <c:axId val="41617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Rate Difference (Pts)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171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 dirty="0" smtClean="0">
                <a:effectLst/>
              </a:rPr>
              <a:t>Base Turnover </a:t>
            </a:r>
            <a:r>
              <a:rPr lang="en-US" sz="1800" b="1" i="0" u="none" strike="noStrike" baseline="0" dirty="0" smtClean="0">
                <a:effectLst/>
              </a:rPr>
              <a:t>CPR </a:t>
            </a:r>
            <a:r>
              <a:rPr lang="en-US" sz="1800" b="1" i="0" u="none" strike="noStrike" baseline="0" dirty="0" smtClean="0">
                <a:effectLst/>
              </a:rPr>
              <a:t>(Prepay Pool Data)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'eMBS Pool Turnover'!$B$1</c:f>
              <c:strCache>
                <c:ptCount val="1"/>
                <c:pt idx="0">
                  <c:v>Fannie Pool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'eMBS Pool Turnover'!$A$2:$A$71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'eMBS Pool Turnover'!$B$2:$B$71</c:f>
              <c:numCache>
                <c:formatCode>General</c:formatCode>
                <c:ptCount val="70"/>
                <c:pt idx="0">
                  <c:v>0.74</c:v>
                </c:pt>
                <c:pt idx="1">
                  <c:v>1.52</c:v>
                </c:pt>
                <c:pt idx="2">
                  <c:v>2.04</c:v>
                </c:pt>
                <c:pt idx="3">
                  <c:v>2.62</c:v>
                </c:pt>
                <c:pt idx="4">
                  <c:v>3.05</c:v>
                </c:pt>
                <c:pt idx="5">
                  <c:v>3.27</c:v>
                </c:pt>
                <c:pt idx="6">
                  <c:v>3.5</c:v>
                </c:pt>
                <c:pt idx="7">
                  <c:v>4.0199999999999996</c:v>
                </c:pt>
                <c:pt idx="8">
                  <c:v>4.55</c:v>
                </c:pt>
                <c:pt idx="9">
                  <c:v>5.1100000000000003</c:v>
                </c:pt>
                <c:pt idx="10">
                  <c:v>5.68</c:v>
                </c:pt>
                <c:pt idx="11">
                  <c:v>6.14</c:v>
                </c:pt>
                <c:pt idx="12">
                  <c:v>6.9</c:v>
                </c:pt>
                <c:pt idx="13">
                  <c:v>7.08</c:v>
                </c:pt>
                <c:pt idx="14">
                  <c:v>6.76</c:v>
                </c:pt>
                <c:pt idx="15">
                  <c:v>6.34</c:v>
                </c:pt>
                <c:pt idx="16">
                  <c:v>6.33</c:v>
                </c:pt>
                <c:pt idx="17">
                  <c:v>6.34</c:v>
                </c:pt>
                <c:pt idx="18">
                  <c:v>6.49</c:v>
                </c:pt>
                <c:pt idx="19">
                  <c:v>6.89</c:v>
                </c:pt>
                <c:pt idx="20">
                  <c:v>7.1</c:v>
                </c:pt>
                <c:pt idx="21">
                  <c:v>7.06</c:v>
                </c:pt>
                <c:pt idx="22">
                  <c:v>7.25</c:v>
                </c:pt>
                <c:pt idx="23">
                  <c:v>7.77</c:v>
                </c:pt>
                <c:pt idx="24">
                  <c:v>8.39</c:v>
                </c:pt>
                <c:pt idx="25">
                  <c:v>8.4700000000000006</c:v>
                </c:pt>
                <c:pt idx="26">
                  <c:v>8.81</c:v>
                </c:pt>
                <c:pt idx="27">
                  <c:v>9.27</c:v>
                </c:pt>
                <c:pt idx="28">
                  <c:v>9.41</c:v>
                </c:pt>
                <c:pt idx="29">
                  <c:v>9.17</c:v>
                </c:pt>
                <c:pt idx="30">
                  <c:v>9.4700000000000006</c:v>
                </c:pt>
                <c:pt idx="31">
                  <c:v>9.5</c:v>
                </c:pt>
                <c:pt idx="32">
                  <c:v>9.41</c:v>
                </c:pt>
                <c:pt idx="33">
                  <c:v>8.93</c:v>
                </c:pt>
                <c:pt idx="34">
                  <c:v>8.8800000000000008</c:v>
                </c:pt>
                <c:pt idx="35">
                  <c:v>9.19</c:v>
                </c:pt>
                <c:pt idx="36">
                  <c:v>9.23</c:v>
                </c:pt>
                <c:pt idx="37">
                  <c:v>9.43</c:v>
                </c:pt>
                <c:pt idx="38">
                  <c:v>9.1199999999999992</c:v>
                </c:pt>
                <c:pt idx="39">
                  <c:v>9.19</c:v>
                </c:pt>
                <c:pt idx="40">
                  <c:v>8.9499999999999993</c:v>
                </c:pt>
                <c:pt idx="41">
                  <c:v>9.07</c:v>
                </c:pt>
                <c:pt idx="42">
                  <c:v>8.9600000000000009</c:v>
                </c:pt>
                <c:pt idx="43">
                  <c:v>8.58</c:v>
                </c:pt>
                <c:pt idx="44">
                  <c:v>8.3800000000000008</c:v>
                </c:pt>
                <c:pt idx="45">
                  <c:v>8.52</c:v>
                </c:pt>
                <c:pt idx="46">
                  <c:v>8.57</c:v>
                </c:pt>
                <c:pt idx="47">
                  <c:v>8.2799999999999994</c:v>
                </c:pt>
                <c:pt idx="48">
                  <c:v>8.17</c:v>
                </c:pt>
                <c:pt idx="49">
                  <c:v>8.0500000000000007</c:v>
                </c:pt>
                <c:pt idx="50">
                  <c:v>7.89</c:v>
                </c:pt>
                <c:pt idx="51">
                  <c:v>7.5</c:v>
                </c:pt>
                <c:pt idx="52">
                  <c:v>7.24</c:v>
                </c:pt>
                <c:pt idx="53">
                  <c:v>6.83</c:v>
                </c:pt>
                <c:pt idx="54">
                  <c:v>6.71</c:v>
                </c:pt>
                <c:pt idx="55">
                  <c:v>6.84</c:v>
                </c:pt>
                <c:pt idx="56">
                  <c:v>7.29</c:v>
                </c:pt>
                <c:pt idx="57">
                  <c:v>7.28</c:v>
                </c:pt>
                <c:pt idx="58">
                  <c:v>7.22</c:v>
                </c:pt>
                <c:pt idx="59">
                  <c:v>7.21</c:v>
                </c:pt>
                <c:pt idx="60">
                  <c:v>6.71</c:v>
                </c:pt>
                <c:pt idx="61">
                  <c:v>6.62</c:v>
                </c:pt>
                <c:pt idx="62">
                  <c:v>6</c:v>
                </c:pt>
                <c:pt idx="63">
                  <c:v>5.72</c:v>
                </c:pt>
                <c:pt idx="64">
                  <c:v>5.67</c:v>
                </c:pt>
                <c:pt idx="65">
                  <c:v>5.8</c:v>
                </c:pt>
                <c:pt idx="66">
                  <c:v>6.07</c:v>
                </c:pt>
                <c:pt idx="67">
                  <c:v>6.11</c:v>
                </c:pt>
                <c:pt idx="68">
                  <c:v>6.49</c:v>
                </c:pt>
                <c:pt idx="69">
                  <c:v>6.65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'eMBS Pool Turnover'!$C$1</c:f>
              <c:strCache>
                <c:ptCount val="1"/>
                <c:pt idx="0">
                  <c:v>Freddie Pool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'eMBS Pool Turnover'!$A$2:$A$71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'eMBS Pool Turnover'!$C$2:$C$71</c:f>
              <c:numCache>
                <c:formatCode>General</c:formatCode>
                <c:ptCount val="70"/>
                <c:pt idx="0">
                  <c:v>0.32</c:v>
                </c:pt>
                <c:pt idx="1">
                  <c:v>1.41</c:v>
                </c:pt>
                <c:pt idx="2">
                  <c:v>2.2400000000000002</c:v>
                </c:pt>
                <c:pt idx="3">
                  <c:v>2.58</c:v>
                </c:pt>
                <c:pt idx="4">
                  <c:v>2.91</c:v>
                </c:pt>
                <c:pt idx="5">
                  <c:v>3.19</c:v>
                </c:pt>
                <c:pt idx="6">
                  <c:v>3.69</c:v>
                </c:pt>
                <c:pt idx="7">
                  <c:v>4.24</c:v>
                </c:pt>
                <c:pt idx="8">
                  <c:v>4.6399999999999997</c:v>
                </c:pt>
                <c:pt idx="9">
                  <c:v>5.21</c:v>
                </c:pt>
                <c:pt idx="10">
                  <c:v>5.78</c:v>
                </c:pt>
                <c:pt idx="11">
                  <c:v>6.32</c:v>
                </c:pt>
                <c:pt idx="12">
                  <c:v>6.74</c:v>
                </c:pt>
                <c:pt idx="13">
                  <c:v>6.86</c:v>
                </c:pt>
                <c:pt idx="14">
                  <c:v>6.25</c:v>
                </c:pt>
                <c:pt idx="15">
                  <c:v>6.38</c:v>
                </c:pt>
                <c:pt idx="16">
                  <c:v>6.41</c:v>
                </c:pt>
                <c:pt idx="17">
                  <c:v>6.59</c:v>
                </c:pt>
                <c:pt idx="18">
                  <c:v>6.81</c:v>
                </c:pt>
                <c:pt idx="19">
                  <c:v>7.28</c:v>
                </c:pt>
                <c:pt idx="20">
                  <c:v>7.66</c:v>
                </c:pt>
                <c:pt idx="21">
                  <c:v>7.86</c:v>
                </c:pt>
                <c:pt idx="22">
                  <c:v>7.96</c:v>
                </c:pt>
                <c:pt idx="23">
                  <c:v>8.25</c:v>
                </c:pt>
                <c:pt idx="24">
                  <c:v>8.59</c:v>
                </c:pt>
                <c:pt idx="25">
                  <c:v>8.69</c:v>
                </c:pt>
                <c:pt idx="26">
                  <c:v>8.8800000000000008</c:v>
                </c:pt>
                <c:pt idx="27">
                  <c:v>8.7899999999999991</c:v>
                </c:pt>
                <c:pt idx="28">
                  <c:v>8.84</c:v>
                </c:pt>
                <c:pt idx="29">
                  <c:v>8.77</c:v>
                </c:pt>
                <c:pt idx="30">
                  <c:v>8.91</c:v>
                </c:pt>
                <c:pt idx="31">
                  <c:v>9.0500000000000007</c:v>
                </c:pt>
                <c:pt idx="32">
                  <c:v>9</c:v>
                </c:pt>
                <c:pt idx="33">
                  <c:v>8.35</c:v>
                </c:pt>
                <c:pt idx="34">
                  <c:v>8.25</c:v>
                </c:pt>
                <c:pt idx="35">
                  <c:v>8.43</c:v>
                </c:pt>
                <c:pt idx="36">
                  <c:v>8.5500000000000007</c:v>
                </c:pt>
                <c:pt idx="37">
                  <c:v>8.44</c:v>
                </c:pt>
                <c:pt idx="38">
                  <c:v>8.25</c:v>
                </c:pt>
                <c:pt idx="39">
                  <c:v>8.39</c:v>
                </c:pt>
                <c:pt idx="40">
                  <c:v>8.34</c:v>
                </c:pt>
                <c:pt idx="41">
                  <c:v>8.4700000000000006</c:v>
                </c:pt>
                <c:pt idx="42">
                  <c:v>8.17</c:v>
                </c:pt>
                <c:pt idx="43">
                  <c:v>8.18</c:v>
                </c:pt>
                <c:pt idx="44">
                  <c:v>8.15</c:v>
                </c:pt>
                <c:pt idx="45">
                  <c:v>8.06</c:v>
                </c:pt>
                <c:pt idx="46">
                  <c:v>8.27</c:v>
                </c:pt>
                <c:pt idx="47">
                  <c:v>7.96</c:v>
                </c:pt>
                <c:pt idx="48">
                  <c:v>7.75</c:v>
                </c:pt>
                <c:pt idx="49">
                  <c:v>7.61</c:v>
                </c:pt>
                <c:pt idx="50">
                  <c:v>7.53</c:v>
                </c:pt>
                <c:pt idx="51">
                  <c:v>6.92</c:v>
                </c:pt>
                <c:pt idx="52">
                  <c:v>6.9</c:v>
                </c:pt>
                <c:pt idx="53">
                  <c:v>6.54</c:v>
                </c:pt>
                <c:pt idx="54">
                  <c:v>6.52</c:v>
                </c:pt>
                <c:pt idx="55">
                  <c:v>6.93</c:v>
                </c:pt>
                <c:pt idx="56">
                  <c:v>7.3</c:v>
                </c:pt>
                <c:pt idx="57">
                  <c:v>7.18</c:v>
                </c:pt>
                <c:pt idx="58">
                  <c:v>7.17</c:v>
                </c:pt>
                <c:pt idx="59">
                  <c:v>7.04</c:v>
                </c:pt>
                <c:pt idx="60">
                  <c:v>6.97</c:v>
                </c:pt>
                <c:pt idx="61">
                  <c:v>6.31</c:v>
                </c:pt>
                <c:pt idx="62">
                  <c:v>6.11</c:v>
                </c:pt>
                <c:pt idx="63">
                  <c:v>5.56</c:v>
                </c:pt>
                <c:pt idx="64">
                  <c:v>5.39</c:v>
                </c:pt>
                <c:pt idx="65">
                  <c:v>5.56</c:v>
                </c:pt>
                <c:pt idx="66">
                  <c:v>6.16</c:v>
                </c:pt>
                <c:pt idx="67">
                  <c:v>6.1</c:v>
                </c:pt>
                <c:pt idx="68">
                  <c:v>7.11</c:v>
                </c:pt>
                <c:pt idx="69">
                  <c:v>6.54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'eMBS Pool Turnover'!$D$1</c:f>
              <c:strCache>
                <c:ptCount val="1"/>
                <c:pt idx="0">
                  <c:v>Combined Pool</c:v>
                </c:pt>
              </c:strCache>
            </c:strRef>
          </c:tx>
          <c:spPr>
            <a:ln w="28575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'eMBS Pool Turnover'!$A$2:$A$71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'eMBS Pool Turnover'!$D$2:$D$71</c:f>
              <c:numCache>
                <c:formatCode>General</c:formatCode>
                <c:ptCount val="70"/>
                <c:pt idx="0">
                  <c:v>0.55000000000000004</c:v>
                </c:pt>
                <c:pt idx="1">
                  <c:v>1.47</c:v>
                </c:pt>
                <c:pt idx="2">
                  <c:v>2.12</c:v>
                </c:pt>
                <c:pt idx="3">
                  <c:v>2.61</c:v>
                </c:pt>
                <c:pt idx="4">
                  <c:v>2.99</c:v>
                </c:pt>
                <c:pt idx="5">
                  <c:v>3.24</c:v>
                </c:pt>
                <c:pt idx="6">
                  <c:v>3.58</c:v>
                </c:pt>
                <c:pt idx="7">
                  <c:v>4.1100000000000003</c:v>
                </c:pt>
                <c:pt idx="8">
                  <c:v>4.59</c:v>
                </c:pt>
                <c:pt idx="9">
                  <c:v>5.15</c:v>
                </c:pt>
                <c:pt idx="10">
                  <c:v>5.72</c:v>
                </c:pt>
                <c:pt idx="11">
                  <c:v>6.21</c:v>
                </c:pt>
                <c:pt idx="12">
                  <c:v>6.84</c:v>
                </c:pt>
                <c:pt idx="13">
                  <c:v>6.99</c:v>
                </c:pt>
                <c:pt idx="14">
                  <c:v>6.56</c:v>
                </c:pt>
                <c:pt idx="15">
                  <c:v>6.36</c:v>
                </c:pt>
                <c:pt idx="16">
                  <c:v>6.36</c:v>
                </c:pt>
                <c:pt idx="17">
                  <c:v>6.44</c:v>
                </c:pt>
                <c:pt idx="18">
                  <c:v>6.62</c:v>
                </c:pt>
                <c:pt idx="19">
                  <c:v>7.05</c:v>
                </c:pt>
                <c:pt idx="20">
                  <c:v>7.34</c:v>
                </c:pt>
                <c:pt idx="21">
                  <c:v>7.41</c:v>
                </c:pt>
                <c:pt idx="22">
                  <c:v>7.53</c:v>
                </c:pt>
                <c:pt idx="23">
                  <c:v>7.96</c:v>
                </c:pt>
                <c:pt idx="24">
                  <c:v>8.4700000000000006</c:v>
                </c:pt>
                <c:pt idx="25">
                  <c:v>8.56</c:v>
                </c:pt>
                <c:pt idx="26">
                  <c:v>8.84</c:v>
                </c:pt>
                <c:pt idx="27">
                  <c:v>9.06</c:v>
                </c:pt>
                <c:pt idx="28">
                  <c:v>9.16</c:v>
                </c:pt>
                <c:pt idx="29">
                  <c:v>9</c:v>
                </c:pt>
                <c:pt idx="30">
                  <c:v>9.23</c:v>
                </c:pt>
                <c:pt idx="31">
                  <c:v>9.31</c:v>
                </c:pt>
                <c:pt idx="32">
                  <c:v>9.24</c:v>
                </c:pt>
                <c:pt idx="33">
                  <c:v>8.68</c:v>
                </c:pt>
                <c:pt idx="34">
                  <c:v>8.61</c:v>
                </c:pt>
                <c:pt idx="35">
                  <c:v>8.86</c:v>
                </c:pt>
                <c:pt idx="36">
                  <c:v>8.9499999999999993</c:v>
                </c:pt>
                <c:pt idx="37">
                  <c:v>9.02</c:v>
                </c:pt>
                <c:pt idx="38">
                  <c:v>8.77</c:v>
                </c:pt>
                <c:pt idx="39">
                  <c:v>8.8699999999999992</c:v>
                </c:pt>
                <c:pt idx="40">
                  <c:v>8.7100000000000009</c:v>
                </c:pt>
                <c:pt idx="41">
                  <c:v>8.84</c:v>
                </c:pt>
                <c:pt idx="42">
                  <c:v>8.66</c:v>
                </c:pt>
                <c:pt idx="43">
                  <c:v>8.43</c:v>
                </c:pt>
                <c:pt idx="44">
                  <c:v>8.2899999999999991</c:v>
                </c:pt>
                <c:pt idx="45">
                  <c:v>8.34</c:v>
                </c:pt>
                <c:pt idx="46">
                  <c:v>8.4499999999999993</c:v>
                </c:pt>
                <c:pt idx="47">
                  <c:v>8.15</c:v>
                </c:pt>
                <c:pt idx="48">
                  <c:v>8</c:v>
                </c:pt>
                <c:pt idx="49">
                  <c:v>7.88</c:v>
                </c:pt>
                <c:pt idx="50">
                  <c:v>7.76</c:v>
                </c:pt>
                <c:pt idx="51">
                  <c:v>7.28</c:v>
                </c:pt>
                <c:pt idx="52">
                  <c:v>7.12</c:v>
                </c:pt>
                <c:pt idx="53">
                  <c:v>6.72</c:v>
                </c:pt>
                <c:pt idx="54">
                  <c:v>6.64</c:v>
                </c:pt>
                <c:pt idx="55">
                  <c:v>6.87</c:v>
                </c:pt>
                <c:pt idx="56">
                  <c:v>7.3</c:v>
                </c:pt>
                <c:pt idx="57">
                  <c:v>7.24</c:v>
                </c:pt>
                <c:pt idx="58">
                  <c:v>7.2</c:v>
                </c:pt>
                <c:pt idx="59">
                  <c:v>7.14</c:v>
                </c:pt>
                <c:pt idx="60">
                  <c:v>6.81</c:v>
                </c:pt>
                <c:pt idx="61">
                  <c:v>6.52</c:v>
                </c:pt>
                <c:pt idx="62">
                  <c:v>6.04</c:v>
                </c:pt>
                <c:pt idx="63">
                  <c:v>5.67</c:v>
                </c:pt>
                <c:pt idx="64">
                  <c:v>5.58</c:v>
                </c:pt>
                <c:pt idx="65">
                  <c:v>5.72</c:v>
                </c:pt>
                <c:pt idx="66">
                  <c:v>6.1</c:v>
                </c:pt>
                <c:pt idx="67">
                  <c:v>6.11</c:v>
                </c:pt>
                <c:pt idx="68">
                  <c:v>6.71</c:v>
                </c:pt>
                <c:pt idx="69">
                  <c:v>6.61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8531712"/>
        <c:axId val="228095456"/>
      </c:lineChart>
      <c:catAx>
        <c:axId val="2285317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WALA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95456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228095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531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 dirty="0" smtClean="0">
                <a:effectLst/>
              </a:rPr>
              <a:t>Base Turnover </a:t>
            </a:r>
            <a:r>
              <a:rPr lang="en-US" sz="1800" b="1" baseline="0" dirty="0" smtClean="0"/>
              <a:t>CPR </a:t>
            </a:r>
            <a:r>
              <a:rPr lang="en-US" sz="1800" b="1" baseline="0" dirty="0" smtClean="0"/>
              <a:t>(Credit Data)</a:t>
            </a:r>
            <a:endParaRPr lang="en-US" sz="18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'GSE Turnover'!$B$1</c:f>
              <c:strCache>
                <c:ptCount val="1"/>
                <c:pt idx="0">
                  <c:v>Fannie Loan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'GSE Turnover'!$A$2:$A$71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'GSE Turnover'!$B$2:$B$71</c:f>
              <c:numCache>
                <c:formatCode>General</c:formatCode>
                <c:ptCount val="70"/>
                <c:pt idx="0">
                  <c:v>0.8</c:v>
                </c:pt>
                <c:pt idx="1">
                  <c:v>1.26</c:v>
                </c:pt>
                <c:pt idx="2">
                  <c:v>1.7</c:v>
                </c:pt>
                <c:pt idx="3">
                  <c:v>2.2599999999999998</c:v>
                </c:pt>
                <c:pt idx="4">
                  <c:v>2.7</c:v>
                </c:pt>
                <c:pt idx="5">
                  <c:v>3.06</c:v>
                </c:pt>
                <c:pt idx="6">
                  <c:v>3.41</c:v>
                </c:pt>
                <c:pt idx="7">
                  <c:v>3.88</c:v>
                </c:pt>
                <c:pt idx="8">
                  <c:v>4.2699999999999996</c:v>
                </c:pt>
                <c:pt idx="9">
                  <c:v>5.04</c:v>
                </c:pt>
                <c:pt idx="10">
                  <c:v>5.59</c:v>
                </c:pt>
                <c:pt idx="11">
                  <c:v>5.72</c:v>
                </c:pt>
                <c:pt idx="12">
                  <c:v>6.15</c:v>
                </c:pt>
                <c:pt idx="13">
                  <c:v>6.55</c:v>
                </c:pt>
                <c:pt idx="14">
                  <c:v>6.21</c:v>
                </c:pt>
                <c:pt idx="15">
                  <c:v>6</c:v>
                </c:pt>
                <c:pt idx="16">
                  <c:v>5.72</c:v>
                </c:pt>
                <c:pt idx="17">
                  <c:v>5.78</c:v>
                </c:pt>
                <c:pt idx="18">
                  <c:v>6.19</c:v>
                </c:pt>
                <c:pt idx="19">
                  <c:v>6.32</c:v>
                </c:pt>
                <c:pt idx="20">
                  <c:v>6.58</c:v>
                </c:pt>
                <c:pt idx="21">
                  <c:v>7.06</c:v>
                </c:pt>
                <c:pt idx="22">
                  <c:v>7.61</c:v>
                </c:pt>
                <c:pt idx="23">
                  <c:v>7.66</c:v>
                </c:pt>
                <c:pt idx="24">
                  <c:v>7.62</c:v>
                </c:pt>
                <c:pt idx="25">
                  <c:v>7.71</c:v>
                </c:pt>
                <c:pt idx="26">
                  <c:v>7.71</c:v>
                </c:pt>
                <c:pt idx="27">
                  <c:v>8.01</c:v>
                </c:pt>
                <c:pt idx="28">
                  <c:v>8.08</c:v>
                </c:pt>
                <c:pt idx="29">
                  <c:v>8.4</c:v>
                </c:pt>
                <c:pt idx="30">
                  <c:v>8.59</c:v>
                </c:pt>
                <c:pt idx="31">
                  <c:v>8.66</c:v>
                </c:pt>
                <c:pt idx="32">
                  <c:v>8.3699999999999992</c:v>
                </c:pt>
                <c:pt idx="33">
                  <c:v>8.27</c:v>
                </c:pt>
                <c:pt idx="34">
                  <c:v>8.19</c:v>
                </c:pt>
                <c:pt idx="35">
                  <c:v>8.42</c:v>
                </c:pt>
                <c:pt idx="36">
                  <c:v>8.36</c:v>
                </c:pt>
                <c:pt idx="37">
                  <c:v>8.3699999999999992</c:v>
                </c:pt>
                <c:pt idx="38">
                  <c:v>8.32</c:v>
                </c:pt>
                <c:pt idx="39">
                  <c:v>8.43</c:v>
                </c:pt>
                <c:pt idx="40">
                  <c:v>8.4499999999999993</c:v>
                </c:pt>
                <c:pt idx="41">
                  <c:v>8.3000000000000007</c:v>
                </c:pt>
                <c:pt idx="42">
                  <c:v>8.16</c:v>
                </c:pt>
                <c:pt idx="43">
                  <c:v>8.1199999999999992</c:v>
                </c:pt>
                <c:pt idx="44">
                  <c:v>8.11</c:v>
                </c:pt>
                <c:pt idx="45">
                  <c:v>8.16</c:v>
                </c:pt>
                <c:pt idx="46">
                  <c:v>8.06</c:v>
                </c:pt>
                <c:pt idx="47">
                  <c:v>7.74</c:v>
                </c:pt>
                <c:pt idx="48">
                  <c:v>7.5</c:v>
                </c:pt>
                <c:pt idx="49">
                  <c:v>7.41</c:v>
                </c:pt>
                <c:pt idx="50">
                  <c:v>6.7</c:v>
                </c:pt>
                <c:pt idx="51">
                  <c:v>6.72</c:v>
                </c:pt>
                <c:pt idx="52">
                  <c:v>6.44</c:v>
                </c:pt>
                <c:pt idx="53">
                  <c:v>6.27</c:v>
                </c:pt>
                <c:pt idx="54">
                  <c:v>6.24</c:v>
                </c:pt>
                <c:pt idx="55">
                  <c:v>6.54</c:v>
                </c:pt>
                <c:pt idx="56">
                  <c:v>6.82</c:v>
                </c:pt>
                <c:pt idx="57">
                  <c:v>6.76</c:v>
                </c:pt>
                <c:pt idx="58">
                  <c:v>6.32</c:v>
                </c:pt>
                <c:pt idx="59">
                  <c:v>5.97</c:v>
                </c:pt>
                <c:pt idx="60">
                  <c:v>6.04</c:v>
                </c:pt>
                <c:pt idx="61">
                  <c:v>5.36</c:v>
                </c:pt>
                <c:pt idx="62">
                  <c:v>5.01</c:v>
                </c:pt>
                <c:pt idx="63">
                  <c:v>5.41</c:v>
                </c:pt>
                <c:pt idx="64">
                  <c:v>6.3</c:v>
                </c:pt>
                <c:pt idx="65">
                  <c:v>6.68</c:v>
                </c:pt>
                <c:pt idx="66">
                  <c:v>6.81</c:v>
                </c:pt>
                <c:pt idx="67">
                  <c:v>7.26</c:v>
                </c:pt>
                <c:pt idx="68">
                  <c:v>7.22</c:v>
                </c:pt>
                <c:pt idx="69">
                  <c:v>6.81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'GSE Turnover'!$C$1</c:f>
              <c:strCache>
                <c:ptCount val="1"/>
                <c:pt idx="0">
                  <c:v>Freddie Loan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'GSE Turnover'!$A$2:$A$71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'GSE Turnover'!$C$2:$C$71</c:f>
              <c:numCache>
                <c:formatCode>General</c:formatCode>
                <c:ptCount val="70"/>
                <c:pt idx="0">
                  <c:v>0.75</c:v>
                </c:pt>
                <c:pt idx="1">
                  <c:v>1.32</c:v>
                </c:pt>
                <c:pt idx="2">
                  <c:v>1.78</c:v>
                </c:pt>
                <c:pt idx="3">
                  <c:v>2.13</c:v>
                </c:pt>
                <c:pt idx="4">
                  <c:v>2.58</c:v>
                </c:pt>
                <c:pt idx="5">
                  <c:v>2.98</c:v>
                </c:pt>
                <c:pt idx="6">
                  <c:v>3.41</c:v>
                </c:pt>
                <c:pt idx="7">
                  <c:v>3.98</c:v>
                </c:pt>
                <c:pt idx="8">
                  <c:v>4.47</c:v>
                </c:pt>
                <c:pt idx="9">
                  <c:v>5.5</c:v>
                </c:pt>
                <c:pt idx="10">
                  <c:v>6.01</c:v>
                </c:pt>
                <c:pt idx="11">
                  <c:v>6.27</c:v>
                </c:pt>
                <c:pt idx="12">
                  <c:v>6.76</c:v>
                </c:pt>
                <c:pt idx="13">
                  <c:v>6.75</c:v>
                </c:pt>
                <c:pt idx="14">
                  <c:v>6.55</c:v>
                </c:pt>
                <c:pt idx="15">
                  <c:v>6.53</c:v>
                </c:pt>
                <c:pt idx="16">
                  <c:v>6.51</c:v>
                </c:pt>
                <c:pt idx="17">
                  <c:v>6.76</c:v>
                </c:pt>
                <c:pt idx="18">
                  <c:v>6.84</c:v>
                </c:pt>
                <c:pt idx="19">
                  <c:v>7.1</c:v>
                </c:pt>
                <c:pt idx="20">
                  <c:v>7.67</c:v>
                </c:pt>
                <c:pt idx="21">
                  <c:v>7.89</c:v>
                </c:pt>
                <c:pt idx="22">
                  <c:v>8.34</c:v>
                </c:pt>
                <c:pt idx="23">
                  <c:v>8.56</c:v>
                </c:pt>
                <c:pt idx="24">
                  <c:v>8.16</c:v>
                </c:pt>
                <c:pt idx="25">
                  <c:v>8.23</c:v>
                </c:pt>
                <c:pt idx="26">
                  <c:v>7.97</c:v>
                </c:pt>
                <c:pt idx="27">
                  <c:v>8.11</c:v>
                </c:pt>
                <c:pt idx="28">
                  <c:v>8.19</c:v>
                </c:pt>
                <c:pt idx="29">
                  <c:v>8.1199999999999992</c:v>
                </c:pt>
                <c:pt idx="30">
                  <c:v>8.2200000000000006</c:v>
                </c:pt>
                <c:pt idx="31">
                  <c:v>8.11</c:v>
                </c:pt>
                <c:pt idx="32">
                  <c:v>7.83</c:v>
                </c:pt>
                <c:pt idx="33">
                  <c:v>7.41</c:v>
                </c:pt>
                <c:pt idx="34">
                  <c:v>7.66</c:v>
                </c:pt>
                <c:pt idx="35">
                  <c:v>7.72</c:v>
                </c:pt>
                <c:pt idx="36">
                  <c:v>7.71</c:v>
                </c:pt>
                <c:pt idx="37">
                  <c:v>7.63</c:v>
                </c:pt>
                <c:pt idx="38">
                  <c:v>7.55</c:v>
                </c:pt>
                <c:pt idx="39">
                  <c:v>7.54</c:v>
                </c:pt>
                <c:pt idx="40">
                  <c:v>7.54</c:v>
                </c:pt>
                <c:pt idx="41">
                  <c:v>7.49</c:v>
                </c:pt>
                <c:pt idx="42">
                  <c:v>7.59</c:v>
                </c:pt>
                <c:pt idx="43">
                  <c:v>7.57</c:v>
                </c:pt>
                <c:pt idx="44">
                  <c:v>7.45</c:v>
                </c:pt>
                <c:pt idx="45">
                  <c:v>7.75</c:v>
                </c:pt>
                <c:pt idx="46">
                  <c:v>7.5</c:v>
                </c:pt>
                <c:pt idx="47">
                  <c:v>7.05</c:v>
                </c:pt>
                <c:pt idx="48">
                  <c:v>7.22</c:v>
                </c:pt>
                <c:pt idx="49">
                  <c:v>6.76</c:v>
                </c:pt>
                <c:pt idx="50">
                  <c:v>6.35</c:v>
                </c:pt>
                <c:pt idx="51">
                  <c:v>6.28</c:v>
                </c:pt>
                <c:pt idx="52">
                  <c:v>5.9</c:v>
                </c:pt>
                <c:pt idx="53">
                  <c:v>5.96</c:v>
                </c:pt>
                <c:pt idx="54">
                  <c:v>6.02</c:v>
                </c:pt>
                <c:pt idx="55">
                  <c:v>6.58</c:v>
                </c:pt>
                <c:pt idx="56">
                  <c:v>6.53</c:v>
                </c:pt>
                <c:pt idx="57">
                  <c:v>6.5</c:v>
                </c:pt>
                <c:pt idx="58">
                  <c:v>6.49</c:v>
                </c:pt>
                <c:pt idx="59">
                  <c:v>6.09</c:v>
                </c:pt>
                <c:pt idx="60">
                  <c:v>5.3</c:v>
                </c:pt>
                <c:pt idx="61">
                  <c:v>5.25</c:v>
                </c:pt>
                <c:pt idx="62">
                  <c:v>4.6900000000000004</c:v>
                </c:pt>
                <c:pt idx="63">
                  <c:v>5.07</c:v>
                </c:pt>
                <c:pt idx="64">
                  <c:v>5.82</c:v>
                </c:pt>
                <c:pt idx="65">
                  <c:v>6.76</c:v>
                </c:pt>
                <c:pt idx="66">
                  <c:v>6.75</c:v>
                </c:pt>
                <c:pt idx="67">
                  <c:v>6.73</c:v>
                </c:pt>
                <c:pt idx="68">
                  <c:v>6.3</c:v>
                </c:pt>
                <c:pt idx="69">
                  <c:v>5.96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'GSE Turnover'!$D$1</c:f>
              <c:strCache>
                <c:ptCount val="1"/>
                <c:pt idx="0">
                  <c:v>Combined Loan</c:v>
                </c:pt>
              </c:strCache>
            </c:strRef>
          </c:tx>
          <c:spPr>
            <a:ln w="28575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'GSE Turnover'!$A$2:$A$71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'GSE Turnover'!$D$2:$D$71</c:f>
              <c:numCache>
                <c:formatCode>General</c:formatCode>
                <c:ptCount val="70"/>
                <c:pt idx="0">
                  <c:v>0.78</c:v>
                </c:pt>
                <c:pt idx="1">
                  <c:v>1.29</c:v>
                </c:pt>
                <c:pt idx="2">
                  <c:v>1.74</c:v>
                </c:pt>
                <c:pt idx="3">
                  <c:v>2.2000000000000002</c:v>
                </c:pt>
                <c:pt idx="4">
                  <c:v>2.64</c:v>
                </c:pt>
                <c:pt idx="5">
                  <c:v>3.02</c:v>
                </c:pt>
                <c:pt idx="6">
                  <c:v>3.41</c:v>
                </c:pt>
                <c:pt idx="7">
                  <c:v>3.93</c:v>
                </c:pt>
                <c:pt idx="8">
                  <c:v>4.3600000000000003</c:v>
                </c:pt>
                <c:pt idx="9">
                  <c:v>5.24</c:v>
                </c:pt>
                <c:pt idx="10">
                  <c:v>5.76</c:v>
                </c:pt>
                <c:pt idx="11">
                  <c:v>5.94</c:v>
                </c:pt>
                <c:pt idx="12">
                  <c:v>6.39</c:v>
                </c:pt>
                <c:pt idx="13">
                  <c:v>6.62</c:v>
                </c:pt>
                <c:pt idx="14">
                  <c:v>6.34</c:v>
                </c:pt>
                <c:pt idx="15">
                  <c:v>6.19</c:v>
                </c:pt>
                <c:pt idx="16">
                  <c:v>6</c:v>
                </c:pt>
                <c:pt idx="17">
                  <c:v>6.12</c:v>
                </c:pt>
                <c:pt idx="18">
                  <c:v>6.42</c:v>
                </c:pt>
                <c:pt idx="19">
                  <c:v>6.59</c:v>
                </c:pt>
                <c:pt idx="20">
                  <c:v>6.98</c:v>
                </c:pt>
                <c:pt idx="21">
                  <c:v>7.37</c:v>
                </c:pt>
                <c:pt idx="22">
                  <c:v>7.89</c:v>
                </c:pt>
                <c:pt idx="23">
                  <c:v>8.01</c:v>
                </c:pt>
                <c:pt idx="24">
                  <c:v>7.84</c:v>
                </c:pt>
                <c:pt idx="25">
                  <c:v>7.93</c:v>
                </c:pt>
                <c:pt idx="26">
                  <c:v>7.83</c:v>
                </c:pt>
                <c:pt idx="27">
                  <c:v>8.0500000000000007</c:v>
                </c:pt>
                <c:pt idx="28">
                  <c:v>8.1300000000000008</c:v>
                </c:pt>
                <c:pt idx="29">
                  <c:v>8.27</c:v>
                </c:pt>
                <c:pt idx="30">
                  <c:v>8.42</c:v>
                </c:pt>
                <c:pt idx="31">
                  <c:v>8.41</c:v>
                </c:pt>
                <c:pt idx="32">
                  <c:v>8.1199999999999992</c:v>
                </c:pt>
                <c:pt idx="33">
                  <c:v>7.87</c:v>
                </c:pt>
                <c:pt idx="34">
                  <c:v>7.94</c:v>
                </c:pt>
                <c:pt idx="35">
                  <c:v>8.09</c:v>
                </c:pt>
                <c:pt idx="36">
                  <c:v>8.06</c:v>
                </c:pt>
                <c:pt idx="37">
                  <c:v>8.0299999999999994</c:v>
                </c:pt>
                <c:pt idx="38">
                  <c:v>7.97</c:v>
                </c:pt>
                <c:pt idx="39">
                  <c:v>8.0399999999999991</c:v>
                </c:pt>
                <c:pt idx="40">
                  <c:v>8.06</c:v>
                </c:pt>
                <c:pt idx="41">
                  <c:v>7.96</c:v>
                </c:pt>
                <c:pt idx="42">
                  <c:v>7.93</c:v>
                </c:pt>
                <c:pt idx="43">
                  <c:v>7.89</c:v>
                </c:pt>
                <c:pt idx="44">
                  <c:v>7.83</c:v>
                </c:pt>
                <c:pt idx="45">
                  <c:v>7.98</c:v>
                </c:pt>
                <c:pt idx="46">
                  <c:v>7.82</c:v>
                </c:pt>
                <c:pt idx="47">
                  <c:v>7.44</c:v>
                </c:pt>
                <c:pt idx="48">
                  <c:v>7.38</c:v>
                </c:pt>
                <c:pt idx="49">
                  <c:v>7.13</c:v>
                </c:pt>
                <c:pt idx="50">
                  <c:v>6.56</c:v>
                </c:pt>
                <c:pt idx="51">
                  <c:v>6.54</c:v>
                </c:pt>
                <c:pt idx="52">
                  <c:v>6.22</c:v>
                </c:pt>
                <c:pt idx="53">
                  <c:v>6.14</c:v>
                </c:pt>
                <c:pt idx="54">
                  <c:v>6.15</c:v>
                </c:pt>
                <c:pt idx="55">
                  <c:v>6.55</c:v>
                </c:pt>
                <c:pt idx="56">
                  <c:v>6.7</c:v>
                </c:pt>
                <c:pt idx="57">
                  <c:v>6.66</c:v>
                </c:pt>
                <c:pt idx="58">
                  <c:v>6.39</c:v>
                </c:pt>
                <c:pt idx="59">
                  <c:v>6.02</c:v>
                </c:pt>
                <c:pt idx="60">
                  <c:v>5.73</c:v>
                </c:pt>
                <c:pt idx="61">
                  <c:v>5.32</c:v>
                </c:pt>
                <c:pt idx="62">
                  <c:v>4.88</c:v>
                </c:pt>
                <c:pt idx="63">
                  <c:v>5.28</c:v>
                </c:pt>
                <c:pt idx="64">
                  <c:v>6.11</c:v>
                </c:pt>
                <c:pt idx="65">
                  <c:v>6.71</c:v>
                </c:pt>
                <c:pt idx="66">
                  <c:v>6.79</c:v>
                </c:pt>
                <c:pt idx="67">
                  <c:v>7.08</c:v>
                </c:pt>
                <c:pt idx="68">
                  <c:v>6.88</c:v>
                </c:pt>
                <c:pt idx="69">
                  <c:v>6.48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5589720"/>
        <c:axId val="414065304"/>
      </c:lineChart>
      <c:catAx>
        <c:axId val="2255897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WALA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4065304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414065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CPR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5589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Base Turnover CPR Prepay Pool vs Credit Loan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'Turnover Comparison WALA'!$L$1</c:f>
              <c:strCache>
                <c:ptCount val="1"/>
                <c:pt idx="0">
                  <c:v>Pool CPR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'Turnover Comparison WALA'!$K$2:$K$71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'Turnover Comparison WALA'!$L$2:$L$71</c:f>
              <c:numCache>
                <c:formatCode>General</c:formatCode>
                <c:ptCount val="70"/>
                <c:pt idx="0">
                  <c:v>0.55000000000000004</c:v>
                </c:pt>
                <c:pt idx="1">
                  <c:v>1.47</c:v>
                </c:pt>
                <c:pt idx="2">
                  <c:v>2.12</c:v>
                </c:pt>
                <c:pt idx="3">
                  <c:v>2.61</c:v>
                </c:pt>
                <c:pt idx="4">
                  <c:v>2.99</c:v>
                </c:pt>
                <c:pt idx="5">
                  <c:v>3.24</c:v>
                </c:pt>
                <c:pt idx="6">
                  <c:v>3.58</c:v>
                </c:pt>
                <c:pt idx="7">
                  <c:v>4.1100000000000003</c:v>
                </c:pt>
                <c:pt idx="8">
                  <c:v>4.59</c:v>
                </c:pt>
                <c:pt idx="9">
                  <c:v>5.15</c:v>
                </c:pt>
                <c:pt idx="10">
                  <c:v>5.72</c:v>
                </c:pt>
                <c:pt idx="11">
                  <c:v>6.21</c:v>
                </c:pt>
                <c:pt idx="12">
                  <c:v>6.84</c:v>
                </c:pt>
                <c:pt idx="13">
                  <c:v>6.99</c:v>
                </c:pt>
                <c:pt idx="14">
                  <c:v>6.56</c:v>
                </c:pt>
                <c:pt idx="15">
                  <c:v>6.36</c:v>
                </c:pt>
                <c:pt idx="16">
                  <c:v>6.36</c:v>
                </c:pt>
                <c:pt idx="17">
                  <c:v>6.44</c:v>
                </c:pt>
                <c:pt idx="18">
                  <c:v>6.62</c:v>
                </c:pt>
                <c:pt idx="19">
                  <c:v>7.05</c:v>
                </c:pt>
                <c:pt idx="20">
                  <c:v>7.34</c:v>
                </c:pt>
                <c:pt idx="21">
                  <c:v>7.41</c:v>
                </c:pt>
                <c:pt idx="22">
                  <c:v>7.53</c:v>
                </c:pt>
                <c:pt idx="23">
                  <c:v>7.96</c:v>
                </c:pt>
                <c:pt idx="24">
                  <c:v>8.4700000000000006</c:v>
                </c:pt>
                <c:pt idx="25">
                  <c:v>8.56</c:v>
                </c:pt>
                <c:pt idx="26">
                  <c:v>8.84</c:v>
                </c:pt>
                <c:pt idx="27">
                  <c:v>9.06</c:v>
                </c:pt>
                <c:pt idx="28">
                  <c:v>9.16</c:v>
                </c:pt>
                <c:pt idx="29">
                  <c:v>9</c:v>
                </c:pt>
                <c:pt idx="30">
                  <c:v>9.23</c:v>
                </c:pt>
                <c:pt idx="31">
                  <c:v>9.31</c:v>
                </c:pt>
                <c:pt idx="32">
                  <c:v>9.24</c:v>
                </c:pt>
                <c:pt idx="33">
                  <c:v>8.68</c:v>
                </c:pt>
                <c:pt idx="34">
                  <c:v>8.61</c:v>
                </c:pt>
                <c:pt idx="35">
                  <c:v>8.86</c:v>
                </c:pt>
                <c:pt idx="36">
                  <c:v>8.9499999999999993</c:v>
                </c:pt>
                <c:pt idx="37">
                  <c:v>9.02</c:v>
                </c:pt>
                <c:pt idx="38">
                  <c:v>8.77</c:v>
                </c:pt>
                <c:pt idx="39">
                  <c:v>8.8699999999999992</c:v>
                </c:pt>
                <c:pt idx="40">
                  <c:v>8.7100000000000009</c:v>
                </c:pt>
                <c:pt idx="41">
                  <c:v>8.84</c:v>
                </c:pt>
                <c:pt idx="42">
                  <c:v>8.66</c:v>
                </c:pt>
                <c:pt idx="43">
                  <c:v>8.43</c:v>
                </c:pt>
                <c:pt idx="44">
                  <c:v>8.2899999999999991</c:v>
                </c:pt>
                <c:pt idx="45">
                  <c:v>8.34</c:v>
                </c:pt>
                <c:pt idx="46">
                  <c:v>8.4499999999999993</c:v>
                </c:pt>
                <c:pt idx="47">
                  <c:v>8.15</c:v>
                </c:pt>
                <c:pt idx="48">
                  <c:v>8</c:v>
                </c:pt>
                <c:pt idx="49">
                  <c:v>7.88</c:v>
                </c:pt>
                <c:pt idx="50">
                  <c:v>7.76</c:v>
                </c:pt>
                <c:pt idx="51">
                  <c:v>7.28</c:v>
                </c:pt>
                <c:pt idx="52">
                  <c:v>7.12</c:v>
                </c:pt>
                <c:pt idx="53">
                  <c:v>6.72</c:v>
                </c:pt>
                <c:pt idx="54">
                  <c:v>6.64</c:v>
                </c:pt>
                <c:pt idx="55">
                  <c:v>6.87</c:v>
                </c:pt>
                <c:pt idx="56">
                  <c:v>7.3</c:v>
                </c:pt>
                <c:pt idx="57">
                  <c:v>7.24</c:v>
                </c:pt>
                <c:pt idx="58">
                  <c:v>7.2</c:v>
                </c:pt>
                <c:pt idx="59">
                  <c:v>7.14</c:v>
                </c:pt>
                <c:pt idx="60">
                  <c:v>6.81</c:v>
                </c:pt>
                <c:pt idx="61">
                  <c:v>6.52</c:v>
                </c:pt>
                <c:pt idx="62">
                  <c:v>6.04</c:v>
                </c:pt>
                <c:pt idx="63">
                  <c:v>5.67</c:v>
                </c:pt>
                <c:pt idx="64">
                  <c:v>5.58</c:v>
                </c:pt>
                <c:pt idx="65">
                  <c:v>5.72</c:v>
                </c:pt>
                <c:pt idx="66">
                  <c:v>6.1</c:v>
                </c:pt>
                <c:pt idx="67">
                  <c:v>6.11</c:v>
                </c:pt>
                <c:pt idx="68">
                  <c:v>6.71</c:v>
                </c:pt>
                <c:pt idx="69">
                  <c:v>6.61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'Turnover Comparison WALA'!$M$1</c:f>
              <c:strCache>
                <c:ptCount val="1"/>
                <c:pt idx="0">
                  <c:v>Adj Pool CPR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'Turnover Comparison WALA'!$K$2:$K$71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'Turnover Comparison WALA'!$M$2:$M$71</c:f>
              <c:numCache>
                <c:formatCode>General</c:formatCode>
                <c:ptCount val="70"/>
                <c:pt idx="0">
                  <c:v>0.51034492325415193</c:v>
                </c:pt>
                <c:pt idx="1">
                  <c:v>1.3873096100919311</c:v>
                </c:pt>
                <c:pt idx="2">
                  <c:v>1.9920291320366101</c:v>
                </c:pt>
                <c:pt idx="3">
                  <c:v>2.4356368777319819</c:v>
                </c:pt>
                <c:pt idx="4">
                  <c:v>2.7692643783498414</c:v>
                </c:pt>
                <c:pt idx="5">
                  <c:v>2.9640412506785516</c:v>
                </c:pt>
                <c:pt idx="6">
                  <c:v>3.2310952575843941</c:v>
                </c:pt>
                <c:pt idx="7">
                  <c:v>3.7215524855391742</c:v>
                </c:pt>
                <c:pt idx="8">
                  <c:v>4.1465376389402833</c:v>
                </c:pt>
                <c:pt idx="9">
                  <c:v>4.6771744510095523</c:v>
                </c:pt>
                <c:pt idx="10">
                  <c:v>5.2245862111523733</c:v>
                </c:pt>
                <c:pt idx="11">
                  <c:v>5.6798964087796477</c:v>
                </c:pt>
                <c:pt idx="12">
                  <c:v>6.3097815415978049</c:v>
                </c:pt>
                <c:pt idx="13">
                  <c:v>6.4401594489756642</c:v>
                </c:pt>
                <c:pt idx="14">
                  <c:v>5.9810162360949946</c:v>
                </c:pt>
                <c:pt idx="15">
                  <c:v>5.772338019231662</c:v>
                </c:pt>
                <c:pt idx="16">
                  <c:v>5.7541109251552873</c:v>
                </c:pt>
                <c:pt idx="17">
                  <c:v>5.8263210905458918</c:v>
                </c:pt>
                <c:pt idx="18">
                  <c:v>5.9689546614292741</c:v>
                </c:pt>
                <c:pt idx="19">
                  <c:v>6.3819977926299947</c:v>
                </c:pt>
                <c:pt idx="20">
                  <c:v>6.6554366472418218</c:v>
                </c:pt>
                <c:pt idx="21">
                  <c:v>6.7192573961156183</c:v>
                </c:pt>
                <c:pt idx="22">
                  <c:v>6.7934462173661467</c:v>
                </c:pt>
                <c:pt idx="23">
                  <c:v>7.2079892958946443</c:v>
                </c:pt>
                <c:pt idx="24">
                  <c:v>7.6828728229308494</c:v>
                </c:pt>
                <c:pt idx="25">
                  <c:v>7.7680829955919473</c:v>
                </c:pt>
                <c:pt idx="26">
                  <c:v>8.0236060164582081</c:v>
                </c:pt>
                <c:pt idx="27">
                  <c:v>8.1994280931679242</c:v>
                </c:pt>
                <c:pt idx="28">
                  <c:v>8.2455354380286767</c:v>
                </c:pt>
                <c:pt idx="29">
                  <c:v>8.0419142676465469</c:v>
                </c:pt>
                <c:pt idx="30">
                  <c:v>8.2885508025729244</c:v>
                </c:pt>
                <c:pt idx="31">
                  <c:v>8.3854312669684123</c:v>
                </c:pt>
                <c:pt idx="32">
                  <c:v>8.2525418882851103</c:v>
                </c:pt>
                <c:pt idx="33">
                  <c:v>7.6498688969657804</c:v>
                </c:pt>
                <c:pt idx="34">
                  <c:v>7.5173985261601608</c:v>
                </c:pt>
                <c:pt idx="35">
                  <c:v>7.7751170114594306</c:v>
                </c:pt>
                <c:pt idx="36">
                  <c:v>7.9030105906483854</c:v>
                </c:pt>
                <c:pt idx="37">
                  <c:v>7.9310655034740272</c:v>
                </c:pt>
                <c:pt idx="38">
                  <c:v>7.6792679914325257</c:v>
                </c:pt>
                <c:pt idx="39">
                  <c:v>7.7476042975730932</c:v>
                </c:pt>
                <c:pt idx="40">
                  <c:v>7.6460606663199728</c:v>
                </c:pt>
                <c:pt idx="41">
                  <c:v>7.8246233433110941</c:v>
                </c:pt>
                <c:pt idx="42">
                  <c:v>7.6832785752547386</c:v>
                </c:pt>
                <c:pt idx="43">
                  <c:v>7.4520126098033241</c:v>
                </c:pt>
                <c:pt idx="44">
                  <c:v>7.3008116954447564</c:v>
                </c:pt>
                <c:pt idx="45">
                  <c:v>7.3796620814115101</c:v>
                </c:pt>
                <c:pt idx="46">
                  <c:v>7.4685500176066553</c:v>
                </c:pt>
                <c:pt idx="47">
                  <c:v>7.1074617545471117</c:v>
                </c:pt>
                <c:pt idx="48">
                  <c:v>6.9263835433258283</c:v>
                </c:pt>
                <c:pt idx="49">
                  <c:v>6.8153016355890843</c:v>
                </c:pt>
                <c:pt idx="50">
                  <c:v>6.6942022835332615</c:v>
                </c:pt>
                <c:pt idx="51">
                  <c:v>6.2730717399183709</c:v>
                </c:pt>
                <c:pt idx="52">
                  <c:v>6.1018962580979119</c:v>
                </c:pt>
                <c:pt idx="53">
                  <c:v>5.6806620920681379</c:v>
                </c:pt>
                <c:pt idx="54">
                  <c:v>5.6293554965333481</c:v>
                </c:pt>
                <c:pt idx="55">
                  <c:v>5.8679627269890213</c:v>
                </c:pt>
                <c:pt idx="56">
                  <c:v>6.3164700398223825</c:v>
                </c:pt>
                <c:pt idx="57">
                  <c:v>6.2348636924302365</c:v>
                </c:pt>
                <c:pt idx="58">
                  <c:v>6.1831299433546754</c:v>
                </c:pt>
                <c:pt idx="59">
                  <c:v>6.0912550524353133</c:v>
                </c:pt>
                <c:pt idx="60">
                  <c:v>5.5392259011328608</c:v>
                </c:pt>
                <c:pt idx="61">
                  <c:v>5.2870413671501533</c:v>
                </c:pt>
                <c:pt idx="62">
                  <c:v>4.8247057060088485</c:v>
                </c:pt>
                <c:pt idx="63">
                  <c:v>4.4922231735087887</c:v>
                </c:pt>
                <c:pt idx="64">
                  <c:v>4.4095980256696592</c:v>
                </c:pt>
                <c:pt idx="65">
                  <c:v>4.4868345186739189</c:v>
                </c:pt>
                <c:pt idx="66">
                  <c:v>4.9439369088119669</c:v>
                </c:pt>
                <c:pt idx="67">
                  <c:v>4.86090945242867</c:v>
                </c:pt>
                <c:pt idx="68">
                  <c:v>5.5177564058715109</c:v>
                </c:pt>
                <c:pt idx="69">
                  <c:v>5.2744820254406815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'Turnover Comparison WALA'!$N$1</c:f>
              <c:strCache>
                <c:ptCount val="1"/>
                <c:pt idx="0">
                  <c:v>Loan CPR</c:v>
                </c:pt>
              </c:strCache>
            </c:strRef>
          </c:tx>
          <c:spPr>
            <a:ln w="28575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'Turnover Comparison WALA'!$K$2:$K$71</c:f>
              <c:numCache>
                <c:formatCode>General</c:formatCode>
                <c:ptCount val="7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</c:numCache>
            </c:numRef>
          </c:cat>
          <c:val>
            <c:numRef>
              <c:f>'Turnover Comparison WALA'!$N$2:$N$71</c:f>
              <c:numCache>
                <c:formatCode>General</c:formatCode>
                <c:ptCount val="70"/>
                <c:pt idx="0">
                  <c:v>0.78</c:v>
                </c:pt>
                <c:pt idx="1">
                  <c:v>1.29</c:v>
                </c:pt>
                <c:pt idx="2">
                  <c:v>1.74</c:v>
                </c:pt>
                <c:pt idx="3">
                  <c:v>2.2000000000000002</c:v>
                </c:pt>
                <c:pt idx="4">
                  <c:v>2.64</c:v>
                </c:pt>
                <c:pt idx="5">
                  <c:v>3.02</c:v>
                </c:pt>
                <c:pt idx="6">
                  <c:v>3.41</c:v>
                </c:pt>
                <c:pt idx="7">
                  <c:v>3.93</c:v>
                </c:pt>
                <c:pt idx="8">
                  <c:v>4.3600000000000003</c:v>
                </c:pt>
                <c:pt idx="9">
                  <c:v>5.24</c:v>
                </c:pt>
                <c:pt idx="10">
                  <c:v>5.76</c:v>
                </c:pt>
                <c:pt idx="11">
                  <c:v>5.94</c:v>
                </c:pt>
                <c:pt idx="12">
                  <c:v>6.39</c:v>
                </c:pt>
                <c:pt idx="13">
                  <c:v>6.62</c:v>
                </c:pt>
                <c:pt idx="14">
                  <c:v>6.34</c:v>
                </c:pt>
                <c:pt idx="15">
                  <c:v>6.19</c:v>
                </c:pt>
                <c:pt idx="16">
                  <c:v>6</c:v>
                </c:pt>
                <c:pt idx="17">
                  <c:v>6.12</c:v>
                </c:pt>
                <c:pt idx="18">
                  <c:v>6.42</c:v>
                </c:pt>
                <c:pt idx="19">
                  <c:v>6.59</c:v>
                </c:pt>
                <c:pt idx="20">
                  <c:v>6.98</c:v>
                </c:pt>
                <c:pt idx="21">
                  <c:v>7.37</c:v>
                </c:pt>
                <c:pt idx="22">
                  <c:v>7.89</c:v>
                </c:pt>
                <c:pt idx="23">
                  <c:v>8.01</c:v>
                </c:pt>
                <c:pt idx="24">
                  <c:v>7.84</c:v>
                </c:pt>
                <c:pt idx="25">
                  <c:v>7.93</c:v>
                </c:pt>
                <c:pt idx="26">
                  <c:v>7.83</c:v>
                </c:pt>
                <c:pt idx="27">
                  <c:v>8.0500000000000007</c:v>
                </c:pt>
                <c:pt idx="28">
                  <c:v>8.1300000000000008</c:v>
                </c:pt>
                <c:pt idx="29">
                  <c:v>8.27</c:v>
                </c:pt>
                <c:pt idx="30">
                  <c:v>8.42</c:v>
                </c:pt>
                <c:pt idx="31">
                  <c:v>8.41</c:v>
                </c:pt>
                <c:pt idx="32">
                  <c:v>8.1199999999999992</c:v>
                </c:pt>
                <c:pt idx="33">
                  <c:v>7.87</c:v>
                </c:pt>
                <c:pt idx="34">
                  <c:v>7.94</c:v>
                </c:pt>
                <c:pt idx="35">
                  <c:v>8.09</c:v>
                </c:pt>
                <c:pt idx="36">
                  <c:v>8.06</c:v>
                </c:pt>
                <c:pt idx="37">
                  <c:v>8.0299999999999994</c:v>
                </c:pt>
                <c:pt idx="38">
                  <c:v>7.97</c:v>
                </c:pt>
                <c:pt idx="39">
                  <c:v>8.0399999999999991</c:v>
                </c:pt>
                <c:pt idx="40">
                  <c:v>8.06</c:v>
                </c:pt>
                <c:pt idx="41">
                  <c:v>7.96</c:v>
                </c:pt>
                <c:pt idx="42">
                  <c:v>7.93</c:v>
                </c:pt>
                <c:pt idx="43">
                  <c:v>7.89</c:v>
                </c:pt>
                <c:pt idx="44">
                  <c:v>7.83</c:v>
                </c:pt>
                <c:pt idx="45">
                  <c:v>7.98</c:v>
                </c:pt>
                <c:pt idx="46">
                  <c:v>7.82</c:v>
                </c:pt>
                <c:pt idx="47">
                  <c:v>7.44</c:v>
                </c:pt>
                <c:pt idx="48">
                  <c:v>7.38</c:v>
                </c:pt>
                <c:pt idx="49">
                  <c:v>7.13</c:v>
                </c:pt>
                <c:pt idx="50">
                  <c:v>6.56</c:v>
                </c:pt>
                <c:pt idx="51">
                  <c:v>6.54</c:v>
                </c:pt>
                <c:pt idx="52">
                  <c:v>6.22</c:v>
                </c:pt>
                <c:pt idx="53">
                  <c:v>6.14</c:v>
                </c:pt>
                <c:pt idx="54">
                  <c:v>6.15</c:v>
                </c:pt>
                <c:pt idx="55">
                  <c:v>6.55</c:v>
                </c:pt>
                <c:pt idx="56">
                  <c:v>6.7</c:v>
                </c:pt>
                <c:pt idx="57">
                  <c:v>6.66</c:v>
                </c:pt>
                <c:pt idx="58">
                  <c:v>6.39</c:v>
                </c:pt>
                <c:pt idx="59">
                  <c:v>6.02</c:v>
                </c:pt>
                <c:pt idx="60">
                  <c:v>5.73</c:v>
                </c:pt>
                <c:pt idx="61">
                  <c:v>5.32</c:v>
                </c:pt>
                <c:pt idx="62">
                  <c:v>4.88</c:v>
                </c:pt>
                <c:pt idx="63">
                  <c:v>5.28</c:v>
                </c:pt>
                <c:pt idx="64">
                  <c:v>6.11</c:v>
                </c:pt>
                <c:pt idx="65">
                  <c:v>6.71</c:v>
                </c:pt>
                <c:pt idx="66">
                  <c:v>6.79</c:v>
                </c:pt>
                <c:pt idx="67">
                  <c:v>7.08</c:v>
                </c:pt>
                <c:pt idx="68">
                  <c:v>6.88</c:v>
                </c:pt>
                <c:pt idx="69">
                  <c:v>6.48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9359056"/>
        <c:axId val="168970344"/>
      </c:lineChart>
      <c:catAx>
        <c:axId val="229359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WALA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970344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168970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9359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 dirty="0" smtClean="0">
                <a:effectLst/>
              </a:rPr>
              <a:t>Base Turnover </a:t>
            </a:r>
            <a:r>
              <a:rPr lang="en-US" sz="1800" b="1" i="0" baseline="0" dirty="0" smtClean="0">
                <a:effectLst/>
              </a:rPr>
              <a:t>CPR of Pool vs Loan by Date</a:t>
            </a:r>
            <a:endParaRPr lang="en-US" dirty="0">
              <a:effectLst/>
            </a:endParaRPr>
          </a:p>
        </c:rich>
      </c:tx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1" i="0" u="none" strike="noStrike" kern="120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'Turnover Comparison Date'!$B$1</c:f>
              <c:strCache>
                <c:ptCount val="1"/>
                <c:pt idx="0">
                  <c:v>Pool CPR</c:v>
                </c:pt>
              </c:strCache>
            </c:strRef>
          </c:tx>
          <c:spPr>
            <a:ln w="31750" cap="rnd">
              <a:solidFill>
                <a:srgbClr val="8891D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8891D5"/>
              </a:solidFill>
              <a:ln>
                <a:noFill/>
              </a:ln>
              <a:effectLst/>
            </c:spPr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'Turnover Comparison Date'!$A$2:$A$23</c:f>
              <c:numCache>
                <c:formatCode>General</c:formatCode>
                <c:ptCount val="22"/>
                <c:pt idx="0">
                  <c:v>1994</c:v>
                </c:pt>
                <c:pt idx="1">
                  <c:v>1995</c:v>
                </c:pt>
                <c:pt idx="2">
                  <c:v>1996</c:v>
                </c:pt>
                <c:pt idx="3">
                  <c:v>1997</c:v>
                </c:pt>
                <c:pt idx="4">
                  <c:v>1998</c:v>
                </c:pt>
                <c:pt idx="5">
                  <c:v>1999</c:v>
                </c:pt>
                <c:pt idx="6">
                  <c:v>2000</c:v>
                </c:pt>
                <c:pt idx="7">
                  <c:v>2001</c:v>
                </c:pt>
                <c:pt idx="8">
                  <c:v>2002</c:v>
                </c:pt>
                <c:pt idx="9">
                  <c:v>2003</c:v>
                </c:pt>
                <c:pt idx="10">
                  <c:v>2004</c:v>
                </c:pt>
                <c:pt idx="11">
                  <c:v>2005</c:v>
                </c:pt>
                <c:pt idx="12">
                  <c:v>2006</c:v>
                </c:pt>
                <c:pt idx="13">
                  <c:v>2007</c:v>
                </c:pt>
                <c:pt idx="14">
                  <c:v>2008</c:v>
                </c:pt>
                <c:pt idx="15">
                  <c:v>2009</c:v>
                </c:pt>
                <c:pt idx="16">
                  <c:v>2010</c:v>
                </c:pt>
                <c:pt idx="17">
                  <c:v>2011</c:v>
                </c:pt>
                <c:pt idx="18">
                  <c:v>2012</c:v>
                </c:pt>
                <c:pt idx="19">
                  <c:v>2013</c:v>
                </c:pt>
                <c:pt idx="20">
                  <c:v>2014</c:v>
                </c:pt>
                <c:pt idx="21">
                  <c:v>2015</c:v>
                </c:pt>
              </c:numCache>
            </c:numRef>
          </c:cat>
          <c:val>
            <c:numRef>
              <c:f>'Turnover Comparison Date'!$B$2:$B$23</c:f>
              <c:numCache>
                <c:formatCode>General</c:formatCode>
                <c:ptCount val="22"/>
                <c:pt idx="0">
                  <c:v>4.2610162360949948</c:v>
                </c:pt>
                <c:pt idx="1">
                  <c:v>2.948082995591947</c:v>
                </c:pt>
                <c:pt idx="2">
                  <c:v>5.0036060164582086</c:v>
                </c:pt>
                <c:pt idx="3">
                  <c:v>5.2351170114594314</c:v>
                </c:pt>
                <c:pt idx="4">
                  <c:v>4.5892679914325258</c:v>
                </c:pt>
                <c:pt idx="5">
                  <c:v>6.1279892958946443</c:v>
                </c:pt>
                <c:pt idx="6">
                  <c:v>6.7810655034740286</c:v>
                </c:pt>
                <c:pt idx="7">
                  <c:v>7.2654312669684114</c:v>
                </c:pt>
                <c:pt idx="8">
                  <c:v>4.7641109251552871</c:v>
                </c:pt>
                <c:pt idx="9">
                  <c:v>4.4792643783498409</c:v>
                </c:pt>
                <c:pt idx="10">
                  <c:v>6.9771744510095521</c:v>
                </c:pt>
                <c:pt idx="11">
                  <c:v>8.7119977926299956</c:v>
                </c:pt>
                <c:pt idx="12">
                  <c:v>8.4579892958946434</c:v>
                </c:pt>
                <c:pt idx="13">
                  <c:v>6.7998688969657799</c:v>
                </c:pt>
                <c:pt idx="14">
                  <c:v>4.454623343311094</c:v>
                </c:pt>
                <c:pt idx="15">
                  <c:v>2.058954661429274</c:v>
                </c:pt>
                <c:pt idx="16">
                  <c:v>1.664586211152373</c:v>
                </c:pt>
                <c:pt idx="17">
                  <c:v>1.7910952575843941</c:v>
                </c:pt>
                <c:pt idx="18">
                  <c:v>1.5541109251552869</c:v>
                </c:pt>
                <c:pt idx="19">
                  <c:v>3.5245862111523727</c:v>
                </c:pt>
                <c:pt idx="20">
                  <c:v>4.0241109251552869</c:v>
                </c:pt>
                <c:pt idx="21">
                  <c:v>4.2728728229308484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'Turnover Comparison Date'!$C$1</c:f>
              <c:strCache>
                <c:ptCount val="1"/>
                <c:pt idx="0">
                  <c:v>Loan CPR</c:v>
                </c:pt>
              </c:strCache>
            </c:strRef>
          </c:tx>
          <c:spPr>
            <a:ln w="31750" cap="rnd">
              <a:solidFill>
                <a:srgbClr val="2E398A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2E398A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'Turnover Comparison Date'!$A$2:$A$23</c:f>
              <c:numCache>
                <c:formatCode>General</c:formatCode>
                <c:ptCount val="22"/>
                <c:pt idx="0">
                  <c:v>1994</c:v>
                </c:pt>
                <c:pt idx="1">
                  <c:v>1995</c:v>
                </c:pt>
                <c:pt idx="2">
                  <c:v>1996</c:v>
                </c:pt>
                <c:pt idx="3">
                  <c:v>1997</c:v>
                </c:pt>
                <c:pt idx="4">
                  <c:v>1998</c:v>
                </c:pt>
                <c:pt idx="5">
                  <c:v>1999</c:v>
                </c:pt>
                <c:pt idx="6">
                  <c:v>2000</c:v>
                </c:pt>
                <c:pt idx="7">
                  <c:v>2001</c:v>
                </c:pt>
                <c:pt idx="8">
                  <c:v>2002</c:v>
                </c:pt>
                <c:pt idx="9">
                  <c:v>2003</c:v>
                </c:pt>
                <c:pt idx="10">
                  <c:v>2004</c:v>
                </c:pt>
                <c:pt idx="11">
                  <c:v>2005</c:v>
                </c:pt>
                <c:pt idx="12">
                  <c:v>2006</c:v>
                </c:pt>
                <c:pt idx="13">
                  <c:v>2007</c:v>
                </c:pt>
                <c:pt idx="14">
                  <c:v>2008</c:v>
                </c:pt>
                <c:pt idx="15">
                  <c:v>2009</c:v>
                </c:pt>
                <c:pt idx="16">
                  <c:v>2010</c:v>
                </c:pt>
                <c:pt idx="17">
                  <c:v>2011</c:v>
                </c:pt>
                <c:pt idx="18">
                  <c:v>2012</c:v>
                </c:pt>
                <c:pt idx="19">
                  <c:v>2013</c:v>
                </c:pt>
                <c:pt idx="20">
                  <c:v>2014</c:v>
                </c:pt>
                <c:pt idx="21">
                  <c:v>2015</c:v>
                </c:pt>
              </c:numCache>
            </c:numRef>
          </c:cat>
          <c:val>
            <c:numRef>
              <c:f>'Turnover Comparison Date'!$C$2:$C$23</c:f>
              <c:numCache>
                <c:formatCode>General</c:formatCode>
                <c:ptCount val="22"/>
                <c:pt idx="6">
                  <c:v>4.37</c:v>
                </c:pt>
                <c:pt idx="7">
                  <c:v>4.82</c:v>
                </c:pt>
                <c:pt idx="8">
                  <c:v>3.52</c:v>
                </c:pt>
                <c:pt idx="9">
                  <c:v>4.04</c:v>
                </c:pt>
                <c:pt idx="10">
                  <c:v>7.42</c:v>
                </c:pt>
                <c:pt idx="11">
                  <c:v>8.48</c:v>
                </c:pt>
                <c:pt idx="12">
                  <c:v>8.61</c:v>
                </c:pt>
                <c:pt idx="13">
                  <c:v>6.79</c:v>
                </c:pt>
                <c:pt idx="14">
                  <c:v>5.54</c:v>
                </c:pt>
                <c:pt idx="15">
                  <c:v>1.07</c:v>
                </c:pt>
                <c:pt idx="16">
                  <c:v>1.81</c:v>
                </c:pt>
                <c:pt idx="17">
                  <c:v>1.8</c:v>
                </c:pt>
                <c:pt idx="18">
                  <c:v>1.53</c:v>
                </c:pt>
                <c:pt idx="19">
                  <c:v>2.95</c:v>
                </c:pt>
                <c:pt idx="20">
                  <c:v>4.22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8600192"/>
        <c:axId val="7986032"/>
      </c:lineChart>
      <c:catAx>
        <c:axId val="168600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Year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86032"/>
        <c:crosses val="autoZero"/>
        <c:auto val="1"/>
        <c:lblAlgn val="ctr"/>
        <c:lblOffset val="100"/>
        <c:noMultiLvlLbl val="0"/>
      </c:catAx>
      <c:valAx>
        <c:axId val="798603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CPR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600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b="1" i="0" baseline="0"/>
      </a:pPr>
      <a:endParaRPr lang="en-US"/>
    </a:p>
  </c:txPr>
  <c:externalData r:id="rId4">
    <c:autoUpdate val="0"/>
  </c:externalData>
  <c:extLst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 smtClean="0">
                <a:effectLst/>
              </a:rPr>
              <a:t>Distribution of Pool Turnover CPRs</a:t>
            </a:r>
            <a:endParaRPr lang="en-US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9380710206547689E-2"/>
          <c:y val="9.8730482590405191E-2"/>
          <c:w val="0.83383481851218921"/>
          <c:h val="0.736750776882879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Sheet1!$D$45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Sheet1!$D$46:$D$52</c:f>
              <c:numCache>
                <c:formatCode>0%</c:formatCode>
                <c:ptCount val="7"/>
                <c:pt idx="0">
                  <c:v>0.41619541473572463</c:v>
                </c:pt>
                <c:pt idx="1">
                  <c:v>0.33900536920972585</c:v>
                </c:pt>
                <c:pt idx="2">
                  <c:v>0.1584427250270502</c:v>
                </c:pt>
                <c:pt idx="3">
                  <c:v>5.345732192801584E-2</c:v>
                </c:pt>
                <c:pt idx="4">
                  <c:v>2.0241716513892574E-2</c:v>
                </c:pt>
                <c:pt idx="5">
                  <c:v>7.584263928301656E-3</c:v>
                </c:pt>
                <c:pt idx="6">
                  <c:v>3.0929097850274584E-3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227113520"/>
        <c:axId val="227113912"/>
      </c:barChart>
      <c:lineChart>
        <c:grouping val="standard"/>
        <c:varyColors val="0"/>
        <c:ser>
          <c:idx val="1"/>
          <c:order val="1"/>
          <c:tx>
            <c:strRef>
              <c:f>Sheet1!$E$45</c:f>
              <c:strCache>
                <c:ptCount val="1"/>
                <c:pt idx="0">
                  <c:v>Pool Balance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Sheet1!$E$46:$E$52</c:f>
              <c:numCache>
                <c:formatCode>_(* #,##0_);_(* \(#,##0\);_(* "-"??_);_(@_)</c:formatCode>
                <c:ptCount val="7"/>
                <c:pt idx="0">
                  <c:v>151.21643180892832</c:v>
                </c:pt>
                <c:pt idx="1">
                  <c:v>340.88545597887855</c:v>
                </c:pt>
                <c:pt idx="2">
                  <c:v>117.65458717411097</c:v>
                </c:pt>
                <c:pt idx="3">
                  <c:v>43.518859864277282</c:v>
                </c:pt>
                <c:pt idx="4">
                  <c:v>27.65910042875446</c:v>
                </c:pt>
                <c:pt idx="5">
                  <c:v>20.060520075450885</c:v>
                </c:pt>
                <c:pt idx="6">
                  <c:v>17.591399357227722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1014376"/>
        <c:axId val="231013984"/>
      </c:lineChart>
      <c:catAx>
        <c:axId val="2271135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CPR Bucket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113912"/>
        <c:crosses val="autoZero"/>
        <c:auto val="1"/>
        <c:lblAlgn val="ctr"/>
        <c:lblOffset val="100"/>
        <c:noMultiLvlLbl val="0"/>
      </c:catAx>
      <c:valAx>
        <c:axId val="227113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Percent of Total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113520"/>
        <c:crosses val="autoZero"/>
        <c:crossBetween val="between"/>
      </c:valAx>
      <c:valAx>
        <c:axId val="23101398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Pool</a:t>
                </a:r>
                <a:r>
                  <a:rPr lang="en-US" baseline="0" dirty="0" smtClean="0"/>
                  <a:t> Balance (MM)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1014376"/>
        <c:crosses val="max"/>
        <c:crossBetween val="between"/>
      </c:valAx>
      <c:catAx>
        <c:axId val="231014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3101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Excel_Worksheet1.xls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Agency Prepayment: Turnover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June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89354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Turnover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Empirical Observations and Comparisons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Framework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Results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Spline Results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Going Forward</a:t>
            </a:r>
            <a:endParaRPr lang="en-US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CLTV Consistency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Turnover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Turnover Definition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Turnover is the measure of the rate at which borrowers sell their homes, thereby terminating their mortgage early. It does not include Refinances, Defaults or Curtailments.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define ‘Base Turnover’ as any out-of-the-money (OTM) prepayment </a:t>
            </a:r>
            <a:r>
              <a:rPr lang="en-US" sz="1400" dirty="0" smtClean="0"/>
              <a:t>between </a:t>
            </a:r>
            <a:r>
              <a:rPr lang="en-US" sz="1400" b="1" dirty="0" smtClean="0"/>
              <a:t>30 and 80 </a:t>
            </a:r>
            <a:r>
              <a:rPr lang="en-US" sz="1400" b="1" dirty="0" err="1" smtClean="0"/>
              <a:t>bp</a:t>
            </a:r>
            <a:r>
              <a:rPr lang="en-US" sz="1400" b="1" dirty="0" smtClean="0"/>
              <a:t> OTM</a:t>
            </a:r>
            <a:r>
              <a:rPr lang="en-US" sz="1400" dirty="0" smtClean="0"/>
              <a:t>. We also assume </a:t>
            </a:r>
            <a:r>
              <a:rPr lang="en-US" sz="1400" dirty="0" smtClean="0"/>
              <a:t>no defaults or curtailments.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Turnover Estimation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Turnover is not reported directly in any of our data sources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Turnover can be estimated by focusing on loans/pools that are slightly OTM with respect to a refinance incentive estimate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Avoid positive </a:t>
            </a:r>
            <a:r>
              <a:rPr lang="en-US" sz="1400" dirty="0"/>
              <a:t>r</a:t>
            </a:r>
            <a:r>
              <a:rPr lang="en-US" sz="1400" dirty="0" smtClean="0"/>
              <a:t>efinance incentive, as this will capture Refinancing borrowers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Avoid very negative </a:t>
            </a:r>
            <a:r>
              <a:rPr lang="en-US" sz="1400" dirty="0"/>
              <a:t>r</a:t>
            </a:r>
            <a:r>
              <a:rPr lang="en-US" sz="1400" dirty="0" smtClean="0"/>
              <a:t>efinance Incentive, as this creates a lock-in effect</a:t>
            </a:r>
          </a:p>
          <a:p>
            <a:pPr marL="1813459" lvl="3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Lock-In: Borrower does not want (or cannot) move because the rate reset will be too costly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For our ‘Base Turnover’ we focus on loan/pools with incentive between </a:t>
            </a:r>
            <a:r>
              <a:rPr lang="en-US" sz="1400" b="1" dirty="0"/>
              <a:t>3</a:t>
            </a:r>
            <a:r>
              <a:rPr lang="en-US" sz="1400" b="1" dirty="0" smtClean="0"/>
              <a:t>0 and 80 </a:t>
            </a:r>
            <a:r>
              <a:rPr lang="en-US" sz="1400" b="1" dirty="0" err="1" smtClean="0"/>
              <a:t>bp</a:t>
            </a:r>
            <a:r>
              <a:rPr lang="en-US" sz="1400" b="1" dirty="0"/>
              <a:t> </a:t>
            </a:r>
            <a:r>
              <a:rPr lang="en-US" sz="1400" b="1" dirty="0" smtClean="0"/>
              <a:t>OTM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Refinance Incentive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An accurate measure of refinance incentive is important for the analysis of turnover and will be more important in the Refinance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are using the Freddie Survey Rate with some adjustments for PMI and LLPA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Turnover Data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58337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Pool Level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Turnover information available for Fannie and Freddie pools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~ </a:t>
            </a:r>
            <a:r>
              <a:rPr lang="en-US" sz="1400" dirty="0" smtClean="0"/>
              <a:t>350K pools </a:t>
            </a:r>
            <a:r>
              <a:rPr lang="en-US" sz="1400" dirty="0"/>
              <a:t>with data as far back as </a:t>
            </a:r>
            <a:r>
              <a:rPr lang="en-US" sz="1400" dirty="0" smtClean="0"/>
              <a:t>1994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Level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Turnover information available for </a:t>
            </a:r>
            <a:r>
              <a:rPr lang="en-US" sz="1400" dirty="0" smtClean="0"/>
              <a:t>Freddie loans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~ </a:t>
            </a:r>
            <a:r>
              <a:rPr lang="en-US" sz="1400" dirty="0" smtClean="0"/>
              <a:t>3.7M loans with </a:t>
            </a:r>
            <a:r>
              <a:rPr lang="en-US" sz="1400" dirty="0"/>
              <a:t>data as far back as </a:t>
            </a:r>
            <a:r>
              <a:rPr lang="en-US" sz="1400" dirty="0" smtClean="0"/>
              <a:t>2006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Turnover </a:t>
            </a:r>
            <a:r>
              <a:rPr lang="en-US" sz="1400" dirty="0"/>
              <a:t>information </a:t>
            </a:r>
            <a:r>
              <a:rPr lang="en-US" sz="1400" dirty="0" smtClean="0"/>
              <a:t>available </a:t>
            </a:r>
            <a:r>
              <a:rPr lang="en-US" sz="1400" dirty="0"/>
              <a:t>for </a:t>
            </a:r>
            <a:r>
              <a:rPr lang="en-US" sz="1400" dirty="0" smtClean="0"/>
              <a:t>Fannie and Freddie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18.2M loans with data as far back as 1999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Has indicators for Prepayment, and Default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Excellent coverage for FICO, DTI, CLTV (</a:t>
            </a:r>
            <a:r>
              <a:rPr lang="en-US" sz="1400" dirty="0" err="1" smtClean="0"/>
              <a:t>msa</a:t>
            </a:r>
            <a:r>
              <a:rPr lang="en-US" sz="1400" dirty="0" smtClean="0"/>
              <a:t> level), Occupancy, etc.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Turnover Data: Turnover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</a:t>
            </a:r>
            <a:r>
              <a:rPr lang="en-US" sz="1400" dirty="0" smtClean="0"/>
              <a:t>Turnover Definition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Refinance Incentive between </a:t>
            </a:r>
            <a:r>
              <a:rPr lang="en-US" sz="1400" dirty="0" smtClean="0"/>
              <a:t>30 </a:t>
            </a:r>
            <a:r>
              <a:rPr lang="en-US" sz="1400" dirty="0" smtClean="0"/>
              <a:t>and </a:t>
            </a:r>
            <a:r>
              <a:rPr lang="en-US" sz="1400" dirty="0" smtClean="0"/>
              <a:t>80 </a:t>
            </a:r>
            <a:r>
              <a:rPr lang="en-US" sz="1400" dirty="0" err="1" smtClean="0"/>
              <a:t>bp</a:t>
            </a:r>
            <a:r>
              <a:rPr lang="en-US" sz="1400" dirty="0" smtClean="0"/>
              <a:t> out of the money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Current Balance / Scheduled Amortization Balance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Includes Turnover, Default and Curtailment (Full and Partial)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Refinance Incentive between </a:t>
            </a:r>
            <a:r>
              <a:rPr lang="en-US" sz="1400" dirty="0"/>
              <a:t>3</a:t>
            </a:r>
            <a:r>
              <a:rPr lang="en-US" sz="1400" dirty="0" smtClean="0"/>
              <a:t>0 </a:t>
            </a:r>
            <a:r>
              <a:rPr lang="en-US" sz="1400" dirty="0"/>
              <a:t>and </a:t>
            </a:r>
            <a:r>
              <a:rPr lang="en-US" sz="1400" dirty="0"/>
              <a:t>8</a:t>
            </a:r>
            <a:r>
              <a:rPr lang="en-US" sz="1400" dirty="0" smtClean="0"/>
              <a:t>0 </a:t>
            </a:r>
            <a:r>
              <a:rPr lang="en-US" sz="1400" dirty="0" err="1"/>
              <a:t>bp</a:t>
            </a:r>
            <a:r>
              <a:rPr lang="en-US" sz="1400" dirty="0"/>
              <a:t> out of the money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Current Balance </a:t>
            </a:r>
            <a:r>
              <a:rPr lang="en-US" sz="1400" dirty="0" smtClean="0"/>
              <a:t>given Zero Balance Code = “Prepay”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Includes </a:t>
            </a:r>
            <a:r>
              <a:rPr lang="en-US" sz="1400" dirty="0" smtClean="0"/>
              <a:t>Turnover and Full Curtailment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Refinance Incentive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V1: </a:t>
            </a:r>
            <a:r>
              <a:rPr lang="en-US" sz="1400" dirty="0"/>
              <a:t>Current Note </a:t>
            </a:r>
            <a:r>
              <a:rPr lang="en-US" sz="1400" dirty="0" smtClean="0"/>
              <a:t>- Survey </a:t>
            </a:r>
            <a:r>
              <a:rPr lang="en-US" sz="1400" dirty="0"/>
              <a:t>Rate 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V2: {Current Note Rate + PMI} – {Survey Rate + LLPA + New PMI}</a:t>
            </a:r>
            <a:endParaRPr lang="en-US" sz="1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77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669271"/>
              </p:ext>
            </p:extLst>
          </p:nvPr>
        </p:nvGraphicFramePr>
        <p:xfrm>
          <a:off x="800278" y="3766484"/>
          <a:ext cx="8391525" cy="26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Worksheet" r:id="rId4" imgW="8391552" imgH="2619443" progId="Excel.Sheet.12">
                  <p:embed/>
                </p:oleObj>
              </mc:Choice>
              <mc:Fallback>
                <p:oleObj name="Worksheet" r:id="rId4" imgW="8391552" imgH="261944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0278" y="3766484"/>
                        <a:ext cx="8391525" cy="261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174556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Turnover Threshold for Refinance Incentive</a:t>
            </a:r>
            <a:endParaRPr lang="en-US" sz="1400" b="1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Take the periods of high Cash-Out Refinance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corresponds to a Median Ratio of New to Old Rate &gt; 1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Pull the Survey Rate for that period and calculate the Old Rate from the ratio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Average the resulting differences in rate: </a:t>
            </a:r>
            <a:r>
              <a:rPr lang="en-US" sz="1400" b="1" dirty="0" smtClean="0"/>
              <a:t>~42 </a:t>
            </a:r>
            <a:r>
              <a:rPr lang="en-US" sz="1400" b="1" dirty="0" err="1" smtClean="0"/>
              <a:t>bp</a:t>
            </a:r>
            <a:r>
              <a:rPr lang="en-US" sz="1400" b="1" dirty="0" smtClean="0"/>
              <a:t> Increase in Rate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2350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804270"/>
              </p:ext>
            </p:extLst>
          </p:nvPr>
        </p:nvGraphicFramePr>
        <p:xfrm>
          <a:off x="688063" y="1865010"/>
          <a:ext cx="8615957" cy="5287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990953" y="4308777"/>
            <a:ext cx="38007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Clear Refinance Incentive for &gt; 50 </a:t>
            </a:r>
            <a:r>
              <a:rPr lang="en-US" sz="1400" dirty="0" err="1" smtClean="0">
                <a:solidFill>
                  <a:srgbClr val="FF0000"/>
                </a:solidFill>
              </a:rPr>
              <a:t>bp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Clear Lock-In Effect &lt; (-150 </a:t>
            </a:r>
            <a:r>
              <a:rPr lang="en-US" sz="1400" dirty="0" err="1" smtClean="0">
                <a:solidFill>
                  <a:srgbClr val="FF0000"/>
                </a:solidFill>
              </a:rPr>
              <a:t>bp</a:t>
            </a:r>
            <a:r>
              <a:rPr lang="en-US" sz="1400" dirty="0" smtClean="0">
                <a:solidFill>
                  <a:srgbClr val="FF0000"/>
                </a:solidFill>
              </a:rPr>
              <a:t>)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Turnover {-25, -75 </a:t>
            </a:r>
            <a:r>
              <a:rPr lang="en-US" sz="1400" dirty="0" err="1" smtClean="0">
                <a:solidFill>
                  <a:srgbClr val="FF0000"/>
                </a:solidFill>
              </a:rPr>
              <a:t>bp</a:t>
            </a:r>
            <a:r>
              <a:rPr lang="en-US" sz="1400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31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1036948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Refinance </a:t>
            </a:r>
            <a:r>
              <a:rPr lang="en-US" sz="1400" b="1" dirty="0" smtClean="0"/>
              <a:t>Incentive Lag Estimation</a:t>
            </a:r>
            <a:endParaRPr lang="en-US" sz="1400" b="1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No Lag Required for WAC Method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Needs a Lag between the Collateral and Survey Rate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4524914"/>
              </p:ext>
            </p:extLst>
          </p:nvPr>
        </p:nvGraphicFramePr>
        <p:xfrm>
          <a:off x="673548" y="2786743"/>
          <a:ext cx="8630472" cy="4325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16058" y="5927120"/>
            <a:ext cx="418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Lag of 2 Months has the lowest volatility when compared with WAC method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55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774649"/>
              </p:ext>
            </p:extLst>
          </p:nvPr>
        </p:nvGraphicFramePr>
        <p:xfrm>
          <a:off x="688062" y="1857829"/>
          <a:ext cx="8615957" cy="5254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35600" y="4250720"/>
            <a:ext cx="418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Fannie and Freddie move closely, hence we use a combined series for robustness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09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5895332"/>
              </p:ext>
            </p:extLst>
          </p:nvPr>
        </p:nvGraphicFramePr>
        <p:xfrm>
          <a:off x="688063" y="1843315"/>
          <a:ext cx="8615957" cy="5290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35600" y="4250720"/>
            <a:ext cx="418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Fannie and Freddie move closely, hence we use a combined series for robustness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1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6968154"/>
              </p:ext>
            </p:extLst>
          </p:nvPr>
        </p:nvGraphicFramePr>
        <p:xfrm>
          <a:off x="688064" y="1865087"/>
          <a:ext cx="8615956" cy="5272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01012" y="4270526"/>
            <a:ext cx="45900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Adjusted CPR for Prepay Pool data aligns well with Credit Loan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Estimates for Default and Curtailment are  removed to create the Adjusted Pool CPR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Prepay Pool data is more robust for higher </a:t>
            </a:r>
            <a:r>
              <a:rPr lang="en-US" sz="1400" dirty="0" err="1" smtClean="0">
                <a:solidFill>
                  <a:srgbClr val="FF0000"/>
                </a:solidFill>
              </a:rPr>
              <a:t>wala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794985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54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7503937"/>
              </p:ext>
            </p:extLst>
          </p:nvPr>
        </p:nvGraphicFramePr>
        <p:xfrm>
          <a:off x="688062" y="1831011"/>
          <a:ext cx="8615957" cy="530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29943" y="2398033"/>
            <a:ext cx="31713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Same time period demonstrates comparable CPRs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Pool ~1994-2015</a:t>
            </a:r>
          </a:p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- Loan ~2000-2014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29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4082997"/>
              </p:ext>
            </p:extLst>
          </p:nvPr>
        </p:nvGraphicFramePr>
        <p:xfrm>
          <a:off x="688063" y="1865010"/>
          <a:ext cx="8615957" cy="5246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26553" y="3624591"/>
            <a:ext cx="2963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Pools demonstrate significant Turnover CPR variability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21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Framework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After removing defaults and curtailments, all out-of-the money prepayments correspond to turnover. </a:t>
            </a:r>
            <a:r>
              <a:rPr lang="en-US" sz="1400" dirty="0"/>
              <a:t>The modeling strategy is to fit turnover for pools 3</a:t>
            </a:r>
            <a:r>
              <a:rPr lang="en-US" sz="1400" dirty="0" smtClean="0"/>
              <a:t>0 </a:t>
            </a:r>
            <a:r>
              <a:rPr lang="en-US" sz="1400" dirty="0" err="1" smtClean="0"/>
              <a:t>bp</a:t>
            </a:r>
            <a:r>
              <a:rPr lang="en-US" sz="1400" dirty="0" smtClean="0"/>
              <a:t> </a:t>
            </a:r>
            <a:r>
              <a:rPr lang="en-US" sz="1400" dirty="0"/>
              <a:t>to 8</a:t>
            </a:r>
            <a:r>
              <a:rPr lang="en-US" sz="1400" dirty="0" smtClean="0"/>
              <a:t>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 </a:t>
            </a:r>
            <a:r>
              <a:rPr lang="en-US" sz="1400" dirty="0"/>
              <a:t>("base turnover") and then layer in a lock-in </a:t>
            </a:r>
            <a:r>
              <a:rPr lang="en-US" sz="1400" dirty="0" smtClean="0"/>
              <a:t>effect.</a:t>
            </a:r>
            <a:endParaRPr lang="en-US" sz="1400" b="1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Query the pool and loan level data from IQ filtering by a slightly OTM incentive range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Aggregate the </a:t>
            </a:r>
            <a:r>
              <a:rPr lang="en-US" sz="1400" dirty="0"/>
              <a:t>T</a:t>
            </a:r>
            <a:r>
              <a:rPr lang="en-US" sz="1400" dirty="0" smtClean="0"/>
              <a:t>urnover data by loan characteristics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Seasonality, WALA, HPA_1YR, Lock-In, CLTV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 Program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Read in the aggregated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by statistical methods which variable is most important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Calculate the balance weighted factor variables and SMM (single month mortality rate)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Estimate a spline from the empirical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Repeat process for next most important variable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Output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Spline coefficients, which allow us to calculate an SMM given a set of loan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0645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Base Turnover CPR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algn="l"/>
            <a:endParaRPr lang="en-US" sz="1400" b="1" dirty="0" smtClean="0"/>
          </a:p>
          <a:p>
            <a:pPr algn="l"/>
            <a:r>
              <a:rPr lang="en-US" sz="1400" dirty="0" smtClean="0"/>
              <a:t>The base turnover for the combined Fannie and Freddie pools is found by taking a weighted average of the prepayment rate for slightly OTM pools. This is then adjusted by subtracting model estimates for Curtailment and Default rates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B</a:t>
            </a:r>
            <a:r>
              <a:rPr lang="en-US" sz="1400" b="1" dirty="0" smtClean="0"/>
              <a:t>ase </a:t>
            </a:r>
            <a:r>
              <a:rPr lang="en-US" sz="1400" b="1" dirty="0"/>
              <a:t>T</a:t>
            </a:r>
            <a:r>
              <a:rPr lang="en-US" sz="1400" b="1" dirty="0" smtClean="0"/>
              <a:t>urnover is ~5.8 CPR using the FNMA and FHL pools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Base Turnover is </a:t>
            </a:r>
            <a:r>
              <a:rPr lang="en-US" sz="1400" b="1" dirty="0" smtClean="0"/>
              <a:t>~6.1 </a:t>
            </a:r>
            <a:r>
              <a:rPr lang="en-US" sz="1400" b="1" dirty="0"/>
              <a:t>CPR using the FNMA and FHL </a:t>
            </a:r>
            <a:r>
              <a:rPr lang="en-US" sz="1400" b="1" dirty="0" smtClean="0"/>
              <a:t>loans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4046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WALA (Loan)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047989" y="1672225"/>
            <a:ext cx="0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3" y="1865010"/>
            <a:ext cx="4359926" cy="5268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89" y="1865010"/>
            <a:ext cx="4256031" cy="526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21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WALA (Pool)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047989" y="1672225"/>
            <a:ext cx="0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3" y="1865010"/>
            <a:ext cx="4359926" cy="52748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89" y="1865010"/>
            <a:ext cx="4256031" cy="527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HPI 1 YR (Loan)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047989" y="1672225"/>
            <a:ext cx="0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3" y="1865010"/>
            <a:ext cx="4359926" cy="5262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89" y="1865009"/>
            <a:ext cx="4256031" cy="526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6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HPI 2 YR (Pool)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047989" y="1672225"/>
            <a:ext cx="0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89" y="1865010"/>
            <a:ext cx="4256031" cy="526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3" y="1865010"/>
            <a:ext cx="4359926" cy="5262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445" y="2294709"/>
            <a:ext cx="872647" cy="2931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536" y="2294709"/>
            <a:ext cx="872647" cy="2931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308" y="6615337"/>
            <a:ext cx="648874" cy="2326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508" y="6605289"/>
            <a:ext cx="648874" cy="23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9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CLTV (Loan)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047989" y="1672225"/>
            <a:ext cx="0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3" y="1865010"/>
            <a:ext cx="4359926" cy="526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89" y="1865010"/>
            <a:ext cx="4256031" cy="5262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64631" y="6460440"/>
            <a:ext cx="346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Loan data demonstrates a steep drop in CPR as CLTV becomes &gt;= 90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10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CLTV (Pool)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047989" y="1672225"/>
            <a:ext cx="0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90" y="1865010"/>
            <a:ext cx="4256030" cy="52615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3" y="1865010"/>
            <a:ext cx="4359927" cy="5261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90752" y="6475488"/>
            <a:ext cx="3114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Pool data demonstrates large rise in CPR as CLTV diminishes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89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Results: Lock-In (Pool)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047989" y="1672225"/>
            <a:ext cx="0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3" y="1865010"/>
            <a:ext cx="4359926" cy="52685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89" y="1865009"/>
            <a:ext cx="4256031" cy="526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3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Going Forward: CLTV Consistency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T</a:t>
            </a:r>
            <a:r>
              <a:rPr lang="en-US" sz="1400" b="1" dirty="0" smtClean="0"/>
              <a:t>here is an issue with the CLTV calculation from the credit data vs the 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Prepay Pools calculate Current CLTV from “Purchase Only” HPI time 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Credit Data calculates </a:t>
            </a:r>
            <a:r>
              <a:rPr lang="en-US" sz="1400" dirty="0"/>
              <a:t>Current CLTV from </a:t>
            </a:r>
            <a:r>
              <a:rPr lang="en-US" sz="1400" dirty="0" smtClean="0"/>
              <a:t>“All Transactions” </a:t>
            </a:r>
            <a:r>
              <a:rPr lang="en-US" sz="1400" dirty="0"/>
              <a:t>HPI time </a:t>
            </a:r>
            <a:r>
              <a:rPr lang="en-US" sz="1400" dirty="0" smtClean="0"/>
              <a:t>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Results are not consistent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TODO: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Create another CLTV in the credit tables with data from the Purchase Only HPI time 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Redo the analysis to use the compatible CLTV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299648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Design 3">
    <a:dk1>
      <a:srgbClr val="000000"/>
    </a:dk1>
    <a:lt1>
      <a:srgbClr val="FFFFFF"/>
    </a:lt1>
    <a:dk2>
      <a:srgbClr val="203353"/>
    </a:dk2>
    <a:lt2>
      <a:srgbClr val="EFEBE4"/>
    </a:lt2>
    <a:accent1>
      <a:srgbClr val="2E398A"/>
    </a:accent1>
    <a:accent2>
      <a:srgbClr val="8891D5"/>
    </a:accent2>
    <a:accent3>
      <a:srgbClr val="FFFFFF"/>
    </a:accent3>
    <a:accent4>
      <a:srgbClr val="000000"/>
    </a:accent4>
    <a:accent5>
      <a:srgbClr val="ADAEC4"/>
    </a:accent5>
    <a:accent6>
      <a:srgbClr val="7B83C1"/>
    </a:accent6>
    <a:hlink>
      <a:srgbClr val="968880"/>
    </a:hlink>
    <a:folHlink>
      <a:srgbClr val="533D2D"/>
    </a:folHlink>
  </a:clrScheme>
  <a:fontScheme name="Custom Design">
    <a:majorFont>
      <a:latin typeface="Calisto MT"/>
      <a:ea typeface=""/>
      <a:cs typeface=""/>
    </a:majorFont>
    <a:minorFont>
      <a:latin typeface="Calibri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Design 3">
    <a:dk1>
      <a:srgbClr val="000000"/>
    </a:dk1>
    <a:lt1>
      <a:srgbClr val="FFFFFF"/>
    </a:lt1>
    <a:dk2>
      <a:srgbClr val="203353"/>
    </a:dk2>
    <a:lt2>
      <a:srgbClr val="EFEBE4"/>
    </a:lt2>
    <a:accent1>
      <a:srgbClr val="2E398A"/>
    </a:accent1>
    <a:accent2>
      <a:srgbClr val="8891D5"/>
    </a:accent2>
    <a:accent3>
      <a:srgbClr val="FFFFFF"/>
    </a:accent3>
    <a:accent4>
      <a:srgbClr val="000000"/>
    </a:accent4>
    <a:accent5>
      <a:srgbClr val="ADAEC4"/>
    </a:accent5>
    <a:accent6>
      <a:srgbClr val="7B83C1"/>
    </a:accent6>
    <a:hlink>
      <a:srgbClr val="968880"/>
    </a:hlink>
    <a:folHlink>
      <a:srgbClr val="533D2D"/>
    </a:folHlink>
  </a:clrScheme>
  <a:fontScheme name="Custom Design">
    <a:majorFont>
      <a:latin typeface="Calisto MT"/>
      <a:ea typeface=""/>
      <a:cs typeface=""/>
    </a:majorFont>
    <a:minorFont>
      <a:latin typeface="Calibri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Custom Design 3">
    <a:dk1>
      <a:srgbClr val="000000"/>
    </a:dk1>
    <a:lt1>
      <a:srgbClr val="FFFFFF"/>
    </a:lt1>
    <a:dk2>
      <a:srgbClr val="203353"/>
    </a:dk2>
    <a:lt2>
      <a:srgbClr val="EFEBE4"/>
    </a:lt2>
    <a:accent1>
      <a:srgbClr val="2E398A"/>
    </a:accent1>
    <a:accent2>
      <a:srgbClr val="8891D5"/>
    </a:accent2>
    <a:accent3>
      <a:srgbClr val="FFFFFF"/>
    </a:accent3>
    <a:accent4>
      <a:srgbClr val="000000"/>
    </a:accent4>
    <a:accent5>
      <a:srgbClr val="ADAEC4"/>
    </a:accent5>
    <a:accent6>
      <a:srgbClr val="7B83C1"/>
    </a:accent6>
    <a:hlink>
      <a:srgbClr val="968880"/>
    </a:hlink>
    <a:folHlink>
      <a:srgbClr val="533D2D"/>
    </a:folHlink>
  </a:clrScheme>
  <a:fontScheme name="Custom Design">
    <a:majorFont>
      <a:latin typeface="Calisto MT"/>
      <a:ea typeface=""/>
      <a:cs typeface=""/>
    </a:majorFont>
    <a:minorFont>
      <a:latin typeface="Calibri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89265</TotalTime>
  <Words>1064</Words>
  <Application>Microsoft Office PowerPoint</Application>
  <PresentationFormat>Custom</PresentationFormat>
  <Paragraphs>140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44" baseType="lpstr"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Worksheet</vt:lpstr>
      <vt:lpstr>PowerPoint Presentation</vt:lpstr>
      <vt:lpstr>Outline</vt:lpstr>
      <vt:lpstr>Introduction to Turnover</vt:lpstr>
      <vt:lpstr>Description of Turnover Data</vt:lpstr>
      <vt:lpstr>Description of Turnover Data: Turnover Definition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Description of Framework</vt:lpstr>
      <vt:lpstr>Results: Base Turnover CPR</vt:lpstr>
      <vt:lpstr>Results: WALA (Loan)</vt:lpstr>
      <vt:lpstr>Results: WALA (Pool)</vt:lpstr>
      <vt:lpstr>Results: HPI 1 YR (Loan)</vt:lpstr>
      <vt:lpstr>Results: HPI 2 YR (Pool)</vt:lpstr>
      <vt:lpstr>Results: CLTV (Loan)</vt:lpstr>
      <vt:lpstr>Results: CLTV (Pool)</vt:lpstr>
      <vt:lpstr>Results: Lock-In (Pool)</vt:lpstr>
      <vt:lpstr>Going Forward: CLTV Consistency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1913</cp:revision>
  <cp:lastPrinted>2015-07-21T20:38:21Z</cp:lastPrinted>
  <dcterms:created xsi:type="dcterms:W3CDTF">2011-07-07T12:37:32Z</dcterms:created>
  <dcterms:modified xsi:type="dcterms:W3CDTF">2015-07-30T22:00:07Z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