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7"/>
  </p:notesMasterIdLst>
  <p:handoutMasterIdLst>
    <p:handoutMasterId r:id="rId28"/>
  </p:handoutMasterIdLst>
  <p:sldIdLst>
    <p:sldId id="433" r:id="rId16"/>
    <p:sldId id="603" r:id="rId17"/>
    <p:sldId id="612" r:id="rId18"/>
    <p:sldId id="604" r:id="rId19"/>
    <p:sldId id="605" r:id="rId20"/>
    <p:sldId id="606" r:id="rId21"/>
    <p:sldId id="613" r:id="rId22"/>
    <p:sldId id="614" r:id="rId23"/>
    <p:sldId id="616" r:id="rId24"/>
    <p:sldId id="617" r:id="rId25"/>
    <p:sldId id="608" r:id="rId26"/>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E2F6ED"/>
    <a:srgbClr val="AD275C"/>
    <a:srgbClr val="F6D6E3"/>
    <a:srgbClr val="2E398A"/>
    <a:srgbClr val="C8C42D"/>
    <a:srgbClr val="8C2B18"/>
    <a:srgbClr val="C3EBD9"/>
    <a:srgbClr val="CDD1E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00" d="100"/>
          <a:sy n="100" d="100"/>
        </p:scale>
        <p:origin x="-1782" y="-1698"/>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48815488"/>
        <c:axId val="48821376"/>
      </c:areaChart>
      <c:dateAx>
        <c:axId val="48815488"/>
        <c:scaling>
          <c:orientation val="minMax"/>
        </c:scaling>
        <c:delete val="0"/>
        <c:axPos val="b"/>
        <c:numFmt formatCode="m/d/yyyy" sourceLinked="1"/>
        <c:majorTickMark val="out"/>
        <c:minorTickMark val="none"/>
        <c:tickLblPos val="nextTo"/>
        <c:crossAx val="48821376"/>
        <c:crosses val="autoZero"/>
        <c:auto val="1"/>
        <c:lblOffset val="100"/>
        <c:baseTimeUnit val="months"/>
        <c:majorUnit val="12"/>
        <c:majorTimeUnit val="months"/>
      </c:dateAx>
      <c:valAx>
        <c:axId val="48821376"/>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48815488"/>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dirty="0"/>
              <a:t>Ratio </a:t>
            </a:r>
            <a:r>
              <a:rPr lang="en-US" sz="1400" dirty="0" err="1"/>
              <a:t>Algo</a:t>
            </a:r>
            <a:r>
              <a:rPr lang="en-US" sz="1400" dirty="0"/>
              <a:t> II/</a:t>
            </a:r>
            <a:r>
              <a:rPr lang="en-US" sz="1400" dirty="0" err="1"/>
              <a:t>Algo</a:t>
            </a:r>
            <a:r>
              <a:rPr lang="en-US" sz="1400" dirty="0"/>
              <a:t> I (LTV &gt; </a:t>
            </a:r>
            <a:r>
              <a:rPr lang="en-US" sz="1400" dirty="0" smtClean="0"/>
              <a:t>80%)</a:t>
            </a:r>
            <a:endParaRPr lang="en-US" sz="1400" dirty="0"/>
          </a:p>
        </c:rich>
      </c:tx>
      <c:layout/>
      <c:overlay val="0"/>
    </c:title>
    <c:autoTitleDeleted val="0"/>
    <c:plotArea>
      <c:layout/>
      <c:barChart>
        <c:barDir val="col"/>
        <c:grouping val="clustered"/>
        <c:varyColors val="0"/>
        <c:ser>
          <c:idx val="0"/>
          <c:order val="0"/>
          <c:tx>
            <c:strRef>
              <c:f>'&gt;80 LTV'!$AF$5</c:f>
              <c:strCache>
                <c:ptCount val="1"/>
                <c:pt idx="0">
                  <c:v>HARP-I</c:v>
                </c:pt>
              </c:strCache>
            </c:strRef>
          </c:tx>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LTV'!$AF$6:$AF$62</c:f>
              <c:numCache>
                <c:formatCode>General</c:formatCode>
                <c:ptCount val="57"/>
                <c:pt idx="0">
                  <c:v>4272</c:v>
                </c:pt>
                <c:pt idx="1">
                  <c:v>9557</c:v>
                </c:pt>
                <c:pt idx="2">
                  <c:v>15810</c:v>
                </c:pt>
                <c:pt idx="3">
                  <c:v>14494</c:v>
                </c:pt>
                <c:pt idx="4">
                  <c:v>9396</c:v>
                </c:pt>
                <c:pt idx="5">
                  <c:v>7014</c:v>
                </c:pt>
                <c:pt idx="6">
                  <c:v>9189</c:v>
                </c:pt>
                <c:pt idx="7">
                  <c:v>11722</c:v>
                </c:pt>
                <c:pt idx="8">
                  <c:v>13737</c:v>
                </c:pt>
                <c:pt idx="9">
                  <c:v>12676</c:v>
                </c:pt>
                <c:pt idx="10">
                  <c:v>9563</c:v>
                </c:pt>
                <c:pt idx="11">
                  <c:v>11244</c:v>
                </c:pt>
                <c:pt idx="12">
                  <c:v>10360</c:v>
                </c:pt>
                <c:pt idx="13">
                  <c:v>7944</c:v>
                </c:pt>
                <c:pt idx="14">
                  <c:v>10171</c:v>
                </c:pt>
                <c:pt idx="15">
                  <c:v>12608</c:v>
                </c:pt>
                <c:pt idx="16">
                  <c:v>14205</c:v>
                </c:pt>
                <c:pt idx="17">
                  <c:v>15045</c:v>
                </c:pt>
                <c:pt idx="18">
                  <c:v>17054</c:v>
                </c:pt>
                <c:pt idx="19">
                  <c:v>18502</c:v>
                </c:pt>
                <c:pt idx="20">
                  <c:v>17396</c:v>
                </c:pt>
                <c:pt idx="21">
                  <c:v>15213</c:v>
                </c:pt>
                <c:pt idx="22">
                  <c:v>10593</c:v>
                </c:pt>
                <c:pt idx="23">
                  <c:v>7420</c:v>
                </c:pt>
                <c:pt idx="24">
                  <c:v>6376</c:v>
                </c:pt>
                <c:pt idx="25">
                  <c:v>5524</c:v>
                </c:pt>
                <c:pt idx="26">
                  <c:v>6163</c:v>
                </c:pt>
                <c:pt idx="27">
                  <c:v>6608</c:v>
                </c:pt>
                <c:pt idx="28">
                  <c:v>6814</c:v>
                </c:pt>
                <c:pt idx="29">
                  <c:v>7897</c:v>
                </c:pt>
                <c:pt idx="30">
                  <c:v>9245</c:v>
                </c:pt>
                <c:pt idx="31">
                  <c:v>9831</c:v>
                </c:pt>
                <c:pt idx="32">
                  <c:v>9082</c:v>
                </c:pt>
                <c:pt idx="33">
                  <c:v>11001</c:v>
                </c:pt>
                <c:pt idx="34">
                  <c:v>14080</c:v>
                </c:pt>
                <c:pt idx="35">
                  <c:v>13189</c:v>
                </c:pt>
                <c:pt idx="36">
                  <c:v>12382</c:v>
                </c:pt>
                <c:pt idx="37">
                  <c:v>13178</c:v>
                </c:pt>
                <c:pt idx="38">
                  <c:v>13092</c:v>
                </c:pt>
                <c:pt idx="39">
                  <c:v>13246</c:v>
                </c:pt>
                <c:pt idx="40">
                  <c:v>14068</c:v>
                </c:pt>
                <c:pt idx="41">
                  <c:v>13316</c:v>
                </c:pt>
                <c:pt idx="42">
                  <c:v>15936</c:v>
                </c:pt>
                <c:pt idx="43">
                  <c:v>13955</c:v>
                </c:pt>
                <c:pt idx="44">
                  <c:v>14118</c:v>
                </c:pt>
                <c:pt idx="45">
                  <c:v>15173</c:v>
                </c:pt>
                <c:pt idx="46">
                  <c:v>15258</c:v>
                </c:pt>
                <c:pt idx="47">
                  <c:v>15539</c:v>
                </c:pt>
                <c:pt idx="48">
                  <c:v>14591</c:v>
                </c:pt>
                <c:pt idx="49">
                  <c:v>13308</c:v>
                </c:pt>
                <c:pt idx="50">
                  <c:v>11511</c:v>
                </c:pt>
                <c:pt idx="51">
                  <c:v>10589</c:v>
                </c:pt>
                <c:pt idx="52">
                  <c:v>8489</c:v>
                </c:pt>
                <c:pt idx="53">
                  <c:v>6264</c:v>
                </c:pt>
                <c:pt idx="54">
                  <c:v>5421</c:v>
                </c:pt>
                <c:pt idx="55">
                  <c:v>4753</c:v>
                </c:pt>
                <c:pt idx="56">
                  <c:v>4811</c:v>
                </c:pt>
              </c:numCache>
            </c:numRef>
          </c:val>
        </c:ser>
        <c:ser>
          <c:idx val="1"/>
          <c:order val="1"/>
          <c:tx>
            <c:strRef>
              <c:f>'&gt;80 LTV'!$AG$5</c:f>
              <c:strCache>
                <c:ptCount val="1"/>
                <c:pt idx="0">
                  <c:v>HARP-II</c:v>
                </c:pt>
              </c:strCache>
            </c:strRef>
          </c:tx>
          <c:spPr>
            <a:solidFill>
              <a:schemeClr val="bg2">
                <a:lumMod val="75000"/>
              </a:schemeClr>
            </a:solidFill>
          </c:spPr>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LTV'!$AG$6:$AG$62</c:f>
              <c:numCache>
                <c:formatCode>General</c:formatCode>
                <c:ptCount val="57"/>
                <c:pt idx="0">
                  <c:v>3673</c:v>
                </c:pt>
                <c:pt idx="1">
                  <c:v>9247</c:v>
                </c:pt>
                <c:pt idx="2">
                  <c:v>15370</c:v>
                </c:pt>
                <c:pt idx="3">
                  <c:v>14029</c:v>
                </c:pt>
                <c:pt idx="4">
                  <c:v>9135</c:v>
                </c:pt>
                <c:pt idx="5">
                  <c:v>6784</c:v>
                </c:pt>
                <c:pt idx="6">
                  <c:v>8893</c:v>
                </c:pt>
                <c:pt idx="7">
                  <c:v>11371</c:v>
                </c:pt>
                <c:pt idx="8">
                  <c:v>13463</c:v>
                </c:pt>
                <c:pt idx="9">
                  <c:v>12639</c:v>
                </c:pt>
                <c:pt idx="10">
                  <c:v>9607</c:v>
                </c:pt>
                <c:pt idx="11">
                  <c:v>11233</c:v>
                </c:pt>
                <c:pt idx="12">
                  <c:v>10354</c:v>
                </c:pt>
                <c:pt idx="13">
                  <c:v>7969</c:v>
                </c:pt>
                <c:pt idx="14">
                  <c:v>10240</c:v>
                </c:pt>
                <c:pt idx="15">
                  <c:v>12706</c:v>
                </c:pt>
                <c:pt idx="16">
                  <c:v>14514</c:v>
                </c:pt>
                <c:pt idx="17">
                  <c:v>15385</c:v>
                </c:pt>
                <c:pt idx="18">
                  <c:v>17435</c:v>
                </c:pt>
                <c:pt idx="19">
                  <c:v>18832</c:v>
                </c:pt>
                <c:pt idx="20">
                  <c:v>17593</c:v>
                </c:pt>
                <c:pt idx="21">
                  <c:v>15376</c:v>
                </c:pt>
                <c:pt idx="22">
                  <c:v>10725</c:v>
                </c:pt>
                <c:pt idx="23">
                  <c:v>7425</c:v>
                </c:pt>
                <c:pt idx="24">
                  <c:v>6431</c:v>
                </c:pt>
                <c:pt idx="25">
                  <c:v>5596</c:v>
                </c:pt>
                <c:pt idx="26">
                  <c:v>6287</c:v>
                </c:pt>
                <c:pt idx="27">
                  <c:v>6722</c:v>
                </c:pt>
                <c:pt idx="28">
                  <c:v>6917</c:v>
                </c:pt>
                <c:pt idx="29">
                  <c:v>8052</c:v>
                </c:pt>
                <c:pt idx="30">
                  <c:v>9402</c:v>
                </c:pt>
                <c:pt idx="31">
                  <c:v>9964</c:v>
                </c:pt>
                <c:pt idx="32">
                  <c:v>9237</c:v>
                </c:pt>
                <c:pt idx="33">
                  <c:v>11247</c:v>
                </c:pt>
                <c:pt idx="34">
                  <c:v>14409</c:v>
                </c:pt>
                <c:pt idx="35">
                  <c:v>13389</c:v>
                </c:pt>
                <c:pt idx="36">
                  <c:v>12542</c:v>
                </c:pt>
                <c:pt idx="37">
                  <c:v>13383</c:v>
                </c:pt>
                <c:pt idx="38">
                  <c:v>13357</c:v>
                </c:pt>
                <c:pt idx="39">
                  <c:v>13492</c:v>
                </c:pt>
                <c:pt idx="40">
                  <c:v>14252</c:v>
                </c:pt>
                <c:pt idx="41">
                  <c:v>13492</c:v>
                </c:pt>
                <c:pt idx="42">
                  <c:v>16216</c:v>
                </c:pt>
                <c:pt idx="43">
                  <c:v>14266</c:v>
                </c:pt>
                <c:pt idx="44">
                  <c:v>14429</c:v>
                </c:pt>
                <c:pt idx="45">
                  <c:v>15534</c:v>
                </c:pt>
                <c:pt idx="46">
                  <c:v>15566</c:v>
                </c:pt>
                <c:pt idx="47">
                  <c:v>15856</c:v>
                </c:pt>
                <c:pt idx="48">
                  <c:v>14917</c:v>
                </c:pt>
                <c:pt idx="49">
                  <c:v>13693</c:v>
                </c:pt>
                <c:pt idx="50">
                  <c:v>11861</c:v>
                </c:pt>
                <c:pt idx="51">
                  <c:v>10905</c:v>
                </c:pt>
                <c:pt idx="52">
                  <c:v>8808</c:v>
                </c:pt>
                <c:pt idx="53">
                  <c:v>6521</c:v>
                </c:pt>
                <c:pt idx="54">
                  <c:v>5615</c:v>
                </c:pt>
                <c:pt idx="55">
                  <c:v>4989</c:v>
                </c:pt>
                <c:pt idx="56">
                  <c:v>4958</c:v>
                </c:pt>
              </c:numCache>
            </c:numRef>
          </c:val>
        </c:ser>
        <c:dLbls>
          <c:showLegendKey val="0"/>
          <c:showVal val="0"/>
          <c:showCatName val="0"/>
          <c:showSerName val="0"/>
          <c:showPercent val="0"/>
          <c:showBubbleSize val="0"/>
        </c:dLbls>
        <c:gapWidth val="150"/>
        <c:axId val="49058560"/>
        <c:axId val="49060096"/>
      </c:barChart>
      <c:lineChart>
        <c:grouping val="standard"/>
        <c:varyColors val="0"/>
        <c:ser>
          <c:idx val="2"/>
          <c:order val="2"/>
          <c:tx>
            <c:strRef>
              <c:f>'&gt;80 LTV'!$AH$5</c:f>
              <c:strCache>
                <c:ptCount val="1"/>
                <c:pt idx="0">
                  <c:v>Ratio II/I</c:v>
                </c:pt>
              </c:strCache>
            </c:strRef>
          </c:tx>
          <c:spPr>
            <a:ln>
              <a:solidFill>
                <a:srgbClr val="C00000"/>
              </a:solidFill>
            </a:ln>
          </c:spPr>
          <c:marker>
            <c:symbol val="none"/>
          </c:marker>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LTV'!$AH$6:$AH$62</c:f>
              <c:numCache>
                <c:formatCode>General</c:formatCode>
                <c:ptCount val="57"/>
                <c:pt idx="0">
                  <c:v>0.85978464419475653</c:v>
                </c:pt>
                <c:pt idx="1">
                  <c:v>0.96756304279585648</c:v>
                </c:pt>
                <c:pt idx="2">
                  <c:v>0.97216951296647691</c:v>
                </c:pt>
                <c:pt idx="3">
                  <c:v>0.96791775907271971</c:v>
                </c:pt>
                <c:pt idx="4">
                  <c:v>0.97222222222222221</c:v>
                </c:pt>
                <c:pt idx="5">
                  <c:v>0.96720844026233244</c:v>
                </c:pt>
                <c:pt idx="6">
                  <c:v>0.96778757209707256</c:v>
                </c:pt>
                <c:pt idx="7">
                  <c:v>0.9700563043849173</c:v>
                </c:pt>
                <c:pt idx="8">
                  <c:v>0.98005386911261561</c:v>
                </c:pt>
                <c:pt idx="9">
                  <c:v>0.99708109813821399</c:v>
                </c:pt>
                <c:pt idx="10">
                  <c:v>1.0046010666108962</c:v>
                </c:pt>
                <c:pt idx="11">
                  <c:v>0.99902170046246885</c:v>
                </c:pt>
                <c:pt idx="12">
                  <c:v>0.99942084942084941</c:v>
                </c:pt>
                <c:pt idx="13">
                  <c:v>1.0031470292044311</c:v>
                </c:pt>
                <c:pt idx="14">
                  <c:v>1.0067839937076</c:v>
                </c:pt>
                <c:pt idx="15">
                  <c:v>1.007772842639594</c:v>
                </c:pt>
                <c:pt idx="16">
                  <c:v>1.021752903907075</c:v>
                </c:pt>
                <c:pt idx="17">
                  <c:v>1.0225988700564972</c:v>
                </c:pt>
                <c:pt idx="18">
                  <c:v>1.0223407998123608</c:v>
                </c:pt>
                <c:pt idx="19">
                  <c:v>1.0178359096313911</c:v>
                </c:pt>
                <c:pt idx="20">
                  <c:v>1.0113244424005519</c:v>
                </c:pt>
                <c:pt idx="21">
                  <c:v>1.0107145204759087</c:v>
                </c:pt>
                <c:pt idx="22">
                  <c:v>1.0124610591900312</c:v>
                </c:pt>
                <c:pt idx="23">
                  <c:v>1.0006738544474394</c:v>
                </c:pt>
                <c:pt idx="24">
                  <c:v>1.0086260978670012</c:v>
                </c:pt>
                <c:pt idx="25">
                  <c:v>1.0130340333091963</c:v>
                </c:pt>
                <c:pt idx="26">
                  <c:v>1.0201200713938017</c:v>
                </c:pt>
                <c:pt idx="27">
                  <c:v>1.0172518159806296</c:v>
                </c:pt>
                <c:pt idx="28">
                  <c:v>1.0151159377751688</c:v>
                </c:pt>
                <c:pt idx="29">
                  <c:v>1.0196277067240724</c:v>
                </c:pt>
                <c:pt idx="30">
                  <c:v>1.016982152514873</c:v>
                </c:pt>
                <c:pt idx="31">
                  <c:v>1.013528633913132</c:v>
                </c:pt>
                <c:pt idx="32">
                  <c:v>1.0170667253908832</c:v>
                </c:pt>
                <c:pt idx="33">
                  <c:v>1.0223616034905918</c:v>
                </c:pt>
                <c:pt idx="34">
                  <c:v>1.0233664772727273</c:v>
                </c:pt>
                <c:pt idx="35">
                  <c:v>1.0151641519448025</c:v>
                </c:pt>
                <c:pt idx="36">
                  <c:v>1.0129219835244709</c:v>
                </c:pt>
                <c:pt idx="37">
                  <c:v>1.0155562300804371</c:v>
                </c:pt>
                <c:pt idx="38">
                  <c:v>1.0202413687748244</c:v>
                </c:pt>
                <c:pt idx="39">
                  <c:v>1.0185716442699684</c:v>
                </c:pt>
                <c:pt idx="40">
                  <c:v>1.0130793289735569</c:v>
                </c:pt>
                <c:pt idx="41">
                  <c:v>1.0132171823370382</c:v>
                </c:pt>
                <c:pt idx="42">
                  <c:v>1.017570281124498</c:v>
                </c:pt>
                <c:pt idx="43">
                  <c:v>1.022285919025439</c:v>
                </c:pt>
                <c:pt idx="44">
                  <c:v>1.0220286159512679</c:v>
                </c:pt>
                <c:pt idx="45">
                  <c:v>1.0237922625716733</c:v>
                </c:pt>
                <c:pt idx="46">
                  <c:v>1.020186131865251</c:v>
                </c:pt>
                <c:pt idx="47">
                  <c:v>1.0204002831585044</c:v>
                </c:pt>
                <c:pt idx="48">
                  <c:v>1.0223425399218697</c:v>
                </c:pt>
                <c:pt idx="49">
                  <c:v>1.0289299669371808</c:v>
                </c:pt>
                <c:pt idx="50">
                  <c:v>1.0304056988967074</c:v>
                </c:pt>
                <c:pt idx="51">
                  <c:v>1.0298422891680046</c:v>
                </c:pt>
                <c:pt idx="52">
                  <c:v>1.0375780421722229</c:v>
                </c:pt>
                <c:pt idx="53">
                  <c:v>1.0410280970625798</c:v>
                </c:pt>
                <c:pt idx="54">
                  <c:v>1.0357867552112157</c:v>
                </c:pt>
                <c:pt idx="55">
                  <c:v>1.0496528508310541</c:v>
                </c:pt>
                <c:pt idx="56">
                  <c:v>1.0305549781750156</c:v>
                </c:pt>
              </c:numCache>
            </c:numRef>
          </c:val>
          <c:smooth val="0"/>
        </c:ser>
        <c:dLbls>
          <c:showLegendKey val="0"/>
          <c:showVal val="0"/>
          <c:showCatName val="0"/>
          <c:showSerName val="0"/>
          <c:showPercent val="0"/>
          <c:showBubbleSize val="0"/>
        </c:dLbls>
        <c:marker val="1"/>
        <c:smooth val="0"/>
        <c:axId val="49068672"/>
        <c:axId val="49066752"/>
      </c:lineChart>
      <c:dateAx>
        <c:axId val="49058560"/>
        <c:scaling>
          <c:orientation val="minMax"/>
        </c:scaling>
        <c:delete val="0"/>
        <c:axPos val="b"/>
        <c:numFmt formatCode="m/d/yyyy" sourceLinked="1"/>
        <c:majorTickMark val="out"/>
        <c:minorTickMark val="none"/>
        <c:tickLblPos val="nextTo"/>
        <c:crossAx val="49060096"/>
        <c:crosses val="autoZero"/>
        <c:auto val="1"/>
        <c:lblOffset val="100"/>
        <c:baseTimeUnit val="months"/>
        <c:majorUnit val="6"/>
        <c:majorTimeUnit val="months"/>
      </c:dateAx>
      <c:valAx>
        <c:axId val="49060096"/>
        <c:scaling>
          <c:orientation val="minMax"/>
        </c:scaling>
        <c:delete val="0"/>
        <c:axPos val="l"/>
        <c:majorGridlines/>
        <c:title>
          <c:tx>
            <c:rich>
              <a:bodyPr rot="-5400000" vert="horz"/>
              <a:lstStyle/>
              <a:p>
                <a:pPr>
                  <a:defRPr/>
                </a:pPr>
                <a:r>
                  <a:rPr lang="en-US"/>
                  <a:t>Loan Count</a:t>
                </a:r>
              </a:p>
            </c:rich>
          </c:tx>
          <c:layout/>
          <c:overlay val="0"/>
        </c:title>
        <c:numFmt formatCode="General" sourceLinked="1"/>
        <c:majorTickMark val="out"/>
        <c:minorTickMark val="none"/>
        <c:tickLblPos val="nextTo"/>
        <c:crossAx val="49058560"/>
        <c:crosses val="autoZero"/>
        <c:crossBetween val="between"/>
        <c:dispUnits>
          <c:builtInUnit val="thousands"/>
          <c:dispUnitsLbl>
            <c:layout/>
          </c:dispUnitsLbl>
        </c:dispUnits>
      </c:valAx>
      <c:valAx>
        <c:axId val="49066752"/>
        <c:scaling>
          <c:orientation val="minMax"/>
        </c:scaling>
        <c:delete val="0"/>
        <c:axPos val="r"/>
        <c:title>
          <c:tx>
            <c:rich>
              <a:bodyPr rot="-5400000" vert="horz"/>
              <a:lstStyle/>
              <a:p>
                <a:pPr>
                  <a:defRPr/>
                </a:pPr>
                <a:r>
                  <a:rPr lang="en-US"/>
                  <a:t>Ratio</a:t>
                </a:r>
              </a:p>
            </c:rich>
          </c:tx>
          <c:layout/>
          <c:overlay val="0"/>
        </c:title>
        <c:numFmt formatCode="0.0" sourceLinked="0"/>
        <c:majorTickMark val="out"/>
        <c:minorTickMark val="none"/>
        <c:tickLblPos val="nextTo"/>
        <c:crossAx val="49068672"/>
        <c:crosses val="max"/>
        <c:crossBetween val="between"/>
      </c:valAx>
      <c:dateAx>
        <c:axId val="49068672"/>
        <c:scaling>
          <c:orientation val="minMax"/>
        </c:scaling>
        <c:delete val="1"/>
        <c:axPos val="b"/>
        <c:numFmt formatCode="m/d/yyyy" sourceLinked="1"/>
        <c:majorTickMark val="out"/>
        <c:minorTickMark val="none"/>
        <c:tickLblPos val="nextTo"/>
        <c:crossAx val="49066752"/>
        <c:crosses val="autoZero"/>
        <c:auto val="1"/>
        <c:lblOffset val="100"/>
        <c:baseTimeUnit val="months"/>
      </c:dateAx>
    </c:plotArea>
    <c:legend>
      <c:legendPos val="b"/>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 HARP%</c:v>
                </c:pt>
              </c:strCache>
            </c:strRef>
          </c:tx>
          <c:marker>
            <c:symbol val="none"/>
          </c:marker>
          <c:cat>
            <c:numRef>
              <c:f>Sheet1!$A$2:$A$38</c:f>
              <c:numCache>
                <c:formatCode>m/d/yyyy</c:formatCode>
                <c:ptCount val="37"/>
                <c:pt idx="0">
                  <c:v>40603</c:v>
                </c:pt>
                <c:pt idx="1">
                  <c:v>40634</c:v>
                </c:pt>
                <c:pt idx="2">
                  <c:v>40664</c:v>
                </c:pt>
                <c:pt idx="3">
                  <c:v>40695</c:v>
                </c:pt>
                <c:pt idx="4">
                  <c:v>40725</c:v>
                </c:pt>
                <c:pt idx="5">
                  <c:v>40756</c:v>
                </c:pt>
                <c:pt idx="6">
                  <c:v>40787</c:v>
                </c:pt>
                <c:pt idx="7">
                  <c:v>40817</c:v>
                </c:pt>
                <c:pt idx="8">
                  <c:v>40848</c:v>
                </c:pt>
                <c:pt idx="9">
                  <c:v>40878</c:v>
                </c:pt>
                <c:pt idx="10">
                  <c:v>40909</c:v>
                </c:pt>
                <c:pt idx="11">
                  <c:v>40940</c:v>
                </c:pt>
                <c:pt idx="12">
                  <c:v>40969</c:v>
                </c:pt>
                <c:pt idx="13">
                  <c:v>41000</c:v>
                </c:pt>
                <c:pt idx="14">
                  <c:v>41030</c:v>
                </c:pt>
                <c:pt idx="15">
                  <c:v>41061</c:v>
                </c:pt>
                <c:pt idx="16">
                  <c:v>41091</c:v>
                </c:pt>
                <c:pt idx="17">
                  <c:v>41122</c:v>
                </c:pt>
                <c:pt idx="18">
                  <c:v>41153</c:v>
                </c:pt>
                <c:pt idx="19">
                  <c:v>41183</c:v>
                </c:pt>
                <c:pt idx="20">
                  <c:v>41214</c:v>
                </c:pt>
                <c:pt idx="21">
                  <c:v>41244</c:v>
                </c:pt>
                <c:pt idx="22">
                  <c:v>41275</c:v>
                </c:pt>
                <c:pt idx="23">
                  <c:v>41306</c:v>
                </c:pt>
                <c:pt idx="24">
                  <c:v>41334</c:v>
                </c:pt>
                <c:pt idx="25">
                  <c:v>41365</c:v>
                </c:pt>
                <c:pt idx="26">
                  <c:v>41395</c:v>
                </c:pt>
                <c:pt idx="27">
                  <c:v>41426</c:v>
                </c:pt>
                <c:pt idx="28">
                  <c:v>41456</c:v>
                </c:pt>
                <c:pt idx="29">
                  <c:v>41487</c:v>
                </c:pt>
                <c:pt idx="30">
                  <c:v>41518</c:v>
                </c:pt>
                <c:pt idx="31">
                  <c:v>41548</c:v>
                </c:pt>
                <c:pt idx="32">
                  <c:v>41579</c:v>
                </c:pt>
                <c:pt idx="33">
                  <c:v>41609</c:v>
                </c:pt>
                <c:pt idx="34">
                  <c:v>41640</c:v>
                </c:pt>
                <c:pt idx="35">
                  <c:v>41671</c:v>
                </c:pt>
                <c:pt idx="36">
                  <c:v>41699</c:v>
                </c:pt>
              </c:numCache>
            </c:numRef>
          </c:cat>
          <c:val>
            <c:numRef>
              <c:f>Sheet1!$B$2:$B$38</c:f>
              <c:numCache>
                <c:formatCode>0%</c:formatCode>
                <c:ptCount val="37"/>
                <c:pt idx="0">
                  <c:v>0.47727269999999999</c:v>
                </c:pt>
                <c:pt idx="1">
                  <c:v>0.51598619999999995</c:v>
                </c:pt>
                <c:pt idx="2">
                  <c:v>0.46581060000000002</c:v>
                </c:pt>
                <c:pt idx="3">
                  <c:v>0.52366639999999998</c:v>
                </c:pt>
                <c:pt idx="4">
                  <c:v>0.50466869999999997</c:v>
                </c:pt>
                <c:pt idx="5">
                  <c:v>0.4516696</c:v>
                </c:pt>
                <c:pt idx="6">
                  <c:v>0.47632229999999998</c:v>
                </c:pt>
                <c:pt idx="7">
                  <c:v>0.40088889999999999</c:v>
                </c:pt>
                <c:pt idx="8">
                  <c:v>0.32456289999999999</c:v>
                </c:pt>
                <c:pt idx="9">
                  <c:v>0.35950549999999998</c:v>
                </c:pt>
                <c:pt idx="10">
                  <c:v>0.36698969999999997</c:v>
                </c:pt>
                <c:pt idx="11">
                  <c:v>0.29518729999999999</c:v>
                </c:pt>
                <c:pt idx="12">
                  <c:v>0.31472509999999998</c:v>
                </c:pt>
                <c:pt idx="13">
                  <c:v>0.3199592</c:v>
                </c:pt>
                <c:pt idx="14">
                  <c:v>0.31610120000000003</c:v>
                </c:pt>
                <c:pt idx="15">
                  <c:v>0.31687929999999997</c:v>
                </c:pt>
                <c:pt idx="16">
                  <c:v>0.28565839999999998</c:v>
                </c:pt>
                <c:pt idx="17">
                  <c:v>0.29776049999999998</c:v>
                </c:pt>
                <c:pt idx="18">
                  <c:v>0.31384380000000001</c:v>
                </c:pt>
                <c:pt idx="19">
                  <c:v>0.2636114</c:v>
                </c:pt>
                <c:pt idx="20">
                  <c:v>0.27300649999999999</c:v>
                </c:pt>
                <c:pt idx="21">
                  <c:v>0.27954449999999997</c:v>
                </c:pt>
                <c:pt idx="22">
                  <c:v>0.29083340000000002</c:v>
                </c:pt>
                <c:pt idx="23">
                  <c:v>0.27507740000000003</c:v>
                </c:pt>
                <c:pt idx="24">
                  <c:v>0.25978849999999998</c:v>
                </c:pt>
                <c:pt idx="25">
                  <c:v>0.29125509999999999</c:v>
                </c:pt>
                <c:pt idx="26">
                  <c:v>0.37101709999999999</c:v>
                </c:pt>
                <c:pt idx="27">
                  <c:v>0.3788396</c:v>
                </c:pt>
                <c:pt idx="28">
                  <c:v>0.32651780000000002</c:v>
                </c:pt>
                <c:pt idx="29">
                  <c:v>0.32080160000000002</c:v>
                </c:pt>
                <c:pt idx="30">
                  <c:v>0.38464510000000002</c:v>
                </c:pt>
                <c:pt idx="31">
                  <c:v>0.4281007</c:v>
                </c:pt>
                <c:pt idx="32">
                  <c:v>0.46578180000000002</c:v>
                </c:pt>
                <c:pt idx="33">
                  <c:v>0.44125209999999998</c:v>
                </c:pt>
                <c:pt idx="34">
                  <c:v>0.37401430000000002</c:v>
                </c:pt>
                <c:pt idx="35">
                  <c:v>0.37490010000000001</c:v>
                </c:pt>
                <c:pt idx="36">
                  <c:v>0.43190060000000002</c:v>
                </c:pt>
              </c:numCache>
            </c:numRef>
          </c:val>
          <c:smooth val="0"/>
        </c:ser>
        <c:ser>
          <c:idx val="1"/>
          <c:order val="1"/>
          <c:tx>
            <c:strRef>
              <c:f>Sheet1!$C$1</c:f>
              <c:strCache>
                <c:ptCount val="1"/>
                <c:pt idx="0">
                  <c:v>Predicted HARP%</c:v>
                </c:pt>
              </c:strCache>
            </c:strRef>
          </c:tx>
          <c:spPr>
            <a:ln>
              <a:solidFill>
                <a:schemeClr val="bg2">
                  <a:lumMod val="50000"/>
                </a:schemeClr>
              </a:solidFill>
            </a:ln>
          </c:spPr>
          <c:marker>
            <c:symbol val="none"/>
          </c:marker>
          <c:cat>
            <c:numRef>
              <c:f>Sheet1!$A$2:$A$38</c:f>
              <c:numCache>
                <c:formatCode>m/d/yyyy</c:formatCode>
                <c:ptCount val="37"/>
                <c:pt idx="0">
                  <c:v>40603</c:v>
                </c:pt>
                <c:pt idx="1">
                  <c:v>40634</c:v>
                </c:pt>
                <c:pt idx="2">
                  <c:v>40664</c:v>
                </c:pt>
                <c:pt idx="3">
                  <c:v>40695</c:v>
                </c:pt>
                <c:pt idx="4">
                  <c:v>40725</c:v>
                </c:pt>
                <c:pt idx="5">
                  <c:v>40756</c:v>
                </c:pt>
                <c:pt idx="6">
                  <c:v>40787</c:v>
                </c:pt>
                <c:pt idx="7">
                  <c:v>40817</c:v>
                </c:pt>
                <c:pt idx="8">
                  <c:v>40848</c:v>
                </c:pt>
                <c:pt idx="9">
                  <c:v>40878</c:v>
                </c:pt>
                <c:pt idx="10">
                  <c:v>40909</c:v>
                </c:pt>
                <c:pt idx="11">
                  <c:v>40940</c:v>
                </c:pt>
                <c:pt idx="12">
                  <c:v>40969</c:v>
                </c:pt>
                <c:pt idx="13">
                  <c:v>41000</c:v>
                </c:pt>
                <c:pt idx="14">
                  <c:v>41030</c:v>
                </c:pt>
                <c:pt idx="15">
                  <c:v>41061</c:v>
                </c:pt>
                <c:pt idx="16">
                  <c:v>41091</c:v>
                </c:pt>
                <c:pt idx="17">
                  <c:v>41122</c:v>
                </c:pt>
                <c:pt idx="18">
                  <c:v>41153</c:v>
                </c:pt>
                <c:pt idx="19">
                  <c:v>41183</c:v>
                </c:pt>
                <c:pt idx="20">
                  <c:v>41214</c:v>
                </c:pt>
                <c:pt idx="21">
                  <c:v>41244</c:v>
                </c:pt>
                <c:pt idx="22">
                  <c:v>41275</c:v>
                </c:pt>
                <c:pt idx="23">
                  <c:v>41306</c:v>
                </c:pt>
                <c:pt idx="24">
                  <c:v>41334</c:v>
                </c:pt>
                <c:pt idx="25">
                  <c:v>41365</c:v>
                </c:pt>
                <c:pt idx="26">
                  <c:v>41395</c:v>
                </c:pt>
                <c:pt idx="27">
                  <c:v>41426</c:v>
                </c:pt>
                <c:pt idx="28">
                  <c:v>41456</c:v>
                </c:pt>
                <c:pt idx="29">
                  <c:v>41487</c:v>
                </c:pt>
                <c:pt idx="30">
                  <c:v>41518</c:v>
                </c:pt>
                <c:pt idx="31">
                  <c:v>41548</c:v>
                </c:pt>
                <c:pt idx="32">
                  <c:v>41579</c:v>
                </c:pt>
                <c:pt idx="33">
                  <c:v>41609</c:v>
                </c:pt>
                <c:pt idx="34">
                  <c:v>41640</c:v>
                </c:pt>
                <c:pt idx="35">
                  <c:v>41671</c:v>
                </c:pt>
                <c:pt idx="36">
                  <c:v>41699</c:v>
                </c:pt>
              </c:numCache>
            </c:numRef>
          </c:cat>
          <c:val>
            <c:numRef>
              <c:f>Sheet1!$C$2:$C$38</c:f>
              <c:numCache>
                <c:formatCode>0%</c:formatCode>
                <c:ptCount val="37"/>
                <c:pt idx="0">
                  <c:v>0.4739275</c:v>
                </c:pt>
                <c:pt idx="1">
                  <c:v>0.48974889999999999</c:v>
                </c:pt>
                <c:pt idx="2">
                  <c:v>0.49085220000000002</c:v>
                </c:pt>
                <c:pt idx="3">
                  <c:v>0.48666599999999999</c:v>
                </c:pt>
                <c:pt idx="4">
                  <c:v>0.46196809999999999</c:v>
                </c:pt>
                <c:pt idx="5">
                  <c:v>0.41820170000000001</c:v>
                </c:pt>
                <c:pt idx="6">
                  <c:v>0.45650479999999999</c:v>
                </c:pt>
                <c:pt idx="7">
                  <c:v>0.40432570000000001</c:v>
                </c:pt>
                <c:pt idx="8">
                  <c:v>0.35207189999999999</c:v>
                </c:pt>
                <c:pt idx="9">
                  <c:v>0.3308159</c:v>
                </c:pt>
                <c:pt idx="10">
                  <c:v>0.33038519999999999</c:v>
                </c:pt>
                <c:pt idx="11">
                  <c:v>0.3369645</c:v>
                </c:pt>
                <c:pt idx="12">
                  <c:v>0.31548880000000001</c:v>
                </c:pt>
                <c:pt idx="13">
                  <c:v>0.320496</c:v>
                </c:pt>
                <c:pt idx="14">
                  <c:v>0.34285209999999999</c:v>
                </c:pt>
                <c:pt idx="15">
                  <c:v>0.32414280000000001</c:v>
                </c:pt>
                <c:pt idx="16">
                  <c:v>0.31210959999999999</c:v>
                </c:pt>
                <c:pt idx="17">
                  <c:v>0.29278480000000001</c:v>
                </c:pt>
                <c:pt idx="18">
                  <c:v>0.29777579999999998</c:v>
                </c:pt>
                <c:pt idx="19">
                  <c:v>0.290491</c:v>
                </c:pt>
                <c:pt idx="20">
                  <c:v>0.29023470000000001</c:v>
                </c:pt>
                <c:pt idx="21">
                  <c:v>0.27880579999999999</c:v>
                </c:pt>
                <c:pt idx="22">
                  <c:v>0.28773189999999998</c:v>
                </c:pt>
                <c:pt idx="23">
                  <c:v>0.28248380000000001</c:v>
                </c:pt>
                <c:pt idx="24">
                  <c:v>0.28676309999999999</c:v>
                </c:pt>
                <c:pt idx="25">
                  <c:v>0.3085774</c:v>
                </c:pt>
                <c:pt idx="26">
                  <c:v>0.31209350000000002</c:v>
                </c:pt>
                <c:pt idx="27">
                  <c:v>0.32041540000000002</c:v>
                </c:pt>
                <c:pt idx="28">
                  <c:v>0.29481109999999999</c:v>
                </c:pt>
                <c:pt idx="29">
                  <c:v>0.34581590000000001</c:v>
                </c:pt>
                <c:pt idx="30">
                  <c:v>0.40042149999999999</c:v>
                </c:pt>
                <c:pt idx="31">
                  <c:v>0.42605900000000002</c:v>
                </c:pt>
                <c:pt idx="32">
                  <c:v>0.44674819999999998</c:v>
                </c:pt>
                <c:pt idx="33">
                  <c:v>0.39535779999999998</c:v>
                </c:pt>
                <c:pt idx="34">
                  <c:v>0.38261709999999999</c:v>
                </c:pt>
                <c:pt idx="35">
                  <c:v>0.4239387</c:v>
                </c:pt>
                <c:pt idx="36">
                  <c:v>0.45321450000000002</c:v>
                </c:pt>
              </c:numCache>
            </c:numRef>
          </c:val>
          <c:smooth val="0"/>
        </c:ser>
        <c:dLbls>
          <c:showLegendKey val="0"/>
          <c:showVal val="0"/>
          <c:showCatName val="0"/>
          <c:showSerName val="0"/>
          <c:showPercent val="0"/>
          <c:showBubbleSize val="0"/>
        </c:dLbls>
        <c:marker val="1"/>
        <c:smooth val="0"/>
        <c:axId val="49549696"/>
        <c:axId val="49551232"/>
      </c:lineChart>
      <c:dateAx>
        <c:axId val="49549696"/>
        <c:scaling>
          <c:orientation val="minMax"/>
        </c:scaling>
        <c:delete val="0"/>
        <c:axPos val="b"/>
        <c:numFmt formatCode="m/d/yyyy" sourceLinked="1"/>
        <c:majorTickMark val="out"/>
        <c:minorTickMark val="none"/>
        <c:tickLblPos val="nextTo"/>
        <c:crossAx val="49551232"/>
        <c:crosses val="autoZero"/>
        <c:auto val="1"/>
        <c:lblOffset val="100"/>
        <c:baseTimeUnit val="months"/>
        <c:majorUnit val="6"/>
        <c:majorTimeUnit val="months"/>
      </c:dateAx>
      <c:valAx>
        <c:axId val="49551232"/>
        <c:scaling>
          <c:orientation val="minMax"/>
          <c:min val="0.2"/>
        </c:scaling>
        <c:delete val="0"/>
        <c:axPos val="l"/>
        <c:majorGridlines/>
        <c:numFmt formatCode="0%" sourceLinked="1"/>
        <c:majorTickMark val="out"/>
        <c:minorTickMark val="none"/>
        <c:tickLblPos val="nextTo"/>
        <c:crossAx val="49549696"/>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6585.9</c:v>
                </c:pt>
                <c:pt idx="111">
                  <c:v>6591.8</c:v>
                </c:pt>
                <c:pt idx="112">
                  <c:v>8160.55</c:v>
                </c:pt>
                <c:pt idx="113">
                  <c:v>7871.9000000000005</c:v>
                </c:pt>
                <c:pt idx="114">
                  <c:v>7418.35</c:v>
                </c:pt>
                <c:pt idx="115">
                  <c:v>9569.75</c:v>
                </c:pt>
                <c:pt idx="116">
                  <c:v>10031.049999999999</c:v>
                </c:pt>
                <c:pt idx="117">
                  <c:v>10208.75</c:v>
                </c:pt>
                <c:pt idx="118">
                  <c:v>10948.7</c:v>
                </c:pt>
                <c:pt idx="119">
                  <c:v>11460.7</c:v>
                </c:pt>
                <c:pt idx="120">
                  <c:v>14130.25</c:v>
                </c:pt>
                <c:pt idx="121">
                  <c:v>13418.6</c:v>
                </c:pt>
                <c:pt idx="122">
                  <c:v>16116.9</c:v>
                </c:pt>
                <c:pt idx="123">
                  <c:v>23823.3</c:v>
                </c:pt>
                <c:pt idx="124">
                  <c:v>27135.3</c:v>
                </c:pt>
                <c:pt idx="125">
                  <c:v>20450.300000000003</c:v>
                </c:pt>
                <c:pt idx="126">
                  <c:v>17553.25</c:v>
                </c:pt>
                <c:pt idx="127">
                  <c:v>14187.1</c:v>
                </c:pt>
                <c:pt idx="128">
                  <c:v>11192.15</c:v>
                </c:pt>
                <c:pt idx="129">
                  <c:v>10829.05</c:v>
                </c:pt>
                <c:pt idx="130">
                  <c:v>11648.300000000001</c:v>
                </c:pt>
                <c:pt idx="131">
                  <c:v>12564.85</c:v>
                </c:pt>
                <c:pt idx="132">
                  <c:v>11229.55</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8097.1</c:v>
                </c:pt>
                <c:pt idx="111">
                  <c:v>6196.2</c:v>
                </c:pt>
                <c:pt idx="112">
                  <c:v>6825.45</c:v>
                </c:pt>
                <c:pt idx="113">
                  <c:v>6610.1</c:v>
                </c:pt>
                <c:pt idx="114">
                  <c:v>5905.65</c:v>
                </c:pt>
                <c:pt idx="115">
                  <c:v>6307.25</c:v>
                </c:pt>
                <c:pt idx="116">
                  <c:v>6461.95</c:v>
                </c:pt>
                <c:pt idx="117">
                  <c:v>6522.25</c:v>
                </c:pt>
                <c:pt idx="118">
                  <c:v>6776.2999999999993</c:v>
                </c:pt>
                <c:pt idx="119">
                  <c:v>6707.2999999999993</c:v>
                </c:pt>
                <c:pt idx="120">
                  <c:v>7345.75</c:v>
                </c:pt>
                <c:pt idx="121">
                  <c:v>7519.4</c:v>
                </c:pt>
                <c:pt idx="122">
                  <c:v>8014.0999999999995</c:v>
                </c:pt>
                <c:pt idx="123">
                  <c:v>11192.699999999999</c:v>
                </c:pt>
                <c:pt idx="124">
                  <c:v>12482.699999999999</c:v>
                </c:pt>
                <c:pt idx="125">
                  <c:v>10089.700000000001</c:v>
                </c:pt>
                <c:pt idx="126">
                  <c:v>8687.75</c:v>
                </c:pt>
                <c:pt idx="127">
                  <c:v>7217.9</c:v>
                </c:pt>
                <c:pt idx="128">
                  <c:v>5989.8499999999995</c:v>
                </c:pt>
                <c:pt idx="129">
                  <c:v>5717.95</c:v>
                </c:pt>
                <c:pt idx="130">
                  <c:v>6002.7</c:v>
                </c:pt>
                <c:pt idx="131">
                  <c:v>6142.15</c:v>
                </c:pt>
                <c:pt idx="132">
                  <c:v>5270.45</c:v>
                </c:pt>
              </c:numCache>
            </c:numRef>
          </c:val>
        </c:ser>
        <c:dLbls>
          <c:showLegendKey val="0"/>
          <c:showVal val="0"/>
          <c:showCatName val="0"/>
          <c:showSerName val="0"/>
          <c:showPercent val="0"/>
          <c:showBubbleSize val="0"/>
        </c:dLbls>
        <c:axId val="49600768"/>
        <c:axId val="49602560"/>
      </c:areaChart>
      <c:dateAx>
        <c:axId val="49600768"/>
        <c:scaling>
          <c:orientation val="minMax"/>
        </c:scaling>
        <c:delete val="0"/>
        <c:axPos val="b"/>
        <c:numFmt formatCode="m/d/yyyy" sourceLinked="1"/>
        <c:majorTickMark val="out"/>
        <c:minorTickMark val="none"/>
        <c:tickLblPos val="nextTo"/>
        <c:crossAx val="49602560"/>
        <c:crosses val="autoZero"/>
        <c:auto val="1"/>
        <c:lblOffset val="100"/>
        <c:baseTimeUnit val="months"/>
        <c:majorUnit val="12"/>
        <c:majorTimeUnit val="months"/>
      </c:dateAx>
      <c:valAx>
        <c:axId val="49602560"/>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49600768"/>
        <c:crosses val="autoZero"/>
        <c:crossBetween val="midCat"/>
      </c:valAx>
    </c:plotArea>
    <c:plotVisOnly val="1"/>
    <c:dispBlanksAs val="zero"/>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49797760"/>
        <c:axId val="50135424"/>
      </c:areaChart>
      <c:dateAx>
        <c:axId val="49797760"/>
        <c:scaling>
          <c:orientation val="minMax"/>
        </c:scaling>
        <c:delete val="0"/>
        <c:axPos val="b"/>
        <c:numFmt formatCode="m/d/yyyy" sourceLinked="1"/>
        <c:majorTickMark val="out"/>
        <c:minorTickMark val="none"/>
        <c:tickLblPos val="nextTo"/>
        <c:crossAx val="50135424"/>
        <c:crosses val="autoZero"/>
        <c:auto val="1"/>
        <c:lblOffset val="100"/>
        <c:baseTimeUnit val="months"/>
        <c:majorUnit val="12"/>
        <c:majorTimeUnit val="months"/>
      </c:dateAx>
      <c:valAx>
        <c:axId val="50135424"/>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49797760"/>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Identifying </a:t>
            </a:r>
            <a:r>
              <a:rPr lang="en-US" sz="2400" dirty="0" err="1" smtClean="0">
                <a:solidFill>
                  <a:srgbClr val="968880"/>
                </a:solidFill>
                <a:latin typeface="Calibri" pitchFamily="34" charset="0"/>
              </a:rPr>
              <a:t>HARPed</a:t>
            </a:r>
            <a:r>
              <a:rPr lang="en-US" sz="2400" dirty="0" smtClean="0">
                <a:solidFill>
                  <a:srgbClr val="968880"/>
                </a:solidFill>
                <a:latin typeface="Calibri" pitchFamily="34" charset="0"/>
              </a:rPr>
              <a:t> Loans</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February</a:t>
            </a:r>
            <a:r>
              <a:rPr lang="en-US" dirty="0" smtClean="0">
                <a:solidFill>
                  <a:schemeClr val="tx2"/>
                </a:solidFill>
                <a:latin typeface="Calibri" pitchFamily="34" charset="0"/>
              </a:rPr>
              <a:t> </a:t>
            </a:r>
            <a:r>
              <a:rPr lang="en-US" dirty="0" smtClean="0">
                <a:solidFill>
                  <a:schemeClr val="tx2"/>
                </a:solidFill>
                <a:latin typeface="Calibri" pitchFamily="34" charset="0"/>
              </a:rPr>
              <a:t>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OVERVIEW OF HARP AND STREAMLINE REFI PROGRAMS</a:t>
            </a:r>
            <a:br>
              <a:rPr lang="en-US" sz="1600" dirty="0" smtClean="0">
                <a:latin typeface="+mn-lt"/>
              </a:rPr>
            </a:br>
            <a:endParaRPr lang="en-US" sz="1600" dirty="0">
              <a:latin typeface="+mn-lt"/>
            </a:endParaRPr>
          </a:p>
        </p:txBody>
      </p:sp>
      <p:sp>
        <p:nvSpPr>
          <p:cNvPr id="3" name="TextBox 2"/>
          <p:cNvSpPr txBox="1"/>
          <p:nvPr/>
        </p:nvSpPr>
        <p:spPr>
          <a:xfrm>
            <a:off x="1943100" y="1127760"/>
            <a:ext cx="6789420" cy="369332"/>
          </a:xfrm>
          <a:prstGeom prst="rect">
            <a:avLst/>
          </a:prstGeom>
          <a:noFill/>
        </p:spPr>
        <p:txBody>
          <a:bodyPr wrap="square" rtlCol="0">
            <a:spAutoFit/>
          </a:bodyPr>
          <a:lstStyle/>
          <a:p>
            <a:r>
              <a:rPr lang="en-US" dirty="0">
                <a:latin typeface="+mn-lt"/>
              </a:rPr>
              <a:t>Key Differences in </a:t>
            </a:r>
            <a:r>
              <a:rPr lang="en-US" dirty="0" smtClean="0">
                <a:latin typeface="+mn-lt"/>
              </a:rPr>
              <a:t>Streamline Refi, HARP 1.0 and HARP 2.0 Programs</a:t>
            </a:r>
            <a:endParaRPr lang="en-US"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1870863037"/>
              </p:ext>
            </p:extLst>
          </p:nvPr>
        </p:nvGraphicFramePr>
        <p:xfrm>
          <a:off x="281940" y="1651000"/>
          <a:ext cx="9502140" cy="4681221"/>
        </p:xfrm>
        <a:graphic>
          <a:graphicData uri="http://schemas.openxmlformats.org/drawingml/2006/table">
            <a:tbl>
              <a:tblPr firstRow="1" bandRow="1">
                <a:tableStyleId>{5C22544A-7EE6-4342-B048-85BDC9FD1C3A}</a:tableStyleId>
              </a:tblPr>
              <a:tblGrid>
                <a:gridCol w="1181100"/>
                <a:gridCol w="3025140"/>
                <a:gridCol w="3025140"/>
                <a:gridCol w="2270760"/>
              </a:tblGrid>
              <a:tr h="488883">
                <a:tc>
                  <a:txBody>
                    <a:bodyPr/>
                    <a:lstStyle/>
                    <a:p>
                      <a:endParaRPr lang="en-US" sz="1000" dirty="0">
                        <a:latin typeface="+mn-lt"/>
                      </a:endParaRPr>
                    </a:p>
                  </a:txBody>
                  <a:tcPr anchor="ctr"/>
                </a:tc>
                <a:tc>
                  <a:txBody>
                    <a:bodyPr/>
                    <a:lstStyle/>
                    <a:p>
                      <a:pPr algn="ctr"/>
                      <a:r>
                        <a:rPr lang="en-US" sz="1000" dirty="0" smtClean="0"/>
                        <a:t>HARP 2.0 </a:t>
                      </a:r>
                      <a:endParaRPr lang="en-US" sz="1000" dirty="0">
                        <a:latin typeface="+mn-lt"/>
                      </a:endParaRPr>
                    </a:p>
                  </a:txBody>
                  <a:tcPr anchor="ctr"/>
                </a:tc>
                <a:tc>
                  <a:txBody>
                    <a:bodyPr/>
                    <a:lstStyle/>
                    <a:p>
                      <a:pPr algn="ctr"/>
                      <a:r>
                        <a:rPr lang="en-US" sz="1000" dirty="0" smtClean="0"/>
                        <a:t>HARP 1.0 </a:t>
                      </a:r>
                      <a:endParaRPr lang="en-US" sz="1000" dirty="0">
                        <a:latin typeface="+mn-lt"/>
                      </a:endParaRPr>
                    </a:p>
                  </a:txBody>
                  <a:tcPr anchor="ctr"/>
                </a:tc>
                <a:tc>
                  <a:txBody>
                    <a:bodyPr/>
                    <a:lstStyle/>
                    <a:p>
                      <a:pPr algn="ctr"/>
                      <a:r>
                        <a:rPr lang="en-US" sz="1000" dirty="0" smtClean="0"/>
                        <a:t>Streamline Refi</a:t>
                      </a:r>
                      <a:endParaRPr lang="en-US" sz="1000" dirty="0">
                        <a:latin typeface="+mn-lt"/>
                      </a:endParaRPr>
                    </a:p>
                  </a:txBody>
                  <a:tcPr anchor="ctr"/>
                </a:tc>
              </a:tr>
              <a:tr h="488883">
                <a:tc>
                  <a:txBody>
                    <a:bodyPr/>
                    <a:lstStyle/>
                    <a:p>
                      <a:r>
                        <a:rPr lang="en-US" sz="1000" b="1" dirty="0" smtClean="0"/>
                        <a:t>Period</a:t>
                      </a:r>
                      <a:endParaRPr lang="en-US" sz="1000" b="1" dirty="0">
                        <a:latin typeface="+mn-lt"/>
                      </a:endParaRPr>
                    </a:p>
                  </a:txBody>
                  <a:tcPr anchor="ctr"/>
                </a:tc>
                <a:tc>
                  <a:txBody>
                    <a:bodyPr/>
                    <a:lstStyle/>
                    <a:p>
                      <a:r>
                        <a:rPr lang="en-US" sz="1000" dirty="0" smtClean="0"/>
                        <a:t>Since November</a:t>
                      </a:r>
                      <a:r>
                        <a:rPr lang="en-US" sz="1000" baseline="0" dirty="0" smtClean="0"/>
                        <a:t> </a:t>
                      </a:r>
                      <a:r>
                        <a:rPr lang="en-US" sz="1000" dirty="0" smtClean="0"/>
                        <a:t>2011</a:t>
                      </a:r>
                      <a:endParaRPr lang="en-US" sz="1000" dirty="0">
                        <a:latin typeface="+mn-lt"/>
                      </a:endParaRPr>
                    </a:p>
                  </a:txBody>
                  <a:tcPr anchor="ctr"/>
                </a:tc>
                <a:tc>
                  <a:txBody>
                    <a:bodyPr/>
                    <a:lstStyle/>
                    <a:p>
                      <a:r>
                        <a:rPr lang="en-US" sz="1000" dirty="0" smtClean="0"/>
                        <a:t>April</a:t>
                      </a:r>
                      <a:r>
                        <a:rPr lang="en-US" sz="1000" baseline="0" dirty="0" smtClean="0"/>
                        <a:t> </a:t>
                      </a:r>
                      <a:r>
                        <a:rPr lang="en-US" sz="1000" dirty="0" smtClean="0"/>
                        <a:t>2009</a:t>
                      </a:r>
                      <a:r>
                        <a:rPr lang="en-US" sz="1000" baseline="0" dirty="0" smtClean="0"/>
                        <a:t> – </a:t>
                      </a:r>
                      <a:r>
                        <a:rPr lang="en-US" sz="1000" dirty="0" smtClean="0"/>
                        <a:t>October</a:t>
                      </a:r>
                      <a:r>
                        <a:rPr lang="en-US" sz="1000" baseline="0" dirty="0" smtClean="0"/>
                        <a:t> </a:t>
                      </a:r>
                      <a:r>
                        <a:rPr lang="en-US" sz="1000" dirty="0" smtClean="0"/>
                        <a:t>2011</a:t>
                      </a:r>
                      <a:endParaRPr lang="en-US" sz="1000" dirty="0">
                        <a:latin typeface="+mn-lt"/>
                      </a:endParaRPr>
                    </a:p>
                  </a:txBody>
                  <a:tcPr anchor="ctr"/>
                </a:tc>
                <a:tc>
                  <a:txBody>
                    <a:bodyPr/>
                    <a:lstStyle/>
                    <a:p>
                      <a:r>
                        <a:rPr lang="en-US" sz="1000" dirty="0" smtClean="0"/>
                        <a:t>Pre-HARP 1.0</a:t>
                      </a:r>
                      <a:endParaRPr lang="en-US" sz="1000" dirty="0">
                        <a:latin typeface="+mn-lt"/>
                      </a:endParaRPr>
                    </a:p>
                  </a:txBody>
                  <a:tcPr anchor="ctr"/>
                </a:tc>
              </a:tr>
              <a:tr h="522368">
                <a:tc>
                  <a:txBody>
                    <a:bodyPr/>
                    <a:lstStyle/>
                    <a:p>
                      <a:r>
                        <a:rPr lang="en-US" sz="1000" b="1" dirty="0" smtClean="0"/>
                        <a:t>Appraisal</a:t>
                      </a:r>
                      <a:endParaRPr lang="en-US" sz="1000" b="1" dirty="0">
                        <a:latin typeface="+mn-lt"/>
                      </a:endParaRPr>
                    </a:p>
                  </a:txBody>
                  <a:tcPr anchor="ctr"/>
                </a:tc>
                <a:tc>
                  <a:txBody>
                    <a:bodyPr/>
                    <a:lstStyle/>
                    <a:p>
                      <a:r>
                        <a:rPr lang="en-US" sz="1000" dirty="0" smtClean="0"/>
                        <a:t>Mostly Automated</a:t>
                      </a:r>
                      <a:endParaRPr lang="en-US" sz="1000" dirty="0">
                        <a:latin typeface="+mn-lt"/>
                      </a:endParaRPr>
                    </a:p>
                  </a:txBody>
                  <a:tcPr anchor="ctr"/>
                </a:tc>
                <a:tc>
                  <a:txBody>
                    <a:bodyPr/>
                    <a:lstStyle/>
                    <a:p>
                      <a:r>
                        <a:rPr lang="en-US" sz="1000" dirty="0" smtClean="0"/>
                        <a:t>Manual/automated appraisal but manual appraisal required in most cases</a:t>
                      </a:r>
                      <a:endParaRPr lang="en-US" sz="1000" dirty="0">
                        <a:latin typeface="+mn-lt"/>
                      </a:endParaRPr>
                    </a:p>
                  </a:txBody>
                  <a:tcPr anchor="ctr"/>
                </a:tc>
                <a:tc>
                  <a:txBody>
                    <a:bodyPr/>
                    <a:lstStyle/>
                    <a:p>
                      <a:r>
                        <a:rPr lang="en-US" sz="1000" dirty="0" smtClean="0"/>
                        <a:t>Manual appraisal</a:t>
                      </a:r>
                      <a:endParaRPr lang="en-US" sz="1000" dirty="0">
                        <a:latin typeface="+mn-lt"/>
                      </a:endParaRPr>
                    </a:p>
                  </a:txBody>
                  <a:tcPr anchor="ctr"/>
                </a:tc>
              </a:tr>
              <a:tr h="924189">
                <a:tc>
                  <a:txBody>
                    <a:bodyPr/>
                    <a:lstStyle/>
                    <a:p>
                      <a:r>
                        <a:rPr lang="en-US" sz="1000" b="1" dirty="0" smtClean="0"/>
                        <a:t>Income &amp; Asset</a:t>
                      </a:r>
                    </a:p>
                    <a:p>
                      <a:r>
                        <a:rPr lang="en-US" sz="1000" b="1" dirty="0" smtClean="0"/>
                        <a:t>documentation</a:t>
                      </a:r>
                      <a:endParaRPr lang="en-US" sz="1000" b="1" dirty="0">
                        <a:latin typeface="+mn-lt"/>
                      </a:endParaRPr>
                    </a:p>
                  </a:txBody>
                  <a:tcPr anchor="ctr"/>
                </a:tc>
                <a:tc>
                  <a:txBody>
                    <a:bodyPr/>
                    <a:lstStyle/>
                    <a:p>
                      <a:r>
                        <a:rPr lang="en-US" sz="1000" dirty="0" smtClean="0"/>
                        <a:t>Reduced requirement in September 2012--same servicers are required to verbally verify a borrower's income; New lenders are required to have documentation</a:t>
                      </a:r>
                      <a:endParaRPr lang="en-US" sz="1000" dirty="0">
                        <a:latin typeface="+mn-lt"/>
                      </a:endParaRPr>
                    </a:p>
                  </a:txBody>
                  <a:tcPr anchor="ctr"/>
                </a:tc>
                <a:tc>
                  <a:txBody>
                    <a:bodyPr/>
                    <a:lstStyle/>
                    <a:p>
                      <a:r>
                        <a:rPr lang="en-US" sz="1000" dirty="0" smtClean="0"/>
                        <a:t>Need documentation;</a:t>
                      </a:r>
                      <a:r>
                        <a:rPr lang="en-US" sz="1000" baseline="0" dirty="0" smtClean="0"/>
                        <a:t> i</a:t>
                      </a:r>
                      <a:r>
                        <a:rPr lang="en-US" sz="1000" dirty="0" smtClean="0"/>
                        <a:t>n some cases need two year history of income</a:t>
                      </a:r>
                      <a:endParaRPr lang="en-US" sz="1000" dirty="0">
                        <a:latin typeface="+mn-lt"/>
                      </a:endParaRPr>
                    </a:p>
                  </a:txBody>
                  <a:tcPr anchor="ctr"/>
                </a:tc>
                <a:tc>
                  <a:txBody>
                    <a:bodyPr/>
                    <a:lstStyle/>
                    <a:p>
                      <a:r>
                        <a:rPr lang="en-US" sz="1000" dirty="0" smtClean="0"/>
                        <a:t>Stated Income/employment</a:t>
                      </a:r>
                      <a:endParaRPr lang="en-US" sz="1000" dirty="0">
                        <a:latin typeface="+mn-lt"/>
                      </a:endParaRPr>
                    </a:p>
                  </a:txBody>
                  <a:tcPr anchor="ctr"/>
                </a:tc>
              </a:tr>
              <a:tr h="723279">
                <a:tc>
                  <a:txBody>
                    <a:bodyPr/>
                    <a:lstStyle/>
                    <a:p>
                      <a:r>
                        <a:rPr lang="en-US" sz="1000" b="1" dirty="0" smtClean="0"/>
                        <a:t>Reps &amp; Warrants </a:t>
                      </a:r>
                      <a:endParaRPr lang="en-US" sz="1000" b="1" dirty="0">
                        <a:latin typeface="+mn-lt"/>
                      </a:endParaRPr>
                    </a:p>
                  </a:txBody>
                  <a:tcPr anchor="ctr"/>
                </a:tc>
                <a:tc>
                  <a:txBody>
                    <a:bodyPr/>
                    <a:lstStyle/>
                    <a:p>
                      <a:r>
                        <a:rPr lang="en-US" sz="1000" dirty="0" smtClean="0"/>
                        <a:t>Further relief of reps &amp; warrants for original loan in September 2012; Relief of new loan reps &amp; warrants risk with 12 month clean pay following origination</a:t>
                      </a:r>
                      <a:endParaRPr lang="en-US" sz="1000" dirty="0">
                        <a:latin typeface="+mn-lt"/>
                      </a:endParaRPr>
                    </a:p>
                  </a:txBody>
                  <a:tcPr anchor="ctr"/>
                </a:tc>
                <a:tc>
                  <a:txBody>
                    <a:bodyPr/>
                    <a:lstStyle/>
                    <a:p>
                      <a:r>
                        <a:rPr lang="en-US" sz="1000" dirty="0" smtClean="0"/>
                        <a:t>Seller retains all the original reps &amp; warrants regarding value condition and marketability; no additional relief on the new loan</a:t>
                      </a:r>
                      <a:endParaRPr lang="en-US" sz="1000" dirty="0">
                        <a:latin typeface="+mn-lt"/>
                      </a:endParaRPr>
                    </a:p>
                  </a:txBody>
                  <a:tcPr anchor="ctr"/>
                </a:tc>
                <a:tc>
                  <a:txBody>
                    <a:bodyPr/>
                    <a:lstStyle/>
                    <a:p>
                      <a:r>
                        <a:rPr lang="en-US" sz="1000" dirty="0" smtClean="0"/>
                        <a:t>Any previous rep &amp; warrant relief on the original loan does not apply to the new loan</a:t>
                      </a:r>
                      <a:endParaRPr lang="en-US" sz="1000" dirty="0">
                        <a:latin typeface="+mn-lt"/>
                      </a:endParaRPr>
                    </a:p>
                  </a:txBody>
                  <a:tcPr anchor="ctr"/>
                </a:tc>
              </a:tr>
              <a:tr h="522368">
                <a:tc>
                  <a:txBody>
                    <a:bodyPr/>
                    <a:lstStyle/>
                    <a:p>
                      <a:r>
                        <a:rPr lang="en-US" sz="1000" b="1" dirty="0" smtClean="0"/>
                        <a:t>LTV restriction</a:t>
                      </a:r>
                      <a:endParaRPr lang="en-US" sz="1000" b="1" dirty="0">
                        <a:latin typeface="+mn-lt"/>
                      </a:endParaRPr>
                    </a:p>
                  </a:txBody>
                  <a:tcPr anchor="ctr"/>
                </a:tc>
                <a:tc>
                  <a:txBody>
                    <a:bodyPr/>
                    <a:lstStyle/>
                    <a:p>
                      <a:r>
                        <a:rPr lang="en-US" sz="1000" dirty="0" smtClean="0"/>
                        <a:t>Extended to above 125% LTV in October 2011</a:t>
                      </a:r>
                      <a:endParaRPr lang="en-US" sz="1000" dirty="0">
                        <a:latin typeface="+mn-lt"/>
                      </a:endParaRPr>
                    </a:p>
                  </a:txBody>
                  <a:tcPr anchor="ctr"/>
                </a:tc>
                <a:tc>
                  <a:txBody>
                    <a:bodyPr/>
                    <a:lstStyle/>
                    <a:p>
                      <a:r>
                        <a:rPr lang="en-US" sz="1000" dirty="0" smtClean="0"/>
                        <a:t>LTV ceiling at 105% when announced in March 2009;</a:t>
                      </a:r>
                    </a:p>
                    <a:p>
                      <a:r>
                        <a:rPr lang="en-US" sz="1000" dirty="0" smtClean="0"/>
                        <a:t>Raised ceiling from 105% to 125% in July 2009</a:t>
                      </a:r>
                      <a:endParaRPr lang="en-US" sz="1000" dirty="0">
                        <a:latin typeface="+mn-lt"/>
                      </a:endParaRPr>
                    </a:p>
                  </a:txBody>
                  <a:tcPr anchor="ctr"/>
                </a:tc>
                <a:tc>
                  <a:txBody>
                    <a:bodyPr/>
                    <a:lstStyle/>
                    <a:p>
                      <a:r>
                        <a:rPr lang="en-US" sz="1000" dirty="0" smtClean="0"/>
                        <a:t>under 95%-100%</a:t>
                      </a:r>
                      <a:endParaRPr lang="en-US" sz="1000" dirty="0">
                        <a:latin typeface="+mn-lt"/>
                      </a:endParaRPr>
                    </a:p>
                  </a:txBody>
                  <a:tcPr anchor="ctr"/>
                </a:tc>
              </a:tr>
              <a:tr h="522368">
                <a:tc>
                  <a:txBody>
                    <a:bodyPr/>
                    <a:lstStyle/>
                    <a:p>
                      <a:r>
                        <a:rPr lang="en-US" sz="1000" b="1" dirty="0" smtClean="0"/>
                        <a:t>MI</a:t>
                      </a:r>
                      <a:endParaRPr lang="en-US" sz="1000" b="1" dirty="0">
                        <a:latin typeface="+mn-lt"/>
                      </a:endParaRPr>
                    </a:p>
                  </a:txBody>
                  <a:tcPr anchor="ctr"/>
                </a:tc>
                <a:tc>
                  <a:txBody>
                    <a:bodyPr/>
                    <a:lstStyle/>
                    <a:p>
                      <a:r>
                        <a:rPr lang="en-US" sz="1000" dirty="0" smtClean="0"/>
                        <a:t>MI transfers made easier</a:t>
                      </a:r>
                      <a:endParaRPr lang="en-US" sz="1000" dirty="0">
                        <a:latin typeface="+mn-lt"/>
                      </a:endParaRPr>
                    </a:p>
                  </a:txBody>
                  <a:tcPr anchor="ctr"/>
                </a:tc>
                <a:tc>
                  <a:txBody>
                    <a:bodyPr/>
                    <a:lstStyle/>
                    <a:p>
                      <a:r>
                        <a:rPr lang="en-US" sz="1000" dirty="0" smtClean="0"/>
                        <a:t>No new MI required but transfer of MI is cumbersome</a:t>
                      </a:r>
                      <a:endParaRPr lang="en-US" sz="1000" dirty="0">
                        <a:latin typeface="+mn-lt"/>
                      </a:endParaRPr>
                    </a:p>
                  </a:txBody>
                  <a:tcPr anchor="ctr"/>
                </a:tc>
                <a:tc>
                  <a:txBody>
                    <a:bodyPr/>
                    <a:lstStyle/>
                    <a:p>
                      <a:r>
                        <a:rPr lang="en-US" sz="1000" dirty="0" smtClean="0">
                          <a:latin typeface="+mn-lt"/>
                        </a:rPr>
                        <a:t>New</a:t>
                      </a:r>
                      <a:r>
                        <a:rPr lang="en-US" sz="1000" baseline="0" dirty="0" smtClean="0">
                          <a:latin typeface="+mn-lt"/>
                        </a:rPr>
                        <a:t> MI required</a:t>
                      </a:r>
                      <a:endParaRPr lang="en-US" sz="1000" dirty="0">
                        <a:latin typeface="+mn-lt"/>
                      </a:endParaRPr>
                    </a:p>
                  </a:txBody>
                  <a:tcPr anchor="ctr"/>
                </a:tc>
              </a:tr>
              <a:tr h="488883">
                <a:tc>
                  <a:txBody>
                    <a:bodyPr/>
                    <a:lstStyle/>
                    <a:p>
                      <a:r>
                        <a:rPr lang="en-US" sz="1000" b="1" dirty="0" smtClean="0"/>
                        <a:t>LLPA</a:t>
                      </a:r>
                      <a:endParaRPr lang="en-US" sz="1000" b="1" dirty="0">
                        <a:latin typeface="+mn-lt"/>
                      </a:endParaRPr>
                    </a:p>
                  </a:txBody>
                  <a:tcPr anchor="ctr"/>
                </a:tc>
                <a:tc>
                  <a:txBody>
                    <a:bodyPr/>
                    <a:lstStyle/>
                    <a:p>
                      <a:r>
                        <a:rPr lang="en-US" sz="1000" dirty="0" smtClean="0"/>
                        <a:t>Lowered LLPA to 75bp max </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r>
            </a:tbl>
          </a:graphicData>
        </a:graphic>
      </p:graphicFrame>
      <p:sp>
        <p:nvSpPr>
          <p:cNvPr id="4" name="TextBox 3"/>
          <p:cNvSpPr txBox="1"/>
          <p:nvPr/>
        </p:nvSpPr>
        <p:spPr>
          <a:xfrm>
            <a:off x="762000" y="7338060"/>
            <a:ext cx="3962400" cy="246221"/>
          </a:xfrm>
          <a:prstGeom prst="rect">
            <a:avLst/>
          </a:prstGeom>
          <a:noFill/>
        </p:spPr>
        <p:txBody>
          <a:bodyPr wrap="square" rtlCol="0">
            <a:spAutoFit/>
          </a:bodyPr>
          <a:lstStyle/>
          <a:p>
            <a:r>
              <a:rPr lang="en-US" sz="1000" dirty="0" smtClean="0">
                <a:latin typeface="Calibri" panose="020F0502020204030204" pitchFamily="34" charset="0"/>
              </a:rPr>
              <a:t>Source: Citigroup Research</a:t>
            </a:r>
            <a:endParaRPr lang="en-US" sz="1000" dirty="0">
              <a:latin typeface="Calibri" panose="020F0502020204030204" pitchFamily="34" charset="0"/>
            </a:endParaRP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sz="1600" dirty="0">
              <a:latin typeface="+mn-lt"/>
            </a:endParaRPr>
          </a:p>
        </p:txBody>
      </p:sp>
      <p:sp>
        <p:nvSpPr>
          <p:cNvPr id="4" name="Rectangle 3"/>
          <p:cNvSpPr/>
          <p:nvPr/>
        </p:nvSpPr>
        <p:spPr>
          <a:xfrm>
            <a:off x="819356"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396484"/>
            <a:ext cx="4069080" cy="307777"/>
          </a:xfrm>
          <a:prstGeom prst="rect">
            <a:avLst/>
          </a:prstGeom>
          <a:noFill/>
        </p:spPr>
        <p:txBody>
          <a:bodyPr wrap="square" rtlCol="0">
            <a:spAutoFit/>
          </a:bodyPr>
          <a:lstStyle/>
          <a:p>
            <a:r>
              <a:rPr lang="en-US" sz="1400" b="1" dirty="0" smtClean="0">
                <a:latin typeface="+mn-lt"/>
              </a:rPr>
              <a:t>Importance of identifying HARP loans</a:t>
            </a:r>
            <a:endParaRPr lang="en-US" sz="1400" b="1" dirty="0">
              <a:latin typeface="+mn-lt"/>
            </a:endParaRPr>
          </a:p>
        </p:txBody>
      </p:sp>
      <p:sp>
        <p:nvSpPr>
          <p:cNvPr id="7" name="TextBox 6"/>
          <p:cNvSpPr txBox="1"/>
          <p:nvPr/>
        </p:nvSpPr>
        <p:spPr>
          <a:xfrm>
            <a:off x="994464" y="2006254"/>
            <a:ext cx="8549586" cy="992579"/>
          </a:xfrm>
          <a:prstGeom prst="rect">
            <a:avLst/>
          </a:prstGeom>
          <a:noFill/>
        </p:spPr>
        <p:txBody>
          <a:bodyPr wrap="square" rtlCol="0">
            <a:spAutoFit/>
          </a:bodyPr>
          <a:lstStyle/>
          <a:p>
            <a:pPr>
              <a:lnSpc>
                <a:spcPct val="150000"/>
              </a:lnSpc>
            </a:pPr>
            <a:r>
              <a:rPr lang="en-US" sz="1300" dirty="0" smtClean="0">
                <a:latin typeface="+mn-lt"/>
              </a:rPr>
              <a:t>Loans that have been refinanced through the Home Affordable Refinance Program (HARP) generally prepay slower than other refinance loans that have undergone full underwriting. </a:t>
            </a:r>
            <a:r>
              <a:rPr lang="en-US" sz="1300" dirty="0">
                <a:latin typeface="+mn-lt"/>
              </a:rPr>
              <a:t>A</a:t>
            </a:r>
            <a:r>
              <a:rPr lang="en-US" sz="1300" dirty="0" smtClean="0">
                <a:latin typeface="+mn-lt"/>
              </a:rPr>
              <a:t>s a streamline refinance program, HARP generally made only minimal requirements of borrowers, and such borrowers may </a:t>
            </a:r>
            <a:r>
              <a:rPr lang="en-US" sz="1300" dirty="0" smtClean="0">
                <a:latin typeface="+mn-lt"/>
              </a:rPr>
              <a:t>subsequently have </a:t>
            </a:r>
            <a:r>
              <a:rPr lang="en-US" sz="1300" dirty="0" smtClean="0">
                <a:latin typeface="+mn-lt"/>
              </a:rPr>
              <a:t>trouble qualifying for regular refinances.</a:t>
            </a:r>
          </a:p>
        </p:txBody>
      </p:sp>
      <p:sp>
        <p:nvSpPr>
          <p:cNvPr id="9" name="Rectangle 8"/>
          <p:cNvSpPr/>
          <p:nvPr/>
        </p:nvSpPr>
        <p:spPr>
          <a:xfrm>
            <a:off x="819356" y="319849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80047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337679"/>
            <a:ext cx="4069080" cy="307777"/>
          </a:xfrm>
          <a:prstGeom prst="rect">
            <a:avLst/>
          </a:prstGeom>
          <a:noFill/>
        </p:spPr>
        <p:txBody>
          <a:bodyPr wrap="square" rtlCol="0">
            <a:spAutoFit/>
          </a:bodyPr>
          <a:lstStyle/>
          <a:p>
            <a:r>
              <a:rPr lang="en-US" sz="1400" b="1" dirty="0" smtClean="0">
                <a:latin typeface="+mn-lt"/>
              </a:rPr>
              <a:t>Existing algorithms for identifying  </a:t>
            </a:r>
            <a:r>
              <a:rPr lang="en-US" sz="1400" b="1" dirty="0" err="1" smtClean="0">
                <a:latin typeface="+mn-lt"/>
              </a:rPr>
              <a:t>HARPed</a:t>
            </a:r>
            <a:r>
              <a:rPr lang="en-US" sz="1400" b="1" dirty="0" smtClean="0">
                <a:latin typeface="+mn-lt"/>
              </a:rPr>
              <a:t> Loans</a:t>
            </a:r>
            <a:endParaRPr lang="en-US" sz="1400" b="1" dirty="0">
              <a:latin typeface="+mn-lt"/>
            </a:endParaRPr>
          </a:p>
        </p:txBody>
      </p:sp>
      <p:sp>
        <p:nvSpPr>
          <p:cNvPr id="12" name="TextBox 11"/>
          <p:cNvSpPr txBox="1"/>
          <p:nvPr/>
        </p:nvSpPr>
        <p:spPr>
          <a:xfrm>
            <a:off x="809625" y="3916969"/>
            <a:ext cx="9034092" cy="3393237"/>
          </a:xfrm>
          <a:prstGeom prst="rect">
            <a:avLst/>
          </a:prstGeom>
          <a:noFill/>
        </p:spPr>
        <p:txBody>
          <a:bodyPr wrap="square" rtlCol="0">
            <a:spAutoFit/>
          </a:bodyPr>
          <a:lstStyle/>
          <a:p>
            <a:pPr marL="342900" indent="-342900">
              <a:lnSpc>
                <a:spcPct val="150000"/>
              </a:lnSpc>
              <a:buFont typeface="+mj-lt"/>
              <a:buAutoNum type="arabicPeriod"/>
            </a:pPr>
            <a:r>
              <a:rPr lang="en-US" sz="1300" dirty="0" smtClean="0">
                <a:latin typeface="+mn-lt"/>
              </a:rPr>
              <a:t>Prior to August 2013:</a:t>
            </a:r>
          </a:p>
          <a:p>
            <a:pPr marL="793276" lvl="1" indent="-285750">
              <a:lnSpc>
                <a:spcPct val="150000"/>
              </a:lnSpc>
              <a:buFont typeface="Arial" panose="020B0604020202020204" pitchFamily="34" charset="0"/>
              <a:buChar char="•"/>
            </a:pPr>
            <a:r>
              <a:rPr lang="en-US" sz="1300" dirty="0" smtClean="0">
                <a:latin typeface="+mn-lt"/>
              </a:rPr>
              <a:t>This is the period prior to Freddie Mac providing loan-level credit information for fully underwritten mortgages</a:t>
            </a:r>
          </a:p>
          <a:p>
            <a:pPr marL="793276" lvl="1" indent="-285750">
              <a:lnSpc>
                <a:spcPct val="150000"/>
              </a:lnSpc>
              <a:buFont typeface="Arial" panose="020B0604020202020204" pitchFamily="34" charset="0"/>
              <a:buChar char="•"/>
            </a:pPr>
            <a:r>
              <a:rPr lang="en-US" sz="1300" dirty="0" smtClean="0">
                <a:latin typeface="+mn-lt"/>
              </a:rPr>
              <a:t>MI matches were used to identify potential </a:t>
            </a:r>
            <a:r>
              <a:rPr lang="en-US" sz="1300" dirty="0" err="1" smtClean="0">
                <a:latin typeface="+mn-lt"/>
              </a:rPr>
              <a:t>HARPed</a:t>
            </a:r>
            <a:r>
              <a:rPr lang="en-US" sz="1300" dirty="0" smtClean="0">
                <a:latin typeface="+mn-lt"/>
              </a:rPr>
              <a:t> loans with OLTV &gt; 80% and loan purpose as Refi-NCO (No Cash-out)</a:t>
            </a:r>
          </a:p>
          <a:p>
            <a:pPr marL="793276" lvl="1" indent="-285750">
              <a:lnSpc>
                <a:spcPct val="150000"/>
              </a:lnSpc>
              <a:buFont typeface="Arial" panose="020B0604020202020204" pitchFamily="34" charset="0"/>
              <a:buChar char="•"/>
            </a:pPr>
            <a:r>
              <a:rPr lang="en-US" sz="1300" dirty="0" smtClean="0">
                <a:latin typeface="+mn-lt"/>
              </a:rPr>
              <a:t>Although HARP targets with LTVs &gt; 80%, </a:t>
            </a:r>
            <a:r>
              <a:rPr lang="en-US" sz="1300" dirty="0">
                <a:latin typeface="+mn-lt"/>
              </a:rPr>
              <a:t>l</a:t>
            </a:r>
            <a:r>
              <a:rPr lang="en-US" sz="1300" dirty="0" smtClean="0">
                <a:latin typeface="+mn-lt"/>
              </a:rPr>
              <a:t>oans with lower OLTVs are counted as part of HARP because the Agencies essentially suspended their streamline refi programs after the financial crisis and currently rely on the HARP program for all streamline processing</a:t>
            </a:r>
          </a:p>
          <a:p>
            <a:pPr marL="342900" indent="-342900">
              <a:lnSpc>
                <a:spcPct val="150000"/>
              </a:lnSpc>
              <a:buFont typeface="+mj-lt"/>
              <a:buAutoNum type="arabicPeriod"/>
            </a:pPr>
            <a:r>
              <a:rPr lang="en-US" sz="1300" dirty="0">
                <a:latin typeface="+mn-lt"/>
              </a:rPr>
              <a:t>After August </a:t>
            </a:r>
            <a:r>
              <a:rPr lang="en-US" sz="1300" dirty="0" smtClean="0">
                <a:latin typeface="+mn-lt"/>
              </a:rPr>
              <a:t>2013:</a:t>
            </a:r>
            <a:endParaRPr lang="en-US" sz="1300" dirty="0">
              <a:latin typeface="+mn-lt"/>
            </a:endParaRPr>
          </a:p>
          <a:p>
            <a:pPr marL="793276" lvl="1" indent="-285750">
              <a:lnSpc>
                <a:spcPct val="150000"/>
              </a:lnSpc>
              <a:buFont typeface="Arial" panose="020B0604020202020204" pitchFamily="34" charset="0"/>
              <a:buChar char="•"/>
            </a:pPr>
            <a:r>
              <a:rPr lang="en-US" sz="1300" dirty="0">
                <a:latin typeface="+mn-lt"/>
              </a:rPr>
              <a:t>N</a:t>
            </a:r>
            <a:r>
              <a:rPr lang="en-US" sz="1300" dirty="0" smtClean="0">
                <a:latin typeface="+mn-lt"/>
              </a:rPr>
              <a:t>ew Freddie </a:t>
            </a:r>
            <a:r>
              <a:rPr lang="en-US" sz="1300" dirty="0">
                <a:latin typeface="+mn-lt"/>
              </a:rPr>
              <a:t>Mac and Fannie Mae </a:t>
            </a:r>
            <a:r>
              <a:rPr lang="en-US" sz="1300" dirty="0" smtClean="0">
                <a:latin typeface="+mn-lt"/>
              </a:rPr>
              <a:t>loan-level credit information</a:t>
            </a:r>
            <a:r>
              <a:rPr lang="en-US" sz="1300" dirty="0">
                <a:latin typeface="+mn-lt"/>
              </a:rPr>
              <a:t> </a:t>
            </a:r>
            <a:r>
              <a:rPr lang="en-US" sz="1300" dirty="0" smtClean="0">
                <a:latin typeface="+mn-lt"/>
              </a:rPr>
              <a:t>are used to </a:t>
            </a:r>
            <a:r>
              <a:rPr lang="en-US" sz="1300" dirty="0">
                <a:latin typeface="+mn-lt"/>
              </a:rPr>
              <a:t>identify 30-year fixed –rate HARP loans by mapping </a:t>
            </a:r>
            <a:r>
              <a:rPr lang="en-US" sz="1300" dirty="0" smtClean="0">
                <a:latin typeface="+mn-lt"/>
              </a:rPr>
              <a:t>the credit </a:t>
            </a:r>
            <a:r>
              <a:rPr lang="en-US" sz="1300" dirty="0">
                <a:latin typeface="+mn-lt"/>
              </a:rPr>
              <a:t>dataset </a:t>
            </a:r>
            <a:r>
              <a:rPr lang="en-US" sz="1300" dirty="0" smtClean="0">
                <a:latin typeface="+mn-lt"/>
              </a:rPr>
              <a:t>to the </a:t>
            </a:r>
            <a:r>
              <a:rPr lang="en-US" sz="1300" dirty="0">
                <a:latin typeface="+mn-lt"/>
              </a:rPr>
              <a:t>standard </a:t>
            </a:r>
            <a:r>
              <a:rPr lang="en-US" sz="1300" dirty="0" smtClean="0">
                <a:latin typeface="+mn-lt"/>
              </a:rPr>
              <a:t>database without restrictions on the LTV ratio</a:t>
            </a:r>
          </a:p>
          <a:p>
            <a:pPr marL="793276" lvl="1" indent="-285750">
              <a:lnSpc>
                <a:spcPct val="150000"/>
              </a:lnSpc>
              <a:buFont typeface="Arial" panose="020B0604020202020204" pitchFamily="34" charset="0"/>
              <a:buChar char="•"/>
            </a:pPr>
            <a:r>
              <a:rPr lang="en-US" sz="1300" dirty="0" smtClean="0">
                <a:latin typeface="+mn-lt"/>
              </a:rPr>
              <a:t>The credit data set has about a one year lag, which means that recently originated loans cannot be identified as being </a:t>
            </a:r>
            <a:r>
              <a:rPr lang="en-US" sz="1300" dirty="0" err="1" smtClean="0">
                <a:latin typeface="+mn-lt"/>
              </a:rPr>
              <a:t>HARPed</a:t>
            </a:r>
            <a:r>
              <a:rPr lang="en-US" sz="1300" dirty="0" smtClean="0">
                <a:latin typeface="+mn-lt"/>
              </a:rPr>
              <a:t> or not using the current algorithm</a:t>
            </a:r>
          </a:p>
        </p:txBody>
      </p:sp>
    </p:spTree>
    <p:extLst>
      <p:ext uri="{BB962C8B-B14F-4D97-AF65-F5344CB8AC3E}">
        <p14:creationId xmlns:p14="http://schemas.microsoft.com/office/powerpoint/2010/main" val="40821764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a:t>
            </a:r>
            <a:br>
              <a:rPr lang="en-US" sz="1600" dirty="0" smtClean="0">
                <a:latin typeface="+mn-lt"/>
              </a:rPr>
            </a:br>
            <a:r>
              <a:rPr lang="en-US" sz="1600" dirty="0" smtClean="0">
                <a:latin typeface="+mn-lt"/>
              </a:rPr>
              <a:t>MI </a:t>
            </a:r>
            <a:r>
              <a:rPr lang="en-US" sz="1600" dirty="0">
                <a:latin typeface="+mn-lt"/>
              </a:rPr>
              <a:t>M</a:t>
            </a:r>
            <a:r>
              <a:rPr lang="en-US" sz="1600" dirty="0" smtClean="0">
                <a:latin typeface="+mn-lt"/>
              </a:rPr>
              <a:t>atching Method</a:t>
            </a:r>
            <a:endParaRPr lang="en-US" sz="1600" dirty="0">
              <a:latin typeface="+mn-lt"/>
            </a:endParaRPr>
          </a:p>
        </p:txBody>
      </p:sp>
      <p:sp>
        <p:nvSpPr>
          <p:cNvPr id="15" name="Rectangle 14"/>
          <p:cNvSpPr/>
          <p:nvPr/>
        </p:nvSpPr>
        <p:spPr>
          <a:xfrm>
            <a:off x="247857" y="13642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1966257"/>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03461"/>
            <a:ext cx="4069080" cy="307777"/>
          </a:xfrm>
          <a:prstGeom prst="rect">
            <a:avLst/>
          </a:prstGeom>
          <a:noFill/>
        </p:spPr>
        <p:txBody>
          <a:bodyPr wrap="square" rtlCol="0">
            <a:spAutoFit/>
          </a:bodyPr>
          <a:lstStyle/>
          <a:p>
            <a:r>
              <a:rPr lang="en-US" sz="1400" b="1" dirty="0">
                <a:latin typeface="+mn-lt"/>
              </a:rPr>
              <a:t>Three </a:t>
            </a:r>
            <a:r>
              <a:rPr lang="en-US" sz="1400" b="1" dirty="0" smtClean="0">
                <a:latin typeface="+mn-lt"/>
              </a:rPr>
              <a:t>Step </a:t>
            </a:r>
            <a:r>
              <a:rPr lang="en-US" sz="1400" b="1" dirty="0">
                <a:latin typeface="+mn-lt"/>
              </a:rPr>
              <a:t>Mapping</a:t>
            </a:r>
          </a:p>
        </p:txBody>
      </p:sp>
      <p:sp>
        <p:nvSpPr>
          <p:cNvPr id="18" name="TextBox 17"/>
          <p:cNvSpPr txBox="1"/>
          <p:nvPr/>
        </p:nvSpPr>
        <p:spPr>
          <a:xfrm>
            <a:off x="247857" y="2107219"/>
            <a:ext cx="5290930" cy="2354491"/>
          </a:xfrm>
          <a:prstGeom prst="rect">
            <a:avLst/>
          </a:prstGeom>
          <a:noFill/>
        </p:spPr>
        <p:txBody>
          <a:bodyPr wrap="square" rtlCol="0">
            <a:spAutoFit/>
          </a:bodyPr>
          <a:lstStyle/>
          <a:p>
            <a:pPr>
              <a:lnSpc>
                <a:spcPct val="150000"/>
              </a:lnSpc>
            </a:pPr>
            <a:r>
              <a:rPr lang="en-US" sz="1400" b="1" dirty="0" smtClean="0">
                <a:latin typeface="+mn-lt"/>
              </a:rPr>
              <a:t>Step 1: </a:t>
            </a:r>
            <a:r>
              <a:rPr lang="en-US" sz="1400" dirty="0" smtClean="0">
                <a:latin typeface="+mn-lt"/>
              </a:rPr>
              <a:t>The loan should be originated after June 2009 as a refi-NCO loan, with Origination LTV &gt;80%. Otherwise, it’s Non-</a:t>
            </a:r>
            <a:r>
              <a:rPr lang="en-US" sz="1400" dirty="0" err="1" smtClean="0">
                <a:latin typeface="+mn-lt"/>
              </a:rPr>
              <a:t>HARPed</a:t>
            </a:r>
            <a:r>
              <a:rPr lang="en-US" sz="1400" dirty="0" smtClean="0">
                <a:latin typeface="+mn-lt"/>
              </a:rPr>
              <a:t>.</a:t>
            </a:r>
          </a:p>
          <a:p>
            <a:pPr>
              <a:lnSpc>
                <a:spcPct val="150000"/>
              </a:lnSpc>
            </a:pPr>
            <a:r>
              <a:rPr lang="en-US" sz="1400" b="1" dirty="0" smtClean="0">
                <a:latin typeface="+mn-lt"/>
              </a:rPr>
              <a:t>Step 2: </a:t>
            </a:r>
            <a:r>
              <a:rPr lang="en-US" sz="1400" dirty="0" smtClean="0">
                <a:latin typeface="+mn-lt"/>
              </a:rPr>
              <a:t>If the loan doesn’t </a:t>
            </a:r>
            <a:r>
              <a:rPr lang="en-US" sz="1400" dirty="0">
                <a:latin typeface="+mn-lt"/>
              </a:rPr>
              <a:t>have </a:t>
            </a:r>
            <a:r>
              <a:rPr lang="en-US" sz="1400" dirty="0" smtClean="0">
                <a:latin typeface="+mn-lt"/>
              </a:rPr>
              <a:t>MI, we match it as </a:t>
            </a:r>
            <a:r>
              <a:rPr lang="en-US" sz="1400" dirty="0" err="1" smtClean="0">
                <a:latin typeface="+mn-lt"/>
              </a:rPr>
              <a:t>HARPed</a:t>
            </a:r>
            <a:r>
              <a:rPr lang="en-US" sz="1400" dirty="0" smtClean="0">
                <a:latin typeface="+mn-lt"/>
              </a:rPr>
              <a:t> loan;</a:t>
            </a:r>
          </a:p>
          <a:p>
            <a:pPr indent="571500">
              <a:lnSpc>
                <a:spcPct val="150000"/>
              </a:lnSpc>
            </a:pPr>
            <a:r>
              <a:rPr lang="en-US" sz="1400" dirty="0" smtClean="0">
                <a:latin typeface="+mn-lt"/>
              </a:rPr>
              <a:t>If </a:t>
            </a:r>
            <a:r>
              <a:rPr lang="en-US" sz="1400" dirty="0">
                <a:latin typeface="+mn-lt"/>
              </a:rPr>
              <a:t>not, go to step </a:t>
            </a:r>
            <a:r>
              <a:rPr lang="en-US" sz="1400" dirty="0" smtClean="0">
                <a:latin typeface="+mn-lt"/>
              </a:rPr>
              <a:t>3.</a:t>
            </a:r>
          </a:p>
          <a:p>
            <a:pPr marL="571500" indent="-571500">
              <a:lnSpc>
                <a:spcPct val="150000"/>
              </a:lnSpc>
            </a:pPr>
            <a:r>
              <a:rPr lang="en-US" sz="1400" b="1" dirty="0">
                <a:latin typeface="+mn-lt"/>
              </a:rPr>
              <a:t>Step </a:t>
            </a:r>
            <a:r>
              <a:rPr lang="en-US" sz="1400" b="1" dirty="0" smtClean="0">
                <a:latin typeface="+mn-lt"/>
              </a:rPr>
              <a:t>3: </a:t>
            </a:r>
            <a:r>
              <a:rPr lang="en-US" sz="1400" dirty="0" smtClean="0">
                <a:latin typeface="+mn-lt"/>
              </a:rPr>
              <a:t>For the loans that potentially carry over MI check whether MI matches current underwriting guidelines.  If there’s no match, then it’s a </a:t>
            </a:r>
            <a:r>
              <a:rPr lang="en-US" sz="1400" dirty="0" err="1" smtClean="0">
                <a:latin typeface="+mn-lt"/>
              </a:rPr>
              <a:t>HARPed</a:t>
            </a:r>
            <a:r>
              <a:rPr lang="en-US" sz="1400" dirty="0" smtClean="0">
                <a:latin typeface="+mn-lt"/>
              </a:rPr>
              <a:t> loan.</a:t>
            </a:r>
            <a:endParaRPr lang="en-US" sz="1400" dirty="0">
              <a:latin typeface="+mn-lt"/>
            </a:endParaRPr>
          </a:p>
        </p:txBody>
      </p:sp>
      <p:sp>
        <p:nvSpPr>
          <p:cNvPr id="19" name="Rectangle 18"/>
          <p:cNvSpPr/>
          <p:nvPr/>
        </p:nvSpPr>
        <p:spPr>
          <a:xfrm>
            <a:off x="269288" y="4556812"/>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269288" y="5158792"/>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40787" y="4695996"/>
            <a:ext cx="4069080"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2" name="TextBox 21"/>
          <p:cNvSpPr txBox="1"/>
          <p:nvPr/>
        </p:nvSpPr>
        <p:spPr>
          <a:xfrm>
            <a:off x="269288" y="5299754"/>
            <a:ext cx="5290930" cy="1061829"/>
          </a:xfrm>
          <a:prstGeom prst="rect">
            <a:avLst/>
          </a:prstGeom>
          <a:noFill/>
        </p:spPr>
        <p:txBody>
          <a:bodyPr wrap="square" rtlCol="0">
            <a:spAutoFit/>
          </a:bodyPr>
          <a:lstStyle/>
          <a:p>
            <a:pPr marL="342900" indent="-342900">
              <a:lnSpc>
                <a:spcPct val="150000"/>
              </a:lnSpc>
              <a:buAutoNum type="arabicPeriod"/>
            </a:pPr>
            <a:r>
              <a:rPr lang="en-US" sz="1400" dirty="0" smtClean="0">
                <a:latin typeface="+mn-lt"/>
              </a:rPr>
              <a:t>Cannot match loans with OLTV equal or lower than 80%.</a:t>
            </a:r>
          </a:p>
          <a:p>
            <a:pPr marL="342900" indent="-342900">
              <a:lnSpc>
                <a:spcPct val="150000"/>
              </a:lnSpc>
              <a:buAutoNum type="arabicPeriod"/>
            </a:pPr>
            <a:r>
              <a:rPr lang="en-US" sz="1400" dirty="0" smtClean="0">
                <a:latin typeface="+mn-lt"/>
              </a:rPr>
              <a:t>Highly sensitive to the correctness of MI underwriting guidelines.</a:t>
            </a:r>
          </a:p>
          <a:p>
            <a:pPr>
              <a:lnSpc>
                <a:spcPct val="150000"/>
              </a:lnSpc>
            </a:pPr>
            <a:r>
              <a:rPr lang="en-US" sz="1400" dirty="0" smtClean="0">
                <a:latin typeface="+mn-lt"/>
              </a:rPr>
              <a:t>          </a:t>
            </a:r>
            <a:endParaRPr lang="en-US" sz="1400"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372" y="1642407"/>
            <a:ext cx="3990975" cy="4819650"/>
          </a:xfrm>
          <a:prstGeom prst="rect">
            <a:avLst/>
          </a:prstGeom>
        </p:spPr>
      </p:pic>
    </p:spTree>
    <p:extLst>
      <p:ext uri="{BB962C8B-B14F-4D97-AF65-F5344CB8AC3E}">
        <p14:creationId xmlns:p14="http://schemas.microsoft.com/office/powerpoint/2010/main" val="3971985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Credit Dataset Mapping Method</a:t>
            </a:r>
            <a:endParaRPr lang="en-US" sz="1600" dirty="0">
              <a:latin typeface="+mn-lt"/>
            </a:endParaRPr>
          </a:p>
        </p:txBody>
      </p:sp>
      <p:grpSp>
        <p:nvGrpSpPr>
          <p:cNvPr id="7" name="Group 6"/>
          <p:cNvGrpSpPr/>
          <p:nvPr/>
        </p:nvGrpSpPr>
        <p:grpSpPr>
          <a:xfrm>
            <a:off x="247856" y="1440477"/>
            <a:ext cx="3266869" cy="4888817"/>
            <a:chOff x="247856" y="1440477"/>
            <a:chExt cx="3962193" cy="4888817"/>
          </a:xfrm>
        </p:grpSpPr>
        <p:sp>
          <p:nvSpPr>
            <p:cNvPr id="15" name="Rectangle 14"/>
            <p:cNvSpPr/>
            <p:nvPr/>
          </p:nvSpPr>
          <p:spPr>
            <a:xfrm>
              <a:off x="247857" y="14404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20424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79661"/>
              <a:ext cx="3285919" cy="307777"/>
            </a:xfrm>
            <a:prstGeom prst="rect">
              <a:avLst/>
            </a:prstGeom>
            <a:noFill/>
          </p:spPr>
          <p:txBody>
            <a:bodyPr wrap="square" rtlCol="0">
              <a:spAutoFit/>
            </a:bodyPr>
            <a:lstStyle/>
            <a:p>
              <a:r>
                <a:rPr lang="en-US" sz="1400" b="1" dirty="0" smtClean="0">
                  <a:latin typeface="+mn-lt"/>
                </a:rPr>
                <a:t>Credit Data Mapping</a:t>
              </a:r>
              <a:endParaRPr lang="en-US" sz="1400" b="1" dirty="0">
                <a:latin typeface="+mn-lt"/>
              </a:endParaRPr>
            </a:p>
          </p:txBody>
        </p:sp>
        <p:sp>
          <p:nvSpPr>
            <p:cNvPr id="18" name="TextBox 17"/>
            <p:cNvSpPr txBox="1"/>
            <p:nvPr/>
          </p:nvSpPr>
          <p:spPr>
            <a:xfrm>
              <a:off x="247856" y="2183419"/>
              <a:ext cx="3962193"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No restrictions on OLTV &gt; 80%.</a:t>
              </a:r>
            </a:p>
            <a:p>
              <a:pPr marL="285750" indent="-285750">
                <a:lnSpc>
                  <a:spcPct val="150000"/>
                </a:lnSpc>
                <a:buFont typeface="Arial" panose="020B0604020202020204" pitchFamily="34" charset="0"/>
                <a:buChar char="•"/>
              </a:pPr>
              <a:r>
                <a:rPr lang="en-US" sz="1400" dirty="0" smtClean="0">
                  <a:latin typeface="+mn-lt"/>
                </a:rPr>
                <a:t>More accurate as there is no dependency on MI underwriting criteria. </a:t>
              </a:r>
              <a:endParaRPr lang="en-US" sz="1400" dirty="0">
                <a:latin typeface="+mn-lt"/>
              </a:endParaRPr>
            </a:p>
          </p:txBody>
        </p:sp>
        <p:sp>
          <p:nvSpPr>
            <p:cNvPr id="23" name="Rectangle 22"/>
            <p:cNvSpPr/>
            <p:nvPr/>
          </p:nvSpPr>
          <p:spPr>
            <a:xfrm>
              <a:off x="247857" y="3688377"/>
              <a:ext cx="435663"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p:nvPr/>
          </p:nvCxnSpPr>
          <p:spPr>
            <a:xfrm>
              <a:off x="247857" y="42903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9356" y="3827561"/>
              <a:ext cx="3285919"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6" name="TextBox 25"/>
            <p:cNvSpPr txBox="1"/>
            <p:nvPr/>
          </p:nvSpPr>
          <p:spPr>
            <a:xfrm>
              <a:off x="247856" y="4297969"/>
              <a:ext cx="3962193"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 credit data set has about a one year lag, meaning we don’t have the most recent origination data. Consequently, we have to mark the HARP status as unknown for recently (within the last year) originated loans.</a:t>
              </a:r>
              <a:endParaRPr lang="en-US" sz="1400" dirty="0">
                <a:latin typeface="+mn-lt"/>
              </a:endParaRPr>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816" y="1440477"/>
            <a:ext cx="6093321" cy="5350416"/>
          </a:xfrm>
          <a:prstGeom prst="rect">
            <a:avLst/>
          </a:prstGeom>
        </p:spPr>
      </p:pic>
    </p:spTree>
    <p:extLst>
      <p:ext uri="{BB962C8B-B14F-4D97-AF65-F5344CB8AC3E}">
        <p14:creationId xmlns:p14="http://schemas.microsoft.com/office/powerpoint/2010/main" val="3488120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p:cNvGraphicFramePr/>
          <p:nvPr>
            <p:extLst>
              <p:ext uri="{D42A27DB-BD31-4B8C-83A1-F6EECF244321}">
                <p14:modId xmlns:p14="http://schemas.microsoft.com/office/powerpoint/2010/main" val="4203322814"/>
              </p:ext>
            </p:extLst>
          </p:nvPr>
        </p:nvGraphicFramePr>
        <p:xfrm>
          <a:off x="699715" y="1181100"/>
          <a:ext cx="8674873" cy="41833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Results from the Credit Dataset Mapping Method</a:t>
            </a:r>
            <a:endParaRPr lang="en-US" sz="1600" dirty="0">
              <a:latin typeface="+mn-lt"/>
            </a:endParaRPr>
          </a:p>
        </p:txBody>
      </p:sp>
      <p:sp>
        <p:nvSpPr>
          <p:cNvPr id="6" name="TextBox 5"/>
          <p:cNvSpPr txBox="1"/>
          <p:nvPr/>
        </p:nvSpPr>
        <p:spPr>
          <a:xfrm>
            <a:off x="3808674" y="3983603"/>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19" name="TextBox 18"/>
          <p:cNvSpPr txBox="1"/>
          <p:nvPr/>
        </p:nvSpPr>
        <p:spPr>
          <a:xfrm>
            <a:off x="6135757" y="2609351"/>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20" name="TextBox 19"/>
          <p:cNvSpPr txBox="1"/>
          <p:nvPr/>
        </p:nvSpPr>
        <p:spPr>
          <a:xfrm>
            <a:off x="5430741" y="1579656"/>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21" name="TextBox 20"/>
          <p:cNvSpPr txBox="1"/>
          <p:nvPr/>
        </p:nvSpPr>
        <p:spPr>
          <a:xfrm>
            <a:off x="2291301" y="1395451"/>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22" name="TextBox 21"/>
          <p:cNvSpPr txBox="1"/>
          <p:nvPr/>
        </p:nvSpPr>
        <p:spPr>
          <a:xfrm>
            <a:off x="699715" y="5520731"/>
            <a:ext cx="8549586" cy="738664"/>
          </a:xfrm>
          <a:prstGeom prst="rect">
            <a:avLst/>
          </a:prstGeom>
          <a:noFill/>
        </p:spPr>
        <p:txBody>
          <a:bodyPr wrap="square" rtlCol="0">
            <a:spAutoFit/>
          </a:bodyPr>
          <a:lstStyle/>
          <a:p>
            <a:pPr>
              <a:lnSpc>
                <a:spcPct val="150000"/>
              </a:lnSpc>
            </a:pPr>
            <a:r>
              <a:rPr lang="en-US" sz="1400" dirty="0">
                <a:latin typeface="+mn-lt"/>
              </a:rPr>
              <a:t>T</a:t>
            </a:r>
            <a:r>
              <a:rPr lang="en-US" sz="1400" dirty="0" smtClean="0">
                <a:latin typeface="+mn-lt"/>
              </a:rPr>
              <a:t>he blue area can be consider as non-</a:t>
            </a:r>
            <a:r>
              <a:rPr lang="en-US" sz="1400" dirty="0" err="1" smtClean="0">
                <a:latin typeface="+mn-lt"/>
              </a:rPr>
              <a:t>HARPed</a:t>
            </a:r>
            <a:r>
              <a:rPr lang="en-US" sz="1400" dirty="0" smtClean="0">
                <a:latin typeface="+mn-lt"/>
              </a:rPr>
              <a:t> loans</a:t>
            </a:r>
            <a:r>
              <a:rPr lang="en-US" sz="1400" dirty="0">
                <a:latin typeface="+mn-lt"/>
              </a:rPr>
              <a:t>; </a:t>
            </a:r>
            <a:r>
              <a:rPr lang="en-US" sz="1400" dirty="0" smtClean="0">
                <a:latin typeface="+mn-lt"/>
              </a:rPr>
              <a:t>brown area is </a:t>
            </a:r>
            <a:r>
              <a:rPr lang="en-US" sz="1400" dirty="0" err="1" smtClean="0">
                <a:latin typeface="+mn-lt"/>
              </a:rPr>
              <a:t>HARPed</a:t>
            </a:r>
            <a:r>
              <a:rPr lang="en-US" sz="1400" dirty="0" smtClean="0">
                <a:latin typeface="+mn-lt"/>
              </a:rPr>
              <a:t> loans percentage.</a:t>
            </a:r>
          </a:p>
          <a:p>
            <a:pPr>
              <a:lnSpc>
                <a:spcPct val="150000"/>
              </a:lnSpc>
            </a:pPr>
            <a:r>
              <a:rPr lang="en-US" sz="1400" dirty="0" smtClean="0">
                <a:latin typeface="+mn-lt"/>
              </a:rPr>
              <a:t>Red area is the loans originated within the most recent year. The credit dataset has a gap on this area.</a:t>
            </a:r>
          </a:p>
        </p:txBody>
      </p:sp>
      <p:sp>
        <p:nvSpPr>
          <p:cNvPr id="8" name="Isosceles Triangle 7"/>
          <p:cNvSpPr/>
          <p:nvPr/>
        </p:nvSpPr>
        <p:spPr>
          <a:xfrm rot="10800000">
            <a:off x="3694042" y="6259396"/>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99715" y="6500067"/>
            <a:ext cx="8549586" cy="382092"/>
          </a:xfrm>
          <a:prstGeom prst="rect">
            <a:avLst/>
          </a:prstGeom>
          <a:noFill/>
        </p:spPr>
        <p:txBody>
          <a:bodyPr wrap="square" rtlCol="0">
            <a:spAutoFit/>
          </a:bodyPr>
          <a:lstStyle/>
          <a:p>
            <a:pPr algn="ctr">
              <a:lnSpc>
                <a:spcPct val="150000"/>
              </a:lnSpc>
            </a:pPr>
            <a:r>
              <a:rPr lang="en-US" sz="1400" dirty="0" smtClean="0">
                <a:latin typeface="+mn-lt"/>
              </a:rPr>
              <a:t>Need to improve the mapping for the red area.</a:t>
            </a:r>
          </a:p>
        </p:txBody>
      </p:sp>
    </p:spTree>
    <p:extLst>
      <p:ext uri="{BB962C8B-B14F-4D97-AF65-F5344CB8AC3E}">
        <p14:creationId xmlns:p14="http://schemas.microsoft.com/office/powerpoint/2010/main" val="3226674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t>
            </a:r>
            <a:r>
              <a:rPr lang="en-US" sz="1600" dirty="0" smtClean="0">
                <a:latin typeface="+mn-lt"/>
              </a:rPr>
              <a:t>ALGORITHM FOR RECENTLY ORIGINATED LOANS</a:t>
            </a:r>
            <a:r>
              <a:rPr lang="en-US" sz="1600" dirty="0" smtClean="0">
                <a:latin typeface="+mn-lt"/>
              </a:rPr>
              <a:t/>
            </a:r>
            <a:br>
              <a:rPr lang="en-US" sz="1600" dirty="0" smtClean="0">
                <a:latin typeface="+mn-lt"/>
              </a:rPr>
            </a:br>
            <a:endParaRPr lang="en-US" sz="1600" dirty="0">
              <a:latin typeface="+mn-lt"/>
            </a:endParaRPr>
          </a:p>
        </p:txBody>
      </p:sp>
      <p:cxnSp>
        <p:nvCxnSpPr>
          <p:cNvPr id="71" name="AutoShape 8"/>
          <p:cNvCxnSpPr>
            <a:cxnSpLocks noChangeShapeType="1"/>
            <a:stCxn id="86" idx="3"/>
            <a:endCxn id="87" idx="1"/>
          </p:cNvCxnSpPr>
          <p:nvPr/>
        </p:nvCxnSpPr>
        <p:spPr bwMode="auto">
          <a:xfrm flipV="1">
            <a:off x="1784985" y="2878137"/>
            <a:ext cx="591503" cy="1006475"/>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75" name="AutoShape 9"/>
          <p:cNvCxnSpPr>
            <a:cxnSpLocks noChangeShapeType="1"/>
            <a:stCxn id="86" idx="3"/>
            <a:endCxn id="88" idx="1"/>
          </p:cNvCxnSpPr>
          <p:nvPr/>
        </p:nvCxnSpPr>
        <p:spPr bwMode="auto">
          <a:xfrm>
            <a:off x="1784985" y="3884612"/>
            <a:ext cx="591503" cy="1008062"/>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86" name="Rectangle 85"/>
          <p:cNvSpPr>
            <a:spLocks noChangeArrowheads="1"/>
          </p:cNvSpPr>
          <p:nvPr/>
        </p:nvSpPr>
        <p:spPr bwMode="auto">
          <a:xfrm>
            <a:off x="570548" y="3427412"/>
            <a:ext cx="1214437"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200" b="1" dirty="0" smtClean="0">
                <a:solidFill>
                  <a:schemeClr val="accent1"/>
                </a:solidFill>
                <a:cs typeface="Arial Unicode MS" pitchFamily="34" charset="-122"/>
              </a:rPr>
              <a:t>Recently Originated</a:t>
            </a:r>
            <a:r>
              <a:rPr lang="en-US" altLang="ja-JP" sz="1200" b="1" dirty="0" smtClean="0">
                <a:solidFill>
                  <a:schemeClr val="accent1"/>
                </a:solidFill>
                <a:latin typeface="+mn-lt"/>
                <a:cs typeface="Arial Unicode MS" pitchFamily="34" charset="-122"/>
              </a:rPr>
              <a:t> </a:t>
            </a:r>
            <a:r>
              <a:rPr lang="en-US" altLang="ja-JP" sz="1200" b="1" dirty="0" smtClean="0">
                <a:solidFill>
                  <a:schemeClr val="accent1"/>
                </a:solidFill>
                <a:latin typeface="+mn-lt"/>
                <a:cs typeface="Arial Unicode MS" pitchFamily="34" charset="-122"/>
              </a:rPr>
              <a:t>Refi Loans</a:t>
            </a:r>
            <a:endParaRPr lang="en-US" altLang="ja-JP" sz="1200" b="1" dirty="0">
              <a:solidFill>
                <a:schemeClr val="accent1"/>
              </a:solidFill>
              <a:latin typeface="+mn-lt"/>
              <a:cs typeface="Arial Unicode MS" pitchFamily="34" charset="-122"/>
            </a:endParaRPr>
          </a:p>
        </p:txBody>
      </p:sp>
      <p:sp>
        <p:nvSpPr>
          <p:cNvPr id="87" name="Rectangle 86"/>
          <p:cNvSpPr>
            <a:spLocks noChangeArrowheads="1"/>
          </p:cNvSpPr>
          <p:nvPr/>
        </p:nvSpPr>
        <p:spPr bwMode="auto">
          <a:xfrm>
            <a:off x="2376488"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&gt; </a:t>
            </a:r>
            <a:r>
              <a:rPr lang="en-US" altLang="zh-CN" sz="1200" b="1" dirty="0" smtClean="0">
                <a:solidFill>
                  <a:schemeClr val="accent1"/>
                </a:solidFill>
                <a:latin typeface="+mn-lt"/>
                <a:cs typeface="Arial Unicode MS" pitchFamily="34" charset="-122"/>
              </a:rPr>
              <a:t>80%</a:t>
            </a:r>
            <a:endParaRPr lang="en-US" altLang="ja-JP" sz="1200" b="1" dirty="0">
              <a:solidFill>
                <a:schemeClr val="accent1"/>
              </a:solidFill>
              <a:latin typeface="+mn-lt"/>
              <a:cs typeface="Arial Unicode MS" pitchFamily="34" charset="-122"/>
            </a:endParaRPr>
          </a:p>
        </p:txBody>
      </p:sp>
      <p:sp>
        <p:nvSpPr>
          <p:cNvPr id="88" name="Rectangle 87"/>
          <p:cNvSpPr>
            <a:spLocks noChangeArrowheads="1"/>
          </p:cNvSpPr>
          <p:nvPr/>
        </p:nvSpPr>
        <p:spPr bwMode="auto">
          <a:xfrm>
            <a:off x="237648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&lt;= </a:t>
            </a:r>
            <a:r>
              <a:rPr lang="en-US" altLang="zh-CN" sz="1200" b="1" dirty="0" smtClean="0">
                <a:solidFill>
                  <a:schemeClr val="accent1"/>
                </a:solidFill>
                <a:latin typeface="+mn-lt"/>
                <a:cs typeface="Arial Unicode MS" pitchFamily="34" charset="-122"/>
              </a:rPr>
              <a:t>80%</a:t>
            </a:r>
            <a:endParaRPr lang="en-US" altLang="ja-JP" sz="1200" b="1" dirty="0">
              <a:solidFill>
                <a:schemeClr val="accent1"/>
              </a:solidFill>
              <a:latin typeface="+mn-lt"/>
              <a:cs typeface="Arial Unicode MS" pitchFamily="34" charset="-122"/>
            </a:endParaRPr>
          </a:p>
        </p:txBody>
      </p:sp>
      <p:cxnSp>
        <p:nvCxnSpPr>
          <p:cNvPr id="96" name="AutoShape 14"/>
          <p:cNvCxnSpPr>
            <a:cxnSpLocks noChangeShapeType="1"/>
            <a:stCxn id="99" idx="3"/>
            <a:endCxn id="104" idx="1"/>
          </p:cNvCxnSpPr>
          <p:nvPr/>
        </p:nvCxnSpPr>
        <p:spPr bwMode="auto">
          <a:xfrm flipV="1">
            <a:off x="5369242" y="2129749"/>
            <a:ext cx="805180" cy="74838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97" name="AutoShape 15"/>
          <p:cNvCxnSpPr>
            <a:cxnSpLocks noChangeShapeType="1"/>
            <a:stCxn id="99" idx="3"/>
            <a:endCxn id="103" idx="1"/>
          </p:cNvCxnSpPr>
          <p:nvPr/>
        </p:nvCxnSpPr>
        <p:spPr bwMode="auto">
          <a:xfrm>
            <a:off x="5369242" y="2878137"/>
            <a:ext cx="805180" cy="757237"/>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99" name="Rectangle 98"/>
          <p:cNvSpPr>
            <a:spLocks noChangeArrowheads="1"/>
          </p:cNvSpPr>
          <p:nvPr/>
        </p:nvSpPr>
        <p:spPr bwMode="auto">
          <a:xfrm>
            <a:off x="4151630"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MI Test</a:t>
            </a:r>
          </a:p>
          <a:p>
            <a:pPr algn="ctr">
              <a:defRPr/>
            </a:pPr>
            <a:r>
              <a:rPr lang="en-US" altLang="ja-JP" sz="1200" b="1" dirty="0" smtClean="0">
                <a:solidFill>
                  <a:schemeClr val="accent1"/>
                </a:solidFill>
                <a:cs typeface="Arial Unicode MS" pitchFamily="34" charset="-122"/>
              </a:rPr>
              <a:t>Using </a:t>
            </a:r>
            <a:r>
              <a:rPr lang="en-US" altLang="ja-JP" sz="1200" b="1" dirty="0" err="1" smtClean="0">
                <a:solidFill>
                  <a:schemeClr val="accent1"/>
                </a:solidFill>
                <a:cs typeface="Arial Unicode MS" pitchFamily="34" charset="-122"/>
              </a:rPr>
              <a:t>Algo</a:t>
            </a:r>
            <a:r>
              <a:rPr lang="en-US" altLang="ja-JP" sz="1200" b="1" dirty="0" smtClean="0">
                <a:solidFill>
                  <a:schemeClr val="accent1"/>
                </a:solidFill>
                <a:cs typeface="Arial Unicode MS" pitchFamily="34" charset="-122"/>
              </a:rPr>
              <a:t> I</a:t>
            </a:r>
            <a:endParaRPr lang="en-US" altLang="ja-JP" sz="1200" b="1" dirty="0">
              <a:solidFill>
                <a:schemeClr val="accent1"/>
              </a:solidFill>
              <a:latin typeface="+mn-lt"/>
              <a:cs typeface="Arial Unicode MS" pitchFamily="34" charset="-122"/>
            </a:endParaRPr>
          </a:p>
        </p:txBody>
      </p:sp>
      <p:sp>
        <p:nvSpPr>
          <p:cNvPr id="100" name="Rectangle 99"/>
          <p:cNvSpPr>
            <a:spLocks noChangeArrowheads="1"/>
          </p:cNvSpPr>
          <p:nvPr/>
        </p:nvSpPr>
        <p:spPr bwMode="auto">
          <a:xfrm>
            <a:off x="4151630"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cs typeface="Arial Unicode MS" pitchFamily="34" charset="-122"/>
              </a:rPr>
              <a:t>Logistic Regression Model* </a:t>
            </a:r>
            <a:endParaRPr lang="en-US" altLang="zh-CN" sz="1200" b="1" dirty="0" smtClean="0">
              <a:solidFill>
                <a:schemeClr val="accent1"/>
              </a:solidFill>
              <a:latin typeface="+mn-lt"/>
              <a:cs typeface="Arial Unicode MS" pitchFamily="34" charset="-122"/>
            </a:endParaRPr>
          </a:p>
        </p:txBody>
      </p:sp>
      <p:sp>
        <p:nvSpPr>
          <p:cNvPr id="103" name="Rectangle 102"/>
          <p:cNvSpPr>
            <a:spLocks noChangeArrowheads="1"/>
          </p:cNvSpPr>
          <p:nvPr/>
        </p:nvSpPr>
        <p:spPr bwMode="auto">
          <a:xfrm>
            <a:off x="6174422" y="3178174"/>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cs typeface="Arial Unicode MS" pitchFamily="34" charset="-122"/>
              </a:rPr>
              <a:t>N: Non-</a:t>
            </a:r>
            <a:r>
              <a:rPr lang="en-US" altLang="zh-CN" sz="1200" b="1" dirty="0" err="1" smtClean="0">
                <a:solidFill>
                  <a:schemeClr val="accent1"/>
                </a:solidFill>
                <a:cs typeface="Arial Unicode MS" pitchFamily="34" charset="-122"/>
              </a:rPr>
              <a:t>HARPed</a:t>
            </a:r>
            <a:endParaRPr lang="en-US" altLang="zh-CN" sz="1200" b="1" dirty="0" smtClean="0">
              <a:solidFill>
                <a:schemeClr val="accent1"/>
              </a:solidFill>
              <a:cs typeface="Arial Unicode MS" pitchFamily="34" charset="-122"/>
            </a:endParaRPr>
          </a:p>
          <a:p>
            <a:pPr algn="ctr">
              <a:defRPr/>
            </a:pPr>
            <a:r>
              <a:rPr lang="en-US" altLang="zh-CN" sz="1200" b="1" dirty="0" smtClean="0">
                <a:solidFill>
                  <a:schemeClr val="accent1"/>
                </a:solidFill>
                <a:cs typeface="Arial Unicode MS" pitchFamily="34" charset="-122"/>
              </a:rPr>
              <a:t>HARP</a:t>
            </a:r>
            <a:r>
              <a:rPr lang="en-US" altLang="zh-CN" sz="1200" b="1" dirty="0">
                <a:solidFill>
                  <a:schemeClr val="accent1"/>
                </a:solidFill>
                <a:cs typeface="Arial Unicode MS" pitchFamily="34" charset="-122"/>
              </a:rPr>
              <a:t>% = </a:t>
            </a:r>
            <a:r>
              <a:rPr lang="en-US" altLang="zh-CN" sz="1200" b="1" dirty="0" smtClean="0">
                <a:solidFill>
                  <a:schemeClr val="accent1"/>
                </a:solidFill>
                <a:cs typeface="Arial Unicode MS" pitchFamily="34" charset="-122"/>
              </a:rPr>
              <a:t>0</a:t>
            </a:r>
            <a:endParaRPr lang="en-US" altLang="ja-JP" sz="1200" b="1" dirty="0">
              <a:solidFill>
                <a:schemeClr val="accent1"/>
              </a:solidFill>
              <a:cs typeface="Arial Unicode MS" pitchFamily="34" charset="-122"/>
            </a:endParaRPr>
          </a:p>
        </p:txBody>
      </p:sp>
      <p:sp>
        <p:nvSpPr>
          <p:cNvPr id="104" name="Rectangle 103"/>
          <p:cNvSpPr>
            <a:spLocks noChangeArrowheads="1"/>
          </p:cNvSpPr>
          <p:nvPr/>
        </p:nvSpPr>
        <p:spPr bwMode="auto">
          <a:xfrm>
            <a:off x="6174422" y="1672549"/>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Y: </a:t>
            </a:r>
            <a:r>
              <a:rPr lang="en-US" altLang="zh-CN" sz="1200" b="1" dirty="0" err="1" smtClean="0">
                <a:solidFill>
                  <a:schemeClr val="accent1"/>
                </a:solidFill>
                <a:latin typeface="+mn-lt"/>
                <a:cs typeface="Arial Unicode MS" pitchFamily="34" charset="-122"/>
              </a:rPr>
              <a:t>HARPed</a:t>
            </a:r>
            <a:endParaRPr lang="en-US" altLang="zh-CN" sz="1200" b="1" dirty="0" smtClean="0">
              <a:solidFill>
                <a:schemeClr val="accent1"/>
              </a:solidFill>
              <a:latin typeface="+mn-lt"/>
              <a:cs typeface="Arial Unicode MS" pitchFamily="34" charset="-122"/>
            </a:endParaRPr>
          </a:p>
          <a:p>
            <a:pPr algn="ctr">
              <a:defRPr/>
            </a:pPr>
            <a:r>
              <a:rPr lang="en-US" altLang="zh-CN" sz="1200" b="1" dirty="0" smtClean="0">
                <a:solidFill>
                  <a:schemeClr val="accent1"/>
                </a:solidFill>
                <a:latin typeface="+mn-lt"/>
                <a:cs typeface="Arial Unicode MS" pitchFamily="34" charset="-122"/>
              </a:rPr>
              <a:t>HARP% = 100</a:t>
            </a:r>
            <a:endParaRPr lang="en-US" altLang="ja-JP" sz="1200" b="1" dirty="0">
              <a:solidFill>
                <a:schemeClr val="accent1"/>
              </a:solidFill>
              <a:latin typeface="+mn-lt"/>
              <a:cs typeface="Arial Unicode MS" pitchFamily="34" charset="-122"/>
            </a:endParaRPr>
          </a:p>
        </p:txBody>
      </p:sp>
      <p:cxnSp>
        <p:nvCxnSpPr>
          <p:cNvPr id="7" name="Straight Connector 6"/>
          <p:cNvCxnSpPr>
            <a:stCxn id="87" idx="3"/>
            <a:endCxn id="99" idx="1"/>
          </p:cNvCxnSpPr>
          <p:nvPr/>
        </p:nvCxnSpPr>
        <p:spPr>
          <a:xfrm>
            <a:off x="3594100" y="2878137"/>
            <a:ext cx="557530" cy="0"/>
          </a:xfrm>
          <a:prstGeom prst="line">
            <a:avLst/>
          </a:prstGeom>
          <a:ln/>
        </p:spPr>
        <p:style>
          <a:lnRef idx="2">
            <a:schemeClr val="accent1"/>
          </a:lnRef>
          <a:fillRef idx="1">
            <a:schemeClr val="lt1"/>
          </a:fillRef>
          <a:effectRef idx="0">
            <a:schemeClr val="accent1"/>
          </a:effectRef>
          <a:fontRef idx="minor">
            <a:schemeClr val="dk1"/>
          </a:fontRef>
        </p:style>
      </p:cxnSp>
      <p:cxnSp>
        <p:nvCxnSpPr>
          <p:cNvPr id="107" name="Straight Connector 106"/>
          <p:cNvCxnSpPr>
            <a:stCxn id="88" idx="3"/>
            <a:endCxn id="100" idx="1"/>
          </p:cNvCxnSpPr>
          <p:nvPr/>
        </p:nvCxnSpPr>
        <p:spPr>
          <a:xfrm>
            <a:off x="3594100" y="4892674"/>
            <a:ext cx="557530" cy="0"/>
          </a:xfrm>
          <a:prstGeom prst="line">
            <a:avLst/>
          </a:prstGeom>
          <a:ln/>
        </p:spPr>
        <p:style>
          <a:lnRef idx="2">
            <a:schemeClr val="accent1"/>
          </a:lnRef>
          <a:fillRef idx="1">
            <a:schemeClr val="lt1"/>
          </a:fillRef>
          <a:effectRef idx="0">
            <a:schemeClr val="accent1"/>
          </a:effectRef>
          <a:fontRef idx="minor">
            <a:schemeClr val="dk1"/>
          </a:fontRef>
        </p:style>
      </p:cxnSp>
      <p:sp>
        <p:nvSpPr>
          <p:cNvPr id="108" name="Rectangle 107"/>
          <p:cNvSpPr>
            <a:spLocks noChangeArrowheads="1"/>
          </p:cNvSpPr>
          <p:nvPr/>
        </p:nvSpPr>
        <p:spPr bwMode="auto">
          <a:xfrm>
            <a:off x="617124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200" b="1" dirty="0" smtClean="0">
                <a:solidFill>
                  <a:schemeClr val="accent1"/>
                </a:solidFill>
                <a:cs typeface="Arial Unicode MS" pitchFamily="34" charset="-122"/>
              </a:rPr>
              <a:t>Likelihood that loan has been </a:t>
            </a:r>
            <a:r>
              <a:rPr lang="en-US" altLang="ja-JP" sz="1200" b="1" dirty="0" err="1" smtClean="0">
                <a:solidFill>
                  <a:schemeClr val="accent1"/>
                </a:solidFill>
                <a:cs typeface="Arial Unicode MS" pitchFamily="34" charset="-122"/>
              </a:rPr>
              <a:t>HARPed</a:t>
            </a:r>
            <a:r>
              <a:rPr lang="en-US" altLang="ja-JP" sz="1200" b="1" dirty="0" smtClean="0">
                <a:solidFill>
                  <a:schemeClr val="accent1"/>
                </a:solidFill>
                <a:cs typeface="Arial Unicode MS" pitchFamily="34" charset="-122"/>
              </a:rPr>
              <a:t> </a:t>
            </a:r>
            <a:endParaRPr lang="en-US" altLang="ja-JP" sz="1200" b="1" dirty="0">
              <a:solidFill>
                <a:schemeClr val="accent1"/>
              </a:solidFill>
              <a:cs typeface="Arial Unicode MS" pitchFamily="34" charset="-122"/>
            </a:endParaRPr>
          </a:p>
        </p:txBody>
      </p:sp>
      <p:cxnSp>
        <p:nvCxnSpPr>
          <p:cNvPr id="109" name="Straight Connector 108"/>
          <p:cNvCxnSpPr>
            <a:stCxn id="100" idx="3"/>
            <a:endCxn id="108" idx="1"/>
          </p:cNvCxnSpPr>
          <p:nvPr/>
        </p:nvCxnSpPr>
        <p:spPr>
          <a:xfrm>
            <a:off x="5369242" y="4892674"/>
            <a:ext cx="802006" cy="0"/>
          </a:xfrm>
          <a:prstGeom prst="line">
            <a:avLst/>
          </a:prstGeom>
          <a:ln/>
        </p:spPr>
        <p:style>
          <a:lnRef idx="2">
            <a:schemeClr val="accent1"/>
          </a:lnRef>
          <a:fillRef idx="1">
            <a:schemeClr val="lt1"/>
          </a:fillRef>
          <a:effectRef idx="0">
            <a:schemeClr val="accent1"/>
          </a:effectRef>
          <a:fontRef idx="minor">
            <a:schemeClr val="dk1"/>
          </a:fontRef>
        </p:style>
      </p:cxnSp>
      <p:sp>
        <p:nvSpPr>
          <p:cNvPr id="37" name="Isosceles Triangle 36"/>
          <p:cNvSpPr/>
          <p:nvPr/>
        </p:nvSpPr>
        <p:spPr>
          <a:xfrm rot="5400000">
            <a:off x="6888480" y="3462588"/>
            <a:ext cx="1888437" cy="13716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p:cNvSpPr>
            <a:spLocks noChangeArrowheads="1"/>
          </p:cNvSpPr>
          <p:nvPr/>
        </p:nvSpPr>
        <p:spPr bwMode="auto">
          <a:xfrm>
            <a:off x="8221028" y="3178174"/>
            <a:ext cx="1217612" cy="914400"/>
          </a:xfrm>
          <a:prstGeom prst="rect">
            <a:avLst/>
          </a:prstGeom>
          <a:ln>
            <a:noFill/>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anchor="ctr">
            <a:noAutofit/>
          </a:bodyPr>
          <a:lstStyle/>
          <a:p>
            <a:pPr algn="ctr">
              <a:defRPr/>
            </a:pPr>
            <a:r>
              <a:rPr lang="en-US" altLang="zh-CN" sz="1200" b="1" dirty="0" smtClean="0">
                <a:solidFill>
                  <a:schemeClr val="bg1"/>
                </a:solidFill>
                <a:cs typeface="Arial Unicode MS" pitchFamily="34" charset="-122"/>
              </a:rPr>
              <a:t>HARP % for each loan</a:t>
            </a:r>
            <a:endParaRPr lang="en-US" altLang="ja-JP" sz="1200" b="1" dirty="0">
              <a:solidFill>
                <a:schemeClr val="bg1"/>
              </a:solidFill>
              <a:cs typeface="Arial Unicode MS" pitchFamily="34" charset="-122"/>
            </a:endParaRPr>
          </a:p>
        </p:txBody>
      </p:sp>
      <p:sp>
        <p:nvSpPr>
          <p:cNvPr id="111" name="Rectangle 110"/>
          <p:cNvSpPr>
            <a:spLocks noChangeArrowheads="1"/>
          </p:cNvSpPr>
          <p:nvPr/>
        </p:nvSpPr>
        <p:spPr bwMode="auto">
          <a:xfrm>
            <a:off x="944880" y="5837554"/>
            <a:ext cx="8000999" cy="914400"/>
          </a:xfrm>
          <a:prstGeom prst="rect">
            <a:avLst/>
          </a:prstGeom>
          <a:ln>
            <a:headEnd type="none" w="sm" len="sm"/>
            <a:tailEnd type="none" w="sm" len="sm"/>
          </a:ln>
        </p:spPr>
        <p:style>
          <a:lnRef idx="2">
            <a:schemeClr val="accent3"/>
          </a:lnRef>
          <a:fillRef idx="1">
            <a:schemeClr val="lt1"/>
          </a:fillRef>
          <a:effectRef idx="0">
            <a:schemeClr val="accent3"/>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tx1"/>
                </a:solidFill>
                <a:cs typeface="Arial Unicode MS" pitchFamily="34" charset="-122"/>
              </a:rPr>
              <a:t>We estimate </a:t>
            </a:r>
            <a:r>
              <a:rPr lang="en-US" altLang="zh-CN" sz="1200" b="1" dirty="0" smtClean="0">
                <a:solidFill>
                  <a:schemeClr val="tx1"/>
                </a:solidFill>
                <a:cs typeface="Arial Unicode MS" pitchFamily="34" charset="-122"/>
              </a:rPr>
              <a:t>the likelihood that</a:t>
            </a:r>
            <a:r>
              <a:rPr lang="en-US" altLang="zh-CN" sz="1200" b="1" dirty="0" smtClean="0">
                <a:solidFill>
                  <a:schemeClr val="tx1"/>
                </a:solidFill>
                <a:cs typeface="Arial Unicode MS" pitchFamily="34" charset="-122"/>
              </a:rPr>
              <a:t> </a:t>
            </a:r>
            <a:r>
              <a:rPr lang="en-US" altLang="zh-CN" sz="1200" b="1" dirty="0" smtClean="0">
                <a:solidFill>
                  <a:schemeClr val="tx1"/>
                </a:solidFill>
                <a:cs typeface="Arial Unicode MS" pitchFamily="34" charset="-122"/>
              </a:rPr>
              <a:t>the loan is originated from the HARP program for each loan.</a:t>
            </a:r>
            <a:endParaRPr lang="en-US" altLang="ja-JP" sz="1200" b="1" dirty="0">
              <a:solidFill>
                <a:schemeClr val="tx1"/>
              </a:solidFill>
              <a:cs typeface="Arial Unicode MS" pitchFamily="34" charset="-122"/>
            </a:endParaRPr>
          </a:p>
        </p:txBody>
      </p:sp>
      <p:sp>
        <p:nvSpPr>
          <p:cNvPr id="3" name="TextBox 2"/>
          <p:cNvSpPr txBox="1"/>
          <p:nvPr/>
        </p:nvSpPr>
        <p:spPr>
          <a:xfrm>
            <a:off x="1177766" y="7330440"/>
            <a:ext cx="6023134" cy="400110"/>
          </a:xfrm>
          <a:prstGeom prst="rect">
            <a:avLst/>
          </a:prstGeom>
          <a:noFill/>
        </p:spPr>
        <p:txBody>
          <a:bodyPr wrap="square" rtlCol="0">
            <a:spAutoFit/>
          </a:bodyPr>
          <a:lstStyle/>
          <a:p>
            <a:r>
              <a:rPr lang="en-US" sz="1000" dirty="0" smtClean="0"/>
              <a:t>*</a:t>
            </a:r>
            <a:r>
              <a:rPr lang="en-US" sz="1000" dirty="0" smtClean="0"/>
              <a:t>Model parameters</a:t>
            </a:r>
            <a:r>
              <a:rPr lang="en-US" sz="1000" dirty="0" smtClean="0"/>
              <a:t> </a:t>
            </a:r>
            <a:r>
              <a:rPr lang="en-US" sz="1000" dirty="0" smtClean="0"/>
              <a:t>will be different for FNMA vs </a:t>
            </a:r>
            <a:r>
              <a:rPr lang="en-US" sz="1000" dirty="0" smtClean="0"/>
              <a:t>FHLMC since FNMA does not distinguish between cash-out and non-cash out refinances. </a:t>
            </a:r>
            <a:endParaRPr lang="en-US" sz="1000" dirty="0"/>
          </a:p>
        </p:txBody>
      </p:sp>
    </p:spTree>
    <p:extLst>
      <p:ext uri="{BB962C8B-B14F-4D97-AF65-F5344CB8AC3E}">
        <p14:creationId xmlns:p14="http://schemas.microsoft.com/office/powerpoint/2010/main" val="29312224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MI</a:t>
            </a:r>
            <a:r>
              <a:rPr lang="en-US" sz="1600" dirty="0" smtClean="0">
                <a:latin typeface="+mn-lt"/>
              </a:rPr>
              <a:t> ALGORITHM APPLIED TO RECENTLY ORIGINATED LOANS WITH LTV &gt; 80%</a:t>
            </a:r>
            <a:r>
              <a:rPr lang="en-US" sz="1600" dirty="0" smtClean="0">
                <a:latin typeface="+mn-lt"/>
              </a:rPr>
              <a:t/>
            </a:r>
            <a:br>
              <a:rPr lang="en-US" sz="1600" dirty="0" smtClean="0">
                <a:latin typeface="+mn-lt"/>
              </a:rPr>
            </a:br>
            <a:r>
              <a:rPr lang="en-US" sz="1600" dirty="0" smtClean="0">
                <a:latin typeface="+mn-lt"/>
              </a:rPr>
              <a:t>Is an Adjustment </a:t>
            </a:r>
            <a:r>
              <a:rPr lang="en-US" sz="1600" dirty="0">
                <a:latin typeface="+mn-lt"/>
              </a:rPr>
              <a:t>N</a:t>
            </a:r>
            <a:r>
              <a:rPr lang="en-US" sz="1600" dirty="0" smtClean="0">
                <a:latin typeface="+mn-lt"/>
              </a:rPr>
              <a:t>eeded?</a:t>
            </a:r>
            <a:endParaRPr lang="en-US" sz="1600" dirty="0">
              <a:latin typeface="+mn-lt"/>
            </a:endParaRPr>
          </a:p>
        </p:txBody>
      </p:sp>
      <p:graphicFrame>
        <p:nvGraphicFramePr>
          <p:cNvPr id="15" name="Chart 14"/>
          <p:cNvGraphicFramePr>
            <a:graphicFrameLocks/>
          </p:cNvGraphicFramePr>
          <p:nvPr>
            <p:extLst>
              <p:ext uri="{D42A27DB-BD31-4B8C-83A1-F6EECF244321}">
                <p14:modId xmlns:p14="http://schemas.microsoft.com/office/powerpoint/2010/main" val="935251730"/>
              </p:ext>
            </p:extLst>
          </p:nvPr>
        </p:nvGraphicFramePr>
        <p:xfrm>
          <a:off x="449580" y="2020899"/>
          <a:ext cx="9098280" cy="4892329"/>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392638" y="1097569"/>
            <a:ext cx="9284764" cy="923330"/>
          </a:xfrm>
          <a:prstGeom prst="rect">
            <a:avLst/>
          </a:prstGeom>
          <a:noFill/>
        </p:spPr>
        <p:txBody>
          <a:bodyPr wrap="square" rtlCol="0">
            <a:spAutoFit/>
          </a:bodyPr>
          <a:lstStyle/>
          <a:p>
            <a:pPr>
              <a:lnSpc>
                <a:spcPct val="150000"/>
              </a:lnSpc>
            </a:pPr>
            <a:r>
              <a:rPr lang="en-US" sz="1200" dirty="0" smtClean="0">
                <a:latin typeface="+mn-lt"/>
              </a:rPr>
              <a:t>How good is the MI matching algorithm at identifying HARP loans with LTV &gt; 80%? We </a:t>
            </a:r>
            <a:r>
              <a:rPr lang="en-US" sz="1200" dirty="0" err="1" smtClean="0">
                <a:latin typeface="+mn-lt"/>
              </a:rPr>
              <a:t>backtested</a:t>
            </a:r>
            <a:r>
              <a:rPr lang="en-US" sz="1200" dirty="0" smtClean="0">
                <a:latin typeface="+mn-lt"/>
              </a:rPr>
              <a:t> the algorithm on HARP loans identified by </a:t>
            </a:r>
            <a:r>
              <a:rPr lang="en-US" sz="1200" dirty="0" smtClean="0">
                <a:latin typeface="+mn-lt"/>
              </a:rPr>
              <a:t>the Credit Dataset matching algorithm. </a:t>
            </a:r>
            <a:r>
              <a:rPr lang="en-US" sz="1200" dirty="0" smtClean="0">
                <a:latin typeface="+mn-lt"/>
              </a:rPr>
              <a:t>The </a:t>
            </a:r>
            <a:r>
              <a:rPr lang="en-US" sz="1200" dirty="0" smtClean="0">
                <a:latin typeface="+mn-lt"/>
              </a:rPr>
              <a:t>HARP </a:t>
            </a:r>
            <a:r>
              <a:rPr lang="en-US" sz="1200" dirty="0" smtClean="0">
                <a:latin typeface="+mn-lt"/>
              </a:rPr>
              <a:t>mapping</a:t>
            </a:r>
            <a:r>
              <a:rPr lang="en-US" sz="1200" dirty="0" smtClean="0">
                <a:latin typeface="+mn-lt"/>
              </a:rPr>
              <a:t> </a:t>
            </a:r>
            <a:r>
              <a:rPr lang="en-US" sz="1200" dirty="0" smtClean="0">
                <a:latin typeface="+mn-lt"/>
              </a:rPr>
              <a:t>numbers from them are fairly close to each other. </a:t>
            </a:r>
            <a:r>
              <a:rPr lang="en-US" sz="1200" dirty="0" smtClean="0">
                <a:latin typeface="+mn-lt"/>
              </a:rPr>
              <a:t>Consequently</a:t>
            </a:r>
            <a:r>
              <a:rPr lang="en-US" sz="1200" dirty="0" smtClean="0">
                <a:latin typeface="+mn-lt"/>
              </a:rPr>
              <a:t>, </a:t>
            </a:r>
            <a:r>
              <a:rPr lang="en-US" sz="1200" dirty="0" smtClean="0">
                <a:latin typeface="+mn-lt"/>
              </a:rPr>
              <a:t>there is no need to </a:t>
            </a:r>
            <a:r>
              <a:rPr lang="en-US" sz="1200" dirty="0" smtClean="0">
                <a:latin typeface="+mn-lt"/>
              </a:rPr>
              <a:t>apply an adjustment factor when running the MI algorithm on recently originated </a:t>
            </a:r>
            <a:r>
              <a:rPr lang="en-US" sz="1200" dirty="0" smtClean="0">
                <a:latin typeface="+mn-lt"/>
              </a:rPr>
              <a:t>LTV &gt; </a:t>
            </a:r>
            <a:r>
              <a:rPr lang="en-US" sz="1200" dirty="0" smtClean="0">
                <a:latin typeface="+mn-lt"/>
              </a:rPr>
              <a:t>80% </a:t>
            </a:r>
            <a:r>
              <a:rPr lang="en-US" sz="1200" dirty="0" smtClean="0">
                <a:latin typeface="+mn-lt"/>
              </a:rPr>
              <a:t>loans.</a:t>
            </a:r>
            <a:endParaRPr lang="en-US" sz="1200" dirty="0">
              <a:latin typeface="+mn-lt"/>
            </a:endParaRPr>
          </a:p>
        </p:txBody>
      </p:sp>
    </p:spTree>
    <p:extLst>
      <p:ext uri="{BB962C8B-B14F-4D97-AF65-F5344CB8AC3E}">
        <p14:creationId xmlns:p14="http://schemas.microsoft.com/office/powerpoint/2010/main" val="1941592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3154680" y="3326023"/>
            <a:ext cx="2964180" cy="30777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271260" y="3321306"/>
            <a:ext cx="2255520" cy="3077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IDENTIFYING </a:t>
            </a:r>
            <a:r>
              <a:rPr lang="en-US" sz="1600" dirty="0" err="1" smtClean="0">
                <a:latin typeface="+mn-lt"/>
              </a:rPr>
              <a:t>HARPed</a:t>
            </a:r>
            <a:r>
              <a:rPr lang="en-US" sz="1600" dirty="0" smtClean="0">
                <a:latin typeface="+mn-lt"/>
              </a:rPr>
              <a:t> LOANS WITH LTV &lt;= 80%</a:t>
            </a:r>
            <a:r>
              <a:rPr lang="en-US" sz="1600" dirty="0" smtClean="0">
                <a:latin typeface="+mn-lt"/>
              </a:rPr>
              <a:t/>
            </a:r>
            <a:br>
              <a:rPr lang="en-US" sz="1600" dirty="0" smtClean="0">
                <a:latin typeface="+mn-lt"/>
              </a:rPr>
            </a:br>
            <a:endParaRPr lang="en-US" sz="1600" dirty="0">
              <a:latin typeface="+mn-lt"/>
            </a:endParaRPr>
          </a:p>
        </p:txBody>
      </p:sp>
      <p:sp>
        <p:nvSpPr>
          <p:cNvPr id="11" name="Rectangle 10"/>
          <p:cNvSpPr/>
          <p:nvPr/>
        </p:nvSpPr>
        <p:spPr>
          <a:xfrm>
            <a:off x="261538" y="1148001"/>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p:nvPr/>
        </p:nvCxnSpPr>
        <p:spPr>
          <a:xfrm>
            <a:off x="261538" y="1749981"/>
            <a:ext cx="92825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33036" y="1287185"/>
            <a:ext cx="4348563" cy="307777"/>
          </a:xfrm>
          <a:prstGeom prst="rect">
            <a:avLst/>
          </a:prstGeom>
          <a:noFill/>
        </p:spPr>
        <p:txBody>
          <a:bodyPr wrap="square" rtlCol="0">
            <a:spAutoFit/>
          </a:bodyPr>
          <a:lstStyle/>
          <a:p>
            <a:r>
              <a:rPr lang="en-US" sz="1400" b="1" dirty="0" smtClean="0">
                <a:latin typeface="+mn-lt"/>
              </a:rPr>
              <a:t>Logistic Regression Model for </a:t>
            </a:r>
            <a:r>
              <a:rPr lang="en-US" sz="1400" b="1" dirty="0" smtClean="0">
                <a:latin typeface="+mn-lt"/>
              </a:rPr>
              <a:t>the </a:t>
            </a:r>
            <a:r>
              <a:rPr lang="en-US" sz="1400" b="1" dirty="0" err="1" smtClean="0">
                <a:latin typeface="+mn-lt"/>
              </a:rPr>
              <a:t>HARPed</a:t>
            </a:r>
            <a:r>
              <a:rPr lang="en-US" sz="1400" b="1" dirty="0" smtClean="0">
                <a:latin typeface="+mn-lt"/>
              </a:rPr>
              <a:t> </a:t>
            </a:r>
            <a:r>
              <a:rPr lang="en-US" sz="1400" b="1" dirty="0" smtClean="0">
                <a:latin typeface="+mn-lt"/>
              </a:rPr>
              <a:t>Percentage </a:t>
            </a:r>
            <a:endParaRPr lang="en-US" sz="1400" b="1" dirty="0">
              <a:latin typeface="+mn-lt"/>
            </a:endParaRPr>
          </a:p>
        </p:txBody>
      </p:sp>
      <p:sp>
        <p:nvSpPr>
          <p:cNvPr id="14" name="TextBox 13"/>
          <p:cNvSpPr txBox="1"/>
          <p:nvPr/>
        </p:nvSpPr>
        <p:spPr>
          <a:xfrm>
            <a:off x="479370" y="1907194"/>
            <a:ext cx="9064680" cy="1292662"/>
          </a:xfrm>
          <a:prstGeom prst="rect">
            <a:avLst/>
          </a:prstGeom>
          <a:noFill/>
        </p:spPr>
        <p:txBody>
          <a:bodyPr wrap="square" rtlCol="0">
            <a:spAutoFit/>
          </a:bodyPr>
          <a:lstStyle/>
          <a:p>
            <a:pPr>
              <a:lnSpc>
                <a:spcPct val="150000"/>
              </a:lnSpc>
            </a:pPr>
            <a:r>
              <a:rPr lang="en-US" sz="1300" dirty="0" smtClean="0">
                <a:latin typeface="+mn-lt"/>
              </a:rPr>
              <a:t>For loans with LTV &lt;= </a:t>
            </a:r>
            <a:r>
              <a:rPr lang="en-US" sz="1300" dirty="0" smtClean="0">
                <a:latin typeface="+mn-lt"/>
              </a:rPr>
              <a:t>80%, </a:t>
            </a:r>
            <a:r>
              <a:rPr lang="en-US" sz="1300" dirty="0" smtClean="0">
                <a:latin typeface="+mn-lt"/>
              </a:rPr>
              <a:t>and originated after the most recent available credit data set, we cannot use neither Algorithm I or Algorithm II to estimate the percentage of loans that are </a:t>
            </a:r>
            <a:r>
              <a:rPr lang="en-US" sz="1300" dirty="0" err="1" smtClean="0">
                <a:latin typeface="+mn-lt"/>
              </a:rPr>
              <a:t>HARPed</a:t>
            </a:r>
            <a:r>
              <a:rPr lang="en-US" sz="1300" dirty="0" smtClean="0">
                <a:latin typeface="+mn-lt"/>
              </a:rPr>
              <a:t>. In order to solve the problem, we introduce a logistic regression model based on </a:t>
            </a:r>
            <a:r>
              <a:rPr lang="en-US" sz="1300" dirty="0">
                <a:latin typeface="+mn-lt"/>
              </a:rPr>
              <a:t>loan characteristics and </a:t>
            </a:r>
            <a:r>
              <a:rPr lang="en-US" sz="1300" dirty="0" smtClean="0">
                <a:latin typeface="+mn-lt"/>
              </a:rPr>
              <a:t>global estimates of the </a:t>
            </a:r>
            <a:r>
              <a:rPr lang="en-US" sz="1300" dirty="0" err="1" smtClean="0">
                <a:latin typeface="+mn-lt"/>
              </a:rPr>
              <a:t>refinanceable</a:t>
            </a:r>
            <a:r>
              <a:rPr lang="en-US" sz="1300" dirty="0" smtClean="0">
                <a:latin typeface="+mn-lt"/>
              </a:rPr>
              <a:t> </a:t>
            </a:r>
            <a:r>
              <a:rPr lang="en-US" sz="1300" dirty="0" smtClean="0">
                <a:latin typeface="+mn-lt"/>
              </a:rPr>
              <a:t>universe</a:t>
            </a:r>
            <a:r>
              <a:rPr lang="en-US" sz="1300" dirty="0" smtClean="0">
                <a:latin typeface="+mn-lt"/>
              </a:rPr>
              <a:t>. The algorithm is calibrated based on the </a:t>
            </a:r>
            <a:r>
              <a:rPr lang="en-US" sz="1300" dirty="0" err="1" smtClean="0">
                <a:latin typeface="+mn-lt"/>
              </a:rPr>
              <a:t>HARPed</a:t>
            </a:r>
            <a:r>
              <a:rPr lang="en-US" sz="1300" dirty="0" smtClean="0">
                <a:latin typeface="+mn-lt"/>
              </a:rPr>
              <a:t> vs non-</a:t>
            </a:r>
            <a:r>
              <a:rPr lang="en-US" sz="1300" dirty="0" err="1" smtClean="0">
                <a:latin typeface="+mn-lt"/>
              </a:rPr>
              <a:t>HARPed</a:t>
            </a:r>
            <a:r>
              <a:rPr lang="en-US" sz="1300" dirty="0" smtClean="0">
                <a:latin typeface="+mn-lt"/>
              </a:rPr>
              <a:t> breakout generated by the Credit Dataset matching algorithm.</a:t>
            </a:r>
            <a:endParaRPr lang="en-US" sz="1300" dirty="0" smtClean="0">
              <a:latin typeface="+mn-lt"/>
            </a:endParaRPr>
          </a:p>
        </p:txBody>
      </p:sp>
      <mc:AlternateContent xmlns:mc="http://schemas.openxmlformats.org/markup-compatibility/2006">
        <mc:Choice xmlns:a14="http://schemas.microsoft.com/office/drawing/2010/main" Requires="a14">
          <p:sp>
            <p:nvSpPr>
              <p:cNvPr id="5" name="TextBox 4"/>
              <p:cNvSpPr txBox="1"/>
              <p:nvPr/>
            </p:nvSpPr>
            <p:spPr>
              <a:xfrm>
                <a:off x="1170304" y="3321306"/>
                <a:ext cx="74434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a:rPr>
                        <m:t>𝐻𝐴𝑅𝑃𝑒𝑑</m:t>
                      </m:r>
                      <m:r>
                        <a:rPr lang="en-US" sz="1400" b="0" i="1" smtClean="0">
                          <a:latin typeface="Cambria Math"/>
                        </a:rPr>
                        <m:t> </m:t>
                      </m:r>
                      <m:r>
                        <a:rPr lang="en-US" sz="1400" b="0" i="1" smtClean="0">
                          <a:latin typeface="Cambria Math"/>
                        </a:rPr>
                        <m:t>𝑃𝑒𝑟𝑐𝑒𝑛𝑡𝑎𝑔𝑒</m:t>
                      </m:r>
                      <m:r>
                        <a:rPr lang="en-US" sz="1400" b="0" i="1" smtClean="0">
                          <a:latin typeface="Cambria Math"/>
                        </a:rPr>
                        <m:t> ~ </m:t>
                      </m:r>
                      <m:r>
                        <a:rPr lang="en-US" sz="1400" b="0" i="1" smtClean="0">
                          <a:latin typeface="Cambria Math"/>
                        </a:rPr>
                        <m:t>𝐶𝑟𝑒𝑑𝑖𝑡</m:t>
                      </m:r>
                      <m:r>
                        <a:rPr lang="en-US" sz="1400" b="0" i="1" smtClean="0">
                          <a:latin typeface="Cambria Math"/>
                        </a:rPr>
                        <m:t> </m:t>
                      </m:r>
                      <m:r>
                        <a:rPr lang="en-US" sz="1400" b="0" i="1" smtClean="0">
                          <a:latin typeface="Cambria Math"/>
                        </a:rPr>
                        <m:t>𝑆𝑐𝑜𝑟𝑒</m:t>
                      </m:r>
                      <m:r>
                        <a:rPr lang="en-US" sz="1400" b="0" i="1" smtClean="0">
                          <a:latin typeface="Cambria Math"/>
                        </a:rPr>
                        <m:t>+</m:t>
                      </m:r>
                      <m:r>
                        <a:rPr lang="en-US" sz="1400" b="0" i="1" smtClean="0">
                          <a:latin typeface="Cambria Math"/>
                        </a:rPr>
                        <m:t>𝑆𝐴𝑇𝑂</m:t>
                      </m:r>
                      <m:r>
                        <a:rPr lang="en-US" sz="1400" b="0" i="1" smtClean="0">
                          <a:latin typeface="Cambria Math"/>
                        </a:rPr>
                        <m:t>+</m:t>
                      </m:r>
                      <m:r>
                        <a:rPr lang="en-US" sz="1400" b="0" i="1" smtClean="0">
                          <a:latin typeface="Cambria Math"/>
                        </a:rPr>
                        <m:t>𝑂𝑟𝑖𝑔𝐿𝑜𝑎𝑛𝑆𝑖𝑧𝑒</m:t>
                      </m:r>
                      <m:r>
                        <a:rPr lang="en-US" sz="1400" b="0" i="1" smtClean="0">
                          <a:latin typeface="Cambria Math"/>
                        </a:rPr>
                        <m:t>+</m:t>
                      </m:r>
                      <m:r>
                        <a:rPr lang="en-US" sz="1400" b="0" i="1" smtClean="0">
                          <a:latin typeface="Cambria Math"/>
                        </a:rPr>
                        <m:t>𝑅𝑒𝑓𝑖</m:t>
                      </m:r>
                      <m:r>
                        <a:rPr lang="en-US" sz="1400" b="0" i="1" smtClean="0">
                          <a:latin typeface="Cambria Math"/>
                        </a:rPr>
                        <m:t> %+</m:t>
                      </m:r>
                      <m:r>
                        <a:rPr lang="en-US" sz="1400" b="0" i="1" smtClean="0">
                          <a:latin typeface="Cambria Math"/>
                        </a:rPr>
                        <m:t>𝐻𝐴𝑅𝑃</m:t>
                      </m:r>
                      <m:r>
                        <a:rPr lang="en-US" sz="1400" b="0" i="1" smtClean="0">
                          <a:latin typeface="Cambria Math"/>
                        </a:rPr>
                        <m:t> </m:t>
                      </m:r>
                      <m:r>
                        <a:rPr lang="en-US" sz="1400" b="0" i="1" smtClean="0">
                          <a:latin typeface="Cambria Math"/>
                        </a:rPr>
                        <m:t>𝐸𝑙𝑖𝑔𝑖𝑏𝑙𝑒</m:t>
                      </m:r>
                      <m:r>
                        <a:rPr lang="en-US" sz="1400" b="0" i="1" smtClean="0">
                          <a:latin typeface="Cambria Math"/>
                        </a:rPr>
                        <m:t> % </m:t>
                      </m:r>
                    </m:oMath>
                  </m:oMathPara>
                </a14:m>
                <a:endParaRPr lang="en-US" sz="1400" dirty="0">
                  <a:latin typeface="+mn-lt"/>
                </a:endParaRPr>
              </a:p>
            </p:txBody>
          </p:sp>
        </mc:Choice>
        <mc:Fallback>
          <p:sp>
            <p:nvSpPr>
              <p:cNvPr id="5" name="TextBox 4"/>
              <p:cNvSpPr txBox="1">
                <a:spLocks noRot="1" noChangeAspect="1" noMove="1" noResize="1" noEditPoints="1" noAdjustHandles="1" noChangeArrowheads="1" noChangeShapeType="1" noTextEdit="1"/>
              </p:cNvSpPr>
              <p:nvPr/>
            </p:nvSpPr>
            <p:spPr>
              <a:xfrm>
                <a:off x="1170304" y="3321306"/>
                <a:ext cx="7443448" cy="307777"/>
              </a:xfrm>
              <a:prstGeom prst="rect">
                <a:avLst/>
              </a:prstGeom>
              <a:blipFill rotWithShape="1">
                <a:blip r:embed="rId2"/>
                <a:stretch>
                  <a:fillRect b="-8000"/>
                </a:stretch>
              </a:blipFill>
            </p:spPr>
            <p:txBody>
              <a:bodyPr/>
              <a:lstStyle/>
              <a:p>
                <a:r>
                  <a:rPr lang="en-US">
                    <a:noFill/>
                  </a:rPr>
                  <a:t> </a:t>
                </a:r>
              </a:p>
            </p:txBody>
          </p:sp>
        </mc:Fallback>
      </mc:AlternateContent>
      <p:sp>
        <p:nvSpPr>
          <p:cNvPr id="21" name="TextBox 20"/>
          <p:cNvSpPr txBox="1"/>
          <p:nvPr/>
        </p:nvSpPr>
        <p:spPr>
          <a:xfrm>
            <a:off x="578430" y="3591214"/>
            <a:ext cx="9064680" cy="1292662"/>
          </a:xfrm>
          <a:prstGeom prst="rect">
            <a:avLst/>
          </a:prstGeom>
          <a:noFill/>
        </p:spPr>
        <p:txBody>
          <a:bodyPr wrap="square" rtlCol="0">
            <a:spAutoFit/>
          </a:bodyPr>
          <a:lstStyle/>
          <a:p>
            <a:pPr>
              <a:lnSpc>
                <a:spcPct val="150000"/>
              </a:lnSpc>
            </a:pPr>
            <a:r>
              <a:rPr lang="en-US" sz="1300" dirty="0" smtClean="0">
                <a:latin typeface="+mn-lt"/>
              </a:rPr>
              <a:t>Loan Characteristics:</a:t>
            </a:r>
          </a:p>
          <a:p>
            <a:pPr marL="342900" indent="-342900">
              <a:lnSpc>
                <a:spcPct val="150000"/>
              </a:lnSpc>
              <a:buAutoNum type="arabicPeriod"/>
            </a:pPr>
            <a:r>
              <a:rPr lang="en-US" sz="1300" dirty="0" smtClean="0">
                <a:latin typeface="+mn-lt"/>
              </a:rPr>
              <a:t>Credit Score: </a:t>
            </a:r>
            <a:r>
              <a:rPr lang="en-US" sz="1300" dirty="0" smtClean="0">
                <a:latin typeface="+mn-lt"/>
              </a:rPr>
              <a:t>The </a:t>
            </a:r>
            <a:r>
              <a:rPr lang="en-US" sz="1300" dirty="0" smtClean="0">
                <a:latin typeface="+mn-lt"/>
              </a:rPr>
              <a:t>lower </a:t>
            </a:r>
            <a:r>
              <a:rPr lang="en-US" sz="1300" dirty="0" smtClean="0">
                <a:latin typeface="+mn-lt"/>
              </a:rPr>
              <a:t>the credit score, </a:t>
            </a:r>
            <a:r>
              <a:rPr lang="en-US" sz="1300" dirty="0" smtClean="0">
                <a:latin typeface="+mn-lt"/>
              </a:rPr>
              <a:t>the higher probability the loan is </a:t>
            </a:r>
            <a:r>
              <a:rPr lang="en-US" sz="1300" dirty="0" err="1" smtClean="0">
                <a:latin typeface="+mn-lt"/>
              </a:rPr>
              <a:t>HARPed</a:t>
            </a:r>
            <a:r>
              <a:rPr lang="en-US" sz="1300" dirty="0" smtClean="0">
                <a:latin typeface="+mn-lt"/>
              </a:rPr>
              <a:t>.</a:t>
            </a:r>
          </a:p>
          <a:p>
            <a:pPr marL="342900" indent="-342900">
              <a:lnSpc>
                <a:spcPct val="150000"/>
              </a:lnSpc>
              <a:buAutoNum type="arabicPeriod"/>
            </a:pPr>
            <a:r>
              <a:rPr lang="en-US" sz="1300" dirty="0" smtClean="0">
                <a:latin typeface="+mn-lt"/>
              </a:rPr>
              <a:t>SATO: </a:t>
            </a:r>
            <a:r>
              <a:rPr lang="en-US" sz="1300" dirty="0" smtClean="0">
                <a:latin typeface="+mn-lt"/>
              </a:rPr>
              <a:t>Borrowers with</a:t>
            </a:r>
            <a:r>
              <a:rPr lang="en-US" sz="1300" dirty="0" smtClean="0">
                <a:latin typeface="+mn-lt"/>
              </a:rPr>
              <a:t> </a:t>
            </a:r>
            <a:r>
              <a:rPr lang="en-US" sz="1300" dirty="0" smtClean="0">
                <a:latin typeface="+mn-lt"/>
              </a:rPr>
              <a:t>higher </a:t>
            </a:r>
            <a:r>
              <a:rPr lang="en-US" sz="1300" dirty="0" smtClean="0">
                <a:latin typeface="+mn-lt"/>
              </a:rPr>
              <a:t>spreads </a:t>
            </a:r>
            <a:r>
              <a:rPr lang="en-US" sz="1300" dirty="0" smtClean="0">
                <a:latin typeface="+mn-lt"/>
              </a:rPr>
              <a:t>normally </a:t>
            </a:r>
            <a:r>
              <a:rPr lang="en-US" sz="1300" dirty="0" smtClean="0">
                <a:latin typeface="+mn-lt"/>
              </a:rPr>
              <a:t>have</a:t>
            </a:r>
            <a:r>
              <a:rPr lang="en-US" sz="1300" dirty="0" smtClean="0">
                <a:latin typeface="+mn-lt"/>
              </a:rPr>
              <a:t> </a:t>
            </a:r>
            <a:r>
              <a:rPr lang="en-US" sz="1300" dirty="0" smtClean="0">
                <a:latin typeface="+mn-lt"/>
              </a:rPr>
              <a:t>higher </a:t>
            </a:r>
            <a:r>
              <a:rPr lang="en-US" sz="1300" dirty="0" err="1" smtClean="0">
                <a:latin typeface="+mn-lt"/>
              </a:rPr>
              <a:t>HARPed</a:t>
            </a:r>
            <a:r>
              <a:rPr lang="en-US" sz="1300" dirty="0" smtClean="0">
                <a:latin typeface="+mn-lt"/>
              </a:rPr>
              <a:t> probabilities</a:t>
            </a:r>
            <a:endParaRPr lang="en-US" sz="1300" dirty="0" smtClean="0">
              <a:latin typeface="+mn-lt"/>
            </a:endParaRPr>
          </a:p>
          <a:p>
            <a:pPr marL="342900" indent="-342900">
              <a:lnSpc>
                <a:spcPct val="150000"/>
              </a:lnSpc>
              <a:buAutoNum type="arabicPeriod"/>
            </a:pPr>
            <a:r>
              <a:rPr lang="en-US" sz="1300" dirty="0" err="1" smtClean="0">
                <a:latin typeface="+mn-lt"/>
              </a:rPr>
              <a:t>OrigLoanSize</a:t>
            </a:r>
            <a:r>
              <a:rPr lang="en-US" sz="1300" dirty="0" smtClean="0">
                <a:latin typeface="+mn-lt"/>
              </a:rPr>
              <a:t>: </a:t>
            </a:r>
            <a:r>
              <a:rPr lang="en-US" sz="1300" dirty="0" smtClean="0">
                <a:latin typeface="+mn-lt"/>
              </a:rPr>
              <a:t>A lower </a:t>
            </a:r>
            <a:r>
              <a:rPr lang="en-US" sz="1300" dirty="0" smtClean="0">
                <a:latin typeface="+mn-lt"/>
              </a:rPr>
              <a:t>loan </a:t>
            </a:r>
            <a:r>
              <a:rPr lang="en-US" sz="1300" dirty="0" smtClean="0">
                <a:latin typeface="+mn-lt"/>
              </a:rPr>
              <a:t>size is associated </a:t>
            </a:r>
            <a:r>
              <a:rPr lang="en-US" sz="1300" dirty="0" smtClean="0">
                <a:latin typeface="+mn-lt"/>
              </a:rPr>
              <a:t>with </a:t>
            </a:r>
            <a:r>
              <a:rPr lang="en-US" sz="1300" dirty="0" smtClean="0">
                <a:latin typeface="+mn-lt"/>
              </a:rPr>
              <a:t>a higher </a:t>
            </a:r>
            <a:r>
              <a:rPr lang="en-US" sz="1300" dirty="0" smtClean="0">
                <a:latin typeface="+mn-lt"/>
              </a:rPr>
              <a:t>chance </a:t>
            </a:r>
            <a:r>
              <a:rPr lang="en-US" sz="1300" dirty="0" smtClean="0">
                <a:latin typeface="+mn-lt"/>
              </a:rPr>
              <a:t>that a </a:t>
            </a:r>
            <a:r>
              <a:rPr lang="en-US" sz="1300" dirty="0" smtClean="0">
                <a:latin typeface="+mn-lt"/>
              </a:rPr>
              <a:t>loan is </a:t>
            </a:r>
            <a:r>
              <a:rPr lang="en-US" sz="1300" dirty="0" err="1" smtClean="0">
                <a:latin typeface="+mn-lt"/>
              </a:rPr>
              <a:t>HARPed</a:t>
            </a:r>
            <a:r>
              <a:rPr lang="en-US" sz="1300" dirty="0" smtClean="0">
                <a:latin typeface="+mn-lt"/>
              </a:rPr>
              <a:t>.</a:t>
            </a:r>
          </a:p>
        </p:txBody>
      </p:sp>
      <p:cxnSp>
        <p:nvCxnSpPr>
          <p:cNvPr id="22" name="Straight Connector 21"/>
          <p:cNvCxnSpPr/>
          <p:nvPr/>
        </p:nvCxnSpPr>
        <p:spPr>
          <a:xfrm>
            <a:off x="578430" y="3954310"/>
            <a:ext cx="28194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78430" y="5336358"/>
            <a:ext cx="9064680" cy="1292662"/>
          </a:xfrm>
          <a:prstGeom prst="rect">
            <a:avLst/>
          </a:prstGeom>
          <a:noFill/>
        </p:spPr>
        <p:txBody>
          <a:bodyPr wrap="square" rtlCol="0">
            <a:spAutoFit/>
          </a:bodyPr>
          <a:lstStyle/>
          <a:p>
            <a:pPr>
              <a:lnSpc>
                <a:spcPct val="150000"/>
              </a:lnSpc>
            </a:pPr>
            <a:r>
              <a:rPr lang="en-US" sz="1300" dirty="0" err="1" smtClean="0">
                <a:latin typeface="+mn-lt"/>
              </a:rPr>
              <a:t>Refinanceable</a:t>
            </a:r>
            <a:r>
              <a:rPr lang="en-US" sz="1300" dirty="0" smtClean="0">
                <a:latin typeface="+mn-lt"/>
              </a:rPr>
              <a:t> Universe Indexes:</a:t>
            </a:r>
            <a:endParaRPr lang="en-US" sz="1300" dirty="0" smtClean="0">
              <a:latin typeface="+mn-lt"/>
            </a:endParaRPr>
          </a:p>
          <a:p>
            <a:pPr marL="342900" indent="-342900">
              <a:lnSpc>
                <a:spcPct val="150000"/>
              </a:lnSpc>
              <a:buAutoNum type="arabicPeriod"/>
            </a:pPr>
            <a:r>
              <a:rPr lang="en-US" sz="1300" dirty="0" err="1" smtClean="0">
                <a:latin typeface="+mn-lt"/>
              </a:rPr>
              <a:t>Refinanceable</a:t>
            </a:r>
            <a:r>
              <a:rPr lang="en-US" sz="1300" dirty="0" smtClean="0">
                <a:latin typeface="+mn-lt"/>
              </a:rPr>
              <a:t> </a:t>
            </a:r>
            <a:r>
              <a:rPr lang="en-US" sz="1300" dirty="0" smtClean="0">
                <a:latin typeface="+mn-lt"/>
              </a:rPr>
              <a:t>Percentage: The percentage of </a:t>
            </a:r>
            <a:r>
              <a:rPr lang="en-US" sz="1300" dirty="0" smtClean="0">
                <a:latin typeface="+mn-lt"/>
              </a:rPr>
              <a:t>all loans </a:t>
            </a:r>
            <a:r>
              <a:rPr lang="en-US" sz="1300" dirty="0" smtClean="0">
                <a:latin typeface="+mn-lt"/>
              </a:rPr>
              <a:t>that </a:t>
            </a:r>
            <a:r>
              <a:rPr lang="en-US" sz="1300" dirty="0" smtClean="0">
                <a:latin typeface="+mn-lt"/>
              </a:rPr>
              <a:t>have </a:t>
            </a:r>
            <a:r>
              <a:rPr lang="en-US" sz="1300" dirty="0" smtClean="0">
                <a:latin typeface="+mn-lt"/>
              </a:rPr>
              <a:t>&gt; </a:t>
            </a:r>
            <a:r>
              <a:rPr lang="en-US" sz="1300" dirty="0" smtClean="0">
                <a:latin typeface="+mn-lt"/>
              </a:rPr>
              <a:t>50bps </a:t>
            </a:r>
            <a:r>
              <a:rPr lang="en-US" sz="1300" dirty="0" smtClean="0">
                <a:latin typeface="+mn-lt"/>
              </a:rPr>
              <a:t>incentive to refinance. When the </a:t>
            </a:r>
            <a:r>
              <a:rPr lang="en-US" sz="1300" dirty="0" smtClean="0">
                <a:latin typeface="+mn-lt"/>
              </a:rPr>
              <a:t>Refi </a:t>
            </a:r>
            <a:r>
              <a:rPr lang="en-US" sz="1300" dirty="0" smtClean="0">
                <a:latin typeface="+mn-lt"/>
              </a:rPr>
              <a:t>% is higher</a:t>
            </a:r>
            <a:r>
              <a:rPr lang="en-US" sz="1300" dirty="0" smtClean="0">
                <a:latin typeface="+mn-lt"/>
              </a:rPr>
              <a:t>, </a:t>
            </a:r>
            <a:r>
              <a:rPr lang="en-US" sz="1300" dirty="0" smtClean="0">
                <a:latin typeface="+mn-lt"/>
              </a:rPr>
              <a:t>the </a:t>
            </a:r>
            <a:r>
              <a:rPr lang="en-US" sz="1300" dirty="0" err="1" smtClean="0">
                <a:latin typeface="+mn-lt"/>
              </a:rPr>
              <a:t>HARPed</a:t>
            </a:r>
            <a:r>
              <a:rPr lang="en-US" sz="1300" dirty="0" smtClean="0">
                <a:latin typeface="+mn-lt"/>
              </a:rPr>
              <a:t> </a:t>
            </a:r>
            <a:r>
              <a:rPr lang="en-US" sz="1300" dirty="0" smtClean="0">
                <a:latin typeface="+mn-lt"/>
              </a:rPr>
              <a:t>% </a:t>
            </a:r>
            <a:r>
              <a:rPr lang="en-US" sz="1300" dirty="0" smtClean="0">
                <a:latin typeface="+mn-lt"/>
              </a:rPr>
              <a:t>of</a:t>
            </a:r>
            <a:r>
              <a:rPr lang="en-US" sz="1300" dirty="0" smtClean="0">
                <a:latin typeface="+mn-lt"/>
              </a:rPr>
              <a:t> </a:t>
            </a:r>
            <a:r>
              <a:rPr lang="en-US" sz="1300" dirty="0" smtClean="0">
                <a:latin typeface="+mn-lt"/>
              </a:rPr>
              <a:t>all refinance loans </a:t>
            </a:r>
            <a:r>
              <a:rPr lang="en-US" sz="1300" dirty="0" smtClean="0">
                <a:latin typeface="+mn-lt"/>
              </a:rPr>
              <a:t>is</a:t>
            </a:r>
            <a:r>
              <a:rPr lang="en-US" sz="1300" dirty="0" smtClean="0">
                <a:latin typeface="+mn-lt"/>
              </a:rPr>
              <a:t> lower (HARP-eligible loans prepay less dynamically than non-HARP-eligible loans) .</a:t>
            </a:r>
            <a:endParaRPr lang="en-US" sz="1300" dirty="0" smtClean="0">
              <a:latin typeface="+mn-lt"/>
            </a:endParaRPr>
          </a:p>
          <a:p>
            <a:pPr marL="342900" indent="-342900">
              <a:lnSpc>
                <a:spcPct val="150000"/>
              </a:lnSpc>
              <a:buAutoNum type="arabicPeriod"/>
            </a:pPr>
            <a:r>
              <a:rPr lang="en-US" sz="1300" dirty="0" smtClean="0">
                <a:latin typeface="+mn-lt"/>
              </a:rPr>
              <a:t>HARP Eligible Percentage: </a:t>
            </a:r>
            <a:r>
              <a:rPr lang="en-US" sz="1300" dirty="0" smtClean="0">
                <a:latin typeface="+mn-lt"/>
              </a:rPr>
              <a:t>Higher</a:t>
            </a:r>
            <a:r>
              <a:rPr lang="en-US" sz="1300" dirty="0" smtClean="0">
                <a:latin typeface="+mn-lt"/>
              </a:rPr>
              <a:t> ratios imply that the </a:t>
            </a:r>
            <a:r>
              <a:rPr lang="en-US" sz="1300" dirty="0" smtClean="0">
                <a:latin typeface="+mn-lt"/>
              </a:rPr>
              <a:t>probability of </a:t>
            </a:r>
            <a:r>
              <a:rPr lang="en-US" sz="1300" dirty="0" smtClean="0">
                <a:latin typeface="+mn-lt"/>
              </a:rPr>
              <a:t>a loans being </a:t>
            </a:r>
            <a:r>
              <a:rPr lang="en-US" sz="1300" dirty="0" err="1" smtClean="0">
                <a:latin typeface="+mn-lt"/>
              </a:rPr>
              <a:t>HARPed</a:t>
            </a:r>
            <a:r>
              <a:rPr lang="en-US" sz="1300" dirty="0" smtClean="0">
                <a:latin typeface="+mn-lt"/>
              </a:rPr>
              <a:t> </a:t>
            </a:r>
            <a:r>
              <a:rPr lang="en-US" sz="1300" dirty="0" smtClean="0">
                <a:latin typeface="+mn-lt"/>
              </a:rPr>
              <a:t>is higher</a:t>
            </a:r>
            <a:r>
              <a:rPr lang="en-US" sz="1300" dirty="0" smtClean="0">
                <a:latin typeface="+mn-lt"/>
              </a:rPr>
              <a:t>.</a:t>
            </a:r>
          </a:p>
        </p:txBody>
      </p:sp>
      <p:cxnSp>
        <p:nvCxnSpPr>
          <p:cNvPr id="24" name="Straight Connector 23"/>
          <p:cNvCxnSpPr/>
          <p:nvPr/>
        </p:nvCxnSpPr>
        <p:spPr>
          <a:xfrm>
            <a:off x="632460" y="5691670"/>
            <a:ext cx="2816352"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3854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IDENTIFYING </a:t>
            </a:r>
            <a:r>
              <a:rPr lang="en-US" sz="1600" dirty="0" err="1" smtClean="0">
                <a:latin typeface="+mn-lt"/>
              </a:rPr>
              <a:t>HARPed</a:t>
            </a:r>
            <a:r>
              <a:rPr lang="en-US" sz="1600" dirty="0" smtClean="0">
                <a:latin typeface="+mn-lt"/>
              </a:rPr>
              <a:t> LOANS WITH LTV &lt;= 80% </a:t>
            </a:r>
            <a:r>
              <a:rPr lang="en-US" sz="1600" dirty="0" smtClean="0">
                <a:latin typeface="+mn-lt"/>
              </a:rPr>
              <a:t/>
            </a:r>
            <a:br>
              <a:rPr lang="en-US" sz="1600" dirty="0" smtClean="0">
                <a:latin typeface="+mn-lt"/>
              </a:rPr>
            </a:br>
            <a:r>
              <a:rPr lang="en-US" sz="1600" dirty="0" smtClean="0">
                <a:latin typeface="+mn-lt"/>
              </a:rPr>
              <a:t>Model Results</a:t>
            </a:r>
            <a:endParaRPr lang="en-US" sz="1600" dirty="0">
              <a:latin typeface="+mn-lt"/>
            </a:endParaRPr>
          </a:p>
        </p:txBody>
      </p:sp>
      <p:sp>
        <p:nvSpPr>
          <p:cNvPr id="11" name="Rectangle 10"/>
          <p:cNvSpPr/>
          <p:nvPr/>
        </p:nvSpPr>
        <p:spPr>
          <a:xfrm>
            <a:off x="261538" y="1148001"/>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p:nvPr/>
        </p:nvCxnSpPr>
        <p:spPr>
          <a:xfrm>
            <a:off x="261538" y="1749981"/>
            <a:ext cx="92825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33037" y="1287185"/>
            <a:ext cx="4069080" cy="307777"/>
          </a:xfrm>
          <a:prstGeom prst="rect">
            <a:avLst/>
          </a:prstGeom>
          <a:noFill/>
        </p:spPr>
        <p:txBody>
          <a:bodyPr wrap="square" rtlCol="0">
            <a:spAutoFit/>
          </a:bodyPr>
          <a:lstStyle/>
          <a:p>
            <a:r>
              <a:rPr lang="en-US" sz="1400" b="1" dirty="0" smtClean="0">
                <a:latin typeface="+mn-lt"/>
              </a:rPr>
              <a:t>Logistic Regression Model for HARP Percentage </a:t>
            </a:r>
            <a:endParaRPr lang="en-US" sz="1400" b="1" dirty="0">
              <a:latin typeface="+mn-lt"/>
            </a:endParaRPr>
          </a:p>
        </p:txBody>
      </p:sp>
      <p:sp>
        <p:nvSpPr>
          <p:cNvPr id="14" name="TextBox 13"/>
          <p:cNvSpPr txBox="1"/>
          <p:nvPr/>
        </p:nvSpPr>
        <p:spPr>
          <a:xfrm>
            <a:off x="479370" y="1907194"/>
            <a:ext cx="9064680" cy="692497"/>
          </a:xfrm>
          <a:prstGeom prst="rect">
            <a:avLst/>
          </a:prstGeom>
          <a:noFill/>
        </p:spPr>
        <p:txBody>
          <a:bodyPr wrap="square" rtlCol="0">
            <a:spAutoFit/>
          </a:bodyPr>
          <a:lstStyle/>
          <a:p>
            <a:pPr>
              <a:lnSpc>
                <a:spcPct val="150000"/>
              </a:lnSpc>
            </a:pPr>
            <a:r>
              <a:rPr lang="en-US" sz="1300" dirty="0" smtClean="0">
                <a:latin typeface="+mn-lt"/>
              </a:rPr>
              <a:t>The </a:t>
            </a:r>
            <a:r>
              <a:rPr lang="en-US" sz="1300" dirty="0" smtClean="0">
                <a:latin typeface="+mn-lt"/>
              </a:rPr>
              <a:t>graph below represents an</a:t>
            </a:r>
            <a:r>
              <a:rPr lang="en-US" sz="1300" dirty="0" smtClean="0">
                <a:latin typeface="+mn-lt"/>
              </a:rPr>
              <a:t> out-of</a:t>
            </a:r>
            <a:r>
              <a:rPr lang="en-US" sz="1300" dirty="0">
                <a:latin typeface="+mn-lt"/>
              </a:rPr>
              <a:t>-</a:t>
            </a:r>
            <a:r>
              <a:rPr lang="en-US" sz="1300" dirty="0" smtClean="0">
                <a:latin typeface="+mn-lt"/>
              </a:rPr>
              <a:t>sample </a:t>
            </a:r>
            <a:r>
              <a:rPr lang="en-US" sz="1300" dirty="0" smtClean="0">
                <a:latin typeface="+mn-lt"/>
              </a:rPr>
              <a:t>test of </a:t>
            </a:r>
            <a:r>
              <a:rPr lang="en-US" sz="1300" dirty="0" smtClean="0">
                <a:latin typeface="+mn-lt"/>
              </a:rPr>
              <a:t>our regression model. </a:t>
            </a:r>
            <a:r>
              <a:rPr lang="en-US" sz="1300" dirty="0" smtClean="0">
                <a:latin typeface="+mn-lt"/>
              </a:rPr>
              <a:t>The model is trained using</a:t>
            </a:r>
            <a:r>
              <a:rPr lang="en-US" sz="1300" dirty="0" smtClean="0">
                <a:latin typeface="+mn-lt"/>
              </a:rPr>
              <a:t> </a:t>
            </a:r>
            <a:r>
              <a:rPr lang="en-US" sz="1300" dirty="0" smtClean="0">
                <a:latin typeface="+mn-lt"/>
              </a:rPr>
              <a:t>80% of </a:t>
            </a:r>
            <a:r>
              <a:rPr lang="en-US" sz="1300" dirty="0" err="1" smtClean="0">
                <a:latin typeface="+mn-lt"/>
              </a:rPr>
              <a:t>HARPed</a:t>
            </a:r>
            <a:r>
              <a:rPr lang="en-US" sz="1300" dirty="0" smtClean="0">
                <a:latin typeface="+mn-lt"/>
              </a:rPr>
              <a:t> vs non-</a:t>
            </a:r>
            <a:r>
              <a:rPr lang="en-US" sz="1300" dirty="0" err="1" smtClean="0">
                <a:latin typeface="+mn-lt"/>
              </a:rPr>
              <a:t>HARPed</a:t>
            </a:r>
            <a:r>
              <a:rPr lang="en-US" sz="1300" dirty="0" smtClean="0">
                <a:latin typeface="+mn-lt"/>
              </a:rPr>
              <a:t> dataset, while holding out the remaining </a:t>
            </a:r>
            <a:r>
              <a:rPr lang="en-US" sz="1300" dirty="0" smtClean="0">
                <a:latin typeface="+mn-lt"/>
              </a:rPr>
              <a:t>20% as </a:t>
            </a:r>
            <a:r>
              <a:rPr lang="en-US" sz="1300" dirty="0" smtClean="0">
                <a:latin typeface="+mn-lt"/>
              </a:rPr>
              <a:t>out-of</a:t>
            </a:r>
            <a:r>
              <a:rPr lang="en-US" sz="1300" dirty="0">
                <a:latin typeface="+mn-lt"/>
              </a:rPr>
              <a:t>-</a:t>
            </a:r>
            <a:r>
              <a:rPr lang="en-US" sz="1300" dirty="0" smtClean="0">
                <a:latin typeface="+mn-lt"/>
              </a:rPr>
              <a:t>sample </a:t>
            </a:r>
            <a:r>
              <a:rPr lang="en-US" sz="1300" dirty="0" smtClean="0">
                <a:latin typeface="+mn-lt"/>
              </a:rPr>
              <a:t>test set. </a:t>
            </a:r>
          </a:p>
        </p:txBody>
      </p:sp>
      <p:graphicFrame>
        <p:nvGraphicFramePr>
          <p:cNvPr id="3" name="Chart 2"/>
          <p:cNvGraphicFramePr/>
          <p:nvPr>
            <p:extLst>
              <p:ext uri="{D42A27DB-BD31-4B8C-83A1-F6EECF244321}">
                <p14:modId xmlns:p14="http://schemas.microsoft.com/office/powerpoint/2010/main" val="3970845459"/>
              </p:ext>
            </p:extLst>
          </p:nvPr>
        </p:nvGraphicFramePr>
        <p:xfrm>
          <a:off x="640080" y="2899772"/>
          <a:ext cx="8846820" cy="41639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12947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3933336229"/>
              </p:ext>
            </p:extLst>
          </p:nvPr>
        </p:nvGraphicFramePr>
        <p:xfrm>
          <a:off x="595685" y="4276573"/>
          <a:ext cx="8674873"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RESULTS FROM THE FULL</a:t>
            </a:r>
            <a:r>
              <a:rPr lang="en-US" sz="1600" dirty="0" smtClean="0">
                <a:latin typeface="+mn-lt"/>
              </a:rPr>
              <a:t> </a:t>
            </a:r>
            <a:r>
              <a:rPr lang="en-US" sz="1600" dirty="0" smtClean="0">
                <a:latin typeface="+mn-lt"/>
              </a:rPr>
              <a:t>ALGORITHM</a:t>
            </a:r>
            <a:br>
              <a:rPr lang="en-US" sz="1600" dirty="0" smtClean="0">
                <a:latin typeface="+mn-lt"/>
              </a:rPr>
            </a:br>
            <a:endParaRPr lang="en-US" sz="1600" dirty="0">
              <a:latin typeface="+mn-lt"/>
            </a:endParaRPr>
          </a:p>
        </p:txBody>
      </p:sp>
      <p:graphicFrame>
        <p:nvGraphicFramePr>
          <p:cNvPr id="75" name="Chart 74"/>
          <p:cNvGraphicFramePr/>
          <p:nvPr>
            <p:extLst>
              <p:ext uri="{D42A27DB-BD31-4B8C-83A1-F6EECF244321}">
                <p14:modId xmlns:p14="http://schemas.microsoft.com/office/powerpoint/2010/main" val="2216656629"/>
              </p:ext>
            </p:extLst>
          </p:nvPr>
        </p:nvGraphicFramePr>
        <p:xfrm>
          <a:off x="699715" y="960780"/>
          <a:ext cx="8674873"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Box 80"/>
          <p:cNvSpPr txBox="1"/>
          <p:nvPr/>
        </p:nvSpPr>
        <p:spPr>
          <a:xfrm>
            <a:off x="4096248" y="314207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82" name="TextBox 81"/>
          <p:cNvSpPr txBox="1"/>
          <p:nvPr/>
        </p:nvSpPr>
        <p:spPr>
          <a:xfrm>
            <a:off x="6129131" y="2054488"/>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3" name="TextBox 82"/>
          <p:cNvSpPr txBox="1"/>
          <p:nvPr/>
        </p:nvSpPr>
        <p:spPr>
          <a:xfrm>
            <a:off x="5430741" y="1324157"/>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4" name="TextBox 83"/>
          <p:cNvSpPr txBox="1"/>
          <p:nvPr/>
        </p:nvSpPr>
        <p:spPr>
          <a:xfrm>
            <a:off x="2630227" y="1117950"/>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6" name="TextBox 85"/>
          <p:cNvSpPr txBox="1"/>
          <p:nvPr/>
        </p:nvSpPr>
        <p:spPr>
          <a:xfrm>
            <a:off x="6183134" y="534751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7" name="TextBox 86"/>
          <p:cNvSpPr txBox="1"/>
          <p:nvPr/>
        </p:nvSpPr>
        <p:spPr>
          <a:xfrm>
            <a:off x="5569558" y="461718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8" name="TextBox 87"/>
          <p:cNvSpPr txBox="1"/>
          <p:nvPr/>
        </p:nvSpPr>
        <p:spPr>
          <a:xfrm>
            <a:off x="2430118" y="443298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9" name="Isosceles Triangle 88"/>
          <p:cNvSpPr/>
          <p:nvPr/>
        </p:nvSpPr>
        <p:spPr>
          <a:xfrm rot="10800000">
            <a:off x="3587694" y="400429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p:cNvSpPr txBox="1"/>
          <p:nvPr/>
        </p:nvSpPr>
        <p:spPr>
          <a:xfrm>
            <a:off x="3776208" y="390808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sp>
        <p:nvSpPr>
          <p:cNvPr id="18" name="TextBox 17"/>
          <p:cNvSpPr txBox="1"/>
          <p:nvPr/>
        </p:nvSpPr>
        <p:spPr>
          <a:xfrm>
            <a:off x="4096247" y="642629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Tree>
    <p:extLst>
      <p:ext uri="{BB962C8B-B14F-4D97-AF65-F5344CB8AC3E}">
        <p14:creationId xmlns:p14="http://schemas.microsoft.com/office/powerpoint/2010/main" val="107049046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87784</TotalTime>
  <Words>1192</Words>
  <Application>Microsoft Office PowerPoint</Application>
  <PresentationFormat>Custom</PresentationFormat>
  <Paragraphs>125</Paragraphs>
  <Slides>11</Slides>
  <Notes>1</Notes>
  <HiddenSlides>0</HiddenSlides>
  <MMClips>0</MMClips>
  <ScaleCrop>false</ScaleCrop>
  <HeadingPairs>
    <vt:vector size="4" baseType="variant">
      <vt:variant>
        <vt:lpstr>Theme</vt:lpstr>
      </vt:variant>
      <vt:variant>
        <vt:i4>15</vt:i4>
      </vt:variant>
      <vt:variant>
        <vt:lpstr>Slide Titles</vt:lpstr>
      </vt:variant>
      <vt:variant>
        <vt:i4>11</vt:i4>
      </vt:variant>
    </vt:vector>
  </HeadingPairs>
  <TitlesOfParts>
    <vt:vector size="26"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OVERVIEW OF HARP AND STREAMLINE REFI PROGRAMS </vt:lpstr>
      <vt:lpstr>INTRODUCTION</vt:lpstr>
      <vt:lpstr>EXISTING ALGORITHM I MI Matching Method</vt:lpstr>
      <vt:lpstr>EXISTING ALGORITHM II Credit Dataset Mapping Method</vt:lpstr>
      <vt:lpstr>EXISTING ALGORITHM II Results from the Credit Dataset Mapping Method</vt:lpstr>
      <vt:lpstr>ENHANCED ALGORITHM FOR RECENTLY ORIGINATED LOANS </vt:lpstr>
      <vt:lpstr>MI ALGORITHM APPLIED TO RECENTLY ORIGINATED LOANS WITH LTV &gt; 80% Is an Adjustment Needed?</vt:lpstr>
      <vt:lpstr>IDENTIFYING HARPed LOANS WITH LTV &lt;= 80% </vt:lpstr>
      <vt:lpstr>IDENTIFYING HARPed LOANS WITH LTV &lt;= 80%  Model Results</vt:lpstr>
      <vt:lpstr>RESULTS FROM THE FULL ALGORITHM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2122</cp:revision>
  <cp:lastPrinted>2014-08-14T21:45:56Z</cp:lastPrinted>
  <dcterms:created xsi:type="dcterms:W3CDTF">2011-07-07T12:37:32Z</dcterms:created>
  <dcterms:modified xsi:type="dcterms:W3CDTF">2016-02-11T14:19:49Z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