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7"/>
  </p:notesMasterIdLst>
  <p:handoutMasterIdLst>
    <p:handoutMasterId r:id="rId28"/>
  </p:handoutMasterIdLst>
  <p:sldIdLst>
    <p:sldId id="433" r:id="rId16"/>
    <p:sldId id="603" r:id="rId17"/>
    <p:sldId id="612" r:id="rId18"/>
    <p:sldId id="604" r:id="rId19"/>
    <p:sldId id="605" r:id="rId20"/>
    <p:sldId id="606" r:id="rId21"/>
    <p:sldId id="613" r:id="rId22"/>
    <p:sldId id="607" r:id="rId23"/>
    <p:sldId id="614" r:id="rId24"/>
    <p:sldId id="615" r:id="rId25"/>
    <p:sldId id="608" r:id="rId26"/>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E2F6ED"/>
    <a:srgbClr val="AD275C"/>
    <a:srgbClr val="F6D6E3"/>
    <a:srgbClr val="2E398A"/>
    <a:srgbClr val="C8C42D"/>
    <a:srgbClr val="8C2B18"/>
    <a:srgbClr val="C3EBD9"/>
    <a:srgbClr val="CDD1E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25" d="100"/>
          <a:sy n="125" d="100"/>
        </p:scale>
        <p:origin x="-816" y="-600"/>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17.HARP%20Status\Adjustment%20Factor%20Analysis_FirstPaymentDate.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Lien%20Workspace\17.HARP%20Status\Adjustment%20Factor%20Analysis_FirstPaymentDate.xlsx" TargetMode="Externa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144552320"/>
        <c:axId val="144554624"/>
      </c:areaChart>
      <c:dateAx>
        <c:axId val="144552320"/>
        <c:scaling>
          <c:orientation val="minMax"/>
        </c:scaling>
        <c:delete val="0"/>
        <c:axPos val="b"/>
        <c:numFmt formatCode="m/d/yyyy" sourceLinked="1"/>
        <c:majorTickMark val="out"/>
        <c:minorTickMark val="none"/>
        <c:tickLblPos val="nextTo"/>
        <c:crossAx val="144554624"/>
        <c:crosses val="autoZero"/>
        <c:auto val="1"/>
        <c:lblOffset val="100"/>
        <c:baseTimeUnit val="months"/>
        <c:majorUnit val="12"/>
        <c:majorTimeUnit val="months"/>
      </c:dateAx>
      <c:valAx>
        <c:axId val="144554624"/>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44552320"/>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a:t>Ratio Algo II/Algo I (LTV &gt; 80)</a:t>
            </a:r>
          </a:p>
        </c:rich>
      </c:tx>
      <c:layout/>
      <c:overlay val="0"/>
    </c:title>
    <c:autoTitleDeleted val="0"/>
    <c:plotArea>
      <c:layout/>
      <c:barChart>
        <c:barDir val="col"/>
        <c:grouping val="clustered"/>
        <c:varyColors val="0"/>
        <c:ser>
          <c:idx val="0"/>
          <c:order val="0"/>
          <c:tx>
            <c:strRef>
              <c:f>'&gt;80 LTV'!$AF$5</c:f>
              <c:strCache>
                <c:ptCount val="1"/>
                <c:pt idx="0">
                  <c:v>HARP-I</c:v>
                </c:pt>
              </c:strCache>
            </c:strRef>
          </c:tx>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LTV'!$AF$6:$AF$62</c:f>
              <c:numCache>
                <c:formatCode>General</c:formatCode>
                <c:ptCount val="57"/>
                <c:pt idx="0">
                  <c:v>4272</c:v>
                </c:pt>
                <c:pt idx="1">
                  <c:v>9557</c:v>
                </c:pt>
                <c:pt idx="2">
                  <c:v>15810</c:v>
                </c:pt>
                <c:pt idx="3">
                  <c:v>14494</c:v>
                </c:pt>
                <c:pt idx="4">
                  <c:v>9396</c:v>
                </c:pt>
                <c:pt idx="5">
                  <c:v>7014</c:v>
                </c:pt>
                <c:pt idx="6">
                  <c:v>9189</c:v>
                </c:pt>
                <c:pt idx="7">
                  <c:v>11722</c:v>
                </c:pt>
                <c:pt idx="8">
                  <c:v>13737</c:v>
                </c:pt>
                <c:pt idx="9">
                  <c:v>12676</c:v>
                </c:pt>
                <c:pt idx="10">
                  <c:v>9563</c:v>
                </c:pt>
                <c:pt idx="11">
                  <c:v>11244</c:v>
                </c:pt>
                <c:pt idx="12">
                  <c:v>10360</c:v>
                </c:pt>
                <c:pt idx="13">
                  <c:v>7944</c:v>
                </c:pt>
                <c:pt idx="14">
                  <c:v>10171</c:v>
                </c:pt>
                <c:pt idx="15">
                  <c:v>12608</c:v>
                </c:pt>
                <c:pt idx="16">
                  <c:v>14205</c:v>
                </c:pt>
                <c:pt idx="17">
                  <c:v>15045</c:v>
                </c:pt>
                <c:pt idx="18">
                  <c:v>17054</c:v>
                </c:pt>
                <c:pt idx="19">
                  <c:v>18502</c:v>
                </c:pt>
                <c:pt idx="20">
                  <c:v>17396</c:v>
                </c:pt>
                <c:pt idx="21">
                  <c:v>15213</c:v>
                </c:pt>
                <c:pt idx="22">
                  <c:v>10593</c:v>
                </c:pt>
                <c:pt idx="23">
                  <c:v>7420</c:v>
                </c:pt>
                <c:pt idx="24">
                  <c:v>6376</c:v>
                </c:pt>
                <c:pt idx="25">
                  <c:v>5524</c:v>
                </c:pt>
                <c:pt idx="26">
                  <c:v>6163</c:v>
                </c:pt>
                <c:pt idx="27">
                  <c:v>6608</c:v>
                </c:pt>
                <c:pt idx="28">
                  <c:v>6814</c:v>
                </c:pt>
                <c:pt idx="29">
                  <c:v>7897</c:v>
                </c:pt>
                <c:pt idx="30">
                  <c:v>9245</c:v>
                </c:pt>
                <c:pt idx="31">
                  <c:v>9831</c:v>
                </c:pt>
                <c:pt idx="32">
                  <c:v>9082</c:v>
                </c:pt>
                <c:pt idx="33">
                  <c:v>11001</c:v>
                </c:pt>
                <c:pt idx="34">
                  <c:v>14080</c:v>
                </c:pt>
                <c:pt idx="35">
                  <c:v>13189</c:v>
                </c:pt>
                <c:pt idx="36">
                  <c:v>12382</c:v>
                </c:pt>
                <c:pt idx="37">
                  <c:v>13178</c:v>
                </c:pt>
                <c:pt idx="38">
                  <c:v>13092</c:v>
                </c:pt>
                <c:pt idx="39">
                  <c:v>13246</c:v>
                </c:pt>
                <c:pt idx="40">
                  <c:v>14068</c:v>
                </c:pt>
                <c:pt idx="41">
                  <c:v>13316</c:v>
                </c:pt>
                <c:pt idx="42">
                  <c:v>15936</c:v>
                </c:pt>
                <c:pt idx="43">
                  <c:v>13955</c:v>
                </c:pt>
                <c:pt idx="44">
                  <c:v>14118</c:v>
                </c:pt>
                <c:pt idx="45">
                  <c:v>15173</c:v>
                </c:pt>
                <c:pt idx="46">
                  <c:v>15258</c:v>
                </c:pt>
                <c:pt idx="47">
                  <c:v>15539</c:v>
                </c:pt>
                <c:pt idx="48">
                  <c:v>14591</c:v>
                </c:pt>
                <c:pt idx="49">
                  <c:v>13308</c:v>
                </c:pt>
                <c:pt idx="50">
                  <c:v>11511</c:v>
                </c:pt>
                <c:pt idx="51">
                  <c:v>10589</c:v>
                </c:pt>
                <c:pt idx="52">
                  <c:v>8489</c:v>
                </c:pt>
                <c:pt idx="53">
                  <c:v>6264</c:v>
                </c:pt>
                <c:pt idx="54">
                  <c:v>5421</c:v>
                </c:pt>
                <c:pt idx="55">
                  <c:v>4753</c:v>
                </c:pt>
                <c:pt idx="56">
                  <c:v>4811</c:v>
                </c:pt>
              </c:numCache>
            </c:numRef>
          </c:val>
        </c:ser>
        <c:ser>
          <c:idx val="1"/>
          <c:order val="1"/>
          <c:tx>
            <c:strRef>
              <c:f>'&gt;80 LTV'!$AG$5</c:f>
              <c:strCache>
                <c:ptCount val="1"/>
                <c:pt idx="0">
                  <c:v>HARP-II</c:v>
                </c:pt>
              </c:strCache>
            </c:strRef>
          </c:tx>
          <c:spPr>
            <a:solidFill>
              <a:schemeClr val="bg2">
                <a:lumMod val="75000"/>
              </a:schemeClr>
            </a:solidFill>
          </c:spPr>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LTV'!$AG$6:$AG$62</c:f>
              <c:numCache>
                <c:formatCode>General</c:formatCode>
                <c:ptCount val="57"/>
                <c:pt idx="0">
                  <c:v>3673</c:v>
                </c:pt>
                <c:pt idx="1">
                  <c:v>9247</c:v>
                </c:pt>
                <c:pt idx="2">
                  <c:v>15370</c:v>
                </c:pt>
                <c:pt idx="3">
                  <c:v>14029</c:v>
                </c:pt>
                <c:pt idx="4">
                  <c:v>9135</c:v>
                </c:pt>
                <c:pt idx="5">
                  <c:v>6784</c:v>
                </c:pt>
                <c:pt idx="6">
                  <c:v>8893</c:v>
                </c:pt>
                <c:pt idx="7">
                  <c:v>11371</c:v>
                </c:pt>
                <c:pt idx="8">
                  <c:v>13463</c:v>
                </c:pt>
                <c:pt idx="9">
                  <c:v>12639</c:v>
                </c:pt>
                <c:pt idx="10">
                  <c:v>9607</c:v>
                </c:pt>
                <c:pt idx="11">
                  <c:v>11233</c:v>
                </c:pt>
                <c:pt idx="12">
                  <c:v>10354</c:v>
                </c:pt>
                <c:pt idx="13">
                  <c:v>7969</c:v>
                </c:pt>
                <c:pt idx="14">
                  <c:v>10240</c:v>
                </c:pt>
                <c:pt idx="15">
                  <c:v>12706</c:v>
                </c:pt>
                <c:pt idx="16">
                  <c:v>14514</c:v>
                </c:pt>
                <c:pt idx="17">
                  <c:v>15385</c:v>
                </c:pt>
                <c:pt idx="18">
                  <c:v>17435</c:v>
                </c:pt>
                <c:pt idx="19">
                  <c:v>18832</c:v>
                </c:pt>
                <c:pt idx="20">
                  <c:v>17593</c:v>
                </c:pt>
                <c:pt idx="21">
                  <c:v>15376</c:v>
                </c:pt>
                <c:pt idx="22">
                  <c:v>10725</c:v>
                </c:pt>
                <c:pt idx="23">
                  <c:v>7425</c:v>
                </c:pt>
                <c:pt idx="24">
                  <c:v>6431</c:v>
                </c:pt>
                <c:pt idx="25">
                  <c:v>5596</c:v>
                </c:pt>
                <c:pt idx="26">
                  <c:v>6287</c:v>
                </c:pt>
                <c:pt idx="27">
                  <c:v>6722</c:v>
                </c:pt>
                <c:pt idx="28">
                  <c:v>6917</c:v>
                </c:pt>
                <c:pt idx="29">
                  <c:v>8052</c:v>
                </c:pt>
                <c:pt idx="30">
                  <c:v>9402</c:v>
                </c:pt>
                <c:pt idx="31">
                  <c:v>9964</c:v>
                </c:pt>
                <c:pt idx="32">
                  <c:v>9237</c:v>
                </c:pt>
                <c:pt idx="33">
                  <c:v>11247</c:v>
                </c:pt>
                <c:pt idx="34">
                  <c:v>14409</c:v>
                </c:pt>
                <c:pt idx="35">
                  <c:v>13389</c:v>
                </c:pt>
                <c:pt idx="36">
                  <c:v>12542</c:v>
                </c:pt>
                <c:pt idx="37">
                  <c:v>13383</c:v>
                </c:pt>
                <c:pt idx="38">
                  <c:v>13357</c:v>
                </c:pt>
                <c:pt idx="39">
                  <c:v>13492</c:v>
                </c:pt>
                <c:pt idx="40">
                  <c:v>14252</c:v>
                </c:pt>
                <c:pt idx="41">
                  <c:v>13492</c:v>
                </c:pt>
                <c:pt idx="42">
                  <c:v>16216</c:v>
                </c:pt>
                <c:pt idx="43">
                  <c:v>14266</c:v>
                </c:pt>
                <c:pt idx="44">
                  <c:v>14429</c:v>
                </c:pt>
                <c:pt idx="45">
                  <c:v>15534</c:v>
                </c:pt>
                <c:pt idx="46">
                  <c:v>15566</c:v>
                </c:pt>
                <c:pt idx="47">
                  <c:v>15856</c:v>
                </c:pt>
                <c:pt idx="48">
                  <c:v>14917</c:v>
                </c:pt>
                <c:pt idx="49">
                  <c:v>13693</c:v>
                </c:pt>
                <c:pt idx="50">
                  <c:v>11861</c:v>
                </c:pt>
                <c:pt idx="51">
                  <c:v>10905</c:v>
                </c:pt>
                <c:pt idx="52">
                  <c:v>8808</c:v>
                </c:pt>
                <c:pt idx="53">
                  <c:v>6521</c:v>
                </c:pt>
                <c:pt idx="54">
                  <c:v>5615</c:v>
                </c:pt>
                <c:pt idx="55">
                  <c:v>4989</c:v>
                </c:pt>
                <c:pt idx="56">
                  <c:v>4958</c:v>
                </c:pt>
              </c:numCache>
            </c:numRef>
          </c:val>
        </c:ser>
        <c:dLbls>
          <c:showLegendKey val="0"/>
          <c:showVal val="0"/>
          <c:showCatName val="0"/>
          <c:showSerName val="0"/>
          <c:showPercent val="0"/>
          <c:showBubbleSize val="0"/>
        </c:dLbls>
        <c:gapWidth val="150"/>
        <c:axId val="141806208"/>
        <c:axId val="145335808"/>
      </c:barChart>
      <c:lineChart>
        <c:grouping val="standard"/>
        <c:varyColors val="0"/>
        <c:ser>
          <c:idx val="2"/>
          <c:order val="2"/>
          <c:tx>
            <c:strRef>
              <c:f>'&gt;80 LTV'!$AH$5</c:f>
              <c:strCache>
                <c:ptCount val="1"/>
                <c:pt idx="0">
                  <c:v>Ratio II/I</c:v>
                </c:pt>
              </c:strCache>
            </c:strRef>
          </c:tx>
          <c:spPr>
            <a:ln>
              <a:solidFill>
                <a:srgbClr val="C00000"/>
              </a:solidFill>
            </a:ln>
          </c:spPr>
          <c:marker>
            <c:symbol val="none"/>
          </c:marker>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LTV'!$AH$6:$AH$62</c:f>
              <c:numCache>
                <c:formatCode>General</c:formatCode>
                <c:ptCount val="57"/>
                <c:pt idx="0">
                  <c:v>0.85978464419475653</c:v>
                </c:pt>
                <c:pt idx="1">
                  <c:v>0.96756304279585648</c:v>
                </c:pt>
                <c:pt idx="2">
                  <c:v>0.97216951296647691</c:v>
                </c:pt>
                <c:pt idx="3">
                  <c:v>0.96791775907271971</c:v>
                </c:pt>
                <c:pt idx="4">
                  <c:v>0.97222222222222221</c:v>
                </c:pt>
                <c:pt idx="5">
                  <c:v>0.96720844026233244</c:v>
                </c:pt>
                <c:pt idx="6">
                  <c:v>0.96778757209707256</c:v>
                </c:pt>
                <c:pt idx="7">
                  <c:v>0.9700563043849173</c:v>
                </c:pt>
                <c:pt idx="8">
                  <c:v>0.98005386911261561</c:v>
                </c:pt>
                <c:pt idx="9">
                  <c:v>0.99708109813821399</c:v>
                </c:pt>
                <c:pt idx="10">
                  <c:v>1.0046010666108962</c:v>
                </c:pt>
                <c:pt idx="11">
                  <c:v>0.99902170046246885</c:v>
                </c:pt>
                <c:pt idx="12">
                  <c:v>0.99942084942084941</c:v>
                </c:pt>
                <c:pt idx="13">
                  <c:v>1.0031470292044311</c:v>
                </c:pt>
                <c:pt idx="14">
                  <c:v>1.0067839937076</c:v>
                </c:pt>
                <c:pt idx="15">
                  <c:v>1.007772842639594</c:v>
                </c:pt>
                <c:pt idx="16">
                  <c:v>1.021752903907075</c:v>
                </c:pt>
                <c:pt idx="17">
                  <c:v>1.0225988700564972</c:v>
                </c:pt>
                <c:pt idx="18">
                  <c:v>1.0223407998123608</c:v>
                </c:pt>
                <c:pt idx="19">
                  <c:v>1.0178359096313911</c:v>
                </c:pt>
                <c:pt idx="20">
                  <c:v>1.0113244424005519</c:v>
                </c:pt>
                <c:pt idx="21">
                  <c:v>1.0107145204759087</c:v>
                </c:pt>
                <c:pt idx="22">
                  <c:v>1.0124610591900312</c:v>
                </c:pt>
                <c:pt idx="23">
                  <c:v>1.0006738544474394</c:v>
                </c:pt>
                <c:pt idx="24">
                  <c:v>1.0086260978670012</c:v>
                </c:pt>
                <c:pt idx="25">
                  <c:v>1.0130340333091963</c:v>
                </c:pt>
                <c:pt idx="26">
                  <c:v>1.0201200713938017</c:v>
                </c:pt>
                <c:pt idx="27">
                  <c:v>1.0172518159806296</c:v>
                </c:pt>
                <c:pt idx="28">
                  <c:v>1.0151159377751688</c:v>
                </c:pt>
                <c:pt idx="29">
                  <c:v>1.0196277067240724</c:v>
                </c:pt>
                <c:pt idx="30">
                  <c:v>1.016982152514873</c:v>
                </c:pt>
                <c:pt idx="31">
                  <c:v>1.013528633913132</c:v>
                </c:pt>
                <c:pt idx="32">
                  <c:v>1.0170667253908832</c:v>
                </c:pt>
                <c:pt idx="33">
                  <c:v>1.0223616034905918</c:v>
                </c:pt>
                <c:pt idx="34">
                  <c:v>1.0233664772727273</c:v>
                </c:pt>
                <c:pt idx="35">
                  <c:v>1.0151641519448025</c:v>
                </c:pt>
                <c:pt idx="36">
                  <c:v>1.0129219835244709</c:v>
                </c:pt>
                <c:pt idx="37">
                  <c:v>1.0155562300804371</c:v>
                </c:pt>
                <c:pt idx="38">
                  <c:v>1.0202413687748244</c:v>
                </c:pt>
                <c:pt idx="39">
                  <c:v>1.0185716442699684</c:v>
                </c:pt>
                <c:pt idx="40">
                  <c:v>1.0130793289735569</c:v>
                </c:pt>
                <c:pt idx="41">
                  <c:v>1.0132171823370382</c:v>
                </c:pt>
                <c:pt idx="42">
                  <c:v>1.017570281124498</c:v>
                </c:pt>
                <c:pt idx="43">
                  <c:v>1.022285919025439</c:v>
                </c:pt>
                <c:pt idx="44">
                  <c:v>1.0220286159512679</c:v>
                </c:pt>
                <c:pt idx="45">
                  <c:v>1.0237922625716733</c:v>
                </c:pt>
                <c:pt idx="46">
                  <c:v>1.020186131865251</c:v>
                </c:pt>
                <c:pt idx="47">
                  <c:v>1.0204002831585044</c:v>
                </c:pt>
                <c:pt idx="48">
                  <c:v>1.0223425399218697</c:v>
                </c:pt>
                <c:pt idx="49">
                  <c:v>1.0289299669371808</c:v>
                </c:pt>
                <c:pt idx="50">
                  <c:v>1.0304056988967074</c:v>
                </c:pt>
                <c:pt idx="51">
                  <c:v>1.0298422891680046</c:v>
                </c:pt>
                <c:pt idx="52">
                  <c:v>1.0375780421722229</c:v>
                </c:pt>
                <c:pt idx="53">
                  <c:v>1.0410280970625798</c:v>
                </c:pt>
                <c:pt idx="54">
                  <c:v>1.0357867552112157</c:v>
                </c:pt>
                <c:pt idx="55">
                  <c:v>1.0496528508310541</c:v>
                </c:pt>
                <c:pt idx="56">
                  <c:v>1.0305549781750156</c:v>
                </c:pt>
              </c:numCache>
            </c:numRef>
          </c:val>
          <c:smooth val="0"/>
        </c:ser>
        <c:dLbls>
          <c:showLegendKey val="0"/>
          <c:showVal val="0"/>
          <c:showCatName val="0"/>
          <c:showSerName val="0"/>
          <c:showPercent val="0"/>
          <c:showBubbleSize val="0"/>
        </c:dLbls>
        <c:marker val="1"/>
        <c:smooth val="0"/>
        <c:axId val="145946880"/>
        <c:axId val="145937152"/>
      </c:lineChart>
      <c:dateAx>
        <c:axId val="141806208"/>
        <c:scaling>
          <c:orientation val="minMax"/>
        </c:scaling>
        <c:delete val="0"/>
        <c:axPos val="b"/>
        <c:numFmt formatCode="m/d/yyyy" sourceLinked="1"/>
        <c:majorTickMark val="out"/>
        <c:minorTickMark val="none"/>
        <c:tickLblPos val="nextTo"/>
        <c:crossAx val="145335808"/>
        <c:crosses val="autoZero"/>
        <c:auto val="1"/>
        <c:lblOffset val="100"/>
        <c:baseTimeUnit val="months"/>
        <c:majorUnit val="6"/>
        <c:majorTimeUnit val="months"/>
      </c:dateAx>
      <c:valAx>
        <c:axId val="145335808"/>
        <c:scaling>
          <c:orientation val="minMax"/>
        </c:scaling>
        <c:delete val="0"/>
        <c:axPos val="l"/>
        <c:majorGridlines/>
        <c:title>
          <c:tx>
            <c:rich>
              <a:bodyPr rot="-5400000" vert="horz"/>
              <a:lstStyle/>
              <a:p>
                <a:pPr>
                  <a:defRPr/>
                </a:pPr>
                <a:r>
                  <a:rPr lang="en-US"/>
                  <a:t>Loan Count</a:t>
                </a:r>
              </a:p>
            </c:rich>
          </c:tx>
          <c:layout/>
          <c:overlay val="0"/>
        </c:title>
        <c:numFmt formatCode="General" sourceLinked="1"/>
        <c:majorTickMark val="out"/>
        <c:minorTickMark val="none"/>
        <c:tickLblPos val="nextTo"/>
        <c:crossAx val="141806208"/>
        <c:crosses val="autoZero"/>
        <c:crossBetween val="between"/>
        <c:dispUnits>
          <c:builtInUnit val="thousands"/>
          <c:dispUnitsLbl>
            <c:layout/>
          </c:dispUnitsLbl>
        </c:dispUnits>
      </c:valAx>
      <c:valAx>
        <c:axId val="145937152"/>
        <c:scaling>
          <c:orientation val="minMax"/>
        </c:scaling>
        <c:delete val="0"/>
        <c:axPos val="r"/>
        <c:title>
          <c:tx>
            <c:rich>
              <a:bodyPr rot="-5400000" vert="horz"/>
              <a:lstStyle/>
              <a:p>
                <a:pPr>
                  <a:defRPr/>
                </a:pPr>
                <a:r>
                  <a:rPr lang="en-US"/>
                  <a:t>Ratio</a:t>
                </a:r>
              </a:p>
            </c:rich>
          </c:tx>
          <c:layout/>
          <c:overlay val="0"/>
        </c:title>
        <c:numFmt formatCode="General" sourceLinked="1"/>
        <c:majorTickMark val="out"/>
        <c:minorTickMark val="none"/>
        <c:tickLblPos val="nextTo"/>
        <c:crossAx val="145946880"/>
        <c:crosses val="max"/>
        <c:crossBetween val="between"/>
      </c:valAx>
      <c:dateAx>
        <c:axId val="145946880"/>
        <c:scaling>
          <c:orientation val="minMax"/>
        </c:scaling>
        <c:delete val="1"/>
        <c:axPos val="b"/>
        <c:numFmt formatCode="m/d/yyyy" sourceLinked="1"/>
        <c:majorTickMark val="out"/>
        <c:minorTickMark val="none"/>
        <c:tickLblPos val="nextTo"/>
        <c:crossAx val="145937152"/>
        <c:crosses val="autoZero"/>
        <c:auto val="1"/>
        <c:lblOffset val="100"/>
        <c:baseTimeUnit val="months"/>
      </c:dateAx>
    </c:plotArea>
    <c:legend>
      <c:legendPos val="b"/>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pPr>
            <a:r>
              <a:rPr lang="en-US" sz="1400"/>
              <a:t>Ratio HARP/Total</a:t>
            </a:r>
            <a:r>
              <a:rPr lang="en-US" sz="1400" baseline="0"/>
              <a:t> </a:t>
            </a:r>
            <a:r>
              <a:rPr lang="en-US" sz="1400"/>
              <a:t>Refi using Algo II (LTV &lt;= 80)</a:t>
            </a:r>
          </a:p>
        </c:rich>
      </c:tx>
      <c:layout/>
      <c:overlay val="0"/>
    </c:title>
    <c:autoTitleDeleted val="0"/>
    <c:plotArea>
      <c:layout/>
      <c:lineChart>
        <c:grouping val="standard"/>
        <c:varyColors val="0"/>
        <c:ser>
          <c:idx val="0"/>
          <c:order val="0"/>
          <c:tx>
            <c:strRef>
              <c:f>'&lt;80 LTV'!$AS$5</c:f>
              <c:strCache>
                <c:ptCount val="1"/>
                <c:pt idx="0">
                  <c:v>Ratio HARP/Refi</c:v>
                </c:pt>
              </c:strCache>
            </c:strRef>
          </c:tx>
          <c:marker>
            <c:symbol val="none"/>
          </c:marker>
          <c:cat>
            <c:numRef>
              <c:f>'&lt;80 LTV'!$AR$6:$AR$63</c:f>
              <c:numCache>
                <c:formatCode>m/d/yyyy</c:formatCode>
                <c:ptCount val="58"/>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pt idx="57">
                  <c:v>41699</c:v>
                </c:pt>
              </c:numCache>
            </c:numRef>
          </c:cat>
          <c:val>
            <c:numRef>
              <c:f>'&lt;80 LTV'!$AS$6:$AS$63</c:f>
              <c:numCache>
                <c:formatCode>0%</c:formatCode>
                <c:ptCount val="58"/>
                <c:pt idx="0">
                  <c:v>4.5711249327274835E-2</c:v>
                </c:pt>
                <c:pt idx="1">
                  <c:v>4.9449780192086915E-2</c:v>
                </c:pt>
                <c:pt idx="2">
                  <c:v>8.1220476236382913E-2</c:v>
                </c:pt>
                <c:pt idx="3">
                  <c:v>9.8626960255321097E-2</c:v>
                </c:pt>
                <c:pt idx="4">
                  <c:v>0.1339239666985928</c:v>
                </c:pt>
                <c:pt idx="5">
                  <c:v>0.12973812234758306</c:v>
                </c:pt>
                <c:pt idx="6">
                  <c:v>0.15860219645083606</c:v>
                </c:pt>
                <c:pt idx="7">
                  <c:v>0.19611273392610665</c:v>
                </c:pt>
                <c:pt idx="8">
                  <c:v>0.19880724756441773</c:v>
                </c:pt>
                <c:pt idx="9">
                  <c:v>0.20920873837148532</c:v>
                </c:pt>
                <c:pt idx="10">
                  <c:v>0.18189206762028609</c:v>
                </c:pt>
                <c:pt idx="11">
                  <c:v>0.22995078509491446</c:v>
                </c:pt>
                <c:pt idx="12">
                  <c:v>0.23752416784239955</c:v>
                </c:pt>
                <c:pt idx="13">
                  <c:v>0.22182029980687287</c:v>
                </c:pt>
                <c:pt idx="14">
                  <c:v>0.2692904602551045</c:v>
                </c:pt>
                <c:pt idx="15">
                  <c:v>0.29642268317932596</c:v>
                </c:pt>
                <c:pt idx="16">
                  <c:v>0.29132042771149591</c:v>
                </c:pt>
                <c:pt idx="17">
                  <c:v>0.3346096637851052</c:v>
                </c:pt>
                <c:pt idx="18">
                  <c:v>0.33821833053691275</c:v>
                </c:pt>
                <c:pt idx="19">
                  <c:v>0.34832864729771945</c:v>
                </c:pt>
                <c:pt idx="20">
                  <c:v>0.30024957389822254</c:v>
                </c:pt>
                <c:pt idx="21">
                  <c:v>0.33391245977374584</c:v>
                </c:pt>
                <c:pt idx="22">
                  <c:v>0.34422950819672132</c:v>
                </c:pt>
                <c:pt idx="23">
                  <c:v>0.2738229025382678</c:v>
                </c:pt>
                <c:pt idx="24">
                  <c:v>0.30875638533520183</c:v>
                </c:pt>
                <c:pt idx="25">
                  <c:v>0.29329579260518485</c:v>
                </c:pt>
                <c:pt idx="26">
                  <c:v>0.26236786469344608</c:v>
                </c:pt>
                <c:pt idx="27">
                  <c:v>0.29646691235378947</c:v>
                </c:pt>
                <c:pt idx="28">
                  <c:v>0.27280685061845861</c:v>
                </c:pt>
                <c:pt idx="29">
                  <c:v>0.23868147329279935</c:v>
                </c:pt>
                <c:pt idx="30">
                  <c:v>0.27236112166578008</c:v>
                </c:pt>
                <c:pt idx="31">
                  <c:v>0.28204884989328904</c:v>
                </c:pt>
                <c:pt idx="32">
                  <c:v>0.21692197437964705</c:v>
                </c:pt>
                <c:pt idx="33">
                  <c:v>0.23968290382605592</c:v>
                </c:pt>
                <c:pt idx="34">
                  <c:v>0.24571233164983164</c:v>
                </c:pt>
                <c:pt idx="35">
                  <c:v>0.23377108691010037</c:v>
                </c:pt>
                <c:pt idx="36">
                  <c:v>0.22981893053957489</c:v>
                </c:pt>
                <c:pt idx="37">
                  <c:v>0.20620129239814738</c:v>
                </c:pt>
                <c:pt idx="38">
                  <c:v>0.21664861261561535</c:v>
                </c:pt>
                <c:pt idx="39">
                  <c:v>0.22434367541766109</c:v>
                </c:pt>
                <c:pt idx="40">
                  <c:v>0.19533778224700613</c:v>
                </c:pt>
                <c:pt idx="41">
                  <c:v>0.1987027662966919</c:v>
                </c:pt>
                <c:pt idx="42">
                  <c:v>0.20224114746750335</c:v>
                </c:pt>
                <c:pt idx="43">
                  <c:v>0.21476957815867803</c:v>
                </c:pt>
                <c:pt idx="44">
                  <c:v>0.20030790547301977</c:v>
                </c:pt>
                <c:pt idx="45">
                  <c:v>0.19818844146893769</c:v>
                </c:pt>
                <c:pt idx="46">
                  <c:v>0.21585770274344288</c:v>
                </c:pt>
                <c:pt idx="47">
                  <c:v>0.25646747960222099</c:v>
                </c:pt>
                <c:pt idx="48">
                  <c:v>0.26683216881218841</c:v>
                </c:pt>
                <c:pt idx="49">
                  <c:v>0.22797458438506396</c:v>
                </c:pt>
                <c:pt idx="50">
                  <c:v>0.22482511138439207</c:v>
                </c:pt>
                <c:pt idx="51">
                  <c:v>0.24819717729473575</c:v>
                </c:pt>
                <c:pt idx="52">
                  <c:v>0.26723945547868777</c:v>
                </c:pt>
                <c:pt idx="53">
                  <c:v>0.2720246539157658</c:v>
                </c:pt>
                <c:pt idx="54">
                  <c:v>0.25331742243436756</c:v>
                </c:pt>
                <c:pt idx="55">
                  <c:v>0.21364492688615772</c:v>
                </c:pt>
                <c:pt idx="56">
                  <c:v>0.20799682245465378</c:v>
                </c:pt>
                <c:pt idx="57">
                  <c:v>0.24241141613254324</c:v>
                </c:pt>
              </c:numCache>
            </c:numRef>
          </c:val>
          <c:smooth val="0"/>
        </c:ser>
        <c:ser>
          <c:idx val="1"/>
          <c:order val="1"/>
          <c:tx>
            <c:strRef>
              <c:f>'&lt;80 LTV'!$AT$5</c:f>
              <c:strCache>
                <c:ptCount val="1"/>
                <c:pt idx="0">
                  <c:v>Ratio HARP/Refi NCO</c:v>
                </c:pt>
              </c:strCache>
            </c:strRef>
          </c:tx>
          <c:spPr>
            <a:ln>
              <a:solidFill>
                <a:schemeClr val="bg2">
                  <a:lumMod val="50000"/>
                </a:schemeClr>
              </a:solidFill>
            </a:ln>
          </c:spPr>
          <c:marker>
            <c:symbol val="none"/>
          </c:marker>
          <c:cat>
            <c:numRef>
              <c:f>'&lt;80 LTV'!$AR$6:$AR$63</c:f>
              <c:numCache>
                <c:formatCode>m/d/yyyy</c:formatCode>
                <c:ptCount val="58"/>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pt idx="57">
                  <c:v>41699</c:v>
                </c:pt>
              </c:numCache>
            </c:numRef>
          </c:cat>
          <c:val>
            <c:numRef>
              <c:f>'&lt;80 LTV'!$AT$6:$AT$63</c:f>
              <c:numCache>
                <c:formatCode>0%</c:formatCode>
                <c:ptCount val="58"/>
                <c:pt idx="0">
                  <c:v>7.0161863733322186E-2</c:v>
                </c:pt>
                <c:pt idx="1">
                  <c:v>7.6025657583193421E-2</c:v>
                </c:pt>
                <c:pt idx="2">
                  <c:v>0.13039945312197701</c:v>
                </c:pt>
                <c:pt idx="3">
                  <c:v>0.16926077705098905</c:v>
                </c:pt>
                <c:pt idx="4">
                  <c:v>0.24153738830016941</c:v>
                </c:pt>
                <c:pt idx="5">
                  <c:v>0.2425966786668215</c:v>
                </c:pt>
                <c:pt idx="6">
                  <c:v>0.27276465750205614</c:v>
                </c:pt>
                <c:pt idx="7">
                  <c:v>0.32321976510422179</c:v>
                </c:pt>
                <c:pt idx="8">
                  <c:v>0.32035701185964055</c:v>
                </c:pt>
                <c:pt idx="9">
                  <c:v>0.33936191256676179</c:v>
                </c:pt>
                <c:pt idx="10">
                  <c:v>0.3213274808220864</c:v>
                </c:pt>
                <c:pt idx="11">
                  <c:v>0.38750444295249004</c:v>
                </c:pt>
                <c:pt idx="12">
                  <c:v>0.40277347038234901</c:v>
                </c:pt>
                <c:pt idx="13">
                  <c:v>0.39771353193360448</c:v>
                </c:pt>
                <c:pt idx="14">
                  <c:v>0.42508804164752717</c:v>
                </c:pt>
                <c:pt idx="15">
                  <c:v>0.4321891771019678</c:v>
                </c:pt>
                <c:pt idx="16">
                  <c:v>0.4077981154554316</c:v>
                </c:pt>
                <c:pt idx="17">
                  <c:v>0.44912037952164457</c:v>
                </c:pt>
                <c:pt idx="18">
                  <c:v>0.45074506926611113</c:v>
                </c:pt>
                <c:pt idx="19">
                  <c:v>0.46068586415650203</c:v>
                </c:pt>
                <c:pt idx="20">
                  <c:v>0.41893154408017669</c:v>
                </c:pt>
                <c:pt idx="21">
                  <c:v>0.48664901881797779</c:v>
                </c:pt>
                <c:pt idx="22">
                  <c:v>0.51737052185482679</c:v>
                </c:pt>
                <c:pt idx="23">
                  <c:v>0.45446359660406482</c:v>
                </c:pt>
                <c:pt idx="24">
                  <c:v>0.5053270198283516</c:v>
                </c:pt>
                <c:pt idx="25">
                  <c:v>0.50081640058055155</c:v>
                </c:pt>
                <c:pt idx="26">
                  <c:v>0.44122875631088671</c:v>
                </c:pt>
                <c:pt idx="27">
                  <c:v>0.46135145243735193</c:v>
                </c:pt>
                <c:pt idx="28">
                  <c:v>0.41679265030817536</c:v>
                </c:pt>
                <c:pt idx="29">
                  <c:v>0.32044795250624031</c:v>
                </c:pt>
                <c:pt idx="30">
                  <c:v>0.3533355241537956</c:v>
                </c:pt>
                <c:pt idx="31">
                  <c:v>0.36858904831262201</c:v>
                </c:pt>
                <c:pt idx="32">
                  <c:v>0.29749984642791327</c:v>
                </c:pt>
                <c:pt idx="33">
                  <c:v>0.31733657318349029</c:v>
                </c:pt>
                <c:pt idx="34">
                  <c:v>0.31927401989267523</c:v>
                </c:pt>
                <c:pt idx="35">
                  <c:v>0.31030328798185941</c:v>
                </c:pt>
                <c:pt idx="36">
                  <c:v>0.31767955801104975</c:v>
                </c:pt>
                <c:pt idx="37">
                  <c:v>0.28975058456742009</c:v>
                </c:pt>
                <c:pt idx="38">
                  <c:v>0.29814234385750327</c:v>
                </c:pt>
                <c:pt idx="39">
                  <c:v>0.30832187929526428</c:v>
                </c:pt>
                <c:pt idx="40">
                  <c:v>0.26714007101065163</c:v>
                </c:pt>
                <c:pt idx="41">
                  <c:v>0.2704194493016201</c:v>
                </c:pt>
                <c:pt idx="42">
                  <c:v>0.28005710384209548</c:v>
                </c:pt>
                <c:pt idx="43">
                  <c:v>0.28909254184991595</c:v>
                </c:pt>
                <c:pt idx="44">
                  <c:v>0.27451104500284829</c:v>
                </c:pt>
                <c:pt idx="45">
                  <c:v>0.26743722598644876</c:v>
                </c:pt>
                <c:pt idx="46">
                  <c:v>0.29446237996339786</c:v>
                </c:pt>
                <c:pt idx="47">
                  <c:v>0.3603953937630146</c:v>
                </c:pt>
                <c:pt idx="48">
                  <c:v>0.37966101694915255</c:v>
                </c:pt>
                <c:pt idx="49">
                  <c:v>0.32406215975452834</c:v>
                </c:pt>
                <c:pt idx="50">
                  <c:v>0.32436520171024696</c:v>
                </c:pt>
                <c:pt idx="51">
                  <c:v>0.3792302849047694</c:v>
                </c:pt>
                <c:pt idx="52">
                  <c:v>0.42577777777777776</c:v>
                </c:pt>
                <c:pt idx="53">
                  <c:v>0.45750719868366929</c:v>
                </c:pt>
                <c:pt idx="54">
                  <c:v>0.44302529426496368</c:v>
                </c:pt>
                <c:pt idx="55">
                  <c:v>0.37569017195141191</c:v>
                </c:pt>
                <c:pt idx="56">
                  <c:v>0.37336607779450209</c:v>
                </c:pt>
                <c:pt idx="57">
                  <c:v>0.42508747746792491</c:v>
                </c:pt>
              </c:numCache>
            </c:numRef>
          </c:val>
          <c:smooth val="0"/>
        </c:ser>
        <c:dLbls>
          <c:showLegendKey val="0"/>
          <c:showVal val="0"/>
          <c:showCatName val="0"/>
          <c:showSerName val="0"/>
          <c:showPercent val="0"/>
          <c:showBubbleSize val="0"/>
        </c:dLbls>
        <c:marker val="1"/>
        <c:smooth val="0"/>
        <c:axId val="115888512"/>
        <c:axId val="140409088"/>
      </c:lineChart>
      <c:dateAx>
        <c:axId val="115888512"/>
        <c:scaling>
          <c:orientation val="minMax"/>
        </c:scaling>
        <c:delete val="0"/>
        <c:axPos val="b"/>
        <c:numFmt formatCode="m/d/yyyy" sourceLinked="1"/>
        <c:majorTickMark val="out"/>
        <c:minorTickMark val="none"/>
        <c:tickLblPos val="nextTo"/>
        <c:crossAx val="140409088"/>
        <c:crosses val="autoZero"/>
        <c:auto val="1"/>
        <c:lblOffset val="100"/>
        <c:baseTimeUnit val="months"/>
        <c:majorUnit val="6"/>
        <c:majorTimeUnit val="months"/>
      </c:dateAx>
      <c:valAx>
        <c:axId val="140409088"/>
        <c:scaling>
          <c:orientation val="minMax"/>
        </c:scaling>
        <c:delete val="0"/>
        <c:axPos val="l"/>
        <c:majorGridlines/>
        <c:title>
          <c:tx>
            <c:rich>
              <a:bodyPr rot="-5400000" vert="horz"/>
              <a:lstStyle/>
              <a:p>
                <a:pPr>
                  <a:defRPr/>
                </a:pPr>
                <a:r>
                  <a:rPr lang="en-US"/>
                  <a:t>Loan Count</a:t>
                </a:r>
              </a:p>
            </c:rich>
          </c:tx>
          <c:layout/>
          <c:overlay val="0"/>
        </c:title>
        <c:numFmt formatCode="0%" sourceLinked="1"/>
        <c:majorTickMark val="out"/>
        <c:minorTickMark val="none"/>
        <c:tickLblPos val="nextTo"/>
        <c:crossAx val="115888512"/>
        <c:crosses val="autoZero"/>
        <c:crossBetween val="between"/>
      </c:valAx>
      <c:spPr>
        <a:ln>
          <a:solidFill>
            <a:schemeClr val="tx1"/>
          </a:solidFill>
        </a:ln>
      </c:spPr>
    </c:plotArea>
    <c:legend>
      <c:legendPos val="b"/>
      <c:layout/>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6585.9</c:v>
                </c:pt>
                <c:pt idx="111">
                  <c:v>6591.8</c:v>
                </c:pt>
                <c:pt idx="112">
                  <c:v>8160.55</c:v>
                </c:pt>
                <c:pt idx="113">
                  <c:v>7871.9000000000005</c:v>
                </c:pt>
                <c:pt idx="114">
                  <c:v>7418.35</c:v>
                </c:pt>
                <c:pt idx="115">
                  <c:v>9569.75</c:v>
                </c:pt>
                <c:pt idx="116">
                  <c:v>10031.049999999999</c:v>
                </c:pt>
                <c:pt idx="117">
                  <c:v>10208.75</c:v>
                </c:pt>
                <c:pt idx="118">
                  <c:v>10948.7</c:v>
                </c:pt>
                <c:pt idx="119">
                  <c:v>11460.7</c:v>
                </c:pt>
                <c:pt idx="120">
                  <c:v>14130.25</c:v>
                </c:pt>
                <c:pt idx="121">
                  <c:v>13418.6</c:v>
                </c:pt>
                <c:pt idx="122">
                  <c:v>16116.9</c:v>
                </c:pt>
                <c:pt idx="123">
                  <c:v>23823.3</c:v>
                </c:pt>
                <c:pt idx="124">
                  <c:v>27135.3</c:v>
                </c:pt>
                <c:pt idx="125">
                  <c:v>20450.300000000003</c:v>
                </c:pt>
                <c:pt idx="126">
                  <c:v>17553.25</c:v>
                </c:pt>
                <c:pt idx="127">
                  <c:v>14187.1</c:v>
                </c:pt>
                <c:pt idx="128">
                  <c:v>11192.15</c:v>
                </c:pt>
                <c:pt idx="129">
                  <c:v>10829.05</c:v>
                </c:pt>
                <c:pt idx="130">
                  <c:v>11648.300000000001</c:v>
                </c:pt>
                <c:pt idx="131">
                  <c:v>12564.85</c:v>
                </c:pt>
                <c:pt idx="132">
                  <c:v>11229.55</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8097.1</c:v>
                </c:pt>
                <c:pt idx="111">
                  <c:v>6196.2</c:v>
                </c:pt>
                <c:pt idx="112">
                  <c:v>6825.45</c:v>
                </c:pt>
                <c:pt idx="113">
                  <c:v>6610.1</c:v>
                </c:pt>
                <c:pt idx="114">
                  <c:v>5905.65</c:v>
                </c:pt>
                <c:pt idx="115">
                  <c:v>6307.25</c:v>
                </c:pt>
                <c:pt idx="116">
                  <c:v>6461.95</c:v>
                </c:pt>
                <c:pt idx="117">
                  <c:v>6522.25</c:v>
                </c:pt>
                <c:pt idx="118">
                  <c:v>6776.2999999999993</c:v>
                </c:pt>
                <c:pt idx="119">
                  <c:v>6707.2999999999993</c:v>
                </c:pt>
                <c:pt idx="120">
                  <c:v>7345.75</c:v>
                </c:pt>
                <c:pt idx="121">
                  <c:v>7519.4</c:v>
                </c:pt>
                <c:pt idx="122">
                  <c:v>8014.0999999999995</c:v>
                </c:pt>
                <c:pt idx="123">
                  <c:v>11192.699999999999</c:v>
                </c:pt>
                <c:pt idx="124">
                  <c:v>12482.699999999999</c:v>
                </c:pt>
                <c:pt idx="125">
                  <c:v>10089.700000000001</c:v>
                </c:pt>
                <c:pt idx="126">
                  <c:v>8687.75</c:v>
                </c:pt>
                <c:pt idx="127">
                  <c:v>7217.9</c:v>
                </c:pt>
                <c:pt idx="128">
                  <c:v>5989.8499999999995</c:v>
                </c:pt>
                <c:pt idx="129">
                  <c:v>5717.95</c:v>
                </c:pt>
                <c:pt idx="130">
                  <c:v>6002.7</c:v>
                </c:pt>
                <c:pt idx="131">
                  <c:v>6142.15</c:v>
                </c:pt>
                <c:pt idx="132">
                  <c:v>5270.45</c:v>
                </c:pt>
              </c:numCache>
            </c:numRef>
          </c:val>
        </c:ser>
        <c:dLbls>
          <c:showLegendKey val="0"/>
          <c:showVal val="0"/>
          <c:showCatName val="0"/>
          <c:showSerName val="0"/>
          <c:showPercent val="0"/>
          <c:showBubbleSize val="0"/>
        </c:dLbls>
        <c:axId val="157529600"/>
        <c:axId val="172324352"/>
      </c:areaChart>
      <c:dateAx>
        <c:axId val="157529600"/>
        <c:scaling>
          <c:orientation val="minMax"/>
        </c:scaling>
        <c:delete val="0"/>
        <c:axPos val="b"/>
        <c:numFmt formatCode="m/d/yyyy" sourceLinked="1"/>
        <c:majorTickMark val="out"/>
        <c:minorTickMark val="none"/>
        <c:tickLblPos val="nextTo"/>
        <c:crossAx val="172324352"/>
        <c:crosses val="autoZero"/>
        <c:auto val="1"/>
        <c:lblOffset val="100"/>
        <c:baseTimeUnit val="months"/>
        <c:majorUnit val="12"/>
        <c:majorTimeUnit val="months"/>
      </c:dateAx>
      <c:valAx>
        <c:axId val="172324352"/>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57529600"/>
        <c:crosses val="autoZero"/>
        <c:crossBetween val="midCat"/>
      </c:valAx>
    </c:plotArea>
    <c:plotVisOnly val="1"/>
    <c:dispBlanksAs val="zero"/>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195732224"/>
        <c:axId val="195733760"/>
      </c:areaChart>
      <c:dateAx>
        <c:axId val="195732224"/>
        <c:scaling>
          <c:orientation val="minMax"/>
        </c:scaling>
        <c:delete val="0"/>
        <c:axPos val="b"/>
        <c:numFmt formatCode="m/d/yyyy" sourceLinked="1"/>
        <c:majorTickMark val="out"/>
        <c:minorTickMark val="none"/>
        <c:tickLblPos val="nextTo"/>
        <c:crossAx val="195733760"/>
        <c:crosses val="autoZero"/>
        <c:auto val="1"/>
        <c:lblOffset val="100"/>
        <c:baseTimeUnit val="months"/>
        <c:majorUnit val="12"/>
        <c:majorTimeUnit val="months"/>
      </c:dateAx>
      <c:valAx>
        <c:axId val="195733760"/>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95732224"/>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Identifying </a:t>
            </a:r>
            <a:r>
              <a:rPr lang="en-US" sz="2400" dirty="0" err="1" smtClean="0">
                <a:solidFill>
                  <a:srgbClr val="968880"/>
                </a:solidFill>
                <a:latin typeface="Calibri" pitchFamily="34" charset="0"/>
              </a:rPr>
              <a:t>HARPed</a:t>
            </a:r>
            <a:r>
              <a:rPr lang="en-US" sz="2400" dirty="0" smtClean="0">
                <a:solidFill>
                  <a:srgbClr val="968880"/>
                </a:solidFill>
                <a:latin typeface="Calibri" pitchFamily="34" charset="0"/>
              </a:rPr>
              <a:t> Loans</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January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br>
              <a:rPr lang="en-US" sz="1600" dirty="0" smtClean="0">
                <a:latin typeface="+mn-lt"/>
              </a:rPr>
            </a:br>
            <a:endParaRPr lang="en-US" sz="1600" dirty="0">
              <a:latin typeface="+mn-lt"/>
            </a:endParaRPr>
          </a:p>
        </p:txBody>
      </p:sp>
      <p:sp>
        <p:nvSpPr>
          <p:cNvPr id="3" name="TextBox 2"/>
          <p:cNvSpPr txBox="1"/>
          <p:nvPr/>
        </p:nvSpPr>
        <p:spPr>
          <a:xfrm>
            <a:off x="1943100" y="1127760"/>
            <a:ext cx="6789420" cy="369332"/>
          </a:xfrm>
          <a:prstGeom prst="rect">
            <a:avLst/>
          </a:prstGeom>
          <a:noFill/>
        </p:spPr>
        <p:txBody>
          <a:bodyPr wrap="square" rtlCol="0">
            <a:spAutoFit/>
          </a:bodyPr>
          <a:lstStyle/>
          <a:p>
            <a:r>
              <a:rPr lang="en-US" dirty="0">
                <a:latin typeface="+mn-lt"/>
              </a:rPr>
              <a:t>Key Differences in </a:t>
            </a:r>
            <a:r>
              <a:rPr lang="en-US" dirty="0" smtClean="0">
                <a:latin typeface="+mn-lt"/>
              </a:rPr>
              <a:t>Streamline Refi, HARP 1.0 and HARP 2.0 Programs</a:t>
            </a:r>
            <a:endParaRPr lang="en-US"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3458037017"/>
              </p:ext>
            </p:extLst>
          </p:nvPr>
        </p:nvGraphicFramePr>
        <p:xfrm>
          <a:off x="281940" y="1651000"/>
          <a:ext cx="9502140" cy="4681221"/>
        </p:xfrm>
        <a:graphic>
          <a:graphicData uri="http://schemas.openxmlformats.org/drawingml/2006/table">
            <a:tbl>
              <a:tblPr firstRow="1" bandRow="1">
                <a:tableStyleId>{5C22544A-7EE6-4342-B048-85BDC9FD1C3A}</a:tableStyleId>
              </a:tblPr>
              <a:tblGrid>
                <a:gridCol w="1181100"/>
                <a:gridCol w="3025140"/>
                <a:gridCol w="3025140"/>
                <a:gridCol w="2270760"/>
              </a:tblGrid>
              <a:tr h="488883">
                <a:tc>
                  <a:txBody>
                    <a:bodyPr/>
                    <a:lstStyle/>
                    <a:p>
                      <a:endParaRPr lang="en-US" sz="1000" dirty="0">
                        <a:latin typeface="+mn-lt"/>
                      </a:endParaRPr>
                    </a:p>
                  </a:txBody>
                  <a:tcPr anchor="ctr"/>
                </a:tc>
                <a:tc>
                  <a:txBody>
                    <a:bodyPr/>
                    <a:lstStyle/>
                    <a:p>
                      <a:pPr algn="ctr"/>
                      <a:r>
                        <a:rPr lang="en-US" sz="1000" dirty="0" smtClean="0"/>
                        <a:t>HARP 2.0 </a:t>
                      </a:r>
                      <a:endParaRPr lang="en-US" sz="1000" dirty="0">
                        <a:latin typeface="+mn-lt"/>
                      </a:endParaRPr>
                    </a:p>
                  </a:txBody>
                  <a:tcPr anchor="ctr"/>
                </a:tc>
                <a:tc>
                  <a:txBody>
                    <a:bodyPr/>
                    <a:lstStyle/>
                    <a:p>
                      <a:pPr algn="ctr"/>
                      <a:r>
                        <a:rPr lang="en-US" sz="1000" dirty="0" smtClean="0"/>
                        <a:t>HARP 1.0 </a:t>
                      </a:r>
                      <a:endParaRPr lang="en-US" sz="1000" dirty="0">
                        <a:latin typeface="+mn-lt"/>
                      </a:endParaRPr>
                    </a:p>
                  </a:txBody>
                  <a:tcPr anchor="ctr"/>
                </a:tc>
                <a:tc>
                  <a:txBody>
                    <a:bodyPr/>
                    <a:lstStyle/>
                    <a:p>
                      <a:pPr algn="ctr"/>
                      <a:r>
                        <a:rPr lang="en-US" sz="1000" dirty="0" smtClean="0"/>
                        <a:t>Streamline Refi</a:t>
                      </a:r>
                      <a:endParaRPr lang="en-US" sz="1000" dirty="0">
                        <a:latin typeface="+mn-lt"/>
                      </a:endParaRPr>
                    </a:p>
                  </a:txBody>
                  <a:tcPr anchor="ctr"/>
                </a:tc>
              </a:tr>
              <a:tr h="488883">
                <a:tc>
                  <a:txBody>
                    <a:bodyPr/>
                    <a:lstStyle/>
                    <a:p>
                      <a:r>
                        <a:rPr lang="en-US" sz="1000" b="1" dirty="0" smtClean="0"/>
                        <a:t>Period</a:t>
                      </a:r>
                      <a:endParaRPr lang="en-US" sz="1000" b="1" dirty="0">
                        <a:latin typeface="+mn-lt"/>
                      </a:endParaRPr>
                    </a:p>
                  </a:txBody>
                  <a:tcPr anchor="ctr"/>
                </a:tc>
                <a:tc>
                  <a:txBody>
                    <a:bodyPr/>
                    <a:lstStyle/>
                    <a:p>
                      <a:r>
                        <a:rPr lang="en-US" sz="1000" dirty="0" smtClean="0"/>
                        <a:t>Since Nov.2011</a:t>
                      </a:r>
                      <a:endParaRPr lang="en-US" sz="1000" dirty="0">
                        <a:latin typeface="+mn-lt"/>
                      </a:endParaRPr>
                    </a:p>
                  </a:txBody>
                  <a:tcPr anchor="ctr"/>
                </a:tc>
                <a:tc>
                  <a:txBody>
                    <a:bodyPr/>
                    <a:lstStyle/>
                    <a:p>
                      <a:r>
                        <a:rPr lang="en-US" sz="1000" dirty="0" smtClean="0"/>
                        <a:t>Apr.2009-Oct.2011</a:t>
                      </a:r>
                      <a:endParaRPr lang="en-US" sz="1000" dirty="0">
                        <a:latin typeface="+mn-lt"/>
                      </a:endParaRPr>
                    </a:p>
                  </a:txBody>
                  <a:tcPr anchor="ctr"/>
                </a:tc>
                <a:tc>
                  <a:txBody>
                    <a:bodyPr/>
                    <a:lstStyle/>
                    <a:p>
                      <a:r>
                        <a:rPr lang="en-US" sz="1000" dirty="0" smtClean="0"/>
                        <a:t>Pre-HARP 1.0</a:t>
                      </a:r>
                      <a:endParaRPr lang="en-US" sz="1000" dirty="0">
                        <a:latin typeface="+mn-lt"/>
                      </a:endParaRPr>
                    </a:p>
                  </a:txBody>
                  <a:tcPr anchor="ctr"/>
                </a:tc>
              </a:tr>
              <a:tr h="522368">
                <a:tc>
                  <a:txBody>
                    <a:bodyPr/>
                    <a:lstStyle/>
                    <a:p>
                      <a:r>
                        <a:rPr lang="en-US" sz="1000" b="1" dirty="0" smtClean="0"/>
                        <a:t>Appraisal</a:t>
                      </a:r>
                      <a:endParaRPr lang="en-US" sz="1000" b="1" dirty="0">
                        <a:latin typeface="+mn-lt"/>
                      </a:endParaRPr>
                    </a:p>
                  </a:txBody>
                  <a:tcPr anchor="ctr"/>
                </a:tc>
                <a:tc>
                  <a:txBody>
                    <a:bodyPr/>
                    <a:lstStyle/>
                    <a:p>
                      <a:r>
                        <a:rPr lang="en-US" sz="1000" dirty="0" smtClean="0"/>
                        <a:t>Mostly Automated</a:t>
                      </a:r>
                      <a:endParaRPr lang="en-US" sz="1000" dirty="0">
                        <a:latin typeface="+mn-lt"/>
                      </a:endParaRPr>
                    </a:p>
                  </a:txBody>
                  <a:tcPr anchor="ctr"/>
                </a:tc>
                <a:tc>
                  <a:txBody>
                    <a:bodyPr/>
                    <a:lstStyle/>
                    <a:p>
                      <a:r>
                        <a:rPr lang="en-US" sz="1000" dirty="0" smtClean="0"/>
                        <a:t>Manual/automated appraisal but manual appraisal required in most cases</a:t>
                      </a:r>
                      <a:endParaRPr lang="en-US" sz="1000" dirty="0">
                        <a:latin typeface="+mn-lt"/>
                      </a:endParaRPr>
                    </a:p>
                  </a:txBody>
                  <a:tcPr anchor="ctr"/>
                </a:tc>
                <a:tc>
                  <a:txBody>
                    <a:bodyPr/>
                    <a:lstStyle/>
                    <a:p>
                      <a:r>
                        <a:rPr lang="en-US" sz="1000" dirty="0" smtClean="0"/>
                        <a:t>Manual appraisal</a:t>
                      </a:r>
                      <a:endParaRPr lang="en-US" sz="1000" dirty="0">
                        <a:latin typeface="+mn-lt"/>
                      </a:endParaRPr>
                    </a:p>
                  </a:txBody>
                  <a:tcPr anchor="ctr"/>
                </a:tc>
              </a:tr>
              <a:tr h="924189">
                <a:tc>
                  <a:txBody>
                    <a:bodyPr/>
                    <a:lstStyle/>
                    <a:p>
                      <a:r>
                        <a:rPr lang="en-US" sz="1000" b="1" dirty="0" smtClean="0"/>
                        <a:t>Income &amp; Asset</a:t>
                      </a:r>
                    </a:p>
                    <a:p>
                      <a:r>
                        <a:rPr lang="en-US" sz="1000" b="1" dirty="0" smtClean="0"/>
                        <a:t>documentation</a:t>
                      </a:r>
                      <a:endParaRPr lang="en-US" sz="1000" b="1" dirty="0">
                        <a:latin typeface="+mn-lt"/>
                      </a:endParaRPr>
                    </a:p>
                  </a:txBody>
                  <a:tcPr anchor="ctr"/>
                </a:tc>
                <a:tc>
                  <a:txBody>
                    <a:bodyPr/>
                    <a:lstStyle/>
                    <a:p>
                      <a:r>
                        <a:rPr lang="en-US" sz="1000" dirty="0" smtClean="0"/>
                        <a:t>Reduced requirement in Sep. 2012--same servicer are required to verbally verify a borrower's income; New lenders are required to have documentation</a:t>
                      </a:r>
                      <a:endParaRPr lang="en-US" sz="1000" dirty="0">
                        <a:latin typeface="+mn-lt"/>
                      </a:endParaRPr>
                    </a:p>
                  </a:txBody>
                  <a:tcPr anchor="ctr"/>
                </a:tc>
                <a:tc>
                  <a:txBody>
                    <a:bodyPr/>
                    <a:lstStyle/>
                    <a:p>
                      <a:r>
                        <a:rPr lang="en-US" sz="1000" dirty="0" smtClean="0"/>
                        <a:t>Need documentation</a:t>
                      </a:r>
                    </a:p>
                    <a:p>
                      <a:r>
                        <a:rPr lang="en-US" sz="1000" dirty="0" smtClean="0"/>
                        <a:t>In some cases need two year history of income</a:t>
                      </a:r>
                      <a:endParaRPr lang="en-US" sz="1000" dirty="0">
                        <a:latin typeface="+mn-lt"/>
                      </a:endParaRPr>
                    </a:p>
                  </a:txBody>
                  <a:tcPr anchor="ctr"/>
                </a:tc>
                <a:tc>
                  <a:txBody>
                    <a:bodyPr/>
                    <a:lstStyle/>
                    <a:p>
                      <a:r>
                        <a:rPr lang="en-US" sz="1000" dirty="0" smtClean="0"/>
                        <a:t>Stated Income/employment</a:t>
                      </a:r>
                      <a:endParaRPr lang="en-US" sz="1000" dirty="0">
                        <a:latin typeface="+mn-lt"/>
                      </a:endParaRPr>
                    </a:p>
                  </a:txBody>
                  <a:tcPr anchor="ctr"/>
                </a:tc>
              </a:tr>
              <a:tr h="723279">
                <a:tc>
                  <a:txBody>
                    <a:bodyPr/>
                    <a:lstStyle/>
                    <a:p>
                      <a:r>
                        <a:rPr lang="en-US" sz="1000" b="1" dirty="0" smtClean="0"/>
                        <a:t>Rep &amp; warrant </a:t>
                      </a:r>
                      <a:endParaRPr lang="en-US" sz="1000" b="1" dirty="0">
                        <a:latin typeface="+mn-lt"/>
                      </a:endParaRPr>
                    </a:p>
                  </a:txBody>
                  <a:tcPr anchor="ctr"/>
                </a:tc>
                <a:tc>
                  <a:txBody>
                    <a:bodyPr/>
                    <a:lstStyle/>
                    <a:p>
                      <a:r>
                        <a:rPr lang="en-US" sz="1000" dirty="0" smtClean="0"/>
                        <a:t>Further relief of rep &amp; warrant for original loan in Sep. 2012; Relief of new loan rep &amp; warrant risk with 12 month clean pay following origination</a:t>
                      </a:r>
                      <a:endParaRPr lang="en-US" sz="1000" dirty="0">
                        <a:latin typeface="+mn-lt"/>
                      </a:endParaRPr>
                    </a:p>
                  </a:txBody>
                  <a:tcPr anchor="ctr"/>
                </a:tc>
                <a:tc>
                  <a:txBody>
                    <a:bodyPr/>
                    <a:lstStyle/>
                    <a:p>
                      <a:r>
                        <a:rPr lang="en-US" sz="1000" dirty="0" smtClean="0"/>
                        <a:t>Seller retains all the original rep &amp; warrant regarding value condition and marketability; no additional relief on the new loan</a:t>
                      </a:r>
                      <a:endParaRPr lang="en-US" sz="1000" dirty="0">
                        <a:latin typeface="+mn-lt"/>
                      </a:endParaRPr>
                    </a:p>
                  </a:txBody>
                  <a:tcPr anchor="ctr"/>
                </a:tc>
                <a:tc>
                  <a:txBody>
                    <a:bodyPr/>
                    <a:lstStyle/>
                    <a:p>
                      <a:r>
                        <a:rPr lang="en-US" sz="1000" dirty="0" smtClean="0"/>
                        <a:t>Any previous rep &amp; warrant relief on original loans does not apply to new loan</a:t>
                      </a:r>
                      <a:endParaRPr lang="en-US" sz="1000" dirty="0">
                        <a:latin typeface="+mn-lt"/>
                      </a:endParaRPr>
                    </a:p>
                  </a:txBody>
                  <a:tcPr anchor="ctr"/>
                </a:tc>
              </a:tr>
              <a:tr h="522368">
                <a:tc>
                  <a:txBody>
                    <a:bodyPr/>
                    <a:lstStyle/>
                    <a:p>
                      <a:r>
                        <a:rPr lang="en-US" sz="1000" b="1" dirty="0" smtClean="0"/>
                        <a:t>LTV restriction</a:t>
                      </a:r>
                      <a:endParaRPr lang="en-US" sz="1000" b="1" dirty="0">
                        <a:latin typeface="+mn-lt"/>
                      </a:endParaRPr>
                    </a:p>
                  </a:txBody>
                  <a:tcPr anchor="ctr"/>
                </a:tc>
                <a:tc>
                  <a:txBody>
                    <a:bodyPr/>
                    <a:lstStyle/>
                    <a:p>
                      <a:r>
                        <a:rPr lang="en-US" sz="1000" dirty="0" smtClean="0"/>
                        <a:t>Extended to above 125 LTV in Oct. 2011</a:t>
                      </a:r>
                      <a:endParaRPr lang="en-US" sz="1000" dirty="0">
                        <a:latin typeface="+mn-lt"/>
                      </a:endParaRPr>
                    </a:p>
                  </a:txBody>
                  <a:tcPr anchor="ctr"/>
                </a:tc>
                <a:tc>
                  <a:txBody>
                    <a:bodyPr/>
                    <a:lstStyle/>
                    <a:p>
                      <a:r>
                        <a:rPr lang="en-US" sz="1000" dirty="0" smtClean="0"/>
                        <a:t>LTV ceiling at 105 when announced in Mar. 2009</a:t>
                      </a:r>
                    </a:p>
                    <a:p>
                      <a:r>
                        <a:rPr lang="en-US" sz="1000" dirty="0" smtClean="0"/>
                        <a:t>Raised ceiling from 105 to 125 in Jul. 2009</a:t>
                      </a:r>
                      <a:endParaRPr lang="en-US" sz="1000" dirty="0">
                        <a:latin typeface="+mn-lt"/>
                      </a:endParaRPr>
                    </a:p>
                  </a:txBody>
                  <a:tcPr anchor="ctr"/>
                </a:tc>
                <a:tc>
                  <a:txBody>
                    <a:bodyPr/>
                    <a:lstStyle/>
                    <a:p>
                      <a:r>
                        <a:rPr lang="en-US" sz="1000" dirty="0" smtClean="0"/>
                        <a:t>under 95-100</a:t>
                      </a:r>
                      <a:endParaRPr lang="en-US" sz="1000" dirty="0">
                        <a:latin typeface="+mn-lt"/>
                      </a:endParaRPr>
                    </a:p>
                  </a:txBody>
                  <a:tcPr anchor="ctr"/>
                </a:tc>
              </a:tr>
              <a:tr h="522368">
                <a:tc>
                  <a:txBody>
                    <a:bodyPr/>
                    <a:lstStyle/>
                    <a:p>
                      <a:r>
                        <a:rPr lang="en-US" sz="1000" b="1" dirty="0" smtClean="0"/>
                        <a:t>MI</a:t>
                      </a:r>
                      <a:endParaRPr lang="en-US" sz="1000" b="1" dirty="0">
                        <a:latin typeface="+mn-lt"/>
                      </a:endParaRPr>
                    </a:p>
                  </a:txBody>
                  <a:tcPr anchor="ctr"/>
                </a:tc>
                <a:tc>
                  <a:txBody>
                    <a:bodyPr/>
                    <a:lstStyle/>
                    <a:p>
                      <a:r>
                        <a:rPr lang="en-US" sz="1000" dirty="0" smtClean="0"/>
                        <a:t>MI transfers made easier</a:t>
                      </a:r>
                      <a:endParaRPr lang="en-US" sz="1000" dirty="0">
                        <a:latin typeface="+mn-lt"/>
                      </a:endParaRPr>
                    </a:p>
                  </a:txBody>
                  <a:tcPr anchor="ctr"/>
                </a:tc>
                <a:tc>
                  <a:txBody>
                    <a:bodyPr/>
                    <a:lstStyle/>
                    <a:p>
                      <a:r>
                        <a:rPr lang="en-US" sz="1000" dirty="0" smtClean="0"/>
                        <a:t>No new MI required but transfer of MI is cumbersome</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r>
              <a:tr h="488883">
                <a:tc>
                  <a:txBody>
                    <a:bodyPr/>
                    <a:lstStyle/>
                    <a:p>
                      <a:r>
                        <a:rPr lang="en-US" sz="1000" b="1" dirty="0" smtClean="0"/>
                        <a:t>LLPA</a:t>
                      </a:r>
                      <a:endParaRPr lang="en-US" sz="1000" b="1" dirty="0">
                        <a:latin typeface="+mn-lt"/>
                      </a:endParaRPr>
                    </a:p>
                  </a:txBody>
                  <a:tcPr anchor="ctr"/>
                </a:tc>
                <a:tc>
                  <a:txBody>
                    <a:bodyPr/>
                    <a:lstStyle/>
                    <a:p>
                      <a:r>
                        <a:rPr lang="en-US" sz="1000" dirty="0" smtClean="0"/>
                        <a:t>Lowered LLPA to 75bp max </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r>
            </a:tbl>
          </a:graphicData>
        </a:graphic>
      </p:graphicFrame>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endParaRPr lang="en-US" sz="1600" dirty="0">
              <a:latin typeface="+mn-lt"/>
            </a:endParaRPr>
          </a:p>
        </p:txBody>
      </p:sp>
      <p:sp>
        <p:nvSpPr>
          <p:cNvPr id="4" name="Rectangle 3"/>
          <p:cNvSpPr/>
          <p:nvPr/>
        </p:nvSpPr>
        <p:spPr>
          <a:xfrm>
            <a:off x="819356"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396484"/>
            <a:ext cx="4069080" cy="307777"/>
          </a:xfrm>
          <a:prstGeom prst="rect">
            <a:avLst/>
          </a:prstGeom>
          <a:noFill/>
        </p:spPr>
        <p:txBody>
          <a:bodyPr wrap="square" rtlCol="0">
            <a:spAutoFit/>
          </a:bodyPr>
          <a:lstStyle/>
          <a:p>
            <a:r>
              <a:rPr lang="en-US" sz="1400" b="1" dirty="0" smtClean="0">
                <a:latin typeface="+mn-lt"/>
              </a:rPr>
              <a:t>Importance of identifying HARP loans</a:t>
            </a:r>
            <a:endParaRPr lang="en-US" sz="1400" b="1" dirty="0">
              <a:latin typeface="+mn-lt"/>
            </a:endParaRPr>
          </a:p>
        </p:txBody>
      </p:sp>
      <p:sp>
        <p:nvSpPr>
          <p:cNvPr id="7" name="TextBox 6"/>
          <p:cNvSpPr txBox="1"/>
          <p:nvPr/>
        </p:nvSpPr>
        <p:spPr>
          <a:xfrm>
            <a:off x="994464" y="2006254"/>
            <a:ext cx="8549586" cy="992579"/>
          </a:xfrm>
          <a:prstGeom prst="rect">
            <a:avLst/>
          </a:prstGeom>
          <a:noFill/>
        </p:spPr>
        <p:txBody>
          <a:bodyPr wrap="square" rtlCol="0">
            <a:spAutoFit/>
          </a:bodyPr>
          <a:lstStyle/>
          <a:p>
            <a:pPr>
              <a:lnSpc>
                <a:spcPct val="150000"/>
              </a:lnSpc>
            </a:pPr>
            <a:r>
              <a:rPr lang="en-US" sz="1300" dirty="0" smtClean="0">
                <a:latin typeface="+mn-lt"/>
              </a:rPr>
              <a:t>Loans that have been refinanced through the Home Affordable Refinance Program (HARP) generally prepay slower than other refinance loans that have undergone full underwriting. </a:t>
            </a:r>
            <a:r>
              <a:rPr lang="en-US" sz="1300" dirty="0">
                <a:latin typeface="+mn-lt"/>
              </a:rPr>
              <a:t>A</a:t>
            </a:r>
            <a:r>
              <a:rPr lang="en-US" sz="1300" dirty="0" smtClean="0">
                <a:latin typeface="+mn-lt"/>
              </a:rPr>
              <a:t>s a streamline refinance program, HARP generally made only minimal requirements of borrowers, and such borrowers may have trouble qualifying for regular refinances.</a:t>
            </a:r>
          </a:p>
        </p:txBody>
      </p:sp>
      <p:sp>
        <p:nvSpPr>
          <p:cNvPr id="9" name="Rectangle 8"/>
          <p:cNvSpPr/>
          <p:nvPr/>
        </p:nvSpPr>
        <p:spPr>
          <a:xfrm>
            <a:off x="819356" y="319849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80047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5" y="3337679"/>
            <a:ext cx="4069080" cy="307777"/>
          </a:xfrm>
          <a:prstGeom prst="rect">
            <a:avLst/>
          </a:prstGeom>
          <a:noFill/>
        </p:spPr>
        <p:txBody>
          <a:bodyPr wrap="square" rtlCol="0">
            <a:spAutoFit/>
          </a:bodyPr>
          <a:lstStyle/>
          <a:p>
            <a:r>
              <a:rPr lang="en-US" sz="1400" b="1" dirty="0" smtClean="0">
                <a:latin typeface="+mn-lt"/>
              </a:rPr>
              <a:t>Existing algorithms for identifying  </a:t>
            </a:r>
            <a:r>
              <a:rPr lang="en-US" sz="1400" b="1" dirty="0" err="1" smtClean="0">
                <a:latin typeface="+mn-lt"/>
              </a:rPr>
              <a:t>HARPed</a:t>
            </a:r>
            <a:r>
              <a:rPr lang="en-US" sz="1400" b="1" dirty="0" smtClean="0">
                <a:latin typeface="+mn-lt"/>
              </a:rPr>
              <a:t> Loans</a:t>
            </a:r>
            <a:endParaRPr lang="en-US" sz="1400" b="1" dirty="0">
              <a:latin typeface="+mn-lt"/>
            </a:endParaRPr>
          </a:p>
        </p:txBody>
      </p:sp>
      <p:sp>
        <p:nvSpPr>
          <p:cNvPr id="12" name="TextBox 11"/>
          <p:cNvSpPr txBox="1"/>
          <p:nvPr/>
        </p:nvSpPr>
        <p:spPr>
          <a:xfrm>
            <a:off x="809625" y="3916969"/>
            <a:ext cx="9034092" cy="3393237"/>
          </a:xfrm>
          <a:prstGeom prst="rect">
            <a:avLst/>
          </a:prstGeom>
          <a:noFill/>
        </p:spPr>
        <p:txBody>
          <a:bodyPr wrap="square" rtlCol="0">
            <a:spAutoFit/>
          </a:bodyPr>
          <a:lstStyle/>
          <a:p>
            <a:pPr marL="342900" indent="-342900">
              <a:lnSpc>
                <a:spcPct val="150000"/>
              </a:lnSpc>
              <a:buFont typeface="+mj-lt"/>
              <a:buAutoNum type="arabicPeriod"/>
            </a:pPr>
            <a:r>
              <a:rPr lang="en-US" sz="1300" dirty="0" smtClean="0">
                <a:latin typeface="+mn-lt"/>
              </a:rPr>
              <a:t>Prior to August 2013:</a:t>
            </a:r>
          </a:p>
          <a:p>
            <a:pPr marL="793276" lvl="1" indent="-285750">
              <a:lnSpc>
                <a:spcPct val="150000"/>
              </a:lnSpc>
              <a:buFont typeface="Arial" panose="020B0604020202020204" pitchFamily="34" charset="0"/>
              <a:buChar char="•"/>
            </a:pPr>
            <a:r>
              <a:rPr lang="en-US" sz="1300" dirty="0" smtClean="0">
                <a:latin typeface="+mn-lt"/>
              </a:rPr>
              <a:t>This is the period prior to Freddie Mac providing loan-level credit information for fully underwritten mortgages</a:t>
            </a:r>
          </a:p>
          <a:p>
            <a:pPr marL="793276" lvl="1" indent="-285750">
              <a:lnSpc>
                <a:spcPct val="150000"/>
              </a:lnSpc>
              <a:buFont typeface="Arial" panose="020B0604020202020204" pitchFamily="34" charset="0"/>
              <a:buChar char="•"/>
            </a:pPr>
            <a:r>
              <a:rPr lang="en-US" sz="1300" dirty="0" smtClean="0">
                <a:latin typeface="+mn-lt"/>
              </a:rPr>
              <a:t>MI matches were used to identify potential </a:t>
            </a:r>
            <a:r>
              <a:rPr lang="en-US" sz="1300" dirty="0" err="1" smtClean="0">
                <a:latin typeface="+mn-lt"/>
              </a:rPr>
              <a:t>HARPed</a:t>
            </a:r>
            <a:r>
              <a:rPr lang="en-US" sz="1300" dirty="0" smtClean="0">
                <a:latin typeface="+mn-lt"/>
              </a:rPr>
              <a:t> loans with OLTV &gt; 80% and loan purpose as Refi-NCO (No Cash-out)</a:t>
            </a:r>
          </a:p>
          <a:p>
            <a:pPr marL="793276" lvl="1" indent="-285750">
              <a:lnSpc>
                <a:spcPct val="150000"/>
              </a:lnSpc>
              <a:buFont typeface="Arial" panose="020B0604020202020204" pitchFamily="34" charset="0"/>
              <a:buChar char="•"/>
            </a:pPr>
            <a:r>
              <a:rPr lang="en-US" sz="1300" dirty="0" smtClean="0">
                <a:latin typeface="+mn-lt"/>
              </a:rPr>
              <a:t>Although HARP targets with LTVs &gt; 80%, </a:t>
            </a:r>
            <a:r>
              <a:rPr lang="en-US" sz="1300" dirty="0">
                <a:latin typeface="+mn-lt"/>
              </a:rPr>
              <a:t>l</a:t>
            </a:r>
            <a:r>
              <a:rPr lang="en-US" sz="1300" dirty="0" smtClean="0">
                <a:latin typeface="+mn-lt"/>
              </a:rPr>
              <a:t>oans with lower OLTVs are counted as part of HARP because the Agencies essentially suspended their streamline refi programs after the financial crisis and currently rely on the HARP program for all streamline processing</a:t>
            </a:r>
          </a:p>
          <a:p>
            <a:pPr marL="342900" indent="-342900">
              <a:lnSpc>
                <a:spcPct val="150000"/>
              </a:lnSpc>
              <a:buFont typeface="+mj-lt"/>
              <a:buAutoNum type="arabicPeriod"/>
            </a:pPr>
            <a:r>
              <a:rPr lang="en-US" sz="1300" dirty="0">
                <a:latin typeface="+mn-lt"/>
              </a:rPr>
              <a:t>After August </a:t>
            </a:r>
            <a:r>
              <a:rPr lang="en-US" sz="1300" dirty="0" smtClean="0">
                <a:latin typeface="+mn-lt"/>
              </a:rPr>
              <a:t>2013:</a:t>
            </a:r>
            <a:endParaRPr lang="en-US" sz="1300" dirty="0">
              <a:latin typeface="+mn-lt"/>
            </a:endParaRPr>
          </a:p>
          <a:p>
            <a:pPr marL="793276" lvl="1" indent="-285750">
              <a:lnSpc>
                <a:spcPct val="150000"/>
              </a:lnSpc>
              <a:buFont typeface="Arial" panose="020B0604020202020204" pitchFamily="34" charset="0"/>
              <a:buChar char="•"/>
            </a:pPr>
            <a:r>
              <a:rPr lang="en-US" sz="1300" dirty="0">
                <a:latin typeface="+mn-lt"/>
              </a:rPr>
              <a:t>N</a:t>
            </a:r>
            <a:r>
              <a:rPr lang="en-US" sz="1300" dirty="0" smtClean="0">
                <a:latin typeface="+mn-lt"/>
              </a:rPr>
              <a:t>ew Freddie </a:t>
            </a:r>
            <a:r>
              <a:rPr lang="en-US" sz="1300" dirty="0">
                <a:latin typeface="+mn-lt"/>
              </a:rPr>
              <a:t>Mac and Fannie Mae </a:t>
            </a:r>
            <a:r>
              <a:rPr lang="en-US" sz="1300" dirty="0" smtClean="0">
                <a:latin typeface="+mn-lt"/>
              </a:rPr>
              <a:t>loan-level credit information</a:t>
            </a:r>
            <a:r>
              <a:rPr lang="en-US" sz="1300" dirty="0">
                <a:latin typeface="+mn-lt"/>
              </a:rPr>
              <a:t> </a:t>
            </a:r>
            <a:r>
              <a:rPr lang="en-US" sz="1300" dirty="0" smtClean="0">
                <a:latin typeface="+mn-lt"/>
              </a:rPr>
              <a:t>are used to </a:t>
            </a:r>
            <a:r>
              <a:rPr lang="en-US" sz="1300" dirty="0">
                <a:latin typeface="+mn-lt"/>
              </a:rPr>
              <a:t>identify 30-year fixed –rate HARP loans by mapping </a:t>
            </a:r>
            <a:r>
              <a:rPr lang="en-US" sz="1300" dirty="0" smtClean="0">
                <a:latin typeface="+mn-lt"/>
              </a:rPr>
              <a:t>the credit </a:t>
            </a:r>
            <a:r>
              <a:rPr lang="en-US" sz="1300" dirty="0">
                <a:latin typeface="+mn-lt"/>
              </a:rPr>
              <a:t>dataset </a:t>
            </a:r>
            <a:r>
              <a:rPr lang="en-US" sz="1300" dirty="0" smtClean="0">
                <a:latin typeface="+mn-lt"/>
              </a:rPr>
              <a:t>to the </a:t>
            </a:r>
            <a:r>
              <a:rPr lang="en-US" sz="1300" dirty="0">
                <a:latin typeface="+mn-lt"/>
              </a:rPr>
              <a:t>standard </a:t>
            </a:r>
            <a:r>
              <a:rPr lang="en-US" sz="1300" dirty="0" smtClean="0">
                <a:latin typeface="+mn-lt"/>
              </a:rPr>
              <a:t>database without restrictions on the LTV ratio</a:t>
            </a:r>
          </a:p>
          <a:p>
            <a:pPr marL="793276" lvl="1" indent="-285750">
              <a:lnSpc>
                <a:spcPct val="150000"/>
              </a:lnSpc>
              <a:buFont typeface="Arial" panose="020B0604020202020204" pitchFamily="34" charset="0"/>
              <a:buChar char="•"/>
            </a:pPr>
            <a:r>
              <a:rPr lang="en-US" sz="1300" dirty="0" smtClean="0">
                <a:latin typeface="+mn-lt"/>
              </a:rPr>
              <a:t>The credit data set has about a one year lag, which means that recently originated loans cannot be identified as being </a:t>
            </a:r>
            <a:r>
              <a:rPr lang="en-US" sz="1300" dirty="0" err="1" smtClean="0">
                <a:latin typeface="+mn-lt"/>
              </a:rPr>
              <a:t>HARPed</a:t>
            </a:r>
            <a:r>
              <a:rPr lang="en-US" sz="1300" dirty="0" smtClean="0">
                <a:latin typeface="+mn-lt"/>
              </a:rPr>
              <a:t> or not using the current algorithm</a:t>
            </a:r>
          </a:p>
        </p:txBody>
      </p:sp>
    </p:spTree>
    <p:extLst>
      <p:ext uri="{BB962C8B-B14F-4D97-AF65-F5344CB8AC3E}">
        <p14:creationId xmlns:p14="http://schemas.microsoft.com/office/powerpoint/2010/main" val="40821764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a:t>
            </a:r>
            <a:br>
              <a:rPr lang="en-US" sz="1600" dirty="0" smtClean="0">
                <a:latin typeface="+mn-lt"/>
              </a:rPr>
            </a:br>
            <a:r>
              <a:rPr lang="en-US" sz="1600" dirty="0" smtClean="0">
                <a:latin typeface="+mn-lt"/>
              </a:rPr>
              <a:t>MI </a:t>
            </a:r>
            <a:r>
              <a:rPr lang="en-US" sz="1600" dirty="0">
                <a:latin typeface="+mn-lt"/>
              </a:rPr>
              <a:t>M</a:t>
            </a:r>
            <a:r>
              <a:rPr lang="en-US" sz="1600" dirty="0" smtClean="0">
                <a:latin typeface="+mn-lt"/>
              </a:rPr>
              <a:t>atching Method</a:t>
            </a:r>
            <a:endParaRPr lang="en-US" sz="1600" dirty="0">
              <a:latin typeface="+mn-lt"/>
            </a:endParaRPr>
          </a:p>
        </p:txBody>
      </p:sp>
      <p:sp>
        <p:nvSpPr>
          <p:cNvPr id="15" name="Rectangle 14"/>
          <p:cNvSpPr/>
          <p:nvPr/>
        </p:nvSpPr>
        <p:spPr>
          <a:xfrm>
            <a:off x="247857" y="13642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1966257"/>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03461"/>
            <a:ext cx="4069080" cy="307777"/>
          </a:xfrm>
          <a:prstGeom prst="rect">
            <a:avLst/>
          </a:prstGeom>
          <a:noFill/>
        </p:spPr>
        <p:txBody>
          <a:bodyPr wrap="square" rtlCol="0">
            <a:spAutoFit/>
          </a:bodyPr>
          <a:lstStyle/>
          <a:p>
            <a:r>
              <a:rPr lang="en-US" sz="1400" b="1" dirty="0">
                <a:latin typeface="+mn-lt"/>
              </a:rPr>
              <a:t>Three </a:t>
            </a:r>
            <a:r>
              <a:rPr lang="en-US" sz="1400" b="1" dirty="0" smtClean="0">
                <a:latin typeface="+mn-lt"/>
              </a:rPr>
              <a:t>Step </a:t>
            </a:r>
            <a:r>
              <a:rPr lang="en-US" sz="1400" b="1" dirty="0">
                <a:latin typeface="+mn-lt"/>
              </a:rPr>
              <a:t>Mapping</a:t>
            </a:r>
          </a:p>
        </p:txBody>
      </p:sp>
      <p:sp>
        <p:nvSpPr>
          <p:cNvPr id="18" name="TextBox 17"/>
          <p:cNvSpPr txBox="1"/>
          <p:nvPr/>
        </p:nvSpPr>
        <p:spPr>
          <a:xfrm>
            <a:off x="247857" y="2107219"/>
            <a:ext cx="5290930" cy="2354491"/>
          </a:xfrm>
          <a:prstGeom prst="rect">
            <a:avLst/>
          </a:prstGeom>
          <a:noFill/>
        </p:spPr>
        <p:txBody>
          <a:bodyPr wrap="square" rtlCol="0">
            <a:spAutoFit/>
          </a:bodyPr>
          <a:lstStyle/>
          <a:p>
            <a:pPr>
              <a:lnSpc>
                <a:spcPct val="150000"/>
              </a:lnSpc>
            </a:pPr>
            <a:r>
              <a:rPr lang="en-US" sz="1400" b="1" dirty="0" smtClean="0">
                <a:latin typeface="+mn-lt"/>
              </a:rPr>
              <a:t>Step 1: </a:t>
            </a:r>
            <a:r>
              <a:rPr lang="en-US" sz="1400" dirty="0" smtClean="0">
                <a:latin typeface="+mn-lt"/>
              </a:rPr>
              <a:t>The loan should be originated after June 2009 as a refi-NCO loan, with Origination LTV &gt;80%. Otherwise, it’s Non-</a:t>
            </a:r>
            <a:r>
              <a:rPr lang="en-US" sz="1400" dirty="0" err="1" smtClean="0">
                <a:latin typeface="+mn-lt"/>
              </a:rPr>
              <a:t>HARPed</a:t>
            </a:r>
            <a:r>
              <a:rPr lang="en-US" sz="1400" dirty="0" smtClean="0">
                <a:latin typeface="+mn-lt"/>
              </a:rPr>
              <a:t>.</a:t>
            </a:r>
          </a:p>
          <a:p>
            <a:pPr>
              <a:lnSpc>
                <a:spcPct val="150000"/>
              </a:lnSpc>
            </a:pPr>
            <a:r>
              <a:rPr lang="en-US" sz="1400" b="1" dirty="0" smtClean="0">
                <a:latin typeface="+mn-lt"/>
              </a:rPr>
              <a:t>Step 2: </a:t>
            </a:r>
            <a:r>
              <a:rPr lang="en-US" sz="1400" dirty="0" smtClean="0">
                <a:latin typeface="+mn-lt"/>
              </a:rPr>
              <a:t>If the loan doesn’t </a:t>
            </a:r>
            <a:r>
              <a:rPr lang="en-US" sz="1400" dirty="0">
                <a:latin typeface="+mn-lt"/>
              </a:rPr>
              <a:t>have </a:t>
            </a:r>
            <a:r>
              <a:rPr lang="en-US" sz="1400" dirty="0" smtClean="0">
                <a:latin typeface="+mn-lt"/>
              </a:rPr>
              <a:t>MI, we match it as </a:t>
            </a:r>
            <a:r>
              <a:rPr lang="en-US" sz="1400" dirty="0" err="1" smtClean="0">
                <a:latin typeface="+mn-lt"/>
              </a:rPr>
              <a:t>HARPed</a:t>
            </a:r>
            <a:r>
              <a:rPr lang="en-US" sz="1400" dirty="0" smtClean="0">
                <a:latin typeface="+mn-lt"/>
              </a:rPr>
              <a:t> loan;</a:t>
            </a:r>
          </a:p>
          <a:p>
            <a:pPr indent="571500">
              <a:lnSpc>
                <a:spcPct val="150000"/>
              </a:lnSpc>
            </a:pPr>
            <a:r>
              <a:rPr lang="en-US" sz="1400" dirty="0" smtClean="0">
                <a:latin typeface="+mn-lt"/>
              </a:rPr>
              <a:t>If </a:t>
            </a:r>
            <a:r>
              <a:rPr lang="en-US" sz="1400" dirty="0">
                <a:latin typeface="+mn-lt"/>
              </a:rPr>
              <a:t>not, go to step </a:t>
            </a:r>
            <a:r>
              <a:rPr lang="en-US" sz="1400" dirty="0" smtClean="0">
                <a:latin typeface="+mn-lt"/>
              </a:rPr>
              <a:t>3.</a:t>
            </a:r>
          </a:p>
          <a:p>
            <a:pPr marL="571500" indent="-571500">
              <a:lnSpc>
                <a:spcPct val="150000"/>
              </a:lnSpc>
            </a:pPr>
            <a:r>
              <a:rPr lang="en-US" sz="1400" b="1" dirty="0">
                <a:latin typeface="+mn-lt"/>
              </a:rPr>
              <a:t>Step </a:t>
            </a:r>
            <a:r>
              <a:rPr lang="en-US" sz="1400" b="1" dirty="0" smtClean="0">
                <a:latin typeface="+mn-lt"/>
              </a:rPr>
              <a:t>3: </a:t>
            </a:r>
            <a:r>
              <a:rPr lang="en-US" sz="1400" dirty="0" smtClean="0">
                <a:latin typeface="+mn-lt"/>
              </a:rPr>
              <a:t>For the loans that potentially carry over MI check whether MI matches current underwriting guidelines.  If there’s no match, then it’s a </a:t>
            </a:r>
            <a:r>
              <a:rPr lang="en-US" sz="1400" dirty="0" err="1" smtClean="0">
                <a:latin typeface="+mn-lt"/>
              </a:rPr>
              <a:t>HARPed</a:t>
            </a:r>
            <a:r>
              <a:rPr lang="en-US" sz="1400" dirty="0" smtClean="0">
                <a:latin typeface="+mn-lt"/>
              </a:rPr>
              <a:t> loan.</a:t>
            </a:r>
            <a:endParaRPr lang="en-US" sz="1400" dirty="0">
              <a:latin typeface="+mn-lt"/>
            </a:endParaRPr>
          </a:p>
        </p:txBody>
      </p:sp>
      <p:sp>
        <p:nvSpPr>
          <p:cNvPr id="19" name="Rectangle 18"/>
          <p:cNvSpPr/>
          <p:nvPr/>
        </p:nvSpPr>
        <p:spPr>
          <a:xfrm>
            <a:off x="269288" y="4556812"/>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269288" y="5158792"/>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40787" y="4695996"/>
            <a:ext cx="4069080"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2" name="TextBox 21"/>
          <p:cNvSpPr txBox="1"/>
          <p:nvPr/>
        </p:nvSpPr>
        <p:spPr>
          <a:xfrm>
            <a:off x="269288" y="5299754"/>
            <a:ext cx="5290930" cy="1061829"/>
          </a:xfrm>
          <a:prstGeom prst="rect">
            <a:avLst/>
          </a:prstGeom>
          <a:noFill/>
        </p:spPr>
        <p:txBody>
          <a:bodyPr wrap="square" rtlCol="0">
            <a:spAutoFit/>
          </a:bodyPr>
          <a:lstStyle/>
          <a:p>
            <a:pPr marL="342900" indent="-342900">
              <a:lnSpc>
                <a:spcPct val="150000"/>
              </a:lnSpc>
              <a:buAutoNum type="arabicPeriod"/>
            </a:pPr>
            <a:r>
              <a:rPr lang="en-US" sz="1400" dirty="0" smtClean="0">
                <a:latin typeface="+mn-lt"/>
              </a:rPr>
              <a:t>Cannot match loans with OLTV equal or lower than 80%.</a:t>
            </a:r>
          </a:p>
          <a:p>
            <a:pPr marL="342900" indent="-342900">
              <a:lnSpc>
                <a:spcPct val="150000"/>
              </a:lnSpc>
              <a:buAutoNum type="arabicPeriod"/>
            </a:pPr>
            <a:r>
              <a:rPr lang="en-US" sz="1400" dirty="0" smtClean="0">
                <a:latin typeface="+mn-lt"/>
              </a:rPr>
              <a:t>Highly sensitive to the correctness of MI underwriting guidelines.</a:t>
            </a:r>
          </a:p>
          <a:p>
            <a:pPr>
              <a:lnSpc>
                <a:spcPct val="150000"/>
              </a:lnSpc>
            </a:pPr>
            <a:r>
              <a:rPr lang="en-US" sz="1400" dirty="0" smtClean="0">
                <a:latin typeface="+mn-lt"/>
              </a:rPr>
              <a:t>          </a:t>
            </a:r>
            <a:endParaRPr lang="en-US" sz="1400"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7372" y="1642407"/>
            <a:ext cx="3990975" cy="4819650"/>
          </a:xfrm>
          <a:prstGeom prst="rect">
            <a:avLst/>
          </a:prstGeom>
        </p:spPr>
      </p:pic>
    </p:spTree>
    <p:extLst>
      <p:ext uri="{BB962C8B-B14F-4D97-AF65-F5344CB8AC3E}">
        <p14:creationId xmlns:p14="http://schemas.microsoft.com/office/powerpoint/2010/main" val="3971985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Credit Dataset Mapping Method</a:t>
            </a:r>
            <a:endParaRPr lang="en-US" sz="1600" dirty="0">
              <a:latin typeface="+mn-lt"/>
            </a:endParaRPr>
          </a:p>
        </p:txBody>
      </p:sp>
      <p:grpSp>
        <p:nvGrpSpPr>
          <p:cNvPr id="7" name="Group 6"/>
          <p:cNvGrpSpPr/>
          <p:nvPr/>
        </p:nvGrpSpPr>
        <p:grpSpPr>
          <a:xfrm>
            <a:off x="247856" y="1440477"/>
            <a:ext cx="3266869" cy="4888817"/>
            <a:chOff x="247856" y="1440477"/>
            <a:chExt cx="3962193" cy="4888817"/>
          </a:xfrm>
        </p:grpSpPr>
        <p:sp>
          <p:nvSpPr>
            <p:cNvPr id="15" name="Rectangle 14"/>
            <p:cNvSpPr/>
            <p:nvPr/>
          </p:nvSpPr>
          <p:spPr>
            <a:xfrm>
              <a:off x="247857" y="14404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20424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79661"/>
              <a:ext cx="3285919" cy="307777"/>
            </a:xfrm>
            <a:prstGeom prst="rect">
              <a:avLst/>
            </a:prstGeom>
            <a:noFill/>
          </p:spPr>
          <p:txBody>
            <a:bodyPr wrap="square" rtlCol="0">
              <a:spAutoFit/>
            </a:bodyPr>
            <a:lstStyle/>
            <a:p>
              <a:r>
                <a:rPr lang="en-US" sz="1400" b="1" dirty="0" smtClean="0">
                  <a:latin typeface="+mn-lt"/>
                </a:rPr>
                <a:t>Credit Data Mapping</a:t>
              </a:r>
              <a:endParaRPr lang="en-US" sz="1400" b="1" dirty="0">
                <a:latin typeface="+mn-lt"/>
              </a:endParaRPr>
            </a:p>
          </p:txBody>
        </p:sp>
        <p:sp>
          <p:nvSpPr>
            <p:cNvPr id="18" name="TextBox 17"/>
            <p:cNvSpPr txBox="1"/>
            <p:nvPr/>
          </p:nvSpPr>
          <p:spPr>
            <a:xfrm>
              <a:off x="247856" y="2183419"/>
              <a:ext cx="3962193"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No restrictions on OLTV &gt; 80%.</a:t>
              </a:r>
            </a:p>
            <a:p>
              <a:pPr marL="285750" indent="-285750">
                <a:lnSpc>
                  <a:spcPct val="150000"/>
                </a:lnSpc>
                <a:buFont typeface="Arial" panose="020B0604020202020204" pitchFamily="34" charset="0"/>
                <a:buChar char="•"/>
              </a:pPr>
              <a:r>
                <a:rPr lang="en-US" sz="1400" dirty="0" smtClean="0">
                  <a:latin typeface="+mn-lt"/>
                </a:rPr>
                <a:t>More accurate as there is no dependency on MI underwriting criteria. </a:t>
              </a:r>
              <a:endParaRPr lang="en-US" sz="1400" dirty="0">
                <a:latin typeface="+mn-lt"/>
              </a:endParaRPr>
            </a:p>
          </p:txBody>
        </p:sp>
        <p:sp>
          <p:nvSpPr>
            <p:cNvPr id="23" name="Rectangle 22"/>
            <p:cNvSpPr/>
            <p:nvPr/>
          </p:nvSpPr>
          <p:spPr>
            <a:xfrm>
              <a:off x="247857" y="3688377"/>
              <a:ext cx="435663"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p:nvPr/>
          </p:nvCxnSpPr>
          <p:spPr>
            <a:xfrm>
              <a:off x="247857" y="42903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9356" y="3827561"/>
              <a:ext cx="3285919"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6" name="TextBox 25"/>
            <p:cNvSpPr txBox="1"/>
            <p:nvPr/>
          </p:nvSpPr>
          <p:spPr>
            <a:xfrm>
              <a:off x="247856" y="4297969"/>
              <a:ext cx="3962193"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The credit data set has about a one year lag, meaning we don’t have the most recent origination data. Consequently, we have to mark the HARP status as unknown for recently (within the last year) originated loans.</a:t>
              </a:r>
              <a:endParaRPr lang="en-US" sz="1400" dirty="0">
                <a:latin typeface="+mn-lt"/>
              </a:endParaRPr>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1816" y="1440477"/>
            <a:ext cx="6093321" cy="5350416"/>
          </a:xfrm>
          <a:prstGeom prst="rect">
            <a:avLst/>
          </a:prstGeom>
        </p:spPr>
      </p:pic>
    </p:spTree>
    <p:extLst>
      <p:ext uri="{BB962C8B-B14F-4D97-AF65-F5344CB8AC3E}">
        <p14:creationId xmlns:p14="http://schemas.microsoft.com/office/powerpoint/2010/main" val="34881202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p:cNvGraphicFramePr/>
          <p:nvPr>
            <p:extLst>
              <p:ext uri="{D42A27DB-BD31-4B8C-83A1-F6EECF244321}">
                <p14:modId xmlns:p14="http://schemas.microsoft.com/office/powerpoint/2010/main" val="4203322814"/>
              </p:ext>
            </p:extLst>
          </p:nvPr>
        </p:nvGraphicFramePr>
        <p:xfrm>
          <a:off x="699715" y="1181100"/>
          <a:ext cx="8674873" cy="41833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Results from the Credit Dataset Mapping Method</a:t>
            </a:r>
            <a:endParaRPr lang="en-US" sz="1600" dirty="0">
              <a:latin typeface="+mn-lt"/>
            </a:endParaRPr>
          </a:p>
        </p:txBody>
      </p:sp>
      <p:sp>
        <p:nvSpPr>
          <p:cNvPr id="6" name="TextBox 5"/>
          <p:cNvSpPr txBox="1"/>
          <p:nvPr/>
        </p:nvSpPr>
        <p:spPr>
          <a:xfrm>
            <a:off x="3808674" y="3983603"/>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19" name="TextBox 18"/>
          <p:cNvSpPr txBox="1"/>
          <p:nvPr/>
        </p:nvSpPr>
        <p:spPr>
          <a:xfrm>
            <a:off x="6135757" y="2609351"/>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20" name="TextBox 19"/>
          <p:cNvSpPr txBox="1"/>
          <p:nvPr/>
        </p:nvSpPr>
        <p:spPr>
          <a:xfrm>
            <a:off x="5430741" y="1579656"/>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21" name="TextBox 20"/>
          <p:cNvSpPr txBox="1"/>
          <p:nvPr/>
        </p:nvSpPr>
        <p:spPr>
          <a:xfrm>
            <a:off x="2291301" y="1395451"/>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22" name="TextBox 21"/>
          <p:cNvSpPr txBox="1"/>
          <p:nvPr/>
        </p:nvSpPr>
        <p:spPr>
          <a:xfrm>
            <a:off x="699715" y="5520731"/>
            <a:ext cx="8549586" cy="738664"/>
          </a:xfrm>
          <a:prstGeom prst="rect">
            <a:avLst/>
          </a:prstGeom>
          <a:noFill/>
        </p:spPr>
        <p:txBody>
          <a:bodyPr wrap="square" rtlCol="0">
            <a:spAutoFit/>
          </a:bodyPr>
          <a:lstStyle/>
          <a:p>
            <a:pPr>
              <a:lnSpc>
                <a:spcPct val="150000"/>
              </a:lnSpc>
            </a:pPr>
            <a:r>
              <a:rPr lang="en-US" sz="1400" dirty="0">
                <a:latin typeface="+mn-lt"/>
              </a:rPr>
              <a:t>T</a:t>
            </a:r>
            <a:r>
              <a:rPr lang="en-US" sz="1400" dirty="0" smtClean="0">
                <a:latin typeface="+mn-lt"/>
              </a:rPr>
              <a:t>he blue area can be consider as non-</a:t>
            </a:r>
            <a:r>
              <a:rPr lang="en-US" sz="1400" dirty="0" err="1" smtClean="0">
                <a:latin typeface="+mn-lt"/>
              </a:rPr>
              <a:t>HARPed</a:t>
            </a:r>
            <a:r>
              <a:rPr lang="en-US" sz="1400" dirty="0" smtClean="0">
                <a:latin typeface="+mn-lt"/>
              </a:rPr>
              <a:t> loans</a:t>
            </a:r>
            <a:r>
              <a:rPr lang="en-US" sz="1400" dirty="0">
                <a:latin typeface="+mn-lt"/>
              </a:rPr>
              <a:t>; </a:t>
            </a:r>
            <a:r>
              <a:rPr lang="en-US" sz="1400" dirty="0" smtClean="0">
                <a:latin typeface="+mn-lt"/>
              </a:rPr>
              <a:t>brown area is </a:t>
            </a:r>
            <a:r>
              <a:rPr lang="en-US" sz="1400" dirty="0" err="1" smtClean="0">
                <a:latin typeface="+mn-lt"/>
              </a:rPr>
              <a:t>HARPed</a:t>
            </a:r>
            <a:r>
              <a:rPr lang="en-US" sz="1400" dirty="0" smtClean="0">
                <a:latin typeface="+mn-lt"/>
              </a:rPr>
              <a:t> loans percentage.</a:t>
            </a:r>
          </a:p>
          <a:p>
            <a:pPr>
              <a:lnSpc>
                <a:spcPct val="150000"/>
              </a:lnSpc>
            </a:pPr>
            <a:r>
              <a:rPr lang="en-US" sz="1400" dirty="0" smtClean="0">
                <a:latin typeface="+mn-lt"/>
              </a:rPr>
              <a:t>Red area is the loans originated within the most recent year. The credit dataset has a gap on this area.</a:t>
            </a:r>
          </a:p>
        </p:txBody>
      </p:sp>
      <p:sp>
        <p:nvSpPr>
          <p:cNvPr id="8" name="Isosceles Triangle 7"/>
          <p:cNvSpPr/>
          <p:nvPr/>
        </p:nvSpPr>
        <p:spPr>
          <a:xfrm rot="10800000">
            <a:off x="3694042" y="6259396"/>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99715" y="6500067"/>
            <a:ext cx="8549586" cy="382092"/>
          </a:xfrm>
          <a:prstGeom prst="rect">
            <a:avLst/>
          </a:prstGeom>
          <a:noFill/>
        </p:spPr>
        <p:txBody>
          <a:bodyPr wrap="square" rtlCol="0">
            <a:spAutoFit/>
          </a:bodyPr>
          <a:lstStyle/>
          <a:p>
            <a:pPr algn="ctr">
              <a:lnSpc>
                <a:spcPct val="150000"/>
              </a:lnSpc>
            </a:pPr>
            <a:r>
              <a:rPr lang="en-US" sz="1400" dirty="0" smtClean="0">
                <a:latin typeface="+mn-lt"/>
              </a:rPr>
              <a:t>Need to improve the mapping for the red area.</a:t>
            </a:r>
          </a:p>
        </p:txBody>
      </p:sp>
    </p:spTree>
    <p:extLst>
      <p:ext uri="{BB962C8B-B14F-4D97-AF65-F5344CB8AC3E}">
        <p14:creationId xmlns:p14="http://schemas.microsoft.com/office/powerpoint/2010/main" val="3226674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cxnSp>
        <p:nvCxnSpPr>
          <p:cNvPr id="71" name="AutoShape 8"/>
          <p:cNvCxnSpPr>
            <a:cxnSpLocks noChangeShapeType="1"/>
            <a:stCxn id="86" idx="3"/>
            <a:endCxn id="87" idx="1"/>
          </p:cNvCxnSpPr>
          <p:nvPr/>
        </p:nvCxnSpPr>
        <p:spPr bwMode="auto">
          <a:xfrm flipV="1">
            <a:off x="1784985" y="2878137"/>
            <a:ext cx="591503" cy="1006475"/>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75" name="AutoShape 9"/>
          <p:cNvCxnSpPr>
            <a:cxnSpLocks noChangeShapeType="1"/>
            <a:stCxn id="86" idx="3"/>
            <a:endCxn id="88" idx="1"/>
          </p:cNvCxnSpPr>
          <p:nvPr/>
        </p:nvCxnSpPr>
        <p:spPr bwMode="auto">
          <a:xfrm>
            <a:off x="1784985" y="3884612"/>
            <a:ext cx="591503" cy="1008062"/>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86" name="Rectangle 85"/>
          <p:cNvSpPr>
            <a:spLocks noChangeArrowheads="1"/>
          </p:cNvSpPr>
          <p:nvPr/>
        </p:nvSpPr>
        <p:spPr bwMode="auto">
          <a:xfrm>
            <a:off x="570548" y="3427412"/>
            <a:ext cx="1214437"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200" b="1" dirty="0" smtClean="0">
                <a:solidFill>
                  <a:schemeClr val="accent1"/>
                </a:solidFill>
                <a:latin typeface="+mn-lt"/>
                <a:cs typeface="Arial Unicode MS" pitchFamily="34" charset="-122"/>
              </a:rPr>
              <a:t>Unknown Refi Loans</a:t>
            </a:r>
            <a:endParaRPr lang="en-US" altLang="ja-JP" sz="1200" b="1" dirty="0">
              <a:solidFill>
                <a:schemeClr val="accent1"/>
              </a:solidFill>
              <a:latin typeface="+mn-lt"/>
              <a:cs typeface="Arial Unicode MS" pitchFamily="34" charset="-122"/>
            </a:endParaRPr>
          </a:p>
        </p:txBody>
      </p:sp>
      <p:sp>
        <p:nvSpPr>
          <p:cNvPr id="87" name="Rectangle 86"/>
          <p:cNvSpPr>
            <a:spLocks noChangeArrowheads="1"/>
          </p:cNvSpPr>
          <p:nvPr/>
        </p:nvSpPr>
        <p:spPr bwMode="auto">
          <a:xfrm>
            <a:off x="2376488"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&gt; 80</a:t>
            </a:r>
            <a:endParaRPr lang="en-US" altLang="ja-JP" sz="1200" b="1" dirty="0">
              <a:solidFill>
                <a:schemeClr val="accent1"/>
              </a:solidFill>
              <a:latin typeface="+mn-lt"/>
              <a:cs typeface="Arial Unicode MS" pitchFamily="34" charset="-122"/>
            </a:endParaRPr>
          </a:p>
        </p:txBody>
      </p:sp>
      <p:sp>
        <p:nvSpPr>
          <p:cNvPr id="88" name="Rectangle 87"/>
          <p:cNvSpPr>
            <a:spLocks noChangeArrowheads="1"/>
          </p:cNvSpPr>
          <p:nvPr/>
        </p:nvSpPr>
        <p:spPr bwMode="auto">
          <a:xfrm>
            <a:off x="237648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&lt;= 80</a:t>
            </a:r>
            <a:endParaRPr lang="en-US" altLang="ja-JP" sz="1200" b="1" dirty="0">
              <a:solidFill>
                <a:schemeClr val="accent1"/>
              </a:solidFill>
              <a:latin typeface="+mn-lt"/>
              <a:cs typeface="Arial Unicode MS" pitchFamily="34" charset="-122"/>
            </a:endParaRPr>
          </a:p>
        </p:txBody>
      </p:sp>
      <p:cxnSp>
        <p:nvCxnSpPr>
          <p:cNvPr id="96" name="AutoShape 14"/>
          <p:cNvCxnSpPr>
            <a:cxnSpLocks noChangeShapeType="1"/>
            <a:stCxn id="99" idx="3"/>
            <a:endCxn id="104" idx="1"/>
          </p:cNvCxnSpPr>
          <p:nvPr/>
        </p:nvCxnSpPr>
        <p:spPr bwMode="auto">
          <a:xfrm flipV="1">
            <a:off x="5369242" y="2129749"/>
            <a:ext cx="805180" cy="748388"/>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97" name="AutoShape 15"/>
          <p:cNvCxnSpPr>
            <a:cxnSpLocks noChangeShapeType="1"/>
            <a:stCxn id="99" idx="3"/>
            <a:endCxn id="103" idx="1"/>
          </p:cNvCxnSpPr>
          <p:nvPr/>
        </p:nvCxnSpPr>
        <p:spPr bwMode="auto">
          <a:xfrm>
            <a:off x="5369242" y="2878137"/>
            <a:ext cx="805180" cy="757237"/>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99" name="Rectangle 98"/>
          <p:cNvSpPr>
            <a:spLocks noChangeArrowheads="1"/>
          </p:cNvSpPr>
          <p:nvPr/>
        </p:nvSpPr>
        <p:spPr bwMode="auto">
          <a:xfrm>
            <a:off x="4151630"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MI Test</a:t>
            </a:r>
          </a:p>
          <a:p>
            <a:pPr algn="ctr">
              <a:defRPr/>
            </a:pPr>
            <a:r>
              <a:rPr lang="en-US" altLang="ja-JP" sz="1200" b="1" dirty="0" smtClean="0">
                <a:solidFill>
                  <a:schemeClr val="accent1"/>
                </a:solidFill>
                <a:cs typeface="Arial Unicode MS" pitchFamily="34" charset="-122"/>
              </a:rPr>
              <a:t>Using </a:t>
            </a:r>
            <a:r>
              <a:rPr lang="en-US" altLang="ja-JP" sz="1200" b="1" dirty="0" err="1" smtClean="0">
                <a:solidFill>
                  <a:schemeClr val="accent1"/>
                </a:solidFill>
                <a:cs typeface="Arial Unicode MS" pitchFamily="34" charset="-122"/>
              </a:rPr>
              <a:t>Algo</a:t>
            </a:r>
            <a:r>
              <a:rPr lang="en-US" altLang="ja-JP" sz="1200" b="1" dirty="0" smtClean="0">
                <a:solidFill>
                  <a:schemeClr val="accent1"/>
                </a:solidFill>
                <a:cs typeface="Arial Unicode MS" pitchFamily="34" charset="-122"/>
              </a:rPr>
              <a:t> I</a:t>
            </a:r>
            <a:endParaRPr lang="en-US" altLang="ja-JP" sz="1200" b="1" dirty="0">
              <a:solidFill>
                <a:schemeClr val="accent1"/>
              </a:solidFill>
              <a:latin typeface="+mn-lt"/>
              <a:cs typeface="Arial Unicode MS" pitchFamily="34" charset="-122"/>
            </a:endParaRPr>
          </a:p>
        </p:txBody>
      </p:sp>
      <p:sp>
        <p:nvSpPr>
          <p:cNvPr id="100" name="Rectangle 99"/>
          <p:cNvSpPr>
            <a:spLocks noChangeArrowheads="1"/>
          </p:cNvSpPr>
          <p:nvPr/>
        </p:nvSpPr>
        <p:spPr bwMode="auto">
          <a:xfrm>
            <a:off x="4151630"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Ratio </a:t>
            </a:r>
          </a:p>
          <a:p>
            <a:pPr algn="ctr">
              <a:defRPr/>
            </a:pPr>
            <a:r>
              <a:rPr lang="en-US" altLang="zh-CN" sz="1200" b="1" dirty="0" smtClean="0">
                <a:solidFill>
                  <a:schemeClr val="accent1"/>
                </a:solidFill>
                <a:latin typeface="+mn-lt"/>
                <a:cs typeface="Arial Unicode MS" pitchFamily="34" charset="-122"/>
              </a:rPr>
              <a:t>HARP/Total Refi using </a:t>
            </a:r>
            <a:r>
              <a:rPr lang="en-US" altLang="zh-CN" sz="1200" b="1" dirty="0" err="1" smtClean="0">
                <a:solidFill>
                  <a:schemeClr val="accent1"/>
                </a:solidFill>
                <a:latin typeface="+mn-lt"/>
                <a:cs typeface="Arial Unicode MS" pitchFamily="34" charset="-122"/>
              </a:rPr>
              <a:t>Algo</a:t>
            </a:r>
            <a:r>
              <a:rPr lang="en-US" altLang="zh-CN" sz="1200" b="1" dirty="0" smtClean="0">
                <a:solidFill>
                  <a:schemeClr val="accent1"/>
                </a:solidFill>
                <a:latin typeface="+mn-lt"/>
                <a:cs typeface="Arial Unicode MS" pitchFamily="34" charset="-122"/>
              </a:rPr>
              <a:t> II</a:t>
            </a:r>
            <a:endParaRPr lang="en-US" altLang="ja-JP" sz="1200" b="1" dirty="0">
              <a:solidFill>
                <a:schemeClr val="accent1"/>
              </a:solidFill>
              <a:latin typeface="+mn-lt"/>
              <a:cs typeface="Arial Unicode MS" pitchFamily="34" charset="-122"/>
            </a:endParaRPr>
          </a:p>
        </p:txBody>
      </p:sp>
      <p:sp>
        <p:nvSpPr>
          <p:cNvPr id="103" name="Rectangle 102"/>
          <p:cNvSpPr>
            <a:spLocks noChangeArrowheads="1"/>
          </p:cNvSpPr>
          <p:nvPr/>
        </p:nvSpPr>
        <p:spPr bwMode="auto">
          <a:xfrm>
            <a:off x="6174422" y="3178174"/>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cs typeface="Arial Unicode MS" pitchFamily="34" charset="-122"/>
              </a:rPr>
              <a:t>N: Non-</a:t>
            </a:r>
            <a:r>
              <a:rPr lang="en-US" altLang="zh-CN" sz="1200" b="1" dirty="0" err="1" smtClean="0">
                <a:solidFill>
                  <a:schemeClr val="accent1"/>
                </a:solidFill>
                <a:cs typeface="Arial Unicode MS" pitchFamily="34" charset="-122"/>
              </a:rPr>
              <a:t>HARPed</a:t>
            </a:r>
            <a:endParaRPr lang="en-US" altLang="zh-CN" sz="1200" b="1" dirty="0" smtClean="0">
              <a:solidFill>
                <a:schemeClr val="accent1"/>
              </a:solidFill>
              <a:cs typeface="Arial Unicode MS" pitchFamily="34" charset="-122"/>
            </a:endParaRPr>
          </a:p>
          <a:p>
            <a:pPr algn="ctr">
              <a:defRPr/>
            </a:pPr>
            <a:r>
              <a:rPr lang="en-US" altLang="zh-CN" sz="1200" b="1" dirty="0" smtClean="0">
                <a:solidFill>
                  <a:schemeClr val="accent1"/>
                </a:solidFill>
                <a:cs typeface="Arial Unicode MS" pitchFamily="34" charset="-122"/>
              </a:rPr>
              <a:t>HARP</a:t>
            </a:r>
            <a:r>
              <a:rPr lang="en-US" altLang="zh-CN" sz="1200" b="1" dirty="0">
                <a:solidFill>
                  <a:schemeClr val="accent1"/>
                </a:solidFill>
                <a:cs typeface="Arial Unicode MS" pitchFamily="34" charset="-122"/>
              </a:rPr>
              <a:t>% = </a:t>
            </a:r>
            <a:r>
              <a:rPr lang="en-US" altLang="zh-CN" sz="1200" b="1" dirty="0" smtClean="0">
                <a:solidFill>
                  <a:schemeClr val="accent1"/>
                </a:solidFill>
                <a:cs typeface="Arial Unicode MS" pitchFamily="34" charset="-122"/>
              </a:rPr>
              <a:t>0</a:t>
            </a:r>
            <a:endParaRPr lang="en-US" altLang="ja-JP" sz="1200" b="1" dirty="0">
              <a:solidFill>
                <a:schemeClr val="accent1"/>
              </a:solidFill>
              <a:cs typeface="Arial Unicode MS" pitchFamily="34" charset="-122"/>
            </a:endParaRPr>
          </a:p>
        </p:txBody>
      </p:sp>
      <p:sp>
        <p:nvSpPr>
          <p:cNvPr id="104" name="Rectangle 103"/>
          <p:cNvSpPr>
            <a:spLocks noChangeArrowheads="1"/>
          </p:cNvSpPr>
          <p:nvPr/>
        </p:nvSpPr>
        <p:spPr bwMode="auto">
          <a:xfrm>
            <a:off x="6174422" y="1672549"/>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Y: </a:t>
            </a:r>
            <a:r>
              <a:rPr lang="en-US" altLang="zh-CN" sz="1200" b="1" dirty="0" err="1" smtClean="0">
                <a:solidFill>
                  <a:schemeClr val="accent1"/>
                </a:solidFill>
                <a:latin typeface="+mn-lt"/>
                <a:cs typeface="Arial Unicode MS" pitchFamily="34" charset="-122"/>
              </a:rPr>
              <a:t>HARPed</a:t>
            </a:r>
            <a:endParaRPr lang="en-US" altLang="zh-CN" sz="1200" b="1" dirty="0" smtClean="0">
              <a:solidFill>
                <a:schemeClr val="accent1"/>
              </a:solidFill>
              <a:latin typeface="+mn-lt"/>
              <a:cs typeface="Arial Unicode MS" pitchFamily="34" charset="-122"/>
            </a:endParaRPr>
          </a:p>
          <a:p>
            <a:pPr algn="ctr">
              <a:defRPr/>
            </a:pPr>
            <a:r>
              <a:rPr lang="en-US" altLang="zh-CN" sz="1200" b="1" dirty="0" smtClean="0">
                <a:solidFill>
                  <a:schemeClr val="accent1"/>
                </a:solidFill>
                <a:latin typeface="+mn-lt"/>
                <a:cs typeface="Arial Unicode MS" pitchFamily="34" charset="-122"/>
              </a:rPr>
              <a:t>HARP% = 100</a:t>
            </a:r>
            <a:endParaRPr lang="en-US" altLang="ja-JP" sz="1200" b="1" dirty="0">
              <a:solidFill>
                <a:schemeClr val="accent1"/>
              </a:solidFill>
              <a:latin typeface="+mn-lt"/>
              <a:cs typeface="Arial Unicode MS" pitchFamily="34" charset="-122"/>
            </a:endParaRPr>
          </a:p>
        </p:txBody>
      </p:sp>
      <p:cxnSp>
        <p:nvCxnSpPr>
          <p:cNvPr id="7" name="Straight Connector 6"/>
          <p:cNvCxnSpPr>
            <a:stCxn id="87" idx="3"/>
            <a:endCxn id="99" idx="1"/>
          </p:cNvCxnSpPr>
          <p:nvPr/>
        </p:nvCxnSpPr>
        <p:spPr>
          <a:xfrm>
            <a:off x="3594100" y="2878137"/>
            <a:ext cx="557530" cy="0"/>
          </a:xfrm>
          <a:prstGeom prst="line">
            <a:avLst/>
          </a:prstGeom>
          <a:ln/>
        </p:spPr>
        <p:style>
          <a:lnRef idx="2">
            <a:schemeClr val="accent1"/>
          </a:lnRef>
          <a:fillRef idx="1">
            <a:schemeClr val="lt1"/>
          </a:fillRef>
          <a:effectRef idx="0">
            <a:schemeClr val="accent1"/>
          </a:effectRef>
          <a:fontRef idx="minor">
            <a:schemeClr val="dk1"/>
          </a:fontRef>
        </p:style>
      </p:cxnSp>
      <p:cxnSp>
        <p:nvCxnSpPr>
          <p:cNvPr id="107" name="Straight Connector 106"/>
          <p:cNvCxnSpPr>
            <a:stCxn id="88" idx="3"/>
            <a:endCxn id="100" idx="1"/>
          </p:cNvCxnSpPr>
          <p:nvPr/>
        </p:nvCxnSpPr>
        <p:spPr>
          <a:xfrm>
            <a:off x="3594100" y="4892674"/>
            <a:ext cx="557530" cy="0"/>
          </a:xfrm>
          <a:prstGeom prst="line">
            <a:avLst/>
          </a:prstGeom>
          <a:ln/>
        </p:spPr>
        <p:style>
          <a:lnRef idx="2">
            <a:schemeClr val="accent1"/>
          </a:lnRef>
          <a:fillRef idx="1">
            <a:schemeClr val="lt1"/>
          </a:fillRef>
          <a:effectRef idx="0">
            <a:schemeClr val="accent1"/>
          </a:effectRef>
          <a:fontRef idx="minor">
            <a:schemeClr val="dk1"/>
          </a:fontRef>
        </p:style>
      </p:cxnSp>
      <p:sp>
        <p:nvSpPr>
          <p:cNvPr id="108" name="Rectangle 107"/>
          <p:cNvSpPr>
            <a:spLocks noChangeArrowheads="1"/>
          </p:cNvSpPr>
          <p:nvPr/>
        </p:nvSpPr>
        <p:spPr bwMode="auto">
          <a:xfrm>
            <a:off x="617124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a:solidFill>
                  <a:schemeClr val="accent1"/>
                </a:solidFill>
                <a:cs typeface="Arial Unicode MS" pitchFamily="34" charset="-122"/>
              </a:rPr>
              <a:t>HARP% </a:t>
            </a:r>
            <a:r>
              <a:rPr lang="en-US" altLang="zh-CN" sz="1200" b="1" dirty="0" smtClean="0">
                <a:solidFill>
                  <a:schemeClr val="accent1"/>
                </a:solidFill>
                <a:cs typeface="Arial Unicode MS" pitchFamily="34" charset="-122"/>
              </a:rPr>
              <a:t>= Ratio from last step</a:t>
            </a:r>
            <a:endParaRPr lang="en-US" altLang="ja-JP" sz="1200" b="1" dirty="0">
              <a:solidFill>
                <a:schemeClr val="accent1"/>
              </a:solidFill>
              <a:cs typeface="Arial Unicode MS" pitchFamily="34" charset="-122"/>
            </a:endParaRPr>
          </a:p>
        </p:txBody>
      </p:sp>
      <p:cxnSp>
        <p:nvCxnSpPr>
          <p:cNvPr id="109" name="Straight Connector 108"/>
          <p:cNvCxnSpPr>
            <a:stCxn id="100" idx="3"/>
            <a:endCxn id="108" idx="1"/>
          </p:cNvCxnSpPr>
          <p:nvPr/>
        </p:nvCxnSpPr>
        <p:spPr>
          <a:xfrm>
            <a:off x="5369242" y="4892674"/>
            <a:ext cx="802006" cy="0"/>
          </a:xfrm>
          <a:prstGeom prst="line">
            <a:avLst/>
          </a:prstGeom>
          <a:ln/>
        </p:spPr>
        <p:style>
          <a:lnRef idx="2">
            <a:schemeClr val="accent1"/>
          </a:lnRef>
          <a:fillRef idx="1">
            <a:schemeClr val="lt1"/>
          </a:fillRef>
          <a:effectRef idx="0">
            <a:schemeClr val="accent1"/>
          </a:effectRef>
          <a:fontRef idx="minor">
            <a:schemeClr val="dk1"/>
          </a:fontRef>
        </p:style>
      </p:cxnSp>
      <p:sp>
        <p:nvSpPr>
          <p:cNvPr id="37" name="Isosceles Triangle 36"/>
          <p:cNvSpPr/>
          <p:nvPr/>
        </p:nvSpPr>
        <p:spPr>
          <a:xfrm rot="5400000">
            <a:off x="6888480" y="3462588"/>
            <a:ext cx="1888437" cy="13716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p:cNvSpPr>
            <a:spLocks noChangeArrowheads="1"/>
          </p:cNvSpPr>
          <p:nvPr/>
        </p:nvSpPr>
        <p:spPr bwMode="auto">
          <a:xfrm>
            <a:off x="8221028" y="3178174"/>
            <a:ext cx="1217612" cy="914400"/>
          </a:xfrm>
          <a:prstGeom prst="rect">
            <a:avLst/>
          </a:prstGeom>
          <a:ln>
            <a:noFill/>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anchor="ctr">
            <a:noAutofit/>
          </a:bodyPr>
          <a:lstStyle/>
          <a:p>
            <a:pPr algn="ctr">
              <a:defRPr/>
            </a:pPr>
            <a:r>
              <a:rPr lang="en-US" altLang="zh-CN" sz="1200" b="1" dirty="0" smtClean="0">
                <a:solidFill>
                  <a:schemeClr val="bg1"/>
                </a:solidFill>
                <a:cs typeface="Arial Unicode MS" pitchFamily="34" charset="-122"/>
              </a:rPr>
              <a:t>HARP % for each loan</a:t>
            </a:r>
            <a:endParaRPr lang="en-US" altLang="ja-JP" sz="1200" b="1" dirty="0">
              <a:solidFill>
                <a:schemeClr val="bg1"/>
              </a:solidFill>
              <a:cs typeface="Arial Unicode MS" pitchFamily="34" charset="-122"/>
            </a:endParaRPr>
          </a:p>
        </p:txBody>
      </p:sp>
      <p:sp>
        <p:nvSpPr>
          <p:cNvPr id="111" name="Rectangle 110"/>
          <p:cNvSpPr>
            <a:spLocks noChangeArrowheads="1"/>
          </p:cNvSpPr>
          <p:nvPr/>
        </p:nvSpPr>
        <p:spPr bwMode="auto">
          <a:xfrm>
            <a:off x="944880" y="5837554"/>
            <a:ext cx="8000999" cy="914400"/>
          </a:xfrm>
          <a:prstGeom prst="rect">
            <a:avLst/>
          </a:prstGeom>
          <a:ln>
            <a:headEnd type="none" w="sm" len="sm"/>
            <a:tailEnd type="none" w="sm" len="sm"/>
          </a:ln>
        </p:spPr>
        <p:style>
          <a:lnRef idx="2">
            <a:schemeClr val="accent3"/>
          </a:lnRef>
          <a:fillRef idx="1">
            <a:schemeClr val="lt1"/>
          </a:fillRef>
          <a:effectRef idx="0">
            <a:schemeClr val="accent3"/>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tx1"/>
                </a:solidFill>
                <a:cs typeface="Arial Unicode MS" pitchFamily="34" charset="-122"/>
              </a:rPr>
              <a:t>Estimate a percentage chance the loan is originated from HARP program for each loan.</a:t>
            </a:r>
            <a:endParaRPr lang="en-US" altLang="ja-JP" sz="1200" b="1" dirty="0">
              <a:solidFill>
                <a:schemeClr val="tx1"/>
              </a:solidFill>
              <a:cs typeface="Arial Unicode MS" pitchFamily="34" charset="-122"/>
            </a:endParaRPr>
          </a:p>
        </p:txBody>
      </p:sp>
    </p:spTree>
    <p:extLst>
      <p:ext uri="{BB962C8B-B14F-4D97-AF65-F5344CB8AC3E}">
        <p14:creationId xmlns:p14="http://schemas.microsoft.com/office/powerpoint/2010/main" val="29312224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graphicFrame>
        <p:nvGraphicFramePr>
          <p:cNvPr id="16" name="Table 15"/>
          <p:cNvGraphicFramePr>
            <a:graphicFrameLocks noGrp="1"/>
          </p:cNvGraphicFramePr>
          <p:nvPr>
            <p:extLst>
              <p:ext uri="{D42A27DB-BD31-4B8C-83A1-F6EECF244321}">
                <p14:modId xmlns:p14="http://schemas.microsoft.com/office/powerpoint/2010/main" val="1361078369"/>
              </p:ext>
            </p:extLst>
          </p:nvPr>
        </p:nvGraphicFramePr>
        <p:xfrm>
          <a:off x="1229250" y="1698375"/>
          <a:ext cx="2809350" cy="1209926"/>
        </p:xfrm>
        <a:graphic>
          <a:graphicData uri="http://schemas.openxmlformats.org/drawingml/2006/table">
            <a:tbl>
              <a:tblPr>
                <a:tableStyleId>{5C22544A-7EE6-4342-B048-85BDC9FD1C3A}</a:tableStyleId>
              </a:tblPr>
              <a:tblGrid>
                <a:gridCol w="2174350"/>
                <a:gridCol w="635000"/>
              </a:tblGrid>
              <a:tr h="514829">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r>
              <a:tr h="695097">
                <a:tc>
                  <a:txBody>
                    <a:bodyPr/>
                    <a:lstStyle/>
                    <a:p>
                      <a:pPr algn="ctr"/>
                      <a:r>
                        <a:rPr lang="en-US" sz="800" dirty="0" smtClean="0">
                          <a:solidFill>
                            <a:schemeClr val="accent1"/>
                          </a:solidFill>
                        </a:rPr>
                        <a:t>Mapped Data</a:t>
                      </a:r>
                      <a:endParaRPr lang="en-US" sz="8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p>
                      <a:pPr algn="ctr"/>
                      <a:endParaRPr lang="en-US" sz="800" dirty="0"/>
                    </a:p>
                  </a:txBody>
                  <a:tcPr anchor="ctr">
                    <a:solidFill>
                      <a:srgbClr val="F6D6E3"/>
                    </a:solidFill>
                  </a:tcPr>
                </a:tc>
              </a:tr>
            </a:tbl>
          </a:graphicData>
        </a:graphic>
      </p:graphicFrame>
      <p:grpSp>
        <p:nvGrpSpPr>
          <p:cNvPr id="18" name="Group 17"/>
          <p:cNvGrpSpPr/>
          <p:nvPr/>
        </p:nvGrpSpPr>
        <p:grpSpPr>
          <a:xfrm>
            <a:off x="644444" y="1218677"/>
            <a:ext cx="3708828" cy="1825347"/>
            <a:chOff x="644444" y="1218677"/>
            <a:chExt cx="3708828" cy="1825347"/>
          </a:xfrm>
        </p:grpSpPr>
        <p:cxnSp>
          <p:nvCxnSpPr>
            <p:cNvPr id="13" name="Straight Connector 12"/>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24" name="TextBox 23"/>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25" name="TextBox 24"/>
            <p:cNvSpPr txBox="1"/>
            <p:nvPr/>
          </p:nvSpPr>
          <p:spPr>
            <a:xfrm>
              <a:off x="2308572" y="1218677"/>
              <a:ext cx="757937" cy="253916"/>
            </a:xfrm>
            <a:prstGeom prst="rect">
              <a:avLst/>
            </a:prstGeom>
            <a:noFill/>
          </p:spPr>
          <p:txBody>
            <a:bodyPr wrap="square" rtlCol="0">
              <a:spAutoFit/>
            </a:bodyPr>
            <a:lstStyle/>
            <a:p>
              <a:pPr algn="ctr"/>
              <a:r>
                <a:rPr lang="en-US" sz="1050" b="1" dirty="0" smtClean="0">
                  <a:latin typeface="+mn-lt"/>
                </a:rPr>
                <a:t>As of</a:t>
              </a:r>
              <a:endParaRPr lang="en-US" sz="1050" b="1" dirty="0">
                <a:latin typeface="+mn-lt"/>
              </a:endParaRPr>
            </a:p>
          </p:txBody>
        </p:sp>
        <p:sp>
          <p:nvSpPr>
            <p:cNvPr id="26" name="TextBox 25"/>
            <p:cNvSpPr txBox="1"/>
            <p:nvPr/>
          </p:nvSpPr>
          <p:spPr>
            <a:xfrm>
              <a:off x="824991" y="20945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17" name="TextBox 16"/>
            <p:cNvSpPr txBox="1"/>
            <p:nvPr/>
          </p:nvSpPr>
          <p:spPr>
            <a:xfrm>
              <a:off x="937078" y="2298724"/>
              <a:ext cx="323165" cy="309435"/>
            </a:xfrm>
            <a:prstGeom prst="rect">
              <a:avLst/>
            </a:prstGeom>
            <a:noFill/>
          </p:spPr>
          <p:txBody>
            <a:bodyPr vert="eaVert" wrap="square" rtlCol="0">
              <a:spAutoFit/>
            </a:bodyPr>
            <a:lstStyle/>
            <a:p>
              <a:r>
                <a:rPr lang="en-US" sz="900" dirty="0" smtClean="0"/>
                <a:t>...</a:t>
              </a:r>
              <a:endParaRPr lang="en-US" sz="900" dirty="0"/>
            </a:p>
          </p:txBody>
        </p:sp>
        <p:sp>
          <p:nvSpPr>
            <p:cNvPr id="28" name="TextBox 27"/>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38" name="TextBox 37"/>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39" name="TextBox 38"/>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40" name="TextBox 39"/>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41" name="TextBox 40"/>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graphicFrame>
        <p:nvGraphicFramePr>
          <p:cNvPr id="42" name="Table 41"/>
          <p:cNvGraphicFramePr>
            <a:graphicFrameLocks noGrp="1"/>
          </p:cNvGraphicFramePr>
          <p:nvPr>
            <p:extLst>
              <p:ext uri="{D42A27DB-BD31-4B8C-83A1-F6EECF244321}">
                <p14:modId xmlns:p14="http://schemas.microsoft.com/office/powerpoint/2010/main" val="1496387439"/>
              </p:ext>
            </p:extLst>
          </p:nvPr>
        </p:nvGraphicFramePr>
        <p:xfrm>
          <a:off x="1229250" y="3525865"/>
          <a:ext cx="2809350" cy="1211236"/>
        </p:xfrm>
        <a:graphic>
          <a:graphicData uri="http://schemas.openxmlformats.org/drawingml/2006/table">
            <a:tbl>
              <a:tblPr>
                <a:tableStyleId>{5C22544A-7EE6-4342-B048-85BDC9FD1C3A}</a:tableStyleId>
              </a:tblPr>
              <a:tblGrid>
                <a:gridCol w="2174350"/>
                <a:gridCol w="635000"/>
              </a:tblGrid>
              <a:tr h="491651">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txBody>
                  <a:tcPr anchor="ctr">
                    <a:solidFill>
                      <a:schemeClr val="bg2"/>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txBody>
                  <a:tcPr anchor="ctr">
                    <a:solidFill>
                      <a:schemeClr val="bg2"/>
                    </a:solidFill>
                  </a:tcPr>
                </a:tc>
              </a:tr>
              <a:tr h="719585">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r>
            </a:tbl>
          </a:graphicData>
        </a:graphic>
      </p:graphicFrame>
      <p:grpSp>
        <p:nvGrpSpPr>
          <p:cNvPr id="43" name="Group 42"/>
          <p:cNvGrpSpPr/>
          <p:nvPr/>
        </p:nvGrpSpPr>
        <p:grpSpPr>
          <a:xfrm>
            <a:off x="644444" y="3046167"/>
            <a:ext cx="3708828" cy="1825347"/>
            <a:chOff x="644444" y="1218677"/>
            <a:chExt cx="3708828" cy="1825347"/>
          </a:xfrm>
        </p:grpSpPr>
        <p:cxnSp>
          <p:nvCxnSpPr>
            <p:cNvPr id="44" name="Straight Connector 43"/>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47" name="TextBox 46"/>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48" name="TextBox 47"/>
            <p:cNvSpPr txBox="1"/>
            <p:nvPr/>
          </p:nvSpPr>
          <p:spPr>
            <a:xfrm>
              <a:off x="2308572" y="1218677"/>
              <a:ext cx="757937" cy="253916"/>
            </a:xfrm>
            <a:prstGeom prst="rect">
              <a:avLst/>
            </a:prstGeom>
            <a:noFill/>
          </p:spPr>
          <p:txBody>
            <a:bodyPr wrap="square" rtlCol="0">
              <a:spAutoFit/>
            </a:bodyPr>
            <a:lstStyle/>
            <a:p>
              <a:pPr algn="ctr"/>
              <a:r>
                <a:rPr lang="en-US" sz="1050" b="1" dirty="0" smtClean="0">
                  <a:latin typeface="+mn-lt"/>
                </a:rPr>
                <a:t>As of</a:t>
              </a:r>
              <a:endParaRPr lang="en-US" sz="1050" b="1" dirty="0">
                <a:latin typeface="+mn-lt"/>
              </a:endParaRPr>
            </a:p>
          </p:txBody>
        </p:sp>
        <p:sp>
          <p:nvSpPr>
            <p:cNvPr id="49" name="TextBox 48"/>
            <p:cNvSpPr txBox="1"/>
            <p:nvPr/>
          </p:nvSpPr>
          <p:spPr>
            <a:xfrm>
              <a:off x="824991" y="20691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50" name="TextBox 49"/>
            <p:cNvSpPr txBox="1"/>
            <p:nvPr/>
          </p:nvSpPr>
          <p:spPr>
            <a:xfrm>
              <a:off x="937078" y="2273324"/>
              <a:ext cx="323165" cy="309435"/>
            </a:xfrm>
            <a:prstGeom prst="rect">
              <a:avLst/>
            </a:prstGeom>
            <a:noFill/>
          </p:spPr>
          <p:txBody>
            <a:bodyPr vert="eaVert" wrap="square" rtlCol="0">
              <a:spAutoFit/>
            </a:bodyPr>
            <a:lstStyle/>
            <a:p>
              <a:r>
                <a:rPr lang="en-US" sz="900" dirty="0" smtClean="0"/>
                <a:t>...</a:t>
              </a:r>
              <a:endParaRPr lang="en-US" sz="900" dirty="0"/>
            </a:p>
          </p:txBody>
        </p:sp>
        <p:sp>
          <p:nvSpPr>
            <p:cNvPr id="51" name="TextBox 50"/>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52" name="TextBox 51"/>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53" name="TextBox 52"/>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54" name="TextBox 53"/>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55" name="TextBox 54"/>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graphicFrame>
        <p:nvGraphicFramePr>
          <p:cNvPr id="56" name="Table 55"/>
          <p:cNvGraphicFramePr>
            <a:graphicFrameLocks noGrp="1"/>
          </p:cNvGraphicFramePr>
          <p:nvPr>
            <p:extLst>
              <p:ext uri="{D42A27DB-BD31-4B8C-83A1-F6EECF244321}">
                <p14:modId xmlns:p14="http://schemas.microsoft.com/office/powerpoint/2010/main" val="3139145929"/>
              </p:ext>
            </p:extLst>
          </p:nvPr>
        </p:nvGraphicFramePr>
        <p:xfrm>
          <a:off x="1229250" y="5811865"/>
          <a:ext cx="2809350" cy="1179486"/>
        </p:xfrm>
        <a:graphic>
          <a:graphicData uri="http://schemas.openxmlformats.org/drawingml/2006/table">
            <a:tbl>
              <a:tblPr>
                <a:solidFill>
                  <a:srgbClr val="E6EDDF">
                    <a:alpha val="78039"/>
                  </a:srgbClr>
                </a:solidFill>
                <a:tableStyleId>{5C22544A-7EE6-4342-B048-85BDC9FD1C3A}</a:tableStyleId>
              </a:tblPr>
              <a:tblGrid>
                <a:gridCol w="2174350"/>
                <a:gridCol w="635000"/>
              </a:tblGrid>
              <a:tr h="478763">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p>
                      <a:pPr algn="ctr"/>
                      <a:endParaRPr lang="en-US" sz="1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p>
                      <a:pPr algn="ctr"/>
                      <a:endParaRPr lang="en-US" sz="100" dirty="0"/>
                    </a:p>
                  </a:txBody>
                  <a:tcPr anchor="ctr">
                    <a:solidFill>
                      <a:schemeClr val="bg2"/>
                    </a:solidFill>
                  </a:tcPr>
                </a:tc>
              </a:tr>
              <a:tr h="700723">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p>
                      <a:pPr algn="ctr"/>
                      <a:endParaRPr lang="en-US" sz="1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2E8A60"/>
                          </a:solidFill>
                        </a:rPr>
                        <a:t>% HARP</a:t>
                      </a:r>
                    </a:p>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2E8A60"/>
                          </a:solidFill>
                        </a:rPr>
                        <a:t>Adjust.</a:t>
                      </a:r>
                      <a:endParaRPr lang="en-US" sz="100" dirty="0">
                        <a:solidFill>
                          <a:srgbClr val="2E8A60"/>
                        </a:solidFill>
                      </a:endParaRPr>
                    </a:p>
                  </a:txBody>
                  <a:tcPr anchor="ctr">
                    <a:solidFill>
                      <a:srgbClr val="E2F6ED"/>
                    </a:solidFill>
                  </a:tcPr>
                </a:tc>
              </a:tr>
            </a:tbl>
          </a:graphicData>
        </a:graphic>
      </p:graphicFrame>
      <p:grpSp>
        <p:nvGrpSpPr>
          <p:cNvPr id="57" name="Group 56"/>
          <p:cNvGrpSpPr/>
          <p:nvPr/>
        </p:nvGrpSpPr>
        <p:grpSpPr>
          <a:xfrm>
            <a:off x="644444" y="5332167"/>
            <a:ext cx="3708828" cy="1825347"/>
            <a:chOff x="644444" y="1218677"/>
            <a:chExt cx="3708828" cy="1825347"/>
          </a:xfrm>
        </p:grpSpPr>
        <p:cxnSp>
          <p:nvCxnSpPr>
            <p:cNvPr id="58" name="Straight Connector 57"/>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61" name="TextBox 60"/>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62" name="TextBox 61"/>
            <p:cNvSpPr txBox="1"/>
            <p:nvPr/>
          </p:nvSpPr>
          <p:spPr>
            <a:xfrm>
              <a:off x="2308572" y="1218677"/>
              <a:ext cx="757937" cy="253916"/>
            </a:xfrm>
            <a:prstGeom prst="rect">
              <a:avLst/>
            </a:prstGeom>
            <a:noFill/>
          </p:spPr>
          <p:txBody>
            <a:bodyPr wrap="square" rtlCol="0">
              <a:spAutoFit/>
            </a:bodyPr>
            <a:lstStyle/>
            <a:p>
              <a:pPr algn="ctr"/>
              <a:r>
                <a:rPr lang="en-US" sz="1050" b="1" dirty="0" smtClean="0">
                  <a:latin typeface="+mn-lt"/>
                </a:rPr>
                <a:t>As of</a:t>
              </a:r>
              <a:endParaRPr lang="en-US" sz="1050" b="1" dirty="0">
                <a:latin typeface="+mn-lt"/>
              </a:endParaRPr>
            </a:p>
          </p:txBody>
        </p:sp>
        <p:sp>
          <p:nvSpPr>
            <p:cNvPr id="63" name="TextBox 62"/>
            <p:cNvSpPr txBox="1"/>
            <p:nvPr/>
          </p:nvSpPr>
          <p:spPr>
            <a:xfrm>
              <a:off x="824991" y="20691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64" name="TextBox 63"/>
            <p:cNvSpPr txBox="1"/>
            <p:nvPr/>
          </p:nvSpPr>
          <p:spPr>
            <a:xfrm>
              <a:off x="937078" y="2273324"/>
              <a:ext cx="323165" cy="309435"/>
            </a:xfrm>
            <a:prstGeom prst="rect">
              <a:avLst/>
            </a:prstGeom>
            <a:noFill/>
          </p:spPr>
          <p:txBody>
            <a:bodyPr vert="eaVert" wrap="square" rtlCol="0">
              <a:spAutoFit/>
            </a:bodyPr>
            <a:lstStyle/>
            <a:p>
              <a:r>
                <a:rPr lang="en-US" sz="900" dirty="0" smtClean="0"/>
                <a:t>...</a:t>
              </a:r>
              <a:endParaRPr lang="en-US" sz="900" dirty="0"/>
            </a:p>
          </p:txBody>
        </p:sp>
        <p:sp>
          <p:nvSpPr>
            <p:cNvPr id="65" name="TextBox 64"/>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66" name="TextBox 65"/>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67" name="TextBox 66"/>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68" name="TextBox 67"/>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69" name="TextBox 68"/>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sp>
        <p:nvSpPr>
          <p:cNvPr id="70" name="Isosceles Triangle 69"/>
          <p:cNvSpPr/>
          <p:nvPr/>
        </p:nvSpPr>
        <p:spPr>
          <a:xfrm rot="10800000">
            <a:off x="1545514" y="5150982"/>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p:cNvCxnSpPr/>
          <p:nvPr/>
        </p:nvCxnSpPr>
        <p:spPr>
          <a:xfrm flipH="1">
            <a:off x="5086350" y="1125926"/>
            <a:ext cx="0" cy="5933844"/>
          </a:xfrm>
          <a:prstGeom prst="line">
            <a:avLst/>
          </a:prstGeom>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349250" y="1472593"/>
            <a:ext cx="295193" cy="14992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Algorithm </a:t>
            </a:r>
            <a:r>
              <a:rPr lang="en-US" sz="1400" dirty="0" smtClean="0"/>
              <a:t>II</a:t>
            </a:r>
            <a:endParaRPr lang="en-US" sz="1400" dirty="0"/>
          </a:p>
        </p:txBody>
      </p:sp>
      <p:sp>
        <p:nvSpPr>
          <p:cNvPr id="74" name="Rectangle 73"/>
          <p:cNvSpPr/>
          <p:nvPr/>
        </p:nvSpPr>
        <p:spPr>
          <a:xfrm>
            <a:off x="344446" y="3384257"/>
            <a:ext cx="295193" cy="1516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Algorithm </a:t>
            </a:r>
            <a:r>
              <a:rPr lang="en-US" sz="1400" dirty="0" smtClean="0"/>
              <a:t>I</a:t>
            </a:r>
            <a:endParaRPr lang="en-US" sz="1400" dirty="0"/>
          </a:p>
        </p:txBody>
      </p:sp>
      <p:sp>
        <p:nvSpPr>
          <p:cNvPr id="76" name="Plus 75"/>
          <p:cNvSpPr/>
          <p:nvPr/>
        </p:nvSpPr>
        <p:spPr>
          <a:xfrm>
            <a:off x="349250" y="3046167"/>
            <a:ext cx="290389" cy="22860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49250" y="5565641"/>
            <a:ext cx="295193" cy="1516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Enhanced </a:t>
            </a:r>
            <a:r>
              <a:rPr lang="en-US" sz="1400" dirty="0" err="1" smtClean="0"/>
              <a:t>Algo</a:t>
            </a:r>
            <a:r>
              <a:rPr lang="en-US" sz="1400" dirty="0" smtClean="0"/>
              <a:t>.</a:t>
            </a:r>
            <a:endParaRPr lang="en-US" sz="1400" dirty="0"/>
          </a:p>
        </p:txBody>
      </p:sp>
      <p:sp>
        <p:nvSpPr>
          <p:cNvPr id="78" name="TextBox 77"/>
          <p:cNvSpPr txBox="1"/>
          <p:nvPr/>
        </p:nvSpPr>
        <p:spPr>
          <a:xfrm>
            <a:off x="4123606" y="1942132"/>
            <a:ext cx="962743" cy="646331"/>
          </a:xfrm>
          <a:prstGeom prst="rect">
            <a:avLst/>
          </a:prstGeom>
          <a:noFill/>
        </p:spPr>
        <p:txBody>
          <a:bodyPr wrap="square" rtlCol="0">
            <a:spAutoFit/>
          </a:bodyPr>
          <a:lstStyle/>
          <a:p>
            <a:r>
              <a:rPr lang="en-US" sz="900" dirty="0" smtClean="0">
                <a:latin typeface="+mn-lt"/>
              </a:rPr>
              <a:t>One-year gap, unable to map recent year HARP loans.</a:t>
            </a:r>
            <a:endParaRPr lang="en-US" sz="900" dirty="0">
              <a:latin typeface="+mn-lt"/>
            </a:endParaRPr>
          </a:p>
        </p:txBody>
      </p:sp>
      <p:sp>
        <p:nvSpPr>
          <p:cNvPr id="79" name="TextBox 78"/>
          <p:cNvSpPr txBox="1"/>
          <p:nvPr/>
        </p:nvSpPr>
        <p:spPr>
          <a:xfrm>
            <a:off x="4123607" y="4078853"/>
            <a:ext cx="962743" cy="507831"/>
          </a:xfrm>
          <a:prstGeom prst="rect">
            <a:avLst/>
          </a:prstGeom>
          <a:noFill/>
        </p:spPr>
        <p:txBody>
          <a:bodyPr wrap="square" rtlCol="0">
            <a:spAutoFit/>
          </a:bodyPr>
          <a:lstStyle/>
          <a:p>
            <a:r>
              <a:rPr lang="en-US" sz="900" dirty="0" smtClean="0">
                <a:latin typeface="+mn-lt"/>
              </a:rPr>
              <a:t>Unable to map HARP loans with LTV &lt;= 80.</a:t>
            </a:r>
            <a:endParaRPr lang="en-US" sz="900" dirty="0">
              <a:latin typeface="+mn-lt"/>
            </a:endParaRPr>
          </a:p>
        </p:txBody>
      </p:sp>
      <p:sp>
        <p:nvSpPr>
          <p:cNvPr id="80" name="TextBox 79"/>
          <p:cNvSpPr txBox="1"/>
          <p:nvPr/>
        </p:nvSpPr>
        <p:spPr>
          <a:xfrm>
            <a:off x="4123605" y="5848334"/>
            <a:ext cx="962743" cy="646331"/>
          </a:xfrm>
          <a:prstGeom prst="rect">
            <a:avLst/>
          </a:prstGeom>
          <a:noFill/>
        </p:spPr>
        <p:txBody>
          <a:bodyPr wrap="square" rtlCol="0">
            <a:spAutoFit/>
          </a:bodyPr>
          <a:lstStyle/>
          <a:p>
            <a:r>
              <a:rPr lang="en-US" sz="900" dirty="0">
                <a:latin typeface="+mn-lt"/>
              </a:rPr>
              <a:t>Integrate </a:t>
            </a:r>
            <a:r>
              <a:rPr lang="en-US" sz="900" dirty="0" err="1">
                <a:latin typeface="+mn-lt"/>
              </a:rPr>
              <a:t>A</a:t>
            </a:r>
            <a:r>
              <a:rPr lang="en-US" sz="900" dirty="0" err="1" smtClean="0">
                <a:latin typeface="+mn-lt"/>
              </a:rPr>
              <a:t>lgo</a:t>
            </a:r>
            <a:r>
              <a:rPr lang="en-US" sz="900" dirty="0" smtClean="0">
                <a:latin typeface="+mn-lt"/>
              </a:rPr>
              <a:t> </a:t>
            </a:r>
            <a:r>
              <a:rPr lang="en-US" sz="900" dirty="0">
                <a:latin typeface="+mn-lt"/>
              </a:rPr>
              <a:t>II into </a:t>
            </a:r>
            <a:r>
              <a:rPr lang="en-US" sz="900" dirty="0" err="1">
                <a:latin typeface="+mn-lt"/>
              </a:rPr>
              <a:t>A</a:t>
            </a:r>
            <a:r>
              <a:rPr lang="en-US" sz="900" dirty="0" err="1" smtClean="0">
                <a:latin typeface="+mn-lt"/>
              </a:rPr>
              <a:t>lgo</a:t>
            </a:r>
            <a:r>
              <a:rPr lang="en-US" sz="900" dirty="0" smtClean="0">
                <a:latin typeface="+mn-lt"/>
              </a:rPr>
              <a:t> </a:t>
            </a:r>
            <a:r>
              <a:rPr lang="en-US" sz="900" dirty="0">
                <a:latin typeface="+mn-lt"/>
              </a:rPr>
              <a:t>I for the unknown one year gap.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9969" y="1608792"/>
            <a:ext cx="4546512" cy="5015741"/>
          </a:xfrm>
          <a:prstGeom prst="rect">
            <a:avLst/>
          </a:prstGeom>
        </p:spPr>
      </p:pic>
    </p:spTree>
    <p:extLst>
      <p:ext uri="{BB962C8B-B14F-4D97-AF65-F5344CB8AC3E}">
        <p14:creationId xmlns:p14="http://schemas.microsoft.com/office/powerpoint/2010/main" val="3554958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&gt; 80</a:t>
            </a:r>
            <a:endParaRPr lang="en-US" sz="1600" dirty="0">
              <a:latin typeface="+mn-lt"/>
            </a:endParaRPr>
          </a:p>
        </p:txBody>
      </p:sp>
      <p:graphicFrame>
        <p:nvGraphicFramePr>
          <p:cNvPr id="15" name="Chart 14"/>
          <p:cNvGraphicFramePr>
            <a:graphicFrameLocks/>
          </p:cNvGraphicFramePr>
          <p:nvPr>
            <p:extLst>
              <p:ext uri="{D42A27DB-BD31-4B8C-83A1-F6EECF244321}">
                <p14:modId xmlns:p14="http://schemas.microsoft.com/office/powerpoint/2010/main" val="525186622"/>
              </p:ext>
            </p:extLst>
          </p:nvPr>
        </p:nvGraphicFramePr>
        <p:xfrm>
          <a:off x="449580" y="2020899"/>
          <a:ext cx="9098280" cy="4892329"/>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392638" y="1097569"/>
            <a:ext cx="9284764" cy="923330"/>
          </a:xfrm>
          <a:prstGeom prst="rect">
            <a:avLst/>
          </a:prstGeom>
          <a:noFill/>
        </p:spPr>
        <p:txBody>
          <a:bodyPr wrap="square" rtlCol="0">
            <a:spAutoFit/>
          </a:bodyPr>
          <a:lstStyle/>
          <a:p>
            <a:pPr>
              <a:lnSpc>
                <a:spcPct val="150000"/>
              </a:lnSpc>
            </a:pPr>
            <a:r>
              <a:rPr lang="en-US" sz="1200" dirty="0" smtClean="0">
                <a:latin typeface="+mn-lt"/>
              </a:rPr>
              <a:t>In order to find out whether we need to adjust the result from the MI mapping algorithm, we test the two algorithms with LTV&gt;80 loans. The HARP mapping numbers from them </a:t>
            </a:r>
            <a:r>
              <a:rPr lang="en-US" sz="1200" dirty="0" smtClean="0">
                <a:latin typeface="+mn-lt"/>
              </a:rPr>
              <a:t>are fairly close to each other. In other words, there is no bias between the two mapping  methods</a:t>
            </a:r>
            <a:r>
              <a:rPr lang="en-US" sz="1200" dirty="0">
                <a:latin typeface="+mn-lt"/>
              </a:rPr>
              <a:t>. </a:t>
            </a:r>
            <a:r>
              <a:rPr lang="en-US" sz="1200" dirty="0" smtClean="0">
                <a:latin typeface="+mn-lt"/>
              </a:rPr>
              <a:t>Therefore, there is no need to adjust the result for LTV &gt; 80 loans.</a:t>
            </a:r>
            <a:endParaRPr lang="en-US" sz="1200" dirty="0">
              <a:latin typeface="+mn-lt"/>
            </a:endParaRPr>
          </a:p>
        </p:txBody>
      </p:sp>
    </p:spTree>
    <p:extLst>
      <p:ext uri="{BB962C8B-B14F-4D97-AF65-F5344CB8AC3E}">
        <p14:creationId xmlns:p14="http://schemas.microsoft.com/office/powerpoint/2010/main" val="19415920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&lt;= 80</a:t>
            </a:r>
            <a:endParaRPr lang="en-US" sz="1600" dirty="0">
              <a:latin typeface="+mn-lt"/>
            </a:endParaRPr>
          </a:p>
        </p:txBody>
      </p:sp>
      <p:sp>
        <p:nvSpPr>
          <p:cNvPr id="17" name="TextBox 16"/>
          <p:cNvSpPr txBox="1"/>
          <p:nvPr/>
        </p:nvSpPr>
        <p:spPr>
          <a:xfrm>
            <a:off x="392638" y="1097569"/>
            <a:ext cx="9284764" cy="646331"/>
          </a:xfrm>
          <a:prstGeom prst="rect">
            <a:avLst/>
          </a:prstGeom>
          <a:noFill/>
        </p:spPr>
        <p:txBody>
          <a:bodyPr wrap="square" rtlCol="0">
            <a:spAutoFit/>
          </a:bodyPr>
          <a:lstStyle/>
          <a:p>
            <a:pPr>
              <a:lnSpc>
                <a:spcPct val="150000"/>
              </a:lnSpc>
            </a:pPr>
            <a:r>
              <a:rPr lang="en-US" sz="1200" dirty="0" smtClean="0">
                <a:latin typeface="+mn-lt"/>
              </a:rPr>
              <a:t>For the loans with LTV &lt;= 80, we use a % HARP adjustment factor to estimate the probability that a loan is coming from HARP program.</a:t>
            </a:r>
          </a:p>
          <a:p>
            <a:pPr>
              <a:lnSpc>
                <a:spcPct val="150000"/>
              </a:lnSpc>
            </a:pPr>
            <a:r>
              <a:rPr lang="en-US" sz="1200" dirty="0" smtClean="0">
                <a:latin typeface="+mn-lt"/>
              </a:rPr>
              <a:t>We generated the factor by calculate the ratio by:</a:t>
            </a:r>
          </a:p>
        </p:txBody>
      </p:sp>
      <mc:AlternateContent xmlns:mc="http://schemas.openxmlformats.org/markup-compatibility/2006">
        <mc:Choice xmlns:a14="http://schemas.microsoft.com/office/drawing/2010/main" Requires="a14">
          <p:sp>
            <p:nvSpPr>
              <p:cNvPr id="3" name="TextBox 2"/>
              <p:cNvSpPr txBox="1"/>
              <p:nvPr/>
            </p:nvSpPr>
            <p:spPr>
              <a:xfrm>
                <a:off x="5577374" y="1690965"/>
                <a:ext cx="3210559" cy="379143"/>
              </a:xfrm>
              <a:prstGeom prst="rect">
                <a:avLst/>
              </a:prstGeom>
              <a:noFill/>
            </p:spPr>
            <p:txBody>
              <a:bodyPr wrap="none" rtlCol="0">
                <a:spAutoFit/>
              </a:bodyPr>
              <a:lstStyle/>
              <a:p>
                <a14:m>
                  <m:oMath xmlns:m="http://schemas.openxmlformats.org/officeDocument/2006/math">
                    <m:r>
                      <a:rPr lang="en-US" sz="1200" b="0" i="1" smtClean="0">
                        <a:latin typeface="Cambria Math"/>
                      </a:rPr>
                      <m:t>𝐹𝑁𝑀𝐴</m:t>
                    </m:r>
                    <m:r>
                      <a:rPr lang="en-US" sz="1200" b="0" i="1" smtClean="0">
                        <a:latin typeface="Cambria Math"/>
                      </a:rPr>
                      <m:t> </m:t>
                    </m:r>
                    <m:r>
                      <a:rPr lang="en-US" sz="1200" b="0" i="1" smtClean="0">
                        <a:latin typeface="Cambria Math"/>
                      </a:rPr>
                      <m:t>𝑅𝑎𝑡𝑖𝑜</m:t>
                    </m:r>
                    <m:r>
                      <a:rPr lang="en-US" sz="1200" b="0" i="1" smtClean="0">
                        <a:latin typeface="Cambria Math"/>
                      </a:rPr>
                      <m:t>= </m:t>
                    </m:r>
                    <m:f>
                      <m:fPr>
                        <m:ctrlPr>
                          <a:rPr lang="en-US" sz="1200" b="0" i="1" smtClean="0">
                            <a:latin typeface="Cambria Math"/>
                          </a:rPr>
                        </m:ctrlPr>
                      </m:fPr>
                      <m:num>
                        <m:r>
                          <a:rPr lang="en-US" sz="1200" b="0" i="1" smtClean="0">
                            <a:latin typeface="Cambria Math"/>
                          </a:rPr>
                          <m:t>𝐻𝐴𝑅𝑃</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𝑁𝑢𝑚𝑏𝑒𝑟</m:t>
                        </m:r>
                      </m:num>
                      <m:den>
                        <m:r>
                          <a:rPr lang="en-US" sz="1200" b="0" i="1" smtClean="0">
                            <a:latin typeface="Cambria Math"/>
                          </a:rPr>
                          <m:t>𝑇𝑜𝑡𝑎𝑙</m:t>
                        </m:r>
                        <m:r>
                          <a:rPr lang="en-US" sz="1200" b="0" i="1" smtClean="0">
                            <a:latin typeface="Cambria Math"/>
                          </a:rPr>
                          <m:t> </m:t>
                        </m:r>
                        <m:r>
                          <a:rPr lang="en-US" sz="1200" b="1" i="1" smtClean="0">
                            <a:latin typeface="Cambria Math"/>
                          </a:rPr>
                          <m:t>𝑹𝒆𝒇𝒊</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𝑁𝑢𝑚𝑏𝑒𝑟</m:t>
                        </m:r>
                      </m:den>
                    </m:f>
                  </m:oMath>
                </a14:m>
                <a:r>
                  <a:rPr lang="en-US" sz="1400" dirty="0" smtClean="0"/>
                  <a:t> </a:t>
                </a:r>
                <a:r>
                  <a:rPr lang="en-US" sz="1200" dirty="0" smtClean="0"/>
                  <a:t>×100%</a:t>
                </a:r>
                <a:endParaRPr lang="en-US" sz="1200" dirty="0"/>
              </a:p>
            </p:txBody>
          </p:sp>
        </mc:Choice>
        <mc:Fallback>
          <p:sp>
            <p:nvSpPr>
              <p:cNvPr id="3" name="TextBox 2"/>
              <p:cNvSpPr txBox="1">
                <a:spLocks noRot="1" noChangeAspect="1" noMove="1" noResize="1" noEditPoints="1" noAdjustHandles="1" noChangeArrowheads="1" noChangeShapeType="1" noTextEdit="1"/>
              </p:cNvSpPr>
              <p:nvPr/>
            </p:nvSpPr>
            <p:spPr>
              <a:xfrm>
                <a:off x="5577374" y="1690965"/>
                <a:ext cx="3210559" cy="379143"/>
              </a:xfrm>
              <a:prstGeom prst="rect">
                <a:avLst/>
              </a:prstGeom>
              <a:blipFill rotWithShape="1">
                <a:blip r:embed="rId2"/>
                <a:stretch>
                  <a:fillRect/>
                </a:stretch>
              </a:blipFill>
            </p:spPr>
            <p:txBody>
              <a:bodyPr/>
              <a:lstStyle/>
              <a:p>
                <a:r>
                  <a:rPr lang="en-US">
                    <a:noFill/>
                  </a:rPr>
                  <a:t> </a:t>
                </a:r>
              </a:p>
            </p:txBody>
          </p:sp>
        </mc:Fallback>
      </mc:AlternateContent>
      <p:sp>
        <p:nvSpPr>
          <p:cNvPr id="6" name="TextBox 5"/>
          <p:cNvSpPr txBox="1"/>
          <p:nvPr/>
        </p:nvSpPr>
        <p:spPr>
          <a:xfrm>
            <a:off x="392638" y="2132554"/>
            <a:ext cx="9284764" cy="340734"/>
          </a:xfrm>
          <a:prstGeom prst="rect">
            <a:avLst/>
          </a:prstGeom>
          <a:noFill/>
        </p:spPr>
        <p:txBody>
          <a:bodyPr wrap="square" rtlCol="0">
            <a:spAutoFit/>
          </a:bodyPr>
          <a:lstStyle/>
          <a:p>
            <a:pPr>
              <a:lnSpc>
                <a:spcPct val="150000"/>
              </a:lnSpc>
            </a:pPr>
            <a:r>
              <a:rPr lang="en-US" sz="1200" dirty="0" smtClean="0">
                <a:latin typeface="+mn-lt"/>
              </a:rPr>
              <a:t>We use the credit mapping method to calculate the ratio based on the historical data.</a:t>
            </a:r>
          </a:p>
        </p:txBody>
      </p:sp>
      <p:sp>
        <p:nvSpPr>
          <p:cNvPr id="8" name="TextBox 7"/>
          <p:cNvSpPr txBox="1"/>
          <p:nvPr/>
        </p:nvSpPr>
        <p:spPr>
          <a:xfrm>
            <a:off x="392638" y="6461762"/>
            <a:ext cx="9284764" cy="646331"/>
          </a:xfrm>
          <a:prstGeom prst="rect">
            <a:avLst/>
          </a:prstGeom>
          <a:noFill/>
        </p:spPr>
        <p:txBody>
          <a:bodyPr wrap="square" rtlCol="0">
            <a:spAutoFit/>
          </a:bodyPr>
          <a:lstStyle/>
          <a:p>
            <a:pPr>
              <a:lnSpc>
                <a:spcPct val="150000"/>
              </a:lnSpc>
            </a:pPr>
            <a:r>
              <a:rPr lang="en-US" sz="1200" dirty="0" smtClean="0">
                <a:latin typeface="+mn-lt"/>
              </a:rPr>
              <a:t>The HARP % ratio is around </a:t>
            </a:r>
            <a:r>
              <a:rPr lang="en-US" sz="1200" b="1" dirty="0" smtClean="0">
                <a:latin typeface="+mn-lt"/>
              </a:rPr>
              <a:t>20% for FNMA </a:t>
            </a:r>
            <a:r>
              <a:rPr lang="en-US" sz="1200" dirty="0" smtClean="0">
                <a:latin typeface="+mn-lt"/>
              </a:rPr>
              <a:t>and </a:t>
            </a:r>
            <a:r>
              <a:rPr lang="en-US" sz="1200" b="1" dirty="0" smtClean="0">
                <a:latin typeface="+mn-lt"/>
              </a:rPr>
              <a:t>35% for FHL</a:t>
            </a:r>
            <a:r>
              <a:rPr lang="en-US" sz="1200" dirty="0" smtClean="0">
                <a:latin typeface="+mn-lt"/>
              </a:rPr>
              <a:t> according to the chart above. That means among all the loans originated within the recent one year with LTV  &lt;= 80, about 20% of them are coming from HARP program.</a:t>
            </a:r>
          </a:p>
        </p:txBody>
      </p:sp>
      <mc:AlternateContent xmlns:mc="http://schemas.openxmlformats.org/markup-compatibility/2006">
        <mc:Choice xmlns:a14="http://schemas.microsoft.com/office/drawing/2010/main" Requires="a14">
          <p:sp>
            <p:nvSpPr>
              <p:cNvPr id="9" name="TextBox 8"/>
              <p:cNvSpPr txBox="1"/>
              <p:nvPr/>
            </p:nvSpPr>
            <p:spPr>
              <a:xfrm>
                <a:off x="1561634" y="1701350"/>
                <a:ext cx="3380092" cy="379143"/>
              </a:xfrm>
              <a:prstGeom prst="rect">
                <a:avLst/>
              </a:prstGeom>
              <a:noFill/>
            </p:spPr>
            <p:txBody>
              <a:bodyPr wrap="none" rtlCol="0">
                <a:spAutoFit/>
              </a:bodyPr>
              <a:lstStyle/>
              <a:p>
                <a14:m>
                  <m:oMath xmlns:m="http://schemas.openxmlformats.org/officeDocument/2006/math">
                    <m:r>
                      <a:rPr lang="en-US" sz="1200" b="0" i="1" smtClean="0">
                        <a:latin typeface="Cambria Math"/>
                      </a:rPr>
                      <m:t>𝐹𝐻𝐿</m:t>
                    </m:r>
                    <m:r>
                      <a:rPr lang="en-US" sz="1200" b="0" i="1" smtClean="0">
                        <a:latin typeface="Cambria Math"/>
                      </a:rPr>
                      <m:t> </m:t>
                    </m:r>
                    <m:r>
                      <a:rPr lang="en-US" sz="1200" b="0" i="1" smtClean="0">
                        <a:latin typeface="Cambria Math"/>
                      </a:rPr>
                      <m:t>𝑅𝑎𝑡𝑖𝑜</m:t>
                    </m:r>
                    <m:r>
                      <a:rPr lang="en-US" sz="1200" b="0" i="1" smtClean="0">
                        <a:latin typeface="Cambria Math"/>
                      </a:rPr>
                      <m:t>= </m:t>
                    </m:r>
                    <m:f>
                      <m:fPr>
                        <m:ctrlPr>
                          <a:rPr lang="en-US" sz="1200" b="0" i="1" smtClean="0">
                            <a:latin typeface="Cambria Math"/>
                          </a:rPr>
                        </m:ctrlPr>
                      </m:fPr>
                      <m:num>
                        <m:r>
                          <a:rPr lang="en-US" sz="1200" b="0" i="1" smtClean="0">
                            <a:latin typeface="Cambria Math"/>
                          </a:rPr>
                          <m:t>𝐻𝐴𝑅𝑃</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𝑁𝑢𝑚𝑏𝑒𝑟</m:t>
                        </m:r>
                      </m:num>
                      <m:den>
                        <m:r>
                          <a:rPr lang="en-US" sz="1200" b="0" i="1" smtClean="0">
                            <a:latin typeface="Cambria Math"/>
                          </a:rPr>
                          <m:t>𝑇𝑜𝑡𝑎𝑙</m:t>
                        </m:r>
                        <m:r>
                          <a:rPr lang="en-US" sz="1200" b="0" i="1" smtClean="0">
                            <a:latin typeface="Cambria Math"/>
                          </a:rPr>
                          <m:t> </m:t>
                        </m:r>
                        <m:r>
                          <a:rPr lang="en-US" sz="1200" b="1" i="1" smtClean="0">
                            <a:latin typeface="Cambria Math"/>
                          </a:rPr>
                          <m:t>𝑹𝒆𝒇𝒊</m:t>
                        </m:r>
                        <m:r>
                          <a:rPr lang="en-US" sz="1200" b="1" i="1" smtClean="0">
                            <a:latin typeface="Cambria Math"/>
                          </a:rPr>
                          <m:t>−</m:t>
                        </m:r>
                        <m:r>
                          <a:rPr lang="en-US" sz="1200" b="1" i="1" smtClean="0">
                            <a:latin typeface="Cambria Math"/>
                          </a:rPr>
                          <m:t>𝑵𝑪𝑶</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𝑁𝑢𝑚𝑏𝑒𝑟</m:t>
                        </m:r>
                      </m:den>
                    </m:f>
                  </m:oMath>
                </a14:m>
                <a:r>
                  <a:rPr lang="en-US" sz="1400" dirty="0" smtClean="0"/>
                  <a:t> </a:t>
                </a:r>
                <a:r>
                  <a:rPr lang="en-US" sz="1200" dirty="0" smtClean="0"/>
                  <a:t>×100%</a:t>
                </a:r>
                <a:endParaRPr lang="en-US" sz="1200" dirty="0"/>
              </a:p>
            </p:txBody>
          </p:sp>
        </mc:Choice>
        <mc:Fallback>
          <p:sp>
            <p:nvSpPr>
              <p:cNvPr id="9" name="TextBox 8"/>
              <p:cNvSpPr txBox="1">
                <a:spLocks noRot="1" noChangeAspect="1" noMove="1" noResize="1" noEditPoints="1" noAdjustHandles="1" noChangeArrowheads="1" noChangeShapeType="1" noTextEdit="1"/>
              </p:cNvSpPr>
              <p:nvPr/>
            </p:nvSpPr>
            <p:spPr>
              <a:xfrm>
                <a:off x="1561634" y="1701350"/>
                <a:ext cx="3380092" cy="379143"/>
              </a:xfrm>
              <a:prstGeom prst="rect">
                <a:avLst/>
              </a:prstGeom>
              <a:blipFill rotWithShape="1">
                <a:blip r:embed="rId3"/>
                <a:stretch>
                  <a:fillRect b="-1613"/>
                </a:stretch>
              </a:blipFill>
            </p:spPr>
            <p:txBody>
              <a:bodyPr/>
              <a:lstStyle/>
              <a:p>
                <a:r>
                  <a:rPr lang="en-US">
                    <a:noFill/>
                  </a:rPr>
                  <a:t> </a:t>
                </a:r>
              </a:p>
            </p:txBody>
          </p:sp>
        </mc:Fallback>
      </mc:AlternateContent>
      <p:graphicFrame>
        <p:nvGraphicFramePr>
          <p:cNvPr id="10" name="Chart 9"/>
          <p:cNvGraphicFramePr>
            <a:graphicFrameLocks/>
          </p:cNvGraphicFramePr>
          <p:nvPr>
            <p:extLst>
              <p:ext uri="{D42A27DB-BD31-4B8C-83A1-F6EECF244321}">
                <p14:modId xmlns:p14="http://schemas.microsoft.com/office/powerpoint/2010/main" val="4165136198"/>
              </p:ext>
            </p:extLst>
          </p:nvPr>
        </p:nvGraphicFramePr>
        <p:xfrm>
          <a:off x="392639" y="2616517"/>
          <a:ext cx="9155222" cy="377666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611495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3933336229"/>
              </p:ext>
            </p:extLst>
          </p:nvPr>
        </p:nvGraphicFramePr>
        <p:xfrm>
          <a:off x="595685" y="4276573"/>
          <a:ext cx="8674873"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graphicFrame>
        <p:nvGraphicFramePr>
          <p:cNvPr id="75" name="Chart 74"/>
          <p:cNvGraphicFramePr/>
          <p:nvPr>
            <p:extLst>
              <p:ext uri="{D42A27DB-BD31-4B8C-83A1-F6EECF244321}">
                <p14:modId xmlns:p14="http://schemas.microsoft.com/office/powerpoint/2010/main" val="2216656629"/>
              </p:ext>
            </p:extLst>
          </p:nvPr>
        </p:nvGraphicFramePr>
        <p:xfrm>
          <a:off x="699715" y="960780"/>
          <a:ext cx="8674873"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1" name="TextBox 80"/>
          <p:cNvSpPr txBox="1"/>
          <p:nvPr/>
        </p:nvSpPr>
        <p:spPr>
          <a:xfrm>
            <a:off x="4096248" y="3142079"/>
            <a:ext cx="1948069" cy="246221"/>
          </a:xfrm>
          <a:prstGeom prst="rect">
            <a:avLst/>
          </a:prstGeom>
          <a:noFill/>
        </p:spPr>
        <p:txBody>
          <a:bodyPr wrap="square" rtlCol="0">
            <a:spAutoFit/>
          </a:bodyPr>
          <a:lstStyle/>
          <a:p>
            <a:r>
              <a:rPr lang="en-US" sz="1000" b="1" dirty="0" smtClean="0">
                <a:solidFill>
                  <a:schemeClr val="bg1"/>
                </a:solidFill>
                <a:latin typeface="+mn-lt"/>
              </a:rPr>
              <a:t>Non-Eligible: </a:t>
            </a:r>
            <a:r>
              <a:rPr lang="en-US" sz="1000" b="1" dirty="0" smtClean="0">
                <a:solidFill>
                  <a:schemeClr val="bg1"/>
                </a:solidFill>
                <a:latin typeface="+mn-lt"/>
              </a:rPr>
              <a:t>Purchas, refi-CO</a:t>
            </a:r>
            <a:endParaRPr lang="en-US" sz="1000" b="1" dirty="0">
              <a:solidFill>
                <a:schemeClr val="bg1"/>
              </a:solidFill>
              <a:latin typeface="+mn-lt"/>
            </a:endParaRPr>
          </a:p>
        </p:txBody>
      </p:sp>
      <p:sp>
        <p:nvSpPr>
          <p:cNvPr id="82" name="TextBox 81"/>
          <p:cNvSpPr txBox="1"/>
          <p:nvPr/>
        </p:nvSpPr>
        <p:spPr>
          <a:xfrm>
            <a:off x="6129131" y="2054488"/>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3" name="TextBox 82"/>
          <p:cNvSpPr txBox="1"/>
          <p:nvPr/>
        </p:nvSpPr>
        <p:spPr>
          <a:xfrm>
            <a:off x="5430741" y="1324157"/>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4" name="TextBox 83"/>
          <p:cNvSpPr txBox="1"/>
          <p:nvPr/>
        </p:nvSpPr>
        <p:spPr>
          <a:xfrm>
            <a:off x="2630227" y="1117950"/>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6" name="TextBox 85"/>
          <p:cNvSpPr txBox="1"/>
          <p:nvPr/>
        </p:nvSpPr>
        <p:spPr>
          <a:xfrm>
            <a:off x="6183134" y="534751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7" name="TextBox 86"/>
          <p:cNvSpPr txBox="1"/>
          <p:nvPr/>
        </p:nvSpPr>
        <p:spPr>
          <a:xfrm>
            <a:off x="5569558" y="461718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8" name="TextBox 87"/>
          <p:cNvSpPr txBox="1"/>
          <p:nvPr/>
        </p:nvSpPr>
        <p:spPr>
          <a:xfrm>
            <a:off x="2430118" y="443298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9" name="Isosceles Triangle 88"/>
          <p:cNvSpPr/>
          <p:nvPr/>
        </p:nvSpPr>
        <p:spPr>
          <a:xfrm rot="10800000">
            <a:off x="3587694" y="4004290"/>
            <a:ext cx="3621158" cy="272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p:cNvSpPr txBox="1"/>
          <p:nvPr/>
        </p:nvSpPr>
        <p:spPr>
          <a:xfrm>
            <a:off x="3776208" y="3908085"/>
            <a:ext cx="3378641" cy="299313"/>
          </a:xfrm>
          <a:prstGeom prst="rect">
            <a:avLst/>
          </a:prstGeom>
          <a:noFill/>
        </p:spPr>
        <p:txBody>
          <a:bodyPr wrap="square" rtlCol="0">
            <a:spAutoFit/>
          </a:bodyPr>
          <a:lstStyle/>
          <a:p>
            <a:pPr algn="ctr">
              <a:lnSpc>
                <a:spcPct val="150000"/>
              </a:lnSpc>
            </a:pPr>
            <a:r>
              <a:rPr lang="en-US" sz="1000" dirty="0" smtClean="0">
                <a:solidFill>
                  <a:schemeClr val="bg1"/>
                </a:solidFill>
                <a:latin typeface="+mn-lt"/>
              </a:rPr>
              <a:t>Using the Enhanced Algorithm</a:t>
            </a:r>
          </a:p>
        </p:txBody>
      </p:sp>
      <p:sp>
        <p:nvSpPr>
          <p:cNvPr id="18" name="TextBox 17"/>
          <p:cNvSpPr txBox="1"/>
          <p:nvPr/>
        </p:nvSpPr>
        <p:spPr>
          <a:xfrm>
            <a:off x="4096247" y="6426299"/>
            <a:ext cx="1948069" cy="246221"/>
          </a:xfrm>
          <a:prstGeom prst="rect">
            <a:avLst/>
          </a:prstGeom>
          <a:noFill/>
        </p:spPr>
        <p:txBody>
          <a:bodyPr wrap="square" rtlCol="0">
            <a:spAutoFit/>
          </a:bodyPr>
          <a:lstStyle/>
          <a:p>
            <a:r>
              <a:rPr lang="en-US" sz="1000" b="1" dirty="0" smtClean="0">
                <a:solidFill>
                  <a:schemeClr val="bg1"/>
                </a:solidFill>
                <a:latin typeface="+mn-lt"/>
              </a:rPr>
              <a:t>Non-Eligible: </a:t>
            </a:r>
            <a:r>
              <a:rPr lang="en-US" sz="1000" b="1" dirty="0" smtClean="0">
                <a:solidFill>
                  <a:schemeClr val="bg1"/>
                </a:solidFill>
                <a:latin typeface="+mn-lt"/>
              </a:rPr>
              <a:t>Purchas, refi-CO</a:t>
            </a:r>
            <a:endParaRPr lang="en-US" sz="1000" b="1" dirty="0">
              <a:solidFill>
                <a:schemeClr val="bg1"/>
              </a:solidFill>
              <a:latin typeface="+mn-lt"/>
            </a:endParaRPr>
          </a:p>
        </p:txBody>
      </p:sp>
    </p:spTree>
    <p:extLst>
      <p:ext uri="{BB962C8B-B14F-4D97-AF65-F5344CB8AC3E}">
        <p14:creationId xmlns:p14="http://schemas.microsoft.com/office/powerpoint/2010/main" val="107049046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86712</TotalTime>
  <Words>1106</Words>
  <Application>Microsoft Office PowerPoint</Application>
  <PresentationFormat>Custom</PresentationFormat>
  <Paragraphs>170</Paragraphs>
  <Slides>11</Slides>
  <Notes>1</Notes>
  <HiddenSlides>0</HiddenSlides>
  <MMClips>0</MMClips>
  <ScaleCrop>false</ScaleCrop>
  <HeadingPairs>
    <vt:vector size="4" baseType="variant">
      <vt:variant>
        <vt:lpstr>Theme</vt:lpstr>
      </vt:variant>
      <vt:variant>
        <vt:i4>15</vt:i4>
      </vt:variant>
      <vt:variant>
        <vt:lpstr>Slide Titles</vt:lpstr>
      </vt:variant>
      <vt:variant>
        <vt:i4>11</vt:i4>
      </vt:variant>
    </vt:vector>
  </HeadingPairs>
  <TitlesOfParts>
    <vt:vector size="26"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INTRODUCTION </vt:lpstr>
      <vt:lpstr>INTRODUCTION</vt:lpstr>
      <vt:lpstr>EXISTING ALGORITHM I MI Matching Method</vt:lpstr>
      <vt:lpstr>EXISTING ALGORITHM II Credit Dataset Mapping Method</vt:lpstr>
      <vt:lpstr>EXISTING ALGORITHM II Results from the Credit Dataset Mapping Method</vt:lpstr>
      <vt:lpstr>ENHANCED ALGORITHM </vt:lpstr>
      <vt:lpstr>ENHANCED ALGORITHM </vt:lpstr>
      <vt:lpstr>ENHANCED ALGORITHM Adjustment Factor: LTV &gt; 80</vt:lpstr>
      <vt:lpstr>ENHANCED ALGORITHM Adjustment Factor: LTV &lt;= 80</vt:lpstr>
      <vt:lpstr>ENHANCED ALGORITHM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2087</cp:revision>
  <cp:lastPrinted>2014-08-14T21:45:56Z</cp:lastPrinted>
  <dcterms:created xsi:type="dcterms:W3CDTF">2011-07-07T12:37:32Z</dcterms:created>
  <dcterms:modified xsi:type="dcterms:W3CDTF">2016-02-01T21:35:24Z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