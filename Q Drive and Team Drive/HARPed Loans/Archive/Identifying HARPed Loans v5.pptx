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drawings/drawing2.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6"/>
  </p:notesMasterIdLst>
  <p:handoutMasterIdLst>
    <p:handoutMasterId r:id="rId27"/>
  </p:handoutMasterIdLst>
  <p:sldIdLst>
    <p:sldId id="433" r:id="rId16"/>
    <p:sldId id="603" r:id="rId17"/>
    <p:sldId id="612" r:id="rId18"/>
    <p:sldId id="604" r:id="rId19"/>
    <p:sldId id="605" r:id="rId20"/>
    <p:sldId id="606" r:id="rId21"/>
    <p:sldId id="613" r:id="rId22"/>
    <p:sldId id="614" r:id="rId23"/>
    <p:sldId id="615" r:id="rId24"/>
    <p:sldId id="608" r:id="rId25"/>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E2F6ED"/>
    <a:srgbClr val="AD275C"/>
    <a:srgbClr val="F6D6E3"/>
    <a:srgbClr val="2E398A"/>
    <a:srgbClr val="C8C42D"/>
    <a:srgbClr val="8C2B18"/>
    <a:srgbClr val="C3EBD9"/>
    <a:srgbClr val="CDD1EF"/>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1695" autoAdjust="0"/>
    <p:restoredTop sz="95014" autoAdjust="0"/>
  </p:normalViewPr>
  <p:slideViewPr>
    <p:cSldViewPr snapToGrid="0" snapToObjects="1">
      <p:cViewPr>
        <p:scale>
          <a:sx n="125" d="100"/>
          <a:sy n="125" d="100"/>
        </p:scale>
        <p:origin x="-24" y="-354"/>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6.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Lien%20Workspace\17.HARP%20Status\Adjustment%20Factor%20Analysis_FirstPaymentDate.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Lien%20Workspace\17.HARP%20Status\Adjustment%20Factor%20Analysis_FirstPaymentDate.xlsx" TargetMode="Externa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6582</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8095</c:v>
                </c:pt>
              </c:numCache>
            </c:numRef>
          </c:val>
        </c:ser>
        <c:ser>
          <c:idx val="4"/>
          <c:order val="4"/>
          <c:tx>
            <c:strRef>
              <c:f>Sheet1!$F$1</c:f>
              <c:strCache>
                <c:ptCount val="1"/>
                <c:pt idx="0">
                  <c:v>Unknown</c:v>
                </c:pt>
              </c:strCache>
            </c:strRef>
          </c:tx>
          <c:spPr>
            <a:solidFill>
              <a:srgbClr val="AD275C"/>
            </a:solidFill>
            <a:ln w="19050">
              <a:noFill/>
            </a:ln>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Sheet1!$F$2:$F$134</c:f>
              <c:numCache>
                <c:formatCode>General</c:formatCode>
                <c:ptCount val="133"/>
                <c:pt idx="110">
                  <c:v>6</c:v>
                </c:pt>
                <c:pt idx="111">
                  <c:v>12788</c:v>
                </c:pt>
                <c:pt idx="112">
                  <c:v>14986</c:v>
                </c:pt>
                <c:pt idx="113">
                  <c:v>14482</c:v>
                </c:pt>
                <c:pt idx="114">
                  <c:v>13324</c:v>
                </c:pt>
                <c:pt idx="115">
                  <c:v>15877</c:v>
                </c:pt>
                <c:pt idx="116">
                  <c:v>16493</c:v>
                </c:pt>
                <c:pt idx="117">
                  <c:v>16731</c:v>
                </c:pt>
                <c:pt idx="118">
                  <c:v>17725</c:v>
                </c:pt>
                <c:pt idx="119">
                  <c:v>18168</c:v>
                </c:pt>
                <c:pt idx="120">
                  <c:v>21476</c:v>
                </c:pt>
                <c:pt idx="121">
                  <c:v>20938</c:v>
                </c:pt>
                <c:pt idx="122">
                  <c:v>24131</c:v>
                </c:pt>
                <c:pt idx="123">
                  <c:v>35016</c:v>
                </c:pt>
                <c:pt idx="124">
                  <c:v>39618</c:v>
                </c:pt>
                <c:pt idx="125">
                  <c:v>30540</c:v>
                </c:pt>
                <c:pt idx="126">
                  <c:v>26241</c:v>
                </c:pt>
                <c:pt idx="127">
                  <c:v>21405</c:v>
                </c:pt>
                <c:pt idx="128">
                  <c:v>17182</c:v>
                </c:pt>
                <c:pt idx="129">
                  <c:v>16547</c:v>
                </c:pt>
                <c:pt idx="130">
                  <c:v>17651</c:v>
                </c:pt>
                <c:pt idx="131">
                  <c:v>18707</c:v>
                </c:pt>
                <c:pt idx="132">
                  <c:v>16500</c:v>
                </c:pt>
              </c:numCache>
            </c:numRef>
          </c:val>
        </c:ser>
        <c:dLbls>
          <c:showLegendKey val="0"/>
          <c:showVal val="0"/>
          <c:showCatName val="0"/>
          <c:showSerName val="0"/>
          <c:showPercent val="0"/>
          <c:showBubbleSize val="0"/>
        </c:dLbls>
        <c:axId val="44075648"/>
        <c:axId val="44081536"/>
      </c:areaChart>
      <c:dateAx>
        <c:axId val="44075648"/>
        <c:scaling>
          <c:orientation val="minMax"/>
        </c:scaling>
        <c:delete val="0"/>
        <c:axPos val="b"/>
        <c:numFmt formatCode="m/d/yyyy" sourceLinked="1"/>
        <c:majorTickMark val="out"/>
        <c:minorTickMark val="none"/>
        <c:tickLblPos val="nextTo"/>
        <c:crossAx val="44081536"/>
        <c:crosses val="autoZero"/>
        <c:auto val="1"/>
        <c:lblOffset val="100"/>
        <c:baseTimeUnit val="months"/>
        <c:majorUnit val="12"/>
        <c:majorTimeUnit val="months"/>
      </c:dateAx>
      <c:valAx>
        <c:axId val="44081536"/>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44075648"/>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400" dirty="0"/>
              <a:t>Ratio </a:t>
            </a:r>
            <a:r>
              <a:rPr lang="en-US" sz="1400" dirty="0" err="1"/>
              <a:t>Algo</a:t>
            </a:r>
            <a:r>
              <a:rPr lang="en-US" sz="1400" dirty="0"/>
              <a:t> II/</a:t>
            </a:r>
            <a:r>
              <a:rPr lang="en-US" sz="1400" dirty="0" err="1"/>
              <a:t>Algo</a:t>
            </a:r>
            <a:r>
              <a:rPr lang="en-US" sz="1400" dirty="0"/>
              <a:t> I (LTV &gt; </a:t>
            </a:r>
            <a:r>
              <a:rPr lang="en-US" sz="1400" dirty="0" smtClean="0"/>
              <a:t>80%)</a:t>
            </a:r>
            <a:endParaRPr lang="en-US" sz="1400" dirty="0"/>
          </a:p>
        </c:rich>
      </c:tx>
      <c:layout/>
      <c:overlay val="0"/>
    </c:title>
    <c:autoTitleDeleted val="0"/>
    <c:plotArea>
      <c:layout/>
      <c:barChart>
        <c:barDir val="col"/>
        <c:grouping val="clustered"/>
        <c:varyColors val="0"/>
        <c:ser>
          <c:idx val="0"/>
          <c:order val="0"/>
          <c:tx>
            <c:strRef>
              <c:f>'&gt;80 LTV'!$AF$5</c:f>
              <c:strCache>
                <c:ptCount val="1"/>
                <c:pt idx="0">
                  <c:v>HARP-I</c:v>
                </c:pt>
              </c:strCache>
            </c:strRef>
          </c:tx>
          <c:invertIfNegative val="0"/>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LTV'!$AF$6:$AF$62</c:f>
              <c:numCache>
                <c:formatCode>General</c:formatCode>
                <c:ptCount val="57"/>
                <c:pt idx="0">
                  <c:v>4272</c:v>
                </c:pt>
                <c:pt idx="1">
                  <c:v>9557</c:v>
                </c:pt>
                <c:pt idx="2">
                  <c:v>15810</c:v>
                </c:pt>
                <c:pt idx="3">
                  <c:v>14494</c:v>
                </c:pt>
                <c:pt idx="4">
                  <c:v>9396</c:v>
                </c:pt>
                <c:pt idx="5">
                  <c:v>7014</c:v>
                </c:pt>
                <c:pt idx="6">
                  <c:v>9189</c:v>
                </c:pt>
                <c:pt idx="7">
                  <c:v>11722</c:v>
                </c:pt>
                <c:pt idx="8">
                  <c:v>13737</c:v>
                </c:pt>
                <c:pt idx="9">
                  <c:v>12676</c:v>
                </c:pt>
                <c:pt idx="10">
                  <c:v>9563</c:v>
                </c:pt>
                <c:pt idx="11">
                  <c:v>11244</c:v>
                </c:pt>
                <c:pt idx="12">
                  <c:v>10360</c:v>
                </c:pt>
                <c:pt idx="13">
                  <c:v>7944</c:v>
                </c:pt>
                <c:pt idx="14">
                  <c:v>10171</c:v>
                </c:pt>
                <c:pt idx="15">
                  <c:v>12608</c:v>
                </c:pt>
                <c:pt idx="16">
                  <c:v>14205</c:v>
                </c:pt>
                <c:pt idx="17">
                  <c:v>15045</c:v>
                </c:pt>
                <c:pt idx="18">
                  <c:v>17054</c:v>
                </c:pt>
                <c:pt idx="19">
                  <c:v>18502</c:v>
                </c:pt>
                <c:pt idx="20">
                  <c:v>17396</c:v>
                </c:pt>
                <c:pt idx="21">
                  <c:v>15213</c:v>
                </c:pt>
                <c:pt idx="22">
                  <c:v>10593</c:v>
                </c:pt>
                <c:pt idx="23">
                  <c:v>7420</c:v>
                </c:pt>
                <c:pt idx="24">
                  <c:v>6376</c:v>
                </c:pt>
                <c:pt idx="25">
                  <c:v>5524</c:v>
                </c:pt>
                <c:pt idx="26">
                  <c:v>6163</c:v>
                </c:pt>
                <c:pt idx="27">
                  <c:v>6608</c:v>
                </c:pt>
                <c:pt idx="28">
                  <c:v>6814</c:v>
                </c:pt>
                <c:pt idx="29">
                  <c:v>7897</c:v>
                </c:pt>
                <c:pt idx="30">
                  <c:v>9245</c:v>
                </c:pt>
                <c:pt idx="31">
                  <c:v>9831</c:v>
                </c:pt>
                <c:pt idx="32">
                  <c:v>9082</c:v>
                </c:pt>
                <c:pt idx="33">
                  <c:v>11001</c:v>
                </c:pt>
                <c:pt idx="34">
                  <c:v>14080</c:v>
                </c:pt>
                <c:pt idx="35">
                  <c:v>13189</c:v>
                </c:pt>
                <c:pt idx="36">
                  <c:v>12382</c:v>
                </c:pt>
                <c:pt idx="37">
                  <c:v>13178</c:v>
                </c:pt>
                <c:pt idx="38">
                  <c:v>13092</c:v>
                </c:pt>
                <c:pt idx="39">
                  <c:v>13246</c:v>
                </c:pt>
                <c:pt idx="40">
                  <c:v>14068</c:v>
                </c:pt>
                <c:pt idx="41">
                  <c:v>13316</c:v>
                </c:pt>
                <c:pt idx="42">
                  <c:v>15936</c:v>
                </c:pt>
                <c:pt idx="43">
                  <c:v>13955</c:v>
                </c:pt>
                <c:pt idx="44">
                  <c:v>14118</c:v>
                </c:pt>
                <c:pt idx="45">
                  <c:v>15173</c:v>
                </c:pt>
                <c:pt idx="46">
                  <c:v>15258</c:v>
                </c:pt>
                <c:pt idx="47">
                  <c:v>15539</c:v>
                </c:pt>
                <c:pt idx="48">
                  <c:v>14591</c:v>
                </c:pt>
                <c:pt idx="49">
                  <c:v>13308</c:v>
                </c:pt>
                <c:pt idx="50">
                  <c:v>11511</c:v>
                </c:pt>
                <c:pt idx="51">
                  <c:v>10589</c:v>
                </c:pt>
                <c:pt idx="52">
                  <c:v>8489</c:v>
                </c:pt>
                <c:pt idx="53">
                  <c:v>6264</c:v>
                </c:pt>
                <c:pt idx="54">
                  <c:v>5421</c:v>
                </c:pt>
                <c:pt idx="55">
                  <c:v>4753</c:v>
                </c:pt>
                <c:pt idx="56">
                  <c:v>4811</c:v>
                </c:pt>
              </c:numCache>
            </c:numRef>
          </c:val>
        </c:ser>
        <c:ser>
          <c:idx val="1"/>
          <c:order val="1"/>
          <c:tx>
            <c:strRef>
              <c:f>'&gt;80 LTV'!$AG$5</c:f>
              <c:strCache>
                <c:ptCount val="1"/>
                <c:pt idx="0">
                  <c:v>HARP-II</c:v>
                </c:pt>
              </c:strCache>
            </c:strRef>
          </c:tx>
          <c:spPr>
            <a:solidFill>
              <a:schemeClr val="bg2">
                <a:lumMod val="75000"/>
              </a:schemeClr>
            </a:solidFill>
          </c:spPr>
          <c:invertIfNegative val="0"/>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LTV'!$AG$6:$AG$62</c:f>
              <c:numCache>
                <c:formatCode>General</c:formatCode>
                <c:ptCount val="57"/>
                <c:pt idx="0">
                  <c:v>3673</c:v>
                </c:pt>
                <c:pt idx="1">
                  <c:v>9247</c:v>
                </c:pt>
                <c:pt idx="2">
                  <c:v>15370</c:v>
                </c:pt>
                <c:pt idx="3">
                  <c:v>14029</c:v>
                </c:pt>
                <c:pt idx="4">
                  <c:v>9135</c:v>
                </c:pt>
                <c:pt idx="5">
                  <c:v>6784</c:v>
                </c:pt>
                <c:pt idx="6">
                  <c:v>8893</c:v>
                </c:pt>
                <c:pt idx="7">
                  <c:v>11371</c:v>
                </c:pt>
                <c:pt idx="8">
                  <c:v>13463</c:v>
                </c:pt>
                <c:pt idx="9">
                  <c:v>12639</c:v>
                </c:pt>
                <c:pt idx="10">
                  <c:v>9607</c:v>
                </c:pt>
                <c:pt idx="11">
                  <c:v>11233</c:v>
                </c:pt>
                <c:pt idx="12">
                  <c:v>10354</c:v>
                </c:pt>
                <c:pt idx="13">
                  <c:v>7969</c:v>
                </c:pt>
                <c:pt idx="14">
                  <c:v>10240</c:v>
                </c:pt>
                <c:pt idx="15">
                  <c:v>12706</c:v>
                </c:pt>
                <c:pt idx="16">
                  <c:v>14514</c:v>
                </c:pt>
                <c:pt idx="17">
                  <c:v>15385</c:v>
                </c:pt>
                <c:pt idx="18">
                  <c:v>17435</c:v>
                </c:pt>
                <c:pt idx="19">
                  <c:v>18832</c:v>
                </c:pt>
                <c:pt idx="20">
                  <c:v>17593</c:v>
                </c:pt>
                <c:pt idx="21">
                  <c:v>15376</c:v>
                </c:pt>
                <c:pt idx="22">
                  <c:v>10725</c:v>
                </c:pt>
                <c:pt idx="23">
                  <c:v>7425</c:v>
                </c:pt>
                <c:pt idx="24">
                  <c:v>6431</c:v>
                </c:pt>
                <c:pt idx="25">
                  <c:v>5596</c:v>
                </c:pt>
                <c:pt idx="26">
                  <c:v>6287</c:v>
                </c:pt>
                <c:pt idx="27">
                  <c:v>6722</c:v>
                </c:pt>
                <c:pt idx="28">
                  <c:v>6917</c:v>
                </c:pt>
                <c:pt idx="29">
                  <c:v>8052</c:v>
                </c:pt>
                <c:pt idx="30">
                  <c:v>9402</c:v>
                </c:pt>
                <c:pt idx="31">
                  <c:v>9964</c:v>
                </c:pt>
                <c:pt idx="32">
                  <c:v>9237</c:v>
                </c:pt>
                <c:pt idx="33">
                  <c:v>11247</c:v>
                </c:pt>
                <c:pt idx="34">
                  <c:v>14409</c:v>
                </c:pt>
                <c:pt idx="35">
                  <c:v>13389</c:v>
                </c:pt>
                <c:pt idx="36">
                  <c:v>12542</c:v>
                </c:pt>
                <c:pt idx="37">
                  <c:v>13383</c:v>
                </c:pt>
                <c:pt idx="38">
                  <c:v>13357</c:v>
                </c:pt>
                <c:pt idx="39">
                  <c:v>13492</c:v>
                </c:pt>
                <c:pt idx="40">
                  <c:v>14252</c:v>
                </c:pt>
                <c:pt idx="41">
                  <c:v>13492</c:v>
                </c:pt>
                <c:pt idx="42">
                  <c:v>16216</c:v>
                </c:pt>
                <c:pt idx="43">
                  <c:v>14266</c:v>
                </c:pt>
                <c:pt idx="44">
                  <c:v>14429</c:v>
                </c:pt>
                <c:pt idx="45">
                  <c:v>15534</c:v>
                </c:pt>
                <c:pt idx="46">
                  <c:v>15566</c:v>
                </c:pt>
                <c:pt idx="47">
                  <c:v>15856</c:v>
                </c:pt>
                <c:pt idx="48">
                  <c:v>14917</c:v>
                </c:pt>
                <c:pt idx="49">
                  <c:v>13693</c:v>
                </c:pt>
                <c:pt idx="50">
                  <c:v>11861</c:v>
                </c:pt>
                <c:pt idx="51">
                  <c:v>10905</c:v>
                </c:pt>
                <c:pt idx="52">
                  <c:v>8808</c:v>
                </c:pt>
                <c:pt idx="53">
                  <c:v>6521</c:v>
                </c:pt>
                <c:pt idx="54">
                  <c:v>5615</c:v>
                </c:pt>
                <c:pt idx="55">
                  <c:v>4989</c:v>
                </c:pt>
                <c:pt idx="56">
                  <c:v>4958</c:v>
                </c:pt>
              </c:numCache>
            </c:numRef>
          </c:val>
        </c:ser>
        <c:dLbls>
          <c:showLegendKey val="0"/>
          <c:showVal val="0"/>
          <c:showCatName val="0"/>
          <c:showSerName val="0"/>
          <c:showPercent val="0"/>
          <c:showBubbleSize val="0"/>
        </c:dLbls>
        <c:gapWidth val="150"/>
        <c:axId val="44155648"/>
        <c:axId val="44157184"/>
      </c:barChart>
      <c:lineChart>
        <c:grouping val="standard"/>
        <c:varyColors val="0"/>
        <c:ser>
          <c:idx val="2"/>
          <c:order val="2"/>
          <c:tx>
            <c:strRef>
              <c:f>'&gt;80 LTV'!$AH$5</c:f>
              <c:strCache>
                <c:ptCount val="1"/>
                <c:pt idx="0">
                  <c:v>Ratio II/I</c:v>
                </c:pt>
              </c:strCache>
            </c:strRef>
          </c:tx>
          <c:spPr>
            <a:ln>
              <a:solidFill>
                <a:srgbClr val="C00000"/>
              </a:solidFill>
            </a:ln>
          </c:spPr>
          <c:marker>
            <c:symbol val="none"/>
          </c:marker>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LTV'!$AH$6:$AH$62</c:f>
              <c:numCache>
                <c:formatCode>General</c:formatCode>
                <c:ptCount val="57"/>
                <c:pt idx="0">
                  <c:v>0.85978464419475653</c:v>
                </c:pt>
                <c:pt idx="1">
                  <c:v>0.96756304279585648</c:v>
                </c:pt>
                <c:pt idx="2">
                  <c:v>0.97216951296647691</c:v>
                </c:pt>
                <c:pt idx="3">
                  <c:v>0.96791775907271971</c:v>
                </c:pt>
                <c:pt idx="4">
                  <c:v>0.97222222222222221</c:v>
                </c:pt>
                <c:pt idx="5">
                  <c:v>0.96720844026233244</c:v>
                </c:pt>
                <c:pt idx="6">
                  <c:v>0.96778757209707256</c:v>
                </c:pt>
                <c:pt idx="7">
                  <c:v>0.9700563043849173</c:v>
                </c:pt>
                <c:pt idx="8">
                  <c:v>0.98005386911261561</c:v>
                </c:pt>
                <c:pt idx="9">
                  <c:v>0.99708109813821399</c:v>
                </c:pt>
                <c:pt idx="10">
                  <c:v>1.0046010666108962</c:v>
                </c:pt>
                <c:pt idx="11">
                  <c:v>0.99902170046246885</c:v>
                </c:pt>
                <c:pt idx="12">
                  <c:v>0.99942084942084941</c:v>
                </c:pt>
                <c:pt idx="13">
                  <c:v>1.0031470292044311</c:v>
                </c:pt>
                <c:pt idx="14">
                  <c:v>1.0067839937076</c:v>
                </c:pt>
                <c:pt idx="15">
                  <c:v>1.007772842639594</c:v>
                </c:pt>
                <c:pt idx="16">
                  <c:v>1.021752903907075</c:v>
                </c:pt>
                <c:pt idx="17">
                  <c:v>1.0225988700564972</c:v>
                </c:pt>
                <c:pt idx="18">
                  <c:v>1.0223407998123608</c:v>
                </c:pt>
                <c:pt idx="19">
                  <c:v>1.0178359096313911</c:v>
                </c:pt>
                <c:pt idx="20">
                  <c:v>1.0113244424005519</c:v>
                </c:pt>
                <c:pt idx="21">
                  <c:v>1.0107145204759087</c:v>
                </c:pt>
                <c:pt idx="22">
                  <c:v>1.0124610591900312</c:v>
                </c:pt>
                <c:pt idx="23">
                  <c:v>1.0006738544474394</c:v>
                </c:pt>
                <c:pt idx="24">
                  <c:v>1.0086260978670012</c:v>
                </c:pt>
                <c:pt idx="25">
                  <c:v>1.0130340333091963</c:v>
                </c:pt>
                <c:pt idx="26">
                  <c:v>1.0201200713938017</c:v>
                </c:pt>
                <c:pt idx="27">
                  <c:v>1.0172518159806296</c:v>
                </c:pt>
                <c:pt idx="28">
                  <c:v>1.0151159377751688</c:v>
                </c:pt>
                <c:pt idx="29">
                  <c:v>1.0196277067240724</c:v>
                </c:pt>
                <c:pt idx="30">
                  <c:v>1.016982152514873</c:v>
                </c:pt>
                <c:pt idx="31">
                  <c:v>1.013528633913132</c:v>
                </c:pt>
                <c:pt idx="32">
                  <c:v>1.0170667253908832</c:v>
                </c:pt>
                <c:pt idx="33">
                  <c:v>1.0223616034905918</c:v>
                </c:pt>
                <c:pt idx="34">
                  <c:v>1.0233664772727273</c:v>
                </c:pt>
                <c:pt idx="35">
                  <c:v>1.0151641519448025</c:v>
                </c:pt>
                <c:pt idx="36">
                  <c:v>1.0129219835244709</c:v>
                </c:pt>
                <c:pt idx="37">
                  <c:v>1.0155562300804371</c:v>
                </c:pt>
                <c:pt idx="38">
                  <c:v>1.0202413687748244</c:v>
                </c:pt>
                <c:pt idx="39">
                  <c:v>1.0185716442699684</c:v>
                </c:pt>
                <c:pt idx="40">
                  <c:v>1.0130793289735569</c:v>
                </c:pt>
                <c:pt idx="41">
                  <c:v>1.0132171823370382</c:v>
                </c:pt>
                <c:pt idx="42">
                  <c:v>1.017570281124498</c:v>
                </c:pt>
                <c:pt idx="43">
                  <c:v>1.022285919025439</c:v>
                </c:pt>
                <c:pt idx="44">
                  <c:v>1.0220286159512679</c:v>
                </c:pt>
                <c:pt idx="45">
                  <c:v>1.0237922625716733</c:v>
                </c:pt>
                <c:pt idx="46">
                  <c:v>1.020186131865251</c:v>
                </c:pt>
                <c:pt idx="47">
                  <c:v>1.0204002831585044</c:v>
                </c:pt>
                <c:pt idx="48">
                  <c:v>1.0223425399218697</c:v>
                </c:pt>
                <c:pt idx="49">
                  <c:v>1.0289299669371808</c:v>
                </c:pt>
                <c:pt idx="50">
                  <c:v>1.0304056988967074</c:v>
                </c:pt>
                <c:pt idx="51">
                  <c:v>1.0298422891680046</c:v>
                </c:pt>
                <c:pt idx="52">
                  <c:v>1.0375780421722229</c:v>
                </c:pt>
                <c:pt idx="53">
                  <c:v>1.0410280970625798</c:v>
                </c:pt>
                <c:pt idx="54">
                  <c:v>1.0357867552112157</c:v>
                </c:pt>
                <c:pt idx="55">
                  <c:v>1.0496528508310541</c:v>
                </c:pt>
                <c:pt idx="56">
                  <c:v>1.0305549781750156</c:v>
                </c:pt>
              </c:numCache>
            </c:numRef>
          </c:val>
          <c:smooth val="0"/>
        </c:ser>
        <c:dLbls>
          <c:showLegendKey val="0"/>
          <c:showVal val="0"/>
          <c:showCatName val="0"/>
          <c:showSerName val="0"/>
          <c:showPercent val="0"/>
          <c:showBubbleSize val="0"/>
        </c:dLbls>
        <c:marker val="1"/>
        <c:smooth val="0"/>
        <c:axId val="44169856"/>
        <c:axId val="44167936"/>
      </c:lineChart>
      <c:dateAx>
        <c:axId val="44155648"/>
        <c:scaling>
          <c:orientation val="minMax"/>
        </c:scaling>
        <c:delete val="0"/>
        <c:axPos val="b"/>
        <c:numFmt formatCode="m/d/yyyy" sourceLinked="1"/>
        <c:majorTickMark val="out"/>
        <c:minorTickMark val="none"/>
        <c:tickLblPos val="nextTo"/>
        <c:crossAx val="44157184"/>
        <c:crosses val="autoZero"/>
        <c:auto val="1"/>
        <c:lblOffset val="100"/>
        <c:baseTimeUnit val="months"/>
        <c:majorUnit val="6"/>
        <c:majorTimeUnit val="months"/>
      </c:dateAx>
      <c:valAx>
        <c:axId val="44157184"/>
        <c:scaling>
          <c:orientation val="minMax"/>
        </c:scaling>
        <c:delete val="0"/>
        <c:axPos val="l"/>
        <c:majorGridlines/>
        <c:title>
          <c:tx>
            <c:rich>
              <a:bodyPr rot="-5400000" vert="horz"/>
              <a:lstStyle/>
              <a:p>
                <a:pPr>
                  <a:defRPr/>
                </a:pPr>
                <a:r>
                  <a:rPr lang="en-US"/>
                  <a:t>Loan Count</a:t>
                </a:r>
              </a:p>
            </c:rich>
          </c:tx>
          <c:layout/>
          <c:overlay val="0"/>
        </c:title>
        <c:numFmt formatCode="General" sourceLinked="1"/>
        <c:majorTickMark val="out"/>
        <c:minorTickMark val="none"/>
        <c:tickLblPos val="nextTo"/>
        <c:crossAx val="44155648"/>
        <c:crosses val="autoZero"/>
        <c:crossBetween val="between"/>
        <c:dispUnits>
          <c:builtInUnit val="thousands"/>
          <c:dispUnitsLbl>
            <c:layout/>
          </c:dispUnitsLbl>
        </c:dispUnits>
      </c:valAx>
      <c:valAx>
        <c:axId val="44167936"/>
        <c:scaling>
          <c:orientation val="minMax"/>
        </c:scaling>
        <c:delete val="0"/>
        <c:axPos val="r"/>
        <c:title>
          <c:tx>
            <c:rich>
              <a:bodyPr rot="-5400000" vert="horz"/>
              <a:lstStyle/>
              <a:p>
                <a:pPr>
                  <a:defRPr/>
                </a:pPr>
                <a:r>
                  <a:rPr lang="en-US"/>
                  <a:t>Ratio</a:t>
                </a:r>
              </a:p>
            </c:rich>
          </c:tx>
          <c:layout/>
          <c:overlay val="0"/>
        </c:title>
        <c:numFmt formatCode="0.0" sourceLinked="0"/>
        <c:majorTickMark val="out"/>
        <c:minorTickMark val="none"/>
        <c:tickLblPos val="nextTo"/>
        <c:crossAx val="44169856"/>
        <c:crosses val="max"/>
        <c:crossBetween val="between"/>
      </c:valAx>
      <c:dateAx>
        <c:axId val="44169856"/>
        <c:scaling>
          <c:orientation val="minMax"/>
        </c:scaling>
        <c:delete val="1"/>
        <c:axPos val="b"/>
        <c:numFmt formatCode="m/d/yyyy" sourceLinked="1"/>
        <c:majorTickMark val="out"/>
        <c:minorTickMark val="none"/>
        <c:tickLblPos val="nextTo"/>
        <c:crossAx val="44167936"/>
        <c:crosses val="autoZero"/>
        <c:auto val="1"/>
        <c:lblOffset val="100"/>
        <c:baseTimeUnit val="months"/>
      </c:dateAx>
    </c:plotArea>
    <c:legend>
      <c:legendPos val="b"/>
      <c:layout/>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a:pPr>
            <a:r>
              <a:rPr lang="en-US" sz="1400" dirty="0"/>
              <a:t>Ratio HARP/Total</a:t>
            </a:r>
            <a:r>
              <a:rPr lang="en-US" sz="1400" baseline="0" dirty="0"/>
              <a:t> </a:t>
            </a:r>
            <a:r>
              <a:rPr lang="en-US" sz="1400" dirty="0"/>
              <a:t>Refi using </a:t>
            </a:r>
            <a:r>
              <a:rPr lang="en-US" sz="1400" dirty="0" err="1"/>
              <a:t>Algo</a:t>
            </a:r>
            <a:r>
              <a:rPr lang="en-US" sz="1400" dirty="0"/>
              <a:t> II (LTV &lt;= </a:t>
            </a:r>
            <a:r>
              <a:rPr lang="en-US" sz="1400" dirty="0" smtClean="0"/>
              <a:t>80%)</a:t>
            </a:r>
            <a:endParaRPr lang="en-US" sz="1400" dirty="0"/>
          </a:p>
        </c:rich>
      </c:tx>
      <c:layout/>
      <c:overlay val="0"/>
    </c:title>
    <c:autoTitleDeleted val="0"/>
    <c:plotArea>
      <c:layout/>
      <c:lineChart>
        <c:grouping val="standard"/>
        <c:varyColors val="0"/>
        <c:ser>
          <c:idx val="0"/>
          <c:order val="0"/>
          <c:tx>
            <c:strRef>
              <c:f>'&lt;80 LTV'!$AS$5</c:f>
              <c:strCache>
                <c:ptCount val="1"/>
                <c:pt idx="0">
                  <c:v>Ratio HARP/Refi</c:v>
                </c:pt>
              </c:strCache>
            </c:strRef>
          </c:tx>
          <c:marker>
            <c:symbol val="none"/>
          </c:marker>
          <c:cat>
            <c:numRef>
              <c:f>'&lt;80 LTV'!$AR$6:$AR$63</c:f>
              <c:numCache>
                <c:formatCode>m/d/yyyy</c:formatCode>
                <c:ptCount val="58"/>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pt idx="57">
                  <c:v>41699</c:v>
                </c:pt>
              </c:numCache>
            </c:numRef>
          </c:cat>
          <c:val>
            <c:numRef>
              <c:f>'&lt;80 LTV'!$AS$6:$AS$63</c:f>
              <c:numCache>
                <c:formatCode>0%</c:formatCode>
                <c:ptCount val="58"/>
                <c:pt idx="0">
                  <c:v>4.5711249327274835E-2</c:v>
                </c:pt>
                <c:pt idx="1">
                  <c:v>4.9449780192086915E-2</c:v>
                </c:pt>
                <c:pt idx="2">
                  <c:v>8.1220476236382913E-2</c:v>
                </c:pt>
                <c:pt idx="3">
                  <c:v>9.8626960255321097E-2</c:v>
                </c:pt>
                <c:pt idx="4">
                  <c:v>0.1339239666985928</c:v>
                </c:pt>
                <c:pt idx="5">
                  <c:v>0.12973812234758306</c:v>
                </c:pt>
                <c:pt idx="6">
                  <c:v>0.15860219645083606</c:v>
                </c:pt>
                <c:pt idx="7">
                  <c:v>0.19611273392610665</c:v>
                </c:pt>
                <c:pt idx="8">
                  <c:v>0.19880724756441773</c:v>
                </c:pt>
                <c:pt idx="9">
                  <c:v>0.20920873837148532</c:v>
                </c:pt>
                <c:pt idx="10">
                  <c:v>0.18189206762028609</c:v>
                </c:pt>
                <c:pt idx="11">
                  <c:v>0.22995078509491446</c:v>
                </c:pt>
                <c:pt idx="12">
                  <c:v>0.23752416784239955</c:v>
                </c:pt>
                <c:pt idx="13">
                  <c:v>0.22182029980687287</c:v>
                </c:pt>
                <c:pt idx="14">
                  <c:v>0.2692904602551045</c:v>
                </c:pt>
                <c:pt idx="15">
                  <c:v>0.29642268317932596</c:v>
                </c:pt>
                <c:pt idx="16">
                  <c:v>0.29132042771149591</c:v>
                </c:pt>
                <c:pt idx="17">
                  <c:v>0.3346096637851052</c:v>
                </c:pt>
                <c:pt idx="18">
                  <c:v>0.33821833053691275</c:v>
                </c:pt>
                <c:pt idx="19">
                  <c:v>0.34832864729771945</c:v>
                </c:pt>
                <c:pt idx="20">
                  <c:v>0.30024957389822254</c:v>
                </c:pt>
                <c:pt idx="21">
                  <c:v>0.33391245977374584</c:v>
                </c:pt>
                <c:pt idx="22">
                  <c:v>0.34422950819672132</c:v>
                </c:pt>
                <c:pt idx="23">
                  <c:v>0.2738229025382678</c:v>
                </c:pt>
                <c:pt idx="24">
                  <c:v>0.30875638533520183</c:v>
                </c:pt>
                <c:pt idx="25">
                  <c:v>0.29329579260518485</c:v>
                </c:pt>
                <c:pt idx="26">
                  <c:v>0.26236786469344608</c:v>
                </c:pt>
                <c:pt idx="27">
                  <c:v>0.29646691235378947</c:v>
                </c:pt>
                <c:pt idx="28">
                  <c:v>0.27280685061845861</c:v>
                </c:pt>
                <c:pt idx="29">
                  <c:v>0.23868147329279935</c:v>
                </c:pt>
                <c:pt idx="30">
                  <c:v>0.27236112166578008</c:v>
                </c:pt>
                <c:pt idx="31">
                  <c:v>0.28204884989328904</c:v>
                </c:pt>
                <c:pt idx="32">
                  <c:v>0.21692197437964705</c:v>
                </c:pt>
                <c:pt idx="33">
                  <c:v>0.23968290382605592</c:v>
                </c:pt>
                <c:pt idx="34">
                  <c:v>0.24571233164983164</c:v>
                </c:pt>
                <c:pt idx="35">
                  <c:v>0.23377108691010037</c:v>
                </c:pt>
                <c:pt idx="36">
                  <c:v>0.22981893053957489</c:v>
                </c:pt>
                <c:pt idx="37">
                  <c:v>0.20620129239814738</c:v>
                </c:pt>
                <c:pt idx="38">
                  <c:v>0.21664861261561535</c:v>
                </c:pt>
                <c:pt idx="39">
                  <c:v>0.22434367541766109</c:v>
                </c:pt>
                <c:pt idx="40">
                  <c:v>0.19533778224700613</c:v>
                </c:pt>
                <c:pt idx="41">
                  <c:v>0.1987027662966919</c:v>
                </c:pt>
                <c:pt idx="42">
                  <c:v>0.20224114746750335</c:v>
                </c:pt>
                <c:pt idx="43">
                  <c:v>0.21476957815867803</c:v>
                </c:pt>
                <c:pt idx="44">
                  <c:v>0.20030790547301977</c:v>
                </c:pt>
                <c:pt idx="45">
                  <c:v>0.19818844146893769</c:v>
                </c:pt>
                <c:pt idx="46">
                  <c:v>0.21585770274344288</c:v>
                </c:pt>
                <c:pt idx="47">
                  <c:v>0.25646747960222099</c:v>
                </c:pt>
                <c:pt idx="48">
                  <c:v>0.26683216881218841</c:v>
                </c:pt>
                <c:pt idx="49">
                  <c:v>0.22797458438506396</c:v>
                </c:pt>
                <c:pt idx="50">
                  <c:v>0.22482511138439207</c:v>
                </c:pt>
                <c:pt idx="51">
                  <c:v>0.24819717729473575</c:v>
                </c:pt>
                <c:pt idx="52">
                  <c:v>0.26723945547868777</c:v>
                </c:pt>
                <c:pt idx="53">
                  <c:v>0.2720246539157658</c:v>
                </c:pt>
                <c:pt idx="54">
                  <c:v>0.25331742243436756</c:v>
                </c:pt>
                <c:pt idx="55">
                  <c:v>0.21364492688615772</c:v>
                </c:pt>
                <c:pt idx="56">
                  <c:v>0.20799682245465378</c:v>
                </c:pt>
                <c:pt idx="57">
                  <c:v>0.24241141613254324</c:v>
                </c:pt>
              </c:numCache>
            </c:numRef>
          </c:val>
          <c:smooth val="0"/>
        </c:ser>
        <c:ser>
          <c:idx val="1"/>
          <c:order val="1"/>
          <c:tx>
            <c:strRef>
              <c:f>'&lt;80 LTV'!$AT$5</c:f>
              <c:strCache>
                <c:ptCount val="1"/>
                <c:pt idx="0">
                  <c:v>Ratio HARP/Refi NCO</c:v>
                </c:pt>
              </c:strCache>
            </c:strRef>
          </c:tx>
          <c:spPr>
            <a:ln>
              <a:solidFill>
                <a:schemeClr val="bg2">
                  <a:lumMod val="50000"/>
                </a:schemeClr>
              </a:solidFill>
            </a:ln>
          </c:spPr>
          <c:marker>
            <c:symbol val="none"/>
          </c:marker>
          <c:cat>
            <c:numRef>
              <c:f>'&lt;80 LTV'!$AR$6:$AR$63</c:f>
              <c:numCache>
                <c:formatCode>m/d/yyyy</c:formatCode>
                <c:ptCount val="58"/>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pt idx="57">
                  <c:v>41699</c:v>
                </c:pt>
              </c:numCache>
            </c:numRef>
          </c:cat>
          <c:val>
            <c:numRef>
              <c:f>'&lt;80 LTV'!$AT$6:$AT$63</c:f>
              <c:numCache>
                <c:formatCode>0%</c:formatCode>
                <c:ptCount val="58"/>
                <c:pt idx="0">
                  <c:v>7.0161863733322186E-2</c:v>
                </c:pt>
                <c:pt idx="1">
                  <c:v>7.6025657583193421E-2</c:v>
                </c:pt>
                <c:pt idx="2">
                  <c:v>0.13039945312197701</c:v>
                </c:pt>
                <c:pt idx="3">
                  <c:v>0.16926077705098905</c:v>
                </c:pt>
                <c:pt idx="4">
                  <c:v>0.24153738830016941</c:v>
                </c:pt>
                <c:pt idx="5">
                  <c:v>0.2425966786668215</c:v>
                </c:pt>
                <c:pt idx="6">
                  <c:v>0.27276465750205614</c:v>
                </c:pt>
                <c:pt idx="7">
                  <c:v>0.32321976510422179</c:v>
                </c:pt>
                <c:pt idx="8">
                  <c:v>0.32035701185964055</c:v>
                </c:pt>
                <c:pt idx="9">
                  <c:v>0.33936191256676179</c:v>
                </c:pt>
                <c:pt idx="10">
                  <c:v>0.3213274808220864</c:v>
                </c:pt>
                <c:pt idx="11">
                  <c:v>0.38750444295249004</c:v>
                </c:pt>
                <c:pt idx="12">
                  <c:v>0.40277347038234901</c:v>
                </c:pt>
                <c:pt idx="13">
                  <c:v>0.39771353193360448</c:v>
                </c:pt>
                <c:pt idx="14">
                  <c:v>0.42508804164752717</c:v>
                </c:pt>
                <c:pt idx="15">
                  <c:v>0.4321891771019678</c:v>
                </c:pt>
                <c:pt idx="16">
                  <c:v>0.4077981154554316</c:v>
                </c:pt>
                <c:pt idx="17">
                  <c:v>0.44912037952164457</c:v>
                </c:pt>
                <c:pt idx="18">
                  <c:v>0.45074506926611113</c:v>
                </c:pt>
                <c:pt idx="19">
                  <c:v>0.46068586415650203</c:v>
                </c:pt>
                <c:pt idx="20">
                  <c:v>0.41893154408017669</c:v>
                </c:pt>
                <c:pt idx="21">
                  <c:v>0.48664901881797779</c:v>
                </c:pt>
                <c:pt idx="22">
                  <c:v>0.51737052185482679</c:v>
                </c:pt>
                <c:pt idx="23">
                  <c:v>0.45446359660406482</c:v>
                </c:pt>
                <c:pt idx="24">
                  <c:v>0.5053270198283516</c:v>
                </c:pt>
                <c:pt idx="25">
                  <c:v>0.50081640058055155</c:v>
                </c:pt>
                <c:pt idx="26">
                  <c:v>0.44122875631088671</c:v>
                </c:pt>
                <c:pt idx="27">
                  <c:v>0.46135145243735193</c:v>
                </c:pt>
                <c:pt idx="28">
                  <c:v>0.41679265030817536</c:v>
                </c:pt>
                <c:pt idx="29">
                  <c:v>0.32044795250624031</c:v>
                </c:pt>
                <c:pt idx="30">
                  <c:v>0.3533355241537956</c:v>
                </c:pt>
                <c:pt idx="31">
                  <c:v>0.36858904831262201</c:v>
                </c:pt>
                <c:pt idx="32">
                  <c:v>0.29749984642791327</c:v>
                </c:pt>
                <c:pt idx="33">
                  <c:v>0.31733657318349029</c:v>
                </c:pt>
                <c:pt idx="34">
                  <c:v>0.31927401989267523</c:v>
                </c:pt>
                <c:pt idx="35">
                  <c:v>0.31030328798185941</c:v>
                </c:pt>
                <c:pt idx="36">
                  <c:v>0.31767955801104975</c:v>
                </c:pt>
                <c:pt idx="37">
                  <c:v>0.28975058456742009</c:v>
                </c:pt>
                <c:pt idx="38">
                  <c:v>0.29814234385750327</c:v>
                </c:pt>
                <c:pt idx="39">
                  <c:v>0.30832187929526428</c:v>
                </c:pt>
                <c:pt idx="40">
                  <c:v>0.26714007101065163</c:v>
                </c:pt>
                <c:pt idx="41">
                  <c:v>0.2704194493016201</c:v>
                </c:pt>
                <c:pt idx="42">
                  <c:v>0.28005710384209548</c:v>
                </c:pt>
                <c:pt idx="43">
                  <c:v>0.28909254184991595</c:v>
                </c:pt>
                <c:pt idx="44">
                  <c:v>0.27451104500284829</c:v>
                </c:pt>
                <c:pt idx="45">
                  <c:v>0.26743722598644876</c:v>
                </c:pt>
                <c:pt idx="46">
                  <c:v>0.29446237996339786</c:v>
                </c:pt>
                <c:pt idx="47">
                  <c:v>0.3603953937630146</c:v>
                </c:pt>
                <c:pt idx="48">
                  <c:v>0.37966101694915255</c:v>
                </c:pt>
                <c:pt idx="49">
                  <c:v>0.32406215975452834</c:v>
                </c:pt>
                <c:pt idx="50">
                  <c:v>0.32436520171024696</c:v>
                </c:pt>
                <c:pt idx="51">
                  <c:v>0.3792302849047694</c:v>
                </c:pt>
                <c:pt idx="52">
                  <c:v>0.42577777777777776</c:v>
                </c:pt>
                <c:pt idx="53">
                  <c:v>0.45750719868366929</c:v>
                </c:pt>
                <c:pt idx="54">
                  <c:v>0.44302529426496368</c:v>
                </c:pt>
                <c:pt idx="55">
                  <c:v>0.37569017195141191</c:v>
                </c:pt>
                <c:pt idx="56">
                  <c:v>0.37336607779450209</c:v>
                </c:pt>
                <c:pt idx="57">
                  <c:v>0.42508747746792491</c:v>
                </c:pt>
              </c:numCache>
            </c:numRef>
          </c:val>
          <c:smooth val="0"/>
        </c:ser>
        <c:dLbls>
          <c:showLegendKey val="0"/>
          <c:showVal val="0"/>
          <c:showCatName val="0"/>
          <c:showSerName val="0"/>
          <c:showPercent val="0"/>
          <c:showBubbleSize val="0"/>
        </c:dLbls>
        <c:marker val="1"/>
        <c:smooth val="0"/>
        <c:axId val="44233856"/>
        <c:axId val="44235392"/>
      </c:lineChart>
      <c:dateAx>
        <c:axId val="44233856"/>
        <c:scaling>
          <c:orientation val="minMax"/>
        </c:scaling>
        <c:delete val="0"/>
        <c:axPos val="b"/>
        <c:numFmt formatCode="m/d/yyyy" sourceLinked="1"/>
        <c:majorTickMark val="out"/>
        <c:minorTickMark val="none"/>
        <c:tickLblPos val="nextTo"/>
        <c:crossAx val="44235392"/>
        <c:crosses val="autoZero"/>
        <c:auto val="1"/>
        <c:lblOffset val="100"/>
        <c:baseTimeUnit val="months"/>
        <c:majorUnit val="6"/>
        <c:majorTimeUnit val="months"/>
      </c:dateAx>
      <c:valAx>
        <c:axId val="44235392"/>
        <c:scaling>
          <c:orientation val="minMax"/>
        </c:scaling>
        <c:delete val="0"/>
        <c:axPos val="l"/>
        <c:majorGridlines/>
        <c:title>
          <c:tx>
            <c:rich>
              <a:bodyPr rot="-5400000" vert="horz"/>
              <a:lstStyle/>
              <a:p>
                <a:pPr>
                  <a:defRPr/>
                </a:pPr>
                <a:r>
                  <a:rPr lang="en-US"/>
                  <a:t>Loan Count</a:t>
                </a:r>
              </a:p>
            </c:rich>
          </c:tx>
          <c:layout/>
          <c:overlay val="0"/>
        </c:title>
        <c:numFmt formatCode="0%" sourceLinked="1"/>
        <c:majorTickMark val="out"/>
        <c:minorTickMark val="none"/>
        <c:tickLblPos val="nextTo"/>
        <c:crossAx val="44233856"/>
        <c:crosses val="autoZero"/>
        <c:crossBetween val="between"/>
      </c:valAx>
      <c:spPr>
        <a:ln>
          <a:solidFill>
            <a:schemeClr val="tx1"/>
          </a:solidFill>
        </a:ln>
      </c:spPr>
    </c:plotArea>
    <c:legend>
      <c:legendPos val="b"/>
      <c:layout/>
      <c:overlay val="0"/>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6585.9</c:v>
                </c:pt>
                <c:pt idx="111">
                  <c:v>6591.8</c:v>
                </c:pt>
                <c:pt idx="112">
                  <c:v>8160.55</c:v>
                </c:pt>
                <c:pt idx="113">
                  <c:v>7871.9000000000005</c:v>
                </c:pt>
                <c:pt idx="114">
                  <c:v>7418.35</c:v>
                </c:pt>
                <c:pt idx="115">
                  <c:v>9569.75</c:v>
                </c:pt>
                <c:pt idx="116">
                  <c:v>10031.049999999999</c:v>
                </c:pt>
                <c:pt idx="117">
                  <c:v>10208.75</c:v>
                </c:pt>
                <c:pt idx="118">
                  <c:v>10948.7</c:v>
                </c:pt>
                <c:pt idx="119">
                  <c:v>11460.7</c:v>
                </c:pt>
                <c:pt idx="120">
                  <c:v>14130.25</c:v>
                </c:pt>
                <c:pt idx="121">
                  <c:v>13418.6</c:v>
                </c:pt>
                <c:pt idx="122">
                  <c:v>16116.9</c:v>
                </c:pt>
                <c:pt idx="123">
                  <c:v>23823.3</c:v>
                </c:pt>
                <c:pt idx="124">
                  <c:v>27135.3</c:v>
                </c:pt>
                <c:pt idx="125">
                  <c:v>20450.300000000003</c:v>
                </c:pt>
                <c:pt idx="126">
                  <c:v>17553.25</c:v>
                </c:pt>
                <c:pt idx="127">
                  <c:v>14187.1</c:v>
                </c:pt>
                <c:pt idx="128">
                  <c:v>11192.15</c:v>
                </c:pt>
                <c:pt idx="129">
                  <c:v>10829.05</c:v>
                </c:pt>
                <c:pt idx="130">
                  <c:v>11648.300000000001</c:v>
                </c:pt>
                <c:pt idx="131">
                  <c:v>12564.85</c:v>
                </c:pt>
                <c:pt idx="132">
                  <c:v>11229.55</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8097.1</c:v>
                </c:pt>
                <c:pt idx="111">
                  <c:v>6196.2</c:v>
                </c:pt>
                <c:pt idx="112">
                  <c:v>6825.45</c:v>
                </c:pt>
                <c:pt idx="113">
                  <c:v>6610.1</c:v>
                </c:pt>
                <c:pt idx="114">
                  <c:v>5905.65</c:v>
                </c:pt>
                <c:pt idx="115">
                  <c:v>6307.25</c:v>
                </c:pt>
                <c:pt idx="116">
                  <c:v>6461.95</c:v>
                </c:pt>
                <c:pt idx="117">
                  <c:v>6522.25</c:v>
                </c:pt>
                <c:pt idx="118">
                  <c:v>6776.2999999999993</c:v>
                </c:pt>
                <c:pt idx="119">
                  <c:v>6707.2999999999993</c:v>
                </c:pt>
                <c:pt idx="120">
                  <c:v>7345.75</c:v>
                </c:pt>
                <c:pt idx="121">
                  <c:v>7519.4</c:v>
                </c:pt>
                <c:pt idx="122">
                  <c:v>8014.0999999999995</c:v>
                </c:pt>
                <c:pt idx="123">
                  <c:v>11192.699999999999</c:v>
                </c:pt>
                <c:pt idx="124">
                  <c:v>12482.699999999999</c:v>
                </c:pt>
                <c:pt idx="125">
                  <c:v>10089.700000000001</c:v>
                </c:pt>
                <c:pt idx="126">
                  <c:v>8687.75</c:v>
                </c:pt>
                <c:pt idx="127">
                  <c:v>7217.9</c:v>
                </c:pt>
                <c:pt idx="128">
                  <c:v>5989.8499999999995</c:v>
                </c:pt>
                <c:pt idx="129">
                  <c:v>5717.95</c:v>
                </c:pt>
                <c:pt idx="130">
                  <c:v>6002.7</c:v>
                </c:pt>
                <c:pt idx="131">
                  <c:v>6142.15</c:v>
                </c:pt>
                <c:pt idx="132">
                  <c:v>5270.45</c:v>
                </c:pt>
              </c:numCache>
            </c:numRef>
          </c:val>
        </c:ser>
        <c:dLbls>
          <c:showLegendKey val="0"/>
          <c:showVal val="0"/>
          <c:showCatName val="0"/>
          <c:showSerName val="0"/>
          <c:showPercent val="0"/>
          <c:showBubbleSize val="0"/>
        </c:dLbls>
        <c:axId val="45130112"/>
        <c:axId val="45131648"/>
      </c:areaChart>
      <c:dateAx>
        <c:axId val="45130112"/>
        <c:scaling>
          <c:orientation val="minMax"/>
        </c:scaling>
        <c:delete val="0"/>
        <c:axPos val="b"/>
        <c:numFmt formatCode="m/d/yyyy" sourceLinked="1"/>
        <c:majorTickMark val="out"/>
        <c:minorTickMark val="none"/>
        <c:tickLblPos val="nextTo"/>
        <c:crossAx val="45131648"/>
        <c:crosses val="autoZero"/>
        <c:auto val="1"/>
        <c:lblOffset val="100"/>
        <c:baseTimeUnit val="months"/>
        <c:majorUnit val="12"/>
        <c:majorTimeUnit val="months"/>
      </c:dateAx>
      <c:valAx>
        <c:axId val="45131648"/>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45130112"/>
        <c:crosses val="autoZero"/>
        <c:crossBetween val="midCat"/>
      </c:valAx>
    </c:plotArea>
    <c:plotVisOnly val="1"/>
    <c:dispBlanksAs val="zero"/>
    <c:showDLblsOverMax val="0"/>
  </c:chart>
  <c:txPr>
    <a:bodyPr/>
    <a:lstStyle/>
    <a:p>
      <a:pPr>
        <a:defRPr sz="1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6582</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8095</c:v>
                </c:pt>
              </c:numCache>
            </c:numRef>
          </c:val>
        </c:ser>
        <c:ser>
          <c:idx val="4"/>
          <c:order val="4"/>
          <c:tx>
            <c:strRef>
              <c:f>Sheet1!$F$1</c:f>
              <c:strCache>
                <c:ptCount val="1"/>
                <c:pt idx="0">
                  <c:v>Unknown</c:v>
                </c:pt>
              </c:strCache>
            </c:strRef>
          </c:tx>
          <c:spPr>
            <a:solidFill>
              <a:srgbClr val="AD275C"/>
            </a:solidFill>
            <a:ln w="19050">
              <a:noFill/>
            </a:ln>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Sheet1!$F$2:$F$134</c:f>
              <c:numCache>
                <c:formatCode>General</c:formatCode>
                <c:ptCount val="133"/>
                <c:pt idx="110">
                  <c:v>6</c:v>
                </c:pt>
                <c:pt idx="111">
                  <c:v>12788</c:v>
                </c:pt>
                <c:pt idx="112">
                  <c:v>14986</c:v>
                </c:pt>
                <c:pt idx="113">
                  <c:v>14482</c:v>
                </c:pt>
                <c:pt idx="114">
                  <c:v>13324</c:v>
                </c:pt>
                <c:pt idx="115">
                  <c:v>15877</c:v>
                </c:pt>
                <c:pt idx="116">
                  <c:v>16493</c:v>
                </c:pt>
                <c:pt idx="117">
                  <c:v>16731</c:v>
                </c:pt>
                <c:pt idx="118">
                  <c:v>17725</c:v>
                </c:pt>
                <c:pt idx="119">
                  <c:v>18168</c:v>
                </c:pt>
                <c:pt idx="120">
                  <c:v>21476</c:v>
                </c:pt>
                <c:pt idx="121">
                  <c:v>20938</c:v>
                </c:pt>
                <c:pt idx="122">
                  <c:v>24131</c:v>
                </c:pt>
                <c:pt idx="123">
                  <c:v>35016</c:v>
                </c:pt>
                <c:pt idx="124">
                  <c:v>39618</c:v>
                </c:pt>
                <c:pt idx="125">
                  <c:v>30540</c:v>
                </c:pt>
                <c:pt idx="126">
                  <c:v>26241</c:v>
                </c:pt>
                <c:pt idx="127">
                  <c:v>21405</c:v>
                </c:pt>
                <c:pt idx="128">
                  <c:v>17182</c:v>
                </c:pt>
                <c:pt idx="129">
                  <c:v>16547</c:v>
                </c:pt>
                <c:pt idx="130">
                  <c:v>17651</c:v>
                </c:pt>
                <c:pt idx="131">
                  <c:v>18707</c:v>
                </c:pt>
                <c:pt idx="132">
                  <c:v>16500</c:v>
                </c:pt>
              </c:numCache>
            </c:numRef>
          </c:val>
        </c:ser>
        <c:dLbls>
          <c:showLegendKey val="0"/>
          <c:showVal val="0"/>
          <c:showCatName val="0"/>
          <c:showSerName val="0"/>
          <c:showPercent val="0"/>
          <c:showBubbleSize val="0"/>
        </c:dLbls>
        <c:axId val="45232896"/>
        <c:axId val="45234432"/>
      </c:areaChart>
      <c:dateAx>
        <c:axId val="45232896"/>
        <c:scaling>
          <c:orientation val="minMax"/>
        </c:scaling>
        <c:delete val="0"/>
        <c:axPos val="b"/>
        <c:numFmt formatCode="m/d/yyyy" sourceLinked="1"/>
        <c:majorTickMark val="out"/>
        <c:minorTickMark val="none"/>
        <c:tickLblPos val="nextTo"/>
        <c:crossAx val="45234432"/>
        <c:crosses val="autoZero"/>
        <c:auto val="1"/>
        <c:lblOffset val="100"/>
        <c:baseTimeUnit val="months"/>
        <c:majorUnit val="12"/>
        <c:majorTimeUnit val="months"/>
      </c:dateAx>
      <c:valAx>
        <c:axId val="45234432"/>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45232896"/>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0.83449</cdr:x>
      <cdr:y>0.08761</cdr:y>
    </cdr:from>
    <cdr:to>
      <cdr:x>0.95273</cdr:x>
      <cdr:y>0.14538</cdr:y>
    </cdr:to>
    <cdr:sp macro="" textlink="">
      <cdr:nvSpPr>
        <cdr:cNvPr id="2" name="TextBox 19"/>
        <cdr:cNvSpPr txBox="1"/>
      </cdr:nvSpPr>
      <cdr:spPr>
        <a:xfrm xmlns:a="http://schemas.openxmlformats.org/drawingml/2006/main">
          <a:off x="7239109" y="256353"/>
          <a:ext cx="1025717" cy="16904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0.83449</cdr:x>
      <cdr:y>0.08761</cdr:y>
    </cdr:from>
    <cdr:to>
      <cdr:x>0.95273</cdr:x>
      <cdr:y>0.14538</cdr:y>
    </cdr:to>
    <cdr:sp macro="" textlink="">
      <cdr:nvSpPr>
        <cdr:cNvPr id="2" name="TextBox 19"/>
        <cdr:cNvSpPr txBox="1"/>
      </cdr:nvSpPr>
      <cdr:spPr>
        <a:xfrm xmlns:a="http://schemas.openxmlformats.org/drawingml/2006/main">
          <a:off x="7239109" y="256353"/>
          <a:ext cx="1025717" cy="16904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3" y="4416436"/>
            <a:ext cx="5607678" cy="4181463"/>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996"/>
            <a:fld id="{1FE077EC-684A-4FD9-A6C3-9AE90D8B81D6}" type="slidenum">
              <a:rPr lang="en-US" smtClean="0"/>
              <a:pPr defTabSz="919996"/>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Identifying </a:t>
            </a:r>
            <a:r>
              <a:rPr lang="en-US" sz="2400" dirty="0" err="1" smtClean="0">
                <a:solidFill>
                  <a:srgbClr val="968880"/>
                </a:solidFill>
                <a:latin typeface="Calibri" pitchFamily="34" charset="0"/>
              </a:rPr>
              <a:t>HARPed</a:t>
            </a:r>
            <a:r>
              <a:rPr lang="en-US" sz="2400" dirty="0" smtClean="0">
                <a:solidFill>
                  <a:srgbClr val="968880"/>
                </a:solidFill>
                <a:latin typeface="Calibri" pitchFamily="34" charset="0"/>
              </a:rPr>
              <a:t> Loans</a:t>
            </a:r>
            <a:endParaRPr lang="en-US" sz="2400" dirty="0">
              <a:solidFill>
                <a:srgbClr val="968880"/>
              </a:solidFill>
              <a:latin typeface="Calibri" pitchFamily="34" charset="0"/>
            </a:endParaRPr>
          </a:p>
          <a:p>
            <a:pPr algn="r" defTabSz="1018586"/>
            <a:r>
              <a:rPr lang="en-US" dirty="0" smtClean="0">
                <a:solidFill>
                  <a:schemeClr val="tx2"/>
                </a:solidFill>
                <a:latin typeface="Calibri" pitchFamily="34" charset="0"/>
              </a:rPr>
              <a:t>January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OVERVIEW OF HARP AND STREAMLINE REFI PROGRAMS</a:t>
            </a:r>
            <a:r>
              <a:rPr lang="en-US" sz="1600" dirty="0" smtClean="0">
                <a:latin typeface="+mn-lt"/>
              </a:rPr>
              <a:t/>
            </a:r>
            <a:br>
              <a:rPr lang="en-US" sz="1600" dirty="0" smtClean="0">
                <a:latin typeface="+mn-lt"/>
              </a:rPr>
            </a:br>
            <a:endParaRPr lang="en-US" sz="1600" dirty="0">
              <a:latin typeface="+mn-lt"/>
            </a:endParaRPr>
          </a:p>
        </p:txBody>
      </p:sp>
      <p:sp>
        <p:nvSpPr>
          <p:cNvPr id="3" name="TextBox 2"/>
          <p:cNvSpPr txBox="1"/>
          <p:nvPr/>
        </p:nvSpPr>
        <p:spPr>
          <a:xfrm>
            <a:off x="1943100" y="1127760"/>
            <a:ext cx="6789420" cy="369332"/>
          </a:xfrm>
          <a:prstGeom prst="rect">
            <a:avLst/>
          </a:prstGeom>
          <a:noFill/>
        </p:spPr>
        <p:txBody>
          <a:bodyPr wrap="square" rtlCol="0">
            <a:spAutoFit/>
          </a:bodyPr>
          <a:lstStyle/>
          <a:p>
            <a:r>
              <a:rPr lang="en-US" dirty="0">
                <a:latin typeface="+mn-lt"/>
              </a:rPr>
              <a:t>Key Differences in </a:t>
            </a:r>
            <a:r>
              <a:rPr lang="en-US" dirty="0" smtClean="0">
                <a:latin typeface="+mn-lt"/>
              </a:rPr>
              <a:t>Streamline Refi, HARP 1.0 and HARP 2.0 Programs</a:t>
            </a:r>
            <a:endParaRPr lang="en-US" dirty="0">
              <a:latin typeface="+mn-lt"/>
            </a:endParaRPr>
          </a:p>
        </p:txBody>
      </p:sp>
      <p:graphicFrame>
        <p:nvGraphicFramePr>
          <p:cNvPr id="8" name="Table 7"/>
          <p:cNvGraphicFramePr>
            <a:graphicFrameLocks noGrp="1"/>
          </p:cNvGraphicFramePr>
          <p:nvPr>
            <p:extLst>
              <p:ext uri="{D42A27DB-BD31-4B8C-83A1-F6EECF244321}">
                <p14:modId xmlns:p14="http://schemas.microsoft.com/office/powerpoint/2010/main" val="1870863037"/>
              </p:ext>
            </p:extLst>
          </p:nvPr>
        </p:nvGraphicFramePr>
        <p:xfrm>
          <a:off x="281940" y="1651000"/>
          <a:ext cx="9502140" cy="4681221"/>
        </p:xfrm>
        <a:graphic>
          <a:graphicData uri="http://schemas.openxmlformats.org/drawingml/2006/table">
            <a:tbl>
              <a:tblPr firstRow="1" bandRow="1">
                <a:tableStyleId>{5C22544A-7EE6-4342-B048-85BDC9FD1C3A}</a:tableStyleId>
              </a:tblPr>
              <a:tblGrid>
                <a:gridCol w="1181100"/>
                <a:gridCol w="3025140"/>
                <a:gridCol w="3025140"/>
                <a:gridCol w="2270760"/>
              </a:tblGrid>
              <a:tr h="488883">
                <a:tc>
                  <a:txBody>
                    <a:bodyPr/>
                    <a:lstStyle/>
                    <a:p>
                      <a:endParaRPr lang="en-US" sz="1000" dirty="0">
                        <a:latin typeface="+mn-lt"/>
                      </a:endParaRPr>
                    </a:p>
                  </a:txBody>
                  <a:tcPr anchor="ctr"/>
                </a:tc>
                <a:tc>
                  <a:txBody>
                    <a:bodyPr/>
                    <a:lstStyle/>
                    <a:p>
                      <a:pPr algn="ctr"/>
                      <a:r>
                        <a:rPr lang="en-US" sz="1000" dirty="0" smtClean="0"/>
                        <a:t>HARP 2.0 </a:t>
                      </a:r>
                      <a:endParaRPr lang="en-US" sz="1000" dirty="0">
                        <a:latin typeface="+mn-lt"/>
                      </a:endParaRPr>
                    </a:p>
                  </a:txBody>
                  <a:tcPr anchor="ctr"/>
                </a:tc>
                <a:tc>
                  <a:txBody>
                    <a:bodyPr/>
                    <a:lstStyle/>
                    <a:p>
                      <a:pPr algn="ctr"/>
                      <a:r>
                        <a:rPr lang="en-US" sz="1000" dirty="0" smtClean="0"/>
                        <a:t>HARP 1.0 </a:t>
                      </a:r>
                      <a:endParaRPr lang="en-US" sz="1000" dirty="0">
                        <a:latin typeface="+mn-lt"/>
                      </a:endParaRPr>
                    </a:p>
                  </a:txBody>
                  <a:tcPr anchor="ctr"/>
                </a:tc>
                <a:tc>
                  <a:txBody>
                    <a:bodyPr/>
                    <a:lstStyle/>
                    <a:p>
                      <a:pPr algn="ctr"/>
                      <a:r>
                        <a:rPr lang="en-US" sz="1000" dirty="0" smtClean="0"/>
                        <a:t>Streamline Refi</a:t>
                      </a:r>
                      <a:endParaRPr lang="en-US" sz="1000" dirty="0">
                        <a:latin typeface="+mn-lt"/>
                      </a:endParaRPr>
                    </a:p>
                  </a:txBody>
                  <a:tcPr anchor="ctr"/>
                </a:tc>
              </a:tr>
              <a:tr h="488883">
                <a:tc>
                  <a:txBody>
                    <a:bodyPr/>
                    <a:lstStyle/>
                    <a:p>
                      <a:r>
                        <a:rPr lang="en-US" sz="1000" b="1" dirty="0" smtClean="0"/>
                        <a:t>Period</a:t>
                      </a:r>
                      <a:endParaRPr lang="en-US" sz="1000" b="1" dirty="0">
                        <a:latin typeface="+mn-lt"/>
                      </a:endParaRPr>
                    </a:p>
                  </a:txBody>
                  <a:tcPr anchor="ctr"/>
                </a:tc>
                <a:tc>
                  <a:txBody>
                    <a:bodyPr/>
                    <a:lstStyle/>
                    <a:p>
                      <a:r>
                        <a:rPr lang="en-US" sz="1000" dirty="0" smtClean="0"/>
                        <a:t>Since </a:t>
                      </a:r>
                      <a:r>
                        <a:rPr lang="en-US" sz="1000" dirty="0" smtClean="0"/>
                        <a:t>November</a:t>
                      </a:r>
                      <a:r>
                        <a:rPr lang="en-US" sz="1000" baseline="0" dirty="0" smtClean="0"/>
                        <a:t> </a:t>
                      </a:r>
                      <a:r>
                        <a:rPr lang="en-US" sz="1000" dirty="0" smtClean="0"/>
                        <a:t>2011</a:t>
                      </a:r>
                      <a:endParaRPr lang="en-US" sz="1000" dirty="0">
                        <a:latin typeface="+mn-lt"/>
                      </a:endParaRPr>
                    </a:p>
                  </a:txBody>
                  <a:tcPr anchor="ctr"/>
                </a:tc>
                <a:tc>
                  <a:txBody>
                    <a:bodyPr/>
                    <a:lstStyle/>
                    <a:p>
                      <a:r>
                        <a:rPr lang="en-US" sz="1000" dirty="0" smtClean="0"/>
                        <a:t>April</a:t>
                      </a:r>
                      <a:r>
                        <a:rPr lang="en-US" sz="1000" baseline="0" dirty="0" smtClean="0"/>
                        <a:t> </a:t>
                      </a:r>
                      <a:r>
                        <a:rPr lang="en-US" sz="1000" dirty="0" smtClean="0"/>
                        <a:t>2009</a:t>
                      </a:r>
                      <a:r>
                        <a:rPr lang="en-US" sz="1000" baseline="0" dirty="0" smtClean="0"/>
                        <a:t> – </a:t>
                      </a:r>
                      <a:r>
                        <a:rPr lang="en-US" sz="1000" dirty="0" smtClean="0"/>
                        <a:t>October</a:t>
                      </a:r>
                      <a:r>
                        <a:rPr lang="en-US" sz="1000" baseline="0" dirty="0" smtClean="0"/>
                        <a:t> </a:t>
                      </a:r>
                      <a:r>
                        <a:rPr lang="en-US" sz="1000" dirty="0" smtClean="0"/>
                        <a:t>2011</a:t>
                      </a:r>
                      <a:endParaRPr lang="en-US" sz="1000" dirty="0">
                        <a:latin typeface="+mn-lt"/>
                      </a:endParaRPr>
                    </a:p>
                  </a:txBody>
                  <a:tcPr anchor="ctr"/>
                </a:tc>
                <a:tc>
                  <a:txBody>
                    <a:bodyPr/>
                    <a:lstStyle/>
                    <a:p>
                      <a:r>
                        <a:rPr lang="en-US" sz="1000" dirty="0" smtClean="0"/>
                        <a:t>Pre-HARP 1.0</a:t>
                      </a:r>
                      <a:endParaRPr lang="en-US" sz="1000" dirty="0">
                        <a:latin typeface="+mn-lt"/>
                      </a:endParaRPr>
                    </a:p>
                  </a:txBody>
                  <a:tcPr anchor="ctr"/>
                </a:tc>
              </a:tr>
              <a:tr h="522368">
                <a:tc>
                  <a:txBody>
                    <a:bodyPr/>
                    <a:lstStyle/>
                    <a:p>
                      <a:r>
                        <a:rPr lang="en-US" sz="1000" b="1" dirty="0" smtClean="0"/>
                        <a:t>Appraisal</a:t>
                      </a:r>
                      <a:endParaRPr lang="en-US" sz="1000" b="1" dirty="0">
                        <a:latin typeface="+mn-lt"/>
                      </a:endParaRPr>
                    </a:p>
                  </a:txBody>
                  <a:tcPr anchor="ctr"/>
                </a:tc>
                <a:tc>
                  <a:txBody>
                    <a:bodyPr/>
                    <a:lstStyle/>
                    <a:p>
                      <a:r>
                        <a:rPr lang="en-US" sz="1000" dirty="0" smtClean="0"/>
                        <a:t>Mostly Automated</a:t>
                      </a:r>
                      <a:endParaRPr lang="en-US" sz="1000" dirty="0">
                        <a:latin typeface="+mn-lt"/>
                      </a:endParaRPr>
                    </a:p>
                  </a:txBody>
                  <a:tcPr anchor="ctr"/>
                </a:tc>
                <a:tc>
                  <a:txBody>
                    <a:bodyPr/>
                    <a:lstStyle/>
                    <a:p>
                      <a:r>
                        <a:rPr lang="en-US" sz="1000" dirty="0" smtClean="0"/>
                        <a:t>Manual/automated appraisal but manual appraisal required in most cases</a:t>
                      </a:r>
                      <a:endParaRPr lang="en-US" sz="1000" dirty="0">
                        <a:latin typeface="+mn-lt"/>
                      </a:endParaRPr>
                    </a:p>
                  </a:txBody>
                  <a:tcPr anchor="ctr"/>
                </a:tc>
                <a:tc>
                  <a:txBody>
                    <a:bodyPr/>
                    <a:lstStyle/>
                    <a:p>
                      <a:r>
                        <a:rPr lang="en-US" sz="1000" dirty="0" smtClean="0"/>
                        <a:t>Manual appraisal</a:t>
                      </a:r>
                      <a:endParaRPr lang="en-US" sz="1000" dirty="0">
                        <a:latin typeface="+mn-lt"/>
                      </a:endParaRPr>
                    </a:p>
                  </a:txBody>
                  <a:tcPr anchor="ctr"/>
                </a:tc>
              </a:tr>
              <a:tr h="924189">
                <a:tc>
                  <a:txBody>
                    <a:bodyPr/>
                    <a:lstStyle/>
                    <a:p>
                      <a:r>
                        <a:rPr lang="en-US" sz="1000" b="1" dirty="0" smtClean="0"/>
                        <a:t>Income &amp; Asset</a:t>
                      </a:r>
                    </a:p>
                    <a:p>
                      <a:r>
                        <a:rPr lang="en-US" sz="1000" b="1" dirty="0" smtClean="0"/>
                        <a:t>documentation</a:t>
                      </a:r>
                      <a:endParaRPr lang="en-US" sz="1000" b="1" dirty="0">
                        <a:latin typeface="+mn-lt"/>
                      </a:endParaRPr>
                    </a:p>
                  </a:txBody>
                  <a:tcPr anchor="ctr"/>
                </a:tc>
                <a:tc>
                  <a:txBody>
                    <a:bodyPr/>
                    <a:lstStyle/>
                    <a:p>
                      <a:r>
                        <a:rPr lang="en-US" sz="1000" dirty="0" smtClean="0"/>
                        <a:t>Reduced requirement in </a:t>
                      </a:r>
                      <a:r>
                        <a:rPr lang="en-US" sz="1000" dirty="0" smtClean="0"/>
                        <a:t>September </a:t>
                      </a:r>
                      <a:r>
                        <a:rPr lang="en-US" sz="1000" dirty="0" smtClean="0"/>
                        <a:t>2012--same </a:t>
                      </a:r>
                      <a:r>
                        <a:rPr lang="en-US" sz="1000" dirty="0" smtClean="0"/>
                        <a:t>servicers </a:t>
                      </a:r>
                      <a:r>
                        <a:rPr lang="en-US" sz="1000" dirty="0" smtClean="0"/>
                        <a:t>are required to verbally verify a borrower's income; New lenders are required to have documentation</a:t>
                      </a:r>
                      <a:endParaRPr lang="en-US" sz="1000" dirty="0">
                        <a:latin typeface="+mn-lt"/>
                      </a:endParaRPr>
                    </a:p>
                  </a:txBody>
                  <a:tcPr anchor="ctr"/>
                </a:tc>
                <a:tc>
                  <a:txBody>
                    <a:bodyPr/>
                    <a:lstStyle/>
                    <a:p>
                      <a:r>
                        <a:rPr lang="en-US" sz="1000" dirty="0" smtClean="0"/>
                        <a:t>Need </a:t>
                      </a:r>
                      <a:r>
                        <a:rPr lang="en-US" sz="1000" dirty="0" smtClean="0"/>
                        <a:t>documentation;</a:t>
                      </a:r>
                      <a:r>
                        <a:rPr lang="en-US" sz="1000" baseline="0" dirty="0" smtClean="0"/>
                        <a:t> i</a:t>
                      </a:r>
                      <a:r>
                        <a:rPr lang="en-US" sz="1000" dirty="0" smtClean="0"/>
                        <a:t>n </a:t>
                      </a:r>
                      <a:r>
                        <a:rPr lang="en-US" sz="1000" dirty="0" smtClean="0"/>
                        <a:t>some cases need two year history of income</a:t>
                      </a:r>
                      <a:endParaRPr lang="en-US" sz="1000" dirty="0">
                        <a:latin typeface="+mn-lt"/>
                      </a:endParaRPr>
                    </a:p>
                  </a:txBody>
                  <a:tcPr anchor="ctr"/>
                </a:tc>
                <a:tc>
                  <a:txBody>
                    <a:bodyPr/>
                    <a:lstStyle/>
                    <a:p>
                      <a:r>
                        <a:rPr lang="en-US" sz="1000" dirty="0" smtClean="0"/>
                        <a:t>Stated Income/employment</a:t>
                      </a:r>
                      <a:endParaRPr lang="en-US" sz="1000" dirty="0">
                        <a:latin typeface="+mn-lt"/>
                      </a:endParaRPr>
                    </a:p>
                  </a:txBody>
                  <a:tcPr anchor="ctr"/>
                </a:tc>
              </a:tr>
              <a:tr h="723279">
                <a:tc>
                  <a:txBody>
                    <a:bodyPr/>
                    <a:lstStyle/>
                    <a:p>
                      <a:r>
                        <a:rPr lang="en-US" sz="1000" b="1" dirty="0" smtClean="0"/>
                        <a:t>Reps </a:t>
                      </a:r>
                      <a:r>
                        <a:rPr lang="en-US" sz="1000" b="1" dirty="0" smtClean="0"/>
                        <a:t>&amp; </a:t>
                      </a:r>
                      <a:r>
                        <a:rPr lang="en-US" sz="1000" b="1" dirty="0" smtClean="0"/>
                        <a:t>Warrants </a:t>
                      </a:r>
                      <a:endParaRPr lang="en-US" sz="1000" b="1" dirty="0">
                        <a:latin typeface="+mn-lt"/>
                      </a:endParaRPr>
                    </a:p>
                  </a:txBody>
                  <a:tcPr anchor="ctr"/>
                </a:tc>
                <a:tc>
                  <a:txBody>
                    <a:bodyPr/>
                    <a:lstStyle/>
                    <a:p>
                      <a:r>
                        <a:rPr lang="en-US" sz="1000" dirty="0" smtClean="0"/>
                        <a:t>Further relief of </a:t>
                      </a:r>
                      <a:r>
                        <a:rPr lang="en-US" sz="1000" dirty="0" smtClean="0"/>
                        <a:t>reps </a:t>
                      </a:r>
                      <a:r>
                        <a:rPr lang="en-US" sz="1000" dirty="0" smtClean="0"/>
                        <a:t>&amp; </a:t>
                      </a:r>
                      <a:r>
                        <a:rPr lang="en-US" sz="1000" dirty="0" smtClean="0"/>
                        <a:t>warrants </a:t>
                      </a:r>
                      <a:r>
                        <a:rPr lang="en-US" sz="1000" dirty="0" smtClean="0"/>
                        <a:t>for original loan in </a:t>
                      </a:r>
                      <a:r>
                        <a:rPr lang="en-US" sz="1000" dirty="0" smtClean="0"/>
                        <a:t>September </a:t>
                      </a:r>
                      <a:r>
                        <a:rPr lang="en-US" sz="1000" dirty="0" smtClean="0"/>
                        <a:t>2012; Relief of new loan </a:t>
                      </a:r>
                      <a:r>
                        <a:rPr lang="en-US" sz="1000" dirty="0" smtClean="0"/>
                        <a:t>reps </a:t>
                      </a:r>
                      <a:r>
                        <a:rPr lang="en-US" sz="1000" dirty="0" smtClean="0"/>
                        <a:t>&amp; </a:t>
                      </a:r>
                      <a:r>
                        <a:rPr lang="en-US" sz="1000" dirty="0" smtClean="0"/>
                        <a:t>warrants </a:t>
                      </a:r>
                      <a:r>
                        <a:rPr lang="en-US" sz="1000" dirty="0" smtClean="0"/>
                        <a:t>risk with 12 month clean pay following origination</a:t>
                      </a:r>
                      <a:endParaRPr lang="en-US" sz="1000" dirty="0">
                        <a:latin typeface="+mn-lt"/>
                      </a:endParaRPr>
                    </a:p>
                  </a:txBody>
                  <a:tcPr anchor="ctr"/>
                </a:tc>
                <a:tc>
                  <a:txBody>
                    <a:bodyPr/>
                    <a:lstStyle/>
                    <a:p>
                      <a:r>
                        <a:rPr lang="en-US" sz="1000" dirty="0" smtClean="0"/>
                        <a:t>Seller retains all the original </a:t>
                      </a:r>
                      <a:r>
                        <a:rPr lang="en-US" sz="1000" dirty="0" smtClean="0"/>
                        <a:t>reps </a:t>
                      </a:r>
                      <a:r>
                        <a:rPr lang="en-US" sz="1000" dirty="0" smtClean="0"/>
                        <a:t>&amp; </a:t>
                      </a:r>
                      <a:r>
                        <a:rPr lang="en-US" sz="1000" dirty="0" smtClean="0"/>
                        <a:t>warrants </a:t>
                      </a:r>
                      <a:r>
                        <a:rPr lang="en-US" sz="1000" dirty="0" smtClean="0"/>
                        <a:t>regarding value condition and marketability; no additional relief on the new loan</a:t>
                      </a:r>
                      <a:endParaRPr lang="en-US" sz="1000" dirty="0">
                        <a:latin typeface="+mn-lt"/>
                      </a:endParaRPr>
                    </a:p>
                  </a:txBody>
                  <a:tcPr anchor="ctr"/>
                </a:tc>
                <a:tc>
                  <a:txBody>
                    <a:bodyPr/>
                    <a:lstStyle/>
                    <a:p>
                      <a:r>
                        <a:rPr lang="en-US" sz="1000" dirty="0" smtClean="0"/>
                        <a:t>Any previous rep &amp; warrant relief </a:t>
                      </a:r>
                      <a:r>
                        <a:rPr lang="en-US" sz="1000" dirty="0" smtClean="0"/>
                        <a:t>on the </a:t>
                      </a:r>
                      <a:r>
                        <a:rPr lang="en-US" sz="1000" dirty="0" smtClean="0"/>
                        <a:t>original </a:t>
                      </a:r>
                      <a:r>
                        <a:rPr lang="en-US" sz="1000" dirty="0" smtClean="0"/>
                        <a:t>loan </a:t>
                      </a:r>
                      <a:r>
                        <a:rPr lang="en-US" sz="1000" dirty="0" smtClean="0"/>
                        <a:t>does not apply to </a:t>
                      </a:r>
                      <a:r>
                        <a:rPr lang="en-US" sz="1000" dirty="0" smtClean="0"/>
                        <a:t>the new </a:t>
                      </a:r>
                      <a:r>
                        <a:rPr lang="en-US" sz="1000" dirty="0" smtClean="0"/>
                        <a:t>loan</a:t>
                      </a:r>
                      <a:endParaRPr lang="en-US" sz="1000" dirty="0">
                        <a:latin typeface="+mn-lt"/>
                      </a:endParaRPr>
                    </a:p>
                  </a:txBody>
                  <a:tcPr anchor="ctr"/>
                </a:tc>
              </a:tr>
              <a:tr h="522368">
                <a:tc>
                  <a:txBody>
                    <a:bodyPr/>
                    <a:lstStyle/>
                    <a:p>
                      <a:r>
                        <a:rPr lang="en-US" sz="1000" b="1" dirty="0" smtClean="0"/>
                        <a:t>LTV restriction</a:t>
                      </a:r>
                      <a:endParaRPr lang="en-US" sz="1000" b="1" dirty="0">
                        <a:latin typeface="+mn-lt"/>
                      </a:endParaRPr>
                    </a:p>
                  </a:txBody>
                  <a:tcPr anchor="ctr"/>
                </a:tc>
                <a:tc>
                  <a:txBody>
                    <a:bodyPr/>
                    <a:lstStyle/>
                    <a:p>
                      <a:r>
                        <a:rPr lang="en-US" sz="1000" dirty="0" smtClean="0"/>
                        <a:t>Extended to above </a:t>
                      </a:r>
                      <a:r>
                        <a:rPr lang="en-US" sz="1000" dirty="0" smtClean="0"/>
                        <a:t>125% </a:t>
                      </a:r>
                      <a:r>
                        <a:rPr lang="en-US" sz="1000" dirty="0" smtClean="0"/>
                        <a:t>LTV in </a:t>
                      </a:r>
                      <a:r>
                        <a:rPr lang="en-US" sz="1000" dirty="0" smtClean="0"/>
                        <a:t>October </a:t>
                      </a:r>
                      <a:r>
                        <a:rPr lang="en-US" sz="1000" dirty="0" smtClean="0"/>
                        <a:t>2011</a:t>
                      </a:r>
                      <a:endParaRPr lang="en-US" sz="1000" dirty="0">
                        <a:latin typeface="+mn-lt"/>
                      </a:endParaRPr>
                    </a:p>
                  </a:txBody>
                  <a:tcPr anchor="ctr"/>
                </a:tc>
                <a:tc>
                  <a:txBody>
                    <a:bodyPr/>
                    <a:lstStyle/>
                    <a:p>
                      <a:r>
                        <a:rPr lang="en-US" sz="1000" dirty="0" smtClean="0"/>
                        <a:t>LTV ceiling at </a:t>
                      </a:r>
                      <a:r>
                        <a:rPr lang="en-US" sz="1000" dirty="0" smtClean="0"/>
                        <a:t>105% </a:t>
                      </a:r>
                      <a:r>
                        <a:rPr lang="en-US" sz="1000" dirty="0" smtClean="0"/>
                        <a:t>when announced in </a:t>
                      </a:r>
                      <a:r>
                        <a:rPr lang="en-US" sz="1000" dirty="0" smtClean="0"/>
                        <a:t>March 2009;</a:t>
                      </a:r>
                      <a:endParaRPr lang="en-US" sz="1000" dirty="0" smtClean="0"/>
                    </a:p>
                    <a:p>
                      <a:r>
                        <a:rPr lang="en-US" sz="1000" dirty="0" smtClean="0"/>
                        <a:t>Raised ceiling from </a:t>
                      </a:r>
                      <a:r>
                        <a:rPr lang="en-US" sz="1000" dirty="0" smtClean="0"/>
                        <a:t>105% </a:t>
                      </a:r>
                      <a:r>
                        <a:rPr lang="en-US" sz="1000" dirty="0" smtClean="0"/>
                        <a:t>to </a:t>
                      </a:r>
                      <a:r>
                        <a:rPr lang="en-US" sz="1000" dirty="0" smtClean="0"/>
                        <a:t>125% </a:t>
                      </a:r>
                      <a:r>
                        <a:rPr lang="en-US" sz="1000" dirty="0" smtClean="0"/>
                        <a:t>in </a:t>
                      </a:r>
                      <a:r>
                        <a:rPr lang="en-US" sz="1000" dirty="0" smtClean="0"/>
                        <a:t>July </a:t>
                      </a:r>
                      <a:r>
                        <a:rPr lang="en-US" sz="1000" dirty="0" smtClean="0"/>
                        <a:t>2009</a:t>
                      </a:r>
                      <a:endParaRPr lang="en-US" sz="1000" dirty="0">
                        <a:latin typeface="+mn-lt"/>
                      </a:endParaRPr>
                    </a:p>
                  </a:txBody>
                  <a:tcPr anchor="ctr"/>
                </a:tc>
                <a:tc>
                  <a:txBody>
                    <a:bodyPr/>
                    <a:lstStyle/>
                    <a:p>
                      <a:r>
                        <a:rPr lang="en-US" sz="1000" dirty="0" smtClean="0"/>
                        <a:t>under </a:t>
                      </a:r>
                      <a:r>
                        <a:rPr lang="en-US" sz="1000" dirty="0" smtClean="0"/>
                        <a:t>95%-100%</a:t>
                      </a:r>
                      <a:endParaRPr lang="en-US" sz="1000" dirty="0">
                        <a:latin typeface="+mn-lt"/>
                      </a:endParaRPr>
                    </a:p>
                  </a:txBody>
                  <a:tcPr anchor="ctr"/>
                </a:tc>
              </a:tr>
              <a:tr h="522368">
                <a:tc>
                  <a:txBody>
                    <a:bodyPr/>
                    <a:lstStyle/>
                    <a:p>
                      <a:r>
                        <a:rPr lang="en-US" sz="1000" b="1" dirty="0" smtClean="0"/>
                        <a:t>MI</a:t>
                      </a:r>
                      <a:endParaRPr lang="en-US" sz="1000" b="1" dirty="0">
                        <a:latin typeface="+mn-lt"/>
                      </a:endParaRPr>
                    </a:p>
                  </a:txBody>
                  <a:tcPr anchor="ctr"/>
                </a:tc>
                <a:tc>
                  <a:txBody>
                    <a:bodyPr/>
                    <a:lstStyle/>
                    <a:p>
                      <a:r>
                        <a:rPr lang="en-US" sz="1000" dirty="0" smtClean="0"/>
                        <a:t>MI transfers made easier</a:t>
                      </a:r>
                      <a:endParaRPr lang="en-US" sz="1000" dirty="0">
                        <a:latin typeface="+mn-lt"/>
                      </a:endParaRPr>
                    </a:p>
                  </a:txBody>
                  <a:tcPr anchor="ctr"/>
                </a:tc>
                <a:tc>
                  <a:txBody>
                    <a:bodyPr/>
                    <a:lstStyle/>
                    <a:p>
                      <a:r>
                        <a:rPr lang="en-US" sz="1000" dirty="0" smtClean="0"/>
                        <a:t>No new MI required but transfer of MI is cumbersome</a:t>
                      </a:r>
                      <a:endParaRPr lang="en-US" sz="1000" dirty="0">
                        <a:latin typeface="+mn-lt"/>
                      </a:endParaRPr>
                    </a:p>
                  </a:txBody>
                  <a:tcPr anchor="ctr"/>
                </a:tc>
                <a:tc>
                  <a:txBody>
                    <a:bodyPr/>
                    <a:lstStyle/>
                    <a:p>
                      <a:r>
                        <a:rPr lang="en-US" sz="1000" dirty="0" smtClean="0">
                          <a:latin typeface="+mn-lt"/>
                        </a:rPr>
                        <a:t>New</a:t>
                      </a:r>
                      <a:r>
                        <a:rPr lang="en-US" sz="1000" baseline="0" dirty="0" smtClean="0">
                          <a:latin typeface="+mn-lt"/>
                        </a:rPr>
                        <a:t> MI required</a:t>
                      </a:r>
                      <a:endParaRPr lang="en-US" sz="1000" dirty="0">
                        <a:latin typeface="+mn-lt"/>
                      </a:endParaRPr>
                    </a:p>
                  </a:txBody>
                  <a:tcPr anchor="ctr"/>
                </a:tc>
              </a:tr>
              <a:tr h="488883">
                <a:tc>
                  <a:txBody>
                    <a:bodyPr/>
                    <a:lstStyle/>
                    <a:p>
                      <a:r>
                        <a:rPr lang="en-US" sz="1000" b="1" dirty="0" smtClean="0"/>
                        <a:t>LLPA</a:t>
                      </a:r>
                      <a:endParaRPr lang="en-US" sz="1000" b="1" dirty="0">
                        <a:latin typeface="+mn-lt"/>
                      </a:endParaRPr>
                    </a:p>
                  </a:txBody>
                  <a:tcPr anchor="ctr"/>
                </a:tc>
                <a:tc>
                  <a:txBody>
                    <a:bodyPr/>
                    <a:lstStyle/>
                    <a:p>
                      <a:r>
                        <a:rPr lang="en-US" sz="1000" dirty="0" smtClean="0"/>
                        <a:t>Lowered LLPA to 75bp max </a:t>
                      </a:r>
                      <a:endParaRPr lang="en-US" sz="1000" dirty="0">
                        <a:latin typeface="+mn-lt"/>
                      </a:endParaRPr>
                    </a:p>
                  </a:txBody>
                  <a:tcPr anchor="ctr"/>
                </a:tc>
                <a:tc>
                  <a:txBody>
                    <a:bodyPr/>
                    <a:lstStyle/>
                    <a:p>
                      <a:r>
                        <a:rPr lang="en-US" sz="1000" dirty="0" smtClean="0"/>
                        <a:t>Standard</a:t>
                      </a:r>
                      <a:endParaRPr lang="en-US" sz="1000" dirty="0">
                        <a:latin typeface="+mn-lt"/>
                      </a:endParaRPr>
                    </a:p>
                  </a:txBody>
                  <a:tcPr anchor="ctr"/>
                </a:tc>
                <a:tc>
                  <a:txBody>
                    <a:bodyPr/>
                    <a:lstStyle/>
                    <a:p>
                      <a:r>
                        <a:rPr lang="en-US" sz="1000" dirty="0" smtClean="0"/>
                        <a:t>Standard</a:t>
                      </a:r>
                      <a:endParaRPr lang="en-US" sz="1000" dirty="0">
                        <a:latin typeface="+mn-lt"/>
                      </a:endParaRPr>
                    </a:p>
                  </a:txBody>
                  <a:tcPr anchor="ctr"/>
                </a:tc>
              </a:tr>
            </a:tbl>
          </a:graphicData>
        </a:graphic>
      </p:graphicFrame>
      <p:sp>
        <p:nvSpPr>
          <p:cNvPr id="4" name="TextBox 3"/>
          <p:cNvSpPr txBox="1"/>
          <p:nvPr/>
        </p:nvSpPr>
        <p:spPr>
          <a:xfrm>
            <a:off x="762000" y="7338060"/>
            <a:ext cx="3962400" cy="246221"/>
          </a:xfrm>
          <a:prstGeom prst="rect">
            <a:avLst/>
          </a:prstGeom>
          <a:noFill/>
        </p:spPr>
        <p:txBody>
          <a:bodyPr wrap="square" rtlCol="0">
            <a:spAutoFit/>
          </a:bodyPr>
          <a:lstStyle/>
          <a:p>
            <a:r>
              <a:rPr lang="en-US" sz="1000" dirty="0" smtClean="0">
                <a:latin typeface="Calibri" panose="020F0502020204030204" pitchFamily="34" charset="0"/>
              </a:rPr>
              <a:t>Source: Citigroup Research</a:t>
            </a:r>
            <a:endParaRPr lang="en-US" sz="1000" dirty="0">
              <a:latin typeface="Calibri" panose="020F0502020204030204" pitchFamily="34" charset="0"/>
            </a:endParaRPr>
          </a:p>
        </p:txBody>
      </p:sp>
    </p:spTree>
    <p:extLst>
      <p:ext uri="{BB962C8B-B14F-4D97-AF65-F5344CB8AC3E}">
        <p14:creationId xmlns:p14="http://schemas.microsoft.com/office/powerpoint/2010/main" val="5206646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INTRODUCTION</a:t>
            </a:r>
            <a:endParaRPr lang="en-US" sz="1600" dirty="0">
              <a:latin typeface="+mn-lt"/>
            </a:endParaRPr>
          </a:p>
        </p:txBody>
      </p:sp>
      <p:sp>
        <p:nvSpPr>
          <p:cNvPr id="4" name="Rectangle 3"/>
          <p:cNvSpPr/>
          <p:nvPr/>
        </p:nvSpPr>
        <p:spPr>
          <a:xfrm>
            <a:off x="819356" y="125730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 name="Straight Connector 4"/>
          <p:cNvCxnSpPr/>
          <p:nvPr/>
        </p:nvCxnSpPr>
        <p:spPr>
          <a:xfrm>
            <a:off x="819356" y="185928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90855" y="1396484"/>
            <a:ext cx="4069080" cy="307777"/>
          </a:xfrm>
          <a:prstGeom prst="rect">
            <a:avLst/>
          </a:prstGeom>
          <a:noFill/>
        </p:spPr>
        <p:txBody>
          <a:bodyPr wrap="square" rtlCol="0">
            <a:spAutoFit/>
          </a:bodyPr>
          <a:lstStyle/>
          <a:p>
            <a:r>
              <a:rPr lang="en-US" sz="1400" b="1" dirty="0" smtClean="0">
                <a:latin typeface="+mn-lt"/>
              </a:rPr>
              <a:t>Importance of identifying HARP loans</a:t>
            </a:r>
            <a:endParaRPr lang="en-US" sz="1400" b="1" dirty="0">
              <a:latin typeface="+mn-lt"/>
            </a:endParaRPr>
          </a:p>
        </p:txBody>
      </p:sp>
      <p:sp>
        <p:nvSpPr>
          <p:cNvPr id="7" name="TextBox 6"/>
          <p:cNvSpPr txBox="1"/>
          <p:nvPr/>
        </p:nvSpPr>
        <p:spPr>
          <a:xfrm>
            <a:off x="994464" y="2006254"/>
            <a:ext cx="8549586" cy="992579"/>
          </a:xfrm>
          <a:prstGeom prst="rect">
            <a:avLst/>
          </a:prstGeom>
          <a:noFill/>
        </p:spPr>
        <p:txBody>
          <a:bodyPr wrap="square" rtlCol="0">
            <a:spAutoFit/>
          </a:bodyPr>
          <a:lstStyle/>
          <a:p>
            <a:pPr>
              <a:lnSpc>
                <a:spcPct val="150000"/>
              </a:lnSpc>
            </a:pPr>
            <a:r>
              <a:rPr lang="en-US" sz="1300" dirty="0" smtClean="0">
                <a:latin typeface="+mn-lt"/>
              </a:rPr>
              <a:t>Loans that have been refinanced through the Home Affordable Refinance Program (HARP) generally prepay slower than other refinance loans that have undergone full underwriting. </a:t>
            </a:r>
            <a:r>
              <a:rPr lang="en-US" sz="1300" dirty="0">
                <a:latin typeface="+mn-lt"/>
              </a:rPr>
              <a:t>A</a:t>
            </a:r>
            <a:r>
              <a:rPr lang="en-US" sz="1300" dirty="0" smtClean="0">
                <a:latin typeface="+mn-lt"/>
              </a:rPr>
              <a:t>s a streamline refinance program, HARP generally made only minimal requirements of borrowers, and such borrowers may have trouble qualifying for regular refinances.</a:t>
            </a:r>
          </a:p>
        </p:txBody>
      </p:sp>
      <p:sp>
        <p:nvSpPr>
          <p:cNvPr id="9" name="Rectangle 8"/>
          <p:cNvSpPr/>
          <p:nvPr/>
        </p:nvSpPr>
        <p:spPr>
          <a:xfrm>
            <a:off x="819356" y="319849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0" name="Straight Connector 9"/>
          <p:cNvCxnSpPr/>
          <p:nvPr/>
        </p:nvCxnSpPr>
        <p:spPr>
          <a:xfrm>
            <a:off x="819356" y="380047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390855" y="3337679"/>
            <a:ext cx="4069080" cy="307777"/>
          </a:xfrm>
          <a:prstGeom prst="rect">
            <a:avLst/>
          </a:prstGeom>
          <a:noFill/>
        </p:spPr>
        <p:txBody>
          <a:bodyPr wrap="square" rtlCol="0">
            <a:spAutoFit/>
          </a:bodyPr>
          <a:lstStyle/>
          <a:p>
            <a:r>
              <a:rPr lang="en-US" sz="1400" b="1" dirty="0" smtClean="0">
                <a:latin typeface="+mn-lt"/>
              </a:rPr>
              <a:t>Existing algorithms for identifying  </a:t>
            </a:r>
            <a:r>
              <a:rPr lang="en-US" sz="1400" b="1" dirty="0" err="1" smtClean="0">
                <a:latin typeface="+mn-lt"/>
              </a:rPr>
              <a:t>HARPed</a:t>
            </a:r>
            <a:r>
              <a:rPr lang="en-US" sz="1400" b="1" dirty="0" smtClean="0">
                <a:latin typeface="+mn-lt"/>
              </a:rPr>
              <a:t> Loans</a:t>
            </a:r>
            <a:endParaRPr lang="en-US" sz="1400" b="1" dirty="0">
              <a:latin typeface="+mn-lt"/>
            </a:endParaRPr>
          </a:p>
        </p:txBody>
      </p:sp>
      <p:sp>
        <p:nvSpPr>
          <p:cNvPr id="12" name="TextBox 11"/>
          <p:cNvSpPr txBox="1"/>
          <p:nvPr/>
        </p:nvSpPr>
        <p:spPr>
          <a:xfrm>
            <a:off x="809625" y="3916969"/>
            <a:ext cx="9034092" cy="3393237"/>
          </a:xfrm>
          <a:prstGeom prst="rect">
            <a:avLst/>
          </a:prstGeom>
          <a:noFill/>
        </p:spPr>
        <p:txBody>
          <a:bodyPr wrap="square" rtlCol="0">
            <a:spAutoFit/>
          </a:bodyPr>
          <a:lstStyle/>
          <a:p>
            <a:pPr marL="342900" indent="-342900">
              <a:lnSpc>
                <a:spcPct val="150000"/>
              </a:lnSpc>
              <a:buFont typeface="+mj-lt"/>
              <a:buAutoNum type="arabicPeriod"/>
            </a:pPr>
            <a:r>
              <a:rPr lang="en-US" sz="1300" dirty="0" smtClean="0">
                <a:latin typeface="+mn-lt"/>
              </a:rPr>
              <a:t>Prior to August 2013:</a:t>
            </a:r>
          </a:p>
          <a:p>
            <a:pPr marL="793276" lvl="1" indent="-285750">
              <a:lnSpc>
                <a:spcPct val="150000"/>
              </a:lnSpc>
              <a:buFont typeface="Arial" panose="020B0604020202020204" pitchFamily="34" charset="0"/>
              <a:buChar char="•"/>
            </a:pPr>
            <a:r>
              <a:rPr lang="en-US" sz="1300" dirty="0" smtClean="0">
                <a:latin typeface="+mn-lt"/>
              </a:rPr>
              <a:t>This is the period prior to Freddie Mac providing loan-level credit information for fully underwritten mortgages</a:t>
            </a:r>
          </a:p>
          <a:p>
            <a:pPr marL="793276" lvl="1" indent="-285750">
              <a:lnSpc>
                <a:spcPct val="150000"/>
              </a:lnSpc>
              <a:buFont typeface="Arial" panose="020B0604020202020204" pitchFamily="34" charset="0"/>
              <a:buChar char="•"/>
            </a:pPr>
            <a:r>
              <a:rPr lang="en-US" sz="1300" dirty="0" smtClean="0">
                <a:latin typeface="+mn-lt"/>
              </a:rPr>
              <a:t>MI matches were used to identify potential </a:t>
            </a:r>
            <a:r>
              <a:rPr lang="en-US" sz="1300" dirty="0" err="1" smtClean="0">
                <a:latin typeface="+mn-lt"/>
              </a:rPr>
              <a:t>HARPed</a:t>
            </a:r>
            <a:r>
              <a:rPr lang="en-US" sz="1300" dirty="0" smtClean="0">
                <a:latin typeface="+mn-lt"/>
              </a:rPr>
              <a:t> loans with OLTV &gt; 80% and loan purpose as Refi-NCO (No Cash-out)</a:t>
            </a:r>
          </a:p>
          <a:p>
            <a:pPr marL="793276" lvl="1" indent="-285750">
              <a:lnSpc>
                <a:spcPct val="150000"/>
              </a:lnSpc>
              <a:buFont typeface="Arial" panose="020B0604020202020204" pitchFamily="34" charset="0"/>
              <a:buChar char="•"/>
            </a:pPr>
            <a:r>
              <a:rPr lang="en-US" sz="1300" dirty="0" smtClean="0">
                <a:latin typeface="+mn-lt"/>
              </a:rPr>
              <a:t>Although HARP targets with LTVs &gt; 80%, </a:t>
            </a:r>
            <a:r>
              <a:rPr lang="en-US" sz="1300" dirty="0">
                <a:latin typeface="+mn-lt"/>
              </a:rPr>
              <a:t>l</a:t>
            </a:r>
            <a:r>
              <a:rPr lang="en-US" sz="1300" dirty="0" smtClean="0">
                <a:latin typeface="+mn-lt"/>
              </a:rPr>
              <a:t>oans with lower OLTVs are counted as part of HARP because the Agencies essentially suspended their streamline refi programs after the financial crisis and currently rely on the HARP program for all streamline processing</a:t>
            </a:r>
          </a:p>
          <a:p>
            <a:pPr marL="342900" indent="-342900">
              <a:lnSpc>
                <a:spcPct val="150000"/>
              </a:lnSpc>
              <a:buFont typeface="+mj-lt"/>
              <a:buAutoNum type="arabicPeriod"/>
            </a:pPr>
            <a:r>
              <a:rPr lang="en-US" sz="1300" dirty="0">
                <a:latin typeface="+mn-lt"/>
              </a:rPr>
              <a:t>After August </a:t>
            </a:r>
            <a:r>
              <a:rPr lang="en-US" sz="1300" dirty="0" smtClean="0">
                <a:latin typeface="+mn-lt"/>
              </a:rPr>
              <a:t>2013:</a:t>
            </a:r>
            <a:endParaRPr lang="en-US" sz="1300" dirty="0">
              <a:latin typeface="+mn-lt"/>
            </a:endParaRPr>
          </a:p>
          <a:p>
            <a:pPr marL="793276" lvl="1" indent="-285750">
              <a:lnSpc>
                <a:spcPct val="150000"/>
              </a:lnSpc>
              <a:buFont typeface="Arial" panose="020B0604020202020204" pitchFamily="34" charset="0"/>
              <a:buChar char="•"/>
            </a:pPr>
            <a:r>
              <a:rPr lang="en-US" sz="1300" dirty="0">
                <a:latin typeface="+mn-lt"/>
              </a:rPr>
              <a:t>N</a:t>
            </a:r>
            <a:r>
              <a:rPr lang="en-US" sz="1300" dirty="0" smtClean="0">
                <a:latin typeface="+mn-lt"/>
              </a:rPr>
              <a:t>ew Freddie </a:t>
            </a:r>
            <a:r>
              <a:rPr lang="en-US" sz="1300" dirty="0">
                <a:latin typeface="+mn-lt"/>
              </a:rPr>
              <a:t>Mac and Fannie Mae </a:t>
            </a:r>
            <a:r>
              <a:rPr lang="en-US" sz="1300" dirty="0" smtClean="0">
                <a:latin typeface="+mn-lt"/>
              </a:rPr>
              <a:t>loan-level credit information</a:t>
            </a:r>
            <a:r>
              <a:rPr lang="en-US" sz="1300" dirty="0">
                <a:latin typeface="+mn-lt"/>
              </a:rPr>
              <a:t> </a:t>
            </a:r>
            <a:r>
              <a:rPr lang="en-US" sz="1300" dirty="0" smtClean="0">
                <a:latin typeface="+mn-lt"/>
              </a:rPr>
              <a:t>are used to </a:t>
            </a:r>
            <a:r>
              <a:rPr lang="en-US" sz="1300" dirty="0">
                <a:latin typeface="+mn-lt"/>
              </a:rPr>
              <a:t>identify 30-year fixed –rate HARP loans by mapping </a:t>
            </a:r>
            <a:r>
              <a:rPr lang="en-US" sz="1300" dirty="0" smtClean="0">
                <a:latin typeface="+mn-lt"/>
              </a:rPr>
              <a:t>the credit </a:t>
            </a:r>
            <a:r>
              <a:rPr lang="en-US" sz="1300" dirty="0">
                <a:latin typeface="+mn-lt"/>
              </a:rPr>
              <a:t>dataset </a:t>
            </a:r>
            <a:r>
              <a:rPr lang="en-US" sz="1300" dirty="0" smtClean="0">
                <a:latin typeface="+mn-lt"/>
              </a:rPr>
              <a:t>to the </a:t>
            </a:r>
            <a:r>
              <a:rPr lang="en-US" sz="1300" dirty="0">
                <a:latin typeface="+mn-lt"/>
              </a:rPr>
              <a:t>standard </a:t>
            </a:r>
            <a:r>
              <a:rPr lang="en-US" sz="1300" dirty="0" smtClean="0">
                <a:latin typeface="+mn-lt"/>
              </a:rPr>
              <a:t>database without restrictions on the LTV ratio</a:t>
            </a:r>
          </a:p>
          <a:p>
            <a:pPr marL="793276" lvl="1" indent="-285750">
              <a:lnSpc>
                <a:spcPct val="150000"/>
              </a:lnSpc>
              <a:buFont typeface="Arial" panose="020B0604020202020204" pitchFamily="34" charset="0"/>
              <a:buChar char="•"/>
            </a:pPr>
            <a:r>
              <a:rPr lang="en-US" sz="1300" dirty="0" smtClean="0">
                <a:latin typeface="+mn-lt"/>
              </a:rPr>
              <a:t>The credit data set has about a one year lag, which means that recently originated loans cannot be identified as being </a:t>
            </a:r>
            <a:r>
              <a:rPr lang="en-US" sz="1300" dirty="0" err="1" smtClean="0">
                <a:latin typeface="+mn-lt"/>
              </a:rPr>
              <a:t>HARPed</a:t>
            </a:r>
            <a:r>
              <a:rPr lang="en-US" sz="1300" dirty="0" smtClean="0">
                <a:latin typeface="+mn-lt"/>
              </a:rPr>
              <a:t> or not using the current algorithm</a:t>
            </a:r>
          </a:p>
        </p:txBody>
      </p:sp>
    </p:spTree>
    <p:extLst>
      <p:ext uri="{BB962C8B-B14F-4D97-AF65-F5344CB8AC3E}">
        <p14:creationId xmlns:p14="http://schemas.microsoft.com/office/powerpoint/2010/main" val="40821764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a:t>
            </a:r>
            <a:br>
              <a:rPr lang="en-US" sz="1600" dirty="0" smtClean="0">
                <a:latin typeface="+mn-lt"/>
              </a:rPr>
            </a:br>
            <a:r>
              <a:rPr lang="en-US" sz="1600" dirty="0" smtClean="0">
                <a:latin typeface="+mn-lt"/>
              </a:rPr>
              <a:t>MI </a:t>
            </a:r>
            <a:r>
              <a:rPr lang="en-US" sz="1600" dirty="0">
                <a:latin typeface="+mn-lt"/>
              </a:rPr>
              <a:t>M</a:t>
            </a:r>
            <a:r>
              <a:rPr lang="en-US" sz="1600" dirty="0" smtClean="0">
                <a:latin typeface="+mn-lt"/>
              </a:rPr>
              <a:t>atching Method</a:t>
            </a:r>
            <a:endParaRPr lang="en-US" sz="1600" dirty="0">
              <a:latin typeface="+mn-lt"/>
            </a:endParaRPr>
          </a:p>
        </p:txBody>
      </p:sp>
      <p:sp>
        <p:nvSpPr>
          <p:cNvPr id="15" name="Rectangle 14"/>
          <p:cNvSpPr/>
          <p:nvPr/>
        </p:nvSpPr>
        <p:spPr>
          <a:xfrm>
            <a:off x="247857" y="13642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1966257"/>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03461"/>
            <a:ext cx="4069080" cy="307777"/>
          </a:xfrm>
          <a:prstGeom prst="rect">
            <a:avLst/>
          </a:prstGeom>
          <a:noFill/>
        </p:spPr>
        <p:txBody>
          <a:bodyPr wrap="square" rtlCol="0">
            <a:spAutoFit/>
          </a:bodyPr>
          <a:lstStyle/>
          <a:p>
            <a:r>
              <a:rPr lang="en-US" sz="1400" b="1" dirty="0">
                <a:latin typeface="+mn-lt"/>
              </a:rPr>
              <a:t>Three </a:t>
            </a:r>
            <a:r>
              <a:rPr lang="en-US" sz="1400" b="1" dirty="0" smtClean="0">
                <a:latin typeface="+mn-lt"/>
              </a:rPr>
              <a:t>Step </a:t>
            </a:r>
            <a:r>
              <a:rPr lang="en-US" sz="1400" b="1" dirty="0">
                <a:latin typeface="+mn-lt"/>
              </a:rPr>
              <a:t>Mapping</a:t>
            </a:r>
          </a:p>
        </p:txBody>
      </p:sp>
      <p:sp>
        <p:nvSpPr>
          <p:cNvPr id="18" name="TextBox 17"/>
          <p:cNvSpPr txBox="1"/>
          <p:nvPr/>
        </p:nvSpPr>
        <p:spPr>
          <a:xfrm>
            <a:off x="247857" y="2107219"/>
            <a:ext cx="5290930" cy="2354491"/>
          </a:xfrm>
          <a:prstGeom prst="rect">
            <a:avLst/>
          </a:prstGeom>
          <a:noFill/>
        </p:spPr>
        <p:txBody>
          <a:bodyPr wrap="square" rtlCol="0">
            <a:spAutoFit/>
          </a:bodyPr>
          <a:lstStyle/>
          <a:p>
            <a:pPr>
              <a:lnSpc>
                <a:spcPct val="150000"/>
              </a:lnSpc>
            </a:pPr>
            <a:r>
              <a:rPr lang="en-US" sz="1400" b="1" dirty="0" smtClean="0">
                <a:latin typeface="+mn-lt"/>
              </a:rPr>
              <a:t>Step 1: </a:t>
            </a:r>
            <a:r>
              <a:rPr lang="en-US" sz="1400" dirty="0" smtClean="0">
                <a:latin typeface="+mn-lt"/>
              </a:rPr>
              <a:t>The loan should be originated after June 2009 as a refi-NCO loan, with Origination LTV &gt;80%. Otherwise, it’s Non-</a:t>
            </a:r>
            <a:r>
              <a:rPr lang="en-US" sz="1400" dirty="0" err="1" smtClean="0">
                <a:latin typeface="+mn-lt"/>
              </a:rPr>
              <a:t>HARPed</a:t>
            </a:r>
            <a:r>
              <a:rPr lang="en-US" sz="1400" dirty="0" smtClean="0">
                <a:latin typeface="+mn-lt"/>
              </a:rPr>
              <a:t>.</a:t>
            </a:r>
          </a:p>
          <a:p>
            <a:pPr>
              <a:lnSpc>
                <a:spcPct val="150000"/>
              </a:lnSpc>
            </a:pPr>
            <a:r>
              <a:rPr lang="en-US" sz="1400" b="1" dirty="0" smtClean="0">
                <a:latin typeface="+mn-lt"/>
              </a:rPr>
              <a:t>Step 2: </a:t>
            </a:r>
            <a:r>
              <a:rPr lang="en-US" sz="1400" dirty="0" smtClean="0">
                <a:latin typeface="+mn-lt"/>
              </a:rPr>
              <a:t>If the loan doesn’t </a:t>
            </a:r>
            <a:r>
              <a:rPr lang="en-US" sz="1400" dirty="0">
                <a:latin typeface="+mn-lt"/>
              </a:rPr>
              <a:t>have </a:t>
            </a:r>
            <a:r>
              <a:rPr lang="en-US" sz="1400" dirty="0" smtClean="0">
                <a:latin typeface="+mn-lt"/>
              </a:rPr>
              <a:t>MI, we match it as </a:t>
            </a:r>
            <a:r>
              <a:rPr lang="en-US" sz="1400" dirty="0" err="1" smtClean="0">
                <a:latin typeface="+mn-lt"/>
              </a:rPr>
              <a:t>HARPed</a:t>
            </a:r>
            <a:r>
              <a:rPr lang="en-US" sz="1400" dirty="0" smtClean="0">
                <a:latin typeface="+mn-lt"/>
              </a:rPr>
              <a:t> loan;</a:t>
            </a:r>
          </a:p>
          <a:p>
            <a:pPr indent="571500">
              <a:lnSpc>
                <a:spcPct val="150000"/>
              </a:lnSpc>
            </a:pPr>
            <a:r>
              <a:rPr lang="en-US" sz="1400" dirty="0" smtClean="0">
                <a:latin typeface="+mn-lt"/>
              </a:rPr>
              <a:t>If </a:t>
            </a:r>
            <a:r>
              <a:rPr lang="en-US" sz="1400" dirty="0">
                <a:latin typeface="+mn-lt"/>
              </a:rPr>
              <a:t>not, go to step </a:t>
            </a:r>
            <a:r>
              <a:rPr lang="en-US" sz="1400" dirty="0" smtClean="0">
                <a:latin typeface="+mn-lt"/>
              </a:rPr>
              <a:t>3.</a:t>
            </a:r>
          </a:p>
          <a:p>
            <a:pPr marL="571500" indent="-571500">
              <a:lnSpc>
                <a:spcPct val="150000"/>
              </a:lnSpc>
            </a:pPr>
            <a:r>
              <a:rPr lang="en-US" sz="1400" b="1" dirty="0">
                <a:latin typeface="+mn-lt"/>
              </a:rPr>
              <a:t>Step </a:t>
            </a:r>
            <a:r>
              <a:rPr lang="en-US" sz="1400" b="1" dirty="0" smtClean="0">
                <a:latin typeface="+mn-lt"/>
              </a:rPr>
              <a:t>3: </a:t>
            </a:r>
            <a:r>
              <a:rPr lang="en-US" sz="1400" dirty="0" smtClean="0">
                <a:latin typeface="+mn-lt"/>
              </a:rPr>
              <a:t>For the loans that potentially carry over MI check whether MI matches current underwriting guidelines.  If there’s no match, then it’s a </a:t>
            </a:r>
            <a:r>
              <a:rPr lang="en-US" sz="1400" dirty="0" err="1" smtClean="0">
                <a:latin typeface="+mn-lt"/>
              </a:rPr>
              <a:t>HARPed</a:t>
            </a:r>
            <a:r>
              <a:rPr lang="en-US" sz="1400" dirty="0" smtClean="0">
                <a:latin typeface="+mn-lt"/>
              </a:rPr>
              <a:t> loan.</a:t>
            </a:r>
            <a:endParaRPr lang="en-US" sz="1400" dirty="0">
              <a:latin typeface="+mn-lt"/>
            </a:endParaRPr>
          </a:p>
        </p:txBody>
      </p:sp>
      <p:sp>
        <p:nvSpPr>
          <p:cNvPr id="19" name="Rectangle 18"/>
          <p:cNvSpPr/>
          <p:nvPr/>
        </p:nvSpPr>
        <p:spPr>
          <a:xfrm>
            <a:off x="269288" y="4556812"/>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p:nvPr/>
        </p:nvCxnSpPr>
        <p:spPr>
          <a:xfrm>
            <a:off x="269288" y="5158792"/>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40787" y="4695996"/>
            <a:ext cx="4069080"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2" name="TextBox 21"/>
          <p:cNvSpPr txBox="1"/>
          <p:nvPr/>
        </p:nvSpPr>
        <p:spPr>
          <a:xfrm>
            <a:off x="269288" y="5299754"/>
            <a:ext cx="5290930" cy="1061829"/>
          </a:xfrm>
          <a:prstGeom prst="rect">
            <a:avLst/>
          </a:prstGeom>
          <a:noFill/>
        </p:spPr>
        <p:txBody>
          <a:bodyPr wrap="square" rtlCol="0">
            <a:spAutoFit/>
          </a:bodyPr>
          <a:lstStyle/>
          <a:p>
            <a:pPr marL="342900" indent="-342900">
              <a:lnSpc>
                <a:spcPct val="150000"/>
              </a:lnSpc>
              <a:buAutoNum type="arabicPeriod"/>
            </a:pPr>
            <a:r>
              <a:rPr lang="en-US" sz="1400" dirty="0" smtClean="0">
                <a:latin typeface="+mn-lt"/>
              </a:rPr>
              <a:t>Cannot match loans with OLTV equal or lower than 80%.</a:t>
            </a:r>
          </a:p>
          <a:p>
            <a:pPr marL="342900" indent="-342900">
              <a:lnSpc>
                <a:spcPct val="150000"/>
              </a:lnSpc>
              <a:buAutoNum type="arabicPeriod"/>
            </a:pPr>
            <a:r>
              <a:rPr lang="en-US" sz="1400" dirty="0" smtClean="0">
                <a:latin typeface="+mn-lt"/>
              </a:rPr>
              <a:t>Highly sensitive to the correctness of MI underwriting guidelines.</a:t>
            </a:r>
          </a:p>
          <a:p>
            <a:pPr>
              <a:lnSpc>
                <a:spcPct val="150000"/>
              </a:lnSpc>
            </a:pPr>
            <a:r>
              <a:rPr lang="en-US" sz="1400" dirty="0" smtClean="0">
                <a:latin typeface="+mn-lt"/>
              </a:rPr>
              <a:t>          </a:t>
            </a:r>
            <a:endParaRPr lang="en-US" sz="1400" dirty="0">
              <a:latin typeface="+mn-l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7372" y="1642407"/>
            <a:ext cx="3990975" cy="4819650"/>
          </a:xfrm>
          <a:prstGeom prst="rect">
            <a:avLst/>
          </a:prstGeom>
        </p:spPr>
      </p:pic>
    </p:spTree>
    <p:extLst>
      <p:ext uri="{BB962C8B-B14F-4D97-AF65-F5344CB8AC3E}">
        <p14:creationId xmlns:p14="http://schemas.microsoft.com/office/powerpoint/2010/main" val="39719856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Credit Dataset Mapping Method</a:t>
            </a:r>
            <a:endParaRPr lang="en-US" sz="1600" dirty="0">
              <a:latin typeface="+mn-lt"/>
            </a:endParaRPr>
          </a:p>
        </p:txBody>
      </p:sp>
      <p:grpSp>
        <p:nvGrpSpPr>
          <p:cNvPr id="7" name="Group 6"/>
          <p:cNvGrpSpPr/>
          <p:nvPr/>
        </p:nvGrpSpPr>
        <p:grpSpPr>
          <a:xfrm>
            <a:off x="247856" y="1440477"/>
            <a:ext cx="3266869" cy="4888817"/>
            <a:chOff x="247856" y="1440477"/>
            <a:chExt cx="3962193" cy="4888817"/>
          </a:xfrm>
        </p:grpSpPr>
        <p:sp>
          <p:nvSpPr>
            <p:cNvPr id="15" name="Rectangle 14"/>
            <p:cNvSpPr/>
            <p:nvPr/>
          </p:nvSpPr>
          <p:spPr>
            <a:xfrm>
              <a:off x="247857" y="14404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20424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79661"/>
              <a:ext cx="3285919" cy="307777"/>
            </a:xfrm>
            <a:prstGeom prst="rect">
              <a:avLst/>
            </a:prstGeom>
            <a:noFill/>
          </p:spPr>
          <p:txBody>
            <a:bodyPr wrap="square" rtlCol="0">
              <a:spAutoFit/>
            </a:bodyPr>
            <a:lstStyle/>
            <a:p>
              <a:r>
                <a:rPr lang="en-US" sz="1400" b="1" dirty="0" smtClean="0">
                  <a:latin typeface="+mn-lt"/>
                </a:rPr>
                <a:t>Credit Data Mapping</a:t>
              </a:r>
              <a:endParaRPr lang="en-US" sz="1400" b="1" dirty="0">
                <a:latin typeface="+mn-lt"/>
              </a:endParaRPr>
            </a:p>
          </p:txBody>
        </p:sp>
        <p:sp>
          <p:nvSpPr>
            <p:cNvPr id="18" name="TextBox 17"/>
            <p:cNvSpPr txBox="1"/>
            <p:nvPr/>
          </p:nvSpPr>
          <p:spPr>
            <a:xfrm>
              <a:off x="247856" y="2183419"/>
              <a:ext cx="3962193" cy="13849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No restrictions on OLTV &gt; 80%.</a:t>
              </a:r>
            </a:p>
            <a:p>
              <a:pPr marL="285750" indent="-285750">
                <a:lnSpc>
                  <a:spcPct val="150000"/>
                </a:lnSpc>
                <a:buFont typeface="Arial" panose="020B0604020202020204" pitchFamily="34" charset="0"/>
                <a:buChar char="•"/>
              </a:pPr>
              <a:r>
                <a:rPr lang="en-US" sz="1400" dirty="0" smtClean="0">
                  <a:latin typeface="+mn-lt"/>
                </a:rPr>
                <a:t>More accurate as there is no dependency on MI underwriting criteria. </a:t>
              </a:r>
              <a:endParaRPr lang="en-US" sz="1400" dirty="0">
                <a:latin typeface="+mn-lt"/>
              </a:endParaRPr>
            </a:p>
          </p:txBody>
        </p:sp>
        <p:sp>
          <p:nvSpPr>
            <p:cNvPr id="23" name="Rectangle 22"/>
            <p:cNvSpPr/>
            <p:nvPr/>
          </p:nvSpPr>
          <p:spPr>
            <a:xfrm>
              <a:off x="247857" y="3688377"/>
              <a:ext cx="435663"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p:cNvCxnSpPr/>
            <p:nvPr/>
          </p:nvCxnSpPr>
          <p:spPr>
            <a:xfrm>
              <a:off x="247857" y="42903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9356" y="3827561"/>
              <a:ext cx="3285919"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6" name="TextBox 25"/>
            <p:cNvSpPr txBox="1"/>
            <p:nvPr/>
          </p:nvSpPr>
          <p:spPr>
            <a:xfrm>
              <a:off x="247856" y="4297969"/>
              <a:ext cx="3962193" cy="20313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The credit data set has about a one year lag, meaning we don’t have the most recent origination data. Consequently, we have to mark the HARP status as unknown for recently (within the last year) originated loans.</a:t>
              </a:r>
              <a:endParaRPr lang="en-US" sz="1400" dirty="0">
                <a:latin typeface="+mn-lt"/>
              </a:endParaRPr>
            </a:p>
          </p:txBody>
        </p:sp>
      </p:gr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1816" y="1440477"/>
            <a:ext cx="6093321" cy="5350416"/>
          </a:xfrm>
          <a:prstGeom prst="rect">
            <a:avLst/>
          </a:prstGeom>
        </p:spPr>
      </p:pic>
    </p:spTree>
    <p:extLst>
      <p:ext uri="{BB962C8B-B14F-4D97-AF65-F5344CB8AC3E}">
        <p14:creationId xmlns:p14="http://schemas.microsoft.com/office/powerpoint/2010/main" val="34881202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hart 10"/>
          <p:cNvGraphicFramePr/>
          <p:nvPr>
            <p:extLst>
              <p:ext uri="{D42A27DB-BD31-4B8C-83A1-F6EECF244321}">
                <p14:modId xmlns:p14="http://schemas.microsoft.com/office/powerpoint/2010/main" val="4203322814"/>
              </p:ext>
            </p:extLst>
          </p:nvPr>
        </p:nvGraphicFramePr>
        <p:xfrm>
          <a:off x="699715" y="1181100"/>
          <a:ext cx="8674873" cy="418338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Results from the Credit Dataset Mapping Method</a:t>
            </a:r>
            <a:endParaRPr lang="en-US" sz="1600" dirty="0">
              <a:latin typeface="+mn-lt"/>
            </a:endParaRPr>
          </a:p>
        </p:txBody>
      </p:sp>
      <p:sp>
        <p:nvSpPr>
          <p:cNvPr id="6" name="TextBox 5"/>
          <p:cNvSpPr txBox="1"/>
          <p:nvPr/>
        </p:nvSpPr>
        <p:spPr>
          <a:xfrm>
            <a:off x="3808674" y="3983603"/>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
        <p:nvSpPr>
          <p:cNvPr id="19" name="TextBox 18"/>
          <p:cNvSpPr txBox="1"/>
          <p:nvPr/>
        </p:nvSpPr>
        <p:spPr>
          <a:xfrm>
            <a:off x="6135757" y="2609351"/>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20" name="TextBox 19"/>
          <p:cNvSpPr txBox="1"/>
          <p:nvPr/>
        </p:nvSpPr>
        <p:spPr>
          <a:xfrm>
            <a:off x="5430741" y="1579656"/>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21" name="TextBox 20"/>
          <p:cNvSpPr txBox="1"/>
          <p:nvPr/>
        </p:nvSpPr>
        <p:spPr>
          <a:xfrm>
            <a:off x="2291301" y="1395451"/>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22" name="TextBox 21"/>
          <p:cNvSpPr txBox="1"/>
          <p:nvPr/>
        </p:nvSpPr>
        <p:spPr>
          <a:xfrm>
            <a:off x="699715" y="5520731"/>
            <a:ext cx="8549586" cy="738664"/>
          </a:xfrm>
          <a:prstGeom prst="rect">
            <a:avLst/>
          </a:prstGeom>
          <a:noFill/>
        </p:spPr>
        <p:txBody>
          <a:bodyPr wrap="square" rtlCol="0">
            <a:spAutoFit/>
          </a:bodyPr>
          <a:lstStyle/>
          <a:p>
            <a:pPr>
              <a:lnSpc>
                <a:spcPct val="150000"/>
              </a:lnSpc>
            </a:pPr>
            <a:r>
              <a:rPr lang="en-US" sz="1400" dirty="0">
                <a:latin typeface="+mn-lt"/>
              </a:rPr>
              <a:t>T</a:t>
            </a:r>
            <a:r>
              <a:rPr lang="en-US" sz="1400" dirty="0" smtClean="0">
                <a:latin typeface="+mn-lt"/>
              </a:rPr>
              <a:t>he blue area can be consider as non-</a:t>
            </a:r>
            <a:r>
              <a:rPr lang="en-US" sz="1400" dirty="0" err="1" smtClean="0">
                <a:latin typeface="+mn-lt"/>
              </a:rPr>
              <a:t>HARPed</a:t>
            </a:r>
            <a:r>
              <a:rPr lang="en-US" sz="1400" dirty="0" smtClean="0">
                <a:latin typeface="+mn-lt"/>
              </a:rPr>
              <a:t> loans</a:t>
            </a:r>
            <a:r>
              <a:rPr lang="en-US" sz="1400" dirty="0">
                <a:latin typeface="+mn-lt"/>
              </a:rPr>
              <a:t>; </a:t>
            </a:r>
            <a:r>
              <a:rPr lang="en-US" sz="1400" dirty="0" smtClean="0">
                <a:latin typeface="+mn-lt"/>
              </a:rPr>
              <a:t>brown area is </a:t>
            </a:r>
            <a:r>
              <a:rPr lang="en-US" sz="1400" dirty="0" err="1" smtClean="0">
                <a:latin typeface="+mn-lt"/>
              </a:rPr>
              <a:t>HARPed</a:t>
            </a:r>
            <a:r>
              <a:rPr lang="en-US" sz="1400" dirty="0" smtClean="0">
                <a:latin typeface="+mn-lt"/>
              </a:rPr>
              <a:t> loans percentage.</a:t>
            </a:r>
          </a:p>
          <a:p>
            <a:pPr>
              <a:lnSpc>
                <a:spcPct val="150000"/>
              </a:lnSpc>
            </a:pPr>
            <a:r>
              <a:rPr lang="en-US" sz="1400" dirty="0" smtClean="0">
                <a:latin typeface="+mn-lt"/>
              </a:rPr>
              <a:t>Red area is the loans originated within the most recent year. The credit dataset has a gap on this area.</a:t>
            </a:r>
          </a:p>
        </p:txBody>
      </p:sp>
      <p:sp>
        <p:nvSpPr>
          <p:cNvPr id="8" name="Isosceles Triangle 7"/>
          <p:cNvSpPr/>
          <p:nvPr/>
        </p:nvSpPr>
        <p:spPr>
          <a:xfrm rot="10800000">
            <a:off x="3694042" y="6259396"/>
            <a:ext cx="2177332" cy="18116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699715" y="6500067"/>
            <a:ext cx="8549586" cy="382092"/>
          </a:xfrm>
          <a:prstGeom prst="rect">
            <a:avLst/>
          </a:prstGeom>
          <a:noFill/>
        </p:spPr>
        <p:txBody>
          <a:bodyPr wrap="square" rtlCol="0">
            <a:spAutoFit/>
          </a:bodyPr>
          <a:lstStyle/>
          <a:p>
            <a:pPr algn="ctr">
              <a:lnSpc>
                <a:spcPct val="150000"/>
              </a:lnSpc>
            </a:pPr>
            <a:r>
              <a:rPr lang="en-US" sz="1400" dirty="0" smtClean="0">
                <a:latin typeface="+mn-lt"/>
              </a:rPr>
              <a:t>Need to improve the mapping for the red area.</a:t>
            </a:r>
          </a:p>
        </p:txBody>
      </p:sp>
    </p:spTree>
    <p:extLst>
      <p:ext uri="{BB962C8B-B14F-4D97-AF65-F5344CB8AC3E}">
        <p14:creationId xmlns:p14="http://schemas.microsoft.com/office/powerpoint/2010/main" val="32266748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endParaRPr lang="en-US" sz="1600" dirty="0">
              <a:latin typeface="+mn-lt"/>
            </a:endParaRPr>
          </a:p>
        </p:txBody>
      </p:sp>
      <p:cxnSp>
        <p:nvCxnSpPr>
          <p:cNvPr id="71" name="AutoShape 8"/>
          <p:cNvCxnSpPr>
            <a:cxnSpLocks noChangeShapeType="1"/>
            <a:stCxn id="86" idx="3"/>
            <a:endCxn id="87" idx="1"/>
          </p:cNvCxnSpPr>
          <p:nvPr/>
        </p:nvCxnSpPr>
        <p:spPr bwMode="auto">
          <a:xfrm flipV="1">
            <a:off x="1784985" y="2878137"/>
            <a:ext cx="591503" cy="1006475"/>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75" name="AutoShape 9"/>
          <p:cNvCxnSpPr>
            <a:cxnSpLocks noChangeShapeType="1"/>
            <a:stCxn id="86" idx="3"/>
            <a:endCxn id="88" idx="1"/>
          </p:cNvCxnSpPr>
          <p:nvPr/>
        </p:nvCxnSpPr>
        <p:spPr bwMode="auto">
          <a:xfrm>
            <a:off x="1784985" y="3884612"/>
            <a:ext cx="591503" cy="1008062"/>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
        <p:nvSpPr>
          <p:cNvPr id="86" name="Rectangle 85"/>
          <p:cNvSpPr>
            <a:spLocks noChangeArrowheads="1"/>
          </p:cNvSpPr>
          <p:nvPr/>
        </p:nvSpPr>
        <p:spPr bwMode="auto">
          <a:xfrm>
            <a:off x="570548" y="3427412"/>
            <a:ext cx="1214437"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ja-JP" sz="1200" b="1" dirty="0" smtClean="0">
                <a:solidFill>
                  <a:schemeClr val="accent1"/>
                </a:solidFill>
                <a:latin typeface="+mn-lt"/>
                <a:cs typeface="Arial Unicode MS" pitchFamily="34" charset="-122"/>
              </a:rPr>
              <a:t>Unknown Refi Loans</a:t>
            </a:r>
            <a:endParaRPr lang="en-US" altLang="ja-JP" sz="1200" b="1" dirty="0">
              <a:solidFill>
                <a:schemeClr val="accent1"/>
              </a:solidFill>
              <a:latin typeface="+mn-lt"/>
              <a:cs typeface="Arial Unicode MS" pitchFamily="34" charset="-122"/>
            </a:endParaRPr>
          </a:p>
        </p:txBody>
      </p:sp>
      <p:sp>
        <p:nvSpPr>
          <p:cNvPr id="87" name="Rectangle 86"/>
          <p:cNvSpPr>
            <a:spLocks noChangeArrowheads="1"/>
          </p:cNvSpPr>
          <p:nvPr/>
        </p:nvSpPr>
        <p:spPr bwMode="auto">
          <a:xfrm>
            <a:off x="2376488" y="2420937"/>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LTV &gt; 80</a:t>
            </a:r>
            <a:endParaRPr lang="en-US" altLang="ja-JP" sz="1200" b="1" dirty="0">
              <a:solidFill>
                <a:schemeClr val="accent1"/>
              </a:solidFill>
              <a:latin typeface="+mn-lt"/>
              <a:cs typeface="Arial Unicode MS" pitchFamily="34" charset="-122"/>
            </a:endParaRPr>
          </a:p>
        </p:txBody>
      </p:sp>
      <p:sp>
        <p:nvSpPr>
          <p:cNvPr id="88" name="Rectangle 87"/>
          <p:cNvSpPr>
            <a:spLocks noChangeArrowheads="1"/>
          </p:cNvSpPr>
          <p:nvPr/>
        </p:nvSpPr>
        <p:spPr bwMode="auto">
          <a:xfrm>
            <a:off x="2376488"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LTV &lt;= 80</a:t>
            </a:r>
            <a:endParaRPr lang="en-US" altLang="ja-JP" sz="1200" b="1" dirty="0">
              <a:solidFill>
                <a:schemeClr val="accent1"/>
              </a:solidFill>
              <a:latin typeface="+mn-lt"/>
              <a:cs typeface="Arial Unicode MS" pitchFamily="34" charset="-122"/>
            </a:endParaRPr>
          </a:p>
        </p:txBody>
      </p:sp>
      <p:cxnSp>
        <p:nvCxnSpPr>
          <p:cNvPr id="96" name="AutoShape 14"/>
          <p:cNvCxnSpPr>
            <a:cxnSpLocks noChangeShapeType="1"/>
            <a:stCxn id="99" idx="3"/>
            <a:endCxn id="104" idx="1"/>
          </p:cNvCxnSpPr>
          <p:nvPr/>
        </p:nvCxnSpPr>
        <p:spPr bwMode="auto">
          <a:xfrm flipV="1">
            <a:off x="5369242" y="2129749"/>
            <a:ext cx="805180" cy="748388"/>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97" name="AutoShape 15"/>
          <p:cNvCxnSpPr>
            <a:cxnSpLocks noChangeShapeType="1"/>
            <a:stCxn id="99" idx="3"/>
            <a:endCxn id="103" idx="1"/>
          </p:cNvCxnSpPr>
          <p:nvPr/>
        </p:nvCxnSpPr>
        <p:spPr bwMode="auto">
          <a:xfrm>
            <a:off x="5369242" y="2878137"/>
            <a:ext cx="805180" cy="757237"/>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
        <p:nvSpPr>
          <p:cNvPr id="99" name="Rectangle 98"/>
          <p:cNvSpPr>
            <a:spLocks noChangeArrowheads="1"/>
          </p:cNvSpPr>
          <p:nvPr/>
        </p:nvSpPr>
        <p:spPr bwMode="auto">
          <a:xfrm>
            <a:off x="4151630" y="2420937"/>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MI Test</a:t>
            </a:r>
          </a:p>
          <a:p>
            <a:pPr algn="ctr">
              <a:defRPr/>
            </a:pPr>
            <a:r>
              <a:rPr lang="en-US" altLang="ja-JP" sz="1200" b="1" dirty="0" smtClean="0">
                <a:solidFill>
                  <a:schemeClr val="accent1"/>
                </a:solidFill>
                <a:cs typeface="Arial Unicode MS" pitchFamily="34" charset="-122"/>
              </a:rPr>
              <a:t>Using </a:t>
            </a:r>
            <a:r>
              <a:rPr lang="en-US" altLang="ja-JP" sz="1200" b="1" dirty="0" err="1" smtClean="0">
                <a:solidFill>
                  <a:schemeClr val="accent1"/>
                </a:solidFill>
                <a:cs typeface="Arial Unicode MS" pitchFamily="34" charset="-122"/>
              </a:rPr>
              <a:t>Algo</a:t>
            </a:r>
            <a:r>
              <a:rPr lang="en-US" altLang="ja-JP" sz="1200" b="1" dirty="0" smtClean="0">
                <a:solidFill>
                  <a:schemeClr val="accent1"/>
                </a:solidFill>
                <a:cs typeface="Arial Unicode MS" pitchFamily="34" charset="-122"/>
              </a:rPr>
              <a:t> I</a:t>
            </a:r>
            <a:endParaRPr lang="en-US" altLang="ja-JP" sz="1200" b="1" dirty="0">
              <a:solidFill>
                <a:schemeClr val="accent1"/>
              </a:solidFill>
              <a:latin typeface="+mn-lt"/>
              <a:cs typeface="Arial Unicode MS" pitchFamily="34" charset="-122"/>
            </a:endParaRPr>
          </a:p>
        </p:txBody>
      </p:sp>
      <p:sp>
        <p:nvSpPr>
          <p:cNvPr id="100" name="Rectangle 99"/>
          <p:cNvSpPr>
            <a:spLocks noChangeArrowheads="1"/>
          </p:cNvSpPr>
          <p:nvPr/>
        </p:nvSpPr>
        <p:spPr bwMode="auto">
          <a:xfrm>
            <a:off x="4151630"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Ratio </a:t>
            </a:r>
          </a:p>
          <a:p>
            <a:pPr algn="ctr">
              <a:defRPr/>
            </a:pPr>
            <a:r>
              <a:rPr lang="en-US" altLang="zh-CN" sz="1200" b="1" dirty="0" smtClean="0">
                <a:solidFill>
                  <a:schemeClr val="accent1"/>
                </a:solidFill>
                <a:latin typeface="+mn-lt"/>
                <a:cs typeface="Arial Unicode MS" pitchFamily="34" charset="-122"/>
              </a:rPr>
              <a:t>HARP/Total Refi using </a:t>
            </a:r>
            <a:r>
              <a:rPr lang="en-US" altLang="zh-CN" sz="1200" b="1" dirty="0" err="1" smtClean="0">
                <a:solidFill>
                  <a:schemeClr val="accent1"/>
                </a:solidFill>
                <a:latin typeface="+mn-lt"/>
                <a:cs typeface="Arial Unicode MS" pitchFamily="34" charset="-122"/>
              </a:rPr>
              <a:t>Algo</a:t>
            </a:r>
            <a:r>
              <a:rPr lang="en-US" altLang="zh-CN" sz="1200" b="1" dirty="0" smtClean="0">
                <a:solidFill>
                  <a:schemeClr val="accent1"/>
                </a:solidFill>
                <a:latin typeface="+mn-lt"/>
                <a:cs typeface="Arial Unicode MS" pitchFamily="34" charset="-122"/>
              </a:rPr>
              <a:t> II</a:t>
            </a:r>
            <a:endParaRPr lang="en-US" altLang="ja-JP" sz="1200" b="1" dirty="0">
              <a:solidFill>
                <a:schemeClr val="accent1"/>
              </a:solidFill>
              <a:latin typeface="+mn-lt"/>
              <a:cs typeface="Arial Unicode MS" pitchFamily="34" charset="-122"/>
            </a:endParaRPr>
          </a:p>
        </p:txBody>
      </p:sp>
      <p:sp>
        <p:nvSpPr>
          <p:cNvPr id="103" name="Rectangle 102"/>
          <p:cNvSpPr>
            <a:spLocks noChangeArrowheads="1"/>
          </p:cNvSpPr>
          <p:nvPr/>
        </p:nvSpPr>
        <p:spPr bwMode="auto">
          <a:xfrm>
            <a:off x="6174422" y="3178174"/>
            <a:ext cx="1214438"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cs typeface="Arial Unicode MS" pitchFamily="34" charset="-122"/>
              </a:rPr>
              <a:t>N: Non-</a:t>
            </a:r>
            <a:r>
              <a:rPr lang="en-US" altLang="zh-CN" sz="1200" b="1" dirty="0" err="1" smtClean="0">
                <a:solidFill>
                  <a:schemeClr val="accent1"/>
                </a:solidFill>
                <a:cs typeface="Arial Unicode MS" pitchFamily="34" charset="-122"/>
              </a:rPr>
              <a:t>HARPed</a:t>
            </a:r>
            <a:endParaRPr lang="en-US" altLang="zh-CN" sz="1200" b="1" dirty="0" smtClean="0">
              <a:solidFill>
                <a:schemeClr val="accent1"/>
              </a:solidFill>
              <a:cs typeface="Arial Unicode MS" pitchFamily="34" charset="-122"/>
            </a:endParaRPr>
          </a:p>
          <a:p>
            <a:pPr algn="ctr">
              <a:defRPr/>
            </a:pPr>
            <a:r>
              <a:rPr lang="en-US" altLang="zh-CN" sz="1200" b="1" dirty="0" smtClean="0">
                <a:solidFill>
                  <a:schemeClr val="accent1"/>
                </a:solidFill>
                <a:cs typeface="Arial Unicode MS" pitchFamily="34" charset="-122"/>
              </a:rPr>
              <a:t>HARP</a:t>
            </a:r>
            <a:r>
              <a:rPr lang="en-US" altLang="zh-CN" sz="1200" b="1" dirty="0">
                <a:solidFill>
                  <a:schemeClr val="accent1"/>
                </a:solidFill>
                <a:cs typeface="Arial Unicode MS" pitchFamily="34" charset="-122"/>
              </a:rPr>
              <a:t>% = </a:t>
            </a:r>
            <a:r>
              <a:rPr lang="en-US" altLang="zh-CN" sz="1200" b="1" dirty="0" smtClean="0">
                <a:solidFill>
                  <a:schemeClr val="accent1"/>
                </a:solidFill>
                <a:cs typeface="Arial Unicode MS" pitchFamily="34" charset="-122"/>
              </a:rPr>
              <a:t>0</a:t>
            </a:r>
            <a:endParaRPr lang="en-US" altLang="ja-JP" sz="1200" b="1" dirty="0">
              <a:solidFill>
                <a:schemeClr val="accent1"/>
              </a:solidFill>
              <a:cs typeface="Arial Unicode MS" pitchFamily="34" charset="-122"/>
            </a:endParaRPr>
          </a:p>
        </p:txBody>
      </p:sp>
      <p:sp>
        <p:nvSpPr>
          <p:cNvPr id="104" name="Rectangle 103"/>
          <p:cNvSpPr>
            <a:spLocks noChangeArrowheads="1"/>
          </p:cNvSpPr>
          <p:nvPr/>
        </p:nvSpPr>
        <p:spPr bwMode="auto">
          <a:xfrm>
            <a:off x="6174422" y="1672549"/>
            <a:ext cx="1214438"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Y: </a:t>
            </a:r>
            <a:r>
              <a:rPr lang="en-US" altLang="zh-CN" sz="1200" b="1" dirty="0" err="1" smtClean="0">
                <a:solidFill>
                  <a:schemeClr val="accent1"/>
                </a:solidFill>
                <a:latin typeface="+mn-lt"/>
                <a:cs typeface="Arial Unicode MS" pitchFamily="34" charset="-122"/>
              </a:rPr>
              <a:t>HARPed</a:t>
            </a:r>
            <a:endParaRPr lang="en-US" altLang="zh-CN" sz="1200" b="1" dirty="0" smtClean="0">
              <a:solidFill>
                <a:schemeClr val="accent1"/>
              </a:solidFill>
              <a:latin typeface="+mn-lt"/>
              <a:cs typeface="Arial Unicode MS" pitchFamily="34" charset="-122"/>
            </a:endParaRPr>
          </a:p>
          <a:p>
            <a:pPr algn="ctr">
              <a:defRPr/>
            </a:pPr>
            <a:r>
              <a:rPr lang="en-US" altLang="zh-CN" sz="1200" b="1" dirty="0" smtClean="0">
                <a:solidFill>
                  <a:schemeClr val="accent1"/>
                </a:solidFill>
                <a:latin typeface="+mn-lt"/>
                <a:cs typeface="Arial Unicode MS" pitchFamily="34" charset="-122"/>
              </a:rPr>
              <a:t>HARP% = 100</a:t>
            </a:r>
            <a:endParaRPr lang="en-US" altLang="ja-JP" sz="1200" b="1" dirty="0">
              <a:solidFill>
                <a:schemeClr val="accent1"/>
              </a:solidFill>
              <a:latin typeface="+mn-lt"/>
              <a:cs typeface="Arial Unicode MS" pitchFamily="34" charset="-122"/>
            </a:endParaRPr>
          </a:p>
        </p:txBody>
      </p:sp>
      <p:cxnSp>
        <p:nvCxnSpPr>
          <p:cNvPr id="7" name="Straight Connector 6"/>
          <p:cNvCxnSpPr>
            <a:stCxn id="87" idx="3"/>
            <a:endCxn id="99" idx="1"/>
          </p:cNvCxnSpPr>
          <p:nvPr/>
        </p:nvCxnSpPr>
        <p:spPr>
          <a:xfrm>
            <a:off x="3594100" y="2878137"/>
            <a:ext cx="557530" cy="0"/>
          </a:xfrm>
          <a:prstGeom prst="line">
            <a:avLst/>
          </a:prstGeom>
          <a:ln/>
        </p:spPr>
        <p:style>
          <a:lnRef idx="2">
            <a:schemeClr val="accent1"/>
          </a:lnRef>
          <a:fillRef idx="1">
            <a:schemeClr val="lt1"/>
          </a:fillRef>
          <a:effectRef idx="0">
            <a:schemeClr val="accent1"/>
          </a:effectRef>
          <a:fontRef idx="minor">
            <a:schemeClr val="dk1"/>
          </a:fontRef>
        </p:style>
      </p:cxnSp>
      <p:cxnSp>
        <p:nvCxnSpPr>
          <p:cNvPr id="107" name="Straight Connector 106"/>
          <p:cNvCxnSpPr>
            <a:stCxn id="88" idx="3"/>
            <a:endCxn id="100" idx="1"/>
          </p:cNvCxnSpPr>
          <p:nvPr/>
        </p:nvCxnSpPr>
        <p:spPr>
          <a:xfrm>
            <a:off x="3594100" y="4892674"/>
            <a:ext cx="557530" cy="0"/>
          </a:xfrm>
          <a:prstGeom prst="line">
            <a:avLst/>
          </a:prstGeom>
          <a:ln/>
        </p:spPr>
        <p:style>
          <a:lnRef idx="2">
            <a:schemeClr val="accent1"/>
          </a:lnRef>
          <a:fillRef idx="1">
            <a:schemeClr val="lt1"/>
          </a:fillRef>
          <a:effectRef idx="0">
            <a:schemeClr val="accent1"/>
          </a:effectRef>
          <a:fontRef idx="minor">
            <a:schemeClr val="dk1"/>
          </a:fontRef>
        </p:style>
      </p:cxnSp>
      <p:sp>
        <p:nvSpPr>
          <p:cNvPr id="108" name="Rectangle 107"/>
          <p:cNvSpPr>
            <a:spLocks noChangeArrowheads="1"/>
          </p:cNvSpPr>
          <p:nvPr/>
        </p:nvSpPr>
        <p:spPr bwMode="auto">
          <a:xfrm>
            <a:off x="6171248"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a:solidFill>
                  <a:schemeClr val="accent1"/>
                </a:solidFill>
                <a:cs typeface="Arial Unicode MS" pitchFamily="34" charset="-122"/>
              </a:rPr>
              <a:t>HARP% </a:t>
            </a:r>
            <a:r>
              <a:rPr lang="en-US" altLang="zh-CN" sz="1200" b="1" dirty="0" smtClean="0">
                <a:solidFill>
                  <a:schemeClr val="accent1"/>
                </a:solidFill>
                <a:cs typeface="Arial Unicode MS" pitchFamily="34" charset="-122"/>
              </a:rPr>
              <a:t>= Ratio from last </a:t>
            </a:r>
            <a:r>
              <a:rPr lang="en-US" altLang="zh-CN" sz="1200" b="1" dirty="0" smtClean="0">
                <a:solidFill>
                  <a:schemeClr val="accent1"/>
                </a:solidFill>
                <a:cs typeface="Arial Unicode MS" pitchFamily="34" charset="-122"/>
              </a:rPr>
              <a:t>step*</a:t>
            </a:r>
            <a:endParaRPr lang="en-US" altLang="ja-JP" sz="1200" b="1" dirty="0">
              <a:solidFill>
                <a:schemeClr val="accent1"/>
              </a:solidFill>
              <a:cs typeface="Arial Unicode MS" pitchFamily="34" charset="-122"/>
            </a:endParaRPr>
          </a:p>
        </p:txBody>
      </p:sp>
      <p:cxnSp>
        <p:nvCxnSpPr>
          <p:cNvPr id="109" name="Straight Connector 108"/>
          <p:cNvCxnSpPr>
            <a:stCxn id="100" idx="3"/>
            <a:endCxn id="108" idx="1"/>
          </p:cNvCxnSpPr>
          <p:nvPr/>
        </p:nvCxnSpPr>
        <p:spPr>
          <a:xfrm>
            <a:off x="5369242" y="4892674"/>
            <a:ext cx="802006" cy="0"/>
          </a:xfrm>
          <a:prstGeom prst="line">
            <a:avLst/>
          </a:prstGeom>
          <a:ln/>
        </p:spPr>
        <p:style>
          <a:lnRef idx="2">
            <a:schemeClr val="accent1"/>
          </a:lnRef>
          <a:fillRef idx="1">
            <a:schemeClr val="lt1"/>
          </a:fillRef>
          <a:effectRef idx="0">
            <a:schemeClr val="accent1"/>
          </a:effectRef>
          <a:fontRef idx="minor">
            <a:schemeClr val="dk1"/>
          </a:fontRef>
        </p:style>
      </p:cxnSp>
      <p:sp>
        <p:nvSpPr>
          <p:cNvPr id="37" name="Isosceles Triangle 36"/>
          <p:cNvSpPr/>
          <p:nvPr/>
        </p:nvSpPr>
        <p:spPr>
          <a:xfrm rot="5400000">
            <a:off x="6888480" y="3462588"/>
            <a:ext cx="1888437" cy="13716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p:cNvSpPr>
            <a:spLocks noChangeArrowheads="1"/>
          </p:cNvSpPr>
          <p:nvPr/>
        </p:nvSpPr>
        <p:spPr bwMode="auto">
          <a:xfrm>
            <a:off x="8221028" y="3178174"/>
            <a:ext cx="1217612" cy="914400"/>
          </a:xfrm>
          <a:prstGeom prst="rect">
            <a:avLst/>
          </a:prstGeom>
          <a:ln>
            <a:noFill/>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anchor="ctr">
            <a:noAutofit/>
          </a:bodyPr>
          <a:lstStyle/>
          <a:p>
            <a:pPr algn="ctr">
              <a:defRPr/>
            </a:pPr>
            <a:r>
              <a:rPr lang="en-US" altLang="zh-CN" sz="1200" b="1" dirty="0" smtClean="0">
                <a:solidFill>
                  <a:schemeClr val="bg1"/>
                </a:solidFill>
                <a:cs typeface="Arial Unicode MS" pitchFamily="34" charset="-122"/>
              </a:rPr>
              <a:t>HARP % for each loan</a:t>
            </a:r>
            <a:endParaRPr lang="en-US" altLang="ja-JP" sz="1200" b="1" dirty="0">
              <a:solidFill>
                <a:schemeClr val="bg1"/>
              </a:solidFill>
              <a:cs typeface="Arial Unicode MS" pitchFamily="34" charset="-122"/>
            </a:endParaRPr>
          </a:p>
        </p:txBody>
      </p:sp>
      <p:sp>
        <p:nvSpPr>
          <p:cNvPr id="111" name="Rectangle 110"/>
          <p:cNvSpPr>
            <a:spLocks noChangeArrowheads="1"/>
          </p:cNvSpPr>
          <p:nvPr/>
        </p:nvSpPr>
        <p:spPr bwMode="auto">
          <a:xfrm>
            <a:off x="944880" y="5837554"/>
            <a:ext cx="8000999" cy="914400"/>
          </a:xfrm>
          <a:prstGeom prst="rect">
            <a:avLst/>
          </a:prstGeom>
          <a:ln>
            <a:headEnd type="none" w="sm" len="sm"/>
            <a:tailEnd type="none" w="sm" len="sm"/>
          </a:ln>
        </p:spPr>
        <p:style>
          <a:lnRef idx="2">
            <a:schemeClr val="accent3"/>
          </a:lnRef>
          <a:fillRef idx="1">
            <a:schemeClr val="lt1"/>
          </a:fillRef>
          <a:effectRef idx="0">
            <a:schemeClr val="accent3"/>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tx1"/>
                </a:solidFill>
                <a:cs typeface="Arial Unicode MS" pitchFamily="34" charset="-122"/>
              </a:rPr>
              <a:t>Estimate a percentage chance the loan is originated from </a:t>
            </a:r>
            <a:r>
              <a:rPr lang="en-US" altLang="zh-CN" sz="1200" b="1" dirty="0" smtClean="0">
                <a:solidFill>
                  <a:schemeClr val="tx1"/>
                </a:solidFill>
                <a:cs typeface="Arial Unicode MS" pitchFamily="34" charset="-122"/>
              </a:rPr>
              <a:t>the HARP </a:t>
            </a:r>
            <a:r>
              <a:rPr lang="en-US" altLang="zh-CN" sz="1200" b="1" dirty="0" smtClean="0">
                <a:solidFill>
                  <a:schemeClr val="tx1"/>
                </a:solidFill>
                <a:cs typeface="Arial Unicode MS" pitchFamily="34" charset="-122"/>
              </a:rPr>
              <a:t>program for each loan.</a:t>
            </a:r>
            <a:endParaRPr lang="en-US" altLang="ja-JP" sz="1200" b="1" dirty="0">
              <a:solidFill>
                <a:schemeClr val="tx1"/>
              </a:solidFill>
              <a:cs typeface="Arial Unicode MS" pitchFamily="34" charset="-122"/>
            </a:endParaRPr>
          </a:p>
        </p:txBody>
      </p:sp>
      <p:sp>
        <p:nvSpPr>
          <p:cNvPr id="3" name="TextBox 2"/>
          <p:cNvSpPr txBox="1"/>
          <p:nvPr/>
        </p:nvSpPr>
        <p:spPr>
          <a:xfrm>
            <a:off x="1177766" y="7330440"/>
            <a:ext cx="4191476" cy="246221"/>
          </a:xfrm>
          <a:prstGeom prst="rect">
            <a:avLst/>
          </a:prstGeom>
          <a:noFill/>
        </p:spPr>
        <p:txBody>
          <a:bodyPr wrap="square" rtlCol="0">
            <a:spAutoFit/>
          </a:bodyPr>
          <a:lstStyle/>
          <a:p>
            <a:r>
              <a:rPr lang="en-US" sz="1000" dirty="0" smtClean="0"/>
              <a:t>*This ratio will be different for FNMA vs FHLMC. See Slide 9. </a:t>
            </a:r>
            <a:endParaRPr lang="en-US" sz="1000" dirty="0"/>
          </a:p>
        </p:txBody>
      </p:sp>
    </p:spTree>
    <p:extLst>
      <p:ext uri="{BB962C8B-B14F-4D97-AF65-F5344CB8AC3E}">
        <p14:creationId xmlns:p14="http://schemas.microsoft.com/office/powerpoint/2010/main" val="29312224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r>
              <a:rPr lang="en-US" sz="1600" dirty="0" smtClean="0">
                <a:latin typeface="+mn-lt"/>
              </a:rPr>
              <a:t>Adjustment Factor: LTV &gt; </a:t>
            </a:r>
            <a:r>
              <a:rPr lang="en-US" sz="1600" dirty="0" smtClean="0">
                <a:latin typeface="+mn-lt"/>
              </a:rPr>
              <a:t>80%</a:t>
            </a:r>
            <a:endParaRPr lang="en-US" sz="1600" dirty="0">
              <a:latin typeface="+mn-lt"/>
            </a:endParaRPr>
          </a:p>
        </p:txBody>
      </p:sp>
      <p:graphicFrame>
        <p:nvGraphicFramePr>
          <p:cNvPr id="15" name="Chart 14"/>
          <p:cNvGraphicFramePr>
            <a:graphicFrameLocks/>
          </p:cNvGraphicFramePr>
          <p:nvPr>
            <p:extLst>
              <p:ext uri="{D42A27DB-BD31-4B8C-83A1-F6EECF244321}">
                <p14:modId xmlns:p14="http://schemas.microsoft.com/office/powerpoint/2010/main" val="935251730"/>
              </p:ext>
            </p:extLst>
          </p:nvPr>
        </p:nvGraphicFramePr>
        <p:xfrm>
          <a:off x="449580" y="2020899"/>
          <a:ext cx="9098280" cy="4892329"/>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392638" y="1097569"/>
            <a:ext cx="9284764" cy="923330"/>
          </a:xfrm>
          <a:prstGeom prst="rect">
            <a:avLst/>
          </a:prstGeom>
          <a:noFill/>
        </p:spPr>
        <p:txBody>
          <a:bodyPr wrap="square" rtlCol="0">
            <a:spAutoFit/>
          </a:bodyPr>
          <a:lstStyle/>
          <a:p>
            <a:pPr>
              <a:lnSpc>
                <a:spcPct val="150000"/>
              </a:lnSpc>
            </a:pPr>
            <a:r>
              <a:rPr lang="en-US" sz="1200" dirty="0" smtClean="0">
                <a:latin typeface="+mn-lt"/>
              </a:rPr>
              <a:t>In order to find out whether we need to adjust the result from the MI mapping algorithm, we test the two algorithms with LTV&gt;80 loans. The HARP mapping numbers from them are fairly close to each other. In other words, there is no bias between the two mapping  methods</a:t>
            </a:r>
            <a:r>
              <a:rPr lang="en-US" sz="1200" dirty="0">
                <a:latin typeface="+mn-lt"/>
              </a:rPr>
              <a:t>. </a:t>
            </a:r>
            <a:r>
              <a:rPr lang="en-US" sz="1200" dirty="0" smtClean="0">
                <a:latin typeface="+mn-lt"/>
              </a:rPr>
              <a:t>Therefore, there is no need to adjust the result for LTV &gt; 80 loans.</a:t>
            </a:r>
            <a:endParaRPr lang="en-US" sz="1200" dirty="0">
              <a:latin typeface="+mn-lt"/>
            </a:endParaRPr>
          </a:p>
        </p:txBody>
      </p:sp>
    </p:spTree>
    <p:extLst>
      <p:ext uri="{BB962C8B-B14F-4D97-AF65-F5344CB8AC3E}">
        <p14:creationId xmlns:p14="http://schemas.microsoft.com/office/powerpoint/2010/main" val="19415920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r>
              <a:rPr lang="en-US" sz="1600" dirty="0" smtClean="0">
                <a:latin typeface="+mn-lt"/>
              </a:rPr>
              <a:t>Adjustment Factor: LTV &lt;= </a:t>
            </a:r>
            <a:r>
              <a:rPr lang="en-US" sz="1600" dirty="0" smtClean="0">
                <a:latin typeface="+mn-lt"/>
              </a:rPr>
              <a:t>80%</a:t>
            </a:r>
            <a:endParaRPr lang="en-US" sz="1600" dirty="0">
              <a:latin typeface="+mn-lt"/>
            </a:endParaRPr>
          </a:p>
        </p:txBody>
      </p:sp>
      <p:sp>
        <p:nvSpPr>
          <p:cNvPr id="17" name="TextBox 16"/>
          <p:cNvSpPr txBox="1"/>
          <p:nvPr/>
        </p:nvSpPr>
        <p:spPr>
          <a:xfrm>
            <a:off x="392638" y="1097569"/>
            <a:ext cx="9284764" cy="646331"/>
          </a:xfrm>
          <a:prstGeom prst="rect">
            <a:avLst/>
          </a:prstGeom>
          <a:noFill/>
        </p:spPr>
        <p:txBody>
          <a:bodyPr wrap="square" rtlCol="0">
            <a:spAutoFit/>
          </a:bodyPr>
          <a:lstStyle/>
          <a:p>
            <a:pPr>
              <a:lnSpc>
                <a:spcPct val="150000"/>
              </a:lnSpc>
            </a:pPr>
            <a:r>
              <a:rPr lang="en-US" sz="1200" dirty="0" smtClean="0">
                <a:latin typeface="+mn-lt"/>
              </a:rPr>
              <a:t>For the loans with LTV &lt;= 80, we use a % HARP adjustment factor to estimate the probability that a loan is coming from HARP program.</a:t>
            </a:r>
          </a:p>
          <a:p>
            <a:pPr>
              <a:lnSpc>
                <a:spcPct val="150000"/>
              </a:lnSpc>
            </a:pPr>
            <a:r>
              <a:rPr lang="en-US" sz="1200" dirty="0" smtClean="0">
                <a:latin typeface="+mn-lt"/>
              </a:rPr>
              <a:t>We generated the factor by calculate the ratio by:</a:t>
            </a:r>
          </a:p>
        </p:txBody>
      </p:sp>
      <mc:AlternateContent xmlns:mc="http://schemas.openxmlformats.org/markup-compatibility/2006">
        <mc:Choice xmlns:a14="http://schemas.microsoft.com/office/drawing/2010/main" Requires="a14">
          <p:sp>
            <p:nvSpPr>
              <p:cNvPr id="3" name="TextBox 2"/>
              <p:cNvSpPr txBox="1"/>
              <p:nvPr/>
            </p:nvSpPr>
            <p:spPr>
              <a:xfrm>
                <a:off x="5577374" y="1690965"/>
                <a:ext cx="3004156" cy="379206"/>
              </a:xfrm>
              <a:prstGeom prst="rect">
                <a:avLst/>
              </a:prstGeom>
              <a:noFill/>
            </p:spPr>
            <p:txBody>
              <a:bodyPr wrap="none" rtlCol="0">
                <a:spAutoFit/>
              </a:bodyPr>
              <a:lstStyle/>
              <a:p>
                <a14:m>
                  <m:oMath xmlns:m="http://schemas.openxmlformats.org/officeDocument/2006/math">
                    <m:r>
                      <a:rPr lang="en-US" sz="1200" b="0" i="1" smtClean="0">
                        <a:latin typeface="Cambria Math"/>
                      </a:rPr>
                      <m:t>𝐹𝑁𝑀𝐴</m:t>
                    </m:r>
                    <m:r>
                      <a:rPr lang="en-US" sz="1200" b="0" i="1" smtClean="0">
                        <a:latin typeface="Cambria Math"/>
                      </a:rPr>
                      <m:t> </m:t>
                    </m:r>
                    <m:r>
                      <a:rPr lang="en-US" sz="1200" b="0" i="1" smtClean="0">
                        <a:latin typeface="Cambria Math"/>
                      </a:rPr>
                      <m:t>𝑅𝑎𝑡𝑖𝑜</m:t>
                    </m:r>
                    <m:r>
                      <a:rPr lang="en-US" sz="1200" b="0" i="1" smtClean="0">
                        <a:latin typeface="Cambria Math"/>
                      </a:rPr>
                      <m:t>= </m:t>
                    </m:r>
                    <m:f>
                      <m:fPr>
                        <m:ctrlPr>
                          <a:rPr lang="en-US" sz="1200" b="0" i="1" smtClean="0">
                            <a:latin typeface="Cambria Math"/>
                          </a:rPr>
                        </m:ctrlPr>
                      </m:fPr>
                      <m:num>
                        <m:r>
                          <a:rPr lang="en-US" sz="1200" b="0" i="1" smtClean="0">
                            <a:latin typeface="Cambria Math"/>
                          </a:rPr>
                          <m:t>𝐻𝐴𝑅𝑃</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𝐶𝑜𝑢𝑛𝑡</m:t>
                        </m:r>
                      </m:num>
                      <m:den>
                        <m:r>
                          <a:rPr lang="en-US" sz="1200" b="0" i="1" smtClean="0">
                            <a:latin typeface="Cambria Math"/>
                          </a:rPr>
                          <m:t>𝑇𝑜𝑡𝑎𝑙</m:t>
                        </m:r>
                        <m:r>
                          <a:rPr lang="en-US" sz="1200" b="0" i="1" smtClean="0">
                            <a:latin typeface="Cambria Math"/>
                          </a:rPr>
                          <m:t> </m:t>
                        </m:r>
                        <m:r>
                          <a:rPr lang="en-US" sz="1200" b="1" i="1" smtClean="0">
                            <a:latin typeface="Cambria Math"/>
                          </a:rPr>
                          <m:t>𝑹𝒆𝒇𝒊</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𝐶𝑜𝑢𝑛𝑡</m:t>
                        </m:r>
                      </m:den>
                    </m:f>
                  </m:oMath>
                </a14:m>
                <a:r>
                  <a:rPr lang="en-US" sz="1400" dirty="0" smtClean="0"/>
                  <a:t> </a:t>
                </a:r>
                <a:r>
                  <a:rPr lang="en-US" sz="1200" dirty="0" smtClean="0"/>
                  <a:t>×100%</a:t>
                </a:r>
                <a:endParaRPr lang="en-US" sz="1200" dirty="0"/>
              </a:p>
            </p:txBody>
          </p:sp>
        </mc:Choice>
        <mc:Fallback>
          <p:sp>
            <p:nvSpPr>
              <p:cNvPr id="3" name="TextBox 2"/>
              <p:cNvSpPr txBox="1">
                <a:spLocks noRot="1" noChangeAspect="1" noMove="1" noResize="1" noEditPoints="1" noAdjustHandles="1" noChangeArrowheads="1" noChangeShapeType="1" noTextEdit="1"/>
              </p:cNvSpPr>
              <p:nvPr/>
            </p:nvSpPr>
            <p:spPr>
              <a:xfrm>
                <a:off x="5577374" y="1690965"/>
                <a:ext cx="3004156" cy="379206"/>
              </a:xfrm>
              <a:prstGeom prst="rect">
                <a:avLst/>
              </a:prstGeom>
              <a:blipFill rotWithShape="1">
                <a:blip r:embed="rId2"/>
                <a:stretch>
                  <a:fillRect/>
                </a:stretch>
              </a:blipFill>
            </p:spPr>
            <p:txBody>
              <a:bodyPr/>
              <a:lstStyle/>
              <a:p>
                <a:r>
                  <a:rPr lang="en-US">
                    <a:noFill/>
                  </a:rPr>
                  <a:t> </a:t>
                </a:r>
              </a:p>
            </p:txBody>
          </p:sp>
        </mc:Fallback>
      </mc:AlternateContent>
      <p:sp>
        <p:nvSpPr>
          <p:cNvPr id="6" name="TextBox 5"/>
          <p:cNvSpPr txBox="1"/>
          <p:nvPr/>
        </p:nvSpPr>
        <p:spPr>
          <a:xfrm>
            <a:off x="392638" y="2132554"/>
            <a:ext cx="9284764" cy="340734"/>
          </a:xfrm>
          <a:prstGeom prst="rect">
            <a:avLst/>
          </a:prstGeom>
          <a:noFill/>
        </p:spPr>
        <p:txBody>
          <a:bodyPr wrap="square" rtlCol="0">
            <a:spAutoFit/>
          </a:bodyPr>
          <a:lstStyle/>
          <a:p>
            <a:pPr>
              <a:lnSpc>
                <a:spcPct val="150000"/>
              </a:lnSpc>
            </a:pPr>
            <a:r>
              <a:rPr lang="en-US" sz="1200" dirty="0" smtClean="0">
                <a:latin typeface="+mn-lt"/>
              </a:rPr>
              <a:t>We use the credit mapping method to calculate the ratio based on the historical data.</a:t>
            </a:r>
          </a:p>
        </p:txBody>
      </p:sp>
      <p:sp>
        <p:nvSpPr>
          <p:cNvPr id="8" name="TextBox 7"/>
          <p:cNvSpPr txBox="1"/>
          <p:nvPr/>
        </p:nvSpPr>
        <p:spPr>
          <a:xfrm>
            <a:off x="392638" y="6461762"/>
            <a:ext cx="9284764" cy="646331"/>
          </a:xfrm>
          <a:prstGeom prst="rect">
            <a:avLst/>
          </a:prstGeom>
          <a:noFill/>
        </p:spPr>
        <p:txBody>
          <a:bodyPr wrap="square" rtlCol="0">
            <a:spAutoFit/>
          </a:bodyPr>
          <a:lstStyle/>
          <a:p>
            <a:pPr>
              <a:lnSpc>
                <a:spcPct val="150000"/>
              </a:lnSpc>
            </a:pPr>
            <a:r>
              <a:rPr lang="en-US" sz="1200" dirty="0" smtClean="0">
                <a:latin typeface="+mn-lt"/>
              </a:rPr>
              <a:t>The HARP % ratio is around </a:t>
            </a:r>
            <a:r>
              <a:rPr lang="en-US" sz="1200" b="1" dirty="0" smtClean="0">
                <a:latin typeface="+mn-lt"/>
              </a:rPr>
              <a:t>20% for FNMA </a:t>
            </a:r>
            <a:r>
              <a:rPr lang="en-US" sz="1200" dirty="0" smtClean="0">
                <a:latin typeface="+mn-lt"/>
              </a:rPr>
              <a:t>and </a:t>
            </a:r>
            <a:r>
              <a:rPr lang="en-US" sz="1200" b="1" dirty="0" smtClean="0">
                <a:latin typeface="+mn-lt"/>
              </a:rPr>
              <a:t>35% for </a:t>
            </a:r>
            <a:r>
              <a:rPr lang="en-US" sz="1200" b="1" dirty="0" smtClean="0">
                <a:latin typeface="+mn-lt"/>
              </a:rPr>
              <a:t>FHLMC</a:t>
            </a:r>
            <a:r>
              <a:rPr lang="en-US" sz="1200" dirty="0" smtClean="0">
                <a:latin typeface="+mn-lt"/>
              </a:rPr>
              <a:t> </a:t>
            </a:r>
            <a:r>
              <a:rPr lang="en-US" sz="1200" dirty="0" smtClean="0">
                <a:latin typeface="+mn-lt"/>
              </a:rPr>
              <a:t>according to the chart above</a:t>
            </a:r>
            <a:r>
              <a:rPr lang="en-US" sz="1200" dirty="0" smtClean="0">
                <a:latin typeface="+mn-lt"/>
              </a:rPr>
              <a:t>. We will use these ratios to update the HARP % for the relevant loans. </a:t>
            </a:r>
            <a:endParaRPr lang="en-US" sz="1200" dirty="0" smtClean="0">
              <a:latin typeface="+mn-lt"/>
            </a:endParaRPr>
          </a:p>
        </p:txBody>
      </p:sp>
      <mc:AlternateContent xmlns:mc="http://schemas.openxmlformats.org/markup-compatibility/2006">
        <mc:Choice xmlns:a14="http://schemas.microsoft.com/office/drawing/2010/main" Requires="a14">
          <p:sp>
            <p:nvSpPr>
              <p:cNvPr id="9" name="TextBox 8"/>
              <p:cNvSpPr txBox="1"/>
              <p:nvPr/>
            </p:nvSpPr>
            <p:spPr>
              <a:xfrm>
                <a:off x="1561634" y="1701350"/>
                <a:ext cx="3403752" cy="379206"/>
              </a:xfrm>
              <a:prstGeom prst="rect">
                <a:avLst/>
              </a:prstGeom>
              <a:noFill/>
            </p:spPr>
            <p:txBody>
              <a:bodyPr wrap="none" rtlCol="0">
                <a:spAutoFit/>
              </a:bodyPr>
              <a:lstStyle/>
              <a:p>
                <a14:m>
                  <m:oMath xmlns:m="http://schemas.openxmlformats.org/officeDocument/2006/math">
                    <m:r>
                      <a:rPr lang="en-US" sz="1200" b="0" i="1" smtClean="0">
                        <a:latin typeface="Cambria Math"/>
                      </a:rPr>
                      <m:t>𝐹𝐻𝐿𝑀𝐶</m:t>
                    </m:r>
                    <m:r>
                      <a:rPr lang="en-US" sz="1200" b="0" i="1" smtClean="0">
                        <a:latin typeface="Cambria Math"/>
                      </a:rPr>
                      <m:t> </m:t>
                    </m:r>
                    <m:r>
                      <a:rPr lang="en-US" sz="1200" b="0" i="1" smtClean="0">
                        <a:latin typeface="Cambria Math"/>
                      </a:rPr>
                      <m:t>𝑅𝑎𝑡𝑖𝑜</m:t>
                    </m:r>
                    <m:r>
                      <a:rPr lang="en-US" sz="1200" b="0" i="1" smtClean="0">
                        <a:latin typeface="Cambria Math"/>
                      </a:rPr>
                      <m:t>= </m:t>
                    </m:r>
                    <m:f>
                      <m:fPr>
                        <m:ctrlPr>
                          <a:rPr lang="en-US" sz="1200" b="0" i="1" smtClean="0">
                            <a:latin typeface="Cambria Math"/>
                          </a:rPr>
                        </m:ctrlPr>
                      </m:fPr>
                      <m:num>
                        <m:r>
                          <a:rPr lang="en-US" sz="1200" b="0" i="1" smtClean="0">
                            <a:latin typeface="Cambria Math"/>
                          </a:rPr>
                          <m:t>𝐻𝐴𝑅𝑃</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𝐶𝑜𝑢𝑛𝑡</m:t>
                        </m:r>
                      </m:num>
                      <m:den>
                        <m:r>
                          <a:rPr lang="en-US" sz="1200" b="0" i="1" smtClean="0">
                            <a:latin typeface="Cambria Math"/>
                          </a:rPr>
                          <m:t>𝑇𝑜𝑡𝑎𝑙</m:t>
                        </m:r>
                        <m:r>
                          <a:rPr lang="en-US" sz="1200" b="0" i="1" smtClean="0">
                            <a:latin typeface="Cambria Math"/>
                          </a:rPr>
                          <m:t> </m:t>
                        </m:r>
                        <m:r>
                          <a:rPr lang="en-US" sz="1200" b="1" i="1" smtClean="0">
                            <a:latin typeface="Cambria Math"/>
                          </a:rPr>
                          <m:t>𝑹𝒆𝒇𝒊</m:t>
                        </m:r>
                        <m:r>
                          <a:rPr lang="en-US" sz="1200" b="1" i="1" smtClean="0">
                            <a:latin typeface="Cambria Math"/>
                          </a:rPr>
                          <m:t>−</m:t>
                        </m:r>
                        <m:r>
                          <a:rPr lang="en-US" sz="1200" b="1" i="1" smtClean="0">
                            <a:latin typeface="Cambria Math"/>
                          </a:rPr>
                          <m:t>𝑵𝑪𝑶</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𝐶𝑜𝑢𝑛𝑡</m:t>
                        </m:r>
                      </m:den>
                    </m:f>
                  </m:oMath>
                </a14:m>
                <a:r>
                  <a:rPr lang="en-US" sz="1400" dirty="0" smtClean="0"/>
                  <a:t> </a:t>
                </a:r>
                <a:r>
                  <a:rPr lang="en-US" sz="1200" dirty="0" smtClean="0"/>
                  <a:t>×100%</a:t>
                </a:r>
                <a:endParaRPr lang="en-US" sz="1200" dirty="0"/>
              </a:p>
            </p:txBody>
          </p:sp>
        </mc:Choice>
        <mc:Fallback>
          <p:sp>
            <p:nvSpPr>
              <p:cNvPr id="9" name="TextBox 8"/>
              <p:cNvSpPr txBox="1">
                <a:spLocks noRot="1" noChangeAspect="1" noMove="1" noResize="1" noEditPoints="1" noAdjustHandles="1" noChangeArrowheads="1" noChangeShapeType="1" noTextEdit="1"/>
              </p:cNvSpPr>
              <p:nvPr/>
            </p:nvSpPr>
            <p:spPr>
              <a:xfrm>
                <a:off x="1561634" y="1701350"/>
                <a:ext cx="3403752" cy="379206"/>
              </a:xfrm>
              <a:prstGeom prst="rect">
                <a:avLst/>
              </a:prstGeom>
              <a:blipFill rotWithShape="1">
                <a:blip r:embed="rId3"/>
                <a:stretch>
                  <a:fillRect b="-1613"/>
                </a:stretch>
              </a:blipFill>
            </p:spPr>
            <p:txBody>
              <a:bodyPr/>
              <a:lstStyle/>
              <a:p>
                <a:r>
                  <a:rPr lang="en-US">
                    <a:noFill/>
                  </a:rPr>
                  <a:t> </a:t>
                </a:r>
              </a:p>
            </p:txBody>
          </p:sp>
        </mc:Fallback>
      </mc:AlternateContent>
      <p:graphicFrame>
        <p:nvGraphicFramePr>
          <p:cNvPr id="10" name="Chart 9"/>
          <p:cNvGraphicFramePr>
            <a:graphicFrameLocks/>
          </p:cNvGraphicFramePr>
          <p:nvPr>
            <p:extLst>
              <p:ext uri="{D42A27DB-BD31-4B8C-83A1-F6EECF244321}">
                <p14:modId xmlns:p14="http://schemas.microsoft.com/office/powerpoint/2010/main" val="3749073891"/>
              </p:ext>
            </p:extLst>
          </p:nvPr>
        </p:nvGraphicFramePr>
        <p:xfrm>
          <a:off x="392639" y="2616517"/>
          <a:ext cx="9155222" cy="377666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611495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extLst>
              <p:ext uri="{D42A27DB-BD31-4B8C-83A1-F6EECF244321}">
                <p14:modId xmlns:p14="http://schemas.microsoft.com/office/powerpoint/2010/main" val="3933336229"/>
              </p:ext>
            </p:extLst>
          </p:nvPr>
        </p:nvGraphicFramePr>
        <p:xfrm>
          <a:off x="595685" y="4276573"/>
          <a:ext cx="8674873" cy="292608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endParaRPr lang="en-US" sz="1600" dirty="0">
              <a:latin typeface="+mn-lt"/>
            </a:endParaRPr>
          </a:p>
        </p:txBody>
      </p:sp>
      <p:graphicFrame>
        <p:nvGraphicFramePr>
          <p:cNvPr id="75" name="Chart 74"/>
          <p:cNvGraphicFramePr/>
          <p:nvPr>
            <p:extLst>
              <p:ext uri="{D42A27DB-BD31-4B8C-83A1-F6EECF244321}">
                <p14:modId xmlns:p14="http://schemas.microsoft.com/office/powerpoint/2010/main" val="2216656629"/>
              </p:ext>
            </p:extLst>
          </p:nvPr>
        </p:nvGraphicFramePr>
        <p:xfrm>
          <a:off x="699715" y="960780"/>
          <a:ext cx="8674873"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81" name="TextBox 80"/>
          <p:cNvSpPr txBox="1"/>
          <p:nvPr/>
        </p:nvSpPr>
        <p:spPr>
          <a:xfrm>
            <a:off x="4096248" y="3142079"/>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
        <p:nvSpPr>
          <p:cNvPr id="82" name="TextBox 81"/>
          <p:cNvSpPr txBox="1"/>
          <p:nvPr/>
        </p:nvSpPr>
        <p:spPr>
          <a:xfrm>
            <a:off x="6129131" y="2054488"/>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3" name="TextBox 82"/>
          <p:cNvSpPr txBox="1"/>
          <p:nvPr/>
        </p:nvSpPr>
        <p:spPr>
          <a:xfrm>
            <a:off x="5430741" y="1324157"/>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4" name="TextBox 83"/>
          <p:cNvSpPr txBox="1"/>
          <p:nvPr/>
        </p:nvSpPr>
        <p:spPr>
          <a:xfrm>
            <a:off x="2630227" y="1117950"/>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6" name="TextBox 85"/>
          <p:cNvSpPr txBox="1"/>
          <p:nvPr/>
        </p:nvSpPr>
        <p:spPr>
          <a:xfrm>
            <a:off x="6183134" y="5347519"/>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7" name="TextBox 86"/>
          <p:cNvSpPr txBox="1"/>
          <p:nvPr/>
        </p:nvSpPr>
        <p:spPr>
          <a:xfrm>
            <a:off x="5569558" y="4617188"/>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8" name="TextBox 87"/>
          <p:cNvSpPr txBox="1"/>
          <p:nvPr/>
        </p:nvSpPr>
        <p:spPr>
          <a:xfrm>
            <a:off x="2430118" y="4432983"/>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9" name="Isosceles Triangle 88"/>
          <p:cNvSpPr/>
          <p:nvPr/>
        </p:nvSpPr>
        <p:spPr>
          <a:xfrm rot="10800000">
            <a:off x="3587694" y="4004290"/>
            <a:ext cx="3621158" cy="2722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p:cNvSpPr txBox="1"/>
          <p:nvPr/>
        </p:nvSpPr>
        <p:spPr>
          <a:xfrm>
            <a:off x="3776208" y="3908085"/>
            <a:ext cx="3378641" cy="299313"/>
          </a:xfrm>
          <a:prstGeom prst="rect">
            <a:avLst/>
          </a:prstGeom>
          <a:noFill/>
        </p:spPr>
        <p:txBody>
          <a:bodyPr wrap="square" rtlCol="0">
            <a:spAutoFit/>
          </a:bodyPr>
          <a:lstStyle/>
          <a:p>
            <a:pPr algn="ctr">
              <a:lnSpc>
                <a:spcPct val="150000"/>
              </a:lnSpc>
            </a:pPr>
            <a:r>
              <a:rPr lang="en-US" sz="1000" dirty="0" smtClean="0">
                <a:solidFill>
                  <a:schemeClr val="bg1"/>
                </a:solidFill>
                <a:latin typeface="+mn-lt"/>
              </a:rPr>
              <a:t>Using the Enhanced Algorithm</a:t>
            </a:r>
          </a:p>
        </p:txBody>
      </p:sp>
      <p:sp>
        <p:nvSpPr>
          <p:cNvPr id="18" name="TextBox 17"/>
          <p:cNvSpPr txBox="1"/>
          <p:nvPr/>
        </p:nvSpPr>
        <p:spPr>
          <a:xfrm>
            <a:off x="4096247" y="6426299"/>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Tree>
    <p:extLst>
      <p:ext uri="{BB962C8B-B14F-4D97-AF65-F5344CB8AC3E}">
        <p14:creationId xmlns:p14="http://schemas.microsoft.com/office/powerpoint/2010/main" val="1070490465"/>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86738</TotalTime>
  <Words>1031</Words>
  <Application>Microsoft Office PowerPoint</Application>
  <PresentationFormat>Custom</PresentationFormat>
  <Paragraphs>121</Paragraphs>
  <Slides>10</Slides>
  <Notes>1</Notes>
  <HiddenSlides>0</HiddenSlides>
  <MMClips>0</MMClips>
  <ScaleCrop>false</ScaleCrop>
  <HeadingPairs>
    <vt:vector size="4" baseType="variant">
      <vt:variant>
        <vt:lpstr>Theme</vt:lpstr>
      </vt:variant>
      <vt:variant>
        <vt:i4>15</vt:i4>
      </vt:variant>
      <vt:variant>
        <vt:lpstr>Slide Titles</vt:lpstr>
      </vt:variant>
      <vt:variant>
        <vt:i4>10</vt:i4>
      </vt:variant>
    </vt:vector>
  </HeadingPairs>
  <TitlesOfParts>
    <vt:vector size="25"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OVERVIEW OF HARP AND STREAMLINE REFI PROGRAMS </vt:lpstr>
      <vt:lpstr>INTRODUCTION</vt:lpstr>
      <vt:lpstr>EXISTING ALGORITHM I MI Matching Method</vt:lpstr>
      <vt:lpstr>EXISTING ALGORITHM II Credit Dataset Mapping Method</vt:lpstr>
      <vt:lpstr>EXISTING ALGORITHM II Results from the Credit Dataset Mapping Method</vt:lpstr>
      <vt:lpstr>ENHANCED ALGORITHM </vt:lpstr>
      <vt:lpstr>ENHANCED ALGORITHM Adjustment Factor: LTV &gt; 80%</vt:lpstr>
      <vt:lpstr>ENHANCED ALGORITHM Adjustment Factor: LTV &lt;= 80%</vt:lpstr>
      <vt:lpstr>ENHANCED ALGORITHM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2099</cp:revision>
  <cp:lastPrinted>2014-08-14T21:45:56Z</cp:lastPrinted>
  <dcterms:created xsi:type="dcterms:W3CDTF">2011-07-07T12:37:32Z</dcterms:created>
  <dcterms:modified xsi:type="dcterms:W3CDTF">2016-02-01T22:12:18Z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