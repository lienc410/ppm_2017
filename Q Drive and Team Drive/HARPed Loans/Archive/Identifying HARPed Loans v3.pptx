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5"/>
  </p:notesMasterIdLst>
  <p:handoutMasterIdLst>
    <p:handoutMasterId r:id="rId26"/>
  </p:handoutMasterIdLst>
  <p:sldIdLst>
    <p:sldId id="433" r:id="rId16"/>
    <p:sldId id="603" r:id="rId17"/>
    <p:sldId id="604" r:id="rId18"/>
    <p:sldId id="605" r:id="rId19"/>
    <p:sldId id="606" r:id="rId20"/>
    <p:sldId id="607" r:id="rId21"/>
    <p:sldId id="608" r:id="rId22"/>
    <p:sldId id="609" r:id="rId23"/>
    <p:sldId id="611" r:id="rId24"/>
  </p:sldIdLst>
  <p:sldSz cx="10058400" cy="7772400"/>
  <p:notesSz cx="7010400" cy="92964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75C"/>
    <a:srgbClr val="F6D6E3"/>
    <a:srgbClr val="2E398A"/>
    <a:srgbClr val="C8C42D"/>
    <a:srgbClr val="2E8A60"/>
    <a:srgbClr val="8C2B18"/>
    <a:srgbClr val="C3EBD9"/>
    <a:srgbClr val="CDD1EF"/>
    <a:srgbClr val="996633"/>
    <a:srgbClr val="9688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1695" autoAdjust="0"/>
    <p:restoredTop sz="95014" autoAdjust="0"/>
  </p:normalViewPr>
  <p:slideViewPr>
    <p:cSldViewPr snapToGrid="0" snapToObjects="1">
      <p:cViewPr>
        <p:scale>
          <a:sx n="125" d="100"/>
          <a:sy n="125" d="100"/>
        </p:scale>
        <p:origin x="-360" y="-138"/>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lien.chen\AppData\Roaming\Microsoft\Excel\loan%20count%20on%20status%20(version%202).xlsb"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N/A</c:v>
                </c:pt>
              </c:strCache>
            </c:strRef>
          </c:tx>
          <c:spPr>
            <a:solidFill>
              <a:srgbClr val="2E398A"/>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Sheet1!$B$2:$B$123</c:f>
              <c:numCache>
                <c:formatCode>General</c:formatCode>
                <c:ptCount val="122"/>
                <c:pt idx="0">
                  <c:v>116679</c:v>
                </c:pt>
                <c:pt idx="1">
                  <c:v>101038</c:v>
                </c:pt>
                <c:pt idx="2">
                  <c:v>85924</c:v>
                </c:pt>
                <c:pt idx="3">
                  <c:v>85045</c:v>
                </c:pt>
                <c:pt idx="4">
                  <c:v>91876</c:v>
                </c:pt>
                <c:pt idx="5">
                  <c:v>83181</c:v>
                </c:pt>
                <c:pt idx="6">
                  <c:v>96000</c:v>
                </c:pt>
                <c:pt idx="7">
                  <c:v>94899</c:v>
                </c:pt>
                <c:pt idx="8">
                  <c:v>106784</c:v>
                </c:pt>
                <c:pt idx="9">
                  <c:v>107277</c:v>
                </c:pt>
                <c:pt idx="10">
                  <c:v>92041</c:v>
                </c:pt>
                <c:pt idx="11">
                  <c:v>83109</c:v>
                </c:pt>
                <c:pt idx="12">
                  <c:v>109560</c:v>
                </c:pt>
                <c:pt idx="13">
                  <c:v>90090</c:v>
                </c:pt>
                <c:pt idx="14">
                  <c:v>105785</c:v>
                </c:pt>
                <c:pt idx="15">
                  <c:v>107547</c:v>
                </c:pt>
                <c:pt idx="16">
                  <c:v>100318</c:v>
                </c:pt>
                <c:pt idx="17">
                  <c:v>111446</c:v>
                </c:pt>
                <c:pt idx="18">
                  <c:v>112135</c:v>
                </c:pt>
                <c:pt idx="19">
                  <c:v>100566</c:v>
                </c:pt>
                <c:pt idx="20">
                  <c:v>117065</c:v>
                </c:pt>
                <c:pt idx="21">
                  <c:v>136772</c:v>
                </c:pt>
                <c:pt idx="22">
                  <c:v>108346</c:v>
                </c:pt>
                <c:pt idx="23">
                  <c:v>118469</c:v>
                </c:pt>
                <c:pt idx="24">
                  <c:v>108670</c:v>
                </c:pt>
                <c:pt idx="25">
                  <c:v>90455</c:v>
                </c:pt>
                <c:pt idx="26">
                  <c:v>124215</c:v>
                </c:pt>
                <c:pt idx="27">
                  <c:v>88535</c:v>
                </c:pt>
                <c:pt idx="28">
                  <c:v>98952</c:v>
                </c:pt>
                <c:pt idx="29">
                  <c:v>110414</c:v>
                </c:pt>
                <c:pt idx="30">
                  <c:v>108177</c:v>
                </c:pt>
                <c:pt idx="31">
                  <c:v>62302</c:v>
                </c:pt>
                <c:pt idx="32">
                  <c:v>68339</c:v>
                </c:pt>
                <c:pt idx="33">
                  <c:v>66445</c:v>
                </c:pt>
                <c:pt idx="34">
                  <c:v>45734</c:v>
                </c:pt>
                <c:pt idx="35">
                  <c:v>43655</c:v>
                </c:pt>
                <c:pt idx="36">
                  <c:v>50259</c:v>
                </c:pt>
                <c:pt idx="37">
                  <c:v>45008</c:v>
                </c:pt>
                <c:pt idx="38">
                  <c:v>54314</c:v>
                </c:pt>
                <c:pt idx="39">
                  <c:v>90938</c:v>
                </c:pt>
                <c:pt idx="40">
                  <c:v>70127</c:v>
                </c:pt>
                <c:pt idx="41">
                  <c:v>67567</c:v>
                </c:pt>
                <c:pt idx="42">
                  <c:v>104095</c:v>
                </c:pt>
                <c:pt idx="43">
                  <c:v>71014</c:v>
                </c:pt>
                <c:pt idx="44">
                  <c:v>82357</c:v>
                </c:pt>
                <c:pt idx="45">
                  <c:v>70570</c:v>
                </c:pt>
                <c:pt idx="46">
                  <c:v>61209</c:v>
                </c:pt>
                <c:pt idx="47">
                  <c:v>54618</c:v>
                </c:pt>
                <c:pt idx="48">
                  <c:v>70439</c:v>
                </c:pt>
                <c:pt idx="49">
                  <c:v>51271</c:v>
                </c:pt>
                <c:pt idx="50">
                  <c:v>51586</c:v>
                </c:pt>
                <c:pt idx="51">
                  <c:v>56751</c:v>
                </c:pt>
                <c:pt idx="52">
                  <c:v>37231</c:v>
                </c:pt>
                <c:pt idx="53">
                  <c:v>46855</c:v>
                </c:pt>
                <c:pt idx="54">
                  <c:v>55813</c:v>
                </c:pt>
                <c:pt idx="55">
                  <c:v>50706</c:v>
                </c:pt>
                <c:pt idx="56">
                  <c:v>48810</c:v>
                </c:pt>
                <c:pt idx="57">
                  <c:v>42017</c:v>
                </c:pt>
                <c:pt idx="58">
                  <c:v>39705</c:v>
                </c:pt>
                <c:pt idx="59">
                  <c:v>35585</c:v>
                </c:pt>
                <c:pt idx="60">
                  <c:v>33399</c:v>
                </c:pt>
                <c:pt idx="61">
                  <c:v>40868</c:v>
                </c:pt>
                <c:pt idx="62">
                  <c:v>38825</c:v>
                </c:pt>
                <c:pt idx="63">
                  <c:v>29596</c:v>
                </c:pt>
                <c:pt idx="64">
                  <c:v>24320</c:v>
                </c:pt>
                <c:pt idx="65">
                  <c:v>26412</c:v>
                </c:pt>
                <c:pt idx="66">
                  <c:v>32058</c:v>
                </c:pt>
                <c:pt idx="67">
                  <c:v>25325</c:v>
                </c:pt>
                <c:pt idx="68">
                  <c:v>34306</c:v>
                </c:pt>
                <c:pt idx="69">
                  <c:v>35181</c:v>
                </c:pt>
                <c:pt idx="70">
                  <c:v>28354</c:v>
                </c:pt>
                <c:pt idx="71">
                  <c:v>22321</c:v>
                </c:pt>
                <c:pt idx="72">
                  <c:v>12661</c:v>
                </c:pt>
                <c:pt idx="73">
                  <c:v>26095</c:v>
                </c:pt>
                <c:pt idx="74">
                  <c:v>35310</c:v>
                </c:pt>
                <c:pt idx="75">
                  <c:v>26813</c:v>
                </c:pt>
                <c:pt idx="76">
                  <c:v>37089</c:v>
                </c:pt>
                <c:pt idx="77">
                  <c:v>26357</c:v>
                </c:pt>
                <c:pt idx="78">
                  <c:v>49421</c:v>
                </c:pt>
                <c:pt idx="79">
                  <c:v>37815</c:v>
                </c:pt>
                <c:pt idx="80">
                  <c:v>51040</c:v>
                </c:pt>
                <c:pt idx="81">
                  <c:v>34014</c:v>
                </c:pt>
                <c:pt idx="82">
                  <c:v>50866</c:v>
                </c:pt>
                <c:pt idx="83">
                  <c:v>70841</c:v>
                </c:pt>
                <c:pt idx="84">
                  <c:v>26902</c:v>
                </c:pt>
                <c:pt idx="85">
                  <c:v>42899</c:v>
                </c:pt>
                <c:pt idx="86">
                  <c:v>41255</c:v>
                </c:pt>
                <c:pt idx="87">
                  <c:v>48881</c:v>
                </c:pt>
                <c:pt idx="88">
                  <c:v>53226</c:v>
                </c:pt>
                <c:pt idx="89">
                  <c:v>49248</c:v>
                </c:pt>
                <c:pt idx="90">
                  <c:v>62348</c:v>
                </c:pt>
                <c:pt idx="91">
                  <c:v>52562</c:v>
                </c:pt>
                <c:pt idx="92">
                  <c:v>62201</c:v>
                </c:pt>
                <c:pt idx="93">
                  <c:v>44797</c:v>
                </c:pt>
                <c:pt idx="94">
                  <c:v>41608</c:v>
                </c:pt>
                <c:pt idx="95">
                  <c:v>50491</c:v>
                </c:pt>
                <c:pt idx="96">
                  <c:v>51152</c:v>
                </c:pt>
                <c:pt idx="97">
                  <c:v>41585</c:v>
                </c:pt>
                <c:pt idx="98">
                  <c:v>40661</c:v>
                </c:pt>
                <c:pt idx="99">
                  <c:v>31931</c:v>
                </c:pt>
                <c:pt idx="100">
                  <c:v>41535</c:v>
                </c:pt>
                <c:pt idx="101">
                  <c:v>44793</c:v>
                </c:pt>
                <c:pt idx="102">
                  <c:v>52858</c:v>
                </c:pt>
                <c:pt idx="103">
                  <c:v>55463</c:v>
                </c:pt>
                <c:pt idx="104">
                  <c:v>74711</c:v>
                </c:pt>
                <c:pt idx="105">
                  <c:v>65252</c:v>
                </c:pt>
                <c:pt idx="106">
                  <c:v>64996</c:v>
                </c:pt>
                <c:pt idx="107">
                  <c:v>60127</c:v>
                </c:pt>
                <c:pt idx="108">
                  <c:v>48738</c:v>
                </c:pt>
                <c:pt idx="109">
                  <c:v>49656</c:v>
                </c:pt>
                <c:pt idx="110">
                  <c:v>63470</c:v>
                </c:pt>
                <c:pt idx="111">
                  <c:v>43920</c:v>
                </c:pt>
                <c:pt idx="112">
                  <c:v>57744</c:v>
                </c:pt>
                <c:pt idx="113">
                  <c:v>63761</c:v>
                </c:pt>
                <c:pt idx="114">
                  <c:v>74200</c:v>
                </c:pt>
                <c:pt idx="115">
                  <c:v>77621</c:v>
                </c:pt>
                <c:pt idx="116">
                  <c:v>68006</c:v>
                </c:pt>
                <c:pt idx="117">
                  <c:v>75190</c:v>
                </c:pt>
                <c:pt idx="118">
                  <c:v>72819</c:v>
                </c:pt>
                <c:pt idx="119">
                  <c:v>61380</c:v>
                </c:pt>
                <c:pt idx="120">
                  <c:v>56308</c:v>
                </c:pt>
                <c:pt idx="121">
                  <c:v>38576</c:v>
                </c:pt>
              </c:numCache>
            </c:numRef>
          </c:val>
        </c:ser>
        <c:ser>
          <c:idx val="1"/>
          <c:order val="1"/>
          <c:tx>
            <c:strRef>
              <c:f>Sheet1!$C$1</c:f>
              <c:strCache>
                <c:ptCount val="1"/>
                <c:pt idx="0">
                  <c:v>&lt; 2009-06</c:v>
                </c:pt>
              </c:strCache>
            </c:strRef>
          </c:tx>
          <c:spPr>
            <a:solidFill>
              <a:schemeClr val="accent1">
                <a:lumMod val="20000"/>
                <a:lumOff val="80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Sheet1!$C$2:$C$123</c:f>
              <c:numCache>
                <c:formatCode>General</c:formatCode>
                <c:ptCount val="122"/>
                <c:pt idx="0">
                  <c:v>19057</c:v>
                </c:pt>
                <c:pt idx="1">
                  <c:v>15165</c:v>
                </c:pt>
                <c:pt idx="2">
                  <c:v>13726</c:v>
                </c:pt>
                <c:pt idx="3">
                  <c:v>13317</c:v>
                </c:pt>
                <c:pt idx="4">
                  <c:v>13740</c:v>
                </c:pt>
                <c:pt idx="5">
                  <c:v>11485</c:v>
                </c:pt>
                <c:pt idx="6">
                  <c:v>11763</c:v>
                </c:pt>
                <c:pt idx="7">
                  <c:v>10532</c:v>
                </c:pt>
                <c:pt idx="8">
                  <c:v>11293</c:v>
                </c:pt>
                <c:pt idx="9">
                  <c:v>11420</c:v>
                </c:pt>
                <c:pt idx="10">
                  <c:v>11613</c:v>
                </c:pt>
                <c:pt idx="11">
                  <c:v>13547</c:v>
                </c:pt>
                <c:pt idx="12">
                  <c:v>18639</c:v>
                </c:pt>
                <c:pt idx="13">
                  <c:v>16054</c:v>
                </c:pt>
                <c:pt idx="14">
                  <c:v>23045</c:v>
                </c:pt>
                <c:pt idx="15">
                  <c:v>21585</c:v>
                </c:pt>
                <c:pt idx="16">
                  <c:v>20927</c:v>
                </c:pt>
                <c:pt idx="17">
                  <c:v>23119</c:v>
                </c:pt>
                <c:pt idx="18">
                  <c:v>20337</c:v>
                </c:pt>
                <c:pt idx="19">
                  <c:v>17646</c:v>
                </c:pt>
                <c:pt idx="20">
                  <c:v>17169</c:v>
                </c:pt>
                <c:pt idx="21">
                  <c:v>17527</c:v>
                </c:pt>
                <c:pt idx="22">
                  <c:v>17939</c:v>
                </c:pt>
                <c:pt idx="23">
                  <c:v>22061</c:v>
                </c:pt>
                <c:pt idx="24">
                  <c:v>23242</c:v>
                </c:pt>
                <c:pt idx="25">
                  <c:v>25971</c:v>
                </c:pt>
                <c:pt idx="26">
                  <c:v>41508</c:v>
                </c:pt>
                <c:pt idx="27">
                  <c:v>49873</c:v>
                </c:pt>
                <c:pt idx="28">
                  <c:v>44733</c:v>
                </c:pt>
                <c:pt idx="29">
                  <c:v>41194</c:v>
                </c:pt>
                <c:pt idx="30">
                  <c:v>30865</c:v>
                </c:pt>
                <c:pt idx="31">
                  <c:v>15169</c:v>
                </c:pt>
                <c:pt idx="32">
                  <c:v>12928</c:v>
                </c:pt>
                <c:pt idx="33">
                  <c:v>11279</c:v>
                </c:pt>
                <c:pt idx="34">
                  <c:v>9037</c:v>
                </c:pt>
                <c:pt idx="35">
                  <c:v>13338</c:v>
                </c:pt>
                <c:pt idx="36">
                  <c:v>12980</c:v>
                </c:pt>
                <c:pt idx="37">
                  <c:v>20693</c:v>
                </c:pt>
                <c:pt idx="38">
                  <c:v>60330</c:v>
                </c:pt>
                <c:pt idx="39">
                  <c:v>126468</c:v>
                </c:pt>
                <c:pt idx="40">
                  <c:v>91317</c:v>
                </c:pt>
                <c:pt idx="41">
                  <c:v>25662</c:v>
                </c:pt>
                <c:pt idx="42">
                  <c:v>7053</c:v>
                </c:pt>
                <c:pt idx="43">
                  <c:v>781</c:v>
                </c:pt>
                <c:pt idx="44">
                  <c:v>173</c:v>
                </c:pt>
                <c:pt idx="45">
                  <c:v>258</c:v>
                </c:pt>
                <c:pt idx="46">
                  <c:v>1059</c:v>
                </c:pt>
                <c:pt idx="47">
                  <c:v>77</c:v>
                </c:pt>
                <c:pt idx="48">
                  <c:v>336</c:v>
                </c:pt>
                <c:pt idx="49">
                  <c:v>360</c:v>
                </c:pt>
                <c:pt idx="50">
                  <c:v>77</c:v>
                </c:pt>
                <c:pt idx="51">
                  <c:v>679</c:v>
                </c:pt>
                <c:pt idx="52">
                  <c:v>113</c:v>
                </c:pt>
                <c:pt idx="53">
                  <c:v>25</c:v>
                </c:pt>
                <c:pt idx="54">
                  <c:v>4</c:v>
                </c:pt>
                <c:pt idx="55">
                  <c:v>1</c:v>
                </c:pt>
                <c:pt idx="56">
                  <c:v>1120</c:v>
                </c:pt>
                <c:pt idx="57">
                  <c:v>326</c:v>
                </c:pt>
                <c:pt idx="58">
                  <c:v>3</c:v>
                </c:pt>
                <c:pt idx="59">
                  <c:v>24</c:v>
                </c:pt>
                <c:pt idx="60">
                  <c:v>3</c:v>
                </c:pt>
                <c:pt idx="62">
                  <c:v>150</c:v>
                </c:pt>
                <c:pt idx="63">
                  <c:v>2646</c:v>
                </c:pt>
                <c:pt idx="64">
                  <c:v>10</c:v>
                </c:pt>
                <c:pt idx="71">
                  <c:v>16</c:v>
                </c:pt>
                <c:pt idx="77">
                  <c:v>28</c:v>
                </c:pt>
                <c:pt idx="83">
                  <c:v>1190</c:v>
                </c:pt>
                <c:pt idx="84">
                  <c:v>7</c:v>
                </c:pt>
                <c:pt idx="87">
                  <c:v>8</c:v>
                </c:pt>
                <c:pt idx="88">
                  <c:v>7</c:v>
                </c:pt>
                <c:pt idx="89">
                  <c:v>88</c:v>
                </c:pt>
                <c:pt idx="90">
                  <c:v>19</c:v>
                </c:pt>
                <c:pt idx="92">
                  <c:v>1</c:v>
                </c:pt>
                <c:pt idx="93">
                  <c:v>90</c:v>
                </c:pt>
                <c:pt idx="95">
                  <c:v>969</c:v>
                </c:pt>
                <c:pt idx="96">
                  <c:v>1125</c:v>
                </c:pt>
                <c:pt idx="99">
                  <c:v>16</c:v>
                </c:pt>
                <c:pt idx="105">
                  <c:v>1</c:v>
                </c:pt>
                <c:pt idx="107">
                  <c:v>3</c:v>
                </c:pt>
                <c:pt idx="108">
                  <c:v>1</c:v>
                </c:pt>
                <c:pt idx="109">
                  <c:v>1</c:v>
                </c:pt>
                <c:pt idx="110">
                  <c:v>9</c:v>
                </c:pt>
                <c:pt idx="111">
                  <c:v>3319</c:v>
                </c:pt>
                <c:pt idx="119">
                  <c:v>116</c:v>
                </c:pt>
              </c:numCache>
            </c:numRef>
          </c:val>
        </c:ser>
        <c:ser>
          <c:idx val="2"/>
          <c:order val="2"/>
          <c:tx>
            <c:strRef>
              <c:f>Sheet1!$D$1</c:f>
              <c:strCache>
                <c:ptCount val="1"/>
                <c:pt idx="0">
                  <c:v>NON-HARP</c:v>
                </c:pt>
              </c:strCache>
            </c:strRef>
          </c:tx>
          <c:spPr>
            <a:solidFill>
              <a:schemeClr val="accent1">
                <a:lumMod val="60000"/>
                <a:lumOff val="40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Sheet1!$D$2:$D$123</c:f>
              <c:numCache>
                <c:formatCode>General</c:formatCode>
                <c:ptCount val="122"/>
                <c:pt idx="40">
                  <c:v>4758</c:v>
                </c:pt>
                <c:pt idx="41">
                  <c:v>51705</c:v>
                </c:pt>
                <c:pt idx="42">
                  <c:v>106391</c:v>
                </c:pt>
                <c:pt idx="43">
                  <c:v>60337</c:v>
                </c:pt>
                <c:pt idx="44">
                  <c:v>55906</c:v>
                </c:pt>
                <c:pt idx="45">
                  <c:v>31910</c:v>
                </c:pt>
                <c:pt idx="46">
                  <c:v>23119</c:v>
                </c:pt>
                <c:pt idx="47">
                  <c:v>22548</c:v>
                </c:pt>
                <c:pt idx="48">
                  <c:v>30548</c:v>
                </c:pt>
                <c:pt idx="49">
                  <c:v>24350</c:v>
                </c:pt>
                <c:pt idx="50">
                  <c:v>28003</c:v>
                </c:pt>
                <c:pt idx="51">
                  <c:v>25937</c:v>
                </c:pt>
                <c:pt idx="52">
                  <c:v>14416</c:v>
                </c:pt>
                <c:pt idx="53">
                  <c:v>15988</c:v>
                </c:pt>
                <c:pt idx="54">
                  <c:v>14269</c:v>
                </c:pt>
                <c:pt idx="55">
                  <c:v>13900</c:v>
                </c:pt>
                <c:pt idx="56">
                  <c:v>16488</c:v>
                </c:pt>
                <c:pt idx="57">
                  <c:v>24337</c:v>
                </c:pt>
                <c:pt idx="58">
                  <c:v>29103</c:v>
                </c:pt>
                <c:pt idx="59">
                  <c:v>28907</c:v>
                </c:pt>
                <c:pt idx="60">
                  <c:v>29330</c:v>
                </c:pt>
                <c:pt idx="61">
                  <c:v>36053</c:v>
                </c:pt>
                <c:pt idx="62">
                  <c:v>24920</c:v>
                </c:pt>
                <c:pt idx="63">
                  <c:v>11405</c:v>
                </c:pt>
                <c:pt idx="64">
                  <c:v>9549</c:v>
                </c:pt>
                <c:pt idx="65">
                  <c:v>7249</c:v>
                </c:pt>
                <c:pt idx="66">
                  <c:v>7079</c:v>
                </c:pt>
                <c:pt idx="67">
                  <c:v>5161</c:v>
                </c:pt>
                <c:pt idx="68">
                  <c:v>8995</c:v>
                </c:pt>
                <c:pt idx="69">
                  <c:v>9559</c:v>
                </c:pt>
                <c:pt idx="70">
                  <c:v>15321</c:v>
                </c:pt>
                <c:pt idx="71">
                  <c:v>16181</c:v>
                </c:pt>
                <c:pt idx="72">
                  <c:v>13058</c:v>
                </c:pt>
                <c:pt idx="73">
                  <c:v>21613</c:v>
                </c:pt>
                <c:pt idx="74">
                  <c:v>35057</c:v>
                </c:pt>
                <c:pt idx="75">
                  <c:v>28239</c:v>
                </c:pt>
                <c:pt idx="76">
                  <c:v>30739</c:v>
                </c:pt>
                <c:pt idx="77">
                  <c:v>17578</c:v>
                </c:pt>
                <c:pt idx="78">
                  <c:v>25831</c:v>
                </c:pt>
                <c:pt idx="79">
                  <c:v>18827</c:v>
                </c:pt>
                <c:pt idx="80">
                  <c:v>26774</c:v>
                </c:pt>
                <c:pt idx="81">
                  <c:v>25041</c:v>
                </c:pt>
                <c:pt idx="82">
                  <c:v>38833</c:v>
                </c:pt>
                <c:pt idx="83">
                  <c:v>49783</c:v>
                </c:pt>
                <c:pt idx="84">
                  <c:v>23978</c:v>
                </c:pt>
                <c:pt idx="85">
                  <c:v>39760</c:v>
                </c:pt>
                <c:pt idx="86">
                  <c:v>38300</c:v>
                </c:pt>
                <c:pt idx="87">
                  <c:v>48117</c:v>
                </c:pt>
                <c:pt idx="88">
                  <c:v>40468</c:v>
                </c:pt>
                <c:pt idx="89">
                  <c:v>26944</c:v>
                </c:pt>
                <c:pt idx="90">
                  <c:v>33375</c:v>
                </c:pt>
                <c:pt idx="91">
                  <c:v>26413</c:v>
                </c:pt>
                <c:pt idx="92">
                  <c:v>23108</c:v>
                </c:pt>
                <c:pt idx="93">
                  <c:v>12617</c:v>
                </c:pt>
                <c:pt idx="94">
                  <c:v>8614</c:v>
                </c:pt>
                <c:pt idx="95">
                  <c:v>7821</c:v>
                </c:pt>
                <c:pt idx="96">
                  <c:v>9232</c:v>
                </c:pt>
                <c:pt idx="97">
                  <c:v>8940</c:v>
                </c:pt>
                <c:pt idx="98">
                  <c:v>7816</c:v>
                </c:pt>
                <c:pt idx="99">
                  <c:v>2610</c:v>
                </c:pt>
                <c:pt idx="100">
                  <c:v>488</c:v>
                </c:pt>
                <c:pt idx="101">
                  <c:v>144</c:v>
                </c:pt>
                <c:pt idx="102">
                  <c:v>15</c:v>
                </c:pt>
                <c:pt idx="103">
                  <c:v>20</c:v>
                </c:pt>
                <c:pt idx="104">
                  <c:v>4942</c:v>
                </c:pt>
                <c:pt idx="105">
                  <c:v>1198</c:v>
                </c:pt>
                <c:pt idx="106">
                  <c:v>302</c:v>
                </c:pt>
                <c:pt idx="107">
                  <c:v>67</c:v>
                </c:pt>
                <c:pt idx="108">
                  <c:v>18</c:v>
                </c:pt>
                <c:pt idx="109">
                  <c:v>67</c:v>
                </c:pt>
                <c:pt idx="110">
                  <c:v>7528</c:v>
                </c:pt>
                <c:pt idx="111">
                  <c:v>34</c:v>
                </c:pt>
                <c:pt idx="112">
                  <c:v>1</c:v>
                </c:pt>
                <c:pt idx="113">
                  <c:v>211</c:v>
                </c:pt>
                <c:pt idx="114">
                  <c:v>2804</c:v>
                </c:pt>
                <c:pt idx="115">
                  <c:v>1279</c:v>
                </c:pt>
                <c:pt idx="117">
                  <c:v>11</c:v>
                </c:pt>
                <c:pt idx="118">
                  <c:v>531</c:v>
                </c:pt>
              </c:numCache>
            </c:numRef>
          </c:val>
        </c:ser>
        <c:ser>
          <c:idx val="3"/>
          <c:order val="3"/>
          <c:tx>
            <c:strRef>
              <c:f>Sheet1!$E$1</c:f>
              <c:strCache>
                <c:ptCount val="1"/>
                <c:pt idx="0">
                  <c:v>HARP</c:v>
                </c:pt>
              </c:strCache>
            </c:strRef>
          </c:tx>
          <c:spPr>
            <a:solidFill>
              <a:schemeClr val="bg2">
                <a:lumMod val="75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Sheet1!$E$2:$E$123</c:f>
              <c:numCache>
                <c:formatCode>General</c:formatCode>
                <c:ptCount val="122"/>
                <c:pt idx="40">
                  <c:v>286</c:v>
                </c:pt>
                <c:pt idx="41">
                  <c:v>5842</c:v>
                </c:pt>
                <c:pt idx="42">
                  <c:v>16517</c:v>
                </c:pt>
                <c:pt idx="43">
                  <c:v>22075</c:v>
                </c:pt>
                <c:pt idx="44">
                  <c:v>25210</c:v>
                </c:pt>
                <c:pt idx="45">
                  <c:v>15667</c:v>
                </c:pt>
                <c:pt idx="46">
                  <c:v>12098</c:v>
                </c:pt>
                <c:pt idx="47">
                  <c:v>16580</c:v>
                </c:pt>
                <c:pt idx="48">
                  <c:v>25493</c:v>
                </c:pt>
                <c:pt idx="49">
                  <c:v>24649</c:v>
                </c:pt>
                <c:pt idx="50">
                  <c:v>26299</c:v>
                </c:pt>
                <c:pt idx="51">
                  <c:v>21183</c:v>
                </c:pt>
                <c:pt idx="52">
                  <c:v>19513</c:v>
                </c:pt>
                <c:pt idx="53">
                  <c:v>17575</c:v>
                </c:pt>
                <c:pt idx="54">
                  <c:v>19523</c:v>
                </c:pt>
                <c:pt idx="55">
                  <c:v>19158</c:v>
                </c:pt>
                <c:pt idx="56">
                  <c:v>20121</c:v>
                </c:pt>
                <c:pt idx="57">
                  <c:v>38354</c:v>
                </c:pt>
                <c:pt idx="58">
                  <c:v>36203</c:v>
                </c:pt>
                <c:pt idx="59">
                  <c:v>39308</c:v>
                </c:pt>
                <c:pt idx="60">
                  <c:v>45723</c:v>
                </c:pt>
                <c:pt idx="61">
                  <c:v>31180</c:v>
                </c:pt>
                <c:pt idx="62">
                  <c:v>36604</c:v>
                </c:pt>
                <c:pt idx="63">
                  <c:v>19980</c:v>
                </c:pt>
                <c:pt idx="64">
                  <c:v>18800</c:v>
                </c:pt>
                <c:pt idx="65">
                  <c:v>12820</c:v>
                </c:pt>
                <c:pt idx="66">
                  <c:v>12588</c:v>
                </c:pt>
                <c:pt idx="67">
                  <c:v>11579</c:v>
                </c:pt>
                <c:pt idx="68">
                  <c:v>13279</c:v>
                </c:pt>
                <c:pt idx="69">
                  <c:v>15550</c:v>
                </c:pt>
                <c:pt idx="70">
                  <c:v>16474</c:v>
                </c:pt>
                <c:pt idx="71">
                  <c:v>15358</c:v>
                </c:pt>
                <c:pt idx="72">
                  <c:v>17850</c:v>
                </c:pt>
                <c:pt idx="73">
                  <c:v>21469</c:v>
                </c:pt>
                <c:pt idx="74">
                  <c:v>19436</c:v>
                </c:pt>
                <c:pt idx="75">
                  <c:v>29010</c:v>
                </c:pt>
                <c:pt idx="76">
                  <c:v>18814</c:v>
                </c:pt>
                <c:pt idx="77">
                  <c:v>22353</c:v>
                </c:pt>
                <c:pt idx="78">
                  <c:v>23679</c:v>
                </c:pt>
                <c:pt idx="79">
                  <c:v>21930</c:v>
                </c:pt>
                <c:pt idx="80">
                  <c:v>25715</c:v>
                </c:pt>
                <c:pt idx="81">
                  <c:v>20098</c:v>
                </c:pt>
                <c:pt idx="82">
                  <c:v>23340</c:v>
                </c:pt>
                <c:pt idx="83">
                  <c:v>40576</c:v>
                </c:pt>
                <c:pt idx="84">
                  <c:v>16073</c:v>
                </c:pt>
                <c:pt idx="85">
                  <c:v>31891</c:v>
                </c:pt>
                <c:pt idx="86">
                  <c:v>28858</c:v>
                </c:pt>
                <c:pt idx="87">
                  <c:v>30621</c:v>
                </c:pt>
                <c:pt idx="88">
                  <c:v>33414</c:v>
                </c:pt>
                <c:pt idx="89">
                  <c:v>28554</c:v>
                </c:pt>
                <c:pt idx="90">
                  <c:v>30201</c:v>
                </c:pt>
                <c:pt idx="91">
                  <c:v>22463</c:v>
                </c:pt>
                <c:pt idx="92">
                  <c:v>18785</c:v>
                </c:pt>
                <c:pt idx="93">
                  <c:v>16394</c:v>
                </c:pt>
                <c:pt idx="94">
                  <c:v>13595</c:v>
                </c:pt>
                <c:pt idx="95">
                  <c:v>12144</c:v>
                </c:pt>
                <c:pt idx="96">
                  <c:v>8436</c:v>
                </c:pt>
                <c:pt idx="97">
                  <c:v>10673</c:v>
                </c:pt>
                <c:pt idx="98">
                  <c:v>9613</c:v>
                </c:pt>
                <c:pt idx="99">
                  <c:v>2000</c:v>
                </c:pt>
                <c:pt idx="100">
                  <c:v>203</c:v>
                </c:pt>
                <c:pt idx="101">
                  <c:v>50</c:v>
                </c:pt>
                <c:pt idx="102">
                  <c:v>13</c:v>
                </c:pt>
                <c:pt idx="103">
                  <c:v>10</c:v>
                </c:pt>
                <c:pt idx="104">
                  <c:v>25</c:v>
                </c:pt>
                <c:pt idx="105">
                  <c:v>11</c:v>
                </c:pt>
                <c:pt idx="106">
                  <c:v>33</c:v>
                </c:pt>
                <c:pt idx="107">
                  <c:v>15</c:v>
                </c:pt>
                <c:pt idx="108">
                  <c:v>1</c:v>
                </c:pt>
                <c:pt idx="109">
                  <c:v>17</c:v>
                </c:pt>
                <c:pt idx="110">
                  <c:v>26</c:v>
                </c:pt>
                <c:pt idx="112">
                  <c:v>1</c:v>
                </c:pt>
                <c:pt idx="114">
                  <c:v>2</c:v>
                </c:pt>
                <c:pt idx="119">
                  <c:v>63</c:v>
                </c:pt>
                <c:pt idx="120">
                  <c:v>5</c:v>
                </c:pt>
              </c:numCache>
            </c:numRef>
          </c:val>
        </c:ser>
        <c:ser>
          <c:idx val="4"/>
          <c:order val="4"/>
          <c:tx>
            <c:strRef>
              <c:f>Sheet1!$F$1</c:f>
              <c:strCache>
                <c:ptCount val="1"/>
                <c:pt idx="0">
                  <c:v>Unknown</c:v>
                </c:pt>
              </c:strCache>
            </c:strRef>
          </c:tx>
          <c:spPr>
            <a:solidFill>
              <a:srgbClr val="AD275C"/>
            </a:solidFill>
            <a:ln w="19050">
              <a:noFill/>
            </a:ln>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Sheet1!$F$2:$F$123</c:f>
              <c:numCache>
                <c:formatCode>General</c:formatCode>
                <c:ptCount val="122"/>
                <c:pt idx="98">
                  <c:v>433</c:v>
                </c:pt>
                <c:pt idx="99">
                  <c:v>7802</c:v>
                </c:pt>
                <c:pt idx="100">
                  <c:v>13317</c:v>
                </c:pt>
                <c:pt idx="101">
                  <c:v>13013</c:v>
                </c:pt>
                <c:pt idx="102">
                  <c:v>14294</c:v>
                </c:pt>
                <c:pt idx="103">
                  <c:v>13253</c:v>
                </c:pt>
                <c:pt idx="104">
                  <c:v>15355</c:v>
                </c:pt>
                <c:pt idx="105">
                  <c:v>16781</c:v>
                </c:pt>
                <c:pt idx="106">
                  <c:v>18205</c:v>
                </c:pt>
                <c:pt idx="107">
                  <c:v>17771</c:v>
                </c:pt>
                <c:pt idx="108">
                  <c:v>20639</c:v>
                </c:pt>
                <c:pt idx="109">
                  <c:v>20018</c:v>
                </c:pt>
                <c:pt idx="110">
                  <c:v>26307</c:v>
                </c:pt>
                <c:pt idx="111">
                  <c:v>27603</c:v>
                </c:pt>
                <c:pt idx="112">
                  <c:v>38841</c:v>
                </c:pt>
                <c:pt idx="113">
                  <c:v>32819</c:v>
                </c:pt>
                <c:pt idx="114">
                  <c:v>29652</c:v>
                </c:pt>
                <c:pt idx="115">
                  <c:v>24711</c:v>
                </c:pt>
                <c:pt idx="116">
                  <c:v>17994</c:v>
                </c:pt>
                <c:pt idx="117">
                  <c:v>18141</c:v>
                </c:pt>
                <c:pt idx="118">
                  <c:v>17495</c:v>
                </c:pt>
                <c:pt idx="119">
                  <c:v>17242</c:v>
                </c:pt>
                <c:pt idx="120">
                  <c:v>17651</c:v>
                </c:pt>
                <c:pt idx="121">
                  <c:v>10736</c:v>
                </c:pt>
              </c:numCache>
            </c:numRef>
          </c:val>
        </c:ser>
        <c:dLbls>
          <c:showLegendKey val="0"/>
          <c:showVal val="0"/>
          <c:showCatName val="0"/>
          <c:showSerName val="0"/>
          <c:showPercent val="0"/>
          <c:showBubbleSize val="0"/>
        </c:dLbls>
        <c:axId val="139644928"/>
        <c:axId val="139646464"/>
      </c:areaChart>
      <c:dateAx>
        <c:axId val="139644928"/>
        <c:scaling>
          <c:orientation val="minMax"/>
        </c:scaling>
        <c:delete val="0"/>
        <c:axPos val="b"/>
        <c:numFmt formatCode="m/d/yyyy" sourceLinked="1"/>
        <c:majorTickMark val="out"/>
        <c:minorTickMark val="none"/>
        <c:tickLblPos val="nextTo"/>
        <c:crossAx val="139646464"/>
        <c:crosses val="autoZero"/>
        <c:auto val="1"/>
        <c:lblOffset val="100"/>
        <c:baseTimeUnit val="months"/>
        <c:majorUnit val="6"/>
        <c:majorTimeUnit val="months"/>
      </c:dateAx>
      <c:valAx>
        <c:axId val="139646464"/>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39644928"/>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percentStacked"/>
        <c:varyColors val="0"/>
        <c:ser>
          <c:idx val="0"/>
          <c:order val="0"/>
          <c:tx>
            <c:strRef>
              <c:f>Sheet2!$AE$1</c:f>
              <c:strCache>
                <c:ptCount val="1"/>
                <c:pt idx="0">
                  <c:v>N/A       </c:v>
                </c:pt>
              </c:strCache>
            </c:strRef>
          </c:tx>
          <c:cat>
            <c:numRef>
              <c:f>Sheet2!$AD$2:$AD$1600</c:f>
              <c:numCache>
                <c:formatCode>m/d/yyyy</c:formatCode>
                <c:ptCount val="1599"/>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pt idx="133">
                  <c:v>42401</c:v>
                </c:pt>
                <c:pt idx="134">
                  <c:v>42430</c:v>
                </c:pt>
              </c:numCache>
            </c:numRef>
          </c:cat>
          <c:val>
            <c:numRef>
              <c:f>Sheet2!$AE$2:$AE$1600</c:f>
              <c:numCache>
                <c:formatCode>General</c:formatCode>
                <c:ptCount val="1599"/>
                <c:pt idx="0">
                  <c:v>1751</c:v>
                </c:pt>
                <c:pt idx="1">
                  <c:v>1713</c:v>
                </c:pt>
                <c:pt idx="2">
                  <c:v>1379</c:v>
                </c:pt>
                <c:pt idx="3">
                  <c:v>1406</c:v>
                </c:pt>
                <c:pt idx="4">
                  <c:v>1954</c:v>
                </c:pt>
                <c:pt idx="5">
                  <c:v>2080</c:v>
                </c:pt>
                <c:pt idx="6">
                  <c:v>2676</c:v>
                </c:pt>
                <c:pt idx="7">
                  <c:v>3211</c:v>
                </c:pt>
                <c:pt idx="8">
                  <c:v>4048</c:v>
                </c:pt>
                <c:pt idx="9">
                  <c:v>7481</c:v>
                </c:pt>
                <c:pt idx="10">
                  <c:v>15991</c:v>
                </c:pt>
                <c:pt idx="11">
                  <c:v>58394</c:v>
                </c:pt>
                <c:pt idx="12">
                  <c:v>96347</c:v>
                </c:pt>
                <c:pt idx="13">
                  <c:v>93070</c:v>
                </c:pt>
                <c:pt idx="14">
                  <c:v>77021</c:v>
                </c:pt>
                <c:pt idx="15">
                  <c:v>86488</c:v>
                </c:pt>
                <c:pt idx="16">
                  <c:v>99743</c:v>
                </c:pt>
                <c:pt idx="17">
                  <c:v>94688</c:v>
                </c:pt>
                <c:pt idx="18">
                  <c:v>102712</c:v>
                </c:pt>
                <c:pt idx="19">
                  <c:v>111389</c:v>
                </c:pt>
                <c:pt idx="20">
                  <c:v>101464</c:v>
                </c:pt>
                <c:pt idx="21">
                  <c:v>102383</c:v>
                </c:pt>
                <c:pt idx="22">
                  <c:v>96093</c:v>
                </c:pt>
                <c:pt idx="23">
                  <c:v>107332</c:v>
                </c:pt>
                <c:pt idx="24">
                  <c:v>98456</c:v>
                </c:pt>
                <c:pt idx="25">
                  <c:v>99305</c:v>
                </c:pt>
                <c:pt idx="26">
                  <c:v>86895</c:v>
                </c:pt>
                <c:pt idx="27">
                  <c:v>93294</c:v>
                </c:pt>
                <c:pt idx="28">
                  <c:v>118081</c:v>
                </c:pt>
                <c:pt idx="29">
                  <c:v>122699</c:v>
                </c:pt>
                <c:pt idx="30">
                  <c:v>125488</c:v>
                </c:pt>
                <c:pt idx="31">
                  <c:v>118350</c:v>
                </c:pt>
                <c:pt idx="32">
                  <c:v>113663</c:v>
                </c:pt>
                <c:pt idx="33">
                  <c:v>110255</c:v>
                </c:pt>
                <c:pt idx="34">
                  <c:v>99633</c:v>
                </c:pt>
                <c:pt idx="35">
                  <c:v>101090</c:v>
                </c:pt>
                <c:pt idx="36">
                  <c:v>88196</c:v>
                </c:pt>
                <c:pt idx="37">
                  <c:v>95942</c:v>
                </c:pt>
                <c:pt idx="38">
                  <c:v>78249</c:v>
                </c:pt>
                <c:pt idx="39">
                  <c:v>99187</c:v>
                </c:pt>
                <c:pt idx="40">
                  <c:v>102401</c:v>
                </c:pt>
                <c:pt idx="41">
                  <c:v>98365</c:v>
                </c:pt>
                <c:pt idx="42">
                  <c:v>81925</c:v>
                </c:pt>
                <c:pt idx="43">
                  <c:v>80739</c:v>
                </c:pt>
                <c:pt idx="44">
                  <c:v>67217</c:v>
                </c:pt>
                <c:pt idx="45">
                  <c:v>45117</c:v>
                </c:pt>
                <c:pt idx="46">
                  <c:v>50694</c:v>
                </c:pt>
                <c:pt idx="47">
                  <c:v>52103</c:v>
                </c:pt>
                <c:pt idx="48">
                  <c:v>32448</c:v>
                </c:pt>
                <c:pt idx="49">
                  <c:v>52470</c:v>
                </c:pt>
                <c:pt idx="50">
                  <c:v>58125</c:v>
                </c:pt>
                <c:pt idx="51">
                  <c:v>72314</c:v>
                </c:pt>
                <c:pt idx="52">
                  <c:v>87478</c:v>
                </c:pt>
                <c:pt idx="53">
                  <c:v>80976</c:v>
                </c:pt>
                <c:pt idx="54">
                  <c:v>82570</c:v>
                </c:pt>
                <c:pt idx="55">
                  <c:v>89410</c:v>
                </c:pt>
                <c:pt idx="56">
                  <c:v>83867</c:v>
                </c:pt>
                <c:pt idx="57">
                  <c:v>62931</c:v>
                </c:pt>
                <c:pt idx="58">
                  <c:v>58846</c:v>
                </c:pt>
                <c:pt idx="59">
                  <c:v>62802</c:v>
                </c:pt>
                <c:pt idx="60">
                  <c:v>60390</c:v>
                </c:pt>
                <c:pt idx="61">
                  <c:v>54738</c:v>
                </c:pt>
                <c:pt idx="62">
                  <c:v>43730</c:v>
                </c:pt>
                <c:pt idx="63">
                  <c:v>42612</c:v>
                </c:pt>
                <c:pt idx="64">
                  <c:v>46375</c:v>
                </c:pt>
                <c:pt idx="65">
                  <c:v>49599</c:v>
                </c:pt>
                <c:pt idx="66">
                  <c:v>51493</c:v>
                </c:pt>
                <c:pt idx="67">
                  <c:v>55048</c:v>
                </c:pt>
                <c:pt idx="68">
                  <c:v>40328</c:v>
                </c:pt>
                <c:pt idx="69">
                  <c:v>41549</c:v>
                </c:pt>
                <c:pt idx="70">
                  <c:v>37450</c:v>
                </c:pt>
                <c:pt idx="71">
                  <c:v>38964</c:v>
                </c:pt>
                <c:pt idx="72">
                  <c:v>36931</c:v>
                </c:pt>
                <c:pt idx="73">
                  <c:v>41383</c:v>
                </c:pt>
                <c:pt idx="74">
                  <c:v>32412</c:v>
                </c:pt>
                <c:pt idx="75">
                  <c:v>22609</c:v>
                </c:pt>
                <c:pt idx="76">
                  <c:v>29809</c:v>
                </c:pt>
                <c:pt idx="77">
                  <c:v>30453</c:v>
                </c:pt>
                <c:pt idx="78">
                  <c:v>31433</c:v>
                </c:pt>
                <c:pt idx="79">
                  <c:v>41640</c:v>
                </c:pt>
                <c:pt idx="80">
                  <c:v>37088</c:v>
                </c:pt>
                <c:pt idx="81">
                  <c:v>36313</c:v>
                </c:pt>
                <c:pt idx="82">
                  <c:v>32247</c:v>
                </c:pt>
                <c:pt idx="83">
                  <c:v>24462</c:v>
                </c:pt>
                <c:pt idx="84">
                  <c:v>25527</c:v>
                </c:pt>
                <c:pt idx="85">
                  <c:v>30765</c:v>
                </c:pt>
                <c:pt idx="86">
                  <c:v>21029</c:v>
                </c:pt>
                <c:pt idx="87">
                  <c:v>20238</c:v>
                </c:pt>
                <c:pt idx="88">
                  <c:v>24408</c:v>
                </c:pt>
                <c:pt idx="89">
                  <c:v>32500</c:v>
                </c:pt>
                <c:pt idx="90">
                  <c:v>40914</c:v>
                </c:pt>
                <c:pt idx="91">
                  <c:v>40188</c:v>
                </c:pt>
                <c:pt idx="92">
                  <c:v>43003</c:v>
                </c:pt>
                <c:pt idx="93">
                  <c:v>47014</c:v>
                </c:pt>
                <c:pt idx="94">
                  <c:v>49817</c:v>
                </c:pt>
                <c:pt idx="95">
                  <c:v>49997</c:v>
                </c:pt>
                <c:pt idx="96">
                  <c:v>39735</c:v>
                </c:pt>
                <c:pt idx="97">
                  <c:v>44263</c:v>
                </c:pt>
                <c:pt idx="98">
                  <c:v>42586</c:v>
                </c:pt>
                <c:pt idx="99">
                  <c:v>46377</c:v>
                </c:pt>
                <c:pt idx="100">
                  <c:v>47960</c:v>
                </c:pt>
                <c:pt idx="101">
                  <c:v>48520</c:v>
                </c:pt>
                <c:pt idx="102">
                  <c:v>62247</c:v>
                </c:pt>
                <c:pt idx="103">
                  <c:v>60521</c:v>
                </c:pt>
                <c:pt idx="104">
                  <c:v>56082</c:v>
                </c:pt>
                <c:pt idx="105">
                  <c:v>49157</c:v>
                </c:pt>
                <c:pt idx="106">
                  <c:v>41646</c:v>
                </c:pt>
                <c:pt idx="107">
                  <c:v>45669</c:v>
                </c:pt>
                <c:pt idx="108">
                  <c:v>45740</c:v>
                </c:pt>
                <c:pt idx="109">
                  <c:v>48083</c:v>
                </c:pt>
                <c:pt idx="110">
                  <c:v>32180</c:v>
                </c:pt>
                <c:pt idx="111">
                  <c:v>34462</c:v>
                </c:pt>
                <c:pt idx="112">
                  <c:v>46337</c:v>
                </c:pt>
                <c:pt idx="113">
                  <c:v>49505</c:v>
                </c:pt>
                <c:pt idx="114">
                  <c:v>55296</c:v>
                </c:pt>
                <c:pt idx="115">
                  <c:v>65987</c:v>
                </c:pt>
                <c:pt idx="116">
                  <c:v>67292</c:v>
                </c:pt>
                <c:pt idx="117">
                  <c:v>63700</c:v>
                </c:pt>
                <c:pt idx="118">
                  <c:v>59685</c:v>
                </c:pt>
                <c:pt idx="119">
                  <c:v>54341</c:v>
                </c:pt>
                <c:pt idx="120">
                  <c:v>47249</c:v>
                </c:pt>
                <c:pt idx="121">
                  <c:v>50077</c:v>
                </c:pt>
                <c:pt idx="122">
                  <c:v>39430</c:v>
                </c:pt>
                <c:pt idx="123">
                  <c:v>45765</c:v>
                </c:pt>
                <c:pt idx="124">
                  <c:v>63287</c:v>
                </c:pt>
                <c:pt idx="125">
                  <c:v>66830</c:v>
                </c:pt>
                <c:pt idx="126">
                  <c:v>70152</c:v>
                </c:pt>
                <c:pt idx="127">
                  <c:v>73089</c:v>
                </c:pt>
                <c:pt idx="128">
                  <c:v>71662</c:v>
                </c:pt>
                <c:pt idx="129">
                  <c:v>69102</c:v>
                </c:pt>
                <c:pt idx="130">
                  <c:v>65190</c:v>
                </c:pt>
                <c:pt idx="131">
                  <c:v>61618</c:v>
                </c:pt>
                <c:pt idx="132">
                  <c:v>43151</c:v>
                </c:pt>
                <c:pt idx="133">
                  <c:v>21694</c:v>
                </c:pt>
                <c:pt idx="134">
                  <c:v>26</c:v>
                </c:pt>
              </c:numCache>
            </c:numRef>
          </c:val>
        </c:ser>
        <c:ser>
          <c:idx val="1"/>
          <c:order val="1"/>
          <c:tx>
            <c:strRef>
              <c:f>Sheet2!$AF$1</c:f>
              <c:strCache>
                <c:ptCount val="1"/>
                <c:pt idx="0">
                  <c:v>&lt; 2009-06 </c:v>
                </c:pt>
              </c:strCache>
            </c:strRef>
          </c:tx>
          <c:spPr>
            <a:solidFill>
              <a:schemeClr val="accent1">
                <a:lumMod val="20000"/>
                <a:lumOff val="80000"/>
              </a:schemeClr>
            </a:solidFill>
          </c:spPr>
          <c:cat>
            <c:numRef>
              <c:f>Sheet2!$AD$2:$AD$1600</c:f>
              <c:numCache>
                <c:formatCode>m/d/yyyy</c:formatCode>
                <c:ptCount val="1599"/>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pt idx="133">
                  <c:v>42401</c:v>
                </c:pt>
                <c:pt idx="134">
                  <c:v>42430</c:v>
                </c:pt>
              </c:numCache>
            </c:numRef>
          </c:cat>
          <c:val>
            <c:numRef>
              <c:f>Sheet2!$AF$2:$AF$1600</c:f>
              <c:numCache>
                <c:formatCode>General</c:formatCode>
                <c:ptCount val="1599"/>
                <c:pt idx="0">
                  <c:v>226</c:v>
                </c:pt>
                <c:pt idx="1">
                  <c:v>237</c:v>
                </c:pt>
                <c:pt idx="2">
                  <c:v>165</c:v>
                </c:pt>
                <c:pt idx="3">
                  <c:v>248</c:v>
                </c:pt>
                <c:pt idx="4">
                  <c:v>357</c:v>
                </c:pt>
                <c:pt idx="5">
                  <c:v>256</c:v>
                </c:pt>
                <c:pt idx="6">
                  <c:v>314</c:v>
                </c:pt>
                <c:pt idx="7">
                  <c:v>372</c:v>
                </c:pt>
                <c:pt idx="8">
                  <c:v>617</c:v>
                </c:pt>
                <c:pt idx="9">
                  <c:v>996</c:v>
                </c:pt>
                <c:pt idx="10">
                  <c:v>2199</c:v>
                </c:pt>
                <c:pt idx="11">
                  <c:v>9660</c:v>
                </c:pt>
                <c:pt idx="12">
                  <c:v>14686</c:v>
                </c:pt>
                <c:pt idx="13">
                  <c:v>13545</c:v>
                </c:pt>
                <c:pt idx="14">
                  <c:v>12671</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15467</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11582</c:v>
                </c:pt>
                <c:pt idx="45">
                  <c:v>7202</c:v>
                </c:pt>
                <c:pt idx="46">
                  <c:v>10585</c:v>
                </c:pt>
                <c:pt idx="47">
                  <c:v>15821</c:v>
                </c:pt>
                <c:pt idx="48">
                  <c:v>7542</c:v>
                </c:pt>
                <c:pt idx="49">
                  <c:v>32323</c:v>
                </c:pt>
                <c:pt idx="50">
                  <c:v>81505</c:v>
                </c:pt>
                <c:pt idx="51">
                  <c:v>104826</c:v>
                </c:pt>
                <c:pt idx="52">
                  <c:v>108692</c:v>
                </c:pt>
              </c:numCache>
            </c:numRef>
          </c:val>
        </c:ser>
        <c:ser>
          <c:idx val="2"/>
          <c:order val="2"/>
          <c:tx>
            <c:strRef>
              <c:f>Sheet2!$AG$1</c:f>
              <c:strCache>
                <c:ptCount val="1"/>
                <c:pt idx="0">
                  <c:v>NON-HARPed</c:v>
                </c:pt>
              </c:strCache>
            </c:strRef>
          </c:tx>
          <c:spPr>
            <a:solidFill>
              <a:schemeClr val="accent2"/>
            </a:solidFill>
          </c:spPr>
          <c:cat>
            <c:numRef>
              <c:f>Sheet2!$AD$2:$AD$1600</c:f>
              <c:numCache>
                <c:formatCode>m/d/yyyy</c:formatCode>
                <c:ptCount val="1599"/>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pt idx="133">
                  <c:v>42401</c:v>
                </c:pt>
                <c:pt idx="134">
                  <c:v>42430</c:v>
                </c:pt>
              </c:numCache>
            </c:numRef>
          </c:cat>
          <c:val>
            <c:numRef>
              <c:f>Sheet2!$AG$2:$AG$1600</c:f>
              <c:numCache>
                <c:formatCode>General</c:formatCode>
                <c:ptCount val="1599"/>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6588</c:v>
                </c:pt>
                <c:pt idx="111">
                  <c:v>9473</c:v>
                </c:pt>
                <c:pt idx="112">
                  <c:v>11593</c:v>
                </c:pt>
                <c:pt idx="113">
                  <c:v>11234</c:v>
                </c:pt>
                <c:pt idx="114">
                  <c:v>10540</c:v>
                </c:pt>
                <c:pt idx="115">
                  <c:v>13459</c:v>
                </c:pt>
                <c:pt idx="116">
                  <c:v>14181</c:v>
                </c:pt>
                <c:pt idx="117">
                  <c:v>14351</c:v>
                </c:pt>
                <c:pt idx="118">
                  <c:v>15344</c:v>
                </c:pt>
                <c:pt idx="119">
                  <c:v>15891</c:v>
                </c:pt>
                <c:pt idx="120">
                  <c:v>19500</c:v>
                </c:pt>
                <c:pt idx="121">
                  <c:v>18810</c:v>
                </c:pt>
                <c:pt idx="122">
                  <c:v>22277</c:v>
                </c:pt>
                <c:pt idx="123">
                  <c:v>33106</c:v>
                </c:pt>
                <c:pt idx="124">
                  <c:v>37447</c:v>
                </c:pt>
                <c:pt idx="125">
                  <c:v>28536</c:v>
                </c:pt>
                <c:pt idx="126">
                  <c:v>24520</c:v>
                </c:pt>
                <c:pt idx="127">
                  <c:v>19762</c:v>
                </c:pt>
                <c:pt idx="128">
                  <c:v>15711</c:v>
                </c:pt>
                <c:pt idx="129">
                  <c:v>15047</c:v>
                </c:pt>
                <c:pt idx="130">
                  <c:v>16140</c:v>
                </c:pt>
                <c:pt idx="131">
                  <c:v>17122</c:v>
                </c:pt>
                <c:pt idx="132">
                  <c:v>13678</c:v>
                </c:pt>
                <c:pt idx="133">
                  <c:v>5279</c:v>
                </c:pt>
                <c:pt idx="134">
                  <c:v>15</c:v>
                </c:pt>
              </c:numCache>
            </c:numRef>
          </c:val>
        </c:ser>
        <c:ser>
          <c:idx val="3"/>
          <c:order val="3"/>
          <c:tx>
            <c:strRef>
              <c:f>Sheet2!$AH$1</c:f>
              <c:strCache>
                <c:ptCount val="1"/>
                <c:pt idx="0">
                  <c:v>HARPed    </c:v>
                </c:pt>
              </c:strCache>
            </c:strRef>
          </c:tx>
          <c:spPr>
            <a:solidFill>
              <a:schemeClr val="bg2">
                <a:lumMod val="75000"/>
              </a:schemeClr>
            </a:solidFill>
          </c:spPr>
          <c:cat>
            <c:numRef>
              <c:f>Sheet2!$AD$2:$AD$1600</c:f>
              <c:numCache>
                <c:formatCode>m/d/yyyy</c:formatCode>
                <c:ptCount val="1599"/>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pt idx="133">
                  <c:v>42401</c:v>
                </c:pt>
                <c:pt idx="134">
                  <c:v>42430</c:v>
                </c:pt>
              </c:numCache>
            </c:numRef>
          </c:cat>
          <c:val>
            <c:numRef>
              <c:f>Sheet2!$AH$2:$AH$1600</c:f>
              <c:numCache>
                <c:formatCode>General</c:formatCode>
                <c:ptCount val="1599"/>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37322</c:v>
                </c:pt>
                <c:pt idx="74">
                  <c:v>32289</c:v>
                </c:pt>
                <c:pt idx="75">
                  <c:v>21224</c:v>
                </c:pt>
                <c:pt idx="76">
                  <c:v>14491</c:v>
                </c:pt>
                <c:pt idx="77">
                  <c:v>13261</c:v>
                </c:pt>
                <c:pt idx="78">
                  <c:v>11117</c:v>
                </c:pt>
                <c:pt idx="79">
                  <c:v>12492</c:v>
                </c:pt>
                <c:pt idx="80">
                  <c:v>14123</c:v>
                </c:pt>
                <c:pt idx="81">
                  <c:v>14084</c:v>
                </c:pt>
                <c:pt idx="82">
                  <c:v>17551</c:v>
                </c:pt>
                <c:pt idx="83">
                  <c:v>20154</c:v>
                </c:pt>
                <c:pt idx="84">
                  <c:v>21857</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26820</c:v>
                </c:pt>
                <c:pt idx="97">
                  <c:v>27439</c:v>
                </c:pt>
                <c:pt idx="98">
                  <c:v>29625</c:v>
                </c:pt>
                <c:pt idx="99">
                  <c:v>29886</c:v>
                </c:pt>
                <c:pt idx="100">
                  <c:v>30220</c:v>
                </c:pt>
                <c:pt idx="101">
                  <c:v>28244</c:v>
                </c:pt>
                <c:pt idx="102">
                  <c:v>26787</c:v>
                </c:pt>
                <c:pt idx="103">
                  <c:v>23013</c:v>
                </c:pt>
                <c:pt idx="104">
                  <c:v>20541</c:v>
                </c:pt>
                <c:pt idx="105">
                  <c:v>15993</c:v>
                </c:pt>
                <c:pt idx="106">
                  <c:v>12082</c:v>
                </c:pt>
                <c:pt idx="107">
                  <c:v>10922</c:v>
                </c:pt>
                <c:pt idx="108">
                  <c:v>9751</c:v>
                </c:pt>
                <c:pt idx="109">
                  <c:v>9671</c:v>
                </c:pt>
                <c:pt idx="110">
                  <c:v>8095</c:v>
                </c:pt>
                <c:pt idx="111">
                  <c:v>3315</c:v>
                </c:pt>
                <c:pt idx="112">
                  <c:v>3393</c:v>
                </c:pt>
                <c:pt idx="113">
                  <c:v>3248</c:v>
                </c:pt>
                <c:pt idx="114">
                  <c:v>2784</c:v>
                </c:pt>
                <c:pt idx="115">
                  <c:v>2417</c:v>
                </c:pt>
                <c:pt idx="116">
                  <c:v>2312</c:v>
                </c:pt>
                <c:pt idx="117">
                  <c:v>2380</c:v>
                </c:pt>
                <c:pt idx="118">
                  <c:v>2381</c:v>
                </c:pt>
                <c:pt idx="119">
                  <c:v>2277</c:v>
                </c:pt>
                <c:pt idx="120">
                  <c:v>1975</c:v>
                </c:pt>
                <c:pt idx="121">
                  <c:v>2128</c:v>
                </c:pt>
                <c:pt idx="122">
                  <c:v>1852</c:v>
                </c:pt>
                <c:pt idx="123">
                  <c:v>1910</c:v>
                </c:pt>
                <c:pt idx="124">
                  <c:v>2169</c:v>
                </c:pt>
                <c:pt idx="125">
                  <c:v>2004</c:v>
                </c:pt>
                <c:pt idx="126">
                  <c:v>1721</c:v>
                </c:pt>
                <c:pt idx="127">
                  <c:v>1641</c:v>
                </c:pt>
                <c:pt idx="128">
                  <c:v>1471</c:v>
                </c:pt>
                <c:pt idx="129">
                  <c:v>1498</c:v>
                </c:pt>
                <c:pt idx="130">
                  <c:v>1452</c:v>
                </c:pt>
                <c:pt idx="131">
                  <c:v>1357</c:v>
                </c:pt>
                <c:pt idx="132">
                  <c:v>961</c:v>
                </c:pt>
                <c:pt idx="133">
                  <c:v>434</c:v>
                </c:pt>
                <c:pt idx="134">
                  <c:v>1</c:v>
                </c:pt>
              </c:numCache>
            </c:numRef>
          </c:val>
        </c:ser>
        <c:dLbls>
          <c:showLegendKey val="0"/>
          <c:showVal val="0"/>
          <c:showCatName val="0"/>
          <c:showSerName val="0"/>
          <c:showPercent val="0"/>
          <c:showBubbleSize val="0"/>
        </c:dLbls>
        <c:axId val="140052352"/>
        <c:axId val="140053888"/>
      </c:areaChart>
      <c:dateAx>
        <c:axId val="140052352"/>
        <c:scaling>
          <c:orientation val="minMax"/>
        </c:scaling>
        <c:delete val="0"/>
        <c:axPos val="b"/>
        <c:numFmt formatCode="m/d/yyyy" sourceLinked="1"/>
        <c:majorTickMark val="out"/>
        <c:minorTickMark val="none"/>
        <c:tickLblPos val="nextTo"/>
        <c:crossAx val="140053888"/>
        <c:crosses val="autoZero"/>
        <c:auto val="1"/>
        <c:lblOffset val="100"/>
        <c:baseTimeUnit val="months"/>
        <c:majorUnit val="12"/>
        <c:majorTimeUnit val="months"/>
      </c:dateAx>
      <c:valAx>
        <c:axId val="140053888"/>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40052352"/>
        <c:crosses val="autoZero"/>
        <c:crossBetween val="midCat"/>
      </c:valAx>
    </c:plotArea>
    <c:plotVisOnly val="1"/>
    <c:dispBlanksAs val="zero"/>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N/A</c:v>
                </c:pt>
              </c:strCache>
            </c:strRef>
          </c:tx>
          <c:spPr>
            <a:solidFill>
              <a:srgbClr val="2E398A"/>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Sheet1!$B$2:$B$123</c:f>
              <c:numCache>
                <c:formatCode>General</c:formatCode>
                <c:ptCount val="122"/>
                <c:pt idx="0">
                  <c:v>116679</c:v>
                </c:pt>
                <c:pt idx="1">
                  <c:v>101038</c:v>
                </c:pt>
                <c:pt idx="2">
                  <c:v>85924</c:v>
                </c:pt>
                <c:pt idx="3">
                  <c:v>85045</c:v>
                </c:pt>
                <c:pt idx="4">
                  <c:v>91876</c:v>
                </c:pt>
                <c:pt idx="5">
                  <c:v>83181</c:v>
                </c:pt>
                <c:pt idx="6">
                  <c:v>96000</c:v>
                </c:pt>
                <c:pt idx="7">
                  <c:v>94899</c:v>
                </c:pt>
                <c:pt idx="8">
                  <c:v>106784</c:v>
                </c:pt>
                <c:pt idx="9">
                  <c:v>107277</c:v>
                </c:pt>
                <c:pt idx="10">
                  <c:v>92041</c:v>
                </c:pt>
                <c:pt idx="11">
                  <c:v>83109</c:v>
                </c:pt>
                <c:pt idx="12">
                  <c:v>109560</c:v>
                </c:pt>
                <c:pt idx="13">
                  <c:v>90090</c:v>
                </c:pt>
                <c:pt idx="14">
                  <c:v>105785</c:v>
                </c:pt>
                <c:pt idx="15">
                  <c:v>107547</c:v>
                </c:pt>
                <c:pt idx="16">
                  <c:v>100318</c:v>
                </c:pt>
                <c:pt idx="17">
                  <c:v>111446</c:v>
                </c:pt>
                <c:pt idx="18">
                  <c:v>112135</c:v>
                </c:pt>
                <c:pt idx="19">
                  <c:v>100566</c:v>
                </c:pt>
                <c:pt idx="20">
                  <c:v>117065</c:v>
                </c:pt>
                <c:pt idx="21">
                  <c:v>136772</c:v>
                </c:pt>
                <c:pt idx="22">
                  <c:v>108346</c:v>
                </c:pt>
                <c:pt idx="23">
                  <c:v>118469</c:v>
                </c:pt>
                <c:pt idx="24">
                  <c:v>108670</c:v>
                </c:pt>
                <c:pt idx="25">
                  <c:v>90455</c:v>
                </c:pt>
                <c:pt idx="26">
                  <c:v>124215</c:v>
                </c:pt>
                <c:pt idx="27">
                  <c:v>88535</c:v>
                </c:pt>
                <c:pt idx="28">
                  <c:v>98952</c:v>
                </c:pt>
                <c:pt idx="29">
                  <c:v>110414</c:v>
                </c:pt>
                <c:pt idx="30">
                  <c:v>108177</c:v>
                </c:pt>
                <c:pt idx="31">
                  <c:v>62302</c:v>
                </c:pt>
                <c:pt idx="32">
                  <c:v>68339</c:v>
                </c:pt>
                <c:pt idx="33">
                  <c:v>66445</c:v>
                </c:pt>
                <c:pt idx="34">
                  <c:v>45734</c:v>
                </c:pt>
                <c:pt idx="35">
                  <c:v>43655</c:v>
                </c:pt>
                <c:pt idx="36">
                  <c:v>50259</c:v>
                </c:pt>
                <c:pt idx="37">
                  <c:v>45008</c:v>
                </c:pt>
                <c:pt idx="38">
                  <c:v>54314</c:v>
                </c:pt>
                <c:pt idx="39">
                  <c:v>90938</c:v>
                </c:pt>
                <c:pt idx="40">
                  <c:v>70127</c:v>
                </c:pt>
                <c:pt idx="41">
                  <c:v>67567</c:v>
                </c:pt>
                <c:pt idx="42">
                  <c:v>104095</c:v>
                </c:pt>
                <c:pt idx="43">
                  <c:v>71014</c:v>
                </c:pt>
                <c:pt idx="44">
                  <c:v>82357</c:v>
                </c:pt>
                <c:pt idx="45">
                  <c:v>70570</c:v>
                </c:pt>
                <c:pt idx="46">
                  <c:v>61209</c:v>
                </c:pt>
                <c:pt idx="47">
                  <c:v>54618</c:v>
                </c:pt>
                <c:pt idx="48">
                  <c:v>70439</c:v>
                </c:pt>
                <c:pt idx="49">
                  <c:v>51271</c:v>
                </c:pt>
                <c:pt idx="50">
                  <c:v>51586</c:v>
                </c:pt>
                <c:pt idx="51">
                  <c:v>56751</c:v>
                </c:pt>
                <c:pt idx="52">
                  <c:v>37231</c:v>
                </c:pt>
                <c:pt idx="53">
                  <c:v>46855</c:v>
                </c:pt>
                <c:pt idx="54">
                  <c:v>55813</c:v>
                </c:pt>
                <c:pt idx="55">
                  <c:v>50706</c:v>
                </c:pt>
                <c:pt idx="56">
                  <c:v>48810</c:v>
                </c:pt>
                <c:pt idx="57">
                  <c:v>42017</c:v>
                </c:pt>
                <c:pt idx="58">
                  <c:v>39705</c:v>
                </c:pt>
                <c:pt idx="59">
                  <c:v>35585</c:v>
                </c:pt>
                <c:pt idx="60">
                  <c:v>33399</c:v>
                </c:pt>
                <c:pt idx="61">
                  <c:v>40868</c:v>
                </c:pt>
                <c:pt idx="62">
                  <c:v>38825</c:v>
                </c:pt>
                <c:pt idx="63">
                  <c:v>29596</c:v>
                </c:pt>
                <c:pt idx="64">
                  <c:v>24320</c:v>
                </c:pt>
                <c:pt idx="65">
                  <c:v>26412</c:v>
                </c:pt>
                <c:pt idx="66">
                  <c:v>32058</c:v>
                </c:pt>
                <c:pt idx="67">
                  <c:v>25325</c:v>
                </c:pt>
                <c:pt idx="68">
                  <c:v>34306</c:v>
                </c:pt>
                <c:pt idx="69">
                  <c:v>35181</c:v>
                </c:pt>
                <c:pt idx="70">
                  <c:v>28354</c:v>
                </c:pt>
                <c:pt idx="71">
                  <c:v>22321</c:v>
                </c:pt>
                <c:pt idx="72">
                  <c:v>12661</c:v>
                </c:pt>
                <c:pt idx="73">
                  <c:v>26095</c:v>
                </c:pt>
                <c:pt idx="74">
                  <c:v>35310</c:v>
                </c:pt>
                <c:pt idx="75">
                  <c:v>26813</c:v>
                </c:pt>
                <c:pt idx="76">
                  <c:v>37089</c:v>
                </c:pt>
                <c:pt idx="77">
                  <c:v>26357</c:v>
                </c:pt>
                <c:pt idx="78">
                  <c:v>49421</c:v>
                </c:pt>
                <c:pt idx="79">
                  <c:v>37815</c:v>
                </c:pt>
                <c:pt idx="80">
                  <c:v>51040</c:v>
                </c:pt>
                <c:pt idx="81">
                  <c:v>34014</c:v>
                </c:pt>
                <c:pt idx="82">
                  <c:v>50866</c:v>
                </c:pt>
                <c:pt idx="83">
                  <c:v>70841</c:v>
                </c:pt>
                <c:pt idx="84">
                  <c:v>26902</c:v>
                </c:pt>
                <c:pt idx="85">
                  <c:v>42899</c:v>
                </c:pt>
                <c:pt idx="86">
                  <c:v>41255</c:v>
                </c:pt>
                <c:pt idx="87">
                  <c:v>48881</c:v>
                </c:pt>
                <c:pt idx="88">
                  <c:v>53226</c:v>
                </c:pt>
                <c:pt idx="89">
                  <c:v>49248</c:v>
                </c:pt>
                <c:pt idx="90">
                  <c:v>62348</c:v>
                </c:pt>
                <c:pt idx="91">
                  <c:v>52562</c:v>
                </c:pt>
                <c:pt idx="92">
                  <c:v>62201</c:v>
                </c:pt>
                <c:pt idx="93">
                  <c:v>44797</c:v>
                </c:pt>
                <c:pt idx="94">
                  <c:v>41608</c:v>
                </c:pt>
                <c:pt idx="95">
                  <c:v>50491</c:v>
                </c:pt>
                <c:pt idx="96">
                  <c:v>51152</c:v>
                </c:pt>
                <c:pt idx="97">
                  <c:v>41585</c:v>
                </c:pt>
                <c:pt idx="98">
                  <c:v>40661</c:v>
                </c:pt>
                <c:pt idx="99">
                  <c:v>31931</c:v>
                </c:pt>
                <c:pt idx="100">
                  <c:v>41535</c:v>
                </c:pt>
                <c:pt idx="101">
                  <c:v>44793</c:v>
                </c:pt>
                <c:pt idx="102">
                  <c:v>52858</c:v>
                </c:pt>
                <c:pt idx="103">
                  <c:v>55463</c:v>
                </c:pt>
                <c:pt idx="104">
                  <c:v>74711</c:v>
                </c:pt>
                <c:pt idx="105">
                  <c:v>65252</c:v>
                </c:pt>
                <c:pt idx="106">
                  <c:v>64996</c:v>
                </c:pt>
                <c:pt idx="107">
                  <c:v>60127</c:v>
                </c:pt>
                <c:pt idx="108">
                  <c:v>48738</c:v>
                </c:pt>
                <c:pt idx="109">
                  <c:v>49656</c:v>
                </c:pt>
                <c:pt idx="110">
                  <c:v>63470</c:v>
                </c:pt>
                <c:pt idx="111">
                  <c:v>43920</c:v>
                </c:pt>
                <c:pt idx="112">
                  <c:v>57744</c:v>
                </c:pt>
                <c:pt idx="113">
                  <c:v>63761</c:v>
                </c:pt>
                <c:pt idx="114">
                  <c:v>74200</c:v>
                </c:pt>
                <c:pt idx="115">
                  <c:v>77621</c:v>
                </c:pt>
                <c:pt idx="116">
                  <c:v>68006</c:v>
                </c:pt>
                <c:pt idx="117">
                  <c:v>75190</c:v>
                </c:pt>
                <c:pt idx="118">
                  <c:v>72819</c:v>
                </c:pt>
                <c:pt idx="119">
                  <c:v>61380</c:v>
                </c:pt>
                <c:pt idx="120">
                  <c:v>56308</c:v>
                </c:pt>
                <c:pt idx="121">
                  <c:v>38576</c:v>
                </c:pt>
              </c:numCache>
            </c:numRef>
          </c:val>
        </c:ser>
        <c:ser>
          <c:idx val="1"/>
          <c:order val="1"/>
          <c:tx>
            <c:strRef>
              <c:f>Sheet1!$C$1</c:f>
              <c:strCache>
                <c:ptCount val="1"/>
                <c:pt idx="0">
                  <c:v>&lt; 2009-06</c:v>
                </c:pt>
              </c:strCache>
            </c:strRef>
          </c:tx>
          <c:spPr>
            <a:solidFill>
              <a:schemeClr val="accent1">
                <a:lumMod val="20000"/>
                <a:lumOff val="80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Sheet1!$C$2:$C$123</c:f>
              <c:numCache>
                <c:formatCode>General</c:formatCode>
                <c:ptCount val="122"/>
                <c:pt idx="0">
                  <c:v>19057</c:v>
                </c:pt>
                <c:pt idx="1">
                  <c:v>15165</c:v>
                </c:pt>
                <c:pt idx="2">
                  <c:v>13726</c:v>
                </c:pt>
                <c:pt idx="3">
                  <c:v>13317</c:v>
                </c:pt>
                <c:pt idx="4">
                  <c:v>13740</c:v>
                </c:pt>
                <c:pt idx="5">
                  <c:v>11485</c:v>
                </c:pt>
                <c:pt idx="6">
                  <c:v>11763</c:v>
                </c:pt>
                <c:pt idx="7">
                  <c:v>10532</c:v>
                </c:pt>
                <c:pt idx="8">
                  <c:v>11293</c:v>
                </c:pt>
                <c:pt idx="9">
                  <c:v>11420</c:v>
                </c:pt>
                <c:pt idx="10">
                  <c:v>11613</c:v>
                </c:pt>
                <c:pt idx="11">
                  <c:v>13547</c:v>
                </c:pt>
                <c:pt idx="12">
                  <c:v>18639</c:v>
                </c:pt>
                <c:pt idx="13">
                  <c:v>16054</c:v>
                </c:pt>
                <c:pt idx="14">
                  <c:v>23045</c:v>
                </c:pt>
                <c:pt idx="15">
                  <c:v>21585</c:v>
                </c:pt>
                <c:pt idx="16">
                  <c:v>20927</c:v>
                </c:pt>
                <c:pt idx="17">
                  <c:v>23119</c:v>
                </c:pt>
                <c:pt idx="18">
                  <c:v>20337</c:v>
                </c:pt>
                <c:pt idx="19">
                  <c:v>17646</c:v>
                </c:pt>
                <c:pt idx="20">
                  <c:v>17169</c:v>
                </c:pt>
                <c:pt idx="21">
                  <c:v>17527</c:v>
                </c:pt>
                <c:pt idx="22">
                  <c:v>17939</c:v>
                </c:pt>
                <c:pt idx="23">
                  <c:v>22061</c:v>
                </c:pt>
                <c:pt idx="24">
                  <c:v>23242</c:v>
                </c:pt>
                <c:pt idx="25">
                  <c:v>25971</c:v>
                </c:pt>
                <c:pt idx="26">
                  <c:v>41508</c:v>
                </c:pt>
                <c:pt idx="27">
                  <c:v>49873</c:v>
                </c:pt>
                <c:pt idx="28">
                  <c:v>44733</c:v>
                </c:pt>
                <c:pt idx="29">
                  <c:v>41194</c:v>
                </c:pt>
                <c:pt idx="30">
                  <c:v>30865</c:v>
                </c:pt>
                <c:pt idx="31">
                  <c:v>15169</c:v>
                </c:pt>
                <c:pt idx="32">
                  <c:v>12928</c:v>
                </c:pt>
                <c:pt idx="33">
                  <c:v>11279</c:v>
                </c:pt>
                <c:pt idx="34">
                  <c:v>9037</c:v>
                </c:pt>
                <c:pt idx="35">
                  <c:v>13338</c:v>
                </c:pt>
                <c:pt idx="36">
                  <c:v>12980</c:v>
                </c:pt>
                <c:pt idx="37">
                  <c:v>20693</c:v>
                </c:pt>
                <c:pt idx="38">
                  <c:v>60330</c:v>
                </c:pt>
                <c:pt idx="39">
                  <c:v>126468</c:v>
                </c:pt>
                <c:pt idx="40">
                  <c:v>91317</c:v>
                </c:pt>
                <c:pt idx="41">
                  <c:v>25662</c:v>
                </c:pt>
                <c:pt idx="42">
                  <c:v>7053</c:v>
                </c:pt>
                <c:pt idx="43">
                  <c:v>781</c:v>
                </c:pt>
                <c:pt idx="44">
                  <c:v>173</c:v>
                </c:pt>
                <c:pt idx="45">
                  <c:v>258</c:v>
                </c:pt>
                <c:pt idx="46">
                  <c:v>1059</c:v>
                </c:pt>
                <c:pt idx="47">
                  <c:v>77</c:v>
                </c:pt>
                <c:pt idx="48">
                  <c:v>336</c:v>
                </c:pt>
                <c:pt idx="49">
                  <c:v>360</c:v>
                </c:pt>
                <c:pt idx="50">
                  <c:v>77</c:v>
                </c:pt>
                <c:pt idx="51">
                  <c:v>679</c:v>
                </c:pt>
                <c:pt idx="52">
                  <c:v>113</c:v>
                </c:pt>
                <c:pt idx="53">
                  <c:v>25</c:v>
                </c:pt>
                <c:pt idx="54">
                  <c:v>4</c:v>
                </c:pt>
                <c:pt idx="55">
                  <c:v>1</c:v>
                </c:pt>
                <c:pt idx="56">
                  <c:v>1120</c:v>
                </c:pt>
                <c:pt idx="57">
                  <c:v>326</c:v>
                </c:pt>
                <c:pt idx="58">
                  <c:v>3</c:v>
                </c:pt>
                <c:pt idx="59">
                  <c:v>24</c:v>
                </c:pt>
                <c:pt idx="60">
                  <c:v>3</c:v>
                </c:pt>
                <c:pt idx="62">
                  <c:v>150</c:v>
                </c:pt>
                <c:pt idx="63">
                  <c:v>2646</c:v>
                </c:pt>
                <c:pt idx="64">
                  <c:v>10</c:v>
                </c:pt>
                <c:pt idx="71">
                  <c:v>16</c:v>
                </c:pt>
                <c:pt idx="77">
                  <c:v>28</c:v>
                </c:pt>
                <c:pt idx="83">
                  <c:v>1190</c:v>
                </c:pt>
                <c:pt idx="84">
                  <c:v>7</c:v>
                </c:pt>
                <c:pt idx="87">
                  <c:v>8</c:v>
                </c:pt>
                <c:pt idx="88">
                  <c:v>7</c:v>
                </c:pt>
                <c:pt idx="89">
                  <c:v>88</c:v>
                </c:pt>
                <c:pt idx="90">
                  <c:v>19</c:v>
                </c:pt>
                <c:pt idx="92">
                  <c:v>1</c:v>
                </c:pt>
                <c:pt idx="93">
                  <c:v>90</c:v>
                </c:pt>
                <c:pt idx="95">
                  <c:v>969</c:v>
                </c:pt>
                <c:pt idx="96">
                  <c:v>1125</c:v>
                </c:pt>
                <c:pt idx="99">
                  <c:v>16</c:v>
                </c:pt>
                <c:pt idx="105">
                  <c:v>1</c:v>
                </c:pt>
                <c:pt idx="107">
                  <c:v>3</c:v>
                </c:pt>
                <c:pt idx="108">
                  <c:v>1</c:v>
                </c:pt>
                <c:pt idx="109">
                  <c:v>1</c:v>
                </c:pt>
                <c:pt idx="110">
                  <c:v>9</c:v>
                </c:pt>
                <c:pt idx="111">
                  <c:v>3319</c:v>
                </c:pt>
                <c:pt idx="119">
                  <c:v>116</c:v>
                </c:pt>
              </c:numCache>
            </c:numRef>
          </c:val>
        </c:ser>
        <c:ser>
          <c:idx val="2"/>
          <c:order val="2"/>
          <c:tx>
            <c:strRef>
              <c:f>Sheet1!$D$1</c:f>
              <c:strCache>
                <c:ptCount val="1"/>
                <c:pt idx="0">
                  <c:v>NON-HARP</c:v>
                </c:pt>
              </c:strCache>
            </c:strRef>
          </c:tx>
          <c:spPr>
            <a:solidFill>
              <a:schemeClr val="accent1">
                <a:lumMod val="60000"/>
                <a:lumOff val="40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Sheet1!$D$2:$D$123</c:f>
              <c:numCache>
                <c:formatCode>General</c:formatCode>
                <c:ptCount val="122"/>
                <c:pt idx="40">
                  <c:v>4758</c:v>
                </c:pt>
                <c:pt idx="41">
                  <c:v>51705</c:v>
                </c:pt>
                <c:pt idx="42">
                  <c:v>106391</c:v>
                </c:pt>
                <c:pt idx="43">
                  <c:v>60337</c:v>
                </c:pt>
                <c:pt idx="44">
                  <c:v>55906</c:v>
                </c:pt>
                <c:pt idx="45">
                  <c:v>31910</c:v>
                </c:pt>
                <c:pt idx="46">
                  <c:v>23119</c:v>
                </c:pt>
                <c:pt idx="47">
                  <c:v>22548</c:v>
                </c:pt>
                <c:pt idx="48">
                  <c:v>30548</c:v>
                </c:pt>
                <c:pt idx="49">
                  <c:v>24350</c:v>
                </c:pt>
                <c:pt idx="50">
                  <c:v>28003</c:v>
                </c:pt>
                <c:pt idx="51">
                  <c:v>25937</c:v>
                </c:pt>
                <c:pt idx="52">
                  <c:v>14416</c:v>
                </c:pt>
                <c:pt idx="53">
                  <c:v>15988</c:v>
                </c:pt>
                <c:pt idx="54">
                  <c:v>14269</c:v>
                </c:pt>
                <c:pt idx="55">
                  <c:v>13900</c:v>
                </c:pt>
                <c:pt idx="56">
                  <c:v>16488</c:v>
                </c:pt>
                <c:pt idx="57">
                  <c:v>24337</c:v>
                </c:pt>
                <c:pt idx="58">
                  <c:v>29103</c:v>
                </c:pt>
                <c:pt idx="59">
                  <c:v>28907</c:v>
                </c:pt>
                <c:pt idx="60">
                  <c:v>29330</c:v>
                </c:pt>
                <c:pt idx="61">
                  <c:v>36053</c:v>
                </c:pt>
                <c:pt idx="62">
                  <c:v>24920</c:v>
                </c:pt>
                <c:pt idx="63">
                  <c:v>11405</c:v>
                </c:pt>
                <c:pt idx="64">
                  <c:v>9549</c:v>
                </c:pt>
                <c:pt idx="65">
                  <c:v>7249</c:v>
                </c:pt>
                <c:pt idx="66">
                  <c:v>7079</c:v>
                </c:pt>
                <c:pt idx="67">
                  <c:v>5161</c:v>
                </c:pt>
                <c:pt idx="68">
                  <c:v>8995</c:v>
                </c:pt>
                <c:pt idx="69">
                  <c:v>9559</c:v>
                </c:pt>
                <c:pt idx="70">
                  <c:v>15321</c:v>
                </c:pt>
                <c:pt idx="71">
                  <c:v>16181</c:v>
                </c:pt>
                <c:pt idx="72">
                  <c:v>13058</c:v>
                </c:pt>
                <c:pt idx="73">
                  <c:v>21613</c:v>
                </c:pt>
                <c:pt idx="74">
                  <c:v>35057</c:v>
                </c:pt>
                <c:pt idx="75">
                  <c:v>28239</c:v>
                </c:pt>
                <c:pt idx="76">
                  <c:v>30739</c:v>
                </c:pt>
                <c:pt idx="77">
                  <c:v>17578</c:v>
                </c:pt>
                <c:pt idx="78">
                  <c:v>25831</c:v>
                </c:pt>
                <c:pt idx="79">
                  <c:v>18827</c:v>
                </c:pt>
                <c:pt idx="80">
                  <c:v>26774</c:v>
                </c:pt>
                <c:pt idx="81">
                  <c:v>25041</c:v>
                </c:pt>
                <c:pt idx="82">
                  <c:v>38833</c:v>
                </c:pt>
                <c:pt idx="83">
                  <c:v>49783</c:v>
                </c:pt>
                <c:pt idx="84">
                  <c:v>23978</c:v>
                </c:pt>
                <c:pt idx="85">
                  <c:v>39760</c:v>
                </c:pt>
                <c:pt idx="86">
                  <c:v>38300</c:v>
                </c:pt>
                <c:pt idx="87">
                  <c:v>48117</c:v>
                </c:pt>
                <c:pt idx="88">
                  <c:v>40468</c:v>
                </c:pt>
                <c:pt idx="89">
                  <c:v>26944</c:v>
                </c:pt>
                <c:pt idx="90">
                  <c:v>33375</c:v>
                </c:pt>
                <c:pt idx="91">
                  <c:v>26413</c:v>
                </c:pt>
                <c:pt idx="92">
                  <c:v>23108</c:v>
                </c:pt>
                <c:pt idx="93">
                  <c:v>12617</c:v>
                </c:pt>
                <c:pt idx="94">
                  <c:v>8614</c:v>
                </c:pt>
                <c:pt idx="95">
                  <c:v>7821</c:v>
                </c:pt>
                <c:pt idx="96">
                  <c:v>9232</c:v>
                </c:pt>
                <c:pt idx="97">
                  <c:v>8940</c:v>
                </c:pt>
                <c:pt idx="98">
                  <c:v>7816</c:v>
                </c:pt>
                <c:pt idx="99">
                  <c:v>2610</c:v>
                </c:pt>
                <c:pt idx="100">
                  <c:v>488</c:v>
                </c:pt>
                <c:pt idx="101">
                  <c:v>144</c:v>
                </c:pt>
                <c:pt idx="102">
                  <c:v>15</c:v>
                </c:pt>
                <c:pt idx="103">
                  <c:v>20</c:v>
                </c:pt>
                <c:pt idx="104">
                  <c:v>4942</c:v>
                </c:pt>
                <c:pt idx="105">
                  <c:v>1198</c:v>
                </c:pt>
                <c:pt idx="106">
                  <c:v>302</c:v>
                </c:pt>
                <c:pt idx="107">
                  <c:v>67</c:v>
                </c:pt>
                <c:pt idx="108">
                  <c:v>18</c:v>
                </c:pt>
                <c:pt idx="109">
                  <c:v>67</c:v>
                </c:pt>
                <c:pt idx="110">
                  <c:v>7528</c:v>
                </c:pt>
                <c:pt idx="111">
                  <c:v>34</c:v>
                </c:pt>
                <c:pt idx="112">
                  <c:v>1</c:v>
                </c:pt>
                <c:pt idx="113">
                  <c:v>211</c:v>
                </c:pt>
                <c:pt idx="114">
                  <c:v>2804</c:v>
                </c:pt>
                <c:pt idx="115">
                  <c:v>1279</c:v>
                </c:pt>
                <c:pt idx="117">
                  <c:v>11</c:v>
                </c:pt>
                <c:pt idx="118">
                  <c:v>531</c:v>
                </c:pt>
              </c:numCache>
            </c:numRef>
          </c:val>
        </c:ser>
        <c:ser>
          <c:idx val="3"/>
          <c:order val="3"/>
          <c:tx>
            <c:strRef>
              <c:f>Sheet1!$E$1</c:f>
              <c:strCache>
                <c:ptCount val="1"/>
                <c:pt idx="0">
                  <c:v>HARP</c:v>
                </c:pt>
              </c:strCache>
            </c:strRef>
          </c:tx>
          <c:spPr>
            <a:solidFill>
              <a:schemeClr val="bg2">
                <a:lumMod val="75000"/>
              </a:schemeClr>
            </a:solidFill>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Sheet1!$E$2:$E$123</c:f>
              <c:numCache>
                <c:formatCode>General</c:formatCode>
                <c:ptCount val="122"/>
                <c:pt idx="40">
                  <c:v>286</c:v>
                </c:pt>
                <c:pt idx="41">
                  <c:v>5842</c:v>
                </c:pt>
                <c:pt idx="42">
                  <c:v>16517</c:v>
                </c:pt>
                <c:pt idx="43">
                  <c:v>22075</c:v>
                </c:pt>
                <c:pt idx="44">
                  <c:v>25210</c:v>
                </c:pt>
                <c:pt idx="45">
                  <c:v>15667</c:v>
                </c:pt>
                <c:pt idx="46">
                  <c:v>12098</c:v>
                </c:pt>
                <c:pt idx="47">
                  <c:v>16580</c:v>
                </c:pt>
                <c:pt idx="48">
                  <c:v>25493</c:v>
                </c:pt>
                <c:pt idx="49">
                  <c:v>24649</c:v>
                </c:pt>
                <c:pt idx="50">
                  <c:v>26299</c:v>
                </c:pt>
                <c:pt idx="51">
                  <c:v>21183</c:v>
                </c:pt>
                <c:pt idx="52">
                  <c:v>19513</c:v>
                </c:pt>
                <c:pt idx="53">
                  <c:v>17575</c:v>
                </c:pt>
                <c:pt idx="54">
                  <c:v>19523</c:v>
                </c:pt>
                <c:pt idx="55">
                  <c:v>19158</c:v>
                </c:pt>
                <c:pt idx="56">
                  <c:v>20121</c:v>
                </c:pt>
                <c:pt idx="57">
                  <c:v>38354</c:v>
                </c:pt>
                <c:pt idx="58">
                  <c:v>36203</c:v>
                </c:pt>
                <c:pt idx="59">
                  <c:v>39308</c:v>
                </c:pt>
                <c:pt idx="60">
                  <c:v>45723</c:v>
                </c:pt>
                <c:pt idx="61">
                  <c:v>31180</c:v>
                </c:pt>
                <c:pt idx="62">
                  <c:v>36604</c:v>
                </c:pt>
                <c:pt idx="63">
                  <c:v>19980</c:v>
                </c:pt>
                <c:pt idx="64">
                  <c:v>18800</c:v>
                </c:pt>
                <c:pt idx="65">
                  <c:v>12820</c:v>
                </c:pt>
                <c:pt idx="66">
                  <c:v>12588</c:v>
                </c:pt>
                <c:pt idx="67">
                  <c:v>11579</c:v>
                </c:pt>
                <c:pt idx="68">
                  <c:v>13279</c:v>
                </c:pt>
                <c:pt idx="69">
                  <c:v>15550</c:v>
                </c:pt>
                <c:pt idx="70">
                  <c:v>16474</c:v>
                </c:pt>
                <c:pt idx="71">
                  <c:v>15358</c:v>
                </c:pt>
                <c:pt idx="72">
                  <c:v>17850</c:v>
                </c:pt>
                <c:pt idx="73">
                  <c:v>21469</c:v>
                </c:pt>
                <c:pt idx="74">
                  <c:v>19436</c:v>
                </c:pt>
                <c:pt idx="75">
                  <c:v>29010</c:v>
                </c:pt>
                <c:pt idx="76">
                  <c:v>18814</c:v>
                </c:pt>
                <c:pt idx="77">
                  <c:v>22353</c:v>
                </c:pt>
                <c:pt idx="78">
                  <c:v>23679</c:v>
                </c:pt>
                <c:pt idx="79">
                  <c:v>21930</c:v>
                </c:pt>
                <c:pt idx="80">
                  <c:v>25715</c:v>
                </c:pt>
                <c:pt idx="81">
                  <c:v>20098</c:v>
                </c:pt>
                <c:pt idx="82">
                  <c:v>23340</c:v>
                </c:pt>
                <c:pt idx="83">
                  <c:v>40576</c:v>
                </c:pt>
                <c:pt idx="84">
                  <c:v>16073</c:v>
                </c:pt>
                <c:pt idx="85">
                  <c:v>31891</c:v>
                </c:pt>
                <c:pt idx="86">
                  <c:v>28858</c:v>
                </c:pt>
                <c:pt idx="87">
                  <c:v>30621</c:v>
                </c:pt>
                <c:pt idx="88">
                  <c:v>33414</c:v>
                </c:pt>
                <c:pt idx="89">
                  <c:v>28554</c:v>
                </c:pt>
                <c:pt idx="90">
                  <c:v>30201</c:v>
                </c:pt>
                <c:pt idx="91">
                  <c:v>22463</c:v>
                </c:pt>
                <c:pt idx="92">
                  <c:v>18785</c:v>
                </c:pt>
                <c:pt idx="93">
                  <c:v>16394</c:v>
                </c:pt>
                <c:pt idx="94">
                  <c:v>13595</c:v>
                </c:pt>
                <c:pt idx="95">
                  <c:v>12144</c:v>
                </c:pt>
                <c:pt idx="96">
                  <c:v>8436</c:v>
                </c:pt>
                <c:pt idx="97">
                  <c:v>10673</c:v>
                </c:pt>
                <c:pt idx="98">
                  <c:v>9613</c:v>
                </c:pt>
                <c:pt idx="99">
                  <c:v>2000</c:v>
                </c:pt>
                <c:pt idx="100">
                  <c:v>203</c:v>
                </c:pt>
                <c:pt idx="101">
                  <c:v>50</c:v>
                </c:pt>
                <c:pt idx="102">
                  <c:v>13</c:v>
                </c:pt>
                <c:pt idx="103">
                  <c:v>10</c:v>
                </c:pt>
                <c:pt idx="104">
                  <c:v>25</c:v>
                </c:pt>
                <c:pt idx="105">
                  <c:v>11</c:v>
                </c:pt>
                <c:pt idx="106">
                  <c:v>33</c:v>
                </c:pt>
                <c:pt idx="107">
                  <c:v>15</c:v>
                </c:pt>
                <c:pt idx="108">
                  <c:v>1</c:v>
                </c:pt>
                <c:pt idx="109">
                  <c:v>17</c:v>
                </c:pt>
                <c:pt idx="110">
                  <c:v>26</c:v>
                </c:pt>
                <c:pt idx="112">
                  <c:v>1</c:v>
                </c:pt>
                <c:pt idx="114">
                  <c:v>2</c:v>
                </c:pt>
                <c:pt idx="119">
                  <c:v>63</c:v>
                </c:pt>
                <c:pt idx="120">
                  <c:v>5</c:v>
                </c:pt>
              </c:numCache>
            </c:numRef>
          </c:val>
        </c:ser>
        <c:ser>
          <c:idx val="4"/>
          <c:order val="4"/>
          <c:tx>
            <c:strRef>
              <c:f>Sheet1!$F$1</c:f>
              <c:strCache>
                <c:ptCount val="1"/>
                <c:pt idx="0">
                  <c:v>Unknown</c:v>
                </c:pt>
              </c:strCache>
            </c:strRef>
          </c:tx>
          <c:spPr>
            <a:solidFill>
              <a:srgbClr val="AD275C"/>
            </a:solidFill>
            <a:ln w="19050">
              <a:noFill/>
            </a:ln>
          </c:spPr>
          <c:cat>
            <c:numRef>
              <c:f>Sheet1!$A$2:$A$123</c:f>
              <c:numCache>
                <c:formatCode>m/d/yyyy</c:formatCode>
                <c:ptCount val="122"/>
                <c:pt idx="0">
                  <c:v>38687</c:v>
                </c:pt>
                <c:pt idx="1">
                  <c:v>38718</c:v>
                </c:pt>
                <c:pt idx="2">
                  <c:v>38749</c:v>
                </c:pt>
                <c:pt idx="3">
                  <c:v>38777</c:v>
                </c:pt>
                <c:pt idx="4">
                  <c:v>38808</c:v>
                </c:pt>
                <c:pt idx="5">
                  <c:v>38838</c:v>
                </c:pt>
                <c:pt idx="6">
                  <c:v>38869</c:v>
                </c:pt>
                <c:pt idx="7">
                  <c:v>38899</c:v>
                </c:pt>
                <c:pt idx="8">
                  <c:v>38930</c:v>
                </c:pt>
                <c:pt idx="9">
                  <c:v>38961</c:v>
                </c:pt>
                <c:pt idx="10">
                  <c:v>38991</c:v>
                </c:pt>
                <c:pt idx="11">
                  <c:v>39022</c:v>
                </c:pt>
                <c:pt idx="12">
                  <c:v>39052</c:v>
                </c:pt>
                <c:pt idx="13">
                  <c:v>39083</c:v>
                </c:pt>
                <c:pt idx="14">
                  <c:v>39114</c:v>
                </c:pt>
                <c:pt idx="15">
                  <c:v>39142</c:v>
                </c:pt>
                <c:pt idx="16">
                  <c:v>39173</c:v>
                </c:pt>
                <c:pt idx="17">
                  <c:v>39203</c:v>
                </c:pt>
                <c:pt idx="18">
                  <c:v>39234</c:v>
                </c:pt>
                <c:pt idx="19">
                  <c:v>39264</c:v>
                </c:pt>
                <c:pt idx="20">
                  <c:v>39295</c:v>
                </c:pt>
                <c:pt idx="21">
                  <c:v>39326</c:v>
                </c:pt>
                <c:pt idx="22">
                  <c:v>39356</c:v>
                </c:pt>
                <c:pt idx="23">
                  <c:v>39387</c:v>
                </c:pt>
                <c:pt idx="24">
                  <c:v>39417</c:v>
                </c:pt>
                <c:pt idx="25">
                  <c:v>39448</c:v>
                </c:pt>
                <c:pt idx="26">
                  <c:v>39479</c:v>
                </c:pt>
                <c:pt idx="27">
                  <c:v>39508</c:v>
                </c:pt>
                <c:pt idx="28">
                  <c:v>39539</c:v>
                </c:pt>
                <c:pt idx="29">
                  <c:v>39569</c:v>
                </c:pt>
                <c:pt idx="30">
                  <c:v>39600</c:v>
                </c:pt>
                <c:pt idx="31">
                  <c:v>39630</c:v>
                </c:pt>
                <c:pt idx="32">
                  <c:v>39661</c:v>
                </c:pt>
                <c:pt idx="33">
                  <c:v>39692</c:v>
                </c:pt>
                <c:pt idx="34">
                  <c:v>39722</c:v>
                </c:pt>
                <c:pt idx="35">
                  <c:v>39753</c:v>
                </c:pt>
                <c:pt idx="36">
                  <c:v>39783</c:v>
                </c:pt>
                <c:pt idx="37">
                  <c:v>39814</c:v>
                </c:pt>
                <c:pt idx="38">
                  <c:v>39845</c:v>
                </c:pt>
                <c:pt idx="39">
                  <c:v>39873</c:v>
                </c:pt>
                <c:pt idx="40">
                  <c:v>39904</c:v>
                </c:pt>
                <c:pt idx="41">
                  <c:v>39934</c:v>
                </c:pt>
                <c:pt idx="42">
                  <c:v>39965</c:v>
                </c:pt>
                <c:pt idx="43">
                  <c:v>39995</c:v>
                </c:pt>
                <c:pt idx="44">
                  <c:v>40026</c:v>
                </c:pt>
                <c:pt idx="45">
                  <c:v>40057</c:v>
                </c:pt>
                <c:pt idx="46">
                  <c:v>40087</c:v>
                </c:pt>
                <c:pt idx="47">
                  <c:v>40118</c:v>
                </c:pt>
                <c:pt idx="48">
                  <c:v>40148</c:v>
                </c:pt>
                <c:pt idx="49">
                  <c:v>40179</c:v>
                </c:pt>
                <c:pt idx="50">
                  <c:v>40210</c:v>
                </c:pt>
                <c:pt idx="51">
                  <c:v>40238</c:v>
                </c:pt>
                <c:pt idx="52">
                  <c:v>40269</c:v>
                </c:pt>
                <c:pt idx="53">
                  <c:v>40299</c:v>
                </c:pt>
                <c:pt idx="54">
                  <c:v>40330</c:v>
                </c:pt>
                <c:pt idx="55">
                  <c:v>40360</c:v>
                </c:pt>
                <c:pt idx="56">
                  <c:v>40391</c:v>
                </c:pt>
                <c:pt idx="57">
                  <c:v>40422</c:v>
                </c:pt>
                <c:pt idx="58">
                  <c:v>40452</c:v>
                </c:pt>
                <c:pt idx="59">
                  <c:v>40483</c:v>
                </c:pt>
                <c:pt idx="60">
                  <c:v>40513</c:v>
                </c:pt>
                <c:pt idx="61">
                  <c:v>40544</c:v>
                </c:pt>
                <c:pt idx="62">
                  <c:v>40575</c:v>
                </c:pt>
                <c:pt idx="63">
                  <c:v>40603</c:v>
                </c:pt>
                <c:pt idx="64">
                  <c:v>40634</c:v>
                </c:pt>
                <c:pt idx="65">
                  <c:v>40664</c:v>
                </c:pt>
                <c:pt idx="66">
                  <c:v>40695</c:v>
                </c:pt>
                <c:pt idx="67">
                  <c:v>40725</c:v>
                </c:pt>
                <c:pt idx="68">
                  <c:v>40756</c:v>
                </c:pt>
                <c:pt idx="69">
                  <c:v>40787</c:v>
                </c:pt>
                <c:pt idx="70">
                  <c:v>40817</c:v>
                </c:pt>
                <c:pt idx="71">
                  <c:v>40848</c:v>
                </c:pt>
                <c:pt idx="72">
                  <c:v>40878</c:v>
                </c:pt>
                <c:pt idx="73">
                  <c:v>40909</c:v>
                </c:pt>
                <c:pt idx="74">
                  <c:v>40940</c:v>
                </c:pt>
                <c:pt idx="75">
                  <c:v>40969</c:v>
                </c:pt>
                <c:pt idx="76">
                  <c:v>41000</c:v>
                </c:pt>
                <c:pt idx="77">
                  <c:v>41030</c:v>
                </c:pt>
                <c:pt idx="78">
                  <c:v>41061</c:v>
                </c:pt>
                <c:pt idx="79">
                  <c:v>41091</c:v>
                </c:pt>
                <c:pt idx="80">
                  <c:v>41122</c:v>
                </c:pt>
                <c:pt idx="81">
                  <c:v>41153</c:v>
                </c:pt>
                <c:pt idx="82">
                  <c:v>41183</c:v>
                </c:pt>
                <c:pt idx="83">
                  <c:v>41214</c:v>
                </c:pt>
                <c:pt idx="84">
                  <c:v>41244</c:v>
                </c:pt>
                <c:pt idx="85">
                  <c:v>41275</c:v>
                </c:pt>
                <c:pt idx="86">
                  <c:v>41306</c:v>
                </c:pt>
                <c:pt idx="87">
                  <c:v>41334</c:v>
                </c:pt>
                <c:pt idx="88">
                  <c:v>41365</c:v>
                </c:pt>
                <c:pt idx="89">
                  <c:v>41395</c:v>
                </c:pt>
                <c:pt idx="90">
                  <c:v>41426</c:v>
                </c:pt>
                <c:pt idx="91">
                  <c:v>41456</c:v>
                </c:pt>
                <c:pt idx="92">
                  <c:v>41487</c:v>
                </c:pt>
                <c:pt idx="93">
                  <c:v>41518</c:v>
                </c:pt>
                <c:pt idx="94">
                  <c:v>41548</c:v>
                </c:pt>
                <c:pt idx="95">
                  <c:v>41579</c:v>
                </c:pt>
                <c:pt idx="96">
                  <c:v>41609</c:v>
                </c:pt>
                <c:pt idx="97">
                  <c:v>41640</c:v>
                </c:pt>
                <c:pt idx="98">
                  <c:v>41671</c:v>
                </c:pt>
                <c:pt idx="99">
                  <c:v>41699</c:v>
                </c:pt>
                <c:pt idx="100">
                  <c:v>41730</c:v>
                </c:pt>
                <c:pt idx="101">
                  <c:v>41760</c:v>
                </c:pt>
                <c:pt idx="102">
                  <c:v>41791</c:v>
                </c:pt>
                <c:pt idx="103">
                  <c:v>41821</c:v>
                </c:pt>
                <c:pt idx="104">
                  <c:v>41852</c:v>
                </c:pt>
                <c:pt idx="105">
                  <c:v>41883</c:v>
                </c:pt>
                <c:pt idx="106">
                  <c:v>41913</c:v>
                </c:pt>
                <c:pt idx="107">
                  <c:v>41944</c:v>
                </c:pt>
                <c:pt idx="108">
                  <c:v>41974</c:v>
                </c:pt>
                <c:pt idx="109">
                  <c:v>42005</c:v>
                </c:pt>
                <c:pt idx="110">
                  <c:v>42036</c:v>
                </c:pt>
                <c:pt idx="111">
                  <c:v>42064</c:v>
                </c:pt>
                <c:pt idx="112">
                  <c:v>42095</c:v>
                </c:pt>
                <c:pt idx="113">
                  <c:v>42125</c:v>
                </c:pt>
                <c:pt idx="114">
                  <c:v>42156</c:v>
                </c:pt>
                <c:pt idx="115">
                  <c:v>42186</c:v>
                </c:pt>
                <c:pt idx="116">
                  <c:v>42217</c:v>
                </c:pt>
                <c:pt idx="117">
                  <c:v>42248</c:v>
                </c:pt>
                <c:pt idx="118">
                  <c:v>42278</c:v>
                </c:pt>
                <c:pt idx="119">
                  <c:v>42309</c:v>
                </c:pt>
                <c:pt idx="120">
                  <c:v>42339</c:v>
                </c:pt>
                <c:pt idx="121">
                  <c:v>42370</c:v>
                </c:pt>
              </c:numCache>
            </c:numRef>
          </c:cat>
          <c:val>
            <c:numRef>
              <c:f>Sheet1!$F$2:$F$123</c:f>
              <c:numCache>
                <c:formatCode>General</c:formatCode>
                <c:ptCount val="122"/>
                <c:pt idx="98">
                  <c:v>433</c:v>
                </c:pt>
                <c:pt idx="99">
                  <c:v>7802</c:v>
                </c:pt>
                <c:pt idx="100">
                  <c:v>13317</c:v>
                </c:pt>
                <c:pt idx="101">
                  <c:v>13013</c:v>
                </c:pt>
                <c:pt idx="102">
                  <c:v>14294</c:v>
                </c:pt>
                <c:pt idx="103">
                  <c:v>13253</c:v>
                </c:pt>
                <c:pt idx="104">
                  <c:v>15355</c:v>
                </c:pt>
                <c:pt idx="105">
                  <c:v>16781</c:v>
                </c:pt>
                <c:pt idx="106">
                  <c:v>18205</c:v>
                </c:pt>
                <c:pt idx="107">
                  <c:v>17771</c:v>
                </c:pt>
                <c:pt idx="108">
                  <c:v>20639</c:v>
                </c:pt>
                <c:pt idx="109">
                  <c:v>20018</c:v>
                </c:pt>
                <c:pt idx="110">
                  <c:v>26307</c:v>
                </c:pt>
                <c:pt idx="111">
                  <c:v>27603</c:v>
                </c:pt>
                <c:pt idx="112">
                  <c:v>38841</c:v>
                </c:pt>
                <c:pt idx="113">
                  <c:v>32819</c:v>
                </c:pt>
                <c:pt idx="114">
                  <c:v>29652</c:v>
                </c:pt>
                <c:pt idx="115">
                  <c:v>24711</c:v>
                </c:pt>
                <c:pt idx="116">
                  <c:v>17994</c:v>
                </c:pt>
                <c:pt idx="117">
                  <c:v>18141</c:v>
                </c:pt>
                <c:pt idx="118">
                  <c:v>17495</c:v>
                </c:pt>
                <c:pt idx="119">
                  <c:v>17242</c:v>
                </c:pt>
                <c:pt idx="120">
                  <c:v>17651</c:v>
                </c:pt>
                <c:pt idx="121">
                  <c:v>10736</c:v>
                </c:pt>
              </c:numCache>
            </c:numRef>
          </c:val>
        </c:ser>
        <c:dLbls>
          <c:showLegendKey val="0"/>
          <c:showVal val="0"/>
          <c:showCatName val="0"/>
          <c:showSerName val="0"/>
          <c:showPercent val="0"/>
          <c:showBubbleSize val="0"/>
        </c:dLbls>
        <c:axId val="140089600"/>
        <c:axId val="140099584"/>
      </c:areaChart>
      <c:dateAx>
        <c:axId val="140089600"/>
        <c:scaling>
          <c:orientation val="minMax"/>
        </c:scaling>
        <c:delete val="0"/>
        <c:axPos val="b"/>
        <c:numFmt formatCode="m/d/yyyy" sourceLinked="1"/>
        <c:majorTickMark val="out"/>
        <c:minorTickMark val="none"/>
        <c:tickLblPos val="nextTo"/>
        <c:crossAx val="140099584"/>
        <c:crosses val="autoZero"/>
        <c:auto val="1"/>
        <c:lblOffset val="100"/>
        <c:baseTimeUnit val="months"/>
        <c:majorUnit val="12"/>
        <c:majorTimeUnit val="months"/>
      </c:dateAx>
      <c:valAx>
        <c:axId val="140099584"/>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140089600"/>
        <c:crosses val="autoZero"/>
        <c:crossBetween val="midCat"/>
      </c:valAx>
    </c:plotArea>
    <c:plotVisOnly val="1"/>
    <c:dispBlanksAs val="zero"/>
    <c:showDLblsOverMax val="0"/>
  </c:chart>
  <c:txPr>
    <a:bodyPr/>
    <a:lstStyle/>
    <a:p>
      <a:pPr>
        <a:defRPr sz="1000"/>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Exclude</a:t>
            </a:r>
            <a:r>
              <a:rPr lang="en-US" baseline="0" dirty="0" smtClean="0"/>
              <a:t> Cash-out </a:t>
            </a:r>
            <a:r>
              <a:rPr lang="en-US" baseline="0" dirty="0" err="1" smtClean="0"/>
              <a:t>refis</a:t>
            </a:r>
            <a:r>
              <a:rPr lang="en-US" dirty="0" smtClean="0"/>
              <a:t> </a:t>
            </a:r>
            <a:r>
              <a:rPr lang="en-US" dirty="0"/>
              <a:t>(All </a:t>
            </a:r>
            <a:r>
              <a:rPr lang="en-US" dirty="0" smtClean="0"/>
              <a:t>Periods)</a:t>
            </a:r>
            <a:endParaRPr lang="en-US" dirty="0"/>
          </a:p>
        </c:rich>
      </c:tx>
      <c:layout/>
      <c:overlay val="0"/>
    </c:title>
    <c:autoTitleDeleted val="0"/>
    <c:plotArea>
      <c:layout/>
      <c:barChart>
        <c:barDir val="col"/>
        <c:grouping val="stacked"/>
        <c:varyColors val="0"/>
        <c:ser>
          <c:idx val="0"/>
          <c:order val="0"/>
          <c:invertIfNegative val="0"/>
          <c:dPt>
            <c:idx val="3"/>
            <c:invertIfNegative val="0"/>
            <c:bubble3D val="0"/>
            <c:spPr>
              <a:solidFill>
                <a:schemeClr val="bg2">
                  <a:lumMod val="75000"/>
                </a:schemeClr>
              </a:solidFill>
            </c:spPr>
          </c:dPt>
          <c:dLbls>
            <c:dLbl>
              <c:idx val="3"/>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Sheet3!$B$68:$B$72</c:f>
              <c:strCache>
                <c:ptCount val="5"/>
                <c:pt idx="0">
                  <c:v>N/A</c:v>
                </c:pt>
                <c:pt idx="1">
                  <c:v>&lt; 2009-06</c:v>
                </c:pt>
                <c:pt idx="2">
                  <c:v>NON-HARPed</c:v>
                </c:pt>
                <c:pt idx="3">
                  <c:v>HARPed</c:v>
                </c:pt>
                <c:pt idx="4">
                  <c:v>Unknown</c:v>
                </c:pt>
              </c:strCache>
            </c:strRef>
          </c:cat>
          <c:val>
            <c:numRef>
              <c:f>Sheet3!$C$68:$C$72</c:f>
              <c:numCache>
                <c:formatCode>_(* #,##0.00_);_(* \(#,##0.00\);_(* "-"??_);_(@_)</c:formatCode>
                <c:ptCount val="5"/>
                <c:pt idx="0">
                  <c:v>7769037</c:v>
                </c:pt>
                <c:pt idx="1">
                  <c:v>1071585</c:v>
                </c:pt>
                <c:pt idx="2">
                  <c:v>1506286</c:v>
                </c:pt>
                <c:pt idx="3">
                  <c:v>1261952</c:v>
                </c:pt>
                <c:pt idx="4">
                  <c:v>464782</c:v>
                </c:pt>
              </c:numCache>
            </c:numRef>
          </c:val>
        </c:ser>
        <c:dLbls>
          <c:dLblPos val="ctr"/>
          <c:showLegendKey val="0"/>
          <c:showVal val="1"/>
          <c:showCatName val="0"/>
          <c:showSerName val="0"/>
          <c:showPercent val="0"/>
          <c:showBubbleSize val="0"/>
        </c:dLbls>
        <c:gapWidth val="150"/>
        <c:overlap val="100"/>
        <c:axId val="160721536"/>
        <c:axId val="160723328"/>
      </c:barChart>
      <c:catAx>
        <c:axId val="160721536"/>
        <c:scaling>
          <c:orientation val="minMax"/>
        </c:scaling>
        <c:delete val="0"/>
        <c:axPos val="b"/>
        <c:majorTickMark val="out"/>
        <c:minorTickMark val="none"/>
        <c:tickLblPos val="nextTo"/>
        <c:crossAx val="160723328"/>
        <c:crosses val="autoZero"/>
        <c:auto val="1"/>
        <c:lblAlgn val="ctr"/>
        <c:lblOffset val="100"/>
        <c:noMultiLvlLbl val="0"/>
      </c:catAx>
      <c:valAx>
        <c:axId val="160723328"/>
        <c:scaling>
          <c:orientation val="minMax"/>
        </c:scaling>
        <c:delete val="0"/>
        <c:axPos val="l"/>
        <c:majorGridlines/>
        <c:numFmt formatCode="_(* #,##0_);_(* \(#,##0\);_(* &quot;-&quot;_);_(@_)" sourceLinked="0"/>
        <c:majorTickMark val="out"/>
        <c:minorTickMark val="none"/>
        <c:tickLblPos val="nextTo"/>
        <c:crossAx val="160721536"/>
        <c:crosses val="autoZero"/>
        <c:crossBetween val="between"/>
        <c:dispUnits>
          <c:builtInUnit val="million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Include</a:t>
            </a:r>
            <a:r>
              <a:rPr lang="en-US" baseline="0" dirty="0" smtClean="0"/>
              <a:t> Cash-out </a:t>
            </a:r>
            <a:r>
              <a:rPr lang="en-US" baseline="0" dirty="0" err="1" smtClean="0"/>
              <a:t>refis</a:t>
            </a:r>
            <a:r>
              <a:rPr lang="en-US" dirty="0" smtClean="0"/>
              <a:t> </a:t>
            </a:r>
            <a:r>
              <a:rPr lang="en-US" dirty="0"/>
              <a:t>(All </a:t>
            </a:r>
            <a:r>
              <a:rPr lang="en-US" dirty="0" smtClean="0"/>
              <a:t>Periods)</a:t>
            </a:r>
            <a:endParaRPr lang="en-US" dirty="0"/>
          </a:p>
        </c:rich>
      </c:tx>
      <c:layout/>
      <c:overlay val="0"/>
    </c:title>
    <c:autoTitleDeleted val="0"/>
    <c:plotArea>
      <c:layout/>
      <c:barChart>
        <c:barDir val="col"/>
        <c:grouping val="clustered"/>
        <c:varyColors val="0"/>
        <c:ser>
          <c:idx val="0"/>
          <c:order val="0"/>
          <c:invertIfNegative val="0"/>
          <c:dPt>
            <c:idx val="3"/>
            <c:invertIfNegative val="0"/>
            <c:bubble3D val="0"/>
            <c:spPr>
              <a:solidFill>
                <a:schemeClr val="bg2">
                  <a:lumMod val="75000"/>
                </a:schemeClr>
              </a:solidFill>
            </c:spPr>
          </c:dPt>
          <c:dLbls>
            <c:dLbl>
              <c:idx val="3"/>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Sheet3!$F$68:$F$72</c:f>
              <c:strCache>
                <c:ptCount val="5"/>
                <c:pt idx="0">
                  <c:v>N/A</c:v>
                </c:pt>
                <c:pt idx="1">
                  <c:v>&lt; 2009-06</c:v>
                </c:pt>
                <c:pt idx="2">
                  <c:v>NON-HARPed</c:v>
                </c:pt>
                <c:pt idx="3">
                  <c:v>HARPed</c:v>
                </c:pt>
                <c:pt idx="4">
                  <c:v>Unknown</c:v>
                </c:pt>
              </c:strCache>
            </c:strRef>
          </c:cat>
          <c:val>
            <c:numRef>
              <c:f>Sheet3!$G$68:$G$72</c:f>
              <c:numCache>
                <c:formatCode>_(* #,##0.00_);_(* \(#,##0.00\);_(* "-"??_);_(@_)</c:formatCode>
                <c:ptCount val="5"/>
                <c:pt idx="0">
                  <c:v>4968713</c:v>
                </c:pt>
                <c:pt idx="1">
                  <c:v>2623503</c:v>
                </c:pt>
                <c:pt idx="2">
                  <c:v>2450387</c:v>
                </c:pt>
                <c:pt idx="3">
                  <c:v>1268450</c:v>
                </c:pt>
                <c:pt idx="4">
                  <c:v>762589</c:v>
                </c:pt>
              </c:numCache>
            </c:numRef>
          </c:val>
        </c:ser>
        <c:dLbls>
          <c:showLegendKey val="0"/>
          <c:showVal val="0"/>
          <c:showCatName val="0"/>
          <c:showSerName val="0"/>
          <c:showPercent val="0"/>
          <c:showBubbleSize val="0"/>
        </c:dLbls>
        <c:gapWidth val="150"/>
        <c:axId val="160757248"/>
        <c:axId val="160758784"/>
      </c:barChart>
      <c:catAx>
        <c:axId val="160757248"/>
        <c:scaling>
          <c:orientation val="minMax"/>
        </c:scaling>
        <c:delete val="0"/>
        <c:axPos val="b"/>
        <c:majorTickMark val="out"/>
        <c:minorTickMark val="none"/>
        <c:tickLblPos val="nextTo"/>
        <c:crossAx val="160758784"/>
        <c:crosses val="autoZero"/>
        <c:auto val="1"/>
        <c:lblAlgn val="ctr"/>
        <c:lblOffset val="100"/>
        <c:noMultiLvlLbl val="0"/>
      </c:catAx>
      <c:valAx>
        <c:axId val="160758784"/>
        <c:scaling>
          <c:orientation val="minMax"/>
          <c:max val="9000000"/>
        </c:scaling>
        <c:delete val="0"/>
        <c:axPos val="l"/>
        <c:majorGridlines/>
        <c:numFmt formatCode="_(* #,##0_);_(* \(#,##0\);_(* &quot;-&quot;_);_(@_)" sourceLinked="0"/>
        <c:majorTickMark val="out"/>
        <c:minorTickMark val="none"/>
        <c:tickLblPos val="nextTo"/>
        <c:crossAx val="160757248"/>
        <c:crosses val="autoZero"/>
        <c:crossBetween val="between"/>
        <c:dispUnits>
          <c:builtInUnit val="million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Exclude</a:t>
            </a:r>
            <a:r>
              <a:rPr lang="en-US" baseline="0" dirty="0" smtClean="0"/>
              <a:t> Cash-out </a:t>
            </a:r>
            <a:r>
              <a:rPr lang="en-US" baseline="0" dirty="0" err="1" smtClean="0"/>
              <a:t>refis</a:t>
            </a:r>
            <a:r>
              <a:rPr lang="en-US" dirty="0" smtClean="0"/>
              <a:t> </a:t>
            </a:r>
            <a:r>
              <a:rPr lang="en-US" dirty="0"/>
              <a:t>(2013)</a:t>
            </a:r>
          </a:p>
        </c:rich>
      </c:tx>
      <c:layout/>
      <c:overlay val="0"/>
    </c:title>
    <c:autoTitleDeleted val="0"/>
    <c:plotArea>
      <c:layout/>
      <c:barChart>
        <c:barDir val="col"/>
        <c:grouping val="stacked"/>
        <c:varyColors val="0"/>
        <c:ser>
          <c:idx val="0"/>
          <c:order val="0"/>
          <c:invertIfNegative val="0"/>
          <c:dPt>
            <c:idx val="1"/>
            <c:invertIfNegative val="0"/>
            <c:bubble3D val="0"/>
            <c:spPr>
              <a:solidFill>
                <a:schemeClr val="bg2">
                  <a:lumMod val="75000"/>
                </a:schemeClr>
              </a:solidFill>
            </c:spPr>
          </c:dPt>
          <c:dLbls>
            <c:dLbl>
              <c:idx val="1"/>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Sheet3!$B$77:$B$79</c:f>
              <c:strCache>
                <c:ptCount val="3"/>
                <c:pt idx="0">
                  <c:v>N/A</c:v>
                </c:pt>
                <c:pt idx="1">
                  <c:v>NON-HARPed</c:v>
                </c:pt>
                <c:pt idx="2">
                  <c:v>HARPed</c:v>
                </c:pt>
              </c:strCache>
            </c:strRef>
          </c:cat>
          <c:val>
            <c:numRef>
              <c:f>Sheet3!$C$77:$C$79</c:f>
              <c:numCache>
                <c:formatCode>_(* #,##0.00_);_(* \(#,##0.00\);_(* "-"??_);_(@_)</c:formatCode>
                <c:ptCount val="3"/>
                <c:pt idx="0">
                  <c:v>545032</c:v>
                </c:pt>
                <c:pt idx="1">
                  <c:v>254757</c:v>
                </c:pt>
                <c:pt idx="2">
                  <c:v>291937</c:v>
                </c:pt>
              </c:numCache>
            </c:numRef>
          </c:val>
        </c:ser>
        <c:dLbls>
          <c:dLblPos val="ctr"/>
          <c:showLegendKey val="0"/>
          <c:showVal val="1"/>
          <c:showCatName val="0"/>
          <c:showSerName val="0"/>
          <c:showPercent val="0"/>
          <c:showBubbleSize val="0"/>
        </c:dLbls>
        <c:gapWidth val="150"/>
        <c:overlap val="100"/>
        <c:axId val="160792960"/>
        <c:axId val="160794496"/>
      </c:barChart>
      <c:catAx>
        <c:axId val="160792960"/>
        <c:scaling>
          <c:orientation val="minMax"/>
        </c:scaling>
        <c:delete val="0"/>
        <c:axPos val="b"/>
        <c:majorTickMark val="out"/>
        <c:minorTickMark val="none"/>
        <c:tickLblPos val="nextTo"/>
        <c:crossAx val="160794496"/>
        <c:crosses val="autoZero"/>
        <c:auto val="1"/>
        <c:lblAlgn val="ctr"/>
        <c:lblOffset val="100"/>
        <c:noMultiLvlLbl val="0"/>
      </c:catAx>
      <c:valAx>
        <c:axId val="160794496"/>
        <c:scaling>
          <c:orientation val="minMax"/>
        </c:scaling>
        <c:delete val="0"/>
        <c:axPos val="l"/>
        <c:majorGridlines/>
        <c:numFmt formatCode="_(* #,##0_);_(* \(#,##0\);_(* &quot;-&quot;_);_(@_)" sourceLinked="0"/>
        <c:majorTickMark val="out"/>
        <c:minorTickMark val="none"/>
        <c:tickLblPos val="nextTo"/>
        <c:crossAx val="160792960"/>
        <c:crosses val="autoZero"/>
        <c:crossBetween val="between"/>
        <c:dispUnits>
          <c:builtInUnit val="thousands"/>
          <c:dispUnitsLbl>
            <c:layout/>
          </c:dispUnitsLbl>
        </c:dispUnits>
      </c:valAx>
    </c:plotArea>
    <c:plotVisOnly val="1"/>
    <c:dispBlanksAs val="gap"/>
    <c:showDLblsOverMax val="0"/>
  </c:chart>
  <c:txPr>
    <a:bodyPr/>
    <a:lstStyle/>
    <a:p>
      <a:pPr>
        <a:defRPr sz="9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Include</a:t>
            </a:r>
            <a:r>
              <a:rPr lang="en-US" baseline="0" dirty="0" smtClean="0"/>
              <a:t> Cash-out </a:t>
            </a:r>
            <a:r>
              <a:rPr lang="en-US" baseline="0" dirty="0" err="1" smtClean="0"/>
              <a:t>refis</a:t>
            </a:r>
            <a:r>
              <a:rPr lang="en-US" dirty="0" smtClean="0"/>
              <a:t> </a:t>
            </a:r>
            <a:r>
              <a:rPr lang="en-US" dirty="0"/>
              <a:t>(2013)</a:t>
            </a:r>
          </a:p>
        </c:rich>
      </c:tx>
      <c:layout/>
      <c:overlay val="0"/>
    </c:title>
    <c:autoTitleDeleted val="0"/>
    <c:plotArea>
      <c:layout/>
      <c:barChart>
        <c:barDir val="col"/>
        <c:grouping val="clustered"/>
        <c:varyColors val="0"/>
        <c:ser>
          <c:idx val="0"/>
          <c:order val="0"/>
          <c:invertIfNegative val="0"/>
          <c:dPt>
            <c:idx val="1"/>
            <c:invertIfNegative val="0"/>
            <c:bubble3D val="0"/>
            <c:spPr>
              <a:solidFill>
                <a:schemeClr val="bg2">
                  <a:lumMod val="75000"/>
                </a:schemeClr>
              </a:solidFill>
            </c:spPr>
          </c:dPt>
          <c:dLbls>
            <c:dLbl>
              <c:idx val="1"/>
              <c:spPr/>
              <c:txPr>
                <a:bodyPr/>
                <a:lstStyle/>
                <a:p>
                  <a:pPr>
                    <a:defRPr>
                      <a:solidFill>
                        <a:schemeClr val="tx1"/>
                      </a:solidFill>
                    </a:defRPr>
                  </a:pPr>
                  <a:endParaRPr lang="en-US"/>
                </a:p>
              </c:txPr>
              <c:dLblPos val="ctr"/>
              <c:showLegendKey val="0"/>
              <c:showVal val="1"/>
              <c:showCatName val="0"/>
              <c:showSerName val="0"/>
              <c:showPercent val="0"/>
              <c:showBubbleSize val="0"/>
            </c:dLbl>
            <c:txPr>
              <a:bodyPr/>
              <a:lstStyle/>
              <a:p>
                <a:pPr>
                  <a:defRPr>
                    <a:solidFill>
                      <a:schemeClr val="bg1"/>
                    </a:solidFill>
                  </a:defRPr>
                </a:pPr>
                <a:endParaRPr lang="en-US"/>
              </a:p>
            </c:txPr>
            <c:dLblPos val="ctr"/>
            <c:showLegendKey val="0"/>
            <c:showVal val="1"/>
            <c:showCatName val="0"/>
            <c:showSerName val="0"/>
            <c:showPercent val="0"/>
            <c:showBubbleSize val="0"/>
            <c:showLeaderLines val="0"/>
          </c:dLbls>
          <c:cat>
            <c:strRef>
              <c:f>Sheet3!$F$77:$F$79</c:f>
              <c:strCache>
                <c:ptCount val="3"/>
                <c:pt idx="0">
                  <c:v>N/A</c:v>
                </c:pt>
                <c:pt idx="1">
                  <c:v>NON-HARPed</c:v>
                </c:pt>
                <c:pt idx="2">
                  <c:v>HARPed</c:v>
                </c:pt>
              </c:strCache>
            </c:strRef>
          </c:cat>
          <c:val>
            <c:numRef>
              <c:f>Sheet3!$G$77:$G$79</c:f>
              <c:numCache>
                <c:formatCode>_(* #,##0.00_);_(* \(#,##0.00\);_(* "-"??_);_(@_)</c:formatCode>
                <c:ptCount val="3"/>
                <c:pt idx="0">
                  <c:v>387414</c:v>
                </c:pt>
                <c:pt idx="1">
                  <c:v>255263</c:v>
                </c:pt>
                <c:pt idx="2">
                  <c:v>449049</c:v>
                </c:pt>
              </c:numCache>
            </c:numRef>
          </c:val>
        </c:ser>
        <c:dLbls>
          <c:showLegendKey val="0"/>
          <c:showVal val="0"/>
          <c:showCatName val="0"/>
          <c:showSerName val="0"/>
          <c:showPercent val="0"/>
          <c:showBubbleSize val="0"/>
        </c:dLbls>
        <c:gapWidth val="150"/>
        <c:axId val="160820224"/>
        <c:axId val="160822016"/>
      </c:barChart>
      <c:catAx>
        <c:axId val="160820224"/>
        <c:scaling>
          <c:orientation val="minMax"/>
        </c:scaling>
        <c:delete val="0"/>
        <c:axPos val="b"/>
        <c:majorTickMark val="out"/>
        <c:minorTickMark val="none"/>
        <c:tickLblPos val="nextTo"/>
        <c:crossAx val="160822016"/>
        <c:crosses val="autoZero"/>
        <c:auto val="1"/>
        <c:lblAlgn val="ctr"/>
        <c:lblOffset val="100"/>
        <c:noMultiLvlLbl val="0"/>
      </c:catAx>
      <c:valAx>
        <c:axId val="160822016"/>
        <c:scaling>
          <c:orientation val="minMax"/>
          <c:max val="600000"/>
        </c:scaling>
        <c:delete val="0"/>
        <c:axPos val="l"/>
        <c:majorGridlines/>
        <c:numFmt formatCode="_(* #,##0_);_(* \(#,##0\);_(* &quot;-&quot;_);_(@_)" sourceLinked="0"/>
        <c:majorTickMark val="out"/>
        <c:minorTickMark val="none"/>
        <c:tickLblPos val="nextTo"/>
        <c:crossAx val="160820224"/>
        <c:crosses val="autoZero"/>
        <c:crossBetween val="between"/>
        <c:dispUnits>
          <c:builtInUnit val="thousands"/>
        </c:dispUnits>
      </c:valAx>
    </c:plotArea>
    <c:plotVisOnly val="1"/>
    <c:dispBlanksAs val="gap"/>
    <c:showDLblsOverMax val="0"/>
  </c:chart>
  <c:txPr>
    <a:bodyPr/>
    <a:lstStyle/>
    <a:p>
      <a:pPr>
        <a:defRPr sz="9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Sheet5!$R$1</c:f>
              <c:strCache>
                <c:ptCount val="1"/>
                <c:pt idx="0">
                  <c:v>New</c:v>
                </c:pt>
              </c:strCache>
            </c:strRef>
          </c:tx>
          <c:invertIfNegative val="0"/>
          <c:cat>
            <c:numRef>
              <c:f>Sheet5!$Q$45:$Q$99</c:f>
              <c:numCache>
                <c:formatCode>m/d/yyyy</c:formatCode>
                <c:ptCount val="55"/>
                <c:pt idx="0">
                  <c:v>39995</c:v>
                </c:pt>
                <c:pt idx="1">
                  <c:v>40026</c:v>
                </c:pt>
                <c:pt idx="2">
                  <c:v>40057</c:v>
                </c:pt>
                <c:pt idx="3">
                  <c:v>40087</c:v>
                </c:pt>
                <c:pt idx="4">
                  <c:v>40118</c:v>
                </c:pt>
                <c:pt idx="5">
                  <c:v>40148</c:v>
                </c:pt>
                <c:pt idx="6">
                  <c:v>40179</c:v>
                </c:pt>
                <c:pt idx="7">
                  <c:v>40210</c:v>
                </c:pt>
                <c:pt idx="8">
                  <c:v>40238</c:v>
                </c:pt>
                <c:pt idx="9">
                  <c:v>40269</c:v>
                </c:pt>
                <c:pt idx="10">
                  <c:v>40299</c:v>
                </c:pt>
                <c:pt idx="11">
                  <c:v>40330</c:v>
                </c:pt>
                <c:pt idx="12">
                  <c:v>40360</c:v>
                </c:pt>
                <c:pt idx="13">
                  <c:v>40391</c:v>
                </c:pt>
                <c:pt idx="14">
                  <c:v>40422</c:v>
                </c:pt>
                <c:pt idx="15">
                  <c:v>40452</c:v>
                </c:pt>
                <c:pt idx="16">
                  <c:v>40483</c:v>
                </c:pt>
                <c:pt idx="17">
                  <c:v>40513</c:v>
                </c:pt>
                <c:pt idx="18">
                  <c:v>40544</c:v>
                </c:pt>
                <c:pt idx="19">
                  <c:v>40575</c:v>
                </c:pt>
                <c:pt idx="20">
                  <c:v>40603</c:v>
                </c:pt>
                <c:pt idx="21">
                  <c:v>40634</c:v>
                </c:pt>
                <c:pt idx="22">
                  <c:v>40664</c:v>
                </c:pt>
                <c:pt idx="23">
                  <c:v>40695</c:v>
                </c:pt>
                <c:pt idx="24">
                  <c:v>40725</c:v>
                </c:pt>
                <c:pt idx="25">
                  <c:v>40756</c:v>
                </c:pt>
                <c:pt idx="26">
                  <c:v>40787</c:v>
                </c:pt>
                <c:pt idx="27">
                  <c:v>40817</c:v>
                </c:pt>
                <c:pt idx="28">
                  <c:v>40848</c:v>
                </c:pt>
                <c:pt idx="29">
                  <c:v>40878</c:v>
                </c:pt>
                <c:pt idx="30">
                  <c:v>40909</c:v>
                </c:pt>
                <c:pt idx="31">
                  <c:v>40940</c:v>
                </c:pt>
                <c:pt idx="32">
                  <c:v>40969</c:v>
                </c:pt>
                <c:pt idx="33">
                  <c:v>41000</c:v>
                </c:pt>
                <c:pt idx="34">
                  <c:v>41030</c:v>
                </c:pt>
                <c:pt idx="35">
                  <c:v>41061</c:v>
                </c:pt>
                <c:pt idx="36">
                  <c:v>41091</c:v>
                </c:pt>
                <c:pt idx="37">
                  <c:v>41122</c:v>
                </c:pt>
                <c:pt idx="38">
                  <c:v>41153</c:v>
                </c:pt>
                <c:pt idx="39">
                  <c:v>41183</c:v>
                </c:pt>
                <c:pt idx="40">
                  <c:v>41214</c:v>
                </c:pt>
                <c:pt idx="41">
                  <c:v>41244</c:v>
                </c:pt>
                <c:pt idx="42">
                  <c:v>41275</c:v>
                </c:pt>
                <c:pt idx="43">
                  <c:v>41306</c:v>
                </c:pt>
                <c:pt idx="44">
                  <c:v>41334</c:v>
                </c:pt>
                <c:pt idx="45">
                  <c:v>41365</c:v>
                </c:pt>
                <c:pt idx="46">
                  <c:v>41395</c:v>
                </c:pt>
                <c:pt idx="47">
                  <c:v>41426</c:v>
                </c:pt>
                <c:pt idx="48">
                  <c:v>41456</c:v>
                </c:pt>
                <c:pt idx="49">
                  <c:v>41487</c:v>
                </c:pt>
                <c:pt idx="50">
                  <c:v>41518</c:v>
                </c:pt>
                <c:pt idx="51">
                  <c:v>41548</c:v>
                </c:pt>
                <c:pt idx="52">
                  <c:v>41579</c:v>
                </c:pt>
                <c:pt idx="53">
                  <c:v>41609</c:v>
                </c:pt>
                <c:pt idx="54">
                  <c:v>41640</c:v>
                </c:pt>
              </c:numCache>
            </c:numRef>
          </c:cat>
          <c:val>
            <c:numRef>
              <c:f>Sheet5!$R$45:$R$99</c:f>
              <c:numCache>
                <c:formatCode>General</c:formatCode>
                <c:ptCount val="55"/>
                <c:pt idx="0">
                  <c:v>22075</c:v>
                </c:pt>
                <c:pt idx="1">
                  <c:v>25210</c:v>
                </c:pt>
                <c:pt idx="2">
                  <c:v>15667</c:v>
                </c:pt>
                <c:pt idx="3">
                  <c:v>12098</c:v>
                </c:pt>
                <c:pt idx="4">
                  <c:v>16580</c:v>
                </c:pt>
                <c:pt idx="5">
                  <c:v>25493</c:v>
                </c:pt>
                <c:pt idx="6">
                  <c:v>24649</c:v>
                </c:pt>
                <c:pt idx="7">
                  <c:v>26299</c:v>
                </c:pt>
                <c:pt idx="8">
                  <c:v>21183</c:v>
                </c:pt>
                <c:pt idx="9">
                  <c:v>19513</c:v>
                </c:pt>
                <c:pt idx="10">
                  <c:v>17575</c:v>
                </c:pt>
                <c:pt idx="11">
                  <c:v>19523</c:v>
                </c:pt>
                <c:pt idx="12">
                  <c:v>19158</c:v>
                </c:pt>
                <c:pt idx="13">
                  <c:v>20121</c:v>
                </c:pt>
                <c:pt idx="14">
                  <c:v>38354</c:v>
                </c:pt>
                <c:pt idx="15">
                  <c:v>36203</c:v>
                </c:pt>
                <c:pt idx="16">
                  <c:v>39308</c:v>
                </c:pt>
                <c:pt idx="17">
                  <c:v>45723</c:v>
                </c:pt>
                <c:pt idx="18">
                  <c:v>31180</c:v>
                </c:pt>
                <c:pt idx="19">
                  <c:v>36604</c:v>
                </c:pt>
                <c:pt idx="20">
                  <c:v>19980</c:v>
                </c:pt>
                <c:pt idx="21">
                  <c:v>18800</c:v>
                </c:pt>
                <c:pt idx="22">
                  <c:v>12820</c:v>
                </c:pt>
                <c:pt idx="23">
                  <c:v>12588</c:v>
                </c:pt>
                <c:pt idx="24">
                  <c:v>11579</c:v>
                </c:pt>
                <c:pt idx="25">
                  <c:v>13279</c:v>
                </c:pt>
                <c:pt idx="26">
                  <c:v>15550</c:v>
                </c:pt>
                <c:pt idx="27">
                  <c:v>16474</c:v>
                </c:pt>
                <c:pt idx="28">
                  <c:v>15358</c:v>
                </c:pt>
                <c:pt idx="29">
                  <c:v>17850</c:v>
                </c:pt>
                <c:pt idx="30">
                  <c:v>21469</c:v>
                </c:pt>
                <c:pt idx="31">
                  <c:v>19436</c:v>
                </c:pt>
                <c:pt idx="32">
                  <c:v>29010</c:v>
                </c:pt>
                <c:pt idx="33">
                  <c:v>18814</c:v>
                </c:pt>
                <c:pt idx="34">
                  <c:v>22353</c:v>
                </c:pt>
                <c:pt idx="35">
                  <c:v>23679</c:v>
                </c:pt>
                <c:pt idx="36">
                  <c:v>21930</c:v>
                </c:pt>
                <c:pt idx="37">
                  <c:v>25715</c:v>
                </c:pt>
                <c:pt idx="38">
                  <c:v>20098</c:v>
                </c:pt>
                <c:pt idx="39">
                  <c:v>23340</c:v>
                </c:pt>
                <c:pt idx="40">
                  <c:v>40576</c:v>
                </c:pt>
                <c:pt idx="41">
                  <c:v>16073</c:v>
                </c:pt>
                <c:pt idx="42">
                  <c:v>31891</c:v>
                </c:pt>
                <c:pt idx="43">
                  <c:v>28858</c:v>
                </c:pt>
                <c:pt idx="44">
                  <c:v>30621</c:v>
                </c:pt>
                <c:pt idx="45">
                  <c:v>33414</c:v>
                </c:pt>
                <c:pt idx="46">
                  <c:v>28554</c:v>
                </c:pt>
                <c:pt idx="47">
                  <c:v>30201</c:v>
                </c:pt>
                <c:pt idx="48">
                  <c:v>22463</c:v>
                </c:pt>
                <c:pt idx="49">
                  <c:v>18785</c:v>
                </c:pt>
                <c:pt idx="50">
                  <c:v>16394</c:v>
                </c:pt>
                <c:pt idx="51">
                  <c:v>13595</c:v>
                </c:pt>
                <c:pt idx="52">
                  <c:v>12144</c:v>
                </c:pt>
                <c:pt idx="53">
                  <c:v>8436</c:v>
                </c:pt>
                <c:pt idx="54">
                  <c:v>10673</c:v>
                </c:pt>
              </c:numCache>
            </c:numRef>
          </c:val>
        </c:ser>
        <c:ser>
          <c:idx val="1"/>
          <c:order val="1"/>
          <c:tx>
            <c:strRef>
              <c:f>Sheet5!$S$1</c:f>
              <c:strCache>
                <c:ptCount val="1"/>
                <c:pt idx="0">
                  <c:v>Old</c:v>
                </c:pt>
              </c:strCache>
            </c:strRef>
          </c:tx>
          <c:spPr>
            <a:solidFill>
              <a:schemeClr val="bg2">
                <a:lumMod val="75000"/>
              </a:schemeClr>
            </a:solidFill>
          </c:spPr>
          <c:invertIfNegative val="0"/>
          <c:cat>
            <c:numRef>
              <c:f>Sheet5!$Q$45:$Q$99</c:f>
              <c:numCache>
                <c:formatCode>m/d/yyyy</c:formatCode>
                <c:ptCount val="55"/>
                <c:pt idx="0">
                  <c:v>39995</c:v>
                </c:pt>
                <c:pt idx="1">
                  <c:v>40026</c:v>
                </c:pt>
                <c:pt idx="2">
                  <c:v>40057</c:v>
                </c:pt>
                <c:pt idx="3">
                  <c:v>40087</c:v>
                </c:pt>
                <c:pt idx="4">
                  <c:v>40118</c:v>
                </c:pt>
                <c:pt idx="5">
                  <c:v>40148</c:v>
                </c:pt>
                <c:pt idx="6">
                  <c:v>40179</c:v>
                </c:pt>
                <c:pt idx="7">
                  <c:v>40210</c:v>
                </c:pt>
                <c:pt idx="8">
                  <c:v>40238</c:v>
                </c:pt>
                <c:pt idx="9">
                  <c:v>40269</c:v>
                </c:pt>
                <c:pt idx="10">
                  <c:v>40299</c:v>
                </c:pt>
                <c:pt idx="11">
                  <c:v>40330</c:v>
                </c:pt>
                <c:pt idx="12">
                  <c:v>40360</c:v>
                </c:pt>
                <c:pt idx="13">
                  <c:v>40391</c:v>
                </c:pt>
                <c:pt idx="14">
                  <c:v>40422</c:v>
                </c:pt>
                <c:pt idx="15">
                  <c:v>40452</c:v>
                </c:pt>
                <c:pt idx="16">
                  <c:v>40483</c:v>
                </c:pt>
                <c:pt idx="17">
                  <c:v>40513</c:v>
                </c:pt>
                <c:pt idx="18">
                  <c:v>40544</c:v>
                </c:pt>
                <c:pt idx="19">
                  <c:v>40575</c:v>
                </c:pt>
                <c:pt idx="20">
                  <c:v>40603</c:v>
                </c:pt>
                <c:pt idx="21">
                  <c:v>40634</c:v>
                </c:pt>
                <c:pt idx="22">
                  <c:v>40664</c:v>
                </c:pt>
                <c:pt idx="23">
                  <c:v>40695</c:v>
                </c:pt>
                <c:pt idx="24">
                  <c:v>40725</c:v>
                </c:pt>
                <c:pt idx="25">
                  <c:v>40756</c:v>
                </c:pt>
                <c:pt idx="26">
                  <c:v>40787</c:v>
                </c:pt>
                <c:pt idx="27">
                  <c:v>40817</c:v>
                </c:pt>
                <c:pt idx="28">
                  <c:v>40848</c:v>
                </c:pt>
                <c:pt idx="29">
                  <c:v>40878</c:v>
                </c:pt>
                <c:pt idx="30">
                  <c:v>40909</c:v>
                </c:pt>
                <c:pt idx="31">
                  <c:v>40940</c:v>
                </c:pt>
                <c:pt idx="32">
                  <c:v>40969</c:v>
                </c:pt>
                <c:pt idx="33">
                  <c:v>41000</c:v>
                </c:pt>
                <c:pt idx="34">
                  <c:v>41030</c:v>
                </c:pt>
                <c:pt idx="35">
                  <c:v>41061</c:v>
                </c:pt>
                <c:pt idx="36">
                  <c:v>41091</c:v>
                </c:pt>
                <c:pt idx="37">
                  <c:v>41122</c:v>
                </c:pt>
                <c:pt idx="38">
                  <c:v>41153</c:v>
                </c:pt>
                <c:pt idx="39">
                  <c:v>41183</c:v>
                </c:pt>
                <c:pt idx="40">
                  <c:v>41214</c:v>
                </c:pt>
                <c:pt idx="41">
                  <c:v>41244</c:v>
                </c:pt>
                <c:pt idx="42">
                  <c:v>41275</c:v>
                </c:pt>
                <c:pt idx="43">
                  <c:v>41306</c:v>
                </c:pt>
                <c:pt idx="44">
                  <c:v>41334</c:v>
                </c:pt>
                <c:pt idx="45">
                  <c:v>41365</c:v>
                </c:pt>
                <c:pt idx="46">
                  <c:v>41395</c:v>
                </c:pt>
                <c:pt idx="47">
                  <c:v>41426</c:v>
                </c:pt>
                <c:pt idx="48">
                  <c:v>41456</c:v>
                </c:pt>
                <c:pt idx="49">
                  <c:v>41487</c:v>
                </c:pt>
                <c:pt idx="50">
                  <c:v>41518</c:v>
                </c:pt>
                <c:pt idx="51">
                  <c:v>41548</c:v>
                </c:pt>
                <c:pt idx="52">
                  <c:v>41579</c:v>
                </c:pt>
                <c:pt idx="53">
                  <c:v>41609</c:v>
                </c:pt>
                <c:pt idx="54">
                  <c:v>41640</c:v>
                </c:pt>
              </c:numCache>
            </c:numRef>
          </c:cat>
          <c:val>
            <c:numRef>
              <c:f>Sheet5!$S$45:$S$99</c:f>
              <c:numCache>
                <c:formatCode>General</c:formatCode>
                <c:ptCount val="55"/>
                <c:pt idx="0">
                  <c:v>14498</c:v>
                </c:pt>
                <c:pt idx="1">
                  <c:v>16086</c:v>
                </c:pt>
                <c:pt idx="2">
                  <c:v>8996</c:v>
                </c:pt>
                <c:pt idx="3">
                  <c:v>6341</c:v>
                </c:pt>
                <c:pt idx="4">
                  <c:v>8103</c:v>
                </c:pt>
                <c:pt idx="5">
                  <c:v>12795</c:v>
                </c:pt>
                <c:pt idx="6">
                  <c:v>12696</c:v>
                </c:pt>
                <c:pt idx="7">
                  <c:v>13514</c:v>
                </c:pt>
                <c:pt idx="8">
                  <c:v>11773</c:v>
                </c:pt>
                <c:pt idx="9">
                  <c:v>10346</c:v>
                </c:pt>
                <c:pt idx="10">
                  <c:v>9171</c:v>
                </c:pt>
                <c:pt idx="11">
                  <c:v>10433</c:v>
                </c:pt>
                <c:pt idx="12">
                  <c:v>9017</c:v>
                </c:pt>
                <c:pt idx="13">
                  <c:v>9218</c:v>
                </c:pt>
                <c:pt idx="14">
                  <c:v>16012</c:v>
                </c:pt>
                <c:pt idx="15">
                  <c:v>13956</c:v>
                </c:pt>
                <c:pt idx="16">
                  <c:v>16014</c:v>
                </c:pt>
                <c:pt idx="17">
                  <c:v>17737</c:v>
                </c:pt>
                <c:pt idx="18">
                  <c:v>14937</c:v>
                </c:pt>
                <c:pt idx="19">
                  <c:v>17490</c:v>
                </c:pt>
                <c:pt idx="20">
                  <c:v>10517</c:v>
                </c:pt>
                <c:pt idx="21">
                  <c:v>9118</c:v>
                </c:pt>
                <c:pt idx="22">
                  <c:v>5828</c:v>
                </c:pt>
                <c:pt idx="23">
                  <c:v>5870</c:v>
                </c:pt>
                <c:pt idx="24">
                  <c:v>6101</c:v>
                </c:pt>
                <c:pt idx="25">
                  <c:v>6179</c:v>
                </c:pt>
                <c:pt idx="26">
                  <c:v>7308</c:v>
                </c:pt>
                <c:pt idx="27">
                  <c:v>7216</c:v>
                </c:pt>
                <c:pt idx="28">
                  <c:v>6751</c:v>
                </c:pt>
                <c:pt idx="29">
                  <c:v>5539</c:v>
                </c:pt>
                <c:pt idx="30">
                  <c:v>12378</c:v>
                </c:pt>
                <c:pt idx="31">
                  <c:v>9871</c:v>
                </c:pt>
                <c:pt idx="32">
                  <c:v>16508</c:v>
                </c:pt>
                <c:pt idx="33">
                  <c:v>12108</c:v>
                </c:pt>
                <c:pt idx="34">
                  <c:v>12394</c:v>
                </c:pt>
                <c:pt idx="35">
                  <c:v>15626</c:v>
                </c:pt>
                <c:pt idx="36">
                  <c:v>14877</c:v>
                </c:pt>
                <c:pt idx="37">
                  <c:v>13702</c:v>
                </c:pt>
                <c:pt idx="38">
                  <c:v>11344</c:v>
                </c:pt>
                <c:pt idx="39">
                  <c:v>12699</c:v>
                </c:pt>
                <c:pt idx="40">
                  <c:v>21038</c:v>
                </c:pt>
                <c:pt idx="41">
                  <c:v>8801</c:v>
                </c:pt>
                <c:pt idx="42">
                  <c:v>15956</c:v>
                </c:pt>
                <c:pt idx="43">
                  <c:v>14922</c:v>
                </c:pt>
                <c:pt idx="44">
                  <c:v>16099</c:v>
                </c:pt>
                <c:pt idx="45">
                  <c:v>16803</c:v>
                </c:pt>
                <c:pt idx="46">
                  <c:v>15227</c:v>
                </c:pt>
                <c:pt idx="47">
                  <c:v>14816</c:v>
                </c:pt>
                <c:pt idx="48">
                  <c:v>11331</c:v>
                </c:pt>
                <c:pt idx="49">
                  <c:v>9920</c:v>
                </c:pt>
                <c:pt idx="50">
                  <c:v>8504</c:v>
                </c:pt>
                <c:pt idx="51">
                  <c:v>7408</c:v>
                </c:pt>
                <c:pt idx="52">
                  <c:v>6199</c:v>
                </c:pt>
                <c:pt idx="53">
                  <c:v>3859</c:v>
                </c:pt>
                <c:pt idx="54">
                  <c:v>5345</c:v>
                </c:pt>
              </c:numCache>
            </c:numRef>
          </c:val>
        </c:ser>
        <c:dLbls>
          <c:showLegendKey val="0"/>
          <c:showVal val="0"/>
          <c:showCatName val="0"/>
          <c:showSerName val="0"/>
          <c:showPercent val="0"/>
          <c:showBubbleSize val="0"/>
        </c:dLbls>
        <c:gapWidth val="150"/>
        <c:axId val="148179584"/>
        <c:axId val="160694656"/>
      </c:barChart>
      <c:lineChart>
        <c:grouping val="standard"/>
        <c:varyColors val="0"/>
        <c:ser>
          <c:idx val="2"/>
          <c:order val="2"/>
          <c:tx>
            <c:strRef>
              <c:f>Sheet5!$T$1</c:f>
              <c:strCache>
                <c:ptCount val="1"/>
                <c:pt idx="0">
                  <c:v>Ratio</c:v>
                </c:pt>
              </c:strCache>
            </c:strRef>
          </c:tx>
          <c:spPr>
            <a:ln>
              <a:solidFill>
                <a:srgbClr val="AD275C"/>
              </a:solidFill>
            </a:ln>
          </c:spPr>
          <c:marker>
            <c:symbol val="none"/>
          </c:marker>
          <c:cat>
            <c:numRef>
              <c:f>Sheet5!$Q$45:$Q$99</c:f>
              <c:numCache>
                <c:formatCode>m/d/yyyy</c:formatCode>
                <c:ptCount val="55"/>
                <c:pt idx="0">
                  <c:v>39995</c:v>
                </c:pt>
                <c:pt idx="1">
                  <c:v>40026</c:v>
                </c:pt>
                <c:pt idx="2">
                  <c:v>40057</c:v>
                </c:pt>
                <c:pt idx="3">
                  <c:v>40087</c:v>
                </c:pt>
                <c:pt idx="4">
                  <c:v>40118</c:v>
                </c:pt>
                <c:pt idx="5">
                  <c:v>40148</c:v>
                </c:pt>
                <c:pt idx="6">
                  <c:v>40179</c:v>
                </c:pt>
                <c:pt idx="7">
                  <c:v>40210</c:v>
                </c:pt>
                <c:pt idx="8">
                  <c:v>40238</c:v>
                </c:pt>
                <c:pt idx="9">
                  <c:v>40269</c:v>
                </c:pt>
                <c:pt idx="10">
                  <c:v>40299</c:v>
                </c:pt>
                <c:pt idx="11">
                  <c:v>40330</c:v>
                </c:pt>
                <c:pt idx="12">
                  <c:v>40360</c:v>
                </c:pt>
                <c:pt idx="13">
                  <c:v>40391</c:v>
                </c:pt>
                <c:pt idx="14">
                  <c:v>40422</c:v>
                </c:pt>
                <c:pt idx="15">
                  <c:v>40452</c:v>
                </c:pt>
                <c:pt idx="16">
                  <c:v>40483</c:v>
                </c:pt>
                <c:pt idx="17">
                  <c:v>40513</c:v>
                </c:pt>
                <c:pt idx="18">
                  <c:v>40544</c:v>
                </c:pt>
                <c:pt idx="19">
                  <c:v>40575</c:v>
                </c:pt>
                <c:pt idx="20">
                  <c:v>40603</c:v>
                </c:pt>
                <c:pt idx="21">
                  <c:v>40634</c:v>
                </c:pt>
                <c:pt idx="22">
                  <c:v>40664</c:v>
                </c:pt>
                <c:pt idx="23">
                  <c:v>40695</c:v>
                </c:pt>
                <c:pt idx="24">
                  <c:v>40725</c:v>
                </c:pt>
                <c:pt idx="25">
                  <c:v>40756</c:v>
                </c:pt>
                <c:pt idx="26">
                  <c:v>40787</c:v>
                </c:pt>
                <c:pt idx="27">
                  <c:v>40817</c:v>
                </c:pt>
                <c:pt idx="28">
                  <c:v>40848</c:v>
                </c:pt>
                <c:pt idx="29">
                  <c:v>40878</c:v>
                </c:pt>
                <c:pt idx="30">
                  <c:v>40909</c:v>
                </c:pt>
                <c:pt idx="31">
                  <c:v>40940</c:v>
                </c:pt>
                <c:pt idx="32">
                  <c:v>40969</c:v>
                </c:pt>
                <c:pt idx="33">
                  <c:v>41000</c:v>
                </c:pt>
                <c:pt idx="34">
                  <c:v>41030</c:v>
                </c:pt>
                <c:pt idx="35">
                  <c:v>41061</c:v>
                </c:pt>
                <c:pt idx="36">
                  <c:v>41091</c:v>
                </c:pt>
                <c:pt idx="37">
                  <c:v>41122</c:v>
                </c:pt>
                <c:pt idx="38">
                  <c:v>41153</c:v>
                </c:pt>
                <c:pt idx="39">
                  <c:v>41183</c:v>
                </c:pt>
                <c:pt idx="40">
                  <c:v>41214</c:v>
                </c:pt>
                <c:pt idx="41">
                  <c:v>41244</c:v>
                </c:pt>
                <c:pt idx="42">
                  <c:v>41275</c:v>
                </c:pt>
                <c:pt idx="43">
                  <c:v>41306</c:v>
                </c:pt>
                <c:pt idx="44">
                  <c:v>41334</c:v>
                </c:pt>
                <c:pt idx="45">
                  <c:v>41365</c:v>
                </c:pt>
                <c:pt idx="46">
                  <c:v>41395</c:v>
                </c:pt>
                <c:pt idx="47">
                  <c:v>41426</c:v>
                </c:pt>
                <c:pt idx="48">
                  <c:v>41456</c:v>
                </c:pt>
                <c:pt idx="49">
                  <c:v>41487</c:v>
                </c:pt>
                <c:pt idx="50">
                  <c:v>41518</c:v>
                </c:pt>
                <c:pt idx="51">
                  <c:v>41548</c:v>
                </c:pt>
                <c:pt idx="52">
                  <c:v>41579</c:v>
                </c:pt>
                <c:pt idx="53">
                  <c:v>41609</c:v>
                </c:pt>
                <c:pt idx="54">
                  <c:v>41640</c:v>
                </c:pt>
              </c:numCache>
            </c:numRef>
          </c:cat>
          <c:val>
            <c:numRef>
              <c:f>Sheet5!$T$45:$T$99</c:f>
              <c:numCache>
                <c:formatCode>0.00</c:formatCode>
                <c:ptCount val="55"/>
                <c:pt idx="0">
                  <c:v>1.5226238101807146</c:v>
                </c:pt>
                <c:pt idx="1">
                  <c:v>1.5672012930498571</c:v>
                </c:pt>
                <c:pt idx="2">
                  <c:v>1.7415518008003557</c:v>
                </c:pt>
                <c:pt idx="3">
                  <c:v>1.9079009619933764</c:v>
                </c:pt>
                <c:pt idx="4">
                  <c:v>2.0461557447858816</c:v>
                </c:pt>
                <c:pt idx="5">
                  <c:v>1.9924189136381398</c:v>
                </c:pt>
                <c:pt idx="6">
                  <c:v>1.9414776307498425</c:v>
                </c:pt>
                <c:pt idx="7">
                  <c:v>1.9460559419860886</c:v>
                </c:pt>
                <c:pt idx="8">
                  <c:v>1.7992865030153742</c:v>
                </c:pt>
                <c:pt idx="9">
                  <c:v>1.8860429151362845</c:v>
                </c:pt>
                <c:pt idx="10">
                  <c:v>1.9163668084178389</c:v>
                </c:pt>
                <c:pt idx="11">
                  <c:v>1.8712738426147799</c:v>
                </c:pt>
                <c:pt idx="12">
                  <c:v>2.1246534324054562</c:v>
                </c:pt>
                <c:pt idx="13">
                  <c:v>2.1827945324365374</c:v>
                </c:pt>
                <c:pt idx="14">
                  <c:v>2.3953285036222831</c:v>
                </c:pt>
                <c:pt idx="15">
                  <c:v>2.5940813986815705</c:v>
                </c:pt>
                <c:pt idx="16">
                  <c:v>2.454602223054827</c:v>
                </c:pt>
                <c:pt idx="17">
                  <c:v>2.5778316513502846</c:v>
                </c:pt>
                <c:pt idx="18">
                  <c:v>2.0874338890004687</c:v>
                </c:pt>
                <c:pt idx="19">
                  <c:v>2.0928530588907948</c:v>
                </c:pt>
                <c:pt idx="20">
                  <c:v>1.8997813064562137</c:v>
                </c:pt>
                <c:pt idx="21">
                  <c:v>2.0618556701030926</c:v>
                </c:pt>
                <c:pt idx="22">
                  <c:v>2.1997254632807137</c:v>
                </c:pt>
                <c:pt idx="23">
                  <c:v>2.1444633730834752</c:v>
                </c:pt>
                <c:pt idx="24">
                  <c:v>1.8978855925258153</c:v>
                </c:pt>
                <c:pt idx="25">
                  <c:v>2.1490532448616282</c:v>
                </c:pt>
                <c:pt idx="26">
                  <c:v>2.1278051450465245</c:v>
                </c:pt>
                <c:pt idx="27">
                  <c:v>2.2829822616407984</c:v>
                </c:pt>
                <c:pt idx="28">
                  <c:v>2.2749222337431489</c:v>
                </c:pt>
                <c:pt idx="29">
                  <c:v>3.2226033580068605</c:v>
                </c:pt>
                <c:pt idx="30">
                  <c:v>1.7344482145742446</c:v>
                </c:pt>
                <c:pt idx="31">
                  <c:v>1.9690001013068585</c:v>
                </c:pt>
                <c:pt idx="32">
                  <c:v>1.757329779500848</c:v>
                </c:pt>
                <c:pt idx="33">
                  <c:v>1.5538486950776347</c:v>
                </c:pt>
                <c:pt idx="34">
                  <c:v>1.8035339680490561</c:v>
                </c:pt>
                <c:pt idx="35">
                  <c:v>1.5153590170229105</c:v>
                </c:pt>
                <c:pt idx="36">
                  <c:v>1.4740875176446864</c:v>
                </c:pt>
                <c:pt idx="37">
                  <c:v>1.8767333236023938</c:v>
                </c:pt>
                <c:pt idx="38">
                  <c:v>1.7716854724964739</c:v>
                </c:pt>
                <c:pt idx="39">
                  <c:v>1.8379399952752185</c:v>
                </c:pt>
                <c:pt idx="40">
                  <c:v>1.9287004468105333</c:v>
                </c:pt>
                <c:pt idx="41">
                  <c:v>1.8262697420747642</c:v>
                </c:pt>
                <c:pt idx="42">
                  <c:v>1.9986838806718477</c:v>
                </c:pt>
                <c:pt idx="43">
                  <c:v>1.9339230666130545</c:v>
                </c:pt>
                <c:pt idx="44">
                  <c:v>1.9020436051928691</c:v>
                </c:pt>
                <c:pt idx="45">
                  <c:v>1.9885734690233887</c:v>
                </c:pt>
                <c:pt idx="46">
                  <c:v>1.8752216457608195</c:v>
                </c:pt>
                <c:pt idx="47">
                  <c:v>2.0384044276457884</c:v>
                </c:pt>
                <c:pt idx="48">
                  <c:v>1.9824375606742564</c:v>
                </c:pt>
                <c:pt idx="49">
                  <c:v>1.893649193548387</c:v>
                </c:pt>
                <c:pt idx="50">
                  <c:v>1.9277986829727187</c:v>
                </c:pt>
                <c:pt idx="51">
                  <c:v>1.8351781857451404</c:v>
                </c:pt>
                <c:pt idx="52">
                  <c:v>1.9590256492982738</c:v>
                </c:pt>
                <c:pt idx="53">
                  <c:v>2.1860585643949211</c:v>
                </c:pt>
                <c:pt idx="54">
                  <c:v>1.996819457436857</c:v>
                </c:pt>
              </c:numCache>
            </c:numRef>
          </c:val>
          <c:smooth val="0"/>
        </c:ser>
        <c:dLbls>
          <c:showLegendKey val="0"/>
          <c:showVal val="0"/>
          <c:showCatName val="0"/>
          <c:showSerName val="0"/>
          <c:showPercent val="0"/>
          <c:showBubbleSize val="0"/>
        </c:dLbls>
        <c:marker val="1"/>
        <c:smooth val="0"/>
        <c:axId val="160707328"/>
        <c:axId val="160696960"/>
      </c:lineChart>
      <c:dateAx>
        <c:axId val="148179584"/>
        <c:scaling>
          <c:orientation val="minMax"/>
        </c:scaling>
        <c:delete val="0"/>
        <c:axPos val="b"/>
        <c:numFmt formatCode="m/d/yyyy" sourceLinked="1"/>
        <c:majorTickMark val="out"/>
        <c:minorTickMark val="none"/>
        <c:tickLblPos val="nextTo"/>
        <c:crossAx val="160694656"/>
        <c:crosses val="autoZero"/>
        <c:auto val="1"/>
        <c:lblOffset val="100"/>
        <c:baseTimeUnit val="months"/>
        <c:majorUnit val="6"/>
        <c:majorTimeUnit val="months"/>
      </c:dateAx>
      <c:valAx>
        <c:axId val="160694656"/>
        <c:scaling>
          <c:orientation val="minMax"/>
        </c:scaling>
        <c:delete val="0"/>
        <c:axPos val="l"/>
        <c:majorGridlines/>
        <c:title>
          <c:tx>
            <c:rich>
              <a:bodyPr rot="-5400000" vert="horz"/>
              <a:lstStyle/>
              <a:p>
                <a:pPr>
                  <a:defRPr/>
                </a:pPr>
                <a:r>
                  <a:rPr lang="en-US"/>
                  <a:t>Loan Count</a:t>
                </a:r>
              </a:p>
            </c:rich>
          </c:tx>
          <c:layout/>
          <c:overlay val="0"/>
        </c:title>
        <c:numFmt formatCode="General" sourceLinked="1"/>
        <c:majorTickMark val="out"/>
        <c:minorTickMark val="none"/>
        <c:tickLblPos val="nextTo"/>
        <c:crossAx val="148179584"/>
        <c:crosses val="autoZero"/>
        <c:crossBetween val="between"/>
        <c:dispUnits>
          <c:builtInUnit val="thousands"/>
          <c:dispUnitsLbl>
            <c:layout/>
          </c:dispUnitsLbl>
        </c:dispUnits>
      </c:valAx>
      <c:valAx>
        <c:axId val="160696960"/>
        <c:scaling>
          <c:orientation val="minMax"/>
        </c:scaling>
        <c:delete val="0"/>
        <c:axPos val="r"/>
        <c:title>
          <c:tx>
            <c:rich>
              <a:bodyPr rot="-5400000" vert="horz"/>
              <a:lstStyle/>
              <a:p>
                <a:pPr>
                  <a:defRPr/>
                </a:pPr>
                <a:r>
                  <a:rPr lang="en-US" dirty="0" smtClean="0"/>
                  <a:t>Ratio</a:t>
                </a:r>
                <a:endParaRPr lang="en-US" dirty="0"/>
              </a:p>
            </c:rich>
          </c:tx>
          <c:layout/>
          <c:overlay val="0"/>
        </c:title>
        <c:numFmt formatCode="0.00" sourceLinked="1"/>
        <c:majorTickMark val="out"/>
        <c:minorTickMark val="none"/>
        <c:tickLblPos val="nextTo"/>
        <c:crossAx val="160707328"/>
        <c:crosses val="max"/>
        <c:crossBetween val="between"/>
      </c:valAx>
      <c:dateAx>
        <c:axId val="160707328"/>
        <c:scaling>
          <c:orientation val="minMax"/>
        </c:scaling>
        <c:delete val="1"/>
        <c:axPos val="b"/>
        <c:numFmt formatCode="m/d/yyyy" sourceLinked="1"/>
        <c:majorTickMark val="out"/>
        <c:minorTickMark val="none"/>
        <c:tickLblPos val="nextTo"/>
        <c:crossAx val="160696960"/>
        <c:crosses val="autoZero"/>
        <c:auto val="1"/>
        <c:lblOffset val="100"/>
        <c:baseTimeUnit val="months"/>
      </c:dateAx>
    </c:plotArea>
    <c:legend>
      <c:legendPos val="b"/>
      <c:layout/>
      <c:overlay val="0"/>
    </c:legend>
    <c:plotVisOnly val="1"/>
    <c:dispBlanksAs val="gap"/>
    <c:showDLblsOverMax val="0"/>
  </c:chart>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0.83537</cdr:x>
      <cdr:y>0.06875</cdr:y>
    </cdr:from>
    <cdr:to>
      <cdr:x>0.95361</cdr:x>
      <cdr:y>0.12652</cdr:y>
    </cdr:to>
    <cdr:sp macro="" textlink="">
      <cdr:nvSpPr>
        <cdr:cNvPr id="2" name="TextBox 19"/>
        <cdr:cNvSpPr txBox="1"/>
      </cdr:nvSpPr>
      <cdr:spPr>
        <a:xfrm xmlns:a="http://schemas.openxmlformats.org/drawingml/2006/main">
          <a:off x="7246730" y="293006"/>
          <a:ext cx="1025718" cy="246221"/>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0.83537</cdr:x>
      <cdr:y>0.06875</cdr:y>
    </cdr:from>
    <cdr:to>
      <cdr:x>0.95361</cdr:x>
      <cdr:y>0.12652</cdr:y>
    </cdr:to>
    <cdr:sp macro="" textlink="">
      <cdr:nvSpPr>
        <cdr:cNvPr id="2" name="TextBox 19"/>
        <cdr:cNvSpPr txBox="1"/>
      </cdr:nvSpPr>
      <cdr:spPr>
        <a:xfrm xmlns:a="http://schemas.openxmlformats.org/drawingml/2006/main">
          <a:off x="7246730" y="293006"/>
          <a:ext cx="1025718" cy="246221"/>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a:lstStyle>
        <a:p xmlns:a="http://schemas.openxmlformats.org/drawingml/2006/main">
          <a:pPr algn="ctr"/>
          <a:r>
            <a:rPr lang="en-US" sz="1000" b="1" dirty="0" smtClean="0">
              <a:solidFill>
                <a:schemeClr val="bg1"/>
              </a:solidFill>
              <a:latin typeface="+mn-lt"/>
            </a:rPr>
            <a:t>Unknown</a:t>
          </a:r>
          <a:endParaRPr lang="en-US" sz="1000" b="1" dirty="0">
            <a:solidFill>
              <a:schemeClr val="bg1"/>
            </a:solidFill>
            <a:latin typeface="+mn-lt"/>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defTabSz="921588">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70640" y="5"/>
            <a:ext cx="3038161" cy="463541"/>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lvl1pPr algn="r" defTabSz="921588">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49363" y="698500"/>
            <a:ext cx="4511675" cy="3486150"/>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701363" y="4416436"/>
            <a:ext cx="5607678" cy="4181463"/>
          </a:xfrm>
          <a:prstGeom prst="rect">
            <a:avLst/>
          </a:prstGeom>
          <a:noFill/>
          <a:ln w="9525">
            <a:noFill/>
            <a:miter lim="800000"/>
            <a:headEnd/>
            <a:tailEnd/>
          </a:ln>
        </p:spPr>
        <p:txBody>
          <a:bodyPr vert="horz" wrap="square" lIns="92433" tIns="46215" rIns="92433" bIns="4621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defTabSz="921588">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70640" y="8831269"/>
            <a:ext cx="3038161" cy="463541"/>
          </a:xfrm>
          <a:prstGeom prst="rect">
            <a:avLst/>
          </a:prstGeom>
          <a:noFill/>
          <a:ln w="9525">
            <a:noFill/>
            <a:miter lim="800000"/>
            <a:headEnd/>
            <a:tailEnd/>
          </a:ln>
        </p:spPr>
        <p:txBody>
          <a:bodyPr vert="horz" wrap="square" lIns="92433" tIns="46215" rIns="92433" bIns="46215" numCol="1" anchor="b" anchorCtr="0" compatLnSpc="1">
            <a:prstTxWarp prst="textNoShape">
              <a:avLst/>
            </a:prstTxWarp>
          </a:bodyPr>
          <a:lstStyle>
            <a:lvl1pPr algn="r" defTabSz="921588">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996"/>
            <a:fld id="{1FE077EC-684A-4FD9-A6C3-9AE90D8B81D6}" type="slidenum">
              <a:rPr lang="en-US" smtClean="0"/>
              <a:pPr defTabSz="919996"/>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 Id="rId5" Type="http://schemas.openxmlformats.org/officeDocument/2006/relationships/chart" Target="../charts/chart7.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Identifying </a:t>
            </a:r>
            <a:r>
              <a:rPr lang="en-US" sz="2400" dirty="0" err="1" smtClean="0">
                <a:solidFill>
                  <a:srgbClr val="968880"/>
                </a:solidFill>
                <a:latin typeface="Calibri" pitchFamily="34" charset="0"/>
              </a:rPr>
              <a:t>HARPed</a:t>
            </a:r>
            <a:r>
              <a:rPr lang="en-US" sz="2400" dirty="0" smtClean="0">
                <a:solidFill>
                  <a:srgbClr val="968880"/>
                </a:solidFill>
                <a:latin typeface="Calibri" pitchFamily="34" charset="0"/>
              </a:rPr>
              <a:t> Loans</a:t>
            </a:r>
            <a:endParaRPr lang="en-US" sz="2400" dirty="0">
              <a:solidFill>
                <a:srgbClr val="968880"/>
              </a:solidFill>
              <a:latin typeface="Calibri" pitchFamily="34" charset="0"/>
            </a:endParaRPr>
          </a:p>
          <a:p>
            <a:pPr algn="r" defTabSz="1018586"/>
            <a:r>
              <a:rPr lang="en-US" dirty="0" smtClean="0">
                <a:solidFill>
                  <a:schemeClr val="tx2"/>
                </a:solidFill>
                <a:latin typeface="Calibri" pitchFamily="34" charset="0"/>
              </a:rPr>
              <a:t>January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INTRODUCTION</a:t>
            </a:r>
            <a:endParaRPr lang="en-US" sz="1600" dirty="0">
              <a:latin typeface="+mn-lt"/>
            </a:endParaRPr>
          </a:p>
        </p:txBody>
      </p:sp>
      <p:sp>
        <p:nvSpPr>
          <p:cNvPr id="4" name="Rectangle 3"/>
          <p:cNvSpPr/>
          <p:nvPr/>
        </p:nvSpPr>
        <p:spPr>
          <a:xfrm>
            <a:off x="819356" y="125730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819356" y="185928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396484"/>
            <a:ext cx="4069080" cy="307777"/>
          </a:xfrm>
          <a:prstGeom prst="rect">
            <a:avLst/>
          </a:prstGeom>
          <a:noFill/>
        </p:spPr>
        <p:txBody>
          <a:bodyPr wrap="square" rtlCol="0">
            <a:spAutoFit/>
          </a:bodyPr>
          <a:lstStyle/>
          <a:p>
            <a:r>
              <a:rPr lang="en-US" sz="1400" b="1" dirty="0" smtClean="0">
                <a:latin typeface="+mn-lt"/>
              </a:rPr>
              <a:t>Importance of identifying HARP loans</a:t>
            </a:r>
            <a:endParaRPr lang="en-US" sz="1400" b="1" dirty="0">
              <a:latin typeface="+mn-lt"/>
            </a:endParaRPr>
          </a:p>
        </p:txBody>
      </p:sp>
      <p:sp>
        <p:nvSpPr>
          <p:cNvPr id="7" name="TextBox 6"/>
          <p:cNvSpPr txBox="1"/>
          <p:nvPr/>
        </p:nvSpPr>
        <p:spPr>
          <a:xfrm>
            <a:off x="994464" y="2006254"/>
            <a:ext cx="8549586" cy="992579"/>
          </a:xfrm>
          <a:prstGeom prst="rect">
            <a:avLst/>
          </a:prstGeom>
          <a:noFill/>
        </p:spPr>
        <p:txBody>
          <a:bodyPr wrap="square" rtlCol="0">
            <a:spAutoFit/>
          </a:bodyPr>
          <a:lstStyle/>
          <a:p>
            <a:pPr>
              <a:lnSpc>
                <a:spcPct val="150000"/>
              </a:lnSpc>
            </a:pPr>
            <a:r>
              <a:rPr lang="en-US" sz="1300" dirty="0" smtClean="0">
                <a:latin typeface="+mn-lt"/>
              </a:rPr>
              <a:t>Loans that have been refinanced through the Home Affordable Refinance Program (HARP) generally prepay slower than other refinance loans that have undergone full underwriting. </a:t>
            </a:r>
            <a:r>
              <a:rPr lang="en-US" sz="1300" dirty="0">
                <a:latin typeface="+mn-lt"/>
              </a:rPr>
              <a:t>A</a:t>
            </a:r>
            <a:r>
              <a:rPr lang="en-US" sz="1300" dirty="0" smtClean="0">
                <a:latin typeface="+mn-lt"/>
              </a:rPr>
              <a:t>s a streamline refinance program, HARP generally made only minimal requirements of borrowers, and such borrowers may have trouble qualifying for regular refinances.</a:t>
            </a:r>
          </a:p>
        </p:txBody>
      </p:sp>
      <p:sp>
        <p:nvSpPr>
          <p:cNvPr id="9" name="Rectangle 8"/>
          <p:cNvSpPr/>
          <p:nvPr/>
        </p:nvSpPr>
        <p:spPr>
          <a:xfrm>
            <a:off x="819356" y="3198495"/>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819356" y="3800475"/>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90855" y="3337679"/>
            <a:ext cx="4069080" cy="307777"/>
          </a:xfrm>
          <a:prstGeom prst="rect">
            <a:avLst/>
          </a:prstGeom>
          <a:noFill/>
        </p:spPr>
        <p:txBody>
          <a:bodyPr wrap="square" rtlCol="0">
            <a:spAutoFit/>
          </a:bodyPr>
          <a:lstStyle/>
          <a:p>
            <a:r>
              <a:rPr lang="en-US" sz="1400" b="1" dirty="0" smtClean="0">
                <a:latin typeface="+mn-lt"/>
              </a:rPr>
              <a:t>Existing algorithms for identifying  </a:t>
            </a:r>
            <a:r>
              <a:rPr lang="en-US" sz="1400" b="1" dirty="0" err="1" smtClean="0">
                <a:latin typeface="+mn-lt"/>
              </a:rPr>
              <a:t>HARPed</a:t>
            </a:r>
            <a:r>
              <a:rPr lang="en-US" sz="1400" b="1" dirty="0" smtClean="0">
                <a:latin typeface="+mn-lt"/>
              </a:rPr>
              <a:t> Loans</a:t>
            </a:r>
            <a:endParaRPr lang="en-US" sz="1400" b="1" dirty="0">
              <a:latin typeface="+mn-lt"/>
            </a:endParaRPr>
          </a:p>
        </p:txBody>
      </p:sp>
      <p:sp>
        <p:nvSpPr>
          <p:cNvPr id="12" name="TextBox 11"/>
          <p:cNvSpPr txBox="1"/>
          <p:nvPr/>
        </p:nvSpPr>
        <p:spPr>
          <a:xfrm>
            <a:off x="809625" y="3916969"/>
            <a:ext cx="9034092" cy="3393237"/>
          </a:xfrm>
          <a:prstGeom prst="rect">
            <a:avLst/>
          </a:prstGeom>
          <a:noFill/>
        </p:spPr>
        <p:txBody>
          <a:bodyPr wrap="square" rtlCol="0">
            <a:spAutoFit/>
          </a:bodyPr>
          <a:lstStyle/>
          <a:p>
            <a:pPr marL="342900" indent="-342900">
              <a:lnSpc>
                <a:spcPct val="150000"/>
              </a:lnSpc>
              <a:buFont typeface="+mj-lt"/>
              <a:buAutoNum type="arabicPeriod"/>
            </a:pPr>
            <a:r>
              <a:rPr lang="en-US" sz="1300" dirty="0" smtClean="0">
                <a:latin typeface="+mn-lt"/>
              </a:rPr>
              <a:t>Prior to August 2013:</a:t>
            </a:r>
          </a:p>
          <a:p>
            <a:pPr marL="793276" lvl="1" indent="-285750">
              <a:lnSpc>
                <a:spcPct val="150000"/>
              </a:lnSpc>
              <a:buFont typeface="Arial" panose="020B0604020202020204" pitchFamily="34" charset="0"/>
              <a:buChar char="•"/>
            </a:pPr>
            <a:r>
              <a:rPr lang="en-US" sz="1300" dirty="0" smtClean="0">
                <a:latin typeface="+mn-lt"/>
              </a:rPr>
              <a:t>This is the period prior to Freddie Mac providing loan-level credit information for fully underwritten mortgages</a:t>
            </a:r>
          </a:p>
          <a:p>
            <a:pPr marL="793276" lvl="1" indent="-285750">
              <a:lnSpc>
                <a:spcPct val="150000"/>
              </a:lnSpc>
              <a:buFont typeface="Arial" panose="020B0604020202020204" pitchFamily="34" charset="0"/>
              <a:buChar char="•"/>
            </a:pPr>
            <a:r>
              <a:rPr lang="en-US" sz="1300" dirty="0" smtClean="0">
                <a:latin typeface="+mn-lt"/>
              </a:rPr>
              <a:t>MI matches were used to identify potential </a:t>
            </a:r>
            <a:r>
              <a:rPr lang="en-US" sz="1300" dirty="0" err="1" smtClean="0">
                <a:latin typeface="+mn-lt"/>
              </a:rPr>
              <a:t>HARPed</a:t>
            </a:r>
            <a:r>
              <a:rPr lang="en-US" sz="1300" dirty="0" smtClean="0">
                <a:latin typeface="+mn-lt"/>
              </a:rPr>
              <a:t> loans with OLTV &gt; 80% and loan purpose as Refi-NCO (No Cash-out)</a:t>
            </a:r>
          </a:p>
          <a:p>
            <a:pPr marL="793276" lvl="1" indent="-285750">
              <a:lnSpc>
                <a:spcPct val="150000"/>
              </a:lnSpc>
              <a:buFont typeface="Arial" panose="020B0604020202020204" pitchFamily="34" charset="0"/>
              <a:buChar char="•"/>
            </a:pPr>
            <a:r>
              <a:rPr lang="en-US" sz="1300" dirty="0" smtClean="0">
                <a:latin typeface="+mn-lt"/>
              </a:rPr>
              <a:t>Although HARP targets with LTVs &gt; 80%, </a:t>
            </a:r>
            <a:r>
              <a:rPr lang="en-US" sz="1300" dirty="0">
                <a:latin typeface="+mn-lt"/>
              </a:rPr>
              <a:t>l</a:t>
            </a:r>
            <a:r>
              <a:rPr lang="en-US" sz="1300" dirty="0" smtClean="0">
                <a:latin typeface="+mn-lt"/>
              </a:rPr>
              <a:t>oans with lower OLTVs are counted as part of HARP because the Agencies essentially suspended their streamline refi programs after the financial crisis and currently rely on the HARP program for all streamline processing</a:t>
            </a:r>
          </a:p>
          <a:p>
            <a:pPr marL="342900" indent="-342900">
              <a:lnSpc>
                <a:spcPct val="150000"/>
              </a:lnSpc>
              <a:buFont typeface="+mj-lt"/>
              <a:buAutoNum type="arabicPeriod"/>
            </a:pPr>
            <a:r>
              <a:rPr lang="en-US" sz="1300" dirty="0">
                <a:latin typeface="+mn-lt"/>
              </a:rPr>
              <a:t>After August </a:t>
            </a:r>
            <a:r>
              <a:rPr lang="en-US" sz="1300" dirty="0" smtClean="0">
                <a:latin typeface="+mn-lt"/>
              </a:rPr>
              <a:t>2013:</a:t>
            </a:r>
            <a:endParaRPr lang="en-US" sz="1300" dirty="0">
              <a:latin typeface="+mn-lt"/>
            </a:endParaRPr>
          </a:p>
          <a:p>
            <a:pPr marL="793276" lvl="1" indent="-285750">
              <a:lnSpc>
                <a:spcPct val="150000"/>
              </a:lnSpc>
              <a:buFont typeface="Arial" panose="020B0604020202020204" pitchFamily="34" charset="0"/>
              <a:buChar char="•"/>
            </a:pPr>
            <a:r>
              <a:rPr lang="en-US" sz="1300" dirty="0">
                <a:latin typeface="+mn-lt"/>
              </a:rPr>
              <a:t>N</a:t>
            </a:r>
            <a:r>
              <a:rPr lang="en-US" sz="1300" dirty="0" smtClean="0">
                <a:latin typeface="+mn-lt"/>
              </a:rPr>
              <a:t>ew Freddie </a:t>
            </a:r>
            <a:r>
              <a:rPr lang="en-US" sz="1300" dirty="0">
                <a:latin typeface="+mn-lt"/>
              </a:rPr>
              <a:t>Mac and Fannie Mae </a:t>
            </a:r>
            <a:r>
              <a:rPr lang="en-US" sz="1300" dirty="0" smtClean="0">
                <a:latin typeface="+mn-lt"/>
              </a:rPr>
              <a:t>loan-level credit information</a:t>
            </a:r>
            <a:r>
              <a:rPr lang="en-US" sz="1300" dirty="0">
                <a:latin typeface="+mn-lt"/>
              </a:rPr>
              <a:t> </a:t>
            </a:r>
            <a:r>
              <a:rPr lang="en-US" sz="1300" dirty="0" smtClean="0">
                <a:latin typeface="+mn-lt"/>
              </a:rPr>
              <a:t>are used to </a:t>
            </a:r>
            <a:r>
              <a:rPr lang="en-US" sz="1300" dirty="0">
                <a:latin typeface="+mn-lt"/>
              </a:rPr>
              <a:t>identify 30-year fixed –rate HARP loans by mapping </a:t>
            </a:r>
            <a:r>
              <a:rPr lang="en-US" sz="1300" dirty="0" smtClean="0">
                <a:latin typeface="+mn-lt"/>
              </a:rPr>
              <a:t>the credit </a:t>
            </a:r>
            <a:r>
              <a:rPr lang="en-US" sz="1300" dirty="0">
                <a:latin typeface="+mn-lt"/>
              </a:rPr>
              <a:t>dataset </a:t>
            </a:r>
            <a:r>
              <a:rPr lang="en-US" sz="1300" dirty="0" smtClean="0">
                <a:latin typeface="+mn-lt"/>
              </a:rPr>
              <a:t>to the </a:t>
            </a:r>
            <a:r>
              <a:rPr lang="en-US" sz="1300" dirty="0">
                <a:latin typeface="+mn-lt"/>
              </a:rPr>
              <a:t>standard </a:t>
            </a:r>
            <a:r>
              <a:rPr lang="en-US" sz="1300" dirty="0" smtClean="0">
                <a:latin typeface="+mn-lt"/>
              </a:rPr>
              <a:t>database without restrictions on the LTV ratio</a:t>
            </a:r>
          </a:p>
          <a:p>
            <a:pPr marL="793276" lvl="1" indent="-285750">
              <a:lnSpc>
                <a:spcPct val="150000"/>
              </a:lnSpc>
              <a:buFont typeface="Arial" panose="020B0604020202020204" pitchFamily="34" charset="0"/>
              <a:buChar char="•"/>
            </a:pPr>
            <a:r>
              <a:rPr lang="en-US" sz="1300" dirty="0" smtClean="0">
                <a:latin typeface="+mn-lt"/>
              </a:rPr>
              <a:t>The credit data set has about a one year lag, which means that recently originated loans cannot be identified as being </a:t>
            </a:r>
            <a:r>
              <a:rPr lang="en-US" sz="1300" dirty="0" err="1" smtClean="0">
                <a:latin typeface="+mn-lt"/>
              </a:rPr>
              <a:t>HARPed</a:t>
            </a:r>
            <a:r>
              <a:rPr lang="en-US" sz="1300" dirty="0" smtClean="0">
                <a:latin typeface="+mn-lt"/>
              </a:rPr>
              <a:t> or not using the current algorithm</a:t>
            </a:r>
          </a:p>
        </p:txBody>
      </p:sp>
    </p:spTree>
    <p:extLst>
      <p:ext uri="{BB962C8B-B14F-4D97-AF65-F5344CB8AC3E}">
        <p14:creationId xmlns:p14="http://schemas.microsoft.com/office/powerpoint/2010/main" val="5206646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a:t>
            </a:r>
            <a:br>
              <a:rPr lang="en-US" sz="1600" dirty="0" smtClean="0">
                <a:latin typeface="+mn-lt"/>
              </a:rPr>
            </a:br>
            <a:r>
              <a:rPr lang="en-US" sz="1600" dirty="0" smtClean="0">
                <a:latin typeface="+mn-lt"/>
              </a:rPr>
              <a:t>MI </a:t>
            </a:r>
            <a:r>
              <a:rPr lang="en-US" sz="1600" dirty="0">
                <a:latin typeface="+mn-lt"/>
              </a:rPr>
              <a:t>M</a:t>
            </a:r>
            <a:r>
              <a:rPr lang="en-US" sz="1600" dirty="0" smtClean="0">
                <a:latin typeface="+mn-lt"/>
              </a:rPr>
              <a:t>atching Method</a:t>
            </a:r>
            <a:endParaRPr lang="en-US" sz="1600" dirty="0">
              <a:latin typeface="+mn-lt"/>
            </a:endParaRPr>
          </a:p>
        </p:txBody>
      </p:sp>
      <p:sp>
        <p:nvSpPr>
          <p:cNvPr id="15" name="Rectangle 14"/>
          <p:cNvSpPr/>
          <p:nvPr/>
        </p:nvSpPr>
        <p:spPr>
          <a:xfrm>
            <a:off x="247857" y="13642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1966257"/>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03461"/>
            <a:ext cx="4069080" cy="307777"/>
          </a:xfrm>
          <a:prstGeom prst="rect">
            <a:avLst/>
          </a:prstGeom>
          <a:noFill/>
        </p:spPr>
        <p:txBody>
          <a:bodyPr wrap="square" rtlCol="0">
            <a:spAutoFit/>
          </a:bodyPr>
          <a:lstStyle/>
          <a:p>
            <a:r>
              <a:rPr lang="en-US" sz="1400" b="1" dirty="0">
                <a:latin typeface="+mn-lt"/>
              </a:rPr>
              <a:t>Three </a:t>
            </a:r>
            <a:r>
              <a:rPr lang="en-US" sz="1400" b="1" dirty="0" smtClean="0">
                <a:latin typeface="+mn-lt"/>
              </a:rPr>
              <a:t>Step </a:t>
            </a:r>
            <a:r>
              <a:rPr lang="en-US" sz="1400" b="1" dirty="0">
                <a:latin typeface="+mn-lt"/>
              </a:rPr>
              <a:t>Mapping</a:t>
            </a:r>
          </a:p>
        </p:txBody>
      </p:sp>
      <p:sp>
        <p:nvSpPr>
          <p:cNvPr id="18" name="TextBox 17"/>
          <p:cNvSpPr txBox="1"/>
          <p:nvPr/>
        </p:nvSpPr>
        <p:spPr>
          <a:xfrm>
            <a:off x="247857" y="2107219"/>
            <a:ext cx="5290930" cy="2354491"/>
          </a:xfrm>
          <a:prstGeom prst="rect">
            <a:avLst/>
          </a:prstGeom>
          <a:noFill/>
        </p:spPr>
        <p:txBody>
          <a:bodyPr wrap="square" rtlCol="0">
            <a:spAutoFit/>
          </a:bodyPr>
          <a:lstStyle/>
          <a:p>
            <a:pPr>
              <a:lnSpc>
                <a:spcPct val="150000"/>
              </a:lnSpc>
            </a:pPr>
            <a:r>
              <a:rPr lang="en-US" sz="1400" b="1" dirty="0" smtClean="0">
                <a:latin typeface="+mn-lt"/>
              </a:rPr>
              <a:t>Step 1: </a:t>
            </a:r>
            <a:r>
              <a:rPr lang="en-US" sz="1400" dirty="0" smtClean="0">
                <a:latin typeface="+mn-lt"/>
              </a:rPr>
              <a:t>The loan should be originated after June 2009 as a refi-NCO loan, with Origination LTV &gt;80%. Otherwise, it’s Non-</a:t>
            </a:r>
            <a:r>
              <a:rPr lang="en-US" sz="1400" dirty="0" err="1" smtClean="0">
                <a:latin typeface="+mn-lt"/>
              </a:rPr>
              <a:t>HARPed</a:t>
            </a:r>
            <a:r>
              <a:rPr lang="en-US" sz="1400" dirty="0" smtClean="0">
                <a:latin typeface="+mn-lt"/>
              </a:rPr>
              <a:t>.</a:t>
            </a:r>
          </a:p>
          <a:p>
            <a:pPr>
              <a:lnSpc>
                <a:spcPct val="150000"/>
              </a:lnSpc>
            </a:pPr>
            <a:r>
              <a:rPr lang="en-US" sz="1400" b="1" dirty="0" smtClean="0">
                <a:latin typeface="+mn-lt"/>
              </a:rPr>
              <a:t>Step 2: </a:t>
            </a:r>
            <a:r>
              <a:rPr lang="en-US" sz="1400" dirty="0" smtClean="0">
                <a:latin typeface="+mn-lt"/>
              </a:rPr>
              <a:t>If the loan doesn’t </a:t>
            </a:r>
            <a:r>
              <a:rPr lang="en-US" sz="1400" dirty="0">
                <a:latin typeface="+mn-lt"/>
              </a:rPr>
              <a:t>have </a:t>
            </a:r>
            <a:r>
              <a:rPr lang="en-US" sz="1400" dirty="0" smtClean="0">
                <a:latin typeface="+mn-lt"/>
              </a:rPr>
              <a:t>MI, we match it as </a:t>
            </a:r>
            <a:r>
              <a:rPr lang="en-US" sz="1400" dirty="0" err="1" smtClean="0">
                <a:latin typeface="+mn-lt"/>
              </a:rPr>
              <a:t>HARPed</a:t>
            </a:r>
            <a:r>
              <a:rPr lang="en-US" sz="1400" dirty="0" smtClean="0">
                <a:latin typeface="+mn-lt"/>
              </a:rPr>
              <a:t> loan;</a:t>
            </a:r>
          </a:p>
          <a:p>
            <a:pPr indent="571500">
              <a:lnSpc>
                <a:spcPct val="150000"/>
              </a:lnSpc>
            </a:pPr>
            <a:r>
              <a:rPr lang="en-US" sz="1400" dirty="0" smtClean="0">
                <a:latin typeface="+mn-lt"/>
              </a:rPr>
              <a:t>If </a:t>
            </a:r>
            <a:r>
              <a:rPr lang="en-US" sz="1400" dirty="0">
                <a:latin typeface="+mn-lt"/>
              </a:rPr>
              <a:t>not, go to step </a:t>
            </a:r>
            <a:r>
              <a:rPr lang="en-US" sz="1400" dirty="0" smtClean="0">
                <a:latin typeface="+mn-lt"/>
              </a:rPr>
              <a:t>3.</a:t>
            </a:r>
          </a:p>
          <a:p>
            <a:pPr marL="571500" indent="-571500">
              <a:lnSpc>
                <a:spcPct val="150000"/>
              </a:lnSpc>
            </a:pPr>
            <a:r>
              <a:rPr lang="en-US" sz="1400" b="1" dirty="0">
                <a:latin typeface="+mn-lt"/>
              </a:rPr>
              <a:t>Step </a:t>
            </a:r>
            <a:r>
              <a:rPr lang="en-US" sz="1400" b="1" dirty="0" smtClean="0">
                <a:latin typeface="+mn-lt"/>
              </a:rPr>
              <a:t>3: </a:t>
            </a:r>
            <a:r>
              <a:rPr lang="en-US" sz="1400" dirty="0" smtClean="0">
                <a:latin typeface="+mn-lt"/>
              </a:rPr>
              <a:t>For the loans that potentially carry over MI check whether MI matches current underwriting guidelines.  If there’s no match, then it’s a </a:t>
            </a:r>
            <a:r>
              <a:rPr lang="en-US" sz="1400" dirty="0" err="1" smtClean="0">
                <a:latin typeface="+mn-lt"/>
              </a:rPr>
              <a:t>HARPed</a:t>
            </a:r>
            <a:r>
              <a:rPr lang="en-US" sz="1400" dirty="0" smtClean="0">
                <a:latin typeface="+mn-lt"/>
              </a:rPr>
              <a:t> loan.</a:t>
            </a:r>
            <a:endParaRPr lang="en-US" sz="1400" dirty="0">
              <a:latin typeface="+mn-lt"/>
            </a:endParaRPr>
          </a:p>
        </p:txBody>
      </p:sp>
      <p:sp>
        <p:nvSpPr>
          <p:cNvPr id="19" name="Rectangle 18"/>
          <p:cNvSpPr/>
          <p:nvPr/>
        </p:nvSpPr>
        <p:spPr>
          <a:xfrm>
            <a:off x="269288" y="4556812"/>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269288" y="5158792"/>
            <a:ext cx="502899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40787" y="4695996"/>
            <a:ext cx="4069080"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2" name="TextBox 21"/>
          <p:cNvSpPr txBox="1"/>
          <p:nvPr/>
        </p:nvSpPr>
        <p:spPr>
          <a:xfrm>
            <a:off x="269288" y="5299754"/>
            <a:ext cx="5290930" cy="1061829"/>
          </a:xfrm>
          <a:prstGeom prst="rect">
            <a:avLst/>
          </a:prstGeom>
          <a:noFill/>
        </p:spPr>
        <p:txBody>
          <a:bodyPr wrap="square" rtlCol="0">
            <a:spAutoFit/>
          </a:bodyPr>
          <a:lstStyle/>
          <a:p>
            <a:pPr marL="342900" indent="-342900">
              <a:lnSpc>
                <a:spcPct val="150000"/>
              </a:lnSpc>
              <a:buAutoNum type="arabicPeriod"/>
            </a:pPr>
            <a:r>
              <a:rPr lang="en-US" sz="1400" dirty="0" smtClean="0">
                <a:latin typeface="+mn-lt"/>
              </a:rPr>
              <a:t>Cannot match loans with OLTV equal or lower than 80%.</a:t>
            </a:r>
          </a:p>
          <a:p>
            <a:pPr marL="342900" indent="-342900">
              <a:lnSpc>
                <a:spcPct val="150000"/>
              </a:lnSpc>
              <a:buAutoNum type="arabicPeriod"/>
            </a:pPr>
            <a:r>
              <a:rPr lang="en-US" sz="1400" dirty="0" smtClean="0">
                <a:latin typeface="+mn-lt"/>
              </a:rPr>
              <a:t>Highly sensitive to the correctness of MI underwriting guidelines.</a:t>
            </a:r>
          </a:p>
          <a:p>
            <a:pPr>
              <a:lnSpc>
                <a:spcPct val="150000"/>
              </a:lnSpc>
            </a:pPr>
            <a:r>
              <a:rPr lang="en-US" sz="1400" dirty="0" smtClean="0">
                <a:latin typeface="+mn-lt"/>
              </a:rPr>
              <a:t>          </a:t>
            </a:r>
            <a:endParaRPr lang="en-US" sz="1400" dirty="0">
              <a:latin typeface="+mn-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7372" y="1642407"/>
            <a:ext cx="3990975" cy="4819650"/>
          </a:xfrm>
          <a:prstGeom prst="rect">
            <a:avLst/>
          </a:prstGeom>
        </p:spPr>
      </p:pic>
    </p:spTree>
    <p:extLst>
      <p:ext uri="{BB962C8B-B14F-4D97-AF65-F5344CB8AC3E}">
        <p14:creationId xmlns:p14="http://schemas.microsoft.com/office/powerpoint/2010/main" val="3971985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Credit Dataset Mapping Method</a:t>
            </a:r>
            <a:endParaRPr lang="en-US" sz="1600" dirty="0">
              <a:latin typeface="+mn-lt"/>
            </a:endParaRPr>
          </a:p>
        </p:txBody>
      </p:sp>
      <p:grpSp>
        <p:nvGrpSpPr>
          <p:cNvPr id="7" name="Group 6"/>
          <p:cNvGrpSpPr/>
          <p:nvPr/>
        </p:nvGrpSpPr>
        <p:grpSpPr>
          <a:xfrm>
            <a:off x="247856" y="1440477"/>
            <a:ext cx="3266869" cy="4888817"/>
            <a:chOff x="247856" y="1440477"/>
            <a:chExt cx="3962193" cy="4888817"/>
          </a:xfrm>
        </p:grpSpPr>
        <p:sp>
          <p:nvSpPr>
            <p:cNvPr id="15" name="Rectangle 14"/>
            <p:cNvSpPr/>
            <p:nvPr/>
          </p:nvSpPr>
          <p:spPr>
            <a:xfrm>
              <a:off x="247857" y="1440477"/>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p:nvPr/>
          </p:nvCxnSpPr>
          <p:spPr>
            <a:xfrm>
              <a:off x="247857" y="20424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19356" y="1579661"/>
              <a:ext cx="3285919" cy="307777"/>
            </a:xfrm>
            <a:prstGeom prst="rect">
              <a:avLst/>
            </a:prstGeom>
            <a:noFill/>
          </p:spPr>
          <p:txBody>
            <a:bodyPr wrap="square" rtlCol="0">
              <a:spAutoFit/>
            </a:bodyPr>
            <a:lstStyle/>
            <a:p>
              <a:r>
                <a:rPr lang="en-US" sz="1400" b="1" dirty="0" smtClean="0">
                  <a:latin typeface="+mn-lt"/>
                </a:rPr>
                <a:t>Credit Data Mapping</a:t>
              </a:r>
              <a:endParaRPr lang="en-US" sz="1400" b="1" dirty="0">
                <a:latin typeface="+mn-lt"/>
              </a:endParaRPr>
            </a:p>
          </p:txBody>
        </p:sp>
        <p:sp>
          <p:nvSpPr>
            <p:cNvPr id="18" name="TextBox 17"/>
            <p:cNvSpPr txBox="1"/>
            <p:nvPr/>
          </p:nvSpPr>
          <p:spPr>
            <a:xfrm>
              <a:off x="247856" y="2183419"/>
              <a:ext cx="3962193" cy="13849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No restrictions on OLTV &gt; 80%.</a:t>
              </a:r>
            </a:p>
            <a:p>
              <a:pPr marL="285750" indent="-285750">
                <a:lnSpc>
                  <a:spcPct val="150000"/>
                </a:lnSpc>
                <a:buFont typeface="Arial" panose="020B0604020202020204" pitchFamily="34" charset="0"/>
                <a:buChar char="•"/>
              </a:pPr>
              <a:r>
                <a:rPr lang="en-US" sz="1400" dirty="0" smtClean="0">
                  <a:latin typeface="+mn-lt"/>
                </a:rPr>
                <a:t>More accurate as there is no dependency on MI underwriting criteria. </a:t>
              </a:r>
              <a:endParaRPr lang="en-US" sz="1400" dirty="0">
                <a:latin typeface="+mn-lt"/>
              </a:endParaRPr>
            </a:p>
          </p:txBody>
        </p:sp>
        <p:sp>
          <p:nvSpPr>
            <p:cNvPr id="23" name="Rectangle 22"/>
            <p:cNvSpPr/>
            <p:nvPr/>
          </p:nvSpPr>
          <p:spPr>
            <a:xfrm>
              <a:off x="247857" y="3688377"/>
              <a:ext cx="435663"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p:cNvCxnSpPr/>
            <p:nvPr/>
          </p:nvCxnSpPr>
          <p:spPr>
            <a:xfrm>
              <a:off x="247857" y="4290357"/>
              <a:ext cx="378121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9356" y="3827561"/>
              <a:ext cx="3285919" cy="307777"/>
            </a:xfrm>
            <a:prstGeom prst="rect">
              <a:avLst/>
            </a:prstGeom>
            <a:noFill/>
          </p:spPr>
          <p:txBody>
            <a:bodyPr wrap="square" rtlCol="0">
              <a:spAutoFit/>
            </a:bodyPr>
            <a:lstStyle/>
            <a:p>
              <a:r>
                <a:rPr lang="en-US" sz="1400" b="1" dirty="0" smtClean="0">
                  <a:latin typeface="+mn-lt"/>
                </a:rPr>
                <a:t>Cons</a:t>
              </a:r>
              <a:endParaRPr lang="en-US" sz="1400" b="1" dirty="0">
                <a:latin typeface="+mn-lt"/>
              </a:endParaRPr>
            </a:p>
          </p:txBody>
        </p:sp>
        <p:sp>
          <p:nvSpPr>
            <p:cNvPr id="26" name="TextBox 25"/>
            <p:cNvSpPr txBox="1"/>
            <p:nvPr/>
          </p:nvSpPr>
          <p:spPr>
            <a:xfrm>
              <a:off x="247856" y="4297969"/>
              <a:ext cx="3962193" cy="20313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The credit data set has about a one year lag, meaning we don’t have the most recent origination data. Consequently, we have to mark the HARP status as unknown for recently (within the last year) originated loans.</a:t>
              </a:r>
              <a:endParaRPr lang="en-US" sz="1400" dirty="0">
                <a:latin typeface="+mn-lt"/>
              </a:endParaRPr>
            </a:p>
          </p:txBody>
        </p:sp>
      </p:gr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1816" y="1440477"/>
            <a:ext cx="6093321" cy="5350416"/>
          </a:xfrm>
          <a:prstGeom prst="rect">
            <a:avLst/>
          </a:prstGeom>
        </p:spPr>
      </p:pic>
    </p:spTree>
    <p:extLst>
      <p:ext uri="{BB962C8B-B14F-4D97-AF65-F5344CB8AC3E}">
        <p14:creationId xmlns:p14="http://schemas.microsoft.com/office/powerpoint/2010/main" val="34881202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EXISTING ALGORITHM II</a:t>
            </a:r>
            <a:br>
              <a:rPr lang="en-US" sz="1600" dirty="0" smtClean="0">
                <a:latin typeface="+mn-lt"/>
              </a:rPr>
            </a:br>
            <a:r>
              <a:rPr lang="en-US" sz="1600" dirty="0" smtClean="0">
                <a:latin typeface="+mn-lt"/>
              </a:rPr>
              <a:t>Results from the Credit Dataset Mapping Method</a:t>
            </a:r>
            <a:endParaRPr lang="en-US" sz="1600" dirty="0">
              <a:latin typeface="+mn-lt"/>
            </a:endParaRPr>
          </a:p>
        </p:txBody>
      </p:sp>
      <p:graphicFrame>
        <p:nvGraphicFramePr>
          <p:cNvPr id="3" name="Chart 2"/>
          <p:cNvGraphicFramePr/>
          <p:nvPr>
            <p:extLst>
              <p:ext uri="{D42A27DB-BD31-4B8C-83A1-F6EECF244321}">
                <p14:modId xmlns:p14="http://schemas.microsoft.com/office/powerpoint/2010/main" val="874897542"/>
              </p:ext>
            </p:extLst>
          </p:nvPr>
        </p:nvGraphicFramePr>
        <p:xfrm>
          <a:off x="699715" y="1160890"/>
          <a:ext cx="8674873" cy="42619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3808674" y="3983603"/>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sp>
        <p:nvSpPr>
          <p:cNvPr id="19" name="TextBox 18"/>
          <p:cNvSpPr txBox="1"/>
          <p:nvPr/>
        </p:nvSpPr>
        <p:spPr>
          <a:xfrm>
            <a:off x="6135757" y="2609351"/>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20" name="TextBox 19"/>
          <p:cNvSpPr txBox="1"/>
          <p:nvPr/>
        </p:nvSpPr>
        <p:spPr>
          <a:xfrm>
            <a:off x="5430741" y="1579656"/>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21" name="TextBox 20"/>
          <p:cNvSpPr txBox="1"/>
          <p:nvPr/>
        </p:nvSpPr>
        <p:spPr>
          <a:xfrm>
            <a:off x="2291301" y="1395451"/>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22" name="TextBox 21"/>
          <p:cNvSpPr txBox="1"/>
          <p:nvPr/>
        </p:nvSpPr>
        <p:spPr>
          <a:xfrm>
            <a:off x="699715" y="5520731"/>
            <a:ext cx="8549586" cy="738664"/>
          </a:xfrm>
          <a:prstGeom prst="rect">
            <a:avLst/>
          </a:prstGeom>
          <a:noFill/>
        </p:spPr>
        <p:txBody>
          <a:bodyPr wrap="square" rtlCol="0">
            <a:spAutoFit/>
          </a:bodyPr>
          <a:lstStyle/>
          <a:p>
            <a:pPr>
              <a:lnSpc>
                <a:spcPct val="150000"/>
              </a:lnSpc>
            </a:pPr>
            <a:r>
              <a:rPr lang="en-US" sz="1400" dirty="0">
                <a:latin typeface="+mn-lt"/>
              </a:rPr>
              <a:t>T</a:t>
            </a:r>
            <a:r>
              <a:rPr lang="en-US" sz="1400" dirty="0" smtClean="0">
                <a:latin typeface="+mn-lt"/>
              </a:rPr>
              <a:t>he blue area can be consider as non-</a:t>
            </a:r>
            <a:r>
              <a:rPr lang="en-US" sz="1400" dirty="0" err="1" smtClean="0">
                <a:latin typeface="+mn-lt"/>
              </a:rPr>
              <a:t>HARPed</a:t>
            </a:r>
            <a:r>
              <a:rPr lang="en-US" sz="1400" dirty="0" smtClean="0">
                <a:latin typeface="+mn-lt"/>
              </a:rPr>
              <a:t> loans</a:t>
            </a:r>
            <a:r>
              <a:rPr lang="en-US" sz="1400" dirty="0">
                <a:latin typeface="+mn-lt"/>
              </a:rPr>
              <a:t>; </a:t>
            </a:r>
            <a:r>
              <a:rPr lang="en-US" sz="1400" dirty="0" smtClean="0">
                <a:latin typeface="+mn-lt"/>
              </a:rPr>
              <a:t>brown area is </a:t>
            </a:r>
            <a:r>
              <a:rPr lang="en-US" sz="1400" dirty="0" err="1" smtClean="0">
                <a:latin typeface="+mn-lt"/>
              </a:rPr>
              <a:t>HARPed</a:t>
            </a:r>
            <a:r>
              <a:rPr lang="en-US" sz="1400" dirty="0" smtClean="0">
                <a:latin typeface="+mn-lt"/>
              </a:rPr>
              <a:t> loans percentage.</a:t>
            </a:r>
          </a:p>
          <a:p>
            <a:pPr>
              <a:lnSpc>
                <a:spcPct val="150000"/>
              </a:lnSpc>
            </a:pPr>
            <a:r>
              <a:rPr lang="en-US" sz="1400" dirty="0" smtClean="0">
                <a:latin typeface="+mn-lt"/>
              </a:rPr>
              <a:t>Red area is the loans originated within the most recent year. The credit dataset has a gap on this area.</a:t>
            </a:r>
          </a:p>
        </p:txBody>
      </p:sp>
      <p:sp>
        <p:nvSpPr>
          <p:cNvPr id="8" name="Isosceles Triangle 7"/>
          <p:cNvSpPr/>
          <p:nvPr/>
        </p:nvSpPr>
        <p:spPr>
          <a:xfrm rot="10800000">
            <a:off x="3694042" y="6259396"/>
            <a:ext cx="2177332" cy="18116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699715" y="6500067"/>
            <a:ext cx="8549586" cy="382092"/>
          </a:xfrm>
          <a:prstGeom prst="rect">
            <a:avLst/>
          </a:prstGeom>
          <a:noFill/>
        </p:spPr>
        <p:txBody>
          <a:bodyPr wrap="square" rtlCol="0">
            <a:spAutoFit/>
          </a:bodyPr>
          <a:lstStyle/>
          <a:p>
            <a:pPr algn="ctr">
              <a:lnSpc>
                <a:spcPct val="150000"/>
              </a:lnSpc>
            </a:pPr>
            <a:r>
              <a:rPr lang="en-US" sz="1400" dirty="0" smtClean="0">
                <a:latin typeface="+mn-lt"/>
              </a:rPr>
              <a:t>Need to improve the mapping for the red area.</a:t>
            </a:r>
          </a:p>
        </p:txBody>
      </p:sp>
    </p:spTree>
    <p:extLst>
      <p:ext uri="{BB962C8B-B14F-4D97-AF65-F5344CB8AC3E}">
        <p14:creationId xmlns:p14="http://schemas.microsoft.com/office/powerpoint/2010/main" val="32266748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endParaRPr lang="en-US" sz="1600" dirty="0">
              <a:latin typeface="+mn-lt"/>
            </a:endParaRPr>
          </a:p>
        </p:txBody>
      </p:sp>
      <p:graphicFrame>
        <p:nvGraphicFramePr>
          <p:cNvPr id="16" name="Table 15"/>
          <p:cNvGraphicFramePr>
            <a:graphicFrameLocks noGrp="1"/>
          </p:cNvGraphicFramePr>
          <p:nvPr>
            <p:extLst>
              <p:ext uri="{D42A27DB-BD31-4B8C-83A1-F6EECF244321}">
                <p14:modId xmlns:p14="http://schemas.microsoft.com/office/powerpoint/2010/main" val="1361078369"/>
              </p:ext>
            </p:extLst>
          </p:nvPr>
        </p:nvGraphicFramePr>
        <p:xfrm>
          <a:off x="1229250" y="1698375"/>
          <a:ext cx="2809350" cy="1209926"/>
        </p:xfrm>
        <a:graphic>
          <a:graphicData uri="http://schemas.openxmlformats.org/drawingml/2006/table">
            <a:tbl>
              <a:tblPr>
                <a:tableStyleId>{5C22544A-7EE6-4342-B048-85BDC9FD1C3A}</a:tableStyleId>
              </a:tblPr>
              <a:tblGrid>
                <a:gridCol w="2174350"/>
                <a:gridCol w="635000"/>
              </a:tblGrid>
              <a:tr h="514829">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accent1"/>
                          </a:solidFill>
                        </a:rPr>
                        <a:t>Mapped Data</a:t>
                      </a: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txBody>
                  <a:tcPr anchor="ctr">
                    <a:solidFill>
                      <a:srgbClr val="F6D6E3"/>
                    </a:solidFill>
                  </a:tcPr>
                </a:tc>
              </a:tr>
              <a:tr h="695097">
                <a:tc>
                  <a:txBody>
                    <a:bodyPr/>
                    <a:lstStyle/>
                    <a:p>
                      <a:pPr algn="ctr"/>
                      <a:r>
                        <a:rPr lang="en-US" sz="800" dirty="0" smtClean="0">
                          <a:solidFill>
                            <a:schemeClr val="accent1"/>
                          </a:solidFill>
                        </a:rPr>
                        <a:t>Mapped Data</a:t>
                      </a:r>
                      <a:endParaRPr lang="en-US" sz="800" dirty="0">
                        <a:solidFill>
                          <a:schemeClr val="accent1"/>
                        </a:solidFill>
                      </a:endParaRP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p>
                      <a:pPr algn="ctr"/>
                      <a:endParaRPr lang="en-US" sz="800" dirty="0"/>
                    </a:p>
                  </a:txBody>
                  <a:tcPr anchor="ctr">
                    <a:solidFill>
                      <a:srgbClr val="F6D6E3"/>
                    </a:solidFill>
                  </a:tcPr>
                </a:tc>
              </a:tr>
            </a:tbl>
          </a:graphicData>
        </a:graphic>
      </p:graphicFrame>
      <p:grpSp>
        <p:nvGrpSpPr>
          <p:cNvPr id="18" name="Group 17"/>
          <p:cNvGrpSpPr/>
          <p:nvPr/>
        </p:nvGrpSpPr>
        <p:grpSpPr>
          <a:xfrm>
            <a:off x="644444" y="1218677"/>
            <a:ext cx="3708828" cy="1825347"/>
            <a:chOff x="644444" y="1218677"/>
            <a:chExt cx="3708828" cy="1825347"/>
          </a:xfrm>
        </p:grpSpPr>
        <p:cxnSp>
          <p:nvCxnSpPr>
            <p:cNvPr id="13" name="Straight Connector 12"/>
            <p:cNvCxnSpPr/>
            <p:nvPr/>
          </p:nvCxnSpPr>
          <p:spPr>
            <a:xfrm flipV="1">
              <a:off x="1216550" y="1685677"/>
              <a:ext cx="2941982"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217876" y="1685677"/>
              <a:ext cx="0" cy="1358347"/>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64909" y="1441351"/>
              <a:ext cx="757937" cy="230832"/>
            </a:xfrm>
            <a:prstGeom prst="rect">
              <a:avLst/>
            </a:prstGeom>
            <a:noFill/>
          </p:spPr>
          <p:txBody>
            <a:bodyPr wrap="square" rtlCol="0">
              <a:spAutoFit/>
            </a:bodyPr>
            <a:lstStyle/>
            <a:p>
              <a:pPr algn="ctr"/>
              <a:r>
                <a:rPr lang="en-US" sz="900" dirty="0" smtClean="0">
                  <a:latin typeface="+mn-lt"/>
                </a:rPr>
                <a:t>2014.01</a:t>
              </a:r>
              <a:endParaRPr lang="en-US" sz="900" dirty="0">
                <a:latin typeface="+mn-lt"/>
              </a:endParaRPr>
            </a:p>
          </p:txBody>
        </p:sp>
        <p:sp>
          <p:nvSpPr>
            <p:cNvPr id="24" name="TextBox 23"/>
            <p:cNvSpPr txBox="1"/>
            <p:nvPr/>
          </p:nvSpPr>
          <p:spPr>
            <a:xfrm rot="16200000">
              <a:off x="392433" y="1999352"/>
              <a:ext cx="757937" cy="253916"/>
            </a:xfrm>
            <a:prstGeom prst="rect">
              <a:avLst/>
            </a:prstGeom>
            <a:noFill/>
          </p:spPr>
          <p:txBody>
            <a:bodyPr wrap="square" rtlCol="0">
              <a:spAutoFit/>
            </a:bodyPr>
            <a:lstStyle/>
            <a:p>
              <a:pPr algn="ctr"/>
              <a:r>
                <a:rPr lang="en-US" sz="1050" b="1" dirty="0" smtClean="0">
                  <a:latin typeface="+mn-lt"/>
                </a:rPr>
                <a:t>OLTV</a:t>
              </a:r>
              <a:endParaRPr lang="en-US" sz="1050" b="1" dirty="0">
                <a:latin typeface="+mn-lt"/>
              </a:endParaRPr>
            </a:p>
          </p:txBody>
        </p:sp>
        <p:sp>
          <p:nvSpPr>
            <p:cNvPr id="25" name="TextBox 24"/>
            <p:cNvSpPr txBox="1"/>
            <p:nvPr/>
          </p:nvSpPr>
          <p:spPr>
            <a:xfrm>
              <a:off x="2308572" y="1218677"/>
              <a:ext cx="757937" cy="253916"/>
            </a:xfrm>
            <a:prstGeom prst="rect">
              <a:avLst/>
            </a:prstGeom>
            <a:noFill/>
          </p:spPr>
          <p:txBody>
            <a:bodyPr wrap="square" rtlCol="0">
              <a:spAutoFit/>
            </a:bodyPr>
            <a:lstStyle/>
            <a:p>
              <a:pPr algn="ctr"/>
              <a:r>
                <a:rPr lang="en-US" sz="1050" b="1" dirty="0" smtClean="0">
                  <a:latin typeface="+mn-lt"/>
                </a:rPr>
                <a:t>As of</a:t>
              </a:r>
              <a:endParaRPr lang="en-US" sz="1050" b="1" dirty="0">
                <a:latin typeface="+mn-lt"/>
              </a:endParaRPr>
            </a:p>
          </p:txBody>
        </p:sp>
        <p:sp>
          <p:nvSpPr>
            <p:cNvPr id="26" name="TextBox 25"/>
            <p:cNvSpPr txBox="1"/>
            <p:nvPr/>
          </p:nvSpPr>
          <p:spPr>
            <a:xfrm>
              <a:off x="824991" y="2094532"/>
              <a:ext cx="378969" cy="230832"/>
            </a:xfrm>
            <a:prstGeom prst="rect">
              <a:avLst/>
            </a:prstGeom>
            <a:noFill/>
          </p:spPr>
          <p:txBody>
            <a:bodyPr wrap="square" rtlCol="0">
              <a:spAutoFit/>
            </a:bodyPr>
            <a:lstStyle/>
            <a:p>
              <a:pPr algn="r"/>
              <a:r>
                <a:rPr lang="en-US" sz="900" dirty="0" smtClean="0">
                  <a:latin typeface="+mn-lt"/>
                </a:rPr>
                <a:t>80</a:t>
              </a:r>
              <a:endParaRPr lang="en-US" sz="900" dirty="0">
                <a:latin typeface="+mn-lt"/>
              </a:endParaRPr>
            </a:p>
          </p:txBody>
        </p:sp>
        <p:sp>
          <p:nvSpPr>
            <p:cNvPr id="17" name="TextBox 16"/>
            <p:cNvSpPr txBox="1"/>
            <p:nvPr/>
          </p:nvSpPr>
          <p:spPr>
            <a:xfrm>
              <a:off x="937078" y="2298724"/>
              <a:ext cx="323165" cy="309435"/>
            </a:xfrm>
            <a:prstGeom prst="rect">
              <a:avLst/>
            </a:prstGeom>
            <a:noFill/>
          </p:spPr>
          <p:txBody>
            <a:bodyPr vert="eaVert" wrap="square" rtlCol="0">
              <a:spAutoFit/>
            </a:bodyPr>
            <a:lstStyle/>
            <a:p>
              <a:r>
                <a:rPr lang="en-US" sz="900" dirty="0" smtClean="0"/>
                <a:t>...</a:t>
              </a:r>
              <a:endParaRPr lang="en-US" sz="900" dirty="0"/>
            </a:p>
          </p:txBody>
        </p:sp>
        <p:sp>
          <p:nvSpPr>
            <p:cNvPr id="28" name="TextBox 27"/>
            <p:cNvSpPr txBox="1"/>
            <p:nvPr/>
          </p:nvSpPr>
          <p:spPr>
            <a:xfrm rot="5400000">
              <a:off x="2687541" y="1454075"/>
              <a:ext cx="323165" cy="309435"/>
            </a:xfrm>
            <a:prstGeom prst="rect">
              <a:avLst/>
            </a:prstGeom>
            <a:noFill/>
          </p:spPr>
          <p:txBody>
            <a:bodyPr vert="eaVert" wrap="square" rtlCol="0">
              <a:spAutoFit/>
            </a:bodyPr>
            <a:lstStyle/>
            <a:p>
              <a:r>
                <a:rPr lang="en-US" sz="900" dirty="0" smtClean="0"/>
                <a:t>...</a:t>
              </a:r>
              <a:endParaRPr lang="en-US" sz="900" dirty="0"/>
            </a:p>
          </p:txBody>
        </p:sp>
        <p:sp>
          <p:nvSpPr>
            <p:cNvPr id="38" name="TextBox 37"/>
            <p:cNvSpPr txBox="1"/>
            <p:nvPr/>
          </p:nvSpPr>
          <p:spPr>
            <a:xfrm>
              <a:off x="1550635" y="1441351"/>
              <a:ext cx="757937" cy="230832"/>
            </a:xfrm>
            <a:prstGeom prst="rect">
              <a:avLst/>
            </a:prstGeom>
            <a:noFill/>
          </p:spPr>
          <p:txBody>
            <a:bodyPr wrap="square" rtlCol="0">
              <a:spAutoFit/>
            </a:bodyPr>
            <a:lstStyle/>
            <a:p>
              <a:pPr algn="ctr"/>
              <a:r>
                <a:rPr lang="en-US" sz="900" dirty="0" smtClean="0">
                  <a:latin typeface="+mn-lt"/>
                </a:rPr>
                <a:t>2009.01</a:t>
              </a:r>
              <a:endParaRPr lang="en-US" sz="900" dirty="0">
                <a:latin typeface="+mn-lt"/>
              </a:endParaRPr>
            </a:p>
          </p:txBody>
        </p:sp>
        <p:sp>
          <p:nvSpPr>
            <p:cNvPr id="39" name="TextBox 38"/>
            <p:cNvSpPr txBox="1"/>
            <p:nvPr/>
          </p:nvSpPr>
          <p:spPr>
            <a:xfrm>
              <a:off x="3595335" y="1441351"/>
              <a:ext cx="757937" cy="230832"/>
            </a:xfrm>
            <a:prstGeom prst="rect">
              <a:avLst/>
            </a:prstGeom>
            <a:noFill/>
          </p:spPr>
          <p:txBody>
            <a:bodyPr wrap="square" rtlCol="0">
              <a:spAutoFit/>
            </a:bodyPr>
            <a:lstStyle/>
            <a:p>
              <a:pPr algn="ctr"/>
              <a:r>
                <a:rPr lang="en-US" sz="900" dirty="0" smtClean="0">
                  <a:latin typeface="+mn-lt"/>
                </a:rPr>
                <a:t>2016.01</a:t>
              </a:r>
              <a:endParaRPr lang="en-US" sz="900" dirty="0">
                <a:latin typeface="+mn-lt"/>
              </a:endParaRPr>
            </a:p>
          </p:txBody>
        </p:sp>
        <p:sp>
          <p:nvSpPr>
            <p:cNvPr id="40" name="TextBox 39"/>
            <p:cNvSpPr txBox="1"/>
            <p:nvPr/>
          </p:nvSpPr>
          <p:spPr>
            <a:xfrm>
              <a:off x="839327" y="2567533"/>
              <a:ext cx="378969" cy="230832"/>
            </a:xfrm>
            <a:prstGeom prst="rect">
              <a:avLst/>
            </a:prstGeom>
            <a:noFill/>
          </p:spPr>
          <p:txBody>
            <a:bodyPr wrap="square" rtlCol="0">
              <a:spAutoFit/>
            </a:bodyPr>
            <a:lstStyle/>
            <a:p>
              <a:pPr algn="r"/>
              <a:r>
                <a:rPr lang="en-US" sz="900" dirty="0">
                  <a:latin typeface="+mn-lt"/>
                </a:rPr>
                <a:t>3</a:t>
              </a:r>
              <a:r>
                <a:rPr lang="en-US" sz="900" dirty="0" smtClean="0">
                  <a:latin typeface="+mn-lt"/>
                </a:rPr>
                <a:t>0</a:t>
              </a:r>
              <a:endParaRPr lang="en-US" sz="900" dirty="0">
                <a:latin typeface="+mn-lt"/>
              </a:endParaRPr>
            </a:p>
          </p:txBody>
        </p:sp>
        <p:sp>
          <p:nvSpPr>
            <p:cNvPr id="41" name="TextBox 40"/>
            <p:cNvSpPr txBox="1"/>
            <p:nvPr/>
          </p:nvSpPr>
          <p:spPr>
            <a:xfrm>
              <a:off x="839327" y="1617275"/>
              <a:ext cx="378969" cy="230832"/>
            </a:xfrm>
            <a:prstGeom prst="rect">
              <a:avLst/>
            </a:prstGeom>
            <a:noFill/>
          </p:spPr>
          <p:txBody>
            <a:bodyPr wrap="square" rtlCol="0">
              <a:spAutoFit/>
            </a:bodyPr>
            <a:lstStyle/>
            <a:p>
              <a:pPr algn="r"/>
              <a:r>
                <a:rPr lang="en-US" sz="900" dirty="0" smtClean="0">
                  <a:latin typeface="+mn-lt"/>
                </a:rPr>
                <a:t>120</a:t>
              </a:r>
              <a:endParaRPr lang="en-US" sz="900" dirty="0">
                <a:latin typeface="+mn-lt"/>
              </a:endParaRPr>
            </a:p>
          </p:txBody>
        </p:sp>
      </p:grpSp>
      <p:graphicFrame>
        <p:nvGraphicFramePr>
          <p:cNvPr id="42" name="Table 41"/>
          <p:cNvGraphicFramePr>
            <a:graphicFrameLocks noGrp="1"/>
          </p:cNvGraphicFramePr>
          <p:nvPr>
            <p:extLst>
              <p:ext uri="{D42A27DB-BD31-4B8C-83A1-F6EECF244321}">
                <p14:modId xmlns:p14="http://schemas.microsoft.com/office/powerpoint/2010/main" val="4270925963"/>
              </p:ext>
            </p:extLst>
          </p:nvPr>
        </p:nvGraphicFramePr>
        <p:xfrm>
          <a:off x="1229250" y="3525865"/>
          <a:ext cx="2809350" cy="1211236"/>
        </p:xfrm>
        <a:graphic>
          <a:graphicData uri="http://schemas.openxmlformats.org/drawingml/2006/table">
            <a:tbl>
              <a:tblPr>
                <a:tableStyleId>{5C22544A-7EE6-4342-B048-85BDC9FD1C3A}</a:tableStyleId>
              </a:tblPr>
              <a:tblGrid>
                <a:gridCol w="2174350"/>
                <a:gridCol w="635000"/>
              </a:tblGrid>
              <a:tr h="491651">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rPr>
                        <a:t>Mapped Data</a:t>
                      </a:r>
                    </a:p>
                  </a:txBody>
                  <a:tcPr anchor="ctr">
                    <a:solidFill>
                      <a:schemeClr val="bg2"/>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rPr>
                        <a:t>Mapped Data</a:t>
                      </a:r>
                    </a:p>
                  </a:txBody>
                  <a:tcPr anchor="ctr">
                    <a:solidFill>
                      <a:schemeClr val="bg2"/>
                    </a:solidFill>
                  </a:tcPr>
                </a:tc>
              </a:tr>
              <a:tr h="719585">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txBody>
                  <a:tcPr anchor="ctr">
                    <a:solidFill>
                      <a:srgbClr val="F6D6E3"/>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txBody>
                  <a:tcPr anchor="ctr">
                    <a:solidFill>
                      <a:srgbClr val="F6D6E3"/>
                    </a:solidFill>
                  </a:tcPr>
                </a:tc>
              </a:tr>
            </a:tbl>
          </a:graphicData>
        </a:graphic>
      </p:graphicFrame>
      <p:grpSp>
        <p:nvGrpSpPr>
          <p:cNvPr id="43" name="Group 42"/>
          <p:cNvGrpSpPr/>
          <p:nvPr/>
        </p:nvGrpSpPr>
        <p:grpSpPr>
          <a:xfrm>
            <a:off x="644444" y="3046167"/>
            <a:ext cx="3708828" cy="1825347"/>
            <a:chOff x="644444" y="1218677"/>
            <a:chExt cx="3708828" cy="1825347"/>
          </a:xfrm>
        </p:grpSpPr>
        <p:cxnSp>
          <p:nvCxnSpPr>
            <p:cNvPr id="44" name="Straight Connector 43"/>
            <p:cNvCxnSpPr/>
            <p:nvPr/>
          </p:nvCxnSpPr>
          <p:spPr>
            <a:xfrm flipV="1">
              <a:off x="1216550" y="1685677"/>
              <a:ext cx="2941982"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217876" y="1685677"/>
              <a:ext cx="0" cy="1358347"/>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2964909" y="1441351"/>
              <a:ext cx="757937" cy="230832"/>
            </a:xfrm>
            <a:prstGeom prst="rect">
              <a:avLst/>
            </a:prstGeom>
            <a:noFill/>
          </p:spPr>
          <p:txBody>
            <a:bodyPr wrap="square" rtlCol="0">
              <a:spAutoFit/>
            </a:bodyPr>
            <a:lstStyle/>
            <a:p>
              <a:pPr algn="ctr"/>
              <a:r>
                <a:rPr lang="en-US" sz="900" dirty="0" smtClean="0">
                  <a:latin typeface="+mn-lt"/>
                </a:rPr>
                <a:t>2014.01</a:t>
              </a:r>
              <a:endParaRPr lang="en-US" sz="900" dirty="0">
                <a:latin typeface="+mn-lt"/>
              </a:endParaRPr>
            </a:p>
          </p:txBody>
        </p:sp>
        <p:sp>
          <p:nvSpPr>
            <p:cNvPr id="47" name="TextBox 46"/>
            <p:cNvSpPr txBox="1"/>
            <p:nvPr/>
          </p:nvSpPr>
          <p:spPr>
            <a:xfrm rot="16200000">
              <a:off x="392433" y="1999352"/>
              <a:ext cx="757937" cy="253916"/>
            </a:xfrm>
            <a:prstGeom prst="rect">
              <a:avLst/>
            </a:prstGeom>
            <a:noFill/>
          </p:spPr>
          <p:txBody>
            <a:bodyPr wrap="square" rtlCol="0">
              <a:spAutoFit/>
            </a:bodyPr>
            <a:lstStyle/>
            <a:p>
              <a:pPr algn="ctr"/>
              <a:r>
                <a:rPr lang="en-US" sz="1050" b="1" dirty="0" smtClean="0">
                  <a:latin typeface="+mn-lt"/>
                </a:rPr>
                <a:t>OLTV</a:t>
              </a:r>
              <a:endParaRPr lang="en-US" sz="1050" b="1" dirty="0">
                <a:latin typeface="+mn-lt"/>
              </a:endParaRPr>
            </a:p>
          </p:txBody>
        </p:sp>
        <p:sp>
          <p:nvSpPr>
            <p:cNvPr id="48" name="TextBox 47"/>
            <p:cNvSpPr txBox="1"/>
            <p:nvPr/>
          </p:nvSpPr>
          <p:spPr>
            <a:xfrm>
              <a:off x="2308572" y="1218677"/>
              <a:ext cx="757937" cy="253916"/>
            </a:xfrm>
            <a:prstGeom prst="rect">
              <a:avLst/>
            </a:prstGeom>
            <a:noFill/>
          </p:spPr>
          <p:txBody>
            <a:bodyPr wrap="square" rtlCol="0">
              <a:spAutoFit/>
            </a:bodyPr>
            <a:lstStyle/>
            <a:p>
              <a:pPr algn="ctr"/>
              <a:r>
                <a:rPr lang="en-US" sz="1050" b="1" dirty="0" smtClean="0">
                  <a:latin typeface="+mn-lt"/>
                </a:rPr>
                <a:t>As of</a:t>
              </a:r>
              <a:endParaRPr lang="en-US" sz="1050" b="1" dirty="0">
                <a:latin typeface="+mn-lt"/>
              </a:endParaRPr>
            </a:p>
          </p:txBody>
        </p:sp>
        <p:sp>
          <p:nvSpPr>
            <p:cNvPr id="49" name="TextBox 48"/>
            <p:cNvSpPr txBox="1"/>
            <p:nvPr/>
          </p:nvSpPr>
          <p:spPr>
            <a:xfrm>
              <a:off x="824991" y="2069132"/>
              <a:ext cx="378969" cy="230832"/>
            </a:xfrm>
            <a:prstGeom prst="rect">
              <a:avLst/>
            </a:prstGeom>
            <a:noFill/>
          </p:spPr>
          <p:txBody>
            <a:bodyPr wrap="square" rtlCol="0">
              <a:spAutoFit/>
            </a:bodyPr>
            <a:lstStyle/>
            <a:p>
              <a:pPr algn="r"/>
              <a:r>
                <a:rPr lang="en-US" sz="900" dirty="0" smtClean="0">
                  <a:latin typeface="+mn-lt"/>
                </a:rPr>
                <a:t>80</a:t>
              </a:r>
              <a:endParaRPr lang="en-US" sz="900" dirty="0">
                <a:latin typeface="+mn-lt"/>
              </a:endParaRPr>
            </a:p>
          </p:txBody>
        </p:sp>
        <p:sp>
          <p:nvSpPr>
            <p:cNvPr id="50" name="TextBox 49"/>
            <p:cNvSpPr txBox="1"/>
            <p:nvPr/>
          </p:nvSpPr>
          <p:spPr>
            <a:xfrm>
              <a:off x="937078" y="2273324"/>
              <a:ext cx="323165" cy="309435"/>
            </a:xfrm>
            <a:prstGeom prst="rect">
              <a:avLst/>
            </a:prstGeom>
            <a:noFill/>
          </p:spPr>
          <p:txBody>
            <a:bodyPr vert="eaVert" wrap="square" rtlCol="0">
              <a:spAutoFit/>
            </a:bodyPr>
            <a:lstStyle/>
            <a:p>
              <a:r>
                <a:rPr lang="en-US" sz="900" dirty="0" smtClean="0"/>
                <a:t>...</a:t>
              </a:r>
              <a:endParaRPr lang="en-US" sz="900" dirty="0"/>
            </a:p>
          </p:txBody>
        </p:sp>
        <p:sp>
          <p:nvSpPr>
            <p:cNvPr id="51" name="TextBox 50"/>
            <p:cNvSpPr txBox="1"/>
            <p:nvPr/>
          </p:nvSpPr>
          <p:spPr>
            <a:xfrm rot="5400000">
              <a:off x="2687541" y="1454075"/>
              <a:ext cx="323165" cy="309435"/>
            </a:xfrm>
            <a:prstGeom prst="rect">
              <a:avLst/>
            </a:prstGeom>
            <a:noFill/>
          </p:spPr>
          <p:txBody>
            <a:bodyPr vert="eaVert" wrap="square" rtlCol="0">
              <a:spAutoFit/>
            </a:bodyPr>
            <a:lstStyle/>
            <a:p>
              <a:r>
                <a:rPr lang="en-US" sz="900" dirty="0" smtClean="0"/>
                <a:t>...</a:t>
              </a:r>
              <a:endParaRPr lang="en-US" sz="900" dirty="0"/>
            </a:p>
          </p:txBody>
        </p:sp>
        <p:sp>
          <p:nvSpPr>
            <p:cNvPr id="52" name="TextBox 51"/>
            <p:cNvSpPr txBox="1"/>
            <p:nvPr/>
          </p:nvSpPr>
          <p:spPr>
            <a:xfrm>
              <a:off x="1550635" y="1441351"/>
              <a:ext cx="757937" cy="230832"/>
            </a:xfrm>
            <a:prstGeom prst="rect">
              <a:avLst/>
            </a:prstGeom>
            <a:noFill/>
          </p:spPr>
          <p:txBody>
            <a:bodyPr wrap="square" rtlCol="0">
              <a:spAutoFit/>
            </a:bodyPr>
            <a:lstStyle/>
            <a:p>
              <a:pPr algn="ctr"/>
              <a:r>
                <a:rPr lang="en-US" sz="900" dirty="0" smtClean="0">
                  <a:latin typeface="+mn-lt"/>
                </a:rPr>
                <a:t>2009.01</a:t>
              </a:r>
              <a:endParaRPr lang="en-US" sz="900" dirty="0">
                <a:latin typeface="+mn-lt"/>
              </a:endParaRPr>
            </a:p>
          </p:txBody>
        </p:sp>
        <p:sp>
          <p:nvSpPr>
            <p:cNvPr id="53" name="TextBox 52"/>
            <p:cNvSpPr txBox="1"/>
            <p:nvPr/>
          </p:nvSpPr>
          <p:spPr>
            <a:xfrm>
              <a:off x="3595335" y="1441351"/>
              <a:ext cx="757937" cy="230832"/>
            </a:xfrm>
            <a:prstGeom prst="rect">
              <a:avLst/>
            </a:prstGeom>
            <a:noFill/>
          </p:spPr>
          <p:txBody>
            <a:bodyPr wrap="square" rtlCol="0">
              <a:spAutoFit/>
            </a:bodyPr>
            <a:lstStyle/>
            <a:p>
              <a:pPr algn="ctr"/>
              <a:r>
                <a:rPr lang="en-US" sz="900" dirty="0" smtClean="0">
                  <a:latin typeface="+mn-lt"/>
                </a:rPr>
                <a:t>2016.01</a:t>
              </a:r>
              <a:endParaRPr lang="en-US" sz="900" dirty="0">
                <a:latin typeface="+mn-lt"/>
              </a:endParaRPr>
            </a:p>
          </p:txBody>
        </p:sp>
        <p:sp>
          <p:nvSpPr>
            <p:cNvPr id="54" name="TextBox 53"/>
            <p:cNvSpPr txBox="1"/>
            <p:nvPr/>
          </p:nvSpPr>
          <p:spPr>
            <a:xfrm>
              <a:off x="839327" y="2567533"/>
              <a:ext cx="378969" cy="230832"/>
            </a:xfrm>
            <a:prstGeom prst="rect">
              <a:avLst/>
            </a:prstGeom>
            <a:noFill/>
          </p:spPr>
          <p:txBody>
            <a:bodyPr wrap="square" rtlCol="0">
              <a:spAutoFit/>
            </a:bodyPr>
            <a:lstStyle/>
            <a:p>
              <a:pPr algn="r"/>
              <a:r>
                <a:rPr lang="en-US" sz="900" dirty="0">
                  <a:latin typeface="+mn-lt"/>
                </a:rPr>
                <a:t>3</a:t>
              </a:r>
              <a:r>
                <a:rPr lang="en-US" sz="900" dirty="0" smtClean="0">
                  <a:latin typeface="+mn-lt"/>
                </a:rPr>
                <a:t>0</a:t>
              </a:r>
              <a:endParaRPr lang="en-US" sz="900" dirty="0">
                <a:latin typeface="+mn-lt"/>
              </a:endParaRPr>
            </a:p>
          </p:txBody>
        </p:sp>
        <p:sp>
          <p:nvSpPr>
            <p:cNvPr id="55" name="TextBox 54"/>
            <p:cNvSpPr txBox="1"/>
            <p:nvPr/>
          </p:nvSpPr>
          <p:spPr>
            <a:xfrm>
              <a:off x="839327" y="1617275"/>
              <a:ext cx="378969" cy="230832"/>
            </a:xfrm>
            <a:prstGeom prst="rect">
              <a:avLst/>
            </a:prstGeom>
            <a:noFill/>
          </p:spPr>
          <p:txBody>
            <a:bodyPr wrap="square" rtlCol="0">
              <a:spAutoFit/>
            </a:bodyPr>
            <a:lstStyle/>
            <a:p>
              <a:pPr algn="r"/>
              <a:r>
                <a:rPr lang="en-US" sz="900" dirty="0" smtClean="0">
                  <a:latin typeface="+mn-lt"/>
                </a:rPr>
                <a:t>120</a:t>
              </a:r>
              <a:endParaRPr lang="en-US" sz="900" dirty="0">
                <a:latin typeface="+mn-lt"/>
              </a:endParaRPr>
            </a:p>
          </p:txBody>
        </p:sp>
      </p:grpSp>
      <p:graphicFrame>
        <p:nvGraphicFramePr>
          <p:cNvPr id="56" name="Table 55"/>
          <p:cNvGraphicFramePr>
            <a:graphicFrameLocks noGrp="1"/>
          </p:cNvGraphicFramePr>
          <p:nvPr>
            <p:extLst>
              <p:ext uri="{D42A27DB-BD31-4B8C-83A1-F6EECF244321}">
                <p14:modId xmlns:p14="http://schemas.microsoft.com/office/powerpoint/2010/main" val="1081402893"/>
              </p:ext>
            </p:extLst>
          </p:nvPr>
        </p:nvGraphicFramePr>
        <p:xfrm>
          <a:off x="1229250" y="5811865"/>
          <a:ext cx="2809350" cy="1179486"/>
        </p:xfrm>
        <a:graphic>
          <a:graphicData uri="http://schemas.openxmlformats.org/drawingml/2006/table">
            <a:tbl>
              <a:tblPr>
                <a:tableStyleId>{5C22544A-7EE6-4342-B048-85BDC9FD1C3A}</a:tableStyleId>
              </a:tblPr>
              <a:tblGrid>
                <a:gridCol w="2174350"/>
                <a:gridCol w="635000"/>
              </a:tblGrid>
              <a:tr h="478763">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accent1"/>
                          </a:solidFill>
                        </a:rPr>
                        <a:t>Mapped Data</a:t>
                      </a:r>
                    </a:p>
                    <a:p>
                      <a:pPr algn="ctr"/>
                      <a:endParaRPr lang="en-US" sz="100" dirty="0">
                        <a:solidFill>
                          <a:schemeClr val="accent1"/>
                        </a:solidFill>
                      </a:endParaRP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bg2">
                              <a:lumMod val="25000"/>
                            </a:schemeClr>
                          </a:solidFill>
                        </a:rPr>
                        <a:t>Mapped Data</a:t>
                      </a:r>
                    </a:p>
                    <a:p>
                      <a:pPr algn="ctr"/>
                      <a:endParaRPr lang="en-US" sz="100" dirty="0"/>
                    </a:p>
                  </a:txBody>
                  <a:tcPr anchor="ctr">
                    <a:solidFill>
                      <a:schemeClr val="bg2"/>
                    </a:solidFill>
                  </a:tcPr>
                </a:tc>
              </a:tr>
              <a:tr h="700723">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chemeClr val="accent1"/>
                          </a:solidFill>
                        </a:rPr>
                        <a:t>Mapped Data</a:t>
                      </a:r>
                    </a:p>
                    <a:p>
                      <a:pPr algn="ctr"/>
                      <a:endParaRPr lang="en-US" sz="100" dirty="0">
                        <a:solidFill>
                          <a:schemeClr val="accent1"/>
                        </a:solidFill>
                      </a:endParaRPr>
                    </a:p>
                  </a:txBody>
                  <a:tcPr anchor="ctr">
                    <a:solidFill>
                      <a:schemeClr val="accent2">
                        <a:lumMod val="20000"/>
                        <a:lumOff val="80000"/>
                      </a:schemeClr>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dirty="0" smtClean="0">
                          <a:solidFill>
                            <a:srgbClr val="C00000"/>
                          </a:solidFill>
                        </a:rPr>
                        <a:t>Un-mapped Data</a:t>
                      </a:r>
                    </a:p>
                    <a:p>
                      <a:pPr algn="ctr"/>
                      <a:endParaRPr lang="en-US" sz="100" dirty="0"/>
                    </a:p>
                  </a:txBody>
                  <a:tcPr anchor="ctr">
                    <a:solidFill>
                      <a:srgbClr val="F6D6E3"/>
                    </a:solidFill>
                  </a:tcPr>
                </a:tc>
              </a:tr>
            </a:tbl>
          </a:graphicData>
        </a:graphic>
      </p:graphicFrame>
      <p:grpSp>
        <p:nvGrpSpPr>
          <p:cNvPr id="57" name="Group 56"/>
          <p:cNvGrpSpPr/>
          <p:nvPr/>
        </p:nvGrpSpPr>
        <p:grpSpPr>
          <a:xfrm>
            <a:off x="644444" y="5332167"/>
            <a:ext cx="3708828" cy="1825347"/>
            <a:chOff x="644444" y="1218677"/>
            <a:chExt cx="3708828" cy="1825347"/>
          </a:xfrm>
        </p:grpSpPr>
        <p:cxnSp>
          <p:nvCxnSpPr>
            <p:cNvPr id="58" name="Straight Connector 57"/>
            <p:cNvCxnSpPr/>
            <p:nvPr/>
          </p:nvCxnSpPr>
          <p:spPr>
            <a:xfrm flipV="1">
              <a:off x="1216550" y="1685677"/>
              <a:ext cx="2941982"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1217876" y="1685677"/>
              <a:ext cx="0" cy="1358347"/>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2964909" y="1441351"/>
              <a:ext cx="757937" cy="230832"/>
            </a:xfrm>
            <a:prstGeom prst="rect">
              <a:avLst/>
            </a:prstGeom>
            <a:noFill/>
          </p:spPr>
          <p:txBody>
            <a:bodyPr wrap="square" rtlCol="0">
              <a:spAutoFit/>
            </a:bodyPr>
            <a:lstStyle/>
            <a:p>
              <a:pPr algn="ctr"/>
              <a:r>
                <a:rPr lang="en-US" sz="900" dirty="0" smtClean="0">
                  <a:latin typeface="+mn-lt"/>
                </a:rPr>
                <a:t>2014.01</a:t>
              </a:r>
              <a:endParaRPr lang="en-US" sz="900" dirty="0">
                <a:latin typeface="+mn-lt"/>
              </a:endParaRPr>
            </a:p>
          </p:txBody>
        </p:sp>
        <p:sp>
          <p:nvSpPr>
            <p:cNvPr id="61" name="TextBox 60"/>
            <p:cNvSpPr txBox="1"/>
            <p:nvPr/>
          </p:nvSpPr>
          <p:spPr>
            <a:xfrm rot="16200000">
              <a:off x="392433" y="1999352"/>
              <a:ext cx="757937" cy="253916"/>
            </a:xfrm>
            <a:prstGeom prst="rect">
              <a:avLst/>
            </a:prstGeom>
            <a:noFill/>
          </p:spPr>
          <p:txBody>
            <a:bodyPr wrap="square" rtlCol="0">
              <a:spAutoFit/>
            </a:bodyPr>
            <a:lstStyle/>
            <a:p>
              <a:pPr algn="ctr"/>
              <a:r>
                <a:rPr lang="en-US" sz="1050" b="1" dirty="0" smtClean="0">
                  <a:latin typeface="+mn-lt"/>
                </a:rPr>
                <a:t>OLTV</a:t>
              </a:r>
              <a:endParaRPr lang="en-US" sz="1050" b="1" dirty="0">
                <a:latin typeface="+mn-lt"/>
              </a:endParaRPr>
            </a:p>
          </p:txBody>
        </p:sp>
        <p:sp>
          <p:nvSpPr>
            <p:cNvPr id="62" name="TextBox 61"/>
            <p:cNvSpPr txBox="1"/>
            <p:nvPr/>
          </p:nvSpPr>
          <p:spPr>
            <a:xfrm>
              <a:off x="2308572" y="1218677"/>
              <a:ext cx="757937" cy="253916"/>
            </a:xfrm>
            <a:prstGeom prst="rect">
              <a:avLst/>
            </a:prstGeom>
            <a:noFill/>
          </p:spPr>
          <p:txBody>
            <a:bodyPr wrap="square" rtlCol="0">
              <a:spAutoFit/>
            </a:bodyPr>
            <a:lstStyle/>
            <a:p>
              <a:pPr algn="ctr"/>
              <a:r>
                <a:rPr lang="en-US" sz="1050" b="1" dirty="0" smtClean="0">
                  <a:latin typeface="+mn-lt"/>
                </a:rPr>
                <a:t>As of</a:t>
              </a:r>
              <a:endParaRPr lang="en-US" sz="1050" b="1" dirty="0">
                <a:latin typeface="+mn-lt"/>
              </a:endParaRPr>
            </a:p>
          </p:txBody>
        </p:sp>
        <p:sp>
          <p:nvSpPr>
            <p:cNvPr id="63" name="TextBox 62"/>
            <p:cNvSpPr txBox="1"/>
            <p:nvPr/>
          </p:nvSpPr>
          <p:spPr>
            <a:xfrm>
              <a:off x="824991" y="2069132"/>
              <a:ext cx="378969" cy="230832"/>
            </a:xfrm>
            <a:prstGeom prst="rect">
              <a:avLst/>
            </a:prstGeom>
            <a:noFill/>
          </p:spPr>
          <p:txBody>
            <a:bodyPr wrap="square" rtlCol="0">
              <a:spAutoFit/>
            </a:bodyPr>
            <a:lstStyle/>
            <a:p>
              <a:pPr algn="r"/>
              <a:r>
                <a:rPr lang="en-US" sz="900" dirty="0" smtClean="0">
                  <a:latin typeface="+mn-lt"/>
                </a:rPr>
                <a:t>80</a:t>
              </a:r>
              <a:endParaRPr lang="en-US" sz="900" dirty="0">
                <a:latin typeface="+mn-lt"/>
              </a:endParaRPr>
            </a:p>
          </p:txBody>
        </p:sp>
        <p:sp>
          <p:nvSpPr>
            <p:cNvPr id="64" name="TextBox 63"/>
            <p:cNvSpPr txBox="1"/>
            <p:nvPr/>
          </p:nvSpPr>
          <p:spPr>
            <a:xfrm>
              <a:off x="937078" y="2273324"/>
              <a:ext cx="323165" cy="309435"/>
            </a:xfrm>
            <a:prstGeom prst="rect">
              <a:avLst/>
            </a:prstGeom>
            <a:noFill/>
          </p:spPr>
          <p:txBody>
            <a:bodyPr vert="eaVert" wrap="square" rtlCol="0">
              <a:spAutoFit/>
            </a:bodyPr>
            <a:lstStyle/>
            <a:p>
              <a:r>
                <a:rPr lang="en-US" sz="900" dirty="0" smtClean="0"/>
                <a:t>...</a:t>
              </a:r>
              <a:endParaRPr lang="en-US" sz="900" dirty="0"/>
            </a:p>
          </p:txBody>
        </p:sp>
        <p:sp>
          <p:nvSpPr>
            <p:cNvPr id="65" name="TextBox 64"/>
            <p:cNvSpPr txBox="1"/>
            <p:nvPr/>
          </p:nvSpPr>
          <p:spPr>
            <a:xfrm rot="5400000">
              <a:off x="2687541" y="1454075"/>
              <a:ext cx="323165" cy="309435"/>
            </a:xfrm>
            <a:prstGeom prst="rect">
              <a:avLst/>
            </a:prstGeom>
            <a:noFill/>
          </p:spPr>
          <p:txBody>
            <a:bodyPr vert="eaVert" wrap="square" rtlCol="0">
              <a:spAutoFit/>
            </a:bodyPr>
            <a:lstStyle/>
            <a:p>
              <a:r>
                <a:rPr lang="en-US" sz="900" dirty="0" smtClean="0"/>
                <a:t>...</a:t>
              </a:r>
              <a:endParaRPr lang="en-US" sz="900" dirty="0"/>
            </a:p>
          </p:txBody>
        </p:sp>
        <p:sp>
          <p:nvSpPr>
            <p:cNvPr id="66" name="TextBox 65"/>
            <p:cNvSpPr txBox="1"/>
            <p:nvPr/>
          </p:nvSpPr>
          <p:spPr>
            <a:xfrm>
              <a:off x="1550635" y="1441351"/>
              <a:ext cx="757937" cy="230832"/>
            </a:xfrm>
            <a:prstGeom prst="rect">
              <a:avLst/>
            </a:prstGeom>
            <a:noFill/>
          </p:spPr>
          <p:txBody>
            <a:bodyPr wrap="square" rtlCol="0">
              <a:spAutoFit/>
            </a:bodyPr>
            <a:lstStyle/>
            <a:p>
              <a:pPr algn="ctr"/>
              <a:r>
                <a:rPr lang="en-US" sz="900" dirty="0" smtClean="0">
                  <a:latin typeface="+mn-lt"/>
                </a:rPr>
                <a:t>2009.01</a:t>
              </a:r>
              <a:endParaRPr lang="en-US" sz="900" dirty="0">
                <a:latin typeface="+mn-lt"/>
              </a:endParaRPr>
            </a:p>
          </p:txBody>
        </p:sp>
        <p:sp>
          <p:nvSpPr>
            <p:cNvPr id="67" name="TextBox 66"/>
            <p:cNvSpPr txBox="1"/>
            <p:nvPr/>
          </p:nvSpPr>
          <p:spPr>
            <a:xfrm>
              <a:off x="3595335" y="1441351"/>
              <a:ext cx="757937" cy="230832"/>
            </a:xfrm>
            <a:prstGeom prst="rect">
              <a:avLst/>
            </a:prstGeom>
            <a:noFill/>
          </p:spPr>
          <p:txBody>
            <a:bodyPr wrap="square" rtlCol="0">
              <a:spAutoFit/>
            </a:bodyPr>
            <a:lstStyle/>
            <a:p>
              <a:pPr algn="ctr"/>
              <a:r>
                <a:rPr lang="en-US" sz="900" dirty="0" smtClean="0">
                  <a:latin typeface="+mn-lt"/>
                </a:rPr>
                <a:t>2016.01</a:t>
              </a:r>
              <a:endParaRPr lang="en-US" sz="900" dirty="0">
                <a:latin typeface="+mn-lt"/>
              </a:endParaRPr>
            </a:p>
          </p:txBody>
        </p:sp>
        <p:sp>
          <p:nvSpPr>
            <p:cNvPr id="68" name="TextBox 67"/>
            <p:cNvSpPr txBox="1"/>
            <p:nvPr/>
          </p:nvSpPr>
          <p:spPr>
            <a:xfrm>
              <a:off x="839327" y="2567533"/>
              <a:ext cx="378969" cy="230832"/>
            </a:xfrm>
            <a:prstGeom prst="rect">
              <a:avLst/>
            </a:prstGeom>
            <a:noFill/>
          </p:spPr>
          <p:txBody>
            <a:bodyPr wrap="square" rtlCol="0">
              <a:spAutoFit/>
            </a:bodyPr>
            <a:lstStyle/>
            <a:p>
              <a:pPr algn="r"/>
              <a:r>
                <a:rPr lang="en-US" sz="900" dirty="0">
                  <a:latin typeface="+mn-lt"/>
                </a:rPr>
                <a:t>3</a:t>
              </a:r>
              <a:r>
                <a:rPr lang="en-US" sz="900" dirty="0" smtClean="0">
                  <a:latin typeface="+mn-lt"/>
                </a:rPr>
                <a:t>0</a:t>
              </a:r>
              <a:endParaRPr lang="en-US" sz="900" dirty="0">
                <a:latin typeface="+mn-lt"/>
              </a:endParaRPr>
            </a:p>
          </p:txBody>
        </p:sp>
        <p:sp>
          <p:nvSpPr>
            <p:cNvPr id="69" name="TextBox 68"/>
            <p:cNvSpPr txBox="1"/>
            <p:nvPr/>
          </p:nvSpPr>
          <p:spPr>
            <a:xfrm>
              <a:off x="839327" y="1617275"/>
              <a:ext cx="378969" cy="230832"/>
            </a:xfrm>
            <a:prstGeom prst="rect">
              <a:avLst/>
            </a:prstGeom>
            <a:noFill/>
          </p:spPr>
          <p:txBody>
            <a:bodyPr wrap="square" rtlCol="0">
              <a:spAutoFit/>
            </a:bodyPr>
            <a:lstStyle/>
            <a:p>
              <a:pPr algn="r"/>
              <a:r>
                <a:rPr lang="en-US" sz="900" dirty="0" smtClean="0">
                  <a:latin typeface="+mn-lt"/>
                </a:rPr>
                <a:t>120</a:t>
              </a:r>
              <a:endParaRPr lang="en-US" sz="900" dirty="0">
                <a:latin typeface="+mn-lt"/>
              </a:endParaRPr>
            </a:p>
          </p:txBody>
        </p:sp>
      </p:grpSp>
      <p:sp>
        <p:nvSpPr>
          <p:cNvPr id="70" name="Isosceles Triangle 69"/>
          <p:cNvSpPr/>
          <p:nvPr/>
        </p:nvSpPr>
        <p:spPr>
          <a:xfrm rot="10800000">
            <a:off x="1545514" y="5150982"/>
            <a:ext cx="2177332" cy="18116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p:cNvCxnSpPr/>
          <p:nvPr/>
        </p:nvCxnSpPr>
        <p:spPr>
          <a:xfrm flipH="1">
            <a:off x="5086350" y="1125926"/>
            <a:ext cx="0" cy="5933844"/>
          </a:xfrm>
          <a:prstGeom prst="line">
            <a:avLst/>
          </a:prstGeom>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349250" y="1472593"/>
            <a:ext cx="295193" cy="14992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Algorithm I</a:t>
            </a:r>
          </a:p>
        </p:txBody>
      </p:sp>
      <p:sp>
        <p:nvSpPr>
          <p:cNvPr id="74" name="Rectangle 73"/>
          <p:cNvSpPr/>
          <p:nvPr/>
        </p:nvSpPr>
        <p:spPr>
          <a:xfrm>
            <a:off x="344446" y="3384257"/>
            <a:ext cx="295193" cy="1516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Algorithm </a:t>
            </a:r>
            <a:r>
              <a:rPr lang="en-US" sz="1400" dirty="0" smtClean="0"/>
              <a:t>II</a:t>
            </a:r>
            <a:endParaRPr lang="en-US" sz="1400" dirty="0"/>
          </a:p>
        </p:txBody>
      </p:sp>
      <p:sp>
        <p:nvSpPr>
          <p:cNvPr id="76" name="Plus 75"/>
          <p:cNvSpPr/>
          <p:nvPr/>
        </p:nvSpPr>
        <p:spPr>
          <a:xfrm>
            <a:off x="349250" y="3046167"/>
            <a:ext cx="290389" cy="228600"/>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49250" y="5565641"/>
            <a:ext cx="295193" cy="1516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a:t>Enhanced </a:t>
            </a:r>
            <a:r>
              <a:rPr lang="en-US" sz="1400" dirty="0" err="1" smtClean="0"/>
              <a:t>Algo</a:t>
            </a:r>
            <a:r>
              <a:rPr lang="en-US" sz="1400" dirty="0" smtClean="0"/>
              <a:t>.</a:t>
            </a:r>
            <a:endParaRPr lang="en-US" sz="1400" dirty="0"/>
          </a:p>
        </p:txBody>
      </p:sp>
      <p:sp>
        <p:nvSpPr>
          <p:cNvPr id="78" name="TextBox 77"/>
          <p:cNvSpPr txBox="1"/>
          <p:nvPr/>
        </p:nvSpPr>
        <p:spPr>
          <a:xfrm>
            <a:off x="4123606" y="1942132"/>
            <a:ext cx="962743" cy="646331"/>
          </a:xfrm>
          <a:prstGeom prst="rect">
            <a:avLst/>
          </a:prstGeom>
          <a:noFill/>
        </p:spPr>
        <p:txBody>
          <a:bodyPr wrap="square" rtlCol="0">
            <a:spAutoFit/>
          </a:bodyPr>
          <a:lstStyle/>
          <a:p>
            <a:r>
              <a:rPr lang="en-US" sz="900" dirty="0" smtClean="0">
                <a:latin typeface="+mn-lt"/>
              </a:rPr>
              <a:t>One-year gap, unable to map recent year HARP loans.</a:t>
            </a:r>
            <a:endParaRPr lang="en-US" sz="900" dirty="0">
              <a:latin typeface="+mn-lt"/>
            </a:endParaRPr>
          </a:p>
        </p:txBody>
      </p:sp>
      <p:sp>
        <p:nvSpPr>
          <p:cNvPr id="79" name="TextBox 78"/>
          <p:cNvSpPr txBox="1"/>
          <p:nvPr/>
        </p:nvSpPr>
        <p:spPr>
          <a:xfrm>
            <a:off x="4123607" y="4078853"/>
            <a:ext cx="962743" cy="507831"/>
          </a:xfrm>
          <a:prstGeom prst="rect">
            <a:avLst/>
          </a:prstGeom>
          <a:noFill/>
        </p:spPr>
        <p:txBody>
          <a:bodyPr wrap="square" rtlCol="0">
            <a:spAutoFit/>
          </a:bodyPr>
          <a:lstStyle/>
          <a:p>
            <a:r>
              <a:rPr lang="en-US" sz="900" dirty="0" smtClean="0">
                <a:latin typeface="+mn-lt"/>
              </a:rPr>
              <a:t>Unable to map HARP loans with LTV &lt;= 80.</a:t>
            </a:r>
            <a:endParaRPr lang="en-US" sz="900" dirty="0">
              <a:latin typeface="+mn-lt"/>
            </a:endParaRPr>
          </a:p>
        </p:txBody>
      </p:sp>
      <p:sp>
        <p:nvSpPr>
          <p:cNvPr id="80" name="TextBox 79"/>
          <p:cNvSpPr txBox="1"/>
          <p:nvPr/>
        </p:nvSpPr>
        <p:spPr>
          <a:xfrm>
            <a:off x="4123605" y="5848334"/>
            <a:ext cx="962743" cy="646331"/>
          </a:xfrm>
          <a:prstGeom prst="rect">
            <a:avLst/>
          </a:prstGeom>
          <a:noFill/>
        </p:spPr>
        <p:txBody>
          <a:bodyPr wrap="square" rtlCol="0">
            <a:spAutoFit/>
          </a:bodyPr>
          <a:lstStyle/>
          <a:p>
            <a:r>
              <a:rPr lang="en-US" sz="900" dirty="0">
                <a:latin typeface="+mn-lt"/>
              </a:rPr>
              <a:t>Integrate </a:t>
            </a:r>
            <a:r>
              <a:rPr lang="en-US" sz="900" dirty="0" err="1">
                <a:latin typeface="+mn-lt"/>
              </a:rPr>
              <a:t>A</a:t>
            </a:r>
            <a:r>
              <a:rPr lang="en-US" sz="900" dirty="0" err="1" smtClean="0">
                <a:latin typeface="+mn-lt"/>
              </a:rPr>
              <a:t>lgo</a:t>
            </a:r>
            <a:r>
              <a:rPr lang="en-US" sz="900" dirty="0" smtClean="0">
                <a:latin typeface="+mn-lt"/>
              </a:rPr>
              <a:t> </a:t>
            </a:r>
            <a:r>
              <a:rPr lang="en-US" sz="900" dirty="0">
                <a:latin typeface="+mn-lt"/>
              </a:rPr>
              <a:t>II into </a:t>
            </a:r>
            <a:r>
              <a:rPr lang="en-US" sz="900" dirty="0" err="1">
                <a:latin typeface="+mn-lt"/>
              </a:rPr>
              <a:t>A</a:t>
            </a:r>
            <a:r>
              <a:rPr lang="en-US" sz="900" dirty="0" err="1" smtClean="0">
                <a:latin typeface="+mn-lt"/>
              </a:rPr>
              <a:t>lgo</a:t>
            </a:r>
            <a:r>
              <a:rPr lang="en-US" sz="900" dirty="0" smtClean="0">
                <a:latin typeface="+mn-lt"/>
              </a:rPr>
              <a:t> </a:t>
            </a:r>
            <a:r>
              <a:rPr lang="en-US" sz="900" dirty="0">
                <a:latin typeface="+mn-lt"/>
              </a:rPr>
              <a:t>I for the unknown one year gap.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8200" y="1290459"/>
            <a:ext cx="4195380" cy="5621396"/>
          </a:xfrm>
          <a:prstGeom prst="rect">
            <a:avLst/>
          </a:prstGeom>
        </p:spPr>
      </p:pic>
    </p:spTree>
    <p:extLst>
      <p:ext uri="{BB962C8B-B14F-4D97-AF65-F5344CB8AC3E}">
        <p14:creationId xmlns:p14="http://schemas.microsoft.com/office/powerpoint/2010/main" val="3554958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ENHANCED ALGORITHM</a:t>
            </a:r>
            <a:br>
              <a:rPr lang="en-US" sz="1600" dirty="0" smtClean="0">
                <a:latin typeface="+mn-lt"/>
              </a:rPr>
            </a:br>
            <a:r>
              <a:rPr lang="en-US" sz="1600" dirty="0" smtClean="0">
                <a:latin typeface="+mn-lt"/>
              </a:rPr>
              <a:t>Results</a:t>
            </a:r>
            <a:endParaRPr lang="en-US" sz="1600" dirty="0">
              <a:latin typeface="+mn-lt"/>
            </a:endParaRPr>
          </a:p>
        </p:txBody>
      </p:sp>
      <p:graphicFrame>
        <p:nvGraphicFramePr>
          <p:cNvPr id="71" name="Chart 70"/>
          <p:cNvGraphicFramePr>
            <a:graphicFrameLocks/>
          </p:cNvGraphicFramePr>
          <p:nvPr>
            <p:extLst>
              <p:ext uri="{D42A27DB-BD31-4B8C-83A1-F6EECF244321}">
                <p14:modId xmlns:p14="http://schemas.microsoft.com/office/powerpoint/2010/main" val="1284868492"/>
              </p:ext>
            </p:extLst>
          </p:nvPr>
        </p:nvGraphicFramePr>
        <p:xfrm>
          <a:off x="699716" y="4276310"/>
          <a:ext cx="8674872" cy="29260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5" name="Chart 74"/>
          <p:cNvGraphicFramePr/>
          <p:nvPr>
            <p:extLst>
              <p:ext uri="{D42A27DB-BD31-4B8C-83A1-F6EECF244321}">
                <p14:modId xmlns:p14="http://schemas.microsoft.com/office/powerpoint/2010/main" val="3513623411"/>
              </p:ext>
            </p:extLst>
          </p:nvPr>
        </p:nvGraphicFramePr>
        <p:xfrm>
          <a:off x="699715" y="960780"/>
          <a:ext cx="8674873"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81" name="TextBox 80"/>
          <p:cNvSpPr txBox="1"/>
          <p:nvPr/>
        </p:nvSpPr>
        <p:spPr>
          <a:xfrm>
            <a:off x="4096248" y="3142079"/>
            <a:ext cx="1948069" cy="246221"/>
          </a:xfrm>
          <a:prstGeom prst="rect">
            <a:avLst/>
          </a:prstGeom>
          <a:noFill/>
        </p:spPr>
        <p:txBody>
          <a:bodyPr wrap="square" rtlCol="0">
            <a:spAutoFit/>
          </a:bodyPr>
          <a:lstStyle/>
          <a:p>
            <a:r>
              <a:rPr lang="en-US" sz="1000" b="1" dirty="0" smtClean="0">
                <a:solidFill>
                  <a:schemeClr val="bg1"/>
                </a:solidFill>
                <a:latin typeface="+mn-lt"/>
              </a:rPr>
              <a:t>N/A: Purchas, refi-CO</a:t>
            </a:r>
            <a:endParaRPr lang="en-US" sz="1000" b="1" dirty="0">
              <a:solidFill>
                <a:schemeClr val="bg1"/>
              </a:solidFill>
              <a:latin typeface="+mn-lt"/>
            </a:endParaRPr>
          </a:p>
        </p:txBody>
      </p:sp>
      <p:sp>
        <p:nvSpPr>
          <p:cNvPr id="82" name="TextBox 81"/>
          <p:cNvSpPr txBox="1"/>
          <p:nvPr/>
        </p:nvSpPr>
        <p:spPr>
          <a:xfrm>
            <a:off x="6044317" y="2177599"/>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3" name="TextBox 82"/>
          <p:cNvSpPr txBox="1"/>
          <p:nvPr/>
        </p:nvSpPr>
        <p:spPr>
          <a:xfrm>
            <a:off x="5430741" y="1447268"/>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4" name="TextBox 83"/>
          <p:cNvSpPr txBox="1"/>
          <p:nvPr/>
        </p:nvSpPr>
        <p:spPr>
          <a:xfrm>
            <a:off x="2291301" y="1263063"/>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5" name="TextBox 84"/>
          <p:cNvSpPr txBox="1"/>
          <p:nvPr/>
        </p:nvSpPr>
        <p:spPr>
          <a:xfrm>
            <a:off x="4235065" y="6188888"/>
            <a:ext cx="1948069" cy="246221"/>
          </a:xfrm>
          <a:prstGeom prst="rect">
            <a:avLst/>
          </a:prstGeom>
          <a:noFill/>
        </p:spPr>
        <p:txBody>
          <a:bodyPr wrap="square" rtlCol="0">
            <a:spAutoFit/>
          </a:bodyPr>
          <a:lstStyle/>
          <a:p>
            <a:r>
              <a:rPr lang="en-US" sz="1000" b="1" dirty="0" smtClean="0">
                <a:solidFill>
                  <a:schemeClr val="bg1"/>
                </a:solidFill>
                <a:latin typeface="+mn-lt"/>
              </a:rPr>
              <a:t>N/A: Purchas, refi-CO</a:t>
            </a:r>
            <a:endParaRPr lang="en-US" sz="1000" b="1" dirty="0">
              <a:solidFill>
                <a:schemeClr val="bg1"/>
              </a:solidFill>
              <a:latin typeface="+mn-lt"/>
            </a:endParaRPr>
          </a:p>
        </p:txBody>
      </p:sp>
      <p:sp>
        <p:nvSpPr>
          <p:cNvPr id="86" name="TextBox 85"/>
          <p:cNvSpPr txBox="1"/>
          <p:nvPr/>
        </p:nvSpPr>
        <p:spPr>
          <a:xfrm>
            <a:off x="6183134" y="5347519"/>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87" name="TextBox 86"/>
          <p:cNvSpPr txBox="1"/>
          <p:nvPr/>
        </p:nvSpPr>
        <p:spPr>
          <a:xfrm>
            <a:off x="5569558" y="4617188"/>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88" name="TextBox 87"/>
          <p:cNvSpPr txBox="1"/>
          <p:nvPr/>
        </p:nvSpPr>
        <p:spPr>
          <a:xfrm>
            <a:off x="2430118" y="4432983"/>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89" name="Isosceles Triangle 88"/>
          <p:cNvSpPr/>
          <p:nvPr/>
        </p:nvSpPr>
        <p:spPr>
          <a:xfrm rot="10800000">
            <a:off x="3587694" y="4004290"/>
            <a:ext cx="3621158" cy="272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p:cNvSpPr txBox="1"/>
          <p:nvPr/>
        </p:nvSpPr>
        <p:spPr>
          <a:xfrm>
            <a:off x="3776208" y="3908085"/>
            <a:ext cx="3378641" cy="299313"/>
          </a:xfrm>
          <a:prstGeom prst="rect">
            <a:avLst/>
          </a:prstGeom>
          <a:noFill/>
        </p:spPr>
        <p:txBody>
          <a:bodyPr wrap="square" rtlCol="0">
            <a:spAutoFit/>
          </a:bodyPr>
          <a:lstStyle/>
          <a:p>
            <a:pPr algn="ctr">
              <a:lnSpc>
                <a:spcPct val="150000"/>
              </a:lnSpc>
            </a:pPr>
            <a:r>
              <a:rPr lang="en-US" sz="1000" dirty="0" smtClean="0">
                <a:solidFill>
                  <a:schemeClr val="bg1"/>
                </a:solidFill>
                <a:latin typeface="+mn-lt"/>
              </a:rPr>
              <a:t>Using the Enhanced Algorithm</a:t>
            </a:r>
          </a:p>
        </p:txBody>
      </p:sp>
    </p:spTree>
    <p:extLst>
      <p:ext uri="{BB962C8B-B14F-4D97-AF65-F5344CB8AC3E}">
        <p14:creationId xmlns:p14="http://schemas.microsoft.com/office/powerpoint/2010/main" val="10704904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SANITY CHECK #1</a:t>
            </a:r>
            <a:endParaRPr lang="en-US" sz="1600" dirty="0">
              <a:latin typeface="+mn-lt"/>
            </a:endParaRPr>
          </a:p>
        </p:txBody>
      </p:sp>
      <p:sp>
        <p:nvSpPr>
          <p:cNvPr id="16" name="Rectangle 15"/>
          <p:cNvSpPr/>
          <p:nvPr/>
        </p:nvSpPr>
        <p:spPr>
          <a:xfrm>
            <a:off x="247858" y="975657"/>
            <a:ext cx="471207"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H1</a:t>
            </a:r>
            <a:endParaRPr lang="en-US" sz="1600" dirty="0"/>
          </a:p>
        </p:txBody>
      </p:sp>
      <p:cxnSp>
        <p:nvCxnSpPr>
          <p:cNvPr id="17" name="Straight Connector 16"/>
          <p:cNvCxnSpPr/>
          <p:nvPr/>
        </p:nvCxnSpPr>
        <p:spPr>
          <a:xfrm>
            <a:off x="247858" y="1577637"/>
            <a:ext cx="886067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19065" y="1114841"/>
            <a:ext cx="7700024" cy="276999"/>
          </a:xfrm>
          <a:prstGeom prst="rect">
            <a:avLst/>
          </a:prstGeom>
          <a:noFill/>
        </p:spPr>
        <p:txBody>
          <a:bodyPr wrap="square" rtlCol="0">
            <a:spAutoFit/>
          </a:bodyPr>
          <a:lstStyle/>
          <a:p>
            <a:r>
              <a:rPr lang="en-US" sz="1200" b="1" dirty="0">
                <a:latin typeface="+mn-lt"/>
              </a:rPr>
              <a:t>There is a bias between </a:t>
            </a:r>
            <a:r>
              <a:rPr lang="en-US" sz="1200" b="1" dirty="0" smtClean="0">
                <a:latin typeface="+mn-lt"/>
              </a:rPr>
              <a:t>FHLMC/FNMA (FNMA: consider all </a:t>
            </a:r>
            <a:r>
              <a:rPr lang="en-US" sz="1200" b="1" dirty="0" err="1" smtClean="0">
                <a:latin typeface="+mn-lt"/>
              </a:rPr>
              <a:t>refis</a:t>
            </a:r>
            <a:r>
              <a:rPr lang="en-US" sz="1200" b="1" dirty="0" smtClean="0">
                <a:latin typeface="+mn-lt"/>
              </a:rPr>
              <a:t>, FHLMC: all </a:t>
            </a:r>
            <a:r>
              <a:rPr lang="en-US" sz="1200" b="1" dirty="0" err="1" smtClean="0">
                <a:latin typeface="+mn-lt"/>
              </a:rPr>
              <a:t>refis</a:t>
            </a:r>
            <a:r>
              <a:rPr lang="en-US" sz="1200" b="1" dirty="0" smtClean="0">
                <a:latin typeface="+mn-lt"/>
              </a:rPr>
              <a:t> excluding NCO/CO</a:t>
            </a:r>
            <a:r>
              <a:rPr lang="en-US" sz="1200" b="1" dirty="0">
                <a:latin typeface="+mn-lt"/>
              </a:rPr>
              <a:t>) </a:t>
            </a:r>
            <a:r>
              <a:rPr lang="en-US" sz="1200" b="1" dirty="0" smtClean="0">
                <a:latin typeface="+mn-lt"/>
              </a:rPr>
              <a:t>	</a:t>
            </a:r>
            <a:endParaRPr lang="en-US" sz="1200" b="1" dirty="0">
              <a:solidFill>
                <a:schemeClr val="bg2">
                  <a:lumMod val="50000"/>
                </a:schemeClr>
              </a:solidFill>
              <a:latin typeface="+mn-lt"/>
            </a:endParaRPr>
          </a:p>
        </p:txBody>
      </p:sp>
      <p:sp>
        <p:nvSpPr>
          <p:cNvPr id="19" name="TextBox 18"/>
          <p:cNvSpPr txBox="1"/>
          <p:nvPr/>
        </p:nvSpPr>
        <p:spPr>
          <a:xfrm>
            <a:off x="247857" y="1539529"/>
            <a:ext cx="9284764" cy="646331"/>
          </a:xfrm>
          <a:prstGeom prst="rect">
            <a:avLst/>
          </a:prstGeom>
          <a:noFill/>
        </p:spPr>
        <p:txBody>
          <a:bodyPr wrap="square" rtlCol="0">
            <a:spAutoFit/>
          </a:bodyPr>
          <a:lstStyle/>
          <a:p>
            <a:pPr>
              <a:lnSpc>
                <a:spcPct val="150000"/>
              </a:lnSpc>
            </a:pPr>
            <a:r>
              <a:rPr lang="en-US" sz="1200" dirty="0" smtClean="0">
                <a:latin typeface="+mn-lt"/>
              </a:rPr>
              <a:t>Using FHLMC data, we ran the new algorithm two ways: excluding cash-out </a:t>
            </a:r>
            <a:r>
              <a:rPr lang="en-US" sz="1200" dirty="0" err="1" smtClean="0">
                <a:latin typeface="+mn-lt"/>
              </a:rPr>
              <a:t>refis</a:t>
            </a:r>
            <a:r>
              <a:rPr lang="en-US" sz="1200" dirty="0" smtClean="0">
                <a:latin typeface="+mn-lt"/>
              </a:rPr>
              <a:t> and considering all </a:t>
            </a:r>
            <a:r>
              <a:rPr lang="en-US" sz="1200" dirty="0" err="1" smtClean="0">
                <a:latin typeface="+mn-lt"/>
              </a:rPr>
              <a:t>refis</a:t>
            </a:r>
            <a:r>
              <a:rPr lang="en-US" sz="1200" dirty="0" smtClean="0">
                <a:latin typeface="+mn-lt"/>
              </a:rPr>
              <a:t>.</a:t>
            </a:r>
            <a:r>
              <a:rPr lang="en-US" sz="1200" dirty="0" smtClean="0">
                <a:latin typeface="+mn-lt"/>
              </a:rPr>
              <a:t> </a:t>
            </a:r>
            <a:r>
              <a:rPr lang="en-US" sz="1200" dirty="0" smtClean="0">
                <a:latin typeface="+mn-lt"/>
              </a:rPr>
              <a:t>The</a:t>
            </a:r>
            <a:r>
              <a:rPr lang="en-US" sz="1200" dirty="0" smtClean="0">
                <a:latin typeface="+mn-lt"/>
              </a:rPr>
              <a:t> </a:t>
            </a:r>
            <a:r>
              <a:rPr lang="en-US" sz="1200" dirty="0">
                <a:latin typeface="+mn-lt"/>
              </a:rPr>
              <a:t>loan count number for </a:t>
            </a:r>
            <a:r>
              <a:rPr lang="en-US" sz="1200" dirty="0" err="1">
                <a:latin typeface="+mn-lt"/>
              </a:rPr>
              <a:t>HARPed</a:t>
            </a:r>
            <a:r>
              <a:rPr lang="en-US" sz="1200" dirty="0">
                <a:latin typeface="+mn-lt"/>
              </a:rPr>
              <a:t> loans </a:t>
            </a:r>
            <a:r>
              <a:rPr lang="en-US" sz="1200" dirty="0" smtClean="0">
                <a:latin typeface="+mn-lt"/>
              </a:rPr>
              <a:t>were</a:t>
            </a:r>
            <a:r>
              <a:rPr lang="en-US" sz="1200" dirty="0" smtClean="0">
                <a:latin typeface="+mn-lt"/>
              </a:rPr>
              <a:t> </a:t>
            </a:r>
            <a:r>
              <a:rPr lang="en-US" sz="1200" dirty="0">
                <a:latin typeface="+mn-lt"/>
              </a:rPr>
              <a:t>identical </a:t>
            </a:r>
            <a:r>
              <a:rPr lang="en-US" sz="1200" dirty="0" smtClean="0">
                <a:latin typeface="+mn-lt"/>
              </a:rPr>
              <a:t>under </a:t>
            </a:r>
            <a:r>
              <a:rPr lang="en-US" sz="1200" dirty="0" smtClean="0">
                <a:latin typeface="+mn-lt"/>
              </a:rPr>
              <a:t>both the old </a:t>
            </a:r>
            <a:r>
              <a:rPr lang="en-US" sz="1200" dirty="0">
                <a:latin typeface="+mn-lt"/>
              </a:rPr>
              <a:t>algorithm and new algorithm</a:t>
            </a:r>
            <a:r>
              <a:rPr lang="en-US" sz="1200" dirty="0" smtClean="0">
                <a:latin typeface="+mn-lt"/>
              </a:rPr>
              <a:t>. </a:t>
            </a:r>
            <a:endParaRPr lang="en-US" sz="1200" dirty="0">
              <a:latin typeface="+mn-lt"/>
            </a:endParaRPr>
          </a:p>
        </p:txBody>
      </p:sp>
      <p:sp>
        <p:nvSpPr>
          <p:cNvPr id="25" name="TextBox 24"/>
          <p:cNvSpPr txBox="1"/>
          <p:nvPr/>
        </p:nvSpPr>
        <p:spPr>
          <a:xfrm>
            <a:off x="247858" y="6553489"/>
            <a:ext cx="9284764" cy="340734"/>
          </a:xfrm>
          <a:prstGeom prst="rect">
            <a:avLst/>
          </a:prstGeom>
          <a:noFill/>
        </p:spPr>
        <p:txBody>
          <a:bodyPr wrap="square" rtlCol="0">
            <a:spAutoFit/>
          </a:bodyPr>
          <a:lstStyle/>
          <a:p>
            <a:pPr>
              <a:lnSpc>
                <a:spcPct val="150000"/>
              </a:lnSpc>
            </a:pPr>
            <a:r>
              <a:rPr lang="en-US" sz="1200" dirty="0" smtClean="0">
                <a:latin typeface="+mn-lt"/>
              </a:rPr>
              <a:t>It turns out that all </a:t>
            </a:r>
            <a:r>
              <a:rPr lang="en-US" sz="1200" dirty="0" err="1" smtClean="0">
                <a:latin typeface="+mn-lt"/>
              </a:rPr>
              <a:t>cashout</a:t>
            </a:r>
            <a:r>
              <a:rPr lang="en-US" sz="1200" dirty="0" smtClean="0">
                <a:latin typeface="+mn-lt"/>
              </a:rPr>
              <a:t> </a:t>
            </a:r>
            <a:r>
              <a:rPr lang="en-US" sz="1200" dirty="0" err="1" smtClean="0">
                <a:latin typeface="+mn-lt"/>
              </a:rPr>
              <a:t>refis</a:t>
            </a:r>
            <a:r>
              <a:rPr lang="en-US" sz="1200" dirty="0" smtClean="0">
                <a:latin typeface="+mn-lt"/>
              </a:rPr>
              <a:t> are fully documented so the </a:t>
            </a:r>
            <a:r>
              <a:rPr lang="en-US" sz="1200" dirty="0">
                <a:latin typeface="+mn-lt"/>
              </a:rPr>
              <a:t>new </a:t>
            </a:r>
            <a:r>
              <a:rPr lang="en-US" sz="1200" dirty="0" smtClean="0">
                <a:latin typeface="+mn-lt"/>
              </a:rPr>
              <a:t>algorithm provides </a:t>
            </a:r>
            <a:r>
              <a:rPr lang="en-US" sz="1200" dirty="0">
                <a:latin typeface="+mn-lt"/>
              </a:rPr>
              <a:t>a non-biased  </a:t>
            </a:r>
            <a:r>
              <a:rPr lang="en-US" sz="1200" dirty="0" err="1">
                <a:latin typeface="+mn-lt"/>
              </a:rPr>
              <a:t>HARPed</a:t>
            </a:r>
            <a:r>
              <a:rPr lang="en-US" sz="1200" dirty="0">
                <a:latin typeface="+mn-lt"/>
              </a:rPr>
              <a:t> loan identification process.</a:t>
            </a:r>
          </a:p>
        </p:txBody>
      </p:sp>
      <p:sp>
        <p:nvSpPr>
          <p:cNvPr id="26" name="TextBox 25"/>
          <p:cNvSpPr txBox="1"/>
          <p:nvPr/>
        </p:nvSpPr>
        <p:spPr>
          <a:xfrm>
            <a:off x="8054339" y="1128741"/>
            <a:ext cx="1054196" cy="276999"/>
          </a:xfrm>
          <a:prstGeom prst="rect">
            <a:avLst/>
          </a:prstGeom>
          <a:noFill/>
        </p:spPr>
        <p:txBody>
          <a:bodyPr wrap="square" rtlCol="0">
            <a:spAutoFit/>
          </a:bodyPr>
          <a:lstStyle/>
          <a:p>
            <a:r>
              <a:rPr lang="en-US" sz="1200" b="1" dirty="0" smtClean="0">
                <a:solidFill>
                  <a:schemeClr val="bg2">
                    <a:lumMod val="50000"/>
                  </a:schemeClr>
                </a:solidFill>
                <a:latin typeface="+mn-lt"/>
              </a:rPr>
              <a:t>Not </a:t>
            </a:r>
            <a:r>
              <a:rPr lang="en-US" sz="1200" b="1" dirty="0">
                <a:solidFill>
                  <a:schemeClr val="bg2">
                    <a:lumMod val="50000"/>
                  </a:schemeClr>
                </a:solidFill>
                <a:latin typeface="+mn-lt"/>
              </a:rPr>
              <a:t>true</a:t>
            </a:r>
          </a:p>
        </p:txBody>
      </p:sp>
      <p:graphicFrame>
        <p:nvGraphicFramePr>
          <p:cNvPr id="27" name="Chart 26"/>
          <p:cNvGraphicFramePr>
            <a:graphicFrameLocks/>
          </p:cNvGraphicFramePr>
          <p:nvPr>
            <p:extLst>
              <p:ext uri="{D42A27DB-BD31-4B8C-83A1-F6EECF244321}">
                <p14:modId xmlns:p14="http://schemas.microsoft.com/office/powerpoint/2010/main" val="1557410313"/>
              </p:ext>
            </p:extLst>
          </p:nvPr>
        </p:nvGraphicFramePr>
        <p:xfrm>
          <a:off x="666750" y="2250220"/>
          <a:ext cx="4572000" cy="2103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8" name="Chart 27"/>
          <p:cNvGraphicFramePr>
            <a:graphicFrameLocks/>
          </p:cNvGraphicFramePr>
          <p:nvPr>
            <p:extLst>
              <p:ext uri="{D42A27DB-BD31-4B8C-83A1-F6EECF244321}">
                <p14:modId xmlns:p14="http://schemas.microsoft.com/office/powerpoint/2010/main" val="2156114353"/>
              </p:ext>
            </p:extLst>
          </p:nvPr>
        </p:nvGraphicFramePr>
        <p:xfrm>
          <a:off x="5245047" y="2250220"/>
          <a:ext cx="457200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9" name="Chart 28"/>
          <p:cNvGraphicFramePr>
            <a:graphicFrameLocks/>
          </p:cNvGraphicFramePr>
          <p:nvPr>
            <p:extLst>
              <p:ext uri="{D42A27DB-BD31-4B8C-83A1-F6EECF244321}">
                <p14:modId xmlns:p14="http://schemas.microsoft.com/office/powerpoint/2010/main" val="1323985137"/>
              </p:ext>
            </p:extLst>
          </p:nvPr>
        </p:nvGraphicFramePr>
        <p:xfrm>
          <a:off x="666750" y="4353340"/>
          <a:ext cx="4572000" cy="21031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0" name="Chart 29"/>
          <p:cNvGraphicFramePr>
            <a:graphicFrameLocks/>
          </p:cNvGraphicFramePr>
          <p:nvPr>
            <p:extLst>
              <p:ext uri="{D42A27DB-BD31-4B8C-83A1-F6EECF244321}">
                <p14:modId xmlns:p14="http://schemas.microsoft.com/office/powerpoint/2010/main" val="1456659055"/>
              </p:ext>
            </p:extLst>
          </p:nvPr>
        </p:nvGraphicFramePr>
        <p:xfrm>
          <a:off x="5245047" y="4353340"/>
          <a:ext cx="4572000" cy="2103120"/>
        </p:xfrm>
        <a:graphic>
          <a:graphicData uri="http://schemas.openxmlformats.org/drawingml/2006/chart">
            <c:chart xmlns:c="http://schemas.openxmlformats.org/drawingml/2006/chart" xmlns:r="http://schemas.openxmlformats.org/officeDocument/2006/relationships" r:id="rId5"/>
          </a:graphicData>
        </a:graphic>
      </p:graphicFrame>
      <p:sp>
        <p:nvSpPr>
          <p:cNvPr id="4" name="Rectangle 3"/>
          <p:cNvSpPr/>
          <p:nvPr/>
        </p:nvSpPr>
        <p:spPr>
          <a:xfrm>
            <a:off x="312420" y="2250220"/>
            <a:ext cx="406645" cy="396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200" dirty="0" smtClean="0"/>
              <a:t>Credit Data Mapping </a:t>
            </a:r>
            <a:r>
              <a:rPr lang="en-US" sz="1200" dirty="0" err="1" smtClean="0"/>
              <a:t>Algo</a:t>
            </a:r>
            <a:r>
              <a:rPr lang="en-US" sz="1200" dirty="0" smtClean="0"/>
              <a:t>.</a:t>
            </a:r>
            <a:endParaRPr lang="en-US" sz="1200" dirty="0"/>
          </a:p>
        </p:txBody>
      </p:sp>
    </p:spTree>
    <p:extLst>
      <p:ext uri="{BB962C8B-B14F-4D97-AF65-F5344CB8AC3E}">
        <p14:creationId xmlns:p14="http://schemas.microsoft.com/office/powerpoint/2010/main" val="17183534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SANITY CHECK #2</a:t>
            </a:r>
            <a:endParaRPr lang="en-US" sz="1600" dirty="0">
              <a:latin typeface="+mn-lt"/>
            </a:endParaRPr>
          </a:p>
        </p:txBody>
      </p:sp>
      <p:sp>
        <p:nvSpPr>
          <p:cNvPr id="16" name="Rectangle 15"/>
          <p:cNvSpPr/>
          <p:nvPr/>
        </p:nvSpPr>
        <p:spPr>
          <a:xfrm>
            <a:off x="247858" y="975657"/>
            <a:ext cx="471207"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H2</a:t>
            </a:r>
            <a:endParaRPr lang="en-US" sz="1600" dirty="0"/>
          </a:p>
        </p:txBody>
      </p:sp>
      <p:cxnSp>
        <p:nvCxnSpPr>
          <p:cNvPr id="17" name="Straight Connector 16"/>
          <p:cNvCxnSpPr/>
          <p:nvPr/>
        </p:nvCxnSpPr>
        <p:spPr>
          <a:xfrm>
            <a:off x="247858" y="1577637"/>
            <a:ext cx="886067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19065" y="1114841"/>
            <a:ext cx="7700024" cy="276999"/>
          </a:xfrm>
          <a:prstGeom prst="rect">
            <a:avLst/>
          </a:prstGeom>
          <a:noFill/>
        </p:spPr>
        <p:txBody>
          <a:bodyPr wrap="square" rtlCol="0">
            <a:spAutoFit/>
          </a:bodyPr>
          <a:lstStyle/>
          <a:p>
            <a:r>
              <a:rPr lang="en-US" sz="1200" b="1" dirty="0">
                <a:latin typeface="+mn-lt"/>
              </a:rPr>
              <a:t>There is a bias between the two algorithms</a:t>
            </a:r>
            <a:r>
              <a:rPr lang="en-US" sz="1200" b="1" dirty="0" smtClean="0">
                <a:latin typeface="+mn-lt"/>
              </a:rPr>
              <a:t>	</a:t>
            </a:r>
            <a:endParaRPr lang="en-US" sz="1200" b="1" dirty="0">
              <a:solidFill>
                <a:schemeClr val="bg2">
                  <a:lumMod val="50000"/>
                </a:schemeClr>
              </a:solidFill>
              <a:latin typeface="+mn-lt"/>
            </a:endParaRPr>
          </a:p>
        </p:txBody>
      </p:sp>
      <p:sp>
        <p:nvSpPr>
          <p:cNvPr id="19" name="TextBox 18"/>
          <p:cNvSpPr txBox="1"/>
          <p:nvPr/>
        </p:nvSpPr>
        <p:spPr>
          <a:xfrm>
            <a:off x="247857" y="1539529"/>
            <a:ext cx="9284764" cy="340734"/>
          </a:xfrm>
          <a:prstGeom prst="rect">
            <a:avLst/>
          </a:prstGeom>
          <a:noFill/>
        </p:spPr>
        <p:txBody>
          <a:bodyPr wrap="square" rtlCol="0">
            <a:spAutoFit/>
          </a:bodyPr>
          <a:lstStyle/>
          <a:p>
            <a:pPr>
              <a:lnSpc>
                <a:spcPct val="150000"/>
              </a:lnSpc>
            </a:pPr>
            <a:r>
              <a:rPr lang="en-US" sz="1200" dirty="0">
                <a:latin typeface="+mn-lt"/>
              </a:rPr>
              <a:t>By plotting the loan count number for </a:t>
            </a:r>
            <a:r>
              <a:rPr lang="en-US" sz="1200" dirty="0" err="1">
                <a:latin typeface="+mn-lt"/>
              </a:rPr>
              <a:t>HARPed</a:t>
            </a:r>
            <a:r>
              <a:rPr lang="en-US" sz="1200" dirty="0">
                <a:latin typeface="+mn-lt"/>
              </a:rPr>
              <a:t> loans using the two different algorithms, we can see a systematic bias between them.</a:t>
            </a:r>
          </a:p>
        </p:txBody>
      </p:sp>
      <p:sp>
        <p:nvSpPr>
          <p:cNvPr id="26" name="TextBox 25"/>
          <p:cNvSpPr txBox="1"/>
          <p:nvPr/>
        </p:nvSpPr>
        <p:spPr>
          <a:xfrm>
            <a:off x="8054339" y="1128741"/>
            <a:ext cx="1054196" cy="276999"/>
          </a:xfrm>
          <a:prstGeom prst="rect">
            <a:avLst/>
          </a:prstGeom>
          <a:noFill/>
        </p:spPr>
        <p:txBody>
          <a:bodyPr wrap="square" rtlCol="0">
            <a:spAutoFit/>
          </a:bodyPr>
          <a:lstStyle/>
          <a:p>
            <a:r>
              <a:rPr lang="en-US" sz="1200" b="1" dirty="0">
                <a:solidFill>
                  <a:schemeClr val="bg2">
                    <a:lumMod val="50000"/>
                  </a:schemeClr>
                </a:solidFill>
                <a:latin typeface="+mn-lt"/>
              </a:rPr>
              <a:t>T</a:t>
            </a:r>
            <a:r>
              <a:rPr lang="en-US" sz="1200" b="1" dirty="0" smtClean="0">
                <a:solidFill>
                  <a:schemeClr val="bg2">
                    <a:lumMod val="50000"/>
                  </a:schemeClr>
                </a:solidFill>
                <a:latin typeface="+mn-lt"/>
              </a:rPr>
              <a:t>rue</a:t>
            </a:r>
            <a:endParaRPr lang="en-US" sz="1200" b="1" dirty="0">
              <a:solidFill>
                <a:schemeClr val="bg2">
                  <a:lumMod val="50000"/>
                </a:schemeClr>
              </a:solidFill>
              <a:latin typeface="+mn-lt"/>
            </a:endParaRPr>
          </a:p>
        </p:txBody>
      </p:sp>
      <p:graphicFrame>
        <p:nvGraphicFramePr>
          <p:cNvPr id="14" name="Chart 13"/>
          <p:cNvGraphicFramePr>
            <a:graphicFrameLocks/>
          </p:cNvGraphicFramePr>
          <p:nvPr>
            <p:extLst>
              <p:ext uri="{D42A27DB-BD31-4B8C-83A1-F6EECF244321}">
                <p14:modId xmlns:p14="http://schemas.microsoft.com/office/powerpoint/2010/main" val="3055303505"/>
              </p:ext>
            </p:extLst>
          </p:nvPr>
        </p:nvGraphicFramePr>
        <p:xfrm>
          <a:off x="119062" y="2065020"/>
          <a:ext cx="9588818" cy="4519612"/>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p:cNvSpPr txBox="1"/>
          <p:nvPr/>
        </p:nvSpPr>
        <p:spPr>
          <a:xfrm>
            <a:off x="247858" y="6553489"/>
            <a:ext cx="9284764" cy="646331"/>
          </a:xfrm>
          <a:prstGeom prst="rect">
            <a:avLst/>
          </a:prstGeom>
          <a:noFill/>
        </p:spPr>
        <p:txBody>
          <a:bodyPr wrap="square" rtlCol="0">
            <a:spAutoFit/>
          </a:bodyPr>
          <a:lstStyle/>
          <a:p>
            <a:pPr>
              <a:lnSpc>
                <a:spcPct val="150000"/>
              </a:lnSpc>
            </a:pPr>
            <a:r>
              <a:rPr lang="en-US" sz="1200" dirty="0">
                <a:latin typeface="+mn-lt"/>
              </a:rPr>
              <a:t>The </a:t>
            </a:r>
            <a:r>
              <a:rPr lang="en-US" sz="1200" b="1" dirty="0">
                <a:latin typeface="+mn-lt"/>
              </a:rPr>
              <a:t>average ratio (New algorithm / Old algorithm) is 2</a:t>
            </a:r>
            <a:r>
              <a:rPr lang="en-US" sz="1200" dirty="0">
                <a:latin typeface="+mn-lt"/>
              </a:rPr>
              <a:t>. So in our enhanced algorithm, we need to adjust the old algorithm by the ratio number for the most recent year period</a:t>
            </a:r>
            <a:r>
              <a:rPr lang="en-US" sz="1200" dirty="0" smtClean="0">
                <a:latin typeface="+mn-lt"/>
              </a:rPr>
              <a:t>. </a:t>
            </a:r>
            <a:r>
              <a:rPr lang="en-US" sz="1200" dirty="0" smtClean="0">
                <a:solidFill>
                  <a:srgbClr val="FF0000"/>
                </a:solidFill>
                <a:latin typeface="+mn-lt"/>
              </a:rPr>
              <a:t>Presumably this is because we’re not counting loans with LTVs &lt; 80% in the MI algorithm. </a:t>
            </a:r>
            <a:endParaRPr lang="en-US" sz="1200" dirty="0">
              <a:latin typeface="+mn-lt"/>
            </a:endParaRPr>
          </a:p>
        </p:txBody>
      </p:sp>
    </p:spTree>
    <p:extLst>
      <p:ext uri="{BB962C8B-B14F-4D97-AF65-F5344CB8AC3E}">
        <p14:creationId xmlns:p14="http://schemas.microsoft.com/office/powerpoint/2010/main" val="371975185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86319</TotalTime>
  <Words>821</Words>
  <Application>Microsoft Office PowerPoint</Application>
  <PresentationFormat>Custom</PresentationFormat>
  <Paragraphs>127</Paragraphs>
  <Slides>9</Slides>
  <Notes>1</Notes>
  <HiddenSlides>0</HiddenSlides>
  <MMClips>0</MMClips>
  <ScaleCrop>false</ScaleCrop>
  <HeadingPairs>
    <vt:vector size="4" baseType="variant">
      <vt:variant>
        <vt:lpstr>Theme</vt:lpstr>
      </vt:variant>
      <vt:variant>
        <vt:i4>15</vt:i4>
      </vt:variant>
      <vt:variant>
        <vt:lpstr>Slide Titles</vt:lpstr>
      </vt:variant>
      <vt:variant>
        <vt:i4>9</vt:i4>
      </vt:variant>
    </vt:vector>
  </HeadingPairs>
  <TitlesOfParts>
    <vt:vector size="24"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INTRODUCTION</vt:lpstr>
      <vt:lpstr>EXISTING ALGORITHM I MI Matching Method</vt:lpstr>
      <vt:lpstr>EXISTING ALGORITHM II Credit Dataset Mapping Method</vt:lpstr>
      <vt:lpstr>EXISTING ALGORITHM II Results from the Credit Dataset Mapping Method</vt:lpstr>
      <vt:lpstr>ENHANCED ALGORITHM </vt:lpstr>
      <vt:lpstr>ENHANCED ALGORITHM Results</vt:lpstr>
      <vt:lpstr>SANITY CHECK #1</vt:lpstr>
      <vt:lpstr>SANITY CHECK #2</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2069</cp:revision>
  <cp:lastPrinted>2014-08-14T21:45:56Z</cp:lastPrinted>
  <dcterms:created xsi:type="dcterms:W3CDTF">2011-07-07T12:37:32Z</dcterms:created>
  <dcterms:modified xsi:type="dcterms:W3CDTF">2016-01-27T19:28:26Z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