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2"/>
  </p:notesMasterIdLst>
  <p:handoutMasterIdLst>
    <p:handoutMasterId r:id="rId23"/>
  </p:handoutMasterIdLst>
  <p:sldIdLst>
    <p:sldId id="433" r:id="rId16"/>
    <p:sldId id="603" r:id="rId17"/>
    <p:sldId id="604" r:id="rId18"/>
    <p:sldId id="605" r:id="rId19"/>
    <p:sldId id="606" r:id="rId20"/>
    <p:sldId id="607" r:id="rId21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AD275C"/>
    <a:srgbClr val="2E398A"/>
    <a:srgbClr val="C8C42D"/>
    <a:srgbClr val="2E8A60"/>
    <a:srgbClr val="8C2B18"/>
    <a:srgbClr val="C3EBD9"/>
    <a:srgbClr val="CDD1EF"/>
    <a:srgbClr val="996633"/>
    <a:srgbClr val="968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60" d="100"/>
          <a:sy n="60" d="100"/>
        </p:scale>
        <p:origin x="-288" y="19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rgbClr val="2E398A"/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Sheet1!$B$2:$B$123</c:f>
              <c:numCache>
                <c:formatCode>General</c:formatCode>
                <c:ptCount val="122"/>
                <c:pt idx="0">
                  <c:v>116679</c:v>
                </c:pt>
                <c:pt idx="1">
                  <c:v>101038</c:v>
                </c:pt>
                <c:pt idx="2">
                  <c:v>85924</c:v>
                </c:pt>
                <c:pt idx="3">
                  <c:v>85045</c:v>
                </c:pt>
                <c:pt idx="4">
                  <c:v>91876</c:v>
                </c:pt>
                <c:pt idx="5">
                  <c:v>83181</c:v>
                </c:pt>
                <c:pt idx="6">
                  <c:v>96000</c:v>
                </c:pt>
                <c:pt idx="7">
                  <c:v>94899</c:v>
                </c:pt>
                <c:pt idx="8">
                  <c:v>106784</c:v>
                </c:pt>
                <c:pt idx="9">
                  <c:v>107277</c:v>
                </c:pt>
                <c:pt idx="10">
                  <c:v>92041</c:v>
                </c:pt>
                <c:pt idx="11">
                  <c:v>83109</c:v>
                </c:pt>
                <c:pt idx="12">
                  <c:v>109560</c:v>
                </c:pt>
                <c:pt idx="13">
                  <c:v>90090</c:v>
                </c:pt>
                <c:pt idx="14">
                  <c:v>105785</c:v>
                </c:pt>
                <c:pt idx="15">
                  <c:v>107547</c:v>
                </c:pt>
                <c:pt idx="16">
                  <c:v>100318</c:v>
                </c:pt>
                <c:pt idx="17">
                  <c:v>111446</c:v>
                </c:pt>
                <c:pt idx="18">
                  <c:v>112135</c:v>
                </c:pt>
                <c:pt idx="19">
                  <c:v>100566</c:v>
                </c:pt>
                <c:pt idx="20">
                  <c:v>117065</c:v>
                </c:pt>
                <c:pt idx="21">
                  <c:v>136772</c:v>
                </c:pt>
                <c:pt idx="22">
                  <c:v>108346</c:v>
                </c:pt>
                <c:pt idx="23">
                  <c:v>118469</c:v>
                </c:pt>
                <c:pt idx="24">
                  <c:v>108670</c:v>
                </c:pt>
                <c:pt idx="25">
                  <c:v>90455</c:v>
                </c:pt>
                <c:pt idx="26">
                  <c:v>124215</c:v>
                </c:pt>
                <c:pt idx="27">
                  <c:v>88535</c:v>
                </c:pt>
                <c:pt idx="28">
                  <c:v>98952</c:v>
                </c:pt>
                <c:pt idx="29">
                  <c:v>110414</c:v>
                </c:pt>
                <c:pt idx="30">
                  <c:v>108177</c:v>
                </c:pt>
                <c:pt idx="31">
                  <c:v>62302</c:v>
                </c:pt>
                <c:pt idx="32">
                  <c:v>68339</c:v>
                </c:pt>
                <c:pt idx="33">
                  <c:v>66445</c:v>
                </c:pt>
                <c:pt idx="34">
                  <c:v>45734</c:v>
                </c:pt>
                <c:pt idx="35">
                  <c:v>43655</c:v>
                </c:pt>
                <c:pt idx="36">
                  <c:v>50259</c:v>
                </c:pt>
                <c:pt idx="37">
                  <c:v>45008</c:v>
                </c:pt>
                <c:pt idx="38">
                  <c:v>54314</c:v>
                </c:pt>
                <c:pt idx="39">
                  <c:v>90938</c:v>
                </c:pt>
                <c:pt idx="40">
                  <c:v>70127</c:v>
                </c:pt>
                <c:pt idx="41">
                  <c:v>67567</c:v>
                </c:pt>
                <c:pt idx="42">
                  <c:v>104095</c:v>
                </c:pt>
                <c:pt idx="43">
                  <c:v>71014</c:v>
                </c:pt>
                <c:pt idx="44">
                  <c:v>82357</c:v>
                </c:pt>
                <c:pt idx="45">
                  <c:v>70570</c:v>
                </c:pt>
                <c:pt idx="46">
                  <c:v>61209</c:v>
                </c:pt>
                <c:pt idx="47">
                  <c:v>54618</c:v>
                </c:pt>
                <c:pt idx="48">
                  <c:v>70439</c:v>
                </c:pt>
                <c:pt idx="49">
                  <c:v>51271</c:v>
                </c:pt>
                <c:pt idx="50">
                  <c:v>51586</c:v>
                </c:pt>
                <c:pt idx="51">
                  <c:v>56751</c:v>
                </c:pt>
                <c:pt idx="52">
                  <c:v>37231</c:v>
                </c:pt>
                <c:pt idx="53">
                  <c:v>46855</c:v>
                </c:pt>
                <c:pt idx="54">
                  <c:v>55813</c:v>
                </c:pt>
                <c:pt idx="55">
                  <c:v>50706</c:v>
                </c:pt>
                <c:pt idx="56">
                  <c:v>48810</c:v>
                </c:pt>
                <c:pt idx="57">
                  <c:v>42017</c:v>
                </c:pt>
                <c:pt idx="58">
                  <c:v>39705</c:v>
                </c:pt>
                <c:pt idx="59">
                  <c:v>35585</c:v>
                </c:pt>
                <c:pt idx="60">
                  <c:v>33399</c:v>
                </c:pt>
                <c:pt idx="61">
                  <c:v>40868</c:v>
                </c:pt>
                <c:pt idx="62">
                  <c:v>38825</c:v>
                </c:pt>
                <c:pt idx="63">
                  <c:v>29596</c:v>
                </c:pt>
                <c:pt idx="64">
                  <c:v>24320</c:v>
                </c:pt>
                <c:pt idx="65">
                  <c:v>26412</c:v>
                </c:pt>
                <c:pt idx="66">
                  <c:v>32058</c:v>
                </c:pt>
                <c:pt idx="67">
                  <c:v>25325</c:v>
                </c:pt>
                <c:pt idx="68">
                  <c:v>34306</c:v>
                </c:pt>
                <c:pt idx="69">
                  <c:v>35181</c:v>
                </c:pt>
                <c:pt idx="70">
                  <c:v>28354</c:v>
                </c:pt>
                <c:pt idx="71">
                  <c:v>22321</c:v>
                </c:pt>
                <c:pt idx="72">
                  <c:v>12661</c:v>
                </c:pt>
                <c:pt idx="73">
                  <c:v>26095</c:v>
                </c:pt>
                <c:pt idx="74">
                  <c:v>35310</c:v>
                </c:pt>
                <c:pt idx="75">
                  <c:v>26813</c:v>
                </c:pt>
                <c:pt idx="76">
                  <c:v>37089</c:v>
                </c:pt>
                <c:pt idx="77">
                  <c:v>26357</c:v>
                </c:pt>
                <c:pt idx="78">
                  <c:v>49421</c:v>
                </c:pt>
                <c:pt idx="79">
                  <c:v>37815</c:v>
                </c:pt>
                <c:pt idx="80">
                  <c:v>51040</c:v>
                </c:pt>
                <c:pt idx="81">
                  <c:v>34014</c:v>
                </c:pt>
                <c:pt idx="82">
                  <c:v>50866</c:v>
                </c:pt>
                <c:pt idx="83">
                  <c:v>70841</c:v>
                </c:pt>
                <c:pt idx="84">
                  <c:v>26902</c:v>
                </c:pt>
                <c:pt idx="85">
                  <c:v>42899</c:v>
                </c:pt>
                <c:pt idx="86">
                  <c:v>41255</c:v>
                </c:pt>
                <c:pt idx="87">
                  <c:v>48881</c:v>
                </c:pt>
                <c:pt idx="88">
                  <c:v>53226</c:v>
                </c:pt>
                <c:pt idx="89">
                  <c:v>49248</c:v>
                </c:pt>
                <c:pt idx="90">
                  <c:v>62348</c:v>
                </c:pt>
                <c:pt idx="91">
                  <c:v>52562</c:v>
                </c:pt>
                <c:pt idx="92">
                  <c:v>62201</c:v>
                </c:pt>
                <c:pt idx="93">
                  <c:v>44797</c:v>
                </c:pt>
                <c:pt idx="94">
                  <c:v>41608</c:v>
                </c:pt>
                <c:pt idx="95">
                  <c:v>50491</c:v>
                </c:pt>
                <c:pt idx="96">
                  <c:v>51152</c:v>
                </c:pt>
                <c:pt idx="97">
                  <c:v>41585</c:v>
                </c:pt>
                <c:pt idx="98">
                  <c:v>40661</c:v>
                </c:pt>
                <c:pt idx="99">
                  <c:v>31931</c:v>
                </c:pt>
                <c:pt idx="100">
                  <c:v>41535</c:v>
                </c:pt>
                <c:pt idx="101">
                  <c:v>44793</c:v>
                </c:pt>
                <c:pt idx="102">
                  <c:v>52858</c:v>
                </c:pt>
                <c:pt idx="103">
                  <c:v>55463</c:v>
                </c:pt>
                <c:pt idx="104">
                  <c:v>74711</c:v>
                </c:pt>
                <c:pt idx="105">
                  <c:v>65252</c:v>
                </c:pt>
                <c:pt idx="106">
                  <c:v>64996</c:v>
                </c:pt>
                <c:pt idx="107">
                  <c:v>60127</c:v>
                </c:pt>
                <c:pt idx="108">
                  <c:v>48738</c:v>
                </c:pt>
                <c:pt idx="109">
                  <c:v>49656</c:v>
                </c:pt>
                <c:pt idx="110">
                  <c:v>63470</c:v>
                </c:pt>
                <c:pt idx="111">
                  <c:v>43920</c:v>
                </c:pt>
                <c:pt idx="112">
                  <c:v>57744</c:v>
                </c:pt>
                <c:pt idx="113">
                  <c:v>63761</c:v>
                </c:pt>
                <c:pt idx="114">
                  <c:v>74200</c:v>
                </c:pt>
                <c:pt idx="115">
                  <c:v>77621</c:v>
                </c:pt>
                <c:pt idx="116">
                  <c:v>68006</c:v>
                </c:pt>
                <c:pt idx="117">
                  <c:v>75190</c:v>
                </c:pt>
                <c:pt idx="118">
                  <c:v>72819</c:v>
                </c:pt>
                <c:pt idx="119">
                  <c:v>61380</c:v>
                </c:pt>
                <c:pt idx="120">
                  <c:v>56308</c:v>
                </c:pt>
                <c:pt idx="121">
                  <c:v>38576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&lt; 2009-06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Sheet1!$C$2:$C$123</c:f>
              <c:numCache>
                <c:formatCode>General</c:formatCode>
                <c:ptCount val="122"/>
                <c:pt idx="0">
                  <c:v>19057</c:v>
                </c:pt>
                <c:pt idx="1">
                  <c:v>15165</c:v>
                </c:pt>
                <c:pt idx="2">
                  <c:v>13726</c:v>
                </c:pt>
                <c:pt idx="3">
                  <c:v>13317</c:v>
                </c:pt>
                <c:pt idx="4">
                  <c:v>13740</c:v>
                </c:pt>
                <c:pt idx="5">
                  <c:v>11485</c:v>
                </c:pt>
                <c:pt idx="6">
                  <c:v>11763</c:v>
                </c:pt>
                <c:pt idx="7">
                  <c:v>10532</c:v>
                </c:pt>
                <c:pt idx="8">
                  <c:v>11293</c:v>
                </c:pt>
                <c:pt idx="9">
                  <c:v>11420</c:v>
                </c:pt>
                <c:pt idx="10">
                  <c:v>11613</c:v>
                </c:pt>
                <c:pt idx="11">
                  <c:v>13547</c:v>
                </c:pt>
                <c:pt idx="12">
                  <c:v>18639</c:v>
                </c:pt>
                <c:pt idx="13">
                  <c:v>16054</c:v>
                </c:pt>
                <c:pt idx="14">
                  <c:v>23045</c:v>
                </c:pt>
                <c:pt idx="15">
                  <c:v>21585</c:v>
                </c:pt>
                <c:pt idx="16">
                  <c:v>20927</c:v>
                </c:pt>
                <c:pt idx="17">
                  <c:v>23119</c:v>
                </c:pt>
                <c:pt idx="18">
                  <c:v>20337</c:v>
                </c:pt>
                <c:pt idx="19">
                  <c:v>17646</c:v>
                </c:pt>
                <c:pt idx="20">
                  <c:v>17169</c:v>
                </c:pt>
                <c:pt idx="21">
                  <c:v>17527</c:v>
                </c:pt>
                <c:pt idx="22">
                  <c:v>17939</c:v>
                </c:pt>
                <c:pt idx="23">
                  <c:v>22061</c:v>
                </c:pt>
                <c:pt idx="24">
                  <c:v>23242</c:v>
                </c:pt>
                <c:pt idx="25">
                  <c:v>25971</c:v>
                </c:pt>
                <c:pt idx="26">
                  <c:v>41508</c:v>
                </c:pt>
                <c:pt idx="27">
                  <c:v>49873</c:v>
                </c:pt>
                <c:pt idx="28">
                  <c:v>44733</c:v>
                </c:pt>
                <c:pt idx="29">
                  <c:v>41194</c:v>
                </c:pt>
                <c:pt idx="30">
                  <c:v>30865</c:v>
                </c:pt>
                <c:pt idx="31">
                  <c:v>15169</c:v>
                </c:pt>
                <c:pt idx="32">
                  <c:v>12928</c:v>
                </c:pt>
                <c:pt idx="33">
                  <c:v>11279</c:v>
                </c:pt>
                <c:pt idx="34">
                  <c:v>9037</c:v>
                </c:pt>
                <c:pt idx="35">
                  <c:v>13338</c:v>
                </c:pt>
                <c:pt idx="36">
                  <c:v>12980</c:v>
                </c:pt>
                <c:pt idx="37">
                  <c:v>20693</c:v>
                </c:pt>
                <c:pt idx="38">
                  <c:v>60330</c:v>
                </c:pt>
                <c:pt idx="39">
                  <c:v>126468</c:v>
                </c:pt>
                <c:pt idx="40">
                  <c:v>91317</c:v>
                </c:pt>
                <c:pt idx="41">
                  <c:v>25662</c:v>
                </c:pt>
                <c:pt idx="42">
                  <c:v>7053</c:v>
                </c:pt>
                <c:pt idx="43">
                  <c:v>781</c:v>
                </c:pt>
                <c:pt idx="44">
                  <c:v>173</c:v>
                </c:pt>
                <c:pt idx="45">
                  <c:v>258</c:v>
                </c:pt>
                <c:pt idx="46">
                  <c:v>1059</c:v>
                </c:pt>
                <c:pt idx="47">
                  <c:v>77</c:v>
                </c:pt>
                <c:pt idx="48">
                  <c:v>336</c:v>
                </c:pt>
                <c:pt idx="49">
                  <c:v>360</c:v>
                </c:pt>
                <c:pt idx="50">
                  <c:v>77</c:v>
                </c:pt>
                <c:pt idx="51">
                  <c:v>679</c:v>
                </c:pt>
                <c:pt idx="52">
                  <c:v>113</c:v>
                </c:pt>
                <c:pt idx="53">
                  <c:v>25</c:v>
                </c:pt>
                <c:pt idx="54">
                  <c:v>4</c:v>
                </c:pt>
                <c:pt idx="55">
                  <c:v>1</c:v>
                </c:pt>
                <c:pt idx="56">
                  <c:v>1120</c:v>
                </c:pt>
                <c:pt idx="57">
                  <c:v>326</c:v>
                </c:pt>
                <c:pt idx="58">
                  <c:v>3</c:v>
                </c:pt>
                <c:pt idx="59">
                  <c:v>24</c:v>
                </c:pt>
                <c:pt idx="60">
                  <c:v>3</c:v>
                </c:pt>
                <c:pt idx="62">
                  <c:v>150</c:v>
                </c:pt>
                <c:pt idx="63">
                  <c:v>2646</c:v>
                </c:pt>
                <c:pt idx="64">
                  <c:v>10</c:v>
                </c:pt>
                <c:pt idx="71">
                  <c:v>16</c:v>
                </c:pt>
                <c:pt idx="77">
                  <c:v>28</c:v>
                </c:pt>
                <c:pt idx="83">
                  <c:v>1190</c:v>
                </c:pt>
                <c:pt idx="84">
                  <c:v>7</c:v>
                </c:pt>
                <c:pt idx="87">
                  <c:v>8</c:v>
                </c:pt>
                <c:pt idx="88">
                  <c:v>7</c:v>
                </c:pt>
                <c:pt idx="89">
                  <c:v>88</c:v>
                </c:pt>
                <c:pt idx="90">
                  <c:v>19</c:v>
                </c:pt>
                <c:pt idx="92">
                  <c:v>1</c:v>
                </c:pt>
                <c:pt idx="93">
                  <c:v>90</c:v>
                </c:pt>
                <c:pt idx="95">
                  <c:v>969</c:v>
                </c:pt>
                <c:pt idx="96">
                  <c:v>1125</c:v>
                </c:pt>
                <c:pt idx="99">
                  <c:v>16</c:v>
                </c:pt>
                <c:pt idx="105">
                  <c:v>1</c:v>
                </c:pt>
                <c:pt idx="107">
                  <c:v>3</c:v>
                </c:pt>
                <c:pt idx="108">
                  <c:v>1</c:v>
                </c:pt>
                <c:pt idx="109">
                  <c:v>1</c:v>
                </c:pt>
                <c:pt idx="110">
                  <c:v>9</c:v>
                </c:pt>
                <c:pt idx="111">
                  <c:v>3319</c:v>
                </c:pt>
                <c:pt idx="119">
                  <c:v>116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NON-HARP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Sheet1!$D$2:$D$123</c:f>
              <c:numCache>
                <c:formatCode>General</c:formatCode>
                <c:ptCount val="122"/>
                <c:pt idx="40">
                  <c:v>4758</c:v>
                </c:pt>
                <c:pt idx="41">
                  <c:v>51705</c:v>
                </c:pt>
                <c:pt idx="42">
                  <c:v>106391</c:v>
                </c:pt>
                <c:pt idx="43">
                  <c:v>60337</c:v>
                </c:pt>
                <c:pt idx="44">
                  <c:v>55906</c:v>
                </c:pt>
                <c:pt idx="45">
                  <c:v>31910</c:v>
                </c:pt>
                <c:pt idx="46">
                  <c:v>23119</c:v>
                </c:pt>
                <c:pt idx="47">
                  <c:v>22548</c:v>
                </c:pt>
                <c:pt idx="48">
                  <c:v>30548</c:v>
                </c:pt>
                <c:pt idx="49">
                  <c:v>24350</c:v>
                </c:pt>
                <c:pt idx="50">
                  <c:v>28003</c:v>
                </c:pt>
                <c:pt idx="51">
                  <c:v>25937</c:v>
                </c:pt>
                <c:pt idx="52">
                  <c:v>14416</c:v>
                </c:pt>
                <c:pt idx="53">
                  <c:v>15988</c:v>
                </c:pt>
                <c:pt idx="54">
                  <c:v>14269</c:v>
                </c:pt>
                <c:pt idx="55">
                  <c:v>13900</c:v>
                </c:pt>
                <c:pt idx="56">
                  <c:v>16488</c:v>
                </c:pt>
                <c:pt idx="57">
                  <c:v>24337</c:v>
                </c:pt>
                <c:pt idx="58">
                  <c:v>29103</c:v>
                </c:pt>
                <c:pt idx="59">
                  <c:v>28907</c:v>
                </c:pt>
                <c:pt idx="60">
                  <c:v>29330</c:v>
                </c:pt>
                <c:pt idx="61">
                  <c:v>36053</c:v>
                </c:pt>
                <c:pt idx="62">
                  <c:v>24920</c:v>
                </c:pt>
                <c:pt idx="63">
                  <c:v>11405</c:v>
                </c:pt>
                <c:pt idx="64">
                  <c:v>9549</c:v>
                </c:pt>
                <c:pt idx="65">
                  <c:v>7249</c:v>
                </c:pt>
                <c:pt idx="66">
                  <c:v>7079</c:v>
                </c:pt>
                <c:pt idx="67">
                  <c:v>5161</c:v>
                </c:pt>
                <c:pt idx="68">
                  <c:v>8995</c:v>
                </c:pt>
                <c:pt idx="69">
                  <c:v>9559</c:v>
                </c:pt>
                <c:pt idx="70">
                  <c:v>15321</c:v>
                </c:pt>
                <c:pt idx="71">
                  <c:v>16181</c:v>
                </c:pt>
                <c:pt idx="72">
                  <c:v>13058</c:v>
                </c:pt>
                <c:pt idx="73">
                  <c:v>21613</c:v>
                </c:pt>
                <c:pt idx="74">
                  <c:v>35057</c:v>
                </c:pt>
                <c:pt idx="75">
                  <c:v>28239</c:v>
                </c:pt>
                <c:pt idx="76">
                  <c:v>30739</c:v>
                </c:pt>
                <c:pt idx="77">
                  <c:v>17578</c:v>
                </c:pt>
                <c:pt idx="78">
                  <c:v>25831</c:v>
                </c:pt>
                <c:pt idx="79">
                  <c:v>18827</c:v>
                </c:pt>
                <c:pt idx="80">
                  <c:v>26774</c:v>
                </c:pt>
                <c:pt idx="81">
                  <c:v>25041</c:v>
                </c:pt>
                <c:pt idx="82">
                  <c:v>38833</c:v>
                </c:pt>
                <c:pt idx="83">
                  <c:v>49783</c:v>
                </c:pt>
                <c:pt idx="84">
                  <c:v>23978</c:v>
                </c:pt>
                <c:pt idx="85">
                  <c:v>39760</c:v>
                </c:pt>
                <c:pt idx="86">
                  <c:v>38300</c:v>
                </c:pt>
                <c:pt idx="87">
                  <c:v>48117</c:v>
                </c:pt>
                <c:pt idx="88">
                  <c:v>40468</c:v>
                </c:pt>
                <c:pt idx="89">
                  <c:v>26944</c:v>
                </c:pt>
                <c:pt idx="90">
                  <c:v>33375</c:v>
                </c:pt>
                <c:pt idx="91">
                  <c:v>26413</c:v>
                </c:pt>
                <c:pt idx="92">
                  <c:v>23108</c:v>
                </c:pt>
                <c:pt idx="93">
                  <c:v>12617</c:v>
                </c:pt>
                <c:pt idx="94">
                  <c:v>8614</c:v>
                </c:pt>
                <c:pt idx="95">
                  <c:v>7821</c:v>
                </c:pt>
                <c:pt idx="96">
                  <c:v>9232</c:v>
                </c:pt>
                <c:pt idx="97">
                  <c:v>8940</c:v>
                </c:pt>
                <c:pt idx="98">
                  <c:v>7816</c:v>
                </c:pt>
                <c:pt idx="99">
                  <c:v>2610</c:v>
                </c:pt>
                <c:pt idx="100">
                  <c:v>488</c:v>
                </c:pt>
                <c:pt idx="101">
                  <c:v>144</c:v>
                </c:pt>
                <c:pt idx="102">
                  <c:v>15</c:v>
                </c:pt>
                <c:pt idx="103">
                  <c:v>20</c:v>
                </c:pt>
                <c:pt idx="104">
                  <c:v>4942</c:v>
                </c:pt>
                <c:pt idx="105">
                  <c:v>1198</c:v>
                </c:pt>
                <c:pt idx="106">
                  <c:v>302</c:v>
                </c:pt>
                <c:pt idx="107">
                  <c:v>67</c:v>
                </c:pt>
                <c:pt idx="108">
                  <c:v>18</c:v>
                </c:pt>
                <c:pt idx="109">
                  <c:v>67</c:v>
                </c:pt>
                <c:pt idx="110">
                  <c:v>7528</c:v>
                </c:pt>
                <c:pt idx="111">
                  <c:v>34</c:v>
                </c:pt>
                <c:pt idx="112">
                  <c:v>1</c:v>
                </c:pt>
                <c:pt idx="113">
                  <c:v>211</c:v>
                </c:pt>
                <c:pt idx="114">
                  <c:v>2804</c:v>
                </c:pt>
                <c:pt idx="115">
                  <c:v>1279</c:v>
                </c:pt>
                <c:pt idx="117">
                  <c:v>11</c:v>
                </c:pt>
                <c:pt idx="118">
                  <c:v>531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HARP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Sheet1!$E$2:$E$123</c:f>
              <c:numCache>
                <c:formatCode>General</c:formatCode>
                <c:ptCount val="122"/>
                <c:pt idx="40">
                  <c:v>286</c:v>
                </c:pt>
                <c:pt idx="41">
                  <c:v>5842</c:v>
                </c:pt>
                <c:pt idx="42">
                  <c:v>16517</c:v>
                </c:pt>
                <c:pt idx="43">
                  <c:v>22075</c:v>
                </c:pt>
                <c:pt idx="44">
                  <c:v>25210</c:v>
                </c:pt>
                <c:pt idx="45">
                  <c:v>15667</c:v>
                </c:pt>
                <c:pt idx="46">
                  <c:v>12098</c:v>
                </c:pt>
                <c:pt idx="47">
                  <c:v>16580</c:v>
                </c:pt>
                <c:pt idx="48">
                  <c:v>25493</c:v>
                </c:pt>
                <c:pt idx="49">
                  <c:v>24649</c:v>
                </c:pt>
                <c:pt idx="50">
                  <c:v>26299</c:v>
                </c:pt>
                <c:pt idx="51">
                  <c:v>21183</c:v>
                </c:pt>
                <c:pt idx="52">
                  <c:v>19513</c:v>
                </c:pt>
                <c:pt idx="53">
                  <c:v>17575</c:v>
                </c:pt>
                <c:pt idx="54">
                  <c:v>19523</c:v>
                </c:pt>
                <c:pt idx="55">
                  <c:v>19158</c:v>
                </c:pt>
                <c:pt idx="56">
                  <c:v>20121</c:v>
                </c:pt>
                <c:pt idx="57">
                  <c:v>38354</c:v>
                </c:pt>
                <c:pt idx="58">
                  <c:v>36203</c:v>
                </c:pt>
                <c:pt idx="59">
                  <c:v>39308</c:v>
                </c:pt>
                <c:pt idx="60">
                  <c:v>45723</c:v>
                </c:pt>
                <c:pt idx="61">
                  <c:v>31180</c:v>
                </c:pt>
                <c:pt idx="62">
                  <c:v>36604</c:v>
                </c:pt>
                <c:pt idx="63">
                  <c:v>19980</c:v>
                </c:pt>
                <c:pt idx="64">
                  <c:v>18800</c:v>
                </c:pt>
                <c:pt idx="65">
                  <c:v>12820</c:v>
                </c:pt>
                <c:pt idx="66">
                  <c:v>12588</c:v>
                </c:pt>
                <c:pt idx="67">
                  <c:v>11579</c:v>
                </c:pt>
                <c:pt idx="68">
                  <c:v>13279</c:v>
                </c:pt>
                <c:pt idx="69">
                  <c:v>15550</c:v>
                </c:pt>
                <c:pt idx="70">
                  <c:v>16474</c:v>
                </c:pt>
                <c:pt idx="71">
                  <c:v>15358</c:v>
                </c:pt>
                <c:pt idx="72">
                  <c:v>17850</c:v>
                </c:pt>
                <c:pt idx="73">
                  <c:v>21469</c:v>
                </c:pt>
                <c:pt idx="74">
                  <c:v>19436</c:v>
                </c:pt>
                <c:pt idx="75">
                  <c:v>29010</c:v>
                </c:pt>
                <c:pt idx="76">
                  <c:v>18814</c:v>
                </c:pt>
                <c:pt idx="77">
                  <c:v>22353</c:v>
                </c:pt>
                <c:pt idx="78">
                  <c:v>23679</c:v>
                </c:pt>
                <c:pt idx="79">
                  <c:v>21930</c:v>
                </c:pt>
                <c:pt idx="80">
                  <c:v>25715</c:v>
                </c:pt>
                <c:pt idx="81">
                  <c:v>20098</c:v>
                </c:pt>
                <c:pt idx="82">
                  <c:v>23340</c:v>
                </c:pt>
                <c:pt idx="83">
                  <c:v>40576</c:v>
                </c:pt>
                <c:pt idx="84">
                  <c:v>16073</c:v>
                </c:pt>
                <c:pt idx="85">
                  <c:v>31891</c:v>
                </c:pt>
                <c:pt idx="86">
                  <c:v>28858</c:v>
                </c:pt>
                <c:pt idx="87">
                  <c:v>30621</c:v>
                </c:pt>
                <c:pt idx="88">
                  <c:v>33414</c:v>
                </c:pt>
                <c:pt idx="89">
                  <c:v>28554</c:v>
                </c:pt>
                <c:pt idx="90">
                  <c:v>30201</c:v>
                </c:pt>
                <c:pt idx="91">
                  <c:v>22463</c:v>
                </c:pt>
                <c:pt idx="92">
                  <c:v>18785</c:v>
                </c:pt>
                <c:pt idx="93">
                  <c:v>16394</c:v>
                </c:pt>
                <c:pt idx="94">
                  <c:v>13595</c:v>
                </c:pt>
                <c:pt idx="95">
                  <c:v>12144</c:v>
                </c:pt>
                <c:pt idx="96">
                  <c:v>8436</c:v>
                </c:pt>
                <c:pt idx="97">
                  <c:v>10673</c:v>
                </c:pt>
                <c:pt idx="98">
                  <c:v>9613</c:v>
                </c:pt>
                <c:pt idx="99">
                  <c:v>2000</c:v>
                </c:pt>
                <c:pt idx="100">
                  <c:v>203</c:v>
                </c:pt>
                <c:pt idx="101">
                  <c:v>50</c:v>
                </c:pt>
                <c:pt idx="102">
                  <c:v>13</c:v>
                </c:pt>
                <c:pt idx="103">
                  <c:v>10</c:v>
                </c:pt>
                <c:pt idx="104">
                  <c:v>25</c:v>
                </c:pt>
                <c:pt idx="105">
                  <c:v>11</c:v>
                </c:pt>
                <c:pt idx="106">
                  <c:v>33</c:v>
                </c:pt>
                <c:pt idx="107">
                  <c:v>15</c:v>
                </c:pt>
                <c:pt idx="108">
                  <c:v>1</c:v>
                </c:pt>
                <c:pt idx="109">
                  <c:v>17</c:v>
                </c:pt>
                <c:pt idx="110">
                  <c:v>26</c:v>
                </c:pt>
                <c:pt idx="112">
                  <c:v>1</c:v>
                </c:pt>
                <c:pt idx="114">
                  <c:v>2</c:v>
                </c:pt>
                <c:pt idx="119">
                  <c:v>63</c:v>
                </c:pt>
                <c:pt idx="120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AD275C"/>
            </a:solidFill>
            <a:ln w="19050">
              <a:noFill/>
            </a:ln>
          </c:spPr>
          <c:cat>
            <c:numRef>
              <c:f>Sheet1!$A$2:$A$123</c:f>
              <c:numCache>
                <c:formatCode>m/d/yyyy</c:formatCode>
                <c:ptCount val="122"/>
                <c:pt idx="0">
                  <c:v>38687</c:v>
                </c:pt>
                <c:pt idx="1">
                  <c:v>38718</c:v>
                </c:pt>
                <c:pt idx="2">
                  <c:v>38749</c:v>
                </c:pt>
                <c:pt idx="3">
                  <c:v>38777</c:v>
                </c:pt>
                <c:pt idx="4">
                  <c:v>38808</c:v>
                </c:pt>
                <c:pt idx="5">
                  <c:v>38838</c:v>
                </c:pt>
                <c:pt idx="6">
                  <c:v>38869</c:v>
                </c:pt>
                <c:pt idx="7">
                  <c:v>38899</c:v>
                </c:pt>
                <c:pt idx="8">
                  <c:v>38930</c:v>
                </c:pt>
                <c:pt idx="9">
                  <c:v>38961</c:v>
                </c:pt>
                <c:pt idx="10">
                  <c:v>38991</c:v>
                </c:pt>
                <c:pt idx="11">
                  <c:v>39022</c:v>
                </c:pt>
                <c:pt idx="12">
                  <c:v>39052</c:v>
                </c:pt>
                <c:pt idx="13">
                  <c:v>39083</c:v>
                </c:pt>
                <c:pt idx="14">
                  <c:v>39114</c:v>
                </c:pt>
                <c:pt idx="15">
                  <c:v>39142</c:v>
                </c:pt>
                <c:pt idx="16">
                  <c:v>39173</c:v>
                </c:pt>
                <c:pt idx="17">
                  <c:v>39203</c:v>
                </c:pt>
                <c:pt idx="18">
                  <c:v>39234</c:v>
                </c:pt>
                <c:pt idx="19">
                  <c:v>39264</c:v>
                </c:pt>
                <c:pt idx="20">
                  <c:v>39295</c:v>
                </c:pt>
                <c:pt idx="21">
                  <c:v>39326</c:v>
                </c:pt>
                <c:pt idx="22">
                  <c:v>39356</c:v>
                </c:pt>
                <c:pt idx="23">
                  <c:v>39387</c:v>
                </c:pt>
                <c:pt idx="24">
                  <c:v>39417</c:v>
                </c:pt>
                <c:pt idx="25">
                  <c:v>39448</c:v>
                </c:pt>
                <c:pt idx="26">
                  <c:v>39479</c:v>
                </c:pt>
                <c:pt idx="27">
                  <c:v>39508</c:v>
                </c:pt>
                <c:pt idx="28">
                  <c:v>39539</c:v>
                </c:pt>
                <c:pt idx="29">
                  <c:v>39569</c:v>
                </c:pt>
                <c:pt idx="30">
                  <c:v>39600</c:v>
                </c:pt>
                <c:pt idx="31">
                  <c:v>39630</c:v>
                </c:pt>
                <c:pt idx="32">
                  <c:v>39661</c:v>
                </c:pt>
                <c:pt idx="33">
                  <c:v>39692</c:v>
                </c:pt>
                <c:pt idx="34">
                  <c:v>39722</c:v>
                </c:pt>
                <c:pt idx="35">
                  <c:v>39753</c:v>
                </c:pt>
                <c:pt idx="36">
                  <c:v>39783</c:v>
                </c:pt>
                <c:pt idx="37">
                  <c:v>39814</c:v>
                </c:pt>
                <c:pt idx="38">
                  <c:v>39845</c:v>
                </c:pt>
                <c:pt idx="39">
                  <c:v>39873</c:v>
                </c:pt>
                <c:pt idx="40">
                  <c:v>39904</c:v>
                </c:pt>
                <c:pt idx="41">
                  <c:v>39934</c:v>
                </c:pt>
                <c:pt idx="42">
                  <c:v>39965</c:v>
                </c:pt>
                <c:pt idx="43">
                  <c:v>39995</c:v>
                </c:pt>
                <c:pt idx="44">
                  <c:v>40026</c:v>
                </c:pt>
                <c:pt idx="45">
                  <c:v>40057</c:v>
                </c:pt>
                <c:pt idx="46">
                  <c:v>40087</c:v>
                </c:pt>
                <c:pt idx="47">
                  <c:v>40118</c:v>
                </c:pt>
                <c:pt idx="48">
                  <c:v>40148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</c:numCache>
            </c:numRef>
          </c:cat>
          <c:val>
            <c:numRef>
              <c:f>Sheet1!$F$2:$F$123</c:f>
              <c:numCache>
                <c:formatCode>General</c:formatCode>
                <c:ptCount val="122"/>
                <c:pt idx="98">
                  <c:v>433</c:v>
                </c:pt>
                <c:pt idx="99">
                  <c:v>7802</c:v>
                </c:pt>
                <c:pt idx="100">
                  <c:v>13317</c:v>
                </c:pt>
                <c:pt idx="101">
                  <c:v>13013</c:v>
                </c:pt>
                <c:pt idx="102">
                  <c:v>14294</c:v>
                </c:pt>
                <c:pt idx="103">
                  <c:v>13253</c:v>
                </c:pt>
                <c:pt idx="104">
                  <c:v>15355</c:v>
                </c:pt>
                <c:pt idx="105">
                  <c:v>16781</c:v>
                </c:pt>
                <c:pt idx="106">
                  <c:v>18205</c:v>
                </c:pt>
                <c:pt idx="107">
                  <c:v>17771</c:v>
                </c:pt>
                <c:pt idx="108">
                  <c:v>20639</c:v>
                </c:pt>
                <c:pt idx="109">
                  <c:v>20018</c:v>
                </c:pt>
                <c:pt idx="110">
                  <c:v>26307</c:v>
                </c:pt>
                <c:pt idx="111">
                  <c:v>27603</c:v>
                </c:pt>
                <c:pt idx="112">
                  <c:v>38841</c:v>
                </c:pt>
                <c:pt idx="113">
                  <c:v>32819</c:v>
                </c:pt>
                <c:pt idx="114">
                  <c:v>29652</c:v>
                </c:pt>
                <c:pt idx="115">
                  <c:v>24711</c:v>
                </c:pt>
                <c:pt idx="116">
                  <c:v>17994</c:v>
                </c:pt>
                <c:pt idx="117">
                  <c:v>18141</c:v>
                </c:pt>
                <c:pt idx="118">
                  <c:v>17495</c:v>
                </c:pt>
                <c:pt idx="119">
                  <c:v>17242</c:v>
                </c:pt>
                <c:pt idx="120">
                  <c:v>17651</c:v>
                </c:pt>
                <c:pt idx="121">
                  <c:v>10736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316288"/>
        <c:axId val="80317824"/>
      </c:areaChart>
      <c:dateAx>
        <c:axId val="803162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80317824"/>
        <c:crosses val="autoZero"/>
        <c:auto val="1"/>
        <c:lblOffset val="100"/>
        <c:baseTimeUnit val="months"/>
        <c:majorUnit val="6"/>
        <c:majorTimeUnit val="months"/>
      </c:dateAx>
      <c:valAx>
        <c:axId val="803178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Percent of Loans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8031628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0.83537</cdr:x>
      <cdr:y>0.06875</cdr:y>
    </cdr:from>
    <cdr:to>
      <cdr:x>0.95361</cdr:x>
      <cdr:y>0.12652</cdr:y>
    </cdr:to>
    <cdr:sp macro="" textlink="">
      <cdr:nvSpPr>
        <cdr:cNvPr id="2" name="TextBox 19"/>
        <cdr:cNvSpPr txBox="1"/>
      </cdr:nvSpPr>
      <cdr:spPr>
        <a:xfrm xmlns:a="http://schemas.openxmlformats.org/drawingml/2006/main">
          <a:off x="7246730" y="293006"/>
          <a:ext cx="1025718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1pPr>
          <a:lvl2pPr marL="507526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2pPr>
          <a:lvl3pPr marL="1016818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3pPr>
          <a:lvl4pPr marL="1526111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4pPr>
          <a:lvl5pPr marL="2035405" indent="1769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5pPr>
          <a:lvl6pPr marL="2546466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6pPr>
          <a:lvl7pPr marL="3055758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7pPr>
          <a:lvl8pPr marL="3565052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8pPr>
          <a:lvl9pPr marL="4074344" algn="l" defTabSz="1018586" rtl="0" eaLnBrk="1" latinLnBrk="0" hangingPunct="1">
            <a:defRPr kern="1200">
              <a:solidFill>
                <a:schemeClr val="tx1"/>
              </a:solidFill>
              <a:latin typeface="Cambria" pitchFamily="18" charset="0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000" b="1" dirty="0" smtClean="0">
              <a:solidFill>
                <a:schemeClr val="bg1"/>
              </a:solidFill>
              <a:latin typeface="+mn-lt"/>
            </a:rPr>
            <a:t>Unknown</a:t>
          </a:r>
          <a:endParaRPr lang="en-US" sz="1000" b="1" dirty="0">
            <a:solidFill>
              <a:schemeClr val="bg1"/>
            </a:solidFill>
            <a:latin typeface="+mn-lt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Identifying </a:t>
            </a:r>
            <a:r>
              <a:rPr lang="en-US" sz="2400" dirty="0" err="1" smtClean="0">
                <a:solidFill>
                  <a:srgbClr val="968880"/>
                </a:solidFill>
                <a:latin typeface="Calibri" pitchFamily="34" charset="0"/>
              </a:rPr>
              <a:t>HARPed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Loans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January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INTRODUCTION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9356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19356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90855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Importance of identifying </a:t>
            </a:r>
            <a:r>
              <a:rPr lang="en-US" sz="1400" b="1" dirty="0" smtClean="0">
                <a:latin typeface="+mn-lt"/>
              </a:rPr>
              <a:t>HARP </a:t>
            </a:r>
            <a:r>
              <a:rPr lang="en-US" sz="1400" b="1" dirty="0" smtClean="0">
                <a:latin typeface="+mn-lt"/>
              </a:rPr>
              <a:t>loans</a:t>
            </a:r>
            <a:endParaRPr lang="en-US" sz="1400" b="1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464" y="2006254"/>
            <a:ext cx="8549586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Loans that have been refinanced through </a:t>
            </a:r>
            <a:r>
              <a:rPr lang="en-US" sz="1400" dirty="0" smtClean="0">
                <a:latin typeface="+mn-lt"/>
              </a:rPr>
              <a:t>the Home </a:t>
            </a:r>
            <a:r>
              <a:rPr lang="en-US" sz="1400" dirty="0" smtClean="0">
                <a:latin typeface="+mn-lt"/>
              </a:rPr>
              <a:t>Affordable Refinance Program (HARP) generally prepay slower than other refinance loans that have undergone full underwriting</a:t>
            </a:r>
            <a:r>
              <a:rPr lang="en-US" sz="1400" dirty="0" smtClean="0">
                <a:latin typeface="+mn-lt"/>
              </a:rPr>
              <a:t>.</a:t>
            </a:r>
            <a:endParaRPr lang="en-US" sz="1400" dirty="0" smtClean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9356" y="319849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819356" y="380047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90855" y="3337679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Existing algorithms for identifying  </a:t>
            </a:r>
            <a:r>
              <a:rPr lang="en-US" sz="1400" b="1" dirty="0" err="1" smtClean="0">
                <a:latin typeface="+mn-lt"/>
              </a:rPr>
              <a:t>HARPed</a:t>
            </a:r>
            <a:r>
              <a:rPr lang="en-US" sz="1400" b="1" dirty="0" smtClean="0">
                <a:latin typeface="+mn-lt"/>
              </a:rPr>
              <a:t> Loans</a:t>
            </a:r>
            <a:endParaRPr lang="en-US" sz="1400" b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625" y="3916969"/>
            <a:ext cx="903409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Prior </a:t>
            </a:r>
            <a:r>
              <a:rPr lang="en-US" sz="1400" dirty="0" smtClean="0">
                <a:latin typeface="+mn-lt"/>
              </a:rPr>
              <a:t>to August </a:t>
            </a:r>
            <a:r>
              <a:rPr lang="en-US" sz="1400" dirty="0" smtClean="0">
                <a:latin typeface="+mn-lt"/>
              </a:rPr>
              <a:t>2013: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This is the period prior to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Freddie Mac </a:t>
            </a:r>
            <a:r>
              <a:rPr lang="en-US" sz="1400" dirty="0" smtClean="0">
                <a:latin typeface="+mn-lt"/>
              </a:rPr>
              <a:t>providing </a:t>
            </a:r>
            <a:r>
              <a:rPr lang="en-US" sz="1400" dirty="0" smtClean="0">
                <a:latin typeface="+mn-lt"/>
              </a:rPr>
              <a:t>loan-level credit information for fully underwritten mortgages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MI matche</a:t>
            </a:r>
            <a:r>
              <a:rPr lang="en-US" sz="1400" dirty="0" smtClean="0">
                <a:latin typeface="+mn-lt"/>
              </a:rPr>
              <a:t>s were used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to identify potential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loans with OLTV &gt; 80 and loan purpose as Refi-NCO 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This algorithm cannot effectively identify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loans with OLTV of 80% or lower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After August 2013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With the </a:t>
            </a:r>
            <a:r>
              <a:rPr lang="en-US" sz="1400" dirty="0" smtClean="0">
                <a:latin typeface="+mn-lt"/>
              </a:rPr>
              <a:t>new Freddie </a:t>
            </a:r>
            <a:r>
              <a:rPr lang="en-US" sz="1400" dirty="0">
                <a:latin typeface="+mn-lt"/>
              </a:rPr>
              <a:t>Mac and Fannie Mae </a:t>
            </a:r>
            <a:r>
              <a:rPr lang="en-US" sz="1400" dirty="0" smtClean="0">
                <a:latin typeface="+mn-lt"/>
              </a:rPr>
              <a:t>loan-level credit </a:t>
            </a:r>
            <a:r>
              <a:rPr lang="en-US" sz="1400" dirty="0">
                <a:latin typeface="+mn-lt"/>
              </a:rPr>
              <a:t>information, </a:t>
            </a:r>
            <a:r>
              <a:rPr lang="en-US" sz="1400" dirty="0" smtClean="0">
                <a:latin typeface="+mn-lt"/>
              </a:rPr>
              <a:t>an </a:t>
            </a:r>
            <a:r>
              <a:rPr lang="en-US" sz="1400" dirty="0" smtClean="0">
                <a:latin typeface="+mn-lt"/>
              </a:rPr>
              <a:t>algorithm was developed to </a:t>
            </a:r>
            <a:r>
              <a:rPr lang="en-US" sz="1400" dirty="0">
                <a:latin typeface="+mn-lt"/>
              </a:rPr>
              <a:t>identify 30-year fixed –rate HARP loans by mapping </a:t>
            </a:r>
            <a:r>
              <a:rPr lang="en-US" sz="1400" dirty="0" smtClean="0">
                <a:latin typeface="+mn-lt"/>
              </a:rPr>
              <a:t>the credit </a:t>
            </a:r>
            <a:r>
              <a:rPr lang="en-US" sz="1400" dirty="0">
                <a:latin typeface="+mn-lt"/>
              </a:rPr>
              <a:t>dataset </a:t>
            </a:r>
            <a:r>
              <a:rPr lang="en-US" sz="1400" dirty="0" smtClean="0">
                <a:latin typeface="+mn-lt"/>
              </a:rPr>
              <a:t>to the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standard </a:t>
            </a:r>
            <a:r>
              <a:rPr lang="en-US" sz="1400" dirty="0" smtClean="0">
                <a:latin typeface="+mn-lt"/>
              </a:rPr>
              <a:t>database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</a:t>
            </a:r>
            <a:r>
              <a:rPr lang="en-US" sz="1400" dirty="0" smtClean="0">
                <a:latin typeface="+mn-lt"/>
              </a:rPr>
              <a:t>are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no restrictions on </a:t>
            </a:r>
            <a:r>
              <a:rPr lang="en-US" sz="1400" dirty="0" smtClean="0">
                <a:latin typeface="+mn-lt"/>
              </a:rPr>
              <a:t>the LTV </a:t>
            </a:r>
            <a:r>
              <a:rPr lang="en-US" sz="1400" dirty="0" smtClean="0">
                <a:latin typeface="+mn-lt"/>
              </a:rPr>
              <a:t>ratio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credit data set has about </a:t>
            </a:r>
            <a:r>
              <a:rPr lang="en-US" sz="1400" dirty="0" smtClean="0">
                <a:latin typeface="+mn-lt"/>
              </a:rPr>
              <a:t>a one </a:t>
            </a:r>
            <a:r>
              <a:rPr lang="en-US" sz="1400" dirty="0" smtClean="0">
                <a:latin typeface="+mn-lt"/>
              </a:rPr>
              <a:t>year lag, </a:t>
            </a:r>
            <a:r>
              <a:rPr lang="en-US" sz="1400" dirty="0" smtClean="0">
                <a:latin typeface="+mn-lt"/>
              </a:rPr>
              <a:t>which means that</a:t>
            </a:r>
            <a:r>
              <a:rPr lang="en-US" sz="1400" dirty="0" smtClean="0">
                <a:latin typeface="+mn-lt"/>
              </a:rPr>
              <a:t> recently </a:t>
            </a:r>
            <a:r>
              <a:rPr lang="en-US" sz="1400" dirty="0" smtClean="0">
                <a:latin typeface="+mn-lt"/>
              </a:rPr>
              <a:t>originated </a:t>
            </a:r>
            <a:r>
              <a:rPr lang="en-US" sz="1400" dirty="0" smtClean="0">
                <a:latin typeface="+mn-lt"/>
              </a:rPr>
              <a:t>loans cannot be identified as being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or not using the current algorithm</a:t>
            </a: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EXISTING ALGORITHM </a:t>
            </a:r>
            <a:r>
              <a:rPr lang="en-US" sz="1600" dirty="0" smtClean="0">
                <a:latin typeface="+mn-lt"/>
              </a:rPr>
              <a:t>I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MI </a:t>
            </a:r>
            <a:r>
              <a:rPr lang="en-US" sz="1600" dirty="0">
                <a:latin typeface="+mn-lt"/>
              </a:rPr>
              <a:t>M</a:t>
            </a:r>
            <a:r>
              <a:rPr lang="en-US" sz="1600" dirty="0" smtClean="0">
                <a:latin typeface="+mn-lt"/>
              </a:rPr>
              <a:t>atching Method</a:t>
            </a:r>
            <a:endParaRPr lang="en-US" sz="1600" dirty="0">
              <a:latin typeface="+mn-lt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87" y="1409700"/>
            <a:ext cx="3990975" cy="48196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47857" y="1364277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7857" y="1966257"/>
            <a:ext cx="502899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9356" y="1503461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+mn-lt"/>
              </a:rPr>
              <a:t>Three </a:t>
            </a:r>
            <a:r>
              <a:rPr lang="en-US" sz="1400" b="1" dirty="0" smtClean="0">
                <a:latin typeface="+mn-lt"/>
              </a:rPr>
              <a:t>Step </a:t>
            </a:r>
            <a:r>
              <a:rPr lang="en-US" sz="1400" b="1" dirty="0">
                <a:latin typeface="+mn-lt"/>
              </a:rPr>
              <a:t>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857" y="2107219"/>
            <a:ext cx="529093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Step 1: </a:t>
            </a:r>
            <a:r>
              <a:rPr lang="en-US" sz="1400" dirty="0" smtClean="0">
                <a:latin typeface="+mn-lt"/>
              </a:rPr>
              <a:t>The loan should be refi-NCO loan, with Origination LTV &gt;80.</a:t>
            </a:r>
            <a:endParaRPr lang="en-US" sz="1400" dirty="0">
              <a:latin typeface="+mn-lt"/>
            </a:endParaRPr>
          </a:p>
          <a:p>
            <a:pPr marL="514350"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Otherwise, it’s </a:t>
            </a:r>
            <a:r>
              <a:rPr lang="en-US" sz="1400" dirty="0" smtClean="0">
                <a:latin typeface="+mn-lt"/>
              </a:rPr>
              <a:t>Non-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.</a:t>
            </a:r>
            <a:endParaRPr lang="en-US" sz="1400" dirty="0" smtClean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Step 2: </a:t>
            </a:r>
            <a:r>
              <a:rPr lang="en-US" sz="1400" dirty="0" smtClean="0">
                <a:latin typeface="+mn-lt"/>
              </a:rPr>
              <a:t>If the loan doesn’t </a:t>
            </a:r>
            <a:r>
              <a:rPr lang="en-US" sz="1400" dirty="0">
                <a:latin typeface="+mn-lt"/>
              </a:rPr>
              <a:t>have </a:t>
            </a:r>
            <a:r>
              <a:rPr lang="en-US" sz="1400" dirty="0" smtClean="0">
                <a:latin typeface="+mn-lt"/>
              </a:rPr>
              <a:t>MI, we match it as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loan;</a:t>
            </a:r>
          </a:p>
          <a:p>
            <a:pPr indent="571500"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If </a:t>
            </a:r>
            <a:r>
              <a:rPr lang="en-US" sz="1400" dirty="0">
                <a:latin typeface="+mn-lt"/>
              </a:rPr>
              <a:t>not, go to step </a:t>
            </a:r>
            <a:r>
              <a:rPr lang="en-US" sz="1400" dirty="0" smtClean="0">
                <a:latin typeface="+mn-lt"/>
              </a:rPr>
              <a:t>3.</a:t>
            </a:r>
          </a:p>
          <a:p>
            <a:pPr marL="571500" indent="-571500">
              <a:lnSpc>
                <a:spcPct val="150000"/>
              </a:lnSpc>
            </a:pPr>
            <a:r>
              <a:rPr lang="en-US" sz="1400" b="1" dirty="0">
                <a:latin typeface="+mn-lt"/>
              </a:rPr>
              <a:t>Step </a:t>
            </a:r>
            <a:r>
              <a:rPr lang="en-US" sz="1400" b="1" dirty="0" smtClean="0">
                <a:latin typeface="+mn-lt"/>
              </a:rPr>
              <a:t>3: </a:t>
            </a:r>
            <a:r>
              <a:rPr lang="en-US" sz="1400" dirty="0" smtClean="0">
                <a:latin typeface="+mn-lt"/>
              </a:rPr>
              <a:t>For the </a:t>
            </a:r>
            <a:r>
              <a:rPr lang="en-US" sz="1400" dirty="0" smtClean="0">
                <a:latin typeface="+mn-lt"/>
              </a:rPr>
              <a:t>loans that potentially carry </a:t>
            </a:r>
            <a:r>
              <a:rPr lang="en-US" sz="1400" dirty="0" smtClean="0">
                <a:latin typeface="+mn-lt"/>
              </a:rPr>
              <a:t>over </a:t>
            </a:r>
            <a:r>
              <a:rPr lang="en-US" sz="1400" dirty="0" smtClean="0">
                <a:latin typeface="+mn-lt"/>
              </a:rPr>
              <a:t>MI check </a:t>
            </a:r>
            <a:r>
              <a:rPr lang="en-US" sz="1400" dirty="0" smtClean="0">
                <a:latin typeface="+mn-lt"/>
              </a:rPr>
              <a:t>whether MI </a:t>
            </a:r>
            <a:r>
              <a:rPr lang="en-US" sz="1400" dirty="0" smtClean="0">
                <a:latin typeface="+mn-lt"/>
              </a:rPr>
              <a:t>matches </a:t>
            </a:r>
            <a:r>
              <a:rPr lang="en-US" sz="1400" dirty="0" smtClean="0">
                <a:latin typeface="+mn-lt"/>
              </a:rPr>
              <a:t>current underwriting </a:t>
            </a:r>
            <a:r>
              <a:rPr lang="en-US" sz="1400" dirty="0" smtClean="0">
                <a:latin typeface="+mn-lt"/>
              </a:rPr>
              <a:t>guidelines.  If there’s no </a:t>
            </a:r>
            <a:r>
              <a:rPr lang="en-US" sz="1400" dirty="0" smtClean="0">
                <a:latin typeface="+mn-lt"/>
              </a:rPr>
              <a:t>match, then it’s a HARP loan.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9288" y="4556812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269288" y="5158792"/>
            <a:ext cx="502899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0787" y="4695996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Cons</a:t>
            </a:r>
            <a:endParaRPr lang="en-US" sz="1400" b="1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9288" y="5299754"/>
            <a:ext cx="52909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 dirty="0" smtClean="0">
                <a:latin typeface="+mn-lt"/>
              </a:rPr>
              <a:t>Cannot match loans with OLTV equal or lower than 80.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 dirty="0" smtClean="0">
                <a:latin typeface="+mn-lt"/>
              </a:rPr>
              <a:t>Highly sensitive to the correctness of MI underwriting </a:t>
            </a:r>
            <a:r>
              <a:rPr lang="en-US" sz="1400" dirty="0" smtClean="0">
                <a:latin typeface="+mn-lt"/>
              </a:rPr>
              <a:t>guidelines. </a:t>
            </a:r>
            <a:endParaRPr lang="en-US" sz="14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0787" y="6054183"/>
            <a:ext cx="2627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Not clear how the check for matching current underwriting guidelines works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85490" y="6542690"/>
            <a:ext cx="2443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Change HARP to </a:t>
            </a:r>
            <a:r>
              <a:rPr lang="en-US" dirty="0" err="1" smtClean="0">
                <a:solidFill>
                  <a:srgbClr val="FF0000"/>
                </a:solidFill>
              </a:rPr>
              <a:t>HARPed</a:t>
            </a:r>
            <a:r>
              <a:rPr lang="en-US" dirty="0" smtClean="0">
                <a:solidFill>
                  <a:srgbClr val="FF0000"/>
                </a:solidFill>
              </a:rPr>
              <a:t>, Non-HARP to Non-</a:t>
            </a:r>
            <a:r>
              <a:rPr lang="en-US" dirty="0" err="1" smtClean="0">
                <a:solidFill>
                  <a:srgbClr val="FF0000"/>
                </a:solidFill>
              </a:rPr>
              <a:t>HARPed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9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EXISTING ALGORITHM </a:t>
            </a:r>
            <a:r>
              <a:rPr lang="en-US" sz="1600" dirty="0" smtClean="0">
                <a:latin typeface="+mn-lt"/>
              </a:rPr>
              <a:t>II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Credit Dataset Mapping Method</a:t>
            </a:r>
            <a:endParaRPr lang="en-US" sz="1600" dirty="0"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47856" y="1440477"/>
            <a:ext cx="3266869" cy="4888817"/>
            <a:chOff x="247856" y="1440477"/>
            <a:chExt cx="3962193" cy="4888817"/>
          </a:xfrm>
        </p:grpSpPr>
        <p:sp>
          <p:nvSpPr>
            <p:cNvPr id="15" name="Rectangle 14"/>
            <p:cNvSpPr/>
            <p:nvPr/>
          </p:nvSpPr>
          <p:spPr>
            <a:xfrm>
              <a:off x="247857" y="1440477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47857" y="2042457"/>
              <a:ext cx="37812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819356" y="1579661"/>
              <a:ext cx="32859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Credit Data Mapping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7856" y="2183419"/>
              <a:ext cx="396219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No </a:t>
              </a:r>
              <a:r>
                <a:rPr lang="en-US" sz="1400" dirty="0" smtClean="0">
                  <a:latin typeface="+mn-lt"/>
                </a:rPr>
                <a:t>restrictions on </a:t>
              </a:r>
              <a:r>
                <a:rPr lang="en-US" sz="1400" dirty="0" smtClean="0">
                  <a:latin typeface="+mn-lt"/>
                </a:rPr>
                <a:t>OLTV &gt; 80.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More accurate as there is no dependency on MI underwriting criteria. </a:t>
              </a:r>
              <a:endParaRPr lang="en-US" sz="1400" dirty="0">
                <a:latin typeface="+mn-lt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857" y="3688377"/>
              <a:ext cx="435663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47857" y="4290357"/>
              <a:ext cx="37812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819356" y="3827561"/>
              <a:ext cx="32859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Cons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7856" y="4297969"/>
              <a:ext cx="396219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credit data set has about </a:t>
              </a:r>
              <a:r>
                <a:rPr lang="en-US" sz="1400" dirty="0" smtClean="0">
                  <a:latin typeface="+mn-lt"/>
                </a:rPr>
                <a:t>a one </a:t>
              </a:r>
              <a:r>
                <a:rPr lang="en-US" sz="1400" dirty="0" smtClean="0">
                  <a:latin typeface="+mn-lt"/>
                </a:rPr>
                <a:t>year lag, meaning we don’t have the most recent </a:t>
              </a:r>
              <a:r>
                <a:rPr lang="en-US" sz="1400" dirty="0" smtClean="0">
                  <a:latin typeface="+mn-lt"/>
                </a:rPr>
                <a:t>origination </a:t>
              </a:r>
              <a:r>
                <a:rPr lang="en-US" sz="1400" dirty="0" smtClean="0">
                  <a:latin typeface="+mn-lt"/>
                </a:rPr>
                <a:t>data</a:t>
              </a:r>
              <a:r>
                <a:rPr lang="en-US" sz="1400" dirty="0" smtClean="0">
                  <a:latin typeface="+mn-lt"/>
                </a:rPr>
                <a:t>. </a:t>
              </a:r>
              <a:r>
                <a:rPr lang="en-US" sz="1400" dirty="0" smtClean="0">
                  <a:latin typeface="+mn-lt"/>
                </a:rPr>
                <a:t>Consequently, </a:t>
              </a:r>
              <a:r>
                <a:rPr lang="en-US" sz="1400" dirty="0" smtClean="0">
                  <a:latin typeface="+mn-lt"/>
                </a:rPr>
                <a:t>we </a:t>
              </a:r>
              <a:r>
                <a:rPr lang="en-US" sz="1400" dirty="0" smtClean="0">
                  <a:latin typeface="+mn-lt"/>
                </a:rPr>
                <a:t>have to mark the HARP status as unknown for </a:t>
              </a:r>
              <a:r>
                <a:rPr lang="en-US" sz="1400" dirty="0" smtClean="0">
                  <a:latin typeface="+mn-lt"/>
                </a:rPr>
                <a:t>recently (with the last year) originated </a:t>
              </a:r>
              <a:r>
                <a:rPr lang="en-US" sz="1400" dirty="0" smtClean="0">
                  <a:latin typeface="+mn-lt"/>
                </a:rPr>
                <a:t>loans.</a:t>
              </a:r>
              <a:endParaRPr lang="en-US" sz="1400" dirty="0">
                <a:latin typeface="+mn-lt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619" y="1579661"/>
            <a:ext cx="5775383" cy="50712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5490" y="6542690"/>
            <a:ext cx="2443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Change HARP to </a:t>
            </a:r>
            <a:r>
              <a:rPr lang="en-US" dirty="0" err="1" smtClean="0">
                <a:solidFill>
                  <a:srgbClr val="FF0000"/>
                </a:solidFill>
              </a:rPr>
              <a:t>HARPed</a:t>
            </a:r>
            <a:r>
              <a:rPr lang="en-US" dirty="0" smtClean="0">
                <a:solidFill>
                  <a:srgbClr val="FF0000"/>
                </a:solidFill>
              </a:rPr>
              <a:t>, Non-HARP to Non-</a:t>
            </a:r>
            <a:r>
              <a:rPr lang="en-US" dirty="0" err="1" smtClean="0">
                <a:solidFill>
                  <a:srgbClr val="FF0000"/>
                </a:solidFill>
              </a:rPr>
              <a:t>HARPed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12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Existing Algorithm II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Credit Dataset Mapping Method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874897542"/>
              </p:ext>
            </p:extLst>
          </p:nvPr>
        </p:nvGraphicFramePr>
        <p:xfrm>
          <a:off x="699715" y="1160890"/>
          <a:ext cx="8674873" cy="426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08674" y="3983603"/>
            <a:ext cx="19480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bg1"/>
                </a:solidFill>
                <a:latin typeface="+mn-lt"/>
              </a:rPr>
              <a:t>N/A: Purchas, refi-CO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35757" y="2609351"/>
            <a:ext cx="1025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n-lt"/>
              </a:rPr>
              <a:t>Non-HARP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30741" y="1579656"/>
            <a:ext cx="1025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n-lt"/>
              </a:rPr>
              <a:t>HARP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91301" y="1395451"/>
            <a:ext cx="1025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1"/>
                </a:solidFill>
                <a:latin typeface="+mn-lt"/>
              </a:rPr>
              <a:t>Pre-HARP</a:t>
            </a:r>
            <a:endParaRPr lang="en-US" sz="1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9715" y="5520731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All the blue area can be consider as non-HARP loans</a:t>
            </a:r>
            <a:r>
              <a:rPr lang="en-US" sz="1400" dirty="0">
                <a:latin typeface="+mn-lt"/>
              </a:rPr>
              <a:t>; </a:t>
            </a:r>
            <a:r>
              <a:rPr lang="en-US" sz="1400" dirty="0" smtClean="0">
                <a:latin typeface="+mn-lt"/>
              </a:rPr>
              <a:t>brown area is HARP loans percentage.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Red area is the loans originated within the most recent year. The credit dataset has a gap on this area.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3694042" y="6259396"/>
            <a:ext cx="2177332" cy="18116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99715" y="6500067"/>
            <a:ext cx="854958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Need to improve the mapping for the red area.</a:t>
            </a:r>
          </a:p>
        </p:txBody>
      </p:sp>
    </p:spTree>
    <p:extLst>
      <p:ext uri="{BB962C8B-B14F-4D97-AF65-F5344CB8AC3E}">
        <p14:creationId xmlns:p14="http://schemas.microsoft.com/office/powerpoint/2010/main" val="322667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ENHANCED ALGORITHM</a:t>
            </a:r>
            <a:r>
              <a:rPr lang="en-US" sz="1600" dirty="0" smtClean="0">
                <a:latin typeface="+mn-lt"/>
              </a:rPr>
              <a:t/>
            </a:r>
            <a:br>
              <a:rPr lang="en-US" sz="1600" dirty="0" smtClean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348" y="978011"/>
            <a:ext cx="4569369" cy="6122504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078369"/>
              </p:ext>
            </p:extLst>
          </p:nvPr>
        </p:nvGraphicFramePr>
        <p:xfrm>
          <a:off x="1229250" y="1698375"/>
          <a:ext cx="2809350" cy="12099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4350"/>
                <a:gridCol w="635000"/>
              </a:tblGrid>
              <a:tr h="514829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  <a:tr h="69509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  <a:endParaRPr 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  <a:p>
                      <a:pPr algn="ctr"/>
                      <a:endParaRPr lang="en-US" sz="800" dirty="0"/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644444" y="1218677"/>
            <a:ext cx="3708828" cy="1825347"/>
            <a:chOff x="644444" y="1218677"/>
            <a:chExt cx="3708828" cy="1825347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1216550" y="1685677"/>
              <a:ext cx="2941982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17876" y="1685677"/>
              <a:ext cx="0" cy="1358347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964909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2014.01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 rot="16200000">
              <a:off x="392433" y="1999352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+mn-lt"/>
                </a:rPr>
                <a:t>OLTV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08572" y="1218677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>
                  <a:latin typeface="+mn-lt"/>
                </a:rPr>
                <a:t>Asof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4991" y="2094532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80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37078" y="2298724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28" name="TextBox 27"/>
            <p:cNvSpPr txBox="1"/>
            <p:nvPr/>
          </p:nvSpPr>
          <p:spPr>
            <a:xfrm rot="5400000">
              <a:off x="2687541" y="1454075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506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2009.01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5953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2016.01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39327" y="2567533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+mn-lt"/>
                </a:rPr>
                <a:t>3</a:t>
              </a:r>
              <a:r>
                <a:rPr lang="en-US" sz="900" dirty="0" smtClean="0">
                  <a:latin typeface="+mn-lt"/>
                </a:rPr>
                <a:t>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39327" y="1617275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120</a:t>
              </a:r>
              <a:endParaRPr lang="en-US" sz="900" dirty="0">
                <a:latin typeface="+mn-lt"/>
              </a:endParaRPr>
            </a:p>
          </p:txBody>
        </p:sp>
      </p:grp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25963"/>
              </p:ext>
            </p:extLst>
          </p:nvPr>
        </p:nvGraphicFramePr>
        <p:xfrm>
          <a:off x="1229250" y="3525865"/>
          <a:ext cx="2809350" cy="12112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4350"/>
                <a:gridCol w="635000"/>
              </a:tblGrid>
              <a:tr h="491651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Mapped Data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Mapped Data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719585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grpSp>
        <p:nvGrpSpPr>
          <p:cNvPr id="43" name="Group 42"/>
          <p:cNvGrpSpPr/>
          <p:nvPr/>
        </p:nvGrpSpPr>
        <p:grpSpPr>
          <a:xfrm>
            <a:off x="644444" y="3046167"/>
            <a:ext cx="3708828" cy="1825347"/>
            <a:chOff x="644444" y="1218677"/>
            <a:chExt cx="3708828" cy="1825347"/>
          </a:xfrm>
        </p:grpSpPr>
        <p:cxnSp>
          <p:nvCxnSpPr>
            <p:cNvPr id="44" name="Straight Connector 43"/>
            <p:cNvCxnSpPr/>
            <p:nvPr/>
          </p:nvCxnSpPr>
          <p:spPr>
            <a:xfrm flipV="1">
              <a:off x="1216550" y="1685677"/>
              <a:ext cx="2941982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217876" y="1685677"/>
              <a:ext cx="0" cy="1358347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964909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2014.01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 rot="16200000">
              <a:off x="392433" y="1999352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+mn-lt"/>
                </a:rPr>
                <a:t>OLTV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308572" y="1218677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>
                  <a:latin typeface="+mn-lt"/>
                </a:rPr>
                <a:t>Asof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4991" y="2069132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80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7078" y="2273324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51" name="TextBox 50"/>
            <p:cNvSpPr txBox="1"/>
            <p:nvPr/>
          </p:nvSpPr>
          <p:spPr>
            <a:xfrm rot="5400000">
              <a:off x="2687541" y="1454075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506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2009.01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5953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2016.01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39327" y="2567533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+mn-lt"/>
                </a:rPr>
                <a:t>3</a:t>
              </a:r>
              <a:r>
                <a:rPr lang="en-US" sz="900" dirty="0" smtClean="0">
                  <a:latin typeface="+mn-lt"/>
                </a:rPr>
                <a:t>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9327" y="1617275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120</a:t>
              </a:r>
              <a:endParaRPr lang="en-US" sz="900" dirty="0">
                <a:latin typeface="+mn-lt"/>
              </a:endParaRPr>
            </a:p>
          </p:txBody>
        </p:sp>
      </p:grp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02893"/>
              </p:ext>
            </p:extLst>
          </p:nvPr>
        </p:nvGraphicFramePr>
        <p:xfrm>
          <a:off x="1229250" y="5811865"/>
          <a:ext cx="2809350" cy="11794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4350"/>
                <a:gridCol w="635000"/>
              </a:tblGrid>
              <a:tr h="478763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</a:p>
                    <a:p>
                      <a:pPr algn="ctr"/>
                      <a:endParaRPr lang="en-US" sz="1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Mapped Data</a:t>
                      </a:r>
                    </a:p>
                    <a:p>
                      <a:pPr algn="ctr"/>
                      <a:endParaRPr lang="en-US" sz="1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700723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accent1"/>
                          </a:solidFill>
                        </a:rPr>
                        <a:t>Mapped Data</a:t>
                      </a:r>
                    </a:p>
                    <a:p>
                      <a:pPr algn="ctr"/>
                      <a:endParaRPr lang="en-US" sz="1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rgbClr val="C00000"/>
                          </a:solidFill>
                        </a:rPr>
                        <a:t>Un-mapped Data</a:t>
                      </a:r>
                    </a:p>
                    <a:p>
                      <a:pPr algn="ctr"/>
                      <a:endParaRPr lang="en-US" sz="100" dirty="0"/>
                    </a:p>
                  </a:txBody>
                  <a:tcPr anchor="ctr"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grpSp>
        <p:nvGrpSpPr>
          <p:cNvPr id="57" name="Group 56"/>
          <p:cNvGrpSpPr/>
          <p:nvPr/>
        </p:nvGrpSpPr>
        <p:grpSpPr>
          <a:xfrm>
            <a:off x="644444" y="5332167"/>
            <a:ext cx="3708828" cy="1825347"/>
            <a:chOff x="644444" y="1218677"/>
            <a:chExt cx="3708828" cy="1825347"/>
          </a:xfrm>
        </p:grpSpPr>
        <p:cxnSp>
          <p:nvCxnSpPr>
            <p:cNvPr id="58" name="Straight Connector 57"/>
            <p:cNvCxnSpPr/>
            <p:nvPr/>
          </p:nvCxnSpPr>
          <p:spPr>
            <a:xfrm flipV="1">
              <a:off x="1216550" y="1685677"/>
              <a:ext cx="2941982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1217876" y="1685677"/>
              <a:ext cx="0" cy="1358347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2964909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2014.01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 rot="16200000">
              <a:off x="392433" y="1999352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+mn-lt"/>
                </a:rPr>
                <a:t>OLTV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308572" y="1218677"/>
              <a:ext cx="75793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>
                  <a:latin typeface="+mn-lt"/>
                </a:rPr>
                <a:t>Asof</a:t>
              </a:r>
              <a:endParaRPr lang="en-US" sz="1050" b="1" dirty="0">
                <a:latin typeface="+mn-lt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24991" y="2069132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80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37078" y="2273324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65" name="TextBox 64"/>
            <p:cNvSpPr txBox="1"/>
            <p:nvPr/>
          </p:nvSpPr>
          <p:spPr>
            <a:xfrm rot="5400000">
              <a:off x="2687541" y="1454075"/>
              <a:ext cx="323165" cy="3094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900" dirty="0" smtClean="0"/>
                <a:t>...</a:t>
              </a:r>
              <a:endParaRPr lang="en-US" sz="9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506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2009.01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595335" y="1441351"/>
              <a:ext cx="757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>
                  <a:latin typeface="+mn-lt"/>
                </a:rPr>
                <a:t>2016.01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39327" y="2567533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+mn-lt"/>
                </a:rPr>
                <a:t>3</a:t>
              </a:r>
              <a:r>
                <a:rPr lang="en-US" sz="900" dirty="0" smtClean="0">
                  <a:latin typeface="+mn-lt"/>
                </a:rPr>
                <a:t>0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39327" y="1617275"/>
              <a:ext cx="3789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>
                  <a:latin typeface="+mn-lt"/>
                </a:rPr>
                <a:t>120</a:t>
              </a:r>
              <a:endParaRPr lang="en-US" sz="900" dirty="0">
                <a:latin typeface="+mn-lt"/>
              </a:endParaRPr>
            </a:p>
          </p:txBody>
        </p:sp>
      </p:grpSp>
      <p:sp>
        <p:nvSpPr>
          <p:cNvPr id="70" name="Isosceles Triangle 69"/>
          <p:cNvSpPr/>
          <p:nvPr/>
        </p:nvSpPr>
        <p:spPr>
          <a:xfrm rot="10800000">
            <a:off x="1545514" y="5150982"/>
            <a:ext cx="2177332" cy="18116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/>
          <p:nvPr/>
        </p:nvCxnSpPr>
        <p:spPr>
          <a:xfrm flipH="1">
            <a:off x="5086350" y="1125926"/>
            <a:ext cx="0" cy="5933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49250" y="1472593"/>
            <a:ext cx="295193" cy="14992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Algorithm 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4446" y="3384257"/>
            <a:ext cx="295193" cy="1516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Algorithm </a:t>
            </a:r>
            <a:r>
              <a:rPr lang="en-US" sz="1400" dirty="0" smtClean="0"/>
              <a:t>II</a:t>
            </a:r>
            <a:endParaRPr lang="en-US" sz="1400" dirty="0"/>
          </a:p>
        </p:txBody>
      </p:sp>
      <p:sp>
        <p:nvSpPr>
          <p:cNvPr id="76" name="Plus 75"/>
          <p:cNvSpPr/>
          <p:nvPr/>
        </p:nvSpPr>
        <p:spPr>
          <a:xfrm>
            <a:off x="349250" y="3046167"/>
            <a:ext cx="290389" cy="228600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49250" y="5565641"/>
            <a:ext cx="295193" cy="1516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Enhanced </a:t>
            </a:r>
            <a:r>
              <a:rPr lang="en-US" sz="1400" dirty="0" err="1" smtClean="0"/>
              <a:t>Algo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4123606" y="1942132"/>
            <a:ext cx="96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+mn-lt"/>
              </a:rPr>
              <a:t>One-year gap, unable to map recent year HARP loans.</a:t>
            </a:r>
            <a:endParaRPr lang="en-US" sz="900" dirty="0">
              <a:latin typeface="+mn-lt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123607" y="4078853"/>
            <a:ext cx="9627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+mn-lt"/>
              </a:rPr>
              <a:t>Unable to map HARP loans with LTV &lt;= 80.</a:t>
            </a:r>
            <a:endParaRPr lang="en-US" sz="900" dirty="0">
              <a:latin typeface="+mn-lt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23605" y="5848334"/>
            <a:ext cx="96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n-lt"/>
              </a:rPr>
              <a:t>Integrate </a:t>
            </a:r>
            <a:r>
              <a:rPr lang="en-US" sz="900" dirty="0" err="1">
                <a:latin typeface="+mn-lt"/>
              </a:rPr>
              <a:t>algo</a:t>
            </a:r>
            <a:r>
              <a:rPr lang="en-US" sz="900" dirty="0">
                <a:latin typeface="+mn-lt"/>
              </a:rPr>
              <a:t> II into </a:t>
            </a:r>
            <a:r>
              <a:rPr lang="en-US" sz="900" dirty="0" err="1">
                <a:latin typeface="+mn-lt"/>
              </a:rPr>
              <a:t>algo</a:t>
            </a:r>
            <a:r>
              <a:rPr lang="en-US" sz="900" dirty="0">
                <a:latin typeface="+mn-lt"/>
              </a:rPr>
              <a:t> I for the unknown one year gap. </a:t>
            </a:r>
          </a:p>
        </p:txBody>
      </p:sp>
    </p:spTree>
    <p:extLst>
      <p:ext uri="{BB962C8B-B14F-4D97-AF65-F5344CB8AC3E}">
        <p14:creationId xmlns:p14="http://schemas.microsoft.com/office/powerpoint/2010/main" val="35549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86111</TotalTime>
  <Words>536</Words>
  <Application>Microsoft Office PowerPoint</Application>
  <PresentationFormat>Custom</PresentationFormat>
  <Paragraphs>95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INTRODUCTION</vt:lpstr>
      <vt:lpstr>EXISTING ALGORITHM I MI Matching Method</vt:lpstr>
      <vt:lpstr>EXISTING ALGORITHM II Credit Dataset Mapping Method</vt:lpstr>
      <vt:lpstr>Existing Algorithm II Credit Dataset Mapping Method</vt:lpstr>
      <vt:lpstr>ENHANCED ALGORITHM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2038</cp:revision>
  <cp:lastPrinted>2014-08-14T21:45:56Z</cp:lastPrinted>
  <dcterms:created xsi:type="dcterms:W3CDTF">2011-07-07T12:37:32Z</dcterms:created>
  <dcterms:modified xsi:type="dcterms:W3CDTF">2016-01-19T00:54:36Z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