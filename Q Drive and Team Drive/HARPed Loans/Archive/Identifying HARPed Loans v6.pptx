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drawings/drawing2.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28"/>
  </p:notesMasterIdLst>
  <p:handoutMasterIdLst>
    <p:handoutMasterId r:id="rId29"/>
  </p:handoutMasterIdLst>
  <p:sldIdLst>
    <p:sldId id="433" r:id="rId16"/>
    <p:sldId id="603" r:id="rId17"/>
    <p:sldId id="612" r:id="rId18"/>
    <p:sldId id="604" r:id="rId19"/>
    <p:sldId id="605" r:id="rId20"/>
    <p:sldId id="606" r:id="rId21"/>
    <p:sldId id="613" r:id="rId22"/>
    <p:sldId id="614" r:id="rId23"/>
    <p:sldId id="615" r:id="rId24"/>
    <p:sldId id="616" r:id="rId25"/>
    <p:sldId id="617" r:id="rId26"/>
    <p:sldId id="608" r:id="rId27"/>
  </p:sldIdLst>
  <p:sldSz cx="10058400" cy="7772400"/>
  <p:notesSz cx="7010400" cy="92964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A60"/>
    <a:srgbClr val="E2F6ED"/>
    <a:srgbClr val="AD275C"/>
    <a:srgbClr val="F6D6E3"/>
    <a:srgbClr val="2E398A"/>
    <a:srgbClr val="C8C42D"/>
    <a:srgbClr val="8C2B18"/>
    <a:srgbClr val="C3EBD9"/>
    <a:srgbClr val="CDD1EF"/>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1695" autoAdjust="0"/>
    <p:restoredTop sz="95014" autoAdjust="0"/>
  </p:normalViewPr>
  <p:slideViewPr>
    <p:cSldViewPr snapToGrid="0" snapToObjects="1">
      <p:cViewPr>
        <p:scale>
          <a:sx n="125" d="100"/>
          <a:sy n="125" d="100"/>
        </p:scale>
        <p:origin x="-816" y="-600"/>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 Type="http://schemas.openxmlformats.org/officeDocument/2006/relationships/slideMaster" Target="slideMasters/slideMaster3.xml"/><Relationship Id="rId21" Type="http://schemas.openxmlformats.org/officeDocument/2006/relationships/slide" Target="slides/slide6.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notesMaster" Target="notesMasters/notesMaster1.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presProps" Target="pres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oleObject" Target="file:///C:\Lien%20Workspace\17.HARP%20Status\Adjustment%20Factor%20Analysis_FirstPaymentDate.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Lien%20Workspace\17.HARP%20Status\Adjustment%20Factor%20Analysis_FirstPaymentDate.xlsx" TargetMode="Externa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areaChart>
        <c:grouping val="percentStacked"/>
        <c:varyColors val="0"/>
        <c:ser>
          <c:idx val="0"/>
          <c:order val="0"/>
          <c:tx>
            <c:strRef>
              <c:f>Sheet1!$B$1</c:f>
              <c:strCache>
                <c:ptCount val="1"/>
                <c:pt idx="0">
                  <c:v>Non-Eligible</c:v>
                </c:pt>
              </c:strCache>
            </c:strRef>
          </c:tx>
          <c:spPr>
            <a:solidFill>
              <a:srgbClr val="2E398A"/>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Sheet1!$B$2:$B$134</c:f>
              <c:numCache>
                <c:formatCode>General</c:formatCode>
                <c:ptCount val="133"/>
                <c:pt idx="0">
                  <c:v>1751</c:v>
                </c:pt>
                <c:pt idx="1">
                  <c:v>1713</c:v>
                </c:pt>
                <c:pt idx="2">
                  <c:v>1379</c:v>
                </c:pt>
                <c:pt idx="3">
                  <c:v>1407</c:v>
                </c:pt>
                <c:pt idx="4">
                  <c:v>1954</c:v>
                </c:pt>
                <c:pt idx="5">
                  <c:v>2080</c:v>
                </c:pt>
                <c:pt idx="6">
                  <c:v>2676</c:v>
                </c:pt>
                <c:pt idx="7">
                  <c:v>3213</c:v>
                </c:pt>
                <c:pt idx="8">
                  <c:v>4049</c:v>
                </c:pt>
                <c:pt idx="9">
                  <c:v>7482</c:v>
                </c:pt>
                <c:pt idx="10">
                  <c:v>15992</c:v>
                </c:pt>
                <c:pt idx="11">
                  <c:v>58394</c:v>
                </c:pt>
                <c:pt idx="12">
                  <c:v>96347</c:v>
                </c:pt>
                <c:pt idx="13">
                  <c:v>93070</c:v>
                </c:pt>
                <c:pt idx="14">
                  <c:v>77021</c:v>
                </c:pt>
                <c:pt idx="15">
                  <c:v>86488</c:v>
                </c:pt>
                <c:pt idx="16">
                  <c:v>99743</c:v>
                </c:pt>
                <c:pt idx="17">
                  <c:v>94688</c:v>
                </c:pt>
                <c:pt idx="18">
                  <c:v>102712</c:v>
                </c:pt>
                <c:pt idx="19">
                  <c:v>111391</c:v>
                </c:pt>
                <c:pt idx="20">
                  <c:v>101466</c:v>
                </c:pt>
                <c:pt idx="21">
                  <c:v>102383</c:v>
                </c:pt>
                <c:pt idx="22">
                  <c:v>96093</c:v>
                </c:pt>
                <c:pt idx="23">
                  <c:v>107333</c:v>
                </c:pt>
                <c:pt idx="24">
                  <c:v>98456</c:v>
                </c:pt>
                <c:pt idx="25">
                  <c:v>99305</c:v>
                </c:pt>
                <c:pt idx="26">
                  <c:v>86895</c:v>
                </c:pt>
                <c:pt idx="27">
                  <c:v>93294</c:v>
                </c:pt>
                <c:pt idx="28">
                  <c:v>118081</c:v>
                </c:pt>
                <c:pt idx="29">
                  <c:v>122699</c:v>
                </c:pt>
                <c:pt idx="30">
                  <c:v>125490</c:v>
                </c:pt>
                <c:pt idx="31">
                  <c:v>118350</c:v>
                </c:pt>
                <c:pt idx="32">
                  <c:v>113663</c:v>
                </c:pt>
                <c:pt idx="33">
                  <c:v>110255</c:v>
                </c:pt>
                <c:pt idx="34">
                  <c:v>99634</c:v>
                </c:pt>
                <c:pt idx="35">
                  <c:v>101090</c:v>
                </c:pt>
                <c:pt idx="36">
                  <c:v>88196</c:v>
                </c:pt>
                <c:pt idx="37">
                  <c:v>95942</c:v>
                </c:pt>
                <c:pt idx="38">
                  <c:v>78250</c:v>
                </c:pt>
                <c:pt idx="39">
                  <c:v>99187</c:v>
                </c:pt>
                <c:pt idx="40">
                  <c:v>102401</c:v>
                </c:pt>
                <c:pt idx="41">
                  <c:v>98366</c:v>
                </c:pt>
                <c:pt idx="42">
                  <c:v>81925</c:v>
                </c:pt>
                <c:pt idx="43">
                  <c:v>80739</c:v>
                </c:pt>
                <c:pt idx="44">
                  <c:v>67217</c:v>
                </c:pt>
                <c:pt idx="45">
                  <c:v>45118</c:v>
                </c:pt>
                <c:pt idx="46">
                  <c:v>50695</c:v>
                </c:pt>
                <c:pt idx="47">
                  <c:v>52104</c:v>
                </c:pt>
                <c:pt idx="48">
                  <c:v>32449</c:v>
                </c:pt>
                <c:pt idx="49">
                  <c:v>52470</c:v>
                </c:pt>
                <c:pt idx="50">
                  <c:v>58125</c:v>
                </c:pt>
                <c:pt idx="51">
                  <c:v>72314</c:v>
                </c:pt>
                <c:pt idx="52">
                  <c:v>87478</c:v>
                </c:pt>
                <c:pt idx="53">
                  <c:v>80977</c:v>
                </c:pt>
                <c:pt idx="54">
                  <c:v>82570</c:v>
                </c:pt>
                <c:pt idx="55">
                  <c:v>89410</c:v>
                </c:pt>
                <c:pt idx="56">
                  <c:v>83867</c:v>
                </c:pt>
                <c:pt idx="57">
                  <c:v>62931</c:v>
                </c:pt>
                <c:pt idx="58">
                  <c:v>58846</c:v>
                </c:pt>
                <c:pt idx="59">
                  <c:v>62802</c:v>
                </c:pt>
                <c:pt idx="60">
                  <c:v>60390</c:v>
                </c:pt>
                <c:pt idx="61">
                  <c:v>54738</c:v>
                </c:pt>
                <c:pt idx="62">
                  <c:v>43730</c:v>
                </c:pt>
                <c:pt idx="63">
                  <c:v>42612</c:v>
                </c:pt>
                <c:pt idx="64">
                  <c:v>46376</c:v>
                </c:pt>
                <c:pt idx="65">
                  <c:v>49599</c:v>
                </c:pt>
                <c:pt idx="66">
                  <c:v>51493</c:v>
                </c:pt>
                <c:pt idx="67">
                  <c:v>55048</c:v>
                </c:pt>
                <c:pt idx="68">
                  <c:v>40328</c:v>
                </c:pt>
                <c:pt idx="69">
                  <c:v>41549</c:v>
                </c:pt>
                <c:pt idx="70">
                  <c:v>37451</c:v>
                </c:pt>
                <c:pt idx="71">
                  <c:v>38965</c:v>
                </c:pt>
                <c:pt idx="72">
                  <c:v>36931</c:v>
                </c:pt>
                <c:pt idx="73">
                  <c:v>41383</c:v>
                </c:pt>
                <c:pt idx="74">
                  <c:v>32412</c:v>
                </c:pt>
                <c:pt idx="75">
                  <c:v>22609</c:v>
                </c:pt>
                <c:pt idx="76">
                  <c:v>29812</c:v>
                </c:pt>
                <c:pt idx="77">
                  <c:v>30453</c:v>
                </c:pt>
                <c:pt idx="78">
                  <c:v>31434</c:v>
                </c:pt>
                <c:pt idx="79">
                  <c:v>41640</c:v>
                </c:pt>
                <c:pt idx="80">
                  <c:v>37088</c:v>
                </c:pt>
                <c:pt idx="81">
                  <c:v>36313</c:v>
                </c:pt>
                <c:pt idx="82">
                  <c:v>32247</c:v>
                </c:pt>
                <c:pt idx="83">
                  <c:v>24463</c:v>
                </c:pt>
                <c:pt idx="84">
                  <c:v>25528</c:v>
                </c:pt>
                <c:pt idx="85">
                  <c:v>30766</c:v>
                </c:pt>
                <c:pt idx="86">
                  <c:v>21030</c:v>
                </c:pt>
                <c:pt idx="87">
                  <c:v>20238</c:v>
                </c:pt>
                <c:pt idx="88">
                  <c:v>24409</c:v>
                </c:pt>
                <c:pt idx="89">
                  <c:v>32503</c:v>
                </c:pt>
                <c:pt idx="90">
                  <c:v>40917</c:v>
                </c:pt>
                <c:pt idx="91">
                  <c:v>40189</c:v>
                </c:pt>
                <c:pt idx="92">
                  <c:v>43003</c:v>
                </c:pt>
                <c:pt idx="93">
                  <c:v>47014</c:v>
                </c:pt>
                <c:pt idx="94">
                  <c:v>49818</c:v>
                </c:pt>
                <c:pt idx="95">
                  <c:v>49998</c:v>
                </c:pt>
                <c:pt idx="96">
                  <c:v>39738</c:v>
                </c:pt>
                <c:pt idx="97">
                  <c:v>44263</c:v>
                </c:pt>
                <c:pt idx="98">
                  <c:v>42588</c:v>
                </c:pt>
                <c:pt idx="99">
                  <c:v>46379</c:v>
                </c:pt>
                <c:pt idx="100">
                  <c:v>47961</c:v>
                </c:pt>
                <c:pt idx="101">
                  <c:v>48520</c:v>
                </c:pt>
                <c:pt idx="102">
                  <c:v>62247</c:v>
                </c:pt>
                <c:pt idx="103">
                  <c:v>60521</c:v>
                </c:pt>
                <c:pt idx="104">
                  <c:v>56084</c:v>
                </c:pt>
                <c:pt idx="105">
                  <c:v>49158</c:v>
                </c:pt>
                <c:pt idx="106">
                  <c:v>41648</c:v>
                </c:pt>
                <c:pt idx="107">
                  <c:v>45669</c:v>
                </c:pt>
                <c:pt idx="108">
                  <c:v>45743</c:v>
                </c:pt>
                <c:pt idx="109">
                  <c:v>48084</c:v>
                </c:pt>
                <c:pt idx="110">
                  <c:v>32181</c:v>
                </c:pt>
                <c:pt idx="111">
                  <c:v>34463</c:v>
                </c:pt>
                <c:pt idx="112">
                  <c:v>46338</c:v>
                </c:pt>
                <c:pt idx="113">
                  <c:v>49506</c:v>
                </c:pt>
                <c:pt idx="114">
                  <c:v>55296</c:v>
                </c:pt>
                <c:pt idx="115">
                  <c:v>65987</c:v>
                </c:pt>
                <c:pt idx="116">
                  <c:v>67292</c:v>
                </c:pt>
                <c:pt idx="117">
                  <c:v>63700</c:v>
                </c:pt>
                <c:pt idx="118">
                  <c:v>59685</c:v>
                </c:pt>
                <c:pt idx="119">
                  <c:v>54342</c:v>
                </c:pt>
                <c:pt idx="120">
                  <c:v>47250</c:v>
                </c:pt>
                <c:pt idx="121">
                  <c:v>50078</c:v>
                </c:pt>
                <c:pt idx="122">
                  <c:v>39431</c:v>
                </c:pt>
                <c:pt idx="123">
                  <c:v>45767</c:v>
                </c:pt>
                <c:pt idx="124">
                  <c:v>63289</c:v>
                </c:pt>
                <c:pt idx="125">
                  <c:v>66830</c:v>
                </c:pt>
                <c:pt idx="126">
                  <c:v>70156</c:v>
                </c:pt>
                <c:pt idx="127">
                  <c:v>73092</c:v>
                </c:pt>
                <c:pt idx="128">
                  <c:v>71669</c:v>
                </c:pt>
                <c:pt idx="129">
                  <c:v>69113</c:v>
                </c:pt>
                <c:pt idx="130">
                  <c:v>65422</c:v>
                </c:pt>
                <c:pt idx="131">
                  <c:v>62442</c:v>
                </c:pt>
                <c:pt idx="132">
                  <c:v>48675</c:v>
                </c:pt>
              </c:numCache>
            </c:numRef>
          </c:val>
        </c:ser>
        <c:ser>
          <c:idx val="1"/>
          <c:order val="1"/>
          <c:tx>
            <c:strRef>
              <c:f>Sheet1!$C$1</c:f>
              <c:strCache>
                <c:ptCount val="1"/>
                <c:pt idx="0">
                  <c:v>Pre-HARP</c:v>
                </c:pt>
              </c:strCache>
            </c:strRef>
          </c:tx>
          <c:spPr>
            <a:solidFill>
              <a:schemeClr val="accent1">
                <a:lumMod val="20000"/>
                <a:lumOff val="8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Sheet1!$C$2:$C$134</c:f>
              <c:numCache>
                <c:formatCode>General</c:formatCode>
                <c:ptCount val="133"/>
                <c:pt idx="0">
                  <c:v>226</c:v>
                </c:pt>
                <c:pt idx="1">
                  <c:v>237</c:v>
                </c:pt>
                <c:pt idx="2">
                  <c:v>165</c:v>
                </c:pt>
                <c:pt idx="3">
                  <c:v>248</c:v>
                </c:pt>
                <c:pt idx="4">
                  <c:v>357</c:v>
                </c:pt>
                <c:pt idx="5">
                  <c:v>256</c:v>
                </c:pt>
                <c:pt idx="6">
                  <c:v>314</c:v>
                </c:pt>
                <c:pt idx="7">
                  <c:v>373</c:v>
                </c:pt>
                <c:pt idx="8">
                  <c:v>618</c:v>
                </c:pt>
                <c:pt idx="9">
                  <c:v>996</c:v>
                </c:pt>
                <c:pt idx="10">
                  <c:v>2199</c:v>
                </c:pt>
                <c:pt idx="11">
                  <c:v>9660</c:v>
                </c:pt>
                <c:pt idx="12">
                  <c:v>14686</c:v>
                </c:pt>
                <c:pt idx="13">
                  <c:v>13545</c:v>
                </c:pt>
                <c:pt idx="14">
                  <c:v>12672</c:v>
                </c:pt>
                <c:pt idx="15">
                  <c:v>13588</c:v>
                </c:pt>
                <c:pt idx="16">
                  <c:v>13902</c:v>
                </c:pt>
                <c:pt idx="17">
                  <c:v>12297</c:v>
                </c:pt>
                <c:pt idx="18">
                  <c:v>11912</c:v>
                </c:pt>
                <c:pt idx="19">
                  <c:v>11212</c:v>
                </c:pt>
                <c:pt idx="20">
                  <c:v>10662</c:v>
                </c:pt>
                <c:pt idx="21">
                  <c:v>11537</c:v>
                </c:pt>
                <c:pt idx="22">
                  <c:v>12948</c:v>
                </c:pt>
                <c:pt idx="23">
                  <c:v>17880</c:v>
                </c:pt>
                <c:pt idx="24">
                  <c:v>17232</c:v>
                </c:pt>
                <c:pt idx="25">
                  <c:v>21209</c:v>
                </c:pt>
                <c:pt idx="26">
                  <c:v>20923</c:v>
                </c:pt>
                <c:pt idx="27">
                  <c:v>18017</c:v>
                </c:pt>
                <c:pt idx="28">
                  <c:v>22875</c:v>
                </c:pt>
                <c:pt idx="29">
                  <c:v>24801</c:v>
                </c:pt>
                <c:pt idx="30">
                  <c:v>21810</c:v>
                </c:pt>
                <c:pt idx="31">
                  <c:v>17435</c:v>
                </c:pt>
                <c:pt idx="32">
                  <c:v>15468</c:v>
                </c:pt>
                <c:pt idx="33">
                  <c:v>15255</c:v>
                </c:pt>
                <c:pt idx="34">
                  <c:v>18097</c:v>
                </c:pt>
                <c:pt idx="35">
                  <c:v>21973</c:v>
                </c:pt>
                <c:pt idx="36">
                  <c:v>20897</c:v>
                </c:pt>
                <c:pt idx="37">
                  <c:v>30555</c:v>
                </c:pt>
                <c:pt idx="38">
                  <c:v>34268</c:v>
                </c:pt>
                <c:pt idx="39">
                  <c:v>60058</c:v>
                </c:pt>
                <c:pt idx="40">
                  <c:v>41596</c:v>
                </c:pt>
                <c:pt idx="41">
                  <c:v>38213</c:v>
                </c:pt>
                <c:pt idx="42">
                  <c:v>23471</c:v>
                </c:pt>
                <c:pt idx="43">
                  <c:v>17448</c:v>
                </c:pt>
                <c:pt idx="44">
                  <c:v>11583</c:v>
                </c:pt>
                <c:pt idx="45">
                  <c:v>7202</c:v>
                </c:pt>
                <c:pt idx="46">
                  <c:v>10585</c:v>
                </c:pt>
                <c:pt idx="47">
                  <c:v>15821</c:v>
                </c:pt>
                <c:pt idx="48">
                  <c:v>7542</c:v>
                </c:pt>
                <c:pt idx="49">
                  <c:v>32323</c:v>
                </c:pt>
                <c:pt idx="50">
                  <c:v>81506</c:v>
                </c:pt>
                <c:pt idx="51">
                  <c:v>104826</c:v>
                </c:pt>
                <c:pt idx="52">
                  <c:v>108692</c:v>
                </c:pt>
              </c:numCache>
            </c:numRef>
          </c:val>
        </c:ser>
        <c:ser>
          <c:idx val="2"/>
          <c:order val="2"/>
          <c:tx>
            <c:strRef>
              <c:f>Sheet1!$D$1</c:f>
              <c:strCache>
                <c:ptCount val="1"/>
                <c:pt idx="0">
                  <c:v>Non-HARPed</c:v>
                </c:pt>
              </c:strCache>
            </c:strRef>
          </c:tx>
          <c:spPr>
            <a:solidFill>
              <a:schemeClr val="accent1">
                <a:lumMod val="60000"/>
                <a:lumOff val="4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Sheet1!$D$2:$D$134</c:f>
              <c:numCache>
                <c:formatCode>General</c:formatCode>
                <c:ptCount val="133"/>
                <c:pt idx="53">
                  <c:v>94312</c:v>
                </c:pt>
                <c:pt idx="54">
                  <c:v>90531</c:v>
                </c:pt>
                <c:pt idx="55">
                  <c:v>71783</c:v>
                </c:pt>
                <c:pt idx="56">
                  <c:v>45076</c:v>
                </c:pt>
                <c:pt idx="57">
                  <c:v>24616</c:v>
                </c:pt>
                <c:pt idx="58">
                  <c:v>20958</c:v>
                </c:pt>
                <c:pt idx="59">
                  <c:v>26484</c:v>
                </c:pt>
                <c:pt idx="60">
                  <c:v>27562</c:v>
                </c:pt>
                <c:pt idx="61">
                  <c:v>29806</c:v>
                </c:pt>
                <c:pt idx="62">
                  <c:v>25134</c:v>
                </c:pt>
                <c:pt idx="63">
                  <c:v>17800</c:v>
                </c:pt>
                <c:pt idx="64">
                  <c:v>16829</c:v>
                </c:pt>
                <c:pt idx="65">
                  <c:v>14699</c:v>
                </c:pt>
                <c:pt idx="66">
                  <c:v>11907</c:v>
                </c:pt>
                <c:pt idx="67">
                  <c:v>16456</c:v>
                </c:pt>
                <c:pt idx="68">
                  <c:v>22322</c:v>
                </c:pt>
                <c:pt idx="69">
                  <c:v>30002</c:v>
                </c:pt>
                <c:pt idx="70">
                  <c:v>30869</c:v>
                </c:pt>
                <c:pt idx="71">
                  <c:v>34888</c:v>
                </c:pt>
                <c:pt idx="72">
                  <c:v>33215</c:v>
                </c:pt>
                <c:pt idx="73">
                  <c:v>30768</c:v>
                </c:pt>
                <c:pt idx="74">
                  <c:v>20081</c:v>
                </c:pt>
                <c:pt idx="75">
                  <c:v>10793</c:v>
                </c:pt>
                <c:pt idx="76">
                  <c:v>9553</c:v>
                </c:pt>
                <c:pt idx="77">
                  <c:v>7592</c:v>
                </c:pt>
                <c:pt idx="78">
                  <c:v>6380</c:v>
                </c:pt>
                <c:pt idx="79">
                  <c:v>8952</c:v>
                </c:pt>
                <c:pt idx="80">
                  <c:v>9875</c:v>
                </c:pt>
                <c:pt idx="81">
                  <c:v>11433</c:v>
                </c:pt>
                <c:pt idx="82">
                  <c:v>22206</c:v>
                </c:pt>
                <c:pt idx="83">
                  <c:v>21822</c:v>
                </c:pt>
                <c:pt idx="84">
                  <c:v>22762</c:v>
                </c:pt>
                <c:pt idx="85">
                  <c:v>25465</c:v>
                </c:pt>
                <c:pt idx="86">
                  <c:v>22392</c:v>
                </c:pt>
                <c:pt idx="87">
                  <c:v>22169</c:v>
                </c:pt>
                <c:pt idx="88">
                  <c:v>21904</c:v>
                </c:pt>
                <c:pt idx="89">
                  <c:v>18591</c:v>
                </c:pt>
                <c:pt idx="90">
                  <c:v>20169</c:v>
                </c:pt>
                <c:pt idx="91">
                  <c:v>20467</c:v>
                </c:pt>
                <c:pt idx="92">
                  <c:v>25359</c:v>
                </c:pt>
                <c:pt idx="93">
                  <c:v>33904</c:v>
                </c:pt>
                <c:pt idx="94">
                  <c:v>40037</c:v>
                </c:pt>
                <c:pt idx="95">
                  <c:v>40485</c:v>
                </c:pt>
                <c:pt idx="96">
                  <c:v>36497</c:v>
                </c:pt>
                <c:pt idx="97">
                  <c:v>41281</c:v>
                </c:pt>
                <c:pt idx="98">
                  <c:v>45862</c:v>
                </c:pt>
                <c:pt idx="99">
                  <c:v>40421</c:v>
                </c:pt>
                <c:pt idx="100">
                  <c:v>30711</c:v>
                </c:pt>
                <c:pt idx="101">
                  <c:v>26806</c:v>
                </c:pt>
                <c:pt idx="102">
                  <c:v>32722</c:v>
                </c:pt>
                <c:pt idx="103">
                  <c:v>27485</c:v>
                </c:pt>
                <c:pt idx="104">
                  <c:v>19112</c:v>
                </c:pt>
                <c:pt idx="105">
                  <c:v>11604</c:v>
                </c:pt>
                <c:pt idx="106">
                  <c:v>7900</c:v>
                </c:pt>
                <c:pt idx="107">
                  <c:v>8033</c:v>
                </c:pt>
                <c:pt idx="108">
                  <c:v>9674</c:v>
                </c:pt>
                <c:pt idx="109">
                  <c:v>9770</c:v>
                </c:pt>
                <c:pt idx="110">
                  <c:v>6582</c:v>
                </c:pt>
              </c:numCache>
            </c:numRef>
          </c:val>
        </c:ser>
        <c:ser>
          <c:idx val="3"/>
          <c:order val="3"/>
          <c:tx>
            <c:strRef>
              <c:f>Sheet1!$E$1</c:f>
              <c:strCache>
                <c:ptCount val="1"/>
                <c:pt idx="0">
                  <c:v>HARPed</c:v>
                </c:pt>
              </c:strCache>
            </c:strRef>
          </c:tx>
          <c:spPr>
            <a:solidFill>
              <a:schemeClr val="bg2">
                <a:lumMod val="75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Sheet1!$E$2:$E$134</c:f>
              <c:numCache>
                <c:formatCode>General</c:formatCode>
                <c:ptCount val="133"/>
                <c:pt idx="53">
                  <c:v>10383</c:v>
                </c:pt>
                <c:pt idx="54">
                  <c:v>16311</c:v>
                </c:pt>
                <c:pt idx="55">
                  <c:v>25480</c:v>
                </c:pt>
                <c:pt idx="56">
                  <c:v>22620</c:v>
                </c:pt>
                <c:pt idx="57">
                  <c:v>16406</c:v>
                </c:pt>
                <c:pt idx="58">
                  <c:v>13051</c:v>
                </c:pt>
                <c:pt idx="59">
                  <c:v>18179</c:v>
                </c:pt>
                <c:pt idx="60">
                  <c:v>23590</c:v>
                </c:pt>
                <c:pt idx="61">
                  <c:v>26564</c:v>
                </c:pt>
                <c:pt idx="62">
                  <c:v>24648</c:v>
                </c:pt>
                <c:pt idx="63">
                  <c:v>17440</c:v>
                </c:pt>
                <c:pt idx="64">
                  <c:v>21045</c:v>
                </c:pt>
                <c:pt idx="65">
                  <c:v>19445</c:v>
                </c:pt>
                <c:pt idx="66">
                  <c:v>15205</c:v>
                </c:pt>
                <c:pt idx="67">
                  <c:v>21345</c:v>
                </c:pt>
                <c:pt idx="68">
                  <c:v>28168</c:v>
                </c:pt>
                <c:pt idx="69">
                  <c:v>33340</c:v>
                </c:pt>
                <c:pt idx="70">
                  <c:v>38106</c:v>
                </c:pt>
                <c:pt idx="71">
                  <c:v>43237</c:v>
                </c:pt>
                <c:pt idx="72">
                  <c:v>44477</c:v>
                </c:pt>
                <c:pt idx="73">
                  <c:v>37323</c:v>
                </c:pt>
                <c:pt idx="74">
                  <c:v>32289</c:v>
                </c:pt>
                <c:pt idx="75">
                  <c:v>21224</c:v>
                </c:pt>
                <c:pt idx="76">
                  <c:v>14491</c:v>
                </c:pt>
                <c:pt idx="77">
                  <c:v>13261</c:v>
                </c:pt>
                <c:pt idx="78">
                  <c:v>11117</c:v>
                </c:pt>
                <c:pt idx="79">
                  <c:v>12492</c:v>
                </c:pt>
                <c:pt idx="80">
                  <c:v>14123</c:v>
                </c:pt>
                <c:pt idx="81">
                  <c:v>14085</c:v>
                </c:pt>
                <c:pt idx="82">
                  <c:v>17552</c:v>
                </c:pt>
                <c:pt idx="83">
                  <c:v>20154</c:v>
                </c:pt>
                <c:pt idx="84">
                  <c:v>21858</c:v>
                </c:pt>
                <c:pt idx="85">
                  <c:v>18923</c:v>
                </c:pt>
                <c:pt idx="86">
                  <c:v>20650</c:v>
                </c:pt>
                <c:pt idx="87">
                  <c:v>23750</c:v>
                </c:pt>
                <c:pt idx="88">
                  <c:v>22147</c:v>
                </c:pt>
                <c:pt idx="89">
                  <c:v>20132</c:v>
                </c:pt>
                <c:pt idx="90">
                  <c:v>20818</c:v>
                </c:pt>
                <c:pt idx="91">
                  <c:v>21157</c:v>
                </c:pt>
                <c:pt idx="92">
                  <c:v>23362</c:v>
                </c:pt>
                <c:pt idx="93">
                  <c:v>24936</c:v>
                </c:pt>
                <c:pt idx="94">
                  <c:v>26328</c:v>
                </c:pt>
                <c:pt idx="95">
                  <c:v>29752</c:v>
                </c:pt>
                <c:pt idx="96">
                  <c:v>26821</c:v>
                </c:pt>
                <c:pt idx="97">
                  <c:v>27440</c:v>
                </c:pt>
                <c:pt idx="98">
                  <c:v>29625</c:v>
                </c:pt>
                <c:pt idx="99">
                  <c:v>29886</c:v>
                </c:pt>
                <c:pt idx="100">
                  <c:v>30221</c:v>
                </c:pt>
                <c:pt idx="101">
                  <c:v>28245</c:v>
                </c:pt>
                <c:pt idx="102">
                  <c:v>26789</c:v>
                </c:pt>
                <c:pt idx="103">
                  <c:v>23013</c:v>
                </c:pt>
                <c:pt idx="104">
                  <c:v>20542</c:v>
                </c:pt>
                <c:pt idx="105">
                  <c:v>15993</c:v>
                </c:pt>
                <c:pt idx="106">
                  <c:v>12082</c:v>
                </c:pt>
                <c:pt idx="107">
                  <c:v>10922</c:v>
                </c:pt>
                <c:pt idx="108">
                  <c:v>9752</c:v>
                </c:pt>
                <c:pt idx="109">
                  <c:v>9671</c:v>
                </c:pt>
                <c:pt idx="110">
                  <c:v>8095</c:v>
                </c:pt>
              </c:numCache>
            </c:numRef>
          </c:val>
        </c:ser>
        <c:ser>
          <c:idx val="4"/>
          <c:order val="4"/>
          <c:tx>
            <c:strRef>
              <c:f>Sheet1!$F$1</c:f>
              <c:strCache>
                <c:ptCount val="1"/>
                <c:pt idx="0">
                  <c:v>Unknown</c:v>
                </c:pt>
              </c:strCache>
            </c:strRef>
          </c:tx>
          <c:spPr>
            <a:solidFill>
              <a:srgbClr val="AD275C"/>
            </a:solidFill>
            <a:ln w="19050">
              <a:noFill/>
            </a:ln>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Sheet1!$F$2:$F$134</c:f>
              <c:numCache>
                <c:formatCode>General</c:formatCode>
                <c:ptCount val="133"/>
                <c:pt idx="110">
                  <c:v>6</c:v>
                </c:pt>
                <c:pt idx="111">
                  <c:v>12788</c:v>
                </c:pt>
                <c:pt idx="112">
                  <c:v>14986</c:v>
                </c:pt>
                <c:pt idx="113">
                  <c:v>14482</c:v>
                </c:pt>
                <c:pt idx="114">
                  <c:v>13324</c:v>
                </c:pt>
                <c:pt idx="115">
                  <c:v>15877</c:v>
                </c:pt>
                <c:pt idx="116">
                  <c:v>16493</c:v>
                </c:pt>
                <c:pt idx="117">
                  <c:v>16731</c:v>
                </c:pt>
                <c:pt idx="118">
                  <c:v>17725</c:v>
                </c:pt>
                <c:pt idx="119">
                  <c:v>18168</c:v>
                </c:pt>
                <c:pt idx="120">
                  <c:v>21476</c:v>
                </c:pt>
                <c:pt idx="121">
                  <c:v>20938</c:v>
                </c:pt>
                <c:pt idx="122">
                  <c:v>24131</c:v>
                </c:pt>
                <c:pt idx="123">
                  <c:v>35016</c:v>
                </c:pt>
                <c:pt idx="124">
                  <c:v>39618</c:v>
                </c:pt>
                <c:pt idx="125">
                  <c:v>30540</c:v>
                </c:pt>
                <c:pt idx="126">
                  <c:v>26241</c:v>
                </c:pt>
                <c:pt idx="127">
                  <c:v>21405</c:v>
                </c:pt>
                <c:pt idx="128">
                  <c:v>17182</c:v>
                </c:pt>
                <c:pt idx="129">
                  <c:v>16547</c:v>
                </c:pt>
                <c:pt idx="130">
                  <c:v>17651</c:v>
                </c:pt>
                <c:pt idx="131">
                  <c:v>18707</c:v>
                </c:pt>
                <c:pt idx="132">
                  <c:v>16500</c:v>
                </c:pt>
              </c:numCache>
            </c:numRef>
          </c:val>
        </c:ser>
        <c:dLbls>
          <c:showLegendKey val="0"/>
          <c:showVal val="0"/>
          <c:showCatName val="0"/>
          <c:showSerName val="0"/>
          <c:showPercent val="0"/>
          <c:showBubbleSize val="0"/>
        </c:dLbls>
        <c:axId val="112882432"/>
        <c:axId val="112883968"/>
      </c:areaChart>
      <c:dateAx>
        <c:axId val="112882432"/>
        <c:scaling>
          <c:orientation val="minMax"/>
        </c:scaling>
        <c:delete val="0"/>
        <c:axPos val="b"/>
        <c:numFmt formatCode="m/d/yyyy" sourceLinked="1"/>
        <c:majorTickMark val="out"/>
        <c:minorTickMark val="none"/>
        <c:tickLblPos val="nextTo"/>
        <c:crossAx val="112883968"/>
        <c:crosses val="autoZero"/>
        <c:auto val="1"/>
        <c:lblOffset val="100"/>
        <c:baseTimeUnit val="months"/>
        <c:majorUnit val="12"/>
        <c:majorTimeUnit val="months"/>
      </c:dateAx>
      <c:valAx>
        <c:axId val="112883968"/>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112882432"/>
        <c:crosses val="autoZero"/>
        <c:crossBetween val="midCat"/>
      </c:valAx>
    </c:plotArea>
    <c:plotVisOnly val="1"/>
    <c:dispBlanksAs val="zero"/>
    <c:showDLblsOverMax val="0"/>
  </c:chart>
  <c:txPr>
    <a:bodyPr/>
    <a:lstStyle/>
    <a:p>
      <a:pPr>
        <a:defRPr sz="1000"/>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400" dirty="0"/>
              <a:t>Ratio </a:t>
            </a:r>
            <a:r>
              <a:rPr lang="en-US" sz="1400" dirty="0" err="1"/>
              <a:t>Algo</a:t>
            </a:r>
            <a:r>
              <a:rPr lang="en-US" sz="1400" dirty="0"/>
              <a:t> II/</a:t>
            </a:r>
            <a:r>
              <a:rPr lang="en-US" sz="1400" dirty="0" err="1"/>
              <a:t>Algo</a:t>
            </a:r>
            <a:r>
              <a:rPr lang="en-US" sz="1400" dirty="0"/>
              <a:t> I (LTV &gt; </a:t>
            </a:r>
            <a:r>
              <a:rPr lang="en-US" sz="1400" dirty="0" smtClean="0"/>
              <a:t>80%)</a:t>
            </a:r>
            <a:endParaRPr lang="en-US" sz="1400" dirty="0"/>
          </a:p>
        </c:rich>
      </c:tx>
      <c:layout/>
      <c:overlay val="0"/>
    </c:title>
    <c:autoTitleDeleted val="0"/>
    <c:plotArea>
      <c:layout/>
      <c:barChart>
        <c:barDir val="col"/>
        <c:grouping val="clustered"/>
        <c:varyColors val="0"/>
        <c:ser>
          <c:idx val="0"/>
          <c:order val="0"/>
          <c:tx>
            <c:strRef>
              <c:f>'&gt;80 LTV'!$AF$5</c:f>
              <c:strCache>
                <c:ptCount val="1"/>
                <c:pt idx="0">
                  <c:v>HARP-I</c:v>
                </c:pt>
              </c:strCache>
            </c:strRef>
          </c:tx>
          <c:invertIfNegative val="0"/>
          <c:cat>
            <c:numRef>
              <c:f>'&gt;80 LTV'!$AE$6:$AE$62</c:f>
              <c:numCache>
                <c:formatCode>m/d/yyyy</c:formatCode>
                <c:ptCount val="57"/>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numCache>
            </c:numRef>
          </c:cat>
          <c:val>
            <c:numRef>
              <c:f>'&gt;80 LTV'!$AF$6:$AF$62</c:f>
              <c:numCache>
                <c:formatCode>General</c:formatCode>
                <c:ptCount val="57"/>
                <c:pt idx="0">
                  <c:v>4272</c:v>
                </c:pt>
                <c:pt idx="1">
                  <c:v>9557</c:v>
                </c:pt>
                <c:pt idx="2">
                  <c:v>15810</c:v>
                </c:pt>
                <c:pt idx="3">
                  <c:v>14494</c:v>
                </c:pt>
                <c:pt idx="4">
                  <c:v>9396</c:v>
                </c:pt>
                <c:pt idx="5">
                  <c:v>7014</c:v>
                </c:pt>
                <c:pt idx="6">
                  <c:v>9189</c:v>
                </c:pt>
                <c:pt idx="7">
                  <c:v>11722</c:v>
                </c:pt>
                <c:pt idx="8">
                  <c:v>13737</c:v>
                </c:pt>
                <c:pt idx="9">
                  <c:v>12676</c:v>
                </c:pt>
                <c:pt idx="10">
                  <c:v>9563</c:v>
                </c:pt>
                <c:pt idx="11">
                  <c:v>11244</c:v>
                </c:pt>
                <c:pt idx="12">
                  <c:v>10360</c:v>
                </c:pt>
                <c:pt idx="13">
                  <c:v>7944</c:v>
                </c:pt>
                <c:pt idx="14">
                  <c:v>10171</c:v>
                </c:pt>
                <c:pt idx="15">
                  <c:v>12608</c:v>
                </c:pt>
                <c:pt idx="16">
                  <c:v>14205</c:v>
                </c:pt>
                <c:pt idx="17">
                  <c:v>15045</c:v>
                </c:pt>
                <c:pt idx="18">
                  <c:v>17054</c:v>
                </c:pt>
                <c:pt idx="19">
                  <c:v>18502</c:v>
                </c:pt>
                <c:pt idx="20">
                  <c:v>17396</c:v>
                </c:pt>
                <c:pt idx="21">
                  <c:v>15213</c:v>
                </c:pt>
                <c:pt idx="22">
                  <c:v>10593</c:v>
                </c:pt>
                <c:pt idx="23">
                  <c:v>7420</c:v>
                </c:pt>
                <c:pt idx="24">
                  <c:v>6376</c:v>
                </c:pt>
                <c:pt idx="25">
                  <c:v>5524</c:v>
                </c:pt>
                <c:pt idx="26">
                  <c:v>6163</c:v>
                </c:pt>
                <c:pt idx="27">
                  <c:v>6608</c:v>
                </c:pt>
                <c:pt idx="28">
                  <c:v>6814</c:v>
                </c:pt>
                <c:pt idx="29">
                  <c:v>7897</c:v>
                </c:pt>
                <c:pt idx="30">
                  <c:v>9245</c:v>
                </c:pt>
                <c:pt idx="31">
                  <c:v>9831</c:v>
                </c:pt>
                <c:pt idx="32">
                  <c:v>9082</c:v>
                </c:pt>
                <c:pt idx="33">
                  <c:v>11001</c:v>
                </c:pt>
                <c:pt idx="34">
                  <c:v>14080</c:v>
                </c:pt>
                <c:pt idx="35">
                  <c:v>13189</c:v>
                </c:pt>
                <c:pt idx="36">
                  <c:v>12382</c:v>
                </c:pt>
                <c:pt idx="37">
                  <c:v>13178</c:v>
                </c:pt>
                <c:pt idx="38">
                  <c:v>13092</c:v>
                </c:pt>
                <c:pt idx="39">
                  <c:v>13246</c:v>
                </c:pt>
                <c:pt idx="40">
                  <c:v>14068</c:v>
                </c:pt>
                <c:pt idx="41">
                  <c:v>13316</c:v>
                </c:pt>
                <c:pt idx="42">
                  <c:v>15936</c:v>
                </c:pt>
                <c:pt idx="43">
                  <c:v>13955</c:v>
                </c:pt>
                <c:pt idx="44">
                  <c:v>14118</c:v>
                </c:pt>
                <c:pt idx="45">
                  <c:v>15173</c:v>
                </c:pt>
                <c:pt idx="46">
                  <c:v>15258</c:v>
                </c:pt>
                <c:pt idx="47">
                  <c:v>15539</c:v>
                </c:pt>
                <c:pt idx="48">
                  <c:v>14591</c:v>
                </c:pt>
                <c:pt idx="49">
                  <c:v>13308</c:v>
                </c:pt>
                <c:pt idx="50">
                  <c:v>11511</c:v>
                </c:pt>
                <c:pt idx="51">
                  <c:v>10589</c:v>
                </c:pt>
                <c:pt idx="52">
                  <c:v>8489</c:v>
                </c:pt>
                <c:pt idx="53">
                  <c:v>6264</c:v>
                </c:pt>
                <c:pt idx="54">
                  <c:v>5421</c:v>
                </c:pt>
                <c:pt idx="55">
                  <c:v>4753</c:v>
                </c:pt>
                <c:pt idx="56">
                  <c:v>4811</c:v>
                </c:pt>
              </c:numCache>
            </c:numRef>
          </c:val>
        </c:ser>
        <c:ser>
          <c:idx val="1"/>
          <c:order val="1"/>
          <c:tx>
            <c:strRef>
              <c:f>'&gt;80 LTV'!$AG$5</c:f>
              <c:strCache>
                <c:ptCount val="1"/>
                <c:pt idx="0">
                  <c:v>HARP-II</c:v>
                </c:pt>
              </c:strCache>
            </c:strRef>
          </c:tx>
          <c:spPr>
            <a:solidFill>
              <a:schemeClr val="bg2">
                <a:lumMod val="75000"/>
              </a:schemeClr>
            </a:solidFill>
          </c:spPr>
          <c:invertIfNegative val="0"/>
          <c:cat>
            <c:numRef>
              <c:f>'&gt;80 LTV'!$AE$6:$AE$62</c:f>
              <c:numCache>
                <c:formatCode>m/d/yyyy</c:formatCode>
                <c:ptCount val="57"/>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numCache>
            </c:numRef>
          </c:cat>
          <c:val>
            <c:numRef>
              <c:f>'&gt;80 LTV'!$AG$6:$AG$62</c:f>
              <c:numCache>
                <c:formatCode>General</c:formatCode>
                <c:ptCount val="57"/>
                <c:pt idx="0">
                  <c:v>3673</c:v>
                </c:pt>
                <c:pt idx="1">
                  <c:v>9247</c:v>
                </c:pt>
                <c:pt idx="2">
                  <c:v>15370</c:v>
                </c:pt>
                <c:pt idx="3">
                  <c:v>14029</c:v>
                </c:pt>
                <c:pt idx="4">
                  <c:v>9135</c:v>
                </c:pt>
                <c:pt idx="5">
                  <c:v>6784</c:v>
                </c:pt>
                <c:pt idx="6">
                  <c:v>8893</c:v>
                </c:pt>
                <c:pt idx="7">
                  <c:v>11371</c:v>
                </c:pt>
                <c:pt idx="8">
                  <c:v>13463</c:v>
                </c:pt>
                <c:pt idx="9">
                  <c:v>12639</c:v>
                </c:pt>
                <c:pt idx="10">
                  <c:v>9607</c:v>
                </c:pt>
                <c:pt idx="11">
                  <c:v>11233</c:v>
                </c:pt>
                <c:pt idx="12">
                  <c:v>10354</c:v>
                </c:pt>
                <c:pt idx="13">
                  <c:v>7969</c:v>
                </c:pt>
                <c:pt idx="14">
                  <c:v>10240</c:v>
                </c:pt>
                <c:pt idx="15">
                  <c:v>12706</c:v>
                </c:pt>
                <c:pt idx="16">
                  <c:v>14514</c:v>
                </c:pt>
                <c:pt idx="17">
                  <c:v>15385</c:v>
                </c:pt>
                <c:pt idx="18">
                  <c:v>17435</c:v>
                </c:pt>
                <c:pt idx="19">
                  <c:v>18832</c:v>
                </c:pt>
                <c:pt idx="20">
                  <c:v>17593</c:v>
                </c:pt>
                <c:pt idx="21">
                  <c:v>15376</c:v>
                </c:pt>
                <c:pt idx="22">
                  <c:v>10725</c:v>
                </c:pt>
                <c:pt idx="23">
                  <c:v>7425</c:v>
                </c:pt>
                <c:pt idx="24">
                  <c:v>6431</c:v>
                </c:pt>
                <c:pt idx="25">
                  <c:v>5596</c:v>
                </c:pt>
                <c:pt idx="26">
                  <c:v>6287</c:v>
                </c:pt>
                <c:pt idx="27">
                  <c:v>6722</c:v>
                </c:pt>
                <c:pt idx="28">
                  <c:v>6917</c:v>
                </c:pt>
                <c:pt idx="29">
                  <c:v>8052</c:v>
                </c:pt>
                <c:pt idx="30">
                  <c:v>9402</c:v>
                </c:pt>
                <c:pt idx="31">
                  <c:v>9964</c:v>
                </c:pt>
                <c:pt idx="32">
                  <c:v>9237</c:v>
                </c:pt>
                <c:pt idx="33">
                  <c:v>11247</c:v>
                </c:pt>
                <c:pt idx="34">
                  <c:v>14409</c:v>
                </c:pt>
                <c:pt idx="35">
                  <c:v>13389</c:v>
                </c:pt>
                <c:pt idx="36">
                  <c:v>12542</c:v>
                </c:pt>
                <c:pt idx="37">
                  <c:v>13383</c:v>
                </c:pt>
                <c:pt idx="38">
                  <c:v>13357</c:v>
                </c:pt>
                <c:pt idx="39">
                  <c:v>13492</c:v>
                </c:pt>
                <c:pt idx="40">
                  <c:v>14252</c:v>
                </c:pt>
                <c:pt idx="41">
                  <c:v>13492</c:v>
                </c:pt>
                <c:pt idx="42">
                  <c:v>16216</c:v>
                </c:pt>
                <c:pt idx="43">
                  <c:v>14266</c:v>
                </c:pt>
                <c:pt idx="44">
                  <c:v>14429</c:v>
                </c:pt>
                <c:pt idx="45">
                  <c:v>15534</c:v>
                </c:pt>
                <c:pt idx="46">
                  <c:v>15566</c:v>
                </c:pt>
                <c:pt idx="47">
                  <c:v>15856</c:v>
                </c:pt>
                <c:pt idx="48">
                  <c:v>14917</c:v>
                </c:pt>
                <c:pt idx="49">
                  <c:v>13693</c:v>
                </c:pt>
                <c:pt idx="50">
                  <c:v>11861</c:v>
                </c:pt>
                <c:pt idx="51">
                  <c:v>10905</c:v>
                </c:pt>
                <c:pt idx="52">
                  <c:v>8808</c:v>
                </c:pt>
                <c:pt idx="53">
                  <c:v>6521</c:v>
                </c:pt>
                <c:pt idx="54">
                  <c:v>5615</c:v>
                </c:pt>
                <c:pt idx="55">
                  <c:v>4989</c:v>
                </c:pt>
                <c:pt idx="56">
                  <c:v>4958</c:v>
                </c:pt>
              </c:numCache>
            </c:numRef>
          </c:val>
        </c:ser>
        <c:dLbls>
          <c:showLegendKey val="0"/>
          <c:showVal val="0"/>
          <c:showCatName val="0"/>
          <c:showSerName val="0"/>
          <c:showPercent val="0"/>
          <c:showBubbleSize val="0"/>
        </c:dLbls>
        <c:gapWidth val="150"/>
        <c:axId val="204206848"/>
        <c:axId val="204208384"/>
      </c:barChart>
      <c:lineChart>
        <c:grouping val="standard"/>
        <c:varyColors val="0"/>
        <c:ser>
          <c:idx val="2"/>
          <c:order val="2"/>
          <c:tx>
            <c:strRef>
              <c:f>'&gt;80 LTV'!$AH$5</c:f>
              <c:strCache>
                <c:ptCount val="1"/>
                <c:pt idx="0">
                  <c:v>Ratio II/I</c:v>
                </c:pt>
              </c:strCache>
            </c:strRef>
          </c:tx>
          <c:spPr>
            <a:ln>
              <a:solidFill>
                <a:srgbClr val="C00000"/>
              </a:solidFill>
            </a:ln>
          </c:spPr>
          <c:marker>
            <c:symbol val="none"/>
          </c:marker>
          <c:cat>
            <c:numRef>
              <c:f>'&gt;80 LTV'!$AE$6:$AE$62</c:f>
              <c:numCache>
                <c:formatCode>m/d/yyyy</c:formatCode>
                <c:ptCount val="57"/>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numCache>
            </c:numRef>
          </c:cat>
          <c:val>
            <c:numRef>
              <c:f>'&gt;80 LTV'!$AH$6:$AH$62</c:f>
              <c:numCache>
                <c:formatCode>General</c:formatCode>
                <c:ptCount val="57"/>
                <c:pt idx="0">
                  <c:v>0.85978464419475653</c:v>
                </c:pt>
                <c:pt idx="1">
                  <c:v>0.96756304279585648</c:v>
                </c:pt>
                <c:pt idx="2">
                  <c:v>0.97216951296647691</c:v>
                </c:pt>
                <c:pt idx="3">
                  <c:v>0.96791775907271971</c:v>
                </c:pt>
                <c:pt idx="4">
                  <c:v>0.97222222222222221</c:v>
                </c:pt>
                <c:pt idx="5">
                  <c:v>0.96720844026233244</c:v>
                </c:pt>
                <c:pt idx="6">
                  <c:v>0.96778757209707256</c:v>
                </c:pt>
                <c:pt idx="7">
                  <c:v>0.9700563043849173</c:v>
                </c:pt>
                <c:pt idx="8">
                  <c:v>0.98005386911261561</c:v>
                </c:pt>
                <c:pt idx="9">
                  <c:v>0.99708109813821399</c:v>
                </c:pt>
                <c:pt idx="10">
                  <c:v>1.0046010666108962</c:v>
                </c:pt>
                <c:pt idx="11">
                  <c:v>0.99902170046246885</c:v>
                </c:pt>
                <c:pt idx="12">
                  <c:v>0.99942084942084941</c:v>
                </c:pt>
                <c:pt idx="13">
                  <c:v>1.0031470292044311</c:v>
                </c:pt>
                <c:pt idx="14">
                  <c:v>1.0067839937076</c:v>
                </c:pt>
                <c:pt idx="15">
                  <c:v>1.007772842639594</c:v>
                </c:pt>
                <c:pt idx="16">
                  <c:v>1.021752903907075</c:v>
                </c:pt>
                <c:pt idx="17">
                  <c:v>1.0225988700564972</c:v>
                </c:pt>
                <c:pt idx="18">
                  <c:v>1.0223407998123608</c:v>
                </c:pt>
                <c:pt idx="19">
                  <c:v>1.0178359096313911</c:v>
                </c:pt>
                <c:pt idx="20">
                  <c:v>1.0113244424005519</c:v>
                </c:pt>
                <c:pt idx="21">
                  <c:v>1.0107145204759087</c:v>
                </c:pt>
                <c:pt idx="22">
                  <c:v>1.0124610591900312</c:v>
                </c:pt>
                <c:pt idx="23">
                  <c:v>1.0006738544474394</c:v>
                </c:pt>
                <c:pt idx="24">
                  <c:v>1.0086260978670012</c:v>
                </c:pt>
                <c:pt idx="25">
                  <c:v>1.0130340333091963</c:v>
                </c:pt>
                <c:pt idx="26">
                  <c:v>1.0201200713938017</c:v>
                </c:pt>
                <c:pt idx="27">
                  <c:v>1.0172518159806296</c:v>
                </c:pt>
                <c:pt idx="28">
                  <c:v>1.0151159377751688</c:v>
                </c:pt>
                <c:pt idx="29">
                  <c:v>1.0196277067240724</c:v>
                </c:pt>
                <c:pt idx="30">
                  <c:v>1.016982152514873</c:v>
                </c:pt>
                <c:pt idx="31">
                  <c:v>1.013528633913132</c:v>
                </c:pt>
                <c:pt idx="32">
                  <c:v>1.0170667253908832</c:v>
                </c:pt>
                <c:pt idx="33">
                  <c:v>1.0223616034905918</c:v>
                </c:pt>
                <c:pt idx="34">
                  <c:v>1.0233664772727273</c:v>
                </c:pt>
                <c:pt idx="35">
                  <c:v>1.0151641519448025</c:v>
                </c:pt>
                <c:pt idx="36">
                  <c:v>1.0129219835244709</c:v>
                </c:pt>
                <c:pt idx="37">
                  <c:v>1.0155562300804371</c:v>
                </c:pt>
                <c:pt idx="38">
                  <c:v>1.0202413687748244</c:v>
                </c:pt>
                <c:pt idx="39">
                  <c:v>1.0185716442699684</c:v>
                </c:pt>
                <c:pt idx="40">
                  <c:v>1.0130793289735569</c:v>
                </c:pt>
                <c:pt idx="41">
                  <c:v>1.0132171823370382</c:v>
                </c:pt>
                <c:pt idx="42">
                  <c:v>1.017570281124498</c:v>
                </c:pt>
                <c:pt idx="43">
                  <c:v>1.022285919025439</c:v>
                </c:pt>
                <c:pt idx="44">
                  <c:v>1.0220286159512679</c:v>
                </c:pt>
                <c:pt idx="45">
                  <c:v>1.0237922625716733</c:v>
                </c:pt>
                <c:pt idx="46">
                  <c:v>1.020186131865251</c:v>
                </c:pt>
                <c:pt idx="47">
                  <c:v>1.0204002831585044</c:v>
                </c:pt>
                <c:pt idx="48">
                  <c:v>1.0223425399218697</c:v>
                </c:pt>
                <c:pt idx="49">
                  <c:v>1.0289299669371808</c:v>
                </c:pt>
                <c:pt idx="50">
                  <c:v>1.0304056988967074</c:v>
                </c:pt>
                <c:pt idx="51">
                  <c:v>1.0298422891680046</c:v>
                </c:pt>
                <c:pt idx="52">
                  <c:v>1.0375780421722229</c:v>
                </c:pt>
                <c:pt idx="53">
                  <c:v>1.0410280970625798</c:v>
                </c:pt>
                <c:pt idx="54">
                  <c:v>1.0357867552112157</c:v>
                </c:pt>
                <c:pt idx="55">
                  <c:v>1.0496528508310541</c:v>
                </c:pt>
                <c:pt idx="56">
                  <c:v>1.0305549781750156</c:v>
                </c:pt>
              </c:numCache>
            </c:numRef>
          </c:val>
          <c:smooth val="0"/>
        </c:ser>
        <c:dLbls>
          <c:showLegendKey val="0"/>
          <c:showVal val="0"/>
          <c:showCatName val="0"/>
          <c:showSerName val="0"/>
          <c:showPercent val="0"/>
          <c:showBubbleSize val="0"/>
        </c:dLbls>
        <c:marker val="1"/>
        <c:smooth val="0"/>
        <c:axId val="204479104"/>
        <c:axId val="204477184"/>
      </c:lineChart>
      <c:dateAx>
        <c:axId val="204206848"/>
        <c:scaling>
          <c:orientation val="minMax"/>
        </c:scaling>
        <c:delete val="0"/>
        <c:axPos val="b"/>
        <c:numFmt formatCode="m/d/yyyy" sourceLinked="1"/>
        <c:majorTickMark val="out"/>
        <c:minorTickMark val="none"/>
        <c:tickLblPos val="nextTo"/>
        <c:crossAx val="204208384"/>
        <c:crosses val="autoZero"/>
        <c:auto val="1"/>
        <c:lblOffset val="100"/>
        <c:baseTimeUnit val="months"/>
        <c:majorUnit val="6"/>
        <c:majorTimeUnit val="months"/>
      </c:dateAx>
      <c:valAx>
        <c:axId val="204208384"/>
        <c:scaling>
          <c:orientation val="minMax"/>
        </c:scaling>
        <c:delete val="0"/>
        <c:axPos val="l"/>
        <c:majorGridlines/>
        <c:title>
          <c:tx>
            <c:rich>
              <a:bodyPr rot="-5400000" vert="horz"/>
              <a:lstStyle/>
              <a:p>
                <a:pPr>
                  <a:defRPr/>
                </a:pPr>
                <a:r>
                  <a:rPr lang="en-US"/>
                  <a:t>Loan Count</a:t>
                </a:r>
              </a:p>
            </c:rich>
          </c:tx>
          <c:layout/>
          <c:overlay val="0"/>
        </c:title>
        <c:numFmt formatCode="General" sourceLinked="1"/>
        <c:majorTickMark val="out"/>
        <c:minorTickMark val="none"/>
        <c:tickLblPos val="nextTo"/>
        <c:crossAx val="204206848"/>
        <c:crosses val="autoZero"/>
        <c:crossBetween val="between"/>
        <c:dispUnits>
          <c:builtInUnit val="thousands"/>
          <c:dispUnitsLbl>
            <c:layout/>
          </c:dispUnitsLbl>
        </c:dispUnits>
      </c:valAx>
      <c:valAx>
        <c:axId val="204477184"/>
        <c:scaling>
          <c:orientation val="minMax"/>
        </c:scaling>
        <c:delete val="0"/>
        <c:axPos val="r"/>
        <c:title>
          <c:tx>
            <c:rich>
              <a:bodyPr rot="-5400000" vert="horz"/>
              <a:lstStyle/>
              <a:p>
                <a:pPr>
                  <a:defRPr/>
                </a:pPr>
                <a:r>
                  <a:rPr lang="en-US"/>
                  <a:t>Ratio</a:t>
                </a:r>
              </a:p>
            </c:rich>
          </c:tx>
          <c:layout/>
          <c:overlay val="0"/>
        </c:title>
        <c:numFmt formatCode="0.0" sourceLinked="0"/>
        <c:majorTickMark val="out"/>
        <c:minorTickMark val="none"/>
        <c:tickLblPos val="nextTo"/>
        <c:crossAx val="204479104"/>
        <c:crosses val="max"/>
        <c:crossBetween val="between"/>
      </c:valAx>
      <c:dateAx>
        <c:axId val="204479104"/>
        <c:scaling>
          <c:orientation val="minMax"/>
        </c:scaling>
        <c:delete val="1"/>
        <c:axPos val="b"/>
        <c:numFmt formatCode="m/d/yyyy" sourceLinked="1"/>
        <c:majorTickMark val="out"/>
        <c:minorTickMark val="none"/>
        <c:tickLblPos val="nextTo"/>
        <c:crossAx val="204477184"/>
        <c:crosses val="autoZero"/>
        <c:auto val="1"/>
        <c:lblOffset val="100"/>
        <c:baseTimeUnit val="months"/>
      </c:dateAx>
    </c:plotArea>
    <c:legend>
      <c:legendPos val="b"/>
      <c:layout/>
      <c:overlay val="0"/>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400"/>
            </a:pPr>
            <a:r>
              <a:rPr lang="en-US" sz="1400" dirty="0"/>
              <a:t>Ratio HARP/Total</a:t>
            </a:r>
            <a:r>
              <a:rPr lang="en-US" sz="1400" baseline="0" dirty="0"/>
              <a:t> </a:t>
            </a:r>
            <a:r>
              <a:rPr lang="en-US" sz="1400" dirty="0"/>
              <a:t>Refi using </a:t>
            </a:r>
            <a:r>
              <a:rPr lang="en-US" sz="1400" dirty="0" err="1"/>
              <a:t>Algo</a:t>
            </a:r>
            <a:r>
              <a:rPr lang="en-US" sz="1400" dirty="0"/>
              <a:t> II (LTV &lt;= </a:t>
            </a:r>
            <a:r>
              <a:rPr lang="en-US" sz="1400" dirty="0" smtClean="0"/>
              <a:t>80%)</a:t>
            </a:r>
            <a:endParaRPr lang="en-US" sz="1400" dirty="0"/>
          </a:p>
        </c:rich>
      </c:tx>
      <c:layout/>
      <c:overlay val="0"/>
    </c:title>
    <c:autoTitleDeleted val="0"/>
    <c:plotArea>
      <c:layout/>
      <c:lineChart>
        <c:grouping val="standard"/>
        <c:varyColors val="0"/>
        <c:ser>
          <c:idx val="0"/>
          <c:order val="0"/>
          <c:tx>
            <c:strRef>
              <c:f>'&lt;80 LTV'!$AS$5</c:f>
              <c:strCache>
                <c:ptCount val="1"/>
                <c:pt idx="0">
                  <c:v>Ratio HARP/Refi</c:v>
                </c:pt>
              </c:strCache>
            </c:strRef>
          </c:tx>
          <c:marker>
            <c:symbol val="none"/>
          </c:marker>
          <c:cat>
            <c:numRef>
              <c:f>'&lt;80 LTV'!$AR$6:$AR$63</c:f>
              <c:numCache>
                <c:formatCode>m/d/yyyy</c:formatCode>
                <c:ptCount val="58"/>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pt idx="57">
                  <c:v>41699</c:v>
                </c:pt>
              </c:numCache>
            </c:numRef>
          </c:cat>
          <c:val>
            <c:numRef>
              <c:f>'&lt;80 LTV'!$AS$6:$AS$63</c:f>
              <c:numCache>
                <c:formatCode>0%</c:formatCode>
                <c:ptCount val="58"/>
                <c:pt idx="0">
                  <c:v>4.5711249327274835E-2</c:v>
                </c:pt>
                <c:pt idx="1">
                  <c:v>4.9449780192086915E-2</c:v>
                </c:pt>
                <c:pt idx="2">
                  <c:v>8.1220476236382913E-2</c:v>
                </c:pt>
                <c:pt idx="3">
                  <c:v>9.8626960255321097E-2</c:v>
                </c:pt>
                <c:pt idx="4">
                  <c:v>0.1339239666985928</c:v>
                </c:pt>
                <c:pt idx="5">
                  <c:v>0.12973812234758306</c:v>
                </c:pt>
                <c:pt idx="6">
                  <c:v>0.15860219645083606</c:v>
                </c:pt>
                <c:pt idx="7">
                  <c:v>0.19611273392610665</c:v>
                </c:pt>
                <c:pt idx="8">
                  <c:v>0.19880724756441773</c:v>
                </c:pt>
                <c:pt idx="9">
                  <c:v>0.20920873837148532</c:v>
                </c:pt>
                <c:pt idx="10">
                  <c:v>0.18189206762028609</c:v>
                </c:pt>
                <c:pt idx="11">
                  <c:v>0.22995078509491446</c:v>
                </c:pt>
                <c:pt idx="12">
                  <c:v>0.23752416784239955</c:v>
                </c:pt>
                <c:pt idx="13">
                  <c:v>0.22182029980687287</c:v>
                </c:pt>
                <c:pt idx="14">
                  <c:v>0.2692904602551045</c:v>
                </c:pt>
                <c:pt idx="15">
                  <c:v>0.29642268317932596</c:v>
                </c:pt>
                <c:pt idx="16">
                  <c:v>0.29132042771149591</c:v>
                </c:pt>
                <c:pt idx="17">
                  <c:v>0.3346096637851052</c:v>
                </c:pt>
                <c:pt idx="18">
                  <c:v>0.33821833053691275</c:v>
                </c:pt>
                <c:pt idx="19">
                  <c:v>0.34832864729771945</c:v>
                </c:pt>
                <c:pt idx="20">
                  <c:v>0.30024957389822254</c:v>
                </c:pt>
                <c:pt idx="21">
                  <c:v>0.33391245977374584</c:v>
                </c:pt>
                <c:pt idx="22">
                  <c:v>0.34422950819672132</c:v>
                </c:pt>
                <c:pt idx="23">
                  <c:v>0.2738229025382678</c:v>
                </c:pt>
                <c:pt idx="24">
                  <c:v>0.30875638533520183</c:v>
                </c:pt>
                <c:pt idx="25">
                  <c:v>0.29329579260518485</c:v>
                </c:pt>
                <c:pt idx="26">
                  <c:v>0.26236786469344608</c:v>
                </c:pt>
                <c:pt idx="27">
                  <c:v>0.29646691235378947</c:v>
                </c:pt>
                <c:pt idx="28">
                  <c:v>0.27280685061845861</c:v>
                </c:pt>
                <c:pt idx="29">
                  <c:v>0.23868147329279935</c:v>
                </c:pt>
                <c:pt idx="30">
                  <c:v>0.27236112166578008</c:v>
                </c:pt>
                <c:pt idx="31">
                  <c:v>0.28204884989328904</c:v>
                </c:pt>
                <c:pt idx="32">
                  <c:v>0.21692197437964705</c:v>
                </c:pt>
                <c:pt idx="33">
                  <c:v>0.23968290382605592</c:v>
                </c:pt>
                <c:pt idx="34">
                  <c:v>0.24571233164983164</c:v>
                </c:pt>
                <c:pt idx="35">
                  <c:v>0.23377108691010037</c:v>
                </c:pt>
                <c:pt idx="36">
                  <c:v>0.22981893053957489</c:v>
                </c:pt>
                <c:pt idx="37">
                  <c:v>0.20620129239814738</c:v>
                </c:pt>
                <c:pt idx="38">
                  <c:v>0.21664861261561535</c:v>
                </c:pt>
                <c:pt idx="39">
                  <c:v>0.22434367541766109</c:v>
                </c:pt>
                <c:pt idx="40">
                  <c:v>0.19533778224700613</c:v>
                </c:pt>
                <c:pt idx="41">
                  <c:v>0.1987027662966919</c:v>
                </c:pt>
                <c:pt idx="42">
                  <c:v>0.20224114746750335</c:v>
                </c:pt>
                <c:pt idx="43">
                  <c:v>0.21476957815867803</c:v>
                </c:pt>
                <c:pt idx="44">
                  <c:v>0.20030790547301977</c:v>
                </c:pt>
                <c:pt idx="45">
                  <c:v>0.19818844146893769</c:v>
                </c:pt>
                <c:pt idx="46">
                  <c:v>0.21585770274344288</c:v>
                </c:pt>
                <c:pt idx="47">
                  <c:v>0.25646747960222099</c:v>
                </c:pt>
                <c:pt idx="48">
                  <c:v>0.26683216881218841</c:v>
                </c:pt>
                <c:pt idx="49">
                  <c:v>0.22797458438506396</c:v>
                </c:pt>
                <c:pt idx="50">
                  <c:v>0.22482511138439207</c:v>
                </c:pt>
                <c:pt idx="51">
                  <c:v>0.24819717729473575</c:v>
                </c:pt>
                <c:pt idx="52">
                  <c:v>0.26723945547868777</c:v>
                </c:pt>
                <c:pt idx="53">
                  <c:v>0.2720246539157658</c:v>
                </c:pt>
                <c:pt idx="54">
                  <c:v>0.25331742243436756</c:v>
                </c:pt>
                <c:pt idx="55">
                  <c:v>0.21364492688615772</c:v>
                </c:pt>
                <c:pt idx="56">
                  <c:v>0.20799682245465378</c:v>
                </c:pt>
                <c:pt idx="57">
                  <c:v>0.24241141613254324</c:v>
                </c:pt>
              </c:numCache>
            </c:numRef>
          </c:val>
          <c:smooth val="0"/>
        </c:ser>
        <c:ser>
          <c:idx val="1"/>
          <c:order val="1"/>
          <c:tx>
            <c:strRef>
              <c:f>'&lt;80 LTV'!$AT$5</c:f>
              <c:strCache>
                <c:ptCount val="1"/>
                <c:pt idx="0">
                  <c:v>Ratio HARP/Refi NCO</c:v>
                </c:pt>
              </c:strCache>
            </c:strRef>
          </c:tx>
          <c:spPr>
            <a:ln>
              <a:solidFill>
                <a:schemeClr val="bg2">
                  <a:lumMod val="50000"/>
                </a:schemeClr>
              </a:solidFill>
            </a:ln>
          </c:spPr>
          <c:marker>
            <c:symbol val="none"/>
          </c:marker>
          <c:cat>
            <c:numRef>
              <c:f>'&lt;80 LTV'!$AR$6:$AR$63</c:f>
              <c:numCache>
                <c:formatCode>m/d/yyyy</c:formatCode>
                <c:ptCount val="58"/>
                <c:pt idx="0">
                  <c:v>39965</c:v>
                </c:pt>
                <c:pt idx="1">
                  <c:v>39995</c:v>
                </c:pt>
                <c:pt idx="2">
                  <c:v>40026</c:v>
                </c:pt>
                <c:pt idx="3">
                  <c:v>40057</c:v>
                </c:pt>
                <c:pt idx="4">
                  <c:v>40087</c:v>
                </c:pt>
                <c:pt idx="5">
                  <c:v>40118</c:v>
                </c:pt>
                <c:pt idx="6">
                  <c:v>40148</c:v>
                </c:pt>
                <c:pt idx="7">
                  <c:v>40179</c:v>
                </c:pt>
                <c:pt idx="8">
                  <c:v>40210</c:v>
                </c:pt>
                <c:pt idx="9">
                  <c:v>40238</c:v>
                </c:pt>
                <c:pt idx="10">
                  <c:v>40269</c:v>
                </c:pt>
                <c:pt idx="11">
                  <c:v>40299</c:v>
                </c:pt>
                <c:pt idx="12">
                  <c:v>40330</c:v>
                </c:pt>
                <c:pt idx="13">
                  <c:v>40360</c:v>
                </c:pt>
                <c:pt idx="14">
                  <c:v>40391</c:v>
                </c:pt>
                <c:pt idx="15">
                  <c:v>40422</c:v>
                </c:pt>
                <c:pt idx="16">
                  <c:v>40452</c:v>
                </c:pt>
                <c:pt idx="17">
                  <c:v>40483</c:v>
                </c:pt>
                <c:pt idx="18">
                  <c:v>40513</c:v>
                </c:pt>
                <c:pt idx="19">
                  <c:v>40544</c:v>
                </c:pt>
                <c:pt idx="20">
                  <c:v>40575</c:v>
                </c:pt>
                <c:pt idx="21">
                  <c:v>40603</c:v>
                </c:pt>
                <c:pt idx="22">
                  <c:v>40634</c:v>
                </c:pt>
                <c:pt idx="23">
                  <c:v>40664</c:v>
                </c:pt>
                <c:pt idx="24">
                  <c:v>40695</c:v>
                </c:pt>
                <c:pt idx="25">
                  <c:v>40725</c:v>
                </c:pt>
                <c:pt idx="26">
                  <c:v>40756</c:v>
                </c:pt>
                <c:pt idx="27">
                  <c:v>40787</c:v>
                </c:pt>
                <c:pt idx="28">
                  <c:v>40817</c:v>
                </c:pt>
                <c:pt idx="29">
                  <c:v>40848</c:v>
                </c:pt>
                <c:pt idx="30">
                  <c:v>40878</c:v>
                </c:pt>
                <c:pt idx="31">
                  <c:v>40909</c:v>
                </c:pt>
                <c:pt idx="32">
                  <c:v>40940</c:v>
                </c:pt>
                <c:pt idx="33">
                  <c:v>40969</c:v>
                </c:pt>
                <c:pt idx="34">
                  <c:v>41000</c:v>
                </c:pt>
                <c:pt idx="35">
                  <c:v>41030</c:v>
                </c:pt>
                <c:pt idx="36">
                  <c:v>41061</c:v>
                </c:pt>
                <c:pt idx="37">
                  <c:v>41091</c:v>
                </c:pt>
                <c:pt idx="38">
                  <c:v>41122</c:v>
                </c:pt>
                <c:pt idx="39">
                  <c:v>41153</c:v>
                </c:pt>
                <c:pt idx="40">
                  <c:v>41183</c:v>
                </c:pt>
                <c:pt idx="41">
                  <c:v>41214</c:v>
                </c:pt>
                <c:pt idx="42">
                  <c:v>41244</c:v>
                </c:pt>
                <c:pt idx="43">
                  <c:v>41275</c:v>
                </c:pt>
                <c:pt idx="44">
                  <c:v>41306</c:v>
                </c:pt>
                <c:pt idx="45">
                  <c:v>41334</c:v>
                </c:pt>
                <c:pt idx="46">
                  <c:v>41365</c:v>
                </c:pt>
                <c:pt idx="47">
                  <c:v>41395</c:v>
                </c:pt>
                <c:pt idx="48">
                  <c:v>41426</c:v>
                </c:pt>
                <c:pt idx="49">
                  <c:v>41456</c:v>
                </c:pt>
                <c:pt idx="50">
                  <c:v>41487</c:v>
                </c:pt>
                <c:pt idx="51">
                  <c:v>41518</c:v>
                </c:pt>
                <c:pt idx="52">
                  <c:v>41548</c:v>
                </c:pt>
                <c:pt idx="53">
                  <c:v>41579</c:v>
                </c:pt>
                <c:pt idx="54">
                  <c:v>41609</c:v>
                </c:pt>
                <c:pt idx="55">
                  <c:v>41640</c:v>
                </c:pt>
                <c:pt idx="56">
                  <c:v>41671</c:v>
                </c:pt>
                <c:pt idx="57">
                  <c:v>41699</c:v>
                </c:pt>
              </c:numCache>
            </c:numRef>
          </c:cat>
          <c:val>
            <c:numRef>
              <c:f>'&lt;80 LTV'!$AT$6:$AT$63</c:f>
              <c:numCache>
                <c:formatCode>0%</c:formatCode>
                <c:ptCount val="58"/>
                <c:pt idx="0">
                  <c:v>7.0161863733322186E-2</c:v>
                </c:pt>
                <c:pt idx="1">
                  <c:v>7.6025657583193421E-2</c:v>
                </c:pt>
                <c:pt idx="2">
                  <c:v>0.13039945312197701</c:v>
                </c:pt>
                <c:pt idx="3">
                  <c:v>0.16926077705098905</c:v>
                </c:pt>
                <c:pt idx="4">
                  <c:v>0.24153738830016941</c:v>
                </c:pt>
                <c:pt idx="5">
                  <c:v>0.2425966786668215</c:v>
                </c:pt>
                <c:pt idx="6">
                  <c:v>0.27276465750205614</c:v>
                </c:pt>
                <c:pt idx="7">
                  <c:v>0.32321976510422179</c:v>
                </c:pt>
                <c:pt idx="8">
                  <c:v>0.32035701185964055</c:v>
                </c:pt>
                <c:pt idx="9">
                  <c:v>0.33936191256676179</c:v>
                </c:pt>
                <c:pt idx="10">
                  <c:v>0.3213274808220864</c:v>
                </c:pt>
                <c:pt idx="11">
                  <c:v>0.38750444295249004</c:v>
                </c:pt>
                <c:pt idx="12">
                  <c:v>0.40277347038234901</c:v>
                </c:pt>
                <c:pt idx="13">
                  <c:v>0.39771353193360448</c:v>
                </c:pt>
                <c:pt idx="14">
                  <c:v>0.42508804164752717</c:v>
                </c:pt>
                <c:pt idx="15">
                  <c:v>0.4321891771019678</c:v>
                </c:pt>
                <c:pt idx="16">
                  <c:v>0.4077981154554316</c:v>
                </c:pt>
                <c:pt idx="17">
                  <c:v>0.44912037952164457</c:v>
                </c:pt>
                <c:pt idx="18">
                  <c:v>0.45074506926611113</c:v>
                </c:pt>
                <c:pt idx="19">
                  <c:v>0.46068586415650203</c:v>
                </c:pt>
                <c:pt idx="20">
                  <c:v>0.41893154408017669</c:v>
                </c:pt>
                <c:pt idx="21">
                  <c:v>0.48664901881797779</c:v>
                </c:pt>
                <c:pt idx="22">
                  <c:v>0.51737052185482679</c:v>
                </c:pt>
                <c:pt idx="23">
                  <c:v>0.45446359660406482</c:v>
                </c:pt>
                <c:pt idx="24">
                  <c:v>0.5053270198283516</c:v>
                </c:pt>
                <c:pt idx="25">
                  <c:v>0.50081640058055155</c:v>
                </c:pt>
                <c:pt idx="26">
                  <c:v>0.44122875631088671</c:v>
                </c:pt>
                <c:pt idx="27">
                  <c:v>0.46135145243735193</c:v>
                </c:pt>
                <c:pt idx="28">
                  <c:v>0.41679265030817536</c:v>
                </c:pt>
                <c:pt idx="29">
                  <c:v>0.32044795250624031</c:v>
                </c:pt>
                <c:pt idx="30">
                  <c:v>0.3533355241537956</c:v>
                </c:pt>
                <c:pt idx="31">
                  <c:v>0.36858904831262201</c:v>
                </c:pt>
                <c:pt idx="32">
                  <c:v>0.29749984642791327</c:v>
                </c:pt>
                <c:pt idx="33">
                  <c:v>0.31733657318349029</c:v>
                </c:pt>
                <c:pt idx="34">
                  <c:v>0.31927401989267523</c:v>
                </c:pt>
                <c:pt idx="35">
                  <c:v>0.31030328798185941</c:v>
                </c:pt>
                <c:pt idx="36">
                  <c:v>0.31767955801104975</c:v>
                </c:pt>
                <c:pt idx="37">
                  <c:v>0.28975058456742009</c:v>
                </c:pt>
                <c:pt idx="38">
                  <c:v>0.29814234385750327</c:v>
                </c:pt>
                <c:pt idx="39">
                  <c:v>0.30832187929526428</c:v>
                </c:pt>
                <c:pt idx="40">
                  <c:v>0.26714007101065163</c:v>
                </c:pt>
                <c:pt idx="41">
                  <c:v>0.2704194493016201</c:v>
                </c:pt>
                <c:pt idx="42">
                  <c:v>0.28005710384209548</c:v>
                </c:pt>
                <c:pt idx="43">
                  <c:v>0.28909254184991595</c:v>
                </c:pt>
                <c:pt idx="44">
                  <c:v>0.27451104500284829</c:v>
                </c:pt>
                <c:pt idx="45">
                  <c:v>0.26743722598644876</c:v>
                </c:pt>
                <c:pt idx="46">
                  <c:v>0.29446237996339786</c:v>
                </c:pt>
                <c:pt idx="47">
                  <c:v>0.3603953937630146</c:v>
                </c:pt>
                <c:pt idx="48">
                  <c:v>0.37966101694915255</c:v>
                </c:pt>
                <c:pt idx="49">
                  <c:v>0.32406215975452834</c:v>
                </c:pt>
                <c:pt idx="50">
                  <c:v>0.32436520171024696</c:v>
                </c:pt>
                <c:pt idx="51">
                  <c:v>0.3792302849047694</c:v>
                </c:pt>
                <c:pt idx="52">
                  <c:v>0.42577777777777776</c:v>
                </c:pt>
                <c:pt idx="53">
                  <c:v>0.45750719868366929</c:v>
                </c:pt>
                <c:pt idx="54">
                  <c:v>0.44302529426496368</c:v>
                </c:pt>
                <c:pt idx="55">
                  <c:v>0.37569017195141191</c:v>
                </c:pt>
                <c:pt idx="56">
                  <c:v>0.37336607779450209</c:v>
                </c:pt>
                <c:pt idx="57">
                  <c:v>0.42508747746792491</c:v>
                </c:pt>
              </c:numCache>
            </c:numRef>
          </c:val>
          <c:smooth val="0"/>
        </c:ser>
        <c:dLbls>
          <c:showLegendKey val="0"/>
          <c:showVal val="0"/>
          <c:showCatName val="0"/>
          <c:showSerName val="0"/>
          <c:showPercent val="0"/>
          <c:showBubbleSize val="0"/>
        </c:dLbls>
        <c:marker val="1"/>
        <c:smooth val="0"/>
        <c:axId val="204428032"/>
        <c:axId val="204429568"/>
      </c:lineChart>
      <c:dateAx>
        <c:axId val="204428032"/>
        <c:scaling>
          <c:orientation val="minMax"/>
        </c:scaling>
        <c:delete val="0"/>
        <c:axPos val="b"/>
        <c:numFmt formatCode="m/d/yyyy" sourceLinked="1"/>
        <c:majorTickMark val="out"/>
        <c:minorTickMark val="none"/>
        <c:tickLblPos val="nextTo"/>
        <c:crossAx val="204429568"/>
        <c:crosses val="autoZero"/>
        <c:auto val="1"/>
        <c:lblOffset val="100"/>
        <c:baseTimeUnit val="months"/>
        <c:majorUnit val="6"/>
        <c:majorTimeUnit val="months"/>
      </c:dateAx>
      <c:valAx>
        <c:axId val="204429568"/>
        <c:scaling>
          <c:orientation val="minMax"/>
        </c:scaling>
        <c:delete val="0"/>
        <c:axPos val="l"/>
        <c:majorGridlines/>
        <c:title>
          <c:tx>
            <c:rich>
              <a:bodyPr rot="-5400000" vert="horz"/>
              <a:lstStyle/>
              <a:p>
                <a:pPr>
                  <a:defRPr/>
                </a:pPr>
                <a:r>
                  <a:rPr lang="en-US"/>
                  <a:t>Loan Count</a:t>
                </a:r>
              </a:p>
            </c:rich>
          </c:tx>
          <c:layout/>
          <c:overlay val="0"/>
        </c:title>
        <c:numFmt formatCode="0%" sourceLinked="1"/>
        <c:majorTickMark val="out"/>
        <c:minorTickMark val="none"/>
        <c:tickLblPos val="nextTo"/>
        <c:crossAx val="204428032"/>
        <c:crosses val="autoZero"/>
        <c:crossBetween val="between"/>
      </c:valAx>
      <c:spPr>
        <a:ln>
          <a:solidFill>
            <a:schemeClr val="tx1"/>
          </a:solidFill>
        </a:ln>
      </c:spPr>
    </c:plotArea>
    <c:legend>
      <c:legendPos val="b"/>
      <c:layout/>
      <c:overlay val="0"/>
    </c:legend>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Actual HARP%</c:v>
                </c:pt>
              </c:strCache>
            </c:strRef>
          </c:tx>
          <c:marker>
            <c:symbol val="none"/>
          </c:marker>
          <c:cat>
            <c:numRef>
              <c:f>Sheet1!$A$2:$A$38</c:f>
              <c:numCache>
                <c:formatCode>m/d/yyyy</c:formatCode>
                <c:ptCount val="37"/>
                <c:pt idx="0">
                  <c:v>40603</c:v>
                </c:pt>
                <c:pt idx="1">
                  <c:v>40634</c:v>
                </c:pt>
                <c:pt idx="2">
                  <c:v>40664</c:v>
                </c:pt>
                <c:pt idx="3">
                  <c:v>40695</c:v>
                </c:pt>
                <c:pt idx="4">
                  <c:v>40725</c:v>
                </c:pt>
                <c:pt idx="5">
                  <c:v>40756</c:v>
                </c:pt>
                <c:pt idx="6">
                  <c:v>40787</c:v>
                </c:pt>
                <c:pt idx="7">
                  <c:v>40817</c:v>
                </c:pt>
                <c:pt idx="8">
                  <c:v>40848</c:v>
                </c:pt>
                <c:pt idx="9">
                  <c:v>40878</c:v>
                </c:pt>
                <c:pt idx="10">
                  <c:v>40909</c:v>
                </c:pt>
                <c:pt idx="11">
                  <c:v>40940</c:v>
                </c:pt>
                <c:pt idx="12">
                  <c:v>40969</c:v>
                </c:pt>
                <c:pt idx="13">
                  <c:v>41000</c:v>
                </c:pt>
                <c:pt idx="14">
                  <c:v>41030</c:v>
                </c:pt>
                <c:pt idx="15">
                  <c:v>41061</c:v>
                </c:pt>
                <c:pt idx="16">
                  <c:v>41091</c:v>
                </c:pt>
                <c:pt idx="17">
                  <c:v>41122</c:v>
                </c:pt>
                <c:pt idx="18">
                  <c:v>41153</c:v>
                </c:pt>
                <c:pt idx="19">
                  <c:v>41183</c:v>
                </c:pt>
                <c:pt idx="20">
                  <c:v>41214</c:v>
                </c:pt>
                <c:pt idx="21">
                  <c:v>41244</c:v>
                </c:pt>
                <c:pt idx="22">
                  <c:v>41275</c:v>
                </c:pt>
                <c:pt idx="23">
                  <c:v>41306</c:v>
                </c:pt>
                <c:pt idx="24">
                  <c:v>41334</c:v>
                </c:pt>
                <c:pt idx="25">
                  <c:v>41365</c:v>
                </c:pt>
                <c:pt idx="26">
                  <c:v>41395</c:v>
                </c:pt>
                <c:pt idx="27">
                  <c:v>41426</c:v>
                </c:pt>
                <c:pt idx="28">
                  <c:v>41456</c:v>
                </c:pt>
                <c:pt idx="29">
                  <c:v>41487</c:v>
                </c:pt>
                <c:pt idx="30">
                  <c:v>41518</c:v>
                </c:pt>
                <c:pt idx="31">
                  <c:v>41548</c:v>
                </c:pt>
                <c:pt idx="32">
                  <c:v>41579</c:v>
                </c:pt>
                <c:pt idx="33">
                  <c:v>41609</c:v>
                </c:pt>
                <c:pt idx="34">
                  <c:v>41640</c:v>
                </c:pt>
                <c:pt idx="35">
                  <c:v>41671</c:v>
                </c:pt>
                <c:pt idx="36">
                  <c:v>41699</c:v>
                </c:pt>
              </c:numCache>
            </c:numRef>
          </c:cat>
          <c:val>
            <c:numRef>
              <c:f>Sheet1!$B$2:$B$38</c:f>
              <c:numCache>
                <c:formatCode>0%</c:formatCode>
                <c:ptCount val="37"/>
                <c:pt idx="0">
                  <c:v>0.47727269999999999</c:v>
                </c:pt>
                <c:pt idx="1">
                  <c:v>0.51598619999999995</c:v>
                </c:pt>
                <c:pt idx="2">
                  <c:v>0.46581060000000002</c:v>
                </c:pt>
                <c:pt idx="3">
                  <c:v>0.52366639999999998</c:v>
                </c:pt>
                <c:pt idx="4">
                  <c:v>0.50466869999999997</c:v>
                </c:pt>
                <c:pt idx="5">
                  <c:v>0.4516696</c:v>
                </c:pt>
                <c:pt idx="6">
                  <c:v>0.47632229999999998</c:v>
                </c:pt>
                <c:pt idx="7">
                  <c:v>0.40088889999999999</c:v>
                </c:pt>
                <c:pt idx="8">
                  <c:v>0.32456289999999999</c:v>
                </c:pt>
                <c:pt idx="9">
                  <c:v>0.35950549999999998</c:v>
                </c:pt>
                <c:pt idx="10">
                  <c:v>0.36698969999999997</c:v>
                </c:pt>
                <c:pt idx="11">
                  <c:v>0.29518729999999999</c:v>
                </c:pt>
                <c:pt idx="12">
                  <c:v>0.31472509999999998</c:v>
                </c:pt>
                <c:pt idx="13">
                  <c:v>0.3199592</c:v>
                </c:pt>
                <c:pt idx="14">
                  <c:v>0.31610120000000003</c:v>
                </c:pt>
                <c:pt idx="15">
                  <c:v>0.31687929999999997</c:v>
                </c:pt>
                <c:pt idx="16">
                  <c:v>0.28565839999999998</c:v>
                </c:pt>
                <c:pt idx="17">
                  <c:v>0.29776049999999998</c:v>
                </c:pt>
                <c:pt idx="18">
                  <c:v>0.31384380000000001</c:v>
                </c:pt>
                <c:pt idx="19">
                  <c:v>0.2636114</c:v>
                </c:pt>
                <c:pt idx="20">
                  <c:v>0.27300649999999999</c:v>
                </c:pt>
                <c:pt idx="21">
                  <c:v>0.27954449999999997</c:v>
                </c:pt>
                <c:pt idx="22">
                  <c:v>0.29083340000000002</c:v>
                </c:pt>
                <c:pt idx="23">
                  <c:v>0.27507740000000003</c:v>
                </c:pt>
                <c:pt idx="24">
                  <c:v>0.25978849999999998</c:v>
                </c:pt>
                <c:pt idx="25">
                  <c:v>0.29125509999999999</c:v>
                </c:pt>
                <c:pt idx="26">
                  <c:v>0.37101709999999999</c:v>
                </c:pt>
                <c:pt idx="27">
                  <c:v>0.3788396</c:v>
                </c:pt>
                <c:pt idx="28">
                  <c:v>0.32651780000000002</c:v>
                </c:pt>
                <c:pt idx="29">
                  <c:v>0.32080160000000002</c:v>
                </c:pt>
                <c:pt idx="30">
                  <c:v>0.38464510000000002</c:v>
                </c:pt>
                <c:pt idx="31">
                  <c:v>0.4281007</c:v>
                </c:pt>
                <c:pt idx="32">
                  <c:v>0.46578180000000002</c:v>
                </c:pt>
                <c:pt idx="33">
                  <c:v>0.44125209999999998</c:v>
                </c:pt>
                <c:pt idx="34">
                  <c:v>0.37401430000000002</c:v>
                </c:pt>
                <c:pt idx="35">
                  <c:v>0.37490010000000001</c:v>
                </c:pt>
                <c:pt idx="36">
                  <c:v>0.43190060000000002</c:v>
                </c:pt>
              </c:numCache>
            </c:numRef>
          </c:val>
          <c:smooth val="0"/>
        </c:ser>
        <c:ser>
          <c:idx val="1"/>
          <c:order val="1"/>
          <c:tx>
            <c:strRef>
              <c:f>Sheet1!$C$1</c:f>
              <c:strCache>
                <c:ptCount val="1"/>
                <c:pt idx="0">
                  <c:v>Predicted HARP%</c:v>
                </c:pt>
              </c:strCache>
            </c:strRef>
          </c:tx>
          <c:spPr>
            <a:ln>
              <a:solidFill>
                <a:schemeClr val="bg2">
                  <a:lumMod val="50000"/>
                </a:schemeClr>
              </a:solidFill>
            </a:ln>
          </c:spPr>
          <c:marker>
            <c:symbol val="none"/>
          </c:marker>
          <c:cat>
            <c:numRef>
              <c:f>Sheet1!$A$2:$A$38</c:f>
              <c:numCache>
                <c:formatCode>m/d/yyyy</c:formatCode>
                <c:ptCount val="37"/>
                <c:pt idx="0">
                  <c:v>40603</c:v>
                </c:pt>
                <c:pt idx="1">
                  <c:v>40634</c:v>
                </c:pt>
                <c:pt idx="2">
                  <c:v>40664</c:v>
                </c:pt>
                <c:pt idx="3">
                  <c:v>40695</c:v>
                </c:pt>
                <c:pt idx="4">
                  <c:v>40725</c:v>
                </c:pt>
                <c:pt idx="5">
                  <c:v>40756</c:v>
                </c:pt>
                <c:pt idx="6">
                  <c:v>40787</c:v>
                </c:pt>
                <c:pt idx="7">
                  <c:v>40817</c:v>
                </c:pt>
                <c:pt idx="8">
                  <c:v>40848</c:v>
                </c:pt>
                <c:pt idx="9">
                  <c:v>40878</c:v>
                </c:pt>
                <c:pt idx="10">
                  <c:v>40909</c:v>
                </c:pt>
                <c:pt idx="11">
                  <c:v>40940</c:v>
                </c:pt>
                <c:pt idx="12">
                  <c:v>40969</c:v>
                </c:pt>
                <c:pt idx="13">
                  <c:v>41000</c:v>
                </c:pt>
                <c:pt idx="14">
                  <c:v>41030</c:v>
                </c:pt>
                <c:pt idx="15">
                  <c:v>41061</c:v>
                </c:pt>
                <c:pt idx="16">
                  <c:v>41091</c:v>
                </c:pt>
                <c:pt idx="17">
                  <c:v>41122</c:v>
                </c:pt>
                <c:pt idx="18">
                  <c:v>41153</c:v>
                </c:pt>
                <c:pt idx="19">
                  <c:v>41183</c:v>
                </c:pt>
                <c:pt idx="20">
                  <c:v>41214</c:v>
                </c:pt>
                <c:pt idx="21">
                  <c:v>41244</c:v>
                </c:pt>
                <c:pt idx="22">
                  <c:v>41275</c:v>
                </c:pt>
                <c:pt idx="23">
                  <c:v>41306</c:v>
                </c:pt>
                <c:pt idx="24">
                  <c:v>41334</c:v>
                </c:pt>
                <c:pt idx="25">
                  <c:v>41365</c:v>
                </c:pt>
                <c:pt idx="26">
                  <c:v>41395</c:v>
                </c:pt>
                <c:pt idx="27">
                  <c:v>41426</c:v>
                </c:pt>
                <c:pt idx="28">
                  <c:v>41456</c:v>
                </c:pt>
                <c:pt idx="29">
                  <c:v>41487</c:v>
                </c:pt>
                <c:pt idx="30">
                  <c:v>41518</c:v>
                </c:pt>
                <c:pt idx="31">
                  <c:v>41548</c:v>
                </c:pt>
                <c:pt idx="32">
                  <c:v>41579</c:v>
                </c:pt>
                <c:pt idx="33">
                  <c:v>41609</c:v>
                </c:pt>
                <c:pt idx="34">
                  <c:v>41640</c:v>
                </c:pt>
                <c:pt idx="35">
                  <c:v>41671</c:v>
                </c:pt>
                <c:pt idx="36">
                  <c:v>41699</c:v>
                </c:pt>
              </c:numCache>
            </c:numRef>
          </c:cat>
          <c:val>
            <c:numRef>
              <c:f>Sheet1!$C$2:$C$38</c:f>
              <c:numCache>
                <c:formatCode>0%</c:formatCode>
                <c:ptCount val="37"/>
                <c:pt idx="0">
                  <c:v>0.4739275</c:v>
                </c:pt>
                <c:pt idx="1">
                  <c:v>0.48974889999999999</c:v>
                </c:pt>
                <c:pt idx="2">
                  <c:v>0.49085220000000002</c:v>
                </c:pt>
                <c:pt idx="3">
                  <c:v>0.48666599999999999</c:v>
                </c:pt>
                <c:pt idx="4">
                  <c:v>0.46196809999999999</c:v>
                </c:pt>
                <c:pt idx="5">
                  <c:v>0.41820170000000001</c:v>
                </c:pt>
                <c:pt idx="6">
                  <c:v>0.45650479999999999</c:v>
                </c:pt>
                <c:pt idx="7">
                  <c:v>0.40432570000000001</c:v>
                </c:pt>
                <c:pt idx="8">
                  <c:v>0.35207189999999999</c:v>
                </c:pt>
                <c:pt idx="9">
                  <c:v>0.3308159</c:v>
                </c:pt>
                <c:pt idx="10">
                  <c:v>0.33038519999999999</c:v>
                </c:pt>
                <c:pt idx="11">
                  <c:v>0.3369645</c:v>
                </c:pt>
                <c:pt idx="12">
                  <c:v>0.31548880000000001</c:v>
                </c:pt>
                <c:pt idx="13">
                  <c:v>0.320496</c:v>
                </c:pt>
                <c:pt idx="14">
                  <c:v>0.34285209999999999</c:v>
                </c:pt>
                <c:pt idx="15">
                  <c:v>0.32414280000000001</c:v>
                </c:pt>
                <c:pt idx="16">
                  <c:v>0.31210959999999999</c:v>
                </c:pt>
                <c:pt idx="17">
                  <c:v>0.29278480000000001</c:v>
                </c:pt>
                <c:pt idx="18">
                  <c:v>0.29777579999999998</c:v>
                </c:pt>
                <c:pt idx="19">
                  <c:v>0.290491</c:v>
                </c:pt>
                <c:pt idx="20">
                  <c:v>0.29023470000000001</c:v>
                </c:pt>
                <c:pt idx="21">
                  <c:v>0.27880579999999999</c:v>
                </c:pt>
                <c:pt idx="22">
                  <c:v>0.28773189999999998</c:v>
                </c:pt>
                <c:pt idx="23">
                  <c:v>0.28248380000000001</c:v>
                </c:pt>
                <c:pt idx="24">
                  <c:v>0.28676309999999999</c:v>
                </c:pt>
                <c:pt idx="25">
                  <c:v>0.3085774</c:v>
                </c:pt>
                <c:pt idx="26">
                  <c:v>0.31209350000000002</c:v>
                </c:pt>
                <c:pt idx="27">
                  <c:v>0.32041540000000002</c:v>
                </c:pt>
                <c:pt idx="28">
                  <c:v>0.29481109999999999</c:v>
                </c:pt>
                <c:pt idx="29">
                  <c:v>0.34581590000000001</c:v>
                </c:pt>
                <c:pt idx="30">
                  <c:v>0.40042149999999999</c:v>
                </c:pt>
                <c:pt idx="31">
                  <c:v>0.42605900000000002</c:v>
                </c:pt>
                <c:pt idx="32">
                  <c:v>0.44674819999999998</c:v>
                </c:pt>
                <c:pt idx="33">
                  <c:v>0.39535779999999998</c:v>
                </c:pt>
                <c:pt idx="34">
                  <c:v>0.38261709999999999</c:v>
                </c:pt>
                <c:pt idx="35">
                  <c:v>0.4239387</c:v>
                </c:pt>
                <c:pt idx="36">
                  <c:v>0.45321450000000002</c:v>
                </c:pt>
              </c:numCache>
            </c:numRef>
          </c:val>
          <c:smooth val="0"/>
        </c:ser>
        <c:dLbls>
          <c:showLegendKey val="0"/>
          <c:showVal val="0"/>
          <c:showCatName val="0"/>
          <c:showSerName val="0"/>
          <c:showPercent val="0"/>
          <c:showBubbleSize val="0"/>
        </c:dLbls>
        <c:marker val="1"/>
        <c:smooth val="0"/>
        <c:axId val="181523584"/>
        <c:axId val="204437760"/>
      </c:lineChart>
      <c:dateAx>
        <c:axId val="181523584"/>
        <c:scaling>
          <c:orientation val="minMax"/>
        </c:scaling>
        <c:delete val="0"/>
        <c:axPos val="b"/>
        <c:numFmt formatCode="m/d/yyyy" sourceLinked="1"/>
        <c:majorTickMark val="out"/>
        <c:minorTickMark val="none"/>
        <c:tickLblPos val="nextTo"/>
        <c:crossAx val="204437760"/>
        <c:crosses val="autoZero"/>
        <c:auto val="1"/>
        <c:lblOffset val="100"/>
        <c:baseTimeUnit val="months"/>
        <c:majorUnit val="6"/>
        <c:majorTimeUnit val="months"/>
      </c:dateAx>
      <c:valAx>
        <c:axId val="204437760"/>
        <c:scaling>
          <c:orientation val="minMax"/>
          <c:min val="0.2"/>
        </c:scaling>
        <c:delete val="0"/>
        <c:axPos val="l"/>
        <c:majorGridlines/>
        <c:numFmt formatCode="0%" sourceLinked="1"/>
        <c:majorTickMark val="out"/>
        <c:minorTickMark val="none"/>
        <c:tickLblPos val="nextTo"/>
        <c:crossAx val="181523584"/>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areaChart>
        <c:grouping val="percentStacked"/>
        <c:varyColors val="0"/>
        <c:ser>
          <c:idx val="0"/>
          <c:order val="0"/>
          <c:tx>
            <c:strRef>
              <c:f>Sheet1!$B$1</c:f>
              <c:strCache>
                <c:ptCount val="1"/>
                <c:pt idx="0">
                  <c:v>Non-Eligible</c:v>
                </c:pt>
              </c:strCache>
            </c:strRef>
          </c:tx>
          <c:spPr>
            <a:solidFill>
              <a:srgbClr val="2E398A"/>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Sheet1!$B$2:$B$134</c:f>
              <c:numCache>
                <c:formatCode>General</c:formatCode>
                <c:ptCount val="133"/>
                <c:pt idx="0">
                  <c:v>1751</c:v>
                </c:pt>
                <c:pt idx="1">
                  <c:v>1713</c:v>
                </c:pt>
                <c:pt idx="2">
                  <c:v>1379</c:v>
                </c:pt>
                <c:pt idx="3">
                  <c:v>1407</c:v>
                </c:pt>
                <c:pt idx="4">
                  <c:v>1954</c:v>
                </c:pt>
                <c:pt idx="5">
                  <c:v>2080</c:v>
                </c:pt>
                <c:pt idx="6">
                  <c:v>2676</c:v>
                </c:pt>
                <c:pt idx="7">
                  <c:v>3213</c:v>
                </c:pt>
                <c:pt idx="8">
                  <c:v>4049</c:v>
                </c:pt>
                <c:pt idx="9">
                  <c:v>7482</c:v>
                </c:pt>
                <c:pt idx="10">
                  <c:v>15992</c:v>
                </c:pt>
                <c:pt idx="11">
                  <c:v>58394</c:v>
                </c:pt>
                <c:pt idx="12">
                  <c:v>96347</c:v>
                </c:pt>
                <c:pt idx="13">
                  <c:v>93070</c:v>
                </c:pt>
                <c:pt idx="14">
                  <c:v>77021</c:v>
                </c:pt>
                <c:pt idx="15">
                  <c:v>86488</c:v>
                </c:pt>
                <c:pt idx="16">
                  <c:v>99743</c:v>
                </c:pt>
                <c:pt idx="17">
                  <c:v>94688</c:v>
                </c:pt>
                <c:pt idx="18">
                  <c:v>102712</c:v>
                </c:pt>
                <c:pt idx="19">
                  <c:v>111391</c:v>
                </c:pt>
                <c:pt idx="20">
                  <c:v>101466</c:v>
                </c:pt>
                <c:pt idx="21">
                  <c:v>102383</c:v>
                </c:pt>
                <c:pt idx="22">
                  <c:v>96093</c:v>
                </c:pt>
                <c:pt idx="23">
                  <c:v>107333</c:v>
                </c:pt>
                <c:pt idx="24">
                  <c:v>98456</c:v>
                </c:pt>
                <c:pt idx="25">
                  <c:v>99305</c:v>
                </c:pt>
                <c:pt idx="26">
                  <c:v>86895</c:v>
                </c:pt>
                <c:pt idx="27">
                  <c:v>93294</c:v>
                </c:pt>
                <c:pt idx="28">
                  <c:v>118081</c:v>
                </c:pt>
                <c:pt idx="29">
                  <c:v>122699</c:v>
                </c:pt>
                <c:pt idx="30">
                  <c:v>125490</c:v>
                </c:pt>
                <c:pt idx="31">
                  <c:v>118350</c:v>
                </c:pt>
                <c:pt idx="32">
                  <c:v>113663</c:v>
                </c:pt>
                <c:pt idx="33">
                  <c:v>110255</c:v>
                </c:pt>
                <c:pt idx="34">
                  <c:v>99634</c:v>
                </c:pt>
                <c:pt idx="35">
                  <c:v>101090</c:v>
                </c:pt>
                <c:pt idx="36">
                  <c:v>88196</c:v>
                </c:pt>
                <c:pt idx="37">
                  <c:v>95942</c:v>
                </c:pt>
                <c:pt idx="38">
                  <c:v>78250</c:v>
                </c:pt>
                <c:pt idx="39">
                  <c:v>99187</c:v>
                </c:pt>
                <c:pt idx="40">
                  <c:v>102401</c:v>
                </c:pt>
                <c:pt idx="41">
                  <c:v>98366</c:v>
                </c:pt>
                <c:pt idx="42">
                  <c:v>81925</c:v>
                </c:pt>
                <c:pt idx="43">
                  <c:v>80739</c:v>
                </c:pt>
                <c:pt idx="44">
                  <c:v>67217</c:v>
                </c:pt>
                <c:pt idx="45">
                  <c:v>45118</c:v>
                </c:pt>
                <c:pt idx="46">
                  <c:v>50695</c:v>
                </c:pt>
                <c:pt idx="47">
                  <c:v>52104</c:v>
                </c:pt>
                <c:pt idx="48">
                  <c:v>32449</c:v>
                </c:pt>
                <c:pt idx="49">
                  <c:v>52470</c:v>
                </c:pt>
                <c:pt idx="50">
                  <c:v>58125</c:v>
                </c:pt>
                <c:pt idx="51">
                  <c:v>72314</c:v>
                </c:pt>
                <c:pt idx="52">
                  <c:v>87478</c:v>
                </c:pt>
                <c:pt idx="53">
                  <c:v>80977</c:v>
                </c:pt>
                <c:pt idx="54">
                  <c:v>82570</c:v>
                </c:pt>
                <c:pt idx="55">
                  <c:v>89410</c:v>
                </c:pt>
                <c:pt idx="56">
                  <c:v>83867</c:v>
                </c:pt>
                <c:pt idx="57">
                  <c:v>62931</c:v>
                </c:pt>
                <c:pt idx="58">
                  <c:v>58846</c:v>
                </c:pt>
                <c:pt idx="59">
                  <c:v>62802</c:v>
                </c:pt>
                <c:pt idx="60">
                  <c:v>60390</c:v>
                </c:pt>
                <c:pt idx="61">
                  <c:v>54738</c:v>
                </c:pt>
                <c:pt idx="62">
                  <c:v>43730</c:v>
                </c:pt>
                <c:pt idx="63">
                  <c:v>42612</c:v>
                </c:pt>
                <c:pt idx="64">
                  <c:v>46376</c:v>
                </c:pt>
                <c:pt idx="65">
                  <c:v>49599</c:v>
                </c:pt>
                <c:pt idx="66">
                  <c:v>51493</c:v>
                </c:pt>
                <c:pt idx="67">
                  <c:v>55048</c:v>
                </c:pt>
                <c:pt idx="68">
                  <c:v>40328</c:v>
                </c:pt>
                <c:pt idx="69">
                  <c:v>41549</c:v>
                </c:pt>
                <c:pt idx="70">
                  <c:v>37451</c:v>
                </c:pt>
                <c:pt idx="71">
                  <c:v>38965</c:v>
                </c:pt>
                <c:pt idx="72">
                  <c:v>36931</c:v>
                </c:pt>
                <c:pt idx="73">
                  <c:v>41383</c:v>
                </c:pt>
                <c:pt idx="74">
                  <c:v>32412</c:v>
                </c:pt>
                <c:pt idx="75">
                  <c:v>22609</c:v>
                </c:pt>
                <c:pt idx="76">
                  <c:v>29812</c:v>
                </c:pt>
                <c:pt idx="77">
                  <c:v>30453</c:v>
                </c:pt>
                <c:pt idx="78">
                  <c:v>31434</c:v>
                </c:pt>
                <c:pt idx="79">
                  <c:v>41640</c:v>
                </c:pt>
                <c:pt idx="80">
                  <c:v>37088</c:v>
                </c:pt>
                <c:pt idx="81">
                  <c:v>36313</c:v>
                </c:pt>
                <c:pt idx="82">
                  <c:v>32247</c:v>
                </c:pt>
                <c:pt idx="83">
                  <c:v>24463</c:v>
                </c:pt>
                <c:pt idx="84">
                  <c:v>25528</c:v>
                </c:pt>
                <c:pt idx="85">
                  <c:v>30766</c:v>
                </c:pt>
                <c:pt idx="86">
                  <c:v>21030</c:v>
                </c:pt>
                <c:pt idx="87">
                  <c:v>20238</c:v>
                </c:pt>
                <c:pt idx="88">
                  <c:v>24409</c:v>
                </c:pt>
                <c:pt idx="89">
                  <c:v>32503</c:v>
                </c:pt>
                <c:pt idx="90">
                  <c:v>40917</c:v>
                </c:pt>
                <c:pt idx="91">
                  <c:v>40189</c:v>
                </c:pt>
                <c:pt idx="92">
                  <c:v>43003</c:v>
                </c:pt>
                <c:pt idx="93">
                  <c:v>47014</c:v>
                </c:pt>
                <c:pt idx="94">
                  <c:v>49818</c:v>
                </c:pt>
                <c:pt idx="95">
                  <c:v>49998</c:v>
                </c:pt>
                <c:pt idx="96">
                  <c:v>39738</c:v>
                </c:pt>
                <c:pt idx="97">
                  <c:v>44263</c:v>
                </c:pt>
                <c:pt idx="98">
                  <c:v>42588</c:v>
                </c:pt>
                <c:pt idx="99">
                  <c:v>46379</c:v>
                </c:pt>
                <c:pt idx="100">
                  <c:v>47961</c:v>
                </c:pt>
                <c:pt idx="101">
                  <c:v>48520</c:v>
                </c:pt>
                <c:pt idx="102">
                  <c:v>62247</c:v>
                </c:pt>
                <c:pt idx="103">
                  <c:v>60521</c:v>
                </c:pt>
                <c:pt idx="104">
                  <c:v>56084</c:v>
                </c:pt>
                <c:pt idx="105">
                  <c:v>49158</c:v>
                </c:pt>
                <c:pt idx="106">
                  <c:v>41648</c:v>
                </c:pt>
                <c:pt idx="107">
                  <c:v>45669</c:v>
                </c:pt>
                <c:pt idx="108">
                  <c:v>45743</c:v>
                </c:pt>
                <c:pt idx="109">
                  <c:v>48084</c:v>
                </c:pt>
                <c:pt idx="110">
                  <c:v>32181</c:v>
                </c:pt>
                <c:pt idx="111">
                  <c:v>34463</c:v>
                </c:pt>
                <c:pt idx="112">
                  <c:v>46338</c:v>
                </c:pt>
                <c:pt idx="113">
                  <c:v>49506</c:v>
                </c:pt>
                <c:pt idx="114">
                  <c:v>55296</c:v>
                </c:pt>
                <c:pt idx="115">
                  <c:v>65987</c:v>
                </c:pt>
                <c:pt idx="116">
                  <c:v>67292</c:v>
                </c:pt>
                <c:pt idx="117">
                  <c:v>63700</c:v>
                </c:pt>
                <c:pt idx="118">
                  <c:v>59685</c:v>
                </c:pt>
                <c:pt idx="119">
                  <c:v>54342</c:v>
                </c:pt>
                <c:pt idx="120">
                  <c:v>47250</c:v>
                </c:pt>
                <c:pt idx="121">
                  <c:v>50078</c:v>
                </c:pt>
                <c:pt idx="122">
                  <c:v>39431</c:v>
                </c:pt>
                <c:pt idx="123">
                  <c:v>45767</c:v>
                </c:pt>
                <c:pt idx="124">
                  <c:v>63289</c:v>
                </c:pt>
                <c:pt idx="125">
                  <c:v>66830</c:v>
                </c:pt>
                <c:pt idx="126">
                  <c:v>70156</c:v>
                </c:pt>
                <c:pt idx="127">
                  <c:v>73092</c:v>
                </c:pt>
                <c:pt idx="128">
                  <c:v>71669</c:v>
                </c:pt>
                <c:pt idx="129">
                  <c:v>69113</c:v>
                </c:pt>
                <c:pt idx="130">
                  <c:v>65422</c:v>
                </c:pt>
                <c:pt idx="131">
                  <c:v>62442</c:v>
                </c:pt>
                <c:pt idx="132">
                  <c:v>48675</c:v>
                </c:pt>
              </c:numCache>
            </c:numRef>
          </c:val>
        </c:ser>
        <c:ser>
          <c:idx val="1"/>
          <c:order val="1"/>
          <c:tx>
            <c:strRef>
              <c:f>Sheet1!$C$1</c:f>
              <c:strCache>
                <c:ptCount val="1"/>
                <c:pt idx="0">
                  <c:v>Pre-HARP</c:v>
                </c:pt>
              </c:strCache>
            </c:strRef>
          </c:tx>
          <c:spPr>
            <a:solidFill>
              <a:schemeClr val="accent1">
                <a:lumMod val="20000"/>
                <a:lumOff val="8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Sheet1!$C$2:$C$134</c:f>
              <c:numCache>
                <c:formatCode>General</c:formatCode>
                <c:ptCount val="133"/>
                <c:pt idx="0">
                  <c:v>226</c:v>
                </c:pt>
                <c:pt idx="1">
                  <c:v>237</c:v>
                </c:pt>
                <c:pt idx="2">
                  <c:v>165</c:v>
                </c:pt>
                <c:pt idx="3">
                  <c:v>248</c:v>
                </c:pt>
                <c:pt idx="4">
                  <c:v>357</c:v>
                </c:pt>
                <c:pt idx="5">
                  <c:v>256</c:v>
                </c:pt>
                <c:pt idx="6">
                  <c:v>314</c:v>
                </c:pt>
                <c:pt idx="7">
                  <c:v>373</c:v>
                </c:pt>
                <c:pt idx="8">
                  <c:v>618</c:v>
                </c:pt>
                <c:pt idx="9">
                  <c:v>996</c:v>
                </c:pt>
                <c:pt idx="10">
                  <c:v>2199</c:v>
                </c:pt>
                <c:pt idx="11">
                  <c:v>9660</c:v>
                </c:pt>
                <c:pt idx="12">
                  <c:v>14686</c:v>
                </c:pt>
                <c:pt idx="13">
                  <c:v>13545</c:v>
                </c:pt>
                <c:pt idx="14">
                  <c:v>12672</c:v>
                </c:pt>
                <c:pt idx="15">
                  <c:v>13588</c:v>
                </c:pt>
                <c:pt idx="16">
                  <c:v>13902</c:v>
                </c:pt>
                <c:pt idx="17">
                  <c:v>12297</c:v>
                </c:pt>
                <c:pt idx="18">
                  <c:v>11912</c:v>
                </c:pt>
                <c:pt idx="19">
                  <c:v>11212</c:v>
                </c:pt>
                <c:pt idx="20">
                  <c:v>10662</c:v>
                </c:pt>
                <c:pt idx="21">
                  <c:v>11537</c:v>
                </c:pt>
                <c:pt idx="22">
                  <c:v>12948</c:v>
                </c:pt>
                <c:pt idx="23">
                  <c:v>17880</c:v>
                </c:pt>
                <c:pt idx="24">
                  <c:v>17232</c:v>
                </c:pt>
                <c:pt idx="25">
                  <c:v>21209</c:v>
                </c:pt>
                <c:pt idx="26">
                  <c:v>20923</c:v>
                </c:pt>
                <c:pt idx="27">
                  <c:v>18017</c:v>
                </c:pt>
                <c:pt idx="28">
                  <c:v>22875</c:v>
                </c:pt>
                <c:pt idx="29">
                  <c:v>24801</c:v>
                </c:pt>
                <c:pt idx="30">
                  <c:v>21810</c:v>
                </c:pt>
                <c:pt idx="31">
                  <c:v>17435</c:v>
                </c:pt>
                <c:pt idx="32">
                  <c:v>15468</c:v>
                </c:pt>
                <c:pt idx="33">
                  <c:v>15255</c:v>
                </c:pt>
                <c:pt idx="34">
                  <c:v>18097</c:v>
                </c:pt>
                <c:pt idx="35">
                  <c:v>21973</c:v>
                </c:pt>
                <c:pt idx="36">
                  <c:v>20897</c:v>
                </c:pt>
                <c:pt idx="37">
                  <c:v>30555</c:v>
                </c:pt>
                <c:pt idx="38">
                  <c:v>34268</c:v>
                </c:pt>
                <c:pt idx="39">
                  <c:v>60058</c:v>
                </c:pt>
                <c:pt idx="40">
                  <c:v>41596</c:v>
                </c:pt>
                <c:pt idx="41">
                  <c:v>38213</c:v>
                </c:pt>
                <c:pt idx="42">
                  <c:v>23471</c:v>
                </c:pt>
                <c:pt idx="43">
                  <c:v>17448</c:v>
                </c:pt>
                <c:pt idx="44">
                  <c:v>11583</c:v>
                </c:pt>
                <c:pt idx="45">
                  <c:v>7202</c:v>
                </c:pt>
                <c:pt idx="46">
                  <c:v>10585</c:v>
                </c:pt>
                <c:pt idx="47">
                  <c:v>15821</c:v>
                </c:pt>
                <c:pt idx="48">
                  <c:v>7542</c:v>
                </c:pt>
                <c:pt idx="49">
                  <c:v>32323</c:v>
                </c:pt>
                <c:pt idx="50">
                  <c:v>81506</c:v>
                </c:pt>
                <c:pt idx="51">
                  <c:v>104826</c:v>
                </c:pt>
                <c:pt idx="52">
                  <c:v>108692</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numCache>
            </c:numRef>
          </c:val>
        </c:ser>
        <c:ser>
          <c:idx val="2"/>
          <c:order val="2"/>
          <c:tx>
            <c:strRef>
              <c:f>Sheet1!$D$1</c:f>
              <c:strCache>
                <c:ptCount val="1"/>
                <c:pt idx="0">
                  <c:v>Non-HARPed</c:v>
                </c:pt>
              </c:strCache>
            </c:strRef>
          </c:tx>
          <c:spPr>
            <a:solidFill>
              <a:schemeClr val="accent1">
                <a:lumMod val="60000"/>
                <a:lumOff val="4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Sheet1!$D$2:$D$134</c:f>
              <c:numCache>
                <c:formatCode>General</c:formatCode>
                <c:ptCount val="1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94312</c:v>
                </c:pt>
                <c:pt idx="54">
                  <c:v>90531</c:v>
                </c:pt>
                <c:pt idx="55">
                  <c:v>71783</c:v>
                </c:pt>
                <c:pt idx="56">
                  <c:v>45076</c:v>
                </c:pt>
                <c:pt idx="57">
                  <c:v>24616</c:v>
                </c:pt>
                <c:pt idx="58">
                  <c:v>20958</c:v>
                </c:pt>
                <c:pt idx="59">
                  <c:v>26484</c:v>
                </c:pt>
                <c:pt idx="60">
                  <c:v>27562</c:v>
                </c:pt>
                <c:pt idx="61">
                  <c:v>29806</c:v>
                </c:pt>
                <c:pt idx="62">
                  <c:v>25134</c:v>
                </c:pt>
                <c:pt idx="63">
                  <c:v>17800</c:v>
                </c:pt>
                <c:pt idx="64">
                  <c:v>16829</c:v>
                </c:pt>
                <c:pt idx="65">
                  <c:v>14699</c:v>
                </c:pt>
                <c:pt idx="66">
                  <c:v>11907</c:v>
                </c:pt>
                <c:pt idx="67">
                  <c:v>16456</c:v>
                </c:pt>
                <c:pt idx="68">
                  <c:v>22322</c:v>
                </c:pt>
                <c:pt idx="69">
                  <c:v>30002</c:v>
                </c:pt>
                <c:pt idx="70">
                  <c:v>30869</c:v>
                </c:pt>
                <c:pt idx="71">
                  <c:v>34888</c:v>
                </c:pt>
                <c:pt idx="72">
                  <c:v>33215</c:v>
                </c:pt>
                <c:pt idx="73">
                  <c:v>30768</c:v>
                </c:pt>
                <c:pt idx="74">
                  <c:v>20081</c:v>
                </c:pt>
                <c:pt idx="75">
                  <c:v>10793</c:v>
                </c:pt>
                <c:pt idx="76">
                  <c:v>9553</c:v>
                </c:pt>
                <c:pt idx="77">
                  <c:v>7592</c:v>
                </c:pt>
                <c:pt idx="78">
                  <c:v>6380</c:v>
                </c:pt>
                <c:pt idx="79">
                  <c:v>8952</c:v>
                </c:pt>
                <c:pt idx="80">
                  <c:v>9875</c:v>
                </c:pt>
                <c:pt idx="81">
                  <c:v>11433</c:v>
                </c:pt>
                <c:pt idx="82">
                  <c:v>22206</c:v>
                </c:pt>
                <c:pt idx="83">
                  <c:v>21822</c:v>
                </c:pt>
                <c:pt idx="84">
                  <c:v>22762</c:v>
                </c:pt>
                <c:pt idx="85">
                  <c:v>25465</c:v>
                </c:pt>
                <c:pt idx="86">
                  <c:v>22392</c:v>
                </c:pt>
                <c:pt idx="87">
                  <c:v>22169</c:v>
                </c:pt>
                <c:pt idx="88">
                  <c:v>21904</c:v>
                </c:pt>
                <c:pt idx="89">
                  <c:v>18591</c:v>
                </c:pt>
                <c:pt idx="90">
                  <c:v>20169</c:v>
                </c:pt>
                <c:pt idx="91">
                  <c:v>20467</c:v>
                </c:pt>
                <c:pt idx="92">
                  <c:v>25359</c:v>
                </c:pt>
                <c:pt idx="93">
                  <c:v>33904</c:v>
                </c:pt>
                <c:pt idx="94">
                  <c:v>40037</c:v>
                </c:pt>
                <c:pt idx="95">
                  <c:v>40485</c:v>
                </c:pt>
                <c:pt idx="96">
                  <c:v>36497</c:v>
                </c:pt>
                <c:pt idx="97">
                  <c:v>41281</c:v>
                </c:pt>
                <c:pt idx="98">
                  <c:v>45862</c:v>
                </c:pt>
                <c:pt idx="99">
                  <c:v>40421</c:v>
                </c:pt>
                <c:pt idx="100">
                  <c:v>30711</c:v>
                </c:pt>
                <c:pt idx="101">
                  <c:v>26806</c:v>
                </c:pt>
                <c:pt idx="102">
                  <c:v>32722</c:v>
                </c:pt>
                <c:pt idx="103">
                  <c:v>27485</c:v>
                </c:pt>
                <c:pt idx="104">
                  <c:v>19112</c:v>
                </c:pt>
                <c:pt idx="105">
                  <c:v>11604</c:v>
                </c:pt>
                <c:pt idx="106">
                  <c:v>7900</c:v>
                </c:pt>
                <c:pt idx="107">
                  <c:v>8033</c:v>
                </c:pt>
                <c:pt idx="108">
                  <c:v>9674</c:v>
                </c:pt>
                <c:pt idx="109">
                  <c:v>9770</c:v>
                </c:pt>
                <c:pt idx="110">
                  <c:v>6585.9</c:v>
                </c:pt>
                <c:pt idx="111">
                  <c:v>6591.8</c:v>
                </c:pt>
                <c:pt idx="112">
                  <c:v>8160.55</c:v>
                </c:pt>
                <c:pt idx="113">
                  <c:v>7871.9000000000005</c:v>
                </c:pt>
                <c:pt idx="114">
                  <c:v>7418.35</c:v>
                </c:pt>
                <c:pt idx="115">
                  <c:v>9569.75</c:v>
                </c:pt>
                <c:pt idx="116">
                  <c:v>10031.049999999999</c:v>
                </c:pt>
                <c:pt idx="117">
                  <c:v>10208.75</c:v>
                </c:pt>
                <c:pt idx="118">
                  <c:v>10948.7</c:v>
                </c:pt>
                <c:pt idx="119">
                  <c:v>11460.7</c:v>
                </c:pt>
                <c:pt idx="120">
                  <c:v>14130.25</c:v>
                </c:pt>
                <c:pt idx="121">
                  <c:v>13418.6</c:v>
                </c:pt>
                <c:pt idx="122">
                  <c:v>16116.9</c:v>
                </c:pt>
                <c:pt idx="123">
                  <c:v>23823.3</c:v>
                </c:pt>
                <c:pt idx="124">
                  <c:v>27135.3</c:v>
                </c:pt>
                <c:pt idx="125">
                  <c:v>20450.300000000003</c:v>
                </c:pt>
                <c:pt idx="126">
                  <c:v>17553.25</c:v>
                </c:pt>
                <c:pt idx="127">
                  <c:v>14187.1</c:v>
                </c:pt>
                <c:pt idx="128">
                  <c:v>11192.15</c:v>
                </c:pt>
                <c:pt idx="129">
                  <c:v>10829.05</c:v>
                </c:pt>
                <c:pt idx="130">
                  <c:v>11648.300000000001</c:v>
                </c:pt>
                <c:pt idx="131">
                  <c:v>12564.85</c:v>
                </c:pt>
                <c:pt idx="132">
                  <c:v>11229.55</c:v>
                </c:pt>
              </c:numCache>
            </c:numRef>
          </c:val>
        </c:ser>
        <c:ser>
          <c:idx val="3"/>
          <c:order val="3"/>
          <c:tx>
            <c:strRef>
              <c:f>Sheet1!$E$1</c:f>
              <c:strCache>
                <c:ptCount val="1"/>
                <c:pt idx="0">
                  <c:v>HARPed</c:v>
                </c:pt>
              </c:strCache>
            </c:strRef>
          </c:tx>
          <c:spPr>
            <a:solidFill>
              <a:schemeClr val="bg2">
                <a:lumMod val="75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Sheet1!$E$2:$E$134</c:f>
              <c:numCache>
                <c:formatCode>General</c:formatCode>
                <c:ptCount val="1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10383</c:v>
                </c:pt>
                <c:pt idx="54">
                  <c:v>16311</c:v>
                </c:pt>
                <c:pt idx="55">
                  <c:v>25480</c:v>
                </c:pt>
                <c:pt idx="56">
                  <c:v>22620</c:v>
                </c:pt>
                <c:pt idx="57">
                  <c:v>16406</c:v>
                </c:pt>
                <c:pt idx="58">
                  <c:v>13051</c:v>
                </c:pt>
                <c:pt idx="59">
                  <c:v>18179</c:v>
                </c:pt>
                <c:pt idx="60">
                  <c:v>23590</c:v>
                </c:pt>
                <c:pt idx="61">
                  <c:v>26564</c:v>
                </c:pt>
                <c:pt idx="62">
                  <c:v>24648</c:v>
                </c:pt>
                <c:pt idx="63">
                  <c:v>17440</c:v>
                </c:pt>
                <c:pt idx="64">
                  <c:v>21045</c:v>
                </c:pt>
                <c:pt idx="65">
                  <c:v>19445</c:v>
                </c:pt>
                <c:pt idx="66">
                  <c:v>15205</c:v>
                </c:pt>
                <c:pt idx="67">
                  <c:v>21345</c:v>
                </c:pt>
                <c:pt idx="68">
                  <c:v>28168</c:v>
                </c:pt>
                <c:pt idx="69">
                  <c:v>33340</c:v>
                </c:pt>
                <c:pt idx="70">
                  <c:v>38106</c:v>
                </c:pt>
                <c:pt idx="71">
                  <c:v>43237</c:v>
                </c:pt>
                <c:pt idx="72">
                  <c:v>44477</c:v>
                </c:pt>
                <c:pt idx="73">
                  <c:v>37323</c:v>
                </c:pt>
                <c:pt idx="74">
                  <c:v>32289</c:v>
                </c:pt>
                <c:pt idx="75">
                  <c:v>21224</c:v>
                </c:pt>
                <c:pt idx="76">
                  <c:v>14491</c:v>
                </c:pt>
                <c:pt idx="77">
                  <c:v>13261</c:v>
                </c:pt>
                <c:pt idx="78">
                  <c:v>11117</c:v>
                </c:pt>
                <c:pt idx="79">
                  <c:v>12492</c:v>
                </c:pt>
                <c:pt idx="80">
                  <c:v>14123</c:v>
                </c:pt>
                <c:pt idx="81">
                  <c:v>14085</c:v>
                </c:pt>
                <c:pt idx="82">
                  <c:v>17552</c:v>
                </c:pt>
                <c:pt idx="83">
                  <c:v>20154</c:v>
                </c:pt>
                <c:pt idx="84">
                  <c:v>21858</c:v>
                </c:pt>
                <c:pt idx="85">
                  <c:v>18923</c:v>
                </c:pt>
                <c:pt idx="86">
                  <c:v>20650</c:v>
                </c:pt>
                <c:pt idx="87">
                  <c:v>23750</c:v>
                </c:pt>
                <c:pt idx="88">
                  <c:v>22147</c:v>
                </c:pt>
                <c:pt idx="89">
                  <c:v>20132</c:v>
                </c:pt>
                <c:pt idx="90">
                  <c:v>20818</c:v>
                </c:pt>
                <c:pt idx="91">
                  <c:v>21157</c:v>
                </c:pt>
                <c:pt idx="92">
                  <c:v>23362</c:v>
                </c:pt>
                <c:pt idx="93">
                  <c:v>24936</c:v>
                </c:pt>
                <c:pt idx="94">
                  <c:v>26328</c:v>
                </c:pt>
                <c:pt idx="95">
                  <c:v>29752</c:v>
                </c:pt>
                <c:pt idx="96">
                  <c:v>26821</c:v>
                </c:pt>
                <c:pt idx="97">
                  <c:v>27440</c:v>
                </c:pt>
                <c:pt idx="98">
                  <c:v>29625</c:v>
                </c:pt>
                <c:pt idx="99">
                  <c:v>29886</c:v>
                </c:pt>
                <c:pt idx="100">
                  <c:v>30221</c:v>
                </c:pt>
                <c:pt idx="101">
                  <c:v>28245</c:v>
                </c:pt>
                <c:pt idx="102">
                  <c:v>26789</c:v>
                </c:pt>
                <c:pt idx="103">
                  <c:v>23013</c:v>
                </c:pt>
                <c:pt idx="104">
                  <c:v>20542</c:v>
                </c:pt>
                <c:pt idx="105">
                  <c:v>15993</c:v>
                </c:pt>
                <c:pt idx="106">
                  <c:v>12082</c:v>
                </c:pt>
                <c:pt idx="107">
                  <c:v>10922</c:v>
                </c:pt>
                <c:pt idx="108">
                  <c:v>9752</c:v>
                </c:pt>
                <c:pt idx="109">
                  <c:v>9671</c:v>
                </c:pt>
                <c:pt idx="110">
                  <c:v>8097.1</c:v>
                </c:pt>
                <c:pt idx="111">
                  <c:v>6196.2</c:v>
                </c:pt>
                <c:pt idx="112">
                  <c:v>6825.45</c:v>
                </c:pt>
                <c:pt idx="113">
                  <c:v>6610.1</c:v>
                </c:pt>
                <c:pt idx="114">
                  <c:v>5905.65</c:v>
                </c:pt>
                <c:pt idx="115">
                  <c:v>6307.25</c:v>
                </c:pt>
                <c:pt idx="116">
                  <c:v>6461.95</c:v>
                </c:pt>
                <c:pt idx="117">
                  <c:v>6522.25</c:v>
                </c:pt>
                <c:pt idx="118">
                  <c:v>6776.2999999999993</c:v>
                </c:pt>
                <c:pt idx="119">
                  <c:v>6707.2999999999993</c:v>
                </c:pt>
                <c:pt idx="120">
                  <c:v>7345.75</c:v>
                </c:pt>
                <c:pt idx="121">
                  <c:v>7519.4</c:v>
                </c:pt>
                <c:pt idx="122">
                  <c:v>8014.0999999999995</c:v>
                </c:pt>
                <c:pt idx="123">
                  <c:v>11192.699999999999</c:v>
                </c:pt>
                <c:pt idx="124">
                  <c:v>12482.699999999999</c:v>
                </c:pt>
                <c:pt idx="125">
                  <c:v>10089.700000000001</c:v>
                </c:pt>
                <c:pt idx="126">
                  <c:v>8687.75</c:v>
                </c:pt>
                <c:pt idx="127">
                  <c:v>7217.9</c:v>
                </c:pt>
                <c:pt idx="128">
                  <c:v>5989.8499999999995</c:v>
                </c:pt>
                <c:pt idx="129">
                  <c:v>5717.95</c:v>
                </c:pt>
                <c:pt idx="130">
                  <c:v>6002.7</c:v>
                </c:pt>
                <c:pt idx="131">
                  <c:v>6142.15</c:v>
                </c:pt>
                <c:pt idx="132">
                  <c:v>5270.45</c:v>
                </c:pt>
              </c:numCache>
            </c:numRef>
          </c:val>
        </c:ser>
        <c:dLbls>
          <c:showLegendKey val="0"/>
          <c:showVal val="0"/>
          <c:showCatName val="0"/>
          <c:showSerName val="0"/>
          <c:showPercent val="0"/>
          <c:showBubbleSize val="0"/>
        </c:dLbls>
        <c:axId val="36902016"/>
        <c:axId val="36904320"/>
      </c:areaChart>
      <c:dateAx>
        <c:axId val="36902016"/>
        <c:scaling>
          <c:orientation val="minMax"/>
        </c:scaling>
        <c:delete val="0"/>
        <c:axPos val="b"/>
        <c:numFmt formatCode="m/d/yyyy" sourceLinked="1"/>
        <c:majorTickMark val="out"/>
        <c:minorTickMark val="none"/>
        <c:tickLblPos val="nextTo"/>
        <c:crossAx val="36904320"/>
        <c:crosses val="autoZero"/>
        <c:auto val="1"/>
        <c:lblOffset val="100"/>
        <c:baseTimeUnit val="months"/>
        <c:majorUnit val="12"/>
        <c:majorTimeUnit val="months"/>
      </c:dateAx>
      <c:valAx>
        <c:axId val="36904320"/>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36902016"/>
        <c:crosses val="autoZero"/>
        <c:crossBetween val="midCat"/>
      </c:valAx>
    </c:plotArea>
    <c:plotVisOnly val="1"/>
    <c:dispBlanksAs val="zero"/>
    <c:showDLblsOverMax val="0"/>
  </c:chart>
  <c:txPr>
    <a:bodyPr/>
    <a:lstStyle/>
    <a:p>
      <a:pPr>
        <a:defRPr sz="10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areaChart>
        <c:grouping val="percentStacked"/>
        <c:varyColors val="0"/>
        <c:ser>
          <c:idx val="0"/>
          <c:order val="0"/>
          <c:tx>
            <c:strRef>
              <c:f>Sheet1!$B$1</c:f>
              <c:strCache>
                <c:ptCount val="1"/>
                <c:pt idx="0">
                  <c:v>Non-Eligible</c:v>
                </c:pt>
              </c:strCache>
            </c:strRef>
          </c:tx>
          <c:spPr>
            <a:solidFill>
              <a:srgbClr val="2E398A"/>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Sheet1!$B$2:$B$134</c:f>
              <c:numCache>
                <c:formatCode>General</c:formatCode>
                <c:ptCount val="133"/>
                <c:pt idx="0">
                  <c:v>1751</c:v>
                </c:pt>
                <c:pt idx="1">
                  <c:v>1713</c:v>
                </c:pt>
                <c:pt idx="2">
                  <c:v>1379</c:v>
                </c:pt>
                <c:pt idx="3">
                  <c:v>1407</c:v>
                </c:pt>
                <c:pt idx="4">
                  <c:v>1954</c:v>
                </c:pt>
                <c:pt idx="5">
                  <c:v>2080</c:v>
                </c:pt>
                <c:pt idx="6">
                  <c:v>2676</c:v>
                </c:pt>
                <c:pt idx="7">
                  <c:v>3213</c:v>
                </c:pt>
                <c:pt idx="8">
                  <c:v>4049</c:v>
                </c:pt>
                <c:pt idx="9">
                  <c:v>7482</c:v>
                </c:pt>
                <c:pt idx="10">
                  <c:v>15992</c:v>
                </c:pt>
                <c:pt idx="11">
                  <c:v>58394</c:v>
                </c:pt>
                <c:pt idx="12">
                  <c:v>96347</c:v>
                </c:pt>
                <c:pt idx="13">
                  <c:v>93070</c:v>
                </c:pt>
                <c:pt idx="14">
                  <c:v>77021</c:v>
                </c:pt>
                <c:pt idx="15">
                  <c:v>86488</c:v>
                </c:pt>
                <c:pt idx="16">
                  <c:v>99743</c:v>
                </c:pt>
                <c:pt idx="17">
                  <c:v>94688</c:v>
                </c:pt>
                <c:pt idx="18">
                  <c:v>102712</c:v>
                </c:pt>
                <c:pt idx="19">
                  <c:v>111391</c:v>
                </c:pt>
                <c:pt idx="20">
                  <c:v>101466</c:v>
                </c:pt>
                <c:pt idx="21">
                  <c:v>102383</c:v>
                </c:pt>
                <c:pt idx="22">
                  <c:v>96093</c:v>
                </c:pt>
                <c:pt idx="23">
                  <c:v>107333</c:v>
                </c:pt>
                <c:pt idx="24">
                  <c:v>98456</c:v>
                </c:pt>
                <c:pt idx="25">
                  <c:v>99305</c:v>
                </c:pt>
                <c:pt idx="26">
                  <c:v>86895</c:v>
                </c:pt>
                <c:pt idx="27">
                  <c:v>93294</c:v>
                </c:pt>
                <c:pt idx="28">
                  <c:v>118081</c:v>
                </c:pt>
                <c:pt idx="29">
                  <c:v>122699</c:v>
                </c:pt>
                <c:pt idx="30">
                  <c:v>125490</c:v>
                </c:pt>
                <c:pt idx="31">
                  <c:v>118350</c:v>
                </c:pt>
                <c:pt idx="32">
                  <c:v>113663</c:v>
                </c:pt>
                <c:pt idx="33">
                  <c:v>110255</c:v>
                </c:pt>
                <c:pt idx="34">
                  <c:v>99634</c:v>
                </c:pt>
                <c:pt idx="35">
                  <c:v>101090</c:v>
                </c:pt>
                <c:pt idx="36">
                  <c:v>88196</c:v>
                </c:pt>
                <c:pt idx="37">
                  <c:v>95942</c:v>
                </c:pt>
                <c:pt idx="38">
                  <c:v>78250</c:v>
                </c:pt>
                <c:pt idx="39">
                  <c:v>99187</c:v>
                </c:pt>
                <c:pt idx="40">
                  <c:v>102401</c:v>
                </c:pt>
                <c:pt idx="41">
                  <c:v>98366</c:v>
                </c:pt>
                <c:pt idx="42">
                  <c:v>81925</c:v>
                </c:pt>
                <c:pt idx="43">
                  <c:v>80739</c:v>
                </c:pt>
                <c:pt idx="44">
                  <c:v>67217</c:v>
                </c:pt>
                <c:pt idx="45">
                  <c:v>45118</c:v>
                </c:pt>
                <c:pt idx="46">
                  <c:v>50695</c:v>
                </c:pt>
                <c:pt idx="47">
                  <c:v>52104</c:v>
                </c:pt>
                <c:pt idx="48">
                  <c:v>32449</c:v>
                </c:pt>
                <c:pt idx="49">
                  <c:v>52470</c:v>
                </c:pt>
                <c:pt idx="50">
                  <c:v>58125</c:v>
                </c:pt>
                <c:pt idx="51">
                  <c:v>72314</c:v>
                </c:pt>
                <c:pt idx="52">
                  <c:v>87478</c:v>
                </c:pt>
                <c:pt idx="53">
                  <c:v>80977</c:v>
                </c:pt>
                <c:pt idx="54">
                  <c:v>82570</c:v>
                </c:pt>
                <c:pt idx="55">
                  <c:v>89410</c:v>
                </c:pt>
                <c:pt idx="56">
                  <c:v>83867</c:v>
                </c:pt>
                <c:pt idx="57">
                  <c:v>62931</c:v>
                </c:pt>
                <c:pt idx="58">
                  <c:v>58846</c:v>
                </c:pt>
                <c:pt idx="59">
                  <c:v>62802</c:v>
                </c:pt>
                <c:pt idx="60">
                  <c:v>60390</c:v>
                </c:pt>
                <c:pt idx="61">
                  <c:v>54738</c:v>
                </c:pt>
                <c:pt idx="62">
                  <c:v>43730</c:v>
                </c:pt>
                <c:pt idx="63">
                  <c:v>42612</c:v>
                </c:pt>
                <c:pt idx="64">
                  <c:v>46376</c:v>
                </c:pt>
                <c:pt idx="65">
                  <c:v>49599</c:v>
                </c:pt>
                <c:pt idx="66">
                  <c:v>51493</c:v>
                </c:pt>
                <c:pt idx="67">
                  <c:v>55048</c:v>
                </c:pt>
                <c:pt idx="68">
                  <c:v>40328</c:v>
                </c:pt>
                <c:pt idx="69">
                  <c:v>41549</c:v>
                </c:pt>
                <c:pt idx="70">
                  <c:v>37451</c:v>
                </c:pt>
                <c:pt idx="71">
                  <c:v>38965</c:v>
                </c:pt>
                <c:pt idx="72">
                  <c:v>36931</c:v>
                </c:pt>
                <c:pt idx="73">
                  <c:v>41383</c:v>
                </c:pt>
                <c:pt idx="74">
                  <c:v>32412</c:v>
                </c:pt>
                <c:pt idx="75">
                  <c:v>22609</c:v>
                </c:pt>
                <c:pt idx="76">
                  <c:v>29812</c:v>
                </c:pt>
                <c:pt idx="77">
                  <c:v>30453</c:v>
                </c:pt>
                <c:pt idx="78">
                  <c:v>31434</c:v>
                </c:pt>
                <c:pt idx="79">
                  <c:v>41640</c:v>
                </c:pt>
                <c:pt idx="80">
                  <c:v>37088</c:v>
                </c:pt>
                <c:pt idx="81">
                  <c:v>36313</c:v>
                </c:pt>
                <c:pt idx="82">
                  <c:v>32247</c:v>
                </c:pt>
                <c:pt idx="83">
                  <c:v>24463</c:v>
                </c:pt>
                <c:pt idx="84">
                  <c:v>25528</c:v>
                </c:pt>
                <c:pt idx="85">
                  <c:v>30766</c:v>
                </c:pt>
                <c:pt idx="86">
                  <c:v>21030</c:v>
                </c:pt>
                <c:pt idx="87">
                  <c:v>20238</c:v>
                </c:pt>
                <c:pt idx="88">
                  <c:v>24409</c:v>
                </c:pt>
                <c:pt idx="89">
                  <c:v>32503</c:v>
                </c:pt>
                <c:pt idx="90">
                  <c:v>40917</c:v>
                </c:pt>
                <c:pt idx="91">
                  <c:v>40189</c:v>
                </c:pt>
                <c:pt idx="92">
                  <c:v>43003</c:v>
                </c:pt>
                <c:pt idx="93">
                  <c:v>47014</c:v>
                </c:pt>
                <c:pt idx="94">
                  <c:v>49818</c:v>
                </c:pt>
                <c:pt idx="95">
                  <c:v>49998</c:v>
                </c:pt>
                <c:pt idx="96">
                  <c:v>39738</c:v>
                </c:pt>
                <c:pt idx="97">
                  <c:v>44263</c:v>
                </c:pt>
                <c:pt idx="98">
                  <c:v>42588</c:v>
                </c:pt>
                <c:pt idx="99">
                  <c:v>46379</c:v>
                </c:pt>
                <c:pt idx="100">
                  <c:v>47961</c:v>
                </c:pt>
                <c:pt idx="101">
                  <c:v>48520</c:v>
                </c:pt>
                <c:pt idx="102">
                  <c:v>62247</c:v>
                </c:pt>
                <c:pt idx="103">
                  <c:v>60521</c:v>
                </c:pt>
                <c:pt idx="104">
                  <c:v>56084</c:v>
                </c:pt>
                <c:pt idx="105">
                  <c:v>49158</c:v>
                </c:pt>
                <c:pt idx="106">
                  <c:v>41648</c:v>
                </c:pt>
                <c:pt idx="107">
                  <c:v>45669</c:v>
                </c:pt>
                <c:pt idx="108">
                  <c:v>45743</c:v>
                </c:pt>
                <c:pt idx="109">
                  <c:v>48084</c:v>
                </c:pt>
                <c:pt idx="110">
                  <c:v>32181</c:v>
                </c:pt>
                <c:pt idx="111">
                  <c:v>34463</c:v>
                </c:pt>
                <c:pt idx="112">
                  <c:v>46338</c:v>
                </c:pt>
                <c:pt idx="113">
                  <c:v>49506</c:v>
                </c:pt>
                <c:pt idx="114">
                  <c:v>55296</c:v>
                </c:pt>
                <c:pt idx="115">
                  <c:v>65987</c:v>
                </c:pt>
                <c:pt idx="116">
                  <c:v>67292</c:v>
                </c:pt>
                <c:pt idx="117">
                  <c:v>63700</c:v>
                </c:pt>
                <c:pt idx="118">
                  <c:v>59685</c:v>
                </c:pt>
                <c:pt idx="119">
                  <c:v>54342</c:v>
                </c:pt>
                <c:pt idx="120">
                  <c:v>47250</c:v>
                </c:pt>
                <c:pt idx="121">
                  <c:v>50078</c:v>
                </c:pt>
                <c:pt idx="122">
                  <c:v>39431</c:v>
                </c:pt>
                <c:pt idx="123">
                  <c:v>45767</c:v>
                </c:pt>
                <c:pt idx="124">
                  <c:v>63289</c:v>
                </c:pt>
                <c:pt idx="125">
                  <c:v>66830</c:v>
                </c:pt>
                <c:pt idx="126">
                  <c:v>70156</c:v>
                </c:pt>
                <c:pt idx="127">
                  <c:v>73092</c:v>
                </c:pt>
                <c:pt idx="128">
                  <c:v>71669</c:v>
                </c:pt>
                <c:pt idx="129">
                  <c:v>69113</c:v>
                </c:pt>
                <c:pt idx="130">
                  <c:v>65422</c:v>
                </c:pt>
                <c:pt idx="131">
                  <c:v>62442</c:v>
                </c:pt>
                <c:pt idx="132">
                  <c:v>48675</c:v>
                </c:pt>
              </c:numCache>
            </c:numRef>
          </c:val>
        </c:ser>
        <c:ser>
          <c:idx val="1"/>
          <c:order val="1"/>
          <c:tx>
            <c:strRef>
              <c:f>Sheet1!$C$1</c:f>
              <c:strCache>
                <c:ptCount val="1"/>
                <c:pt idx="0">
                  <c:v>Pre-HARP</c:v>
                </c:pt>
              </c:strCache>
            </c:strRef>
          </c:tx>
          <c:spPr>
            <a:solidFill>
              <a:schemeClr val="accent1">
                <a:lumMod val="20000"/>
                <a:lumOff val="8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Sheet1!$C$2:$C$134</c:f>
              <c:numCache>
                <c:formatCode>General</c:formatCode>
                <c:ptCount val="133"/>
                <c:pt idx="0">
                  <c:v>226</c:v>
                </c:pt>
                <c:pt idx="1">
                  <c:v>237</c:v>
                </c:pt>
                <c:pt idx="2">
                  <c:v>165</c:v>
                </c:pt>
                <c:pt idx="3">
                  <c:v>248</c:v>
                </c:pt>
                <c:pt idx="4">
                  <c:v>357</c:v>
                </c:pt>
                <c:pt idx="5">
                  <c:v>256</c:v>
                </c:pt>
                <c:pt idx="6">
                  <c:v>314</c:v>
                </c:pt>
                <c:pt idx="7">
                  <c:v>373</c:v>
                </c:pt>
                <c:pt idx="8">
                  <c:v>618</c:v>
                </c:pt>
                <c:pt idx="9">
                  <c:v>996</c:v>
                </c:pt>
                <c:pt idx="10">
                  <c:v>2199</c:v>
                </c:pt>
                <c:pt idx="11">
                  <c:v>9660</c:v>
                </c:pt>
                <c:pt idx="12">
                  <c:v>14686</c:v>
                </c:pt>
                <c:pt idx="13">
                  <c:v>13545</c:v>
                </c:pt>
                <c:pt idx="14">
                  <c:v>12672</c:v>
                </c:pt>
                <c:pt idx="15">
                  <c:v>13588</c:v>
                </c:pt>
                <c:pt idx="16">
                  <c:v>13902</c:v>
                </c:pt>
                <c:pt idx="17">
                  <c:v>12297</c:v>
                </c:pt>
                <c:pt idx="18">
                  <c:v>11912</c:v>
                </c:pt>
                <c:pt idx="19">
                  <c:v>11212</c:v>
                </c:pt>
                <c:pt idx="20">
                  <c:v>10662</c:v>
                </c:pt>
                <c:pt idx="21">
                  <c:v>11537</c:v>
                </c:pt>
                <c:pt idx="22">
                  <c:v>12948</c:v>
                </c:pt>
                <c:pt idx="23">
                  <c:v>17880</c:v>
                </c:pt>
                <c:pt idx="24">
                  <c:v>17232</c:v>
                </c:pt>
                <c:pt idx="25">
                  <c:v>21209</c:v>
                </c:pt>
                <c:pt idx="26">
                  <c:v>20923</c:v>
                </c:pt>
                <c:pt idx="27">
                  <c:v>18017</c:v>
                </c:pt>
                <c:pt idx="28">
                  <c:v>22875</c:v>
                </c:pt>
                <c:pt idx="29">
                  <c:v>24801</c:v>
                </c:pt>
                <c:pt idx="30">
                  <c:v>21810</c:v>
                </c:pt>
                <c:pt idx="31">
                  <c:v>17435</c:v>
                </c:pt>
                <c:pt idx="32">
                  <c:v>15468</c:v>
                </c:pt>
                <c:pt idx="33">
                  <c:v>15255</c:v>
                </c:pt>
                <c:pt idx="34">
                  <c:v>18097</c:v>
                </c:pt>
                <c:pt idx="35">
                  <c:v>21973</c:v>
                </c:pt>
                <c:pt idx="36">
                  <c:v>20897</c:v>
                </c:pt>
                <c:pt idx="37">
                  <c:v>30555</c:v>
                </c:pt>
                <c:pt idx="38">
                  <c:v>34268</c:v>
                </c:pt>
                <c:pt idx="39">
                  <c:v>60058</c:v>
                </c:pt>
                <c:pt idx="40">
                  <c:v>41596</c:v>
                </c:pt>
                <c:pt idx="41">
                  <c:v>38213</c:v>
                </c:pt>
                <c:pt idx="42">
                  <c:v>23471</c:v>
                </c:pt>
                <c:pt idx="43">
                  <c:v>17448</c:v>
                </c:pt>
                <c:pt idx="44">
                  <c:v>11583</c:v>
                </c:pt>
                <c:pt idx="45">
                  <c:v>7202</c:v>
                </c:pt>
                <c:pt idx="46">
                  <c:v>10585</c:v>
                </c:pt>
                <c:pt idx="47">
                  <c:v>15821</c:v>
                </c:pt>
                <c:pt idx="48">
                  <c:v>7542</c:v>
                </c:pt>
                <c:pt idx="49">
                  <c:v>32323</c:v>
                </c:pt>
                <c:pt idx="50">
                  <c:v>81506</c:v>
                </c:pt>
                <c:pt idx="51">
                  <c:v>104826</c:v>
                </c:pt>
                <c:pt idx="52">
                  <c:v>108692</c:v>
                </c:pt>
              </c:numCache>
            </c:numRef>
          </c:val>
        </c:ser>
        <c:ser>
          <c:idx val="2"/>
          <c:order val="2"/>
          <c:tx>
            <c:strRef>
              <c:f>Sheet1!$D$1</c:f>
              <c:strCache>
                <c:ptCount val="1"/>
                <c:pt idx="0">
                  <c:v>Non-HARPed</c:v>
                </c:pt>
              </c:strCache>
            </c:strRef>
          </c:tx>
          <c:spPr>
            <a:solidFill>
              <a:schemeClr val="accent1">
                <a:lumMod val="60000"/>
                <a:lumOff val="4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Sheet1!$D$2:$D$134</c:f>
              <c:numCache>
                <c:formatCode>General</c:formatCode>
                <c:ptCount val="133"/>
                <c:pt idx="53">
                  <c:v>94312</c:v>
                </c:pt>
                <c:pt idx="54">
                  <c:v>90531</c:v>
                </c:pt>
                <c:pt idx="55">
                  <c:v>71783</c:v>
                </c:pt>
                <c:pt idx="56">
                  <c:v>45076</c:v>
                </c:pt>
                <c:pt idx="57">
                  <c:v>24616</c:v>
                </c:pt>
                <c:pt idx="58">
                  <c:v>20958</c:v>
                </c:pt>
                <c:pt idx="59">
                  <c:v>26484</c:v>
                </c:pt>
                <c:pt idx="60">
                  <c:v>27562</c:v>
                </c:pt>
                <c:pt idx="61">
                  <c:v>29806</c:v>
                </c:pt>
                <c:pt idx="62">
                  <c:v>25134</c:v>
                </c:pt>
                <c:pt idx="63">
                  <c:v>17800</c:v>
                </c:pt>
                <c:pt idx="64">
                  <c:v>16829</c:v>
                </c:pt>
                <c:pt idx="65">
                  <c:v>14699</c:v>
                </c:pt>
                <c:pt idx="66">
                  <c:v>11907</c:v>
                </c:pt>
                <c:pt idx="67">
                  <c:v>16456</c:v>
                </c:pt>
                <c:pt idx="68">
                  <c:v>22322</c:v>
                </c:pt>
                <c:pt idx="69">
                  <c:v>30002</c:v>
                </c:pt>
                <c:pt idx="70">
                  <c:v>30869</c:v>
                </c:pt>
                <c:pt idx="71">
                  <c:v>34888</c:v>
                </c:pt>
                <c:pt idx="72">
                  <c:v>33215</c:v>
                </c:pt>
                <c:pt idx="73">
                  <c:v>30768</c:v>
                </c:pt>
                <c:pt idx="74">
                  <c:v>20081</c:v>
                </c:pt>
                <c:pt idx="75">
                  <c:v>10793</c:v>
                </c:pt>
                <c:pt idx="76">
                  <c:v>9553</c:v>
                </c:pt>
                <c:pt idx="77">
                  <c:v>7592</c:v>
                </c:pt>
                <c:pt idx="78">
                  <c:v>6380</c:v>
                </c:pt>
                <c:pt idx="79">
                  <c:v>8952</c:v>
                </c:pt>
                <c:pt idx="80">
                  <c:v>9875</c:v>
                </c:pt>
                <c:pt idx="81">
                  <c:v>11433</c:v>
                </c:pt>
                <c:pt idx="82">
                  <c:v>22206</c:v>
                </c:pt>
                <c:pt idx="83">
                  <c:v>21822</c:v>
                </c:pt>
                <c:pt idx="84">
                  <c:v>22762</c:v>
                </c:pt>
                <c:pt idx="85">
                  <c:v>25465</c:v>
                </c:pt>
                <c:pt idx="86">
                  <c:v>22392</c:v>
                </c:pt>
                <c:pt idx="87">
                  <c:v>22169</c:v>
                </c:pt>
                <c:pt idx="88">
                  <c:v>21904</c:v>
                </c:pt>
                <c:pt idx="89">
                  <c:v>18591</c:v>
                </c:pt>
                <c:pt idx="90">
                  <c:v>20169</c:v>
                </c:pt>
                <c:pt idx="91">
                  <c:v>20467</c:v>
                </c:pt>
                <c:pt idx="92">
                  <c:v>25359</c:v>
                </c:pt>
                <c:pt idx="93">
                  <c:v>33904</c:v>
                </c:pt>
                <c:pt idx="94">
                  <c:v>40037</c:v>
                </c:pt>
                <c:pt idx="95">
                  <c:v>40485</c:v>
                </c:pt>
                <c:pt idx="96">
                  <c:v>36497</c:v>
                </c:pt>
                <c:pt idx="97">
                  <c:v>41281</c:v>
                </c:pt>
                <c:pt idx="98">
                  <c:v>45862</c:v>
                </c:pt>
                <c:pt idx="99">
                  <c:v>40421</c:v>
                </c:pt>
                <c:pt idx="100">
                  <c:v>30711</c:v>
                </c:pt>
                <c:pt idx="101">
                  <c:v>26806</c:v>
                </c:pt>
                <c:pt idx="102">
                  <c:v>32722</c:v>
                </c:pt>
                <c:pt idx="103">
                  <c:v>27485</c:v>
                </c:pt>
                <c:pt idx="104">
                  <c:v>19112</c:v>
                </c:pt>
                <c:pt idx="105">
                  <c:v>11604</c:v>
                </c:pt>
                <c:pt idx="106">
                  <c:v>7900</c:v>
                </c:pt>
                <c:pt idx="107">
                  <c:v>8033</c:v>
                </c:pt>
                <c:pt idx="108">
                  <c:v>9674</c:v>
                </c:pt>
                <c:pt idx="109">
                  <c:v>9770</c:v>
                </c:pt>
                <c:pt idx="110">
                  <c:v>6582</c:v>
                </c:pt>
              </c:numCache>
            </c:numRef>
          </c:val>
        </c:ser>
        <c:ser>
          <c:idx val="3"/>
          <c:order val="3"/>
          <c:tx>
            <c:strRef>
              <c:f>Sheet1!$E$1</c:f>
              <c:strCache>
                <c:ptCount val="1"/>
                <c:pt idx="0">
                  <c:v>HARPed</c:v>
                </c:pt>
              </c:strCache>
            </c:strRef>
          </c:tx>
          <c:spPr>
            <a:solidFill>
              <a:schemeClr val="bg2">
                <a:lumMod val="75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Sheet1!$E$2:$E$134</c:f>
              <c:numCache>
                <c:formatCode>General</c:formatCode>
                <c:ptCount val="133"/>
                <c:pt idx="53">
                  <c:v>10383</c:v>
                </c:pt>
                <c:pt idx="54">
                  <c:v>16311</c:v>
                </c:pt>
                <c:pt idx="55">
                  <c:v>25480</c:v>
                </c:pt>
                <c:pt idx="56">
                  <c:v>22620</c:v>
                </c:pt>
                <c:pt idx="57">
                  <c:v>16406</c:v>
                </c:pt>
                <c:pt idx="58">
                  <c:v>13051</c:v>
                </c:pt>
                <c:pt idx="59">
                  <c:v>18179</c:v>
                </c:pt>
                <c:pt idx="60">
                  <c:v>23590</c:v>
                </c:pt>
                <c:pt idx="61">
                  <c:v>26564</c:v>
                </c:pt>
                <c:pt idx="62">
                  <c:v>24648</c:v>
                </c:pt>
                <c:pt idx="63">
                  <c:v>17440</c:v>
                </c:pt>
                <c:pt idx="64">
                  <c:v>21045</c:v>
                </c:pt>
                <c:pt idx="65">
                  <c:v>19445</c:v>
                </c:pt>
                <c:pt idx="66">
                  <c:v>15205</c:v>
                </c:pt>
                <c:pt idx="67">
                  <c:v>21345</c:v>
                </c:pt>
                <c:pt idx="68">
                  <c:v>28168</c:v>
                </c:pt>
                <c:pt idx="69">
                  <c:v>33340</c:v>
                </c:pt>
                <c:pt idx="70">
                  <c:v>38106</c:v>
                </c:pt>
                <c:pt idx="71">
                  <c:v>43237</c:v>
                </c:pt>
                <c:pt idx="72">
                  <c:v>44477</c:v>
                </c:pt>
                <c:pt idx="73">
                  <c:v>37323</c:v>
                </c:pt>
                <c:pt idx="74">
                  <c:v>32289</c:v>
                </c:pt>
                <c:pt idx="75">
                  <c:v>21224</c:v>
                </c:pt>
                <c:pt idx="76">
                  <c:v>14491</c:v>
                </c:pt>
                <c:pt idx="77">
                  <c:v>13261</c:v>
                </c:pt>
                <c:pt idx="78">
                  <c:v>11117</c:v>
                </c:pt>
                <c:pt idx="79">
                  <c:v>12492</c:v>
                </c:pt>
                <c:pt idx="80">
                  <c:v>14123</c:v>
                </c:pt>
                <c:pt idx="81">
                  <c:v>14085</c:v>
                </c:pt>
                <c:pt idx="82">
                  <c:v>17552</c:v>
                </c:pt>
                <c:pt idx="83">
                  <c:v>20154</c:v>
                </c:pt>
                <c:pt idx="84">
                  <c:v>21858</c:v>
                </c:pt>
                <c:pt idx="85">
                  <c:v>18923</c:v>
                </c:pt>
                <c:pt idx="86">
                  <c:v>20650</c:v>
                </c:pt>
                <c:pt idx="87">
                  <c:v>23750</c:v>
                </c:pt>
                <c:pt idx="88">
                  <c:v>22147</c:v>
                </c:pt>
                <c:pt idx="89">
                  <c:v>20132</c:v>
                </c:pt>
                <c:pt idx="90">
                  <c:v>20818</c:v>
                </c:pt>
                <c:pt idx="91">
                  <c:v>21157</c:v>
                </c:pt>
                <c:pt idx="92">
                  <c:v>23362</c:v>
                </c:pt>
                <c:pt idx="93">
                  <c:v>24936</c:v>
                </c:pt>
                <c:pt idx="94">
                  <c:v>26328</c:v>
                </c:pt>
                <c:pt idx="95">
                  <c:v>29752</c:v>
                </c:pt>
                <c:pt idx="96">
                  <c:v>26821</c:v>
                </c:pt>
                <c:pt idx="97">
                  <c:v>27440</c:v>
                </c:pt>
                <c:pt idx="98">
                  <c:v>29625</c:v>
                </c:pt>
                <c:pt idx="99">
                  <c:v>29886</c:v>
                </c:pt>
                <c:pt idx="100">
                  <c:v>30221</c:v>
                </c:pt>
                <c:pt idx="101">
                  <c:v>28245</c:v>
                </c:pt>
                <c:pt idx="102">
                  <c:v>26789</c:v>
                </c:pt>
                <c:pt idx="103">
                  <c:v>23013</c:v>
                </c:pt>
                <c:pt idx="104">
                  <c:v>20542</c:v>
                </c:pt>
                <c:pt idx="105">
                  <c:v>15993</c:v>
                </c:pt>
                <c:pt idx="106">
                  <c:v>12082</c:v>
                </c:pt>
                <c:pt idx="107">
                  <c:v>10922</c:v>
                </c:pt>
                <c:pt idx="108">
                  <c:v>9752</c:v>
                </c:pt>
                <c:pt idx="109">
                  <c:v>9671</c:v>
                </c:pt>
                <c:pt idx="110">
                  <c:v>8095</c:v>
                </c:pt>
              </c:numCache>
            </c:numRef>
          </c:val>
        </c:ser>
        <c:ser>
          <c:idx val="4"/>
          <c:order val="4"/>
          <c:tx>
            <c:strRef>
              <c:f>Sheet1!$F$1</c:f>
              <c:strCache>
                <c:ptCount val="1"/>
                <c:pt idx="0">
                  <c:v>Unknown</c:v>
                </c:pt>
              </c:strCache>
            </c:strRef>
          </c:tx>
          <c:spPr>
            <a:solidFill>
              <a:srgbClr val="AD275C"/>
            </a:solidFill>
            <a:ln w="19050">
              <a:noFill/>
            </a:ln>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Sheet1!$F$2:$F$134</c:f>
              <c:numCache>
                <c:formatCode>General</c:formatCode>
                <c:ptCount val="133"/>
                <c:pt idx="110">
                  <c:v>6</c:v>
                </c:pt>
                <c:pt idx="111">
                  <c:v>12788</c:v>
                </c:pt>
                <c:pt idx="112">
                  <c:v>14986</c:v>
                </c:pt>
                <c:pt idx="113">
                  <c:v>14482</c:v>
                </c:pt>
                <c:pt idx="114">
                  <c:v>13324</c:v>
                </c:pt>
                <c:pt idx="115">
                  <c:v>15877</c:v>
                </c:pt>
                <c:pt idx="116">
                  <c:v>16493</c:v>
                </c:pt>
                <c:pt idx="117">
                  <c:v>16731</c:v>
                </c:pt>
                <c:pt idx="118">
                  <c:v>17725</c:v>
                </c:pt>
                <c:pt idx="119">
                  <c:v>18168</c:v>
                </c:pt>
                <c:pt idx="120">
                  <c:v>21476</c:v>
                </c:pt>
                <c:pt idx="121">
                  <c:v>20938</c:v>
                </c:pt>
                <c:pt idx="122">
                  <c:v>24131</c:v>
                </c:pt>
                <c:pt idx="123">
                  <c:v>35016</c:v>
                </c:pt>
                <c:pt idx="124">
                  <c:v>39618</c:v>
                </c:pt>
                <c:pt idx="125">
                  <c:v>30540</c:v>
                </c:pt>
                <c:pt idx="126">
                  <c:v>26241</c:v>
                </c:pt>
                <c:pt idx="127">
                  <c:v>21405</c:v>
                </c:pt>
                <c:pt idx="128">
                  <c:v>17182</c:v>
                </c:pt>
                <c:pt idx="129">
                  <c:v>16547</c:v>
                </c:pt>
                <c:pt idx="130">
                  <c:v>17651</c:v>
                </c:pt>
                <c:pt idx="131">
                  <c:v>18707</c:v>
                </c:pt>
                <c:pt idx="132">
                  <c:v>16500</c:v>
                </c:pt>
              </c:numCache>
            </c:numRef>
          </c:val>
        </c:ser>
        <c:dLbls>
          <c:showLegendKey val="0"/>
          <c:showVal val="0"/>
          <c:showCatName val="0"/>
          <c:showSerName val="0"/>
          <c:showPercent val="0"/>
          <c:showBubbleSize val="0"/>
        </c:dLbls>
        <c:axId val="36913536"/>
        <c:axId val="36915072"/>
      </c:areaChart>
      <c:dateAx>
        <c:axId val="36913536"/>
        <c:scaling>
          <c:orientation val="minMax"/>
        </c:scaling>
        <c:delete val="0"/>
        <c:axPos val="b"/>
        <c:numFmt formatCode="m/d/yyyy" sourceLinked="1"/>
        <c:majorTickMark val="out"/>
        <c:minorTickMark val="none"/>
        <c:tickLblPos val="nextTo"/>
        <c:crossAx val="36915072"/>
        <c:crosses val="autoZero"/>
        <c:auto val="1"/>
        <c:lblOffset val="100"/>
        <c:baseTimeUnit val="months"/>
        <c:majorUnit val="12"/>
        <c:majorTimeUnit val="months"/>
      </c:dateAx>
      <c:valAx>
        <c:axId val="36915072"/>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36913536"/>
        <c:crosses val="autoZero"/>
        <c:crossBetween val="midCat"/>
      </c:valAx>
    </c:plotArea>
    <c:plotVisOnly val="1"/>
    <c:dispBlanksAs val="zero"/>
    <c:showDLblsOverMax val="0"/>
  </c:chart>
  <c:txPr>
    <a:bodyPr/>
    <a:lstStyle/>
    <a:p>
      <a:pPr>
        <a:defRPr sz="1000"/>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0.83449</cdr:x>
      <cdr:y>0.08761</cdr:y>
    </cdr:from>
    <cdr:to>
      <cdr:x>0.95273</cdr:x>
      <cdr:y>0.14538</cdr:y>
    </cdr:to>
    <cdr:sp macro="" textlink="">
      <cdr:nvSpPr>
        <cdr:cNvPr id="2" name="TextBox 19"/>
        <cdr:cNvSpPr txBox="1"/>
      </cdr:nvSpPr>
      <cdr:spPr>
        <a:xfrm xmlns:a="http://schemas.openxmlformats.org/drawingml/2006/main">
          <a:off x="7239109" y="256353"/>
          <a:ext cx="1025717" cy="169040"/>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a:lstStyle>
        <a:p xmlns:a="http://schemas.openxmlformats.org/drawingml/2006/main">
          <a:pPr algn="ctr"/>
          <a:r>
            <a:rPr lang="en-US" sz="1000" b="1" dirty="0" smtClean="0">
              <a:solidFill>
                <a:schemeClr val="bg1"/>
              </a:solidFill>
              <a:latin typeface="+mn-lt"/>
            </a:rPr>
            <a:t>Unknown</a:t>
          </a:r>
          <a:endParaRPr lang="en-US" sz="1000" b="1" dirty="0">
            <a:solidFill>
              <a:schemeClr val="bg1"/>
            </a:solidFill>
            <a:latin typeface="+mn-lt"/>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0.83449</cdr:x>
      <cdr:y>0.08761</cdr:y>
    </cdr:from>
    <cdr:to>
      <cdr:x>0.95273</cdr:x>
      <cdr:y>0.14538</cdr:y>
    </cdr:to>
    <cdr:sp macro="" textlink="">
      <cdr:nvSpPr>
        <cdr:cNvPr id="2" name="TextBox 19"/>
        <cdr:cNvSpPr txBox="1"/>
      </cdr:nvSpPr>
      <cdr:spPr>
        <a:xfrm xmlns:a="http://schemas.openxmlformats.org/drawingml/2006/main">
          <a:off x="7239109" y="256353"/>
          <a:ext cx="1025717" cy="169040"/>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a:lstStyle>
        <a:p xmlns:a="http://schemas.openxmlformats.org/drawingml/2006/main">
          <a:pPr algn="ctr"/>
          <a:r>
            <a:rPr lang="en-US" sz="1000" b="1" dirty="0" smtClean="0">
              <a:solidFill>
                <a:schemeClr val="bg1"/>
              </a:solidFill>
              <a:latin typeface="+mn-lt"/>
            </a:rPr>
            <a:t>Unknown</a:t>
          </a:r>
          <a:endParaRPr lang="en-US" sz="1000" b="1" dirty="0">
            <a:solidFill>
              <a:schemeClr val="bg1"/>
            </a:solidFill>
            <a:latin typeface="+mn-lt"/>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49363" y="698500"/>
            <a:ext cx="4511675" cy="3486150"/>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701363" y="4416436"/>
            <a:ext cx="5607678" cy="4181463"/>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49363" y="698500"/>
            <a:ext cx="4511675" cy="3486150"/>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996"/>
            <a:fld id="{1FE077EC-684A-4FD9-A6C3-9AE90D8B81D6}" type="slidenum">
              <a:rPr lang="en-US" smtClean="0"/>
              <a:pPr defTabSz="919996"/>
              <a:t>1</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1562100" y="6084608"/>
            <a:ext cx="8129597" cy="749171"/>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2400" dirty="0" smtClean="0">
                <a:solidFill>
                  <a:srgbClr val="968880"/>
                </a:solidFill>
                <a:latin typeface="Calibri" pitchFamily="34" charset="0"/>
              </a:rPr>
              <a:t>Identifying </a:t>
            </a:r>
            <a:r>
              <a:rPr lang="en-US" sz="2400" dirty="0" err="1" smtClean="0">
                <a:solidFill>
                  <a:srgbClr val="968880"/>
                </a:solidFill>
                <a:latin typeface="Calibri" pitchFamily="34" charset="0"/>
              </a:rPr>
              <a:t>HARPed</a:t>
            </a:r>
            <a:r>
              <a:rPr lang="en-US" sz="2400" dirty="0" smtClean="0">
                <a:solidFill>
                  <a:srgbClr val="968880"/>
                </a:solidFill>
                <a:latin typeface="Calibri" pitchFamily="34" charset="0"/>
              </a:rPr>
              <a:t> Loans</a:t>
            </a:r>
            <a:endParaRPr lang="en-US" sz="2400" dirty="0">
              <a:solidFill>
                <a:srgbClr val="968880"/>
              </a:solidFill>
              <a:latin typeface="Calibri" pitchFamily="34" charset="0"/>
            </a:endParaRPr>
          </a:p>
          <a:p>
            <a:pPr algn="r" defTabSz="1018586"/>
            <a:r>
              <a:rPr lang="en-US" dirty="0" smtClean="0">
                <a:solidFill>
                  <a:schemeClr val="tx2"/>
                </a:solidFill>
                <a:latin typeface="Calibri" pitchFamily="34" charset="0"/>
              </a:rPr>
              <a:t>January 2016</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OVERVIEW OF HARP AND STREAMLINE REFI PROGRAMS</a:t>
            </a:r>
            <a:br>
              <a:rPr lang="en-US" sz="1600" dirty="0" smtClean="0">
                <a:latin typeface="+mn-lt"/>
              </a:rPr>
            </a:br>
            <a:endParaRPr lang="en-US" sz="1600" dirty="0">
              <a:latin typeface="+mn-lt"/>
            </a:endParaRPr>
          </a:p>
        </p:txBody>
      </p:sp>
      <p:sp>
        <p:nvSpPr>
          <p:cNvPr id="3" name="TextBox 2"/>
          <p:cNvSpPr txBox="1"/>
          <p:nvPr/>
        </p:nvSpPr>
        <p:spPr>
          <a:xfrm>
            <a:off x="1943100" y="1127760"/>
            <a:ext cx="6789420" cy="369332"/>
          </a:xfrm>
          <a:prstGeom prst="rect">
            <a:avLst/>
          </a:prstGeom>
          <a:noFill/>
        </p:spPr>
        <p:txBody>
          <a:bodyPr wrap="square" rtlCol="0">
            <a:spAutoFit/>
          </a:bodyPr>
          <a:lstStyle/>
          <a:p>
            <a:r>
              <a:rPr lang="en-US" dirty="0">
                <a:latin typeface="+mn-lt"/>
              </a:rPr>
              <a:t>Key Differences in </a:t>
            </a:r>
            <a:r>
              <a:rPr lang="en-US" dirty="0" smtClean="0">
                <a:latin typeface="+mn-lt"/>
              </a:rPr>
              <a:t>Streamline Refi, HARP 1.0 and HARP 2.0 Programs</a:t>
            </a:r>
            <a:endParaRPr lang="en-US" dirty="0">
              <a:latin typeface="+mn-lt"/>
            </a:endParaRPr>
          </a:p>
        </p:txBody>
      </p:sp>
      <p:graphicFrame>
        <p:nvGraphicFramePr>
          <p:cNvPr id="8" name="Table 7"/>
          <p:cNvGraphicFramePr>
            <a:graphicFrameLocks noGrp="1"/>
          </p:cNvGraphicFramePr>
          <p:nvPr>
            <p:extLst>
              <p:ext uri="{D42A27DB-BD31-4B8C-83A1-F6EECF244321}">
                <p14:modId xmlns:p14="http://schemas.microsoft.com/office/powerpoint/2010/main" val="1870863037"/>
              </p:ext>
            </p:extLst>
          </p:nvPr>
        </p:nvGraphicFramePr>
        <p:xfrm>
          <a:off x="281940" y="1651000"/>
          <a:ext cx="9502140" cy="4681221"/>
        </p:xfrm>
        <a:graphic>
          <a:graphicData uri="http://schemas.openxmlformats.org/drawingml/2006/table">
            <a:tbl>
              <a:tblPr firstRow="1" bandRow="1">
                <a:tableStyleId>{5C22544A-7EE6-4342-B048-85BDC9FD1C3A}</a:tableStyleId>
              </a:tblPr>
              <a:tblGrid>
                <a:gridCol w="1181100"/>
                <a:gridCol w="3025140"/>
                <a:gridCol w="3025140"/>
                <a:gridCol w="2270760"/>
              </a:tblGrid>
              <a:tr h="488883">
                <a:tc>
                  <a:txBody>
                    <a:bodyPr/>
                    <a:lstStyle/>
                    <a:p>
                      <a:endParaRPr lang="en-US" sz="1000" dirty="0">
                        <a:latin typeface="+mn-lt"/>
                      </a:endParaRPr>
                    </a:p>
                  </a:txBody>
                  <a:tcPr anchor="ctr"/>
                </a:tc>
                <a:tc>
                  <a:txBody>
                    <a:bodyPr/>
                    <a:lstStyle/>
                    <a:p>
                      <a:pPr algn="ctr"/>
                      <a:r>
                        <a:rPr lang="en-US" sz="1000" dirty="0" smtClean="0"/>
                        <a:t>HARP 2.0 </a:t>
                      </a:r>
                      <a:endParaRPr lang="en-US" sz="1000" dirty="0">
                        <a:latin typeface="+mn-lt"/>
                      </a:endParaRPr>
                    </a:p>
                  </a:txBody>
                  <a:tcPr anchor="ctr"/>
                </a:tc>
                <a:tc>
                  <a:txBody>
                    <a:bodyPr/>
                    <a:lstStyle/>
                    <a:p>
                      <a:pPr algn="ctr"/>
                      <a:r>
                        <a:rPr lang="en-US" sz="1000" dirty="0" smtClean="0"/>
                        <a:t>HARP 1.0 </a:t>
                      </a:r>
                      <a:endParaRPr lang="en-US" sz="1000" dirty="0">
                        <a:latin typeface="+mn-lt"/>
                      </a:endParaRPr>
                    </a:p>
                  </a:txBody>
                  <a:tcPr anchor="ctr"/>
                </a:tc>
                <a:tc>
                  <a:txBody>
                    <a:bodyPr/>
                    <a:lstStyle/>
                    <a:p>
                      <a:pPr algn="ctr"/>
                      <a:r>
                        <a:rPr lang="en-US" sz="1000" dirty="0" smtClean="0"/>
                        <a:t>Streamline Refi</a:t>
                      </a:r>
                      <a:endParaRPr lang="en-US" sz="1000" dirty="0">
                        <a:latin typeface="+mn-lt"/>
                      </a:endParaRPr>
                    </a:p>
                  </a:txBody>
                  <a:tcPr anchor="ctr"/>
                </a:tc>
              </a:tr>
              <a:tr h="488883">
                <a:tc>
                  <a:txBody>
                    <a:bodyPr/>
                    <a:lstStyle/>
                    <a:p>
                      <a:r>
                        <a:rPr lang="en-US" sz="1000" b="1" dirty="0" smtClean="0"/>
                        <a:t>Period</a:t>
                      </a:r>
                      <a:endParaRPr lang="en-US" sz="1000" b="1" dirty="0">
                        <a:latin typeface="+mn-lt"/>
                      </a:endParaRPr>
                    </a:p>
                  </a:txBody>
                  <a:tcPr anchor="ctr"/>
                </a:tc>
                <a:tc>
                  <a:txBody>
                    <a:bodyPr/>
                    <a:lstStyle/>
                    <a:p>
                      <a:r>
                        <a:rPr lang="en-US" sz="1000" dirty="0" smtClean="0"/>
                        <a:t>Since November</a:t>
                      </a:r>
                      <a:r>
                        <a:rPr lang="en-US" sz="1000" baseline="0" dirty="0" smtClean="0"/>
                        <a:t> </a:t>
                      </a:r>
                      <a:r>
                        <a:rPr lang="en-US" sz="1000" dirty="0" smtClean="0"/>
                        <a:t>2011</a:t>
                      </a:r>
                      <a:endParaRPr lang="en-US" sz="1000" dirty="0">
                        <a:latin typeface="+mn-lt"/>
                      </a:endParaRPr>
                    </a:p>
                  </a:txBody>
                  <a:tcPr anchor="ctr"/>
                </a:tc>
                <a:tc>
                  <a:txBody>
                    <a:bodyPr/>
                    <a:lstStyle/>
                    <a:p>
                      <a:r>
                        <a:rPr lang="en-US" sz="1000" dirty="0" smtClean="0"/>
                        <a:t>April</a:t>
                      </a:r>
                      <a:r>
                        <a:rPr lang="en-US" sz="1000" baseline="0" dirty="0" smtClean="0"/>
                        <a:t> </a:t>
                      </a:r>
                      <a:r>
                        <a:rPr lang="en-US" sz="1000" dirty="0" smtClean="0"/>
                        <a:t>2009</a:t>
                      </a:r>
                      <a:r>
                        <a:rPr lang="en-US" sz="1000" baseline="0" dirty="0" smtClean="0"/>
                        <a:t> – </a:t>
                      </a:r>
                      <a:r>
                        <a:rPr lang="en-US" sz="1000" dirty="0" smtClean="0"/>
                        <a:t>October</a:t>
                      </a:r>
                      <a:r>
                        <a:rPr lang="en-US" sz="1000" baseline="0" dirty="0" smtClean="0"/>
                        <a:t> </a:t>
                      </a:r>
                      <a:r>
                        <a:rPr lang="en-US" sz="1000" dirty="0" smtClean="0"/>
                        <a:t>2011</a:t>
                      </a:r>
                      <a:endParaRPr lang="en-US" sz="1000" dirty="0">
                        <a:latin typeface="+mn-lt"/>
                      </a:endParaRPr>
                    </a:p>
                  </a:txBody>
                  <a:tcPr anchor="ctr"/>
                </a:tc>
                <a:tc>
                  <a:txBody>
                    <a:bodyPr/>
                    <a:lstStyle/>
                    <a:p>
                      <a:r>
                        <a:rPr lang="en-US" sz="1000" dirty="0" smtClean="0"/>
                        <a:t>Pre-HARP 1.0</a:t>
                      </a:r>
                      <a:endParaRPr lang="en-US" sz="1000" dirty="0">
                        <a:latin typeface="+mn-lt"/>
                      </a:endParaRPr>
                    </a:p>
                  </a:txBody>
                  <a:tcPr anchor="ctr"/>
                </a:tc>
              </a:tr>
              <a:tr h="522368">
                <a:tc>
                  <a:txBody>
                    <a:bodyPr/>
                    <a:lstStyle/>
                    <a:p>
                      <a:r>
                        <a:rPr lang="en-US" sz="1000" b="1" dirty="0" smtClean="0"/>
                        <a:t>Appraisal</a:t>
                      </a:r>
                      <a:endParaRPr lang="en-US" sz="1000" b="1" dirty="0">
                        <a:latin typeface="+mn-lt"/>
                      </a:endParaRPr>
                    </a:p>
                  </a:txBody>
                  <a:tcPr anchor="ctr"/>
                </a:tc>
                <a:tc>
                  <a:txBody>
                    <a:bodyPr/>
                    <a:lstStyle/>
                    <a:p>
                      <a:r>
                        <a:rPr lang="en-US" sz="1000" dirty="0" smtClean="0"/>
                        <a:t>Mostly Automated</a:t>
                      </a:r>
                      <a:endParaRPr lang="en-US" sz="1000" dirty="0">
                        <a:latin typeface="+mn-lt"/>
                      </a:endParaRPr>
                    </a:p>
                  </a:txBody>
                  <a:tcPr anchor="ctr"/>
                </a:tc>
                <a:tc>
                  <a:txBody>
                    <a:bodyPr/>
                    <a:lstStyle/>
                    <a:p>
                      <a:r>
                        <a:rPr lang="en-US" sz="1000" dirty="0" smtClean="0"/>
                        <a:t>Manual/automated appraisal but manual appraisal required in most cases</a:t>
                      </a:r>
                      <a:endParaRPr lang="en-US" sz="1000" dirty="0">
                        <a:latin typeface="+mn-lt"/>
                      </a:endParaRPr>
                    </a:p>
                  </a:txBody>
                  <a:tcPr anchor="ctr"/>
                </a:tc>
                <a:tc>
                  <a:txBody>
                    <a:bodyPr/>
                    <a:lstStyle/>
                    <a:p>
                      <a:r>
                        <a:rPr lang="en-US" sz="1000" dirty="0" smtClean="0"/>
                        <a:t>Manual appraisal</a:t>
                      </a:r>
                      <a:endParaRPr lang="en-US" sz="1000" dirty="0">
                        <a:latin typeface="+mn-lt"/>
                      </a:endParaRPr>
                    </a:p>
                  </a:txBody>
                  <a:tcPr anchor="ctr"/>
                </a:tc>
              </a:tr>
              <a:tr h="924189">
                <a:tc>
                  <a:txBody>
                    <a:bodyPr/>
                    <a:lstStyle/>
                    <a:p>
                      <a:r>
                        <a:rPr lang="en-US" sz="1000" b="1" dirty="0" smtClean="0"/>
                        <a:t>Income &amp; Asset</a:t>
                      </a:r>
                    </a:p>
                    <a:p>
                      <a:r>
                        <a:rPr lang="en-US" sz="1000" b="1" dirty="0" smtClean="0"/>
                        <a:t>documentation</a:t>
                      </a:r>
                      <a:endParaRPr lang="en-US" sz="1000" b="1" dirty="0">
                        <a:latin typeface="+mn-lt"/>
                      </a:endParaRPr>
                    </a:p>
                  </a:txBody>
                  <a:tcPr anchor="ctr"/>
                </a:tc>
                <a:tc>
                  <a:txBody>
                    <a:bodyPr/>
                    <a:lstStyle/>
                    <a:p>
                      <a:r>
                        <a:rPr lang="en-US" sz="1000" dirty="0" smtClean="0"/>
                        <a:t>Reduced requirement in September 2012--same servicers are required to verbally verify a borrower's income; New lenders are required to have documentation</a:t>
                      </a:r>
                      <a:endParaRPr lang="en-US" sz="1000" dirty="0">
                        <a:latin typeface="+mn-lt"/>
                      </a:endParaRPr>
                    </a:p>
                  </a:txBody>
                  <a:tcPr anchor="ctr"/>
                </a:tc>
                <a:tc>
                  <a:txBody>
                    <a:bodyPr/>
                    <a:lstStyle/>
                    <a:p>
                      <a:r>
                        <a:rPr lang="en-US" sz="1000" dirty="0" smtClean="0"/>
                        <a:t>Need documentation;</a:t>
                      </a:r>
                      <a:r>
                        <a:rPr lang="en-US" sz="1000" baseline="0" dirty="0" smtClean="0"/>
                        <a:t> i</a:t>
                      </a:r>
                      <a:r>
                        <a:rPr lang="en-US" sz="1000" dirty="0" smtClean="0"/>
                        <a:t>n some cases need two year history of income</a:t>
                      </a:r>
                      <a:endParaRPr lang="en-US" sz="1000" dirty="0">
                        <a:latin typeface="+mn-lt"/>
                      </a:endParaRPr>
                    </a:p>
                  </a:txBody>
                  <a:tcPr anchor="ctr"/>
                </a:tc>
                <a:tc>
                  <a:txBody>
                    <a:bodyPr/>
                    <a:lstStyle/>
                    <a:p>
                      <a:r>
                        <a:rPr lang="en-US" sz="1000" dirty="0" smtClean="0"/>
                        <a:t>Stated Income/employment</a:t>
                      </a:r>
                      <a:endParaRPr lang="en-US" sz="1000" dirty="0">
                        <a:latin typeface="+mn-lt"/>
                      </a:endParaRPr>
                    </a:p>
                  </a:txBody>
                  <a:tcPr anchor="ctr"/>
                </a:tc>
              </a:tr>
              <a:tr h="723279">
                <a:tc>
                  <a:txBody>
                    <a:bodyPr/>
                    <a:lstStyle/>
                    <a:p>
                      <a:r>
                        <a:rPr lang="en-US" sz="1000" b="1" dirty="0" smtClean="0"/>
                        <a:t>Reps &amp; Warrants </a:t>
                      </a:r>
                      <a:endParaRPr lang="en-US" sz="1000" b="1" dirty="0">
                        <a:latin typeface="+mn-lt"/>
                      </a:endParaRPr>
                    </a:p>
                  </a:txBody>
                  <a:tcPr anchor="ctr"/>
                </a:tc>
                <a:tc>
                  <a:txBody>
                    <a:bodyPr/>
                    <a:lstStyle/>
                    <a:p>
                      <a:r>
                        <a:rPr lang="en-US" sz="1000" dirty="0" smtClean="0"/>
                        <a:t>Further relief of reps &amp; warrants for original loan in September 2012; Relief of new loan reps &amp; warrants risk with 12 month clean pay following origination</a:t>
                      </a:r>
                      <a:endParaRPr lang="en-US" sz="1000" dirty="0">
                        <a:latin typeface="+mn-lt"/>
                      </a:endParaRPr>
                    </a:p>
                  </a:txBody>
                  <a:tcPr anchor="ctr"/>
                </a:tc>
                <a:tc>
                  <a:txBody>
                    <a:bodyPr/>
                    <a:lstStyle/>
                    <a:p>
                      <a:r>
                        <a:rPr lang="en-US" sz="1000" dirty="0" smtClean="0"/>
                        <a:t>Seller retains all the original reps &amp; warrants regarding value condition and marketability; no additional relief on the new loan</a:t>
                      </a:r>
                      <a:endParaRPr lang="en-US" sz="1000" dirty="0">
                        <a:latin typeface="+mn-lt"/>
                      </a:endParaRPr>
                    </a:p>
                  </a:txBody>
                  <a:tcPr anchor="ctr"/>
                </a:tc>
                <a:tc>
                  <a:txBody>
                    <a:bodyPr/>
                    <a:lstStyle/>
                    <a:p>
                      <a:r>
                        <a:rPr lang="en-US" sz="1000" dirty="0" smtClean="0"/>
                        <a:t>Any previous rep &amp; warrant relief on the original loan does not apply to the new loan</a:t>
                      </a:r>
                      <a:endParaRPr lang="en-US" sz="1000" dirty="0">
                        <a:latin typeface="+mn-lt"/>
                      </a:endParaRPr>
                    </a:p>
                  </a:txBody>
                  <a:tcPr anchor="ctr"/>
                </a:tc>
              </a:tr>
              <a:tr h="522368">
                <a:tc>
                  <a:txBody>
                    <a:bodyPr/>
                    <a:lstStyle/>
                    <a:p>
                      <a:r>
                        <a:rPr lang="en-US" sz="1000" b="1" dirty="0" smtClean="0"/>
                        <a:t>LTV restriction</a:t>
                      </a:r>
                      <a:endParaRPr lang="en-US" sz="1000" b="1" dirty="0">
                        <a:latin typeface="+mn-lt"/>
                      </a:endParaRPr>
                    </a:p>
                  </a:txBody>
                  <a:tcPr anchor="ctr"/>
                </a:tc>
                <a:tc>
                  <a:txBody>
                    <a:bodyPr/>
                    <a:lstStyle/>
                    <a:p>
                      <a:r>
                        <a:rPr lang="en-US" sz="1000" dirty="0" smtClean="0"/>
                        <a:t>Extended to above 125% LTV in October 2011</a:t>
                      </a:r>
                      <a:endParaRPr lang="en-US" sz="1000" dirty="0">
                        <a:latin typeface="+mn-lt"/>
                      </a:endParaRPr>
                    </a:p>
                  </a:txBody>
                  <a:tcPr anchor="ctr"/>
                </a:tc>
                <a:tc>
                  <a:txBody>
                    <a:bodyPr/>
                    <a:lstStyle/>
                    <a:p>
                      <a:r>
                        <a:rPr lang="en-US" sz="1000" dirty="0" smtClean="0"/>
                        <a:t>LTV ceiling at 105% when announced in March 2009;</a:t>
                      </a:r>
                    </a:p>
                    <a:p>
                      <a:r>
                        <a:rPr lang="en-US" sz="1000" dirty="0" smtClean="0"/>
                        <a:t>Raised ceiling from 105% to 125% in July 2009</a:t>
                      </a:r>
                      <a:endParaRPr lang="en-US" sz="1000" dirty="0">
                        <a:latin typeface="+mn-lt"/>
                      </a:endParaRPr>
                    </a:p>
                  </a:txBody>
                  <a:tcPr anchor="ctr"/>
                </a:tc>
                <a:tc>
                  <a:txBody>
                    <a:bodyPr/>
                    <a:lstStyle/>
                    <a:p>
                      <a:r>
                        <a:rPr lang="en-US" sz="1000" dirty="0" smtClean="0"/>
                        <a:t>under 95%-100%</a:t>
                      </a:r>
                      <a:endParaRPr lang="en-US" sz="1000" dirty="0">
                        <a:latin typeface="+mn-lt"/>
                      </a:endParaRPr>
                    </a:p>
                  </a:txBody>
                  <a:tcPr anchor="ctr"/>
                </a:tc>
              </a:tr>
              <a:tr h="522368">
                <a:tc>
                  <a:txBody>
                    <a:bodyPr/>
                    <a:lstStyle/>
                    <a:p>
                      <a:r>
                        <a:rPr lang="en-US" sz="1000" b="1" dirty="0" smtClean="0"/>
                        <a:t>MI</a:t>
                      </a:r>
                      <a:endParaRPr lang="en-US" sz="1000" b="1" dirty="0">
                        <a:latin typeface="+mn-lt"/>
                      </a:endParaRPr>
                    </a:p>
                  </a:txBody>
                  <a:tcPr anchor="ctr"/>
                </a:tc>
                <a:tc>
                  <a:txBody>
                    <a:bodyPr/>
                    <a:lstStyle/>
                    <a:p>
                      <a:r>
                        <a:rPr lang="en-US" sz="1000" dirty="0" smtClean="0"/>
                        <a:t>MI transfers made easier</a:t>
                      </a:r>
                      <a:endParaRPr lang="en-US" sz="1000" dirty="0">
                        <a:latin typeface="+mn-lt"/>
                      </a:endParaRPr>
                    </a:p>
                  </a:txBody>
                  <a:tcPr anchor="ctr"/>
                </a:tc>
                <a:tc>
                  <a:txBody>
                    <a:bodyPr/>
                    <a:lstStyle/>
                    <a:p>
                      <a:r>
                        <a:rPr lang="en-US" sz="1000" dirty="0" smtClean="0"/>
                        <a:t>No new MI required but transfer of MI is cumbersome</a:t>
                      </a:r>
                      <a:endParaRPr lang="en-US" sz="1000" dirty="0">
                        <a:latin typeface="+mn-lt"/>
                      </a:endParaRPr>
                    </a:p>
                  </a:txBody>
                  <a:tcPr anchor="ctr"/>
                </a:tc>
                <a:tc>
                  <a:txBody>
                    <a:bodyPr/>
                    <a:lstStyle/>
                    <a:p>
                      <a:r>
                        <a:rPr lang="en-US" sz="1000" dirty="0" smtClean="0">
                          <a:latin typeface="+mn-lt"/>
                        </a:rPr>
                        <a:t>New</a:t>
                      </a:r>
                      <a:r>
                        <a:rPr lang="en-US" sz="1000" baseline="0" dirty="0" smtClean="0">
                          <a:latin typeface="+mn-lt"/>
                        </a:rPr>
                        <a:t> MI required</a:t>
                      </a:r>
                      <a:endParaRPr lang="en-US" sz="1000" dirty="0">
                        <a:latin typeface="+mn-lt"/>
                      </a:endParaRPr>
                    </a:p>
                  </a:txBody>
                  <a:tcPr anchor="ctr"/>
                </a:tc>
              </a:tr>
              <a:tr h="488883">
                <a:tc>
                  <a:txBody>
                    <a:bodyPr/>
                    <a:lstStyle/>
                    <a:p>
                      <a:r>
                        <a:rPr lang="en-US" sz="1000" b="1" dirty="0" smtClean="0"/>
                        <a:t>LLPA</a:t>
                      </a:r>
                      <a:endParaRPr lang="en-US" sz="1000" b="1" dirty="0">
                        <a:latin typeface="+mn-lt"/>
                      </a:endParaRPr>
                    </a:p>
                  </a:txBody>
                  <a:tcPr anchor="ctr"/>
                </a:tc>
                <a:tc>
                  <a:txBody>
                    <a:bodyPr/>
                    <a:lstStyle/>
                    <a:p>
                      <a:r>
                        <a:rPr lang="en-US" sz="1000" dirty="0" smtClean="0"/>
                        <a:t>Lowered LLPA to 75bp max </a:t>
                      </a:r>
                      <a:endParaRPr lang="en-US" sz="1000" dirty="0">
                        <a:latin typeface="+mn-lt"/>
                      </a:endParaRPr>
                    </a:p>
                  </a:txBody>
                  <a:tcPr anchor="ctr"/>
                </a:tc>
                <a:tc>
                  <a:txBody>
                    <a:bodyPr/>
                    <a:lstStyle/>
                    <a:p>
                      <a:r>
                        <a:rPr lang="en-US" sz="1000" dirty="0" smtClean="0"/>
                        <a:t>Standard</a:t>
                      </a:r>
                      <a:endParaRPr lang="en-US" sz="1000" dirty="0">
                        <a:latin typeface="+mn-lt"/>
                      </a:endParaRPr>
                    </a:p>
                  </a:txBody>
                  <a:tcPr anchor="ctr"/>
                </a:tc>
                <a:tc>
                  <a:txBody>
                    <a:bodyPr/>
                    <a:lstStyle/>
                    <a:p>
                      <a:r>
                        <a:rPr lang="en-US" sz="1000" dirty="0" smtClean="0"/>
                        <a:t>Standard</a:t>
                      </a:r>
                      <a:endParaRPr lang="en-US" sz="1000" dirty="0">
                        <a:latin typeface="+mn-lt"/>
                      </a:endParaRPr>
                    </a:p>
                  </a:txBody>
                  <a:tcPr anchor="ctr"/>
                </a:tc>
              </a:tr>
            </a:tbl>
          </a:graphicData>
        </a:graphic>
      </p:graphicFrame>
      <p:sp>
        <p:nvSpPr>
          <p:cNvPr id="4" name="TextBox 3"/>
          <p:cNvSpPr txBox="1"/>
          <p:nvPr/>
        </p:nvSpPr>
        <p:spPr>
          <a:xfrm>
            <a:off x="762000" y="7338060"/>
            <a:ext cx="3962400" cy="246221"/>
          </a:xfrm>
          <a:prstGeom prst="rect">
            <a:avLst/>
          </a:prstGeom>
          <a:noFill/>
        </p:spPr>
        <p:txBody>
          <a:bodyPr wrap="square" rtlCol="0">
            <a:spAutoFit/>
          </a:bodyPr>
          <a:lstStyle/>
          <a:p>
            <a:r>
              <a:rPr lang="en-US" sz="1000" dirty="0" smtClean="0">
                <a:latin typeface="Calibri" panose="020F0502020204030204" pitchFamily="34" charset="0"/>
              </a:rPr>
              <a:t>Source: Citigroup Research</a:t>
            </a:r>
            <a:endParaRPr lang="en-US" sz="1000" dirty="0">
              <a:latin typeface="Calibri" panose="020F0502020204030204" pitchFamily="34" charset="0"/>
            </a:endParaRPr>
          </a:p>
        </p:txBody>
      </p:sp>
    </p:spTree>
    <p:extLst>
      <p:ext uri="{BB962C8B-B14F-4D97-AF65-F5344CB8AC3E}">
        <p14:creationId xmlns:p14="http://schemas.microsoft.com/office/powerpoint/2010/main" val="5206646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INTRODUCTION</a:t>
            </a:r>
            <a:endParaRPr lang="en-US" sz="1600" dirty="0">
              <a:latin typeface="+mn-lt"/>
            </a:endParaRPr>
          </a:p>
        </p:txBody>
      </p:sp>
      <p:sp>
        <p:nvSpPr>
          <p:cNvPr id="4" name="Rectangle 3"/>
          <p:cNvSpPr/>
          <p:nvPr/>
        </p:nvSpPr>
        <p:spPr>
          <a:xfrm>
            <a:off x="819356" y="125730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 name="Straight Connector 4"/>
          <p:cNvCxnSpPr/>
          <p:nvPr/>
        </p:nvCxnSpPr>
        <p:spPr>
          <a:xfrm>
            <a:off x="819356" y="185928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390855" y="1396484"/>
            <a:ext cx="4069080" cy="307777"/>
          </a:xfrm>
          <a:prstGeom prst="rect">
            <a:avLst/>
          </a:prstGeom>
          <a:noFill/>
        </p:spPr>
        <p:txBody>
          <a:bodyPr wrap="square" rtlCol="0">
            <a:spAutoFit/>
          </a:bodyPr>
          <a:lstStyle/>
          <a:p>
            <a:r>
              <a:rPr lang="en-US" sz="1400" b="1" dirty="0" smtClean="0">
                <a:latin typeface="+mn-lt"/>
              </a:rPr>
              <a:t>Importance of identifying HARP loans</a:t>
            </a:r>
            <a:endParaRPr lang="en-US" sz="1400" b="1" dirty="0">
              <a:latin typeface="+mn-lt"/>
            </a:endParaRPr>
          </a:p>
        </p:txBody>
      </p:sp>
      <p:sp>
        <p:nvSpPr>
          <p:cNvPr id="7" name="TextBox 6"/>
          <p:cNvSpPr txBox="1"/>
          <p:nvPr/>
        </p:nvSpPr>
        <p:spPr>
          <a:xfrm>
            <a:off x="994464" y="2006254"/>
            <a:ext cx="8549586" cy="992579"/>
          </a:xfrm>
          <a:prstGeom prst="rect">
            <a:avLst/>
          </a:prstGeom>
          <a:noFill/>
        </p:spPr>
        <p:txBody>
          <a:bodyPr wrap="square" rtlCol="0">
            <a:spAutoFit/>
          </a:bodyPr>
          <a:lstStyle/>
          <a:p>
            <a:pPr>
              <a:lnSpc>
                <a:spcPct val="150000"/>
              </a:lnSpc>
            </a:pPr>
            <a:r>
              <a:rPr lang="en-US" sz="1300" dirty="0" smtClean="0">
                <a:latin typeface="+mn-lt"/>
              </a:rPr>
              <a:t>Loans that have been refinanced through the Home Affordable Refinance Program (HARP) generally prepay slower than other refinance loans that have undergone full underwriting. </a:t>
            </a:r>
            <a:r>
              <a:rPr lang="en-US" sz="1300" dirty="0">
                <a:latin typeface="+mn-lt"/>
              </a:rPr>
              <a:t>A</a:t>
            </a:r>
            <a:r>
              <a:rPr lang="en-US" sz="1300" dirty="0" smtClean="0">
                <a:latin typeface="+mn-lt"/>
              </a:rPr>
              <a:t>s a streamline refinance program, HARP generally made only minimal requirements of borrowers, and such borrowers may have trouble qualifying for regular refinances.</a:t>
            </a:r>
          </a:p>
        </p:txBody>
      </p:sp>
      <p:sp>
        <p:nvSpPr>
          <p:cNvPr id="9" name="Rectangle 8"/>
          <p:cNvSpPr/>
          <p:nvPr/>
        </p:nvSpPr>
        <p:spPr>
          <a:xfrm>
            <a:off x="819356" y="319849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10" name="Straight Connector 9"/>
          <p:cNvCxnSpPr/>
          <p:nvPr/>
        </p:nvCxnSpPr>
        <p:spPr>
          <a:xfrm>
            <a:off x="819356" y="380047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390855" y="3337679"/>
            <a:ext cx="4069080" cy="307777"/>
          </a:xfrm>
          <a:prstGeom prst="rect">
            <a:avLst/>
          </a:prstGeom>
          <a:noFill/>
        </p:spPr>
        <p:txBody>
          <a:bodyPr wrap="square" rtlCol="0">
            <a:spAutoFit/>
          </a:bodyPr>
          <a:lstStyle/>
          <a:p>
            <a:r>
              <a:rPr lang="en-US" sz="1400" b="1" dirty="0" smtClean="0">
                <a:latin typeface="+mn-lt"/>
              </a:rPr>
              <a:t>Existing algorithms for identifying  </a:t>
            </a:r>
            <a:r>
              <a:rPr lang="en-US" sz="1400" b="1" dirty="0" err="1" smtClean="0">
                <a:latin typeface="+mn-lt"/>
              </a:rPr>
              <a:t>HARPed</a:t>
            </a:r>
            <a:r>
              <a:rPr lang="en-US" sz="1400" b="1" dirty="0" smtClean="0">
                <a:latin typeface="+mn-lt"/>
              </a:rPr>
              <a:t> Loans</a:t>
            </a:r>
            <a:endParaRPr lang="en-US" sz="1400" b="1" dirty="0">
              <a:latin typeface="+mn-lt"/>
            </a:endParaRPr>
          </a:p>
        </p:txBody>
      </p:sp>
      <p:sp>
        <p:nvSpPr>
          <p:cNvPr id="12" name="TextBox 11"/>
          <p:cNvSpPr txBox="1"/>
          <p:nvPr/>
        </p:nvSpPr>
        <p:spPr>
          <a:xfrm>
            <a:off x="809625" y="3916969"/>
            <a:ext cx="9034092" cy="3393237"/>
          </a:xfrm>
          <a:prstGeom prst="rect">
            <a:avLst/>
          </a:prstGeom>
          <a:noFill/>
        </p:spPr>
        <p:txBody>
          <a:bodyPr wrap="square" rtlCol="0">
            <a:spAutoFit/>
          </a:bodyPr>
          <a:lstStyle/>
          <a:p>
            <a:pPr marL="342900" indent="-342900">
              <a:lnSpc>
                <a:spcPct val="150000"/>
              </a:lnSpc>
              <a:buFont typeface="+mj-lt"/>
              <a:buAutoNum type="arabicPeriod"/>
            </a:pPr>
            <a:r>
              <a:rPr lang="en-US" sz="1300" dirty="0" smtClean="0">
                <a:latin typeface="+mn-lt"/>
              </a:rPr>
              <a:t>Prior to August 2013:</a:t>
            </a:r>
          </a:p>
          <a:p>
            <a:pPr marL="793276" lvl="1" indent="-285750">
              <a:lnSpc>
                <a:spcPct val="150000"/>
              </a:lnSpc>
              <a:buFont typeface="Arial" panose="020B0604020202020204" pitchFamily="34" charset="0"/>
              <a:buChar char="•"/>
            </a:pPr>
            <a:r>
              <a:rPr lang="en-US" sz="1300" dirty="0" smtClean="0">
                <a:latin typeface="+mn-lt"/>
              </a:rPr>
              <a:t>This is the period prior to Freddie Mac providing loan-level credit information for fully underwritten mortgages</a:t>
            </a:r>
          </a:p>
          <a:p>
            <a:pPr marL="793276" lvl="1" indent="-285750">
              <a:lnSpc>
                <a:spcPct val="150000"/>
              </a:lnSpc>
              <a:buFont typeface="Arial" panose="020B0604020202020204" pitchFamily="34" charset="0"/>
              <a:buChar char="•"/>
            </a:pPr>
            <a:r>
              <a:rPr lang="en-US" sz="1300" dirty="0" smtClean="0">
                <a:latin typeface="+mn-lt"/>
              </a:rPr>
              <a:t>MI matches were used to identify potential </a:t>
            </a:r>
            <a:r>
              <a:rPr lang="en-US" sz="1300" dirty="0" err="1" smtClean="0">
                <a:latin typeface="+mn-lt"/>
              </a:rPr>
              <a:t>HARPed</a:t>
            </a:r>
            <a:r>
              <a:rPr lang="en-US" sz="1300" dirty="0" smtClean="0">
                <a:latin typeface="+mn-lt"/>
              </a:rPr>
              <a:t> loans with OLTV &gt; 80% and loan purpose as Refi-NCO (No Cash-out)</a:t>
            </a:r>
          </a:p>
          <a:p>
            <a:pPr marL="793276" lvl="1" indent="-285750">
              <a:lnSpc>
                <a:spcPct val="150000"/>
              </a:lnSpc>
              <a:buFont typeface="Arial" panose="020B0604020202020204" pitchFamily="34" charset="0"/>
              <a:buChar char="•"/>
            </a:pPr>
            <a:r>
              <a:rPr lang="en-US" sz="1300" dirty="0" smtClean="0">
                <a:latin typeface="+mn-lt"/>
              </a:rPr>
              <a:t>Although HARP targets with LTVs &gt; 80%, </a:t>
            </a:r>
            <a:r>
              <a:rPr lang="en-US" sz="1300" dirty="0">
                <a:latin typeface="+mn-lt"/>
              </a:rPr>
              <a:t>l</a:t>
            </a:r>
            <a:r>
              <a:rPr lang="en-US" sz="1300" dirty="0" smtClean="0">
                <a:latin typeface="+mn-lt"/>
              </a:rPr>
              <a:t>oans with lower OLTVs are counted as part of HARP because the Agencies essentially suspended their streamline refi programs after the financial crisis and currently rely on the HARP program for all streamline processing</a:t>
            </a:r>
          </a:p>
          <a:p>
            <a:pPr marL="342900" indent="-342900">
              <a:lnSpc>
                <a:spcPct val="150000"/>
              </a:lnSpc>
              <a:buFont typeface="+mj-lt"/>
              <a:buAutoNum type="arabicPeriod"/>
            </a:pPr>
            <a:r>
              <a:rPr lang="en-US" sz="1300" dirty="0">
                <a:latin typeface="+mn-lt"/>
              </a:rPr>
              <a:t>After August </a:t>
            </a:r>
            <a:r>
              <a:rPr lang="en-US" sz="1300" dirty="0" smtClean="0">
                <a:latin typeface="+mn-lt"/>
              </a:rPr>
              <a:t>2013:</a:t>
            </a:r>
            <a:endParaRPr lang="en-US" sz="1300" dirty="0">
              <a:latin typeface="+mn-lt"/>
            </a:endParaRPr>
          </a:p>
          <a:p>
            <a:pPr marL="793276" lvl="1" indent="-285750">
              <a:lnSpc>
                <a:spcPct val="150000"/>
              </a:lnSpc>
              <a:buFont typeface="Arial" panose="020B0604020202020204" pitchFamily="34" charset="0"/>
              <a:buChar char="•"/>
            </a:pPr>
            <a:r>
              <a:rPr lang="en-US" sz="1300" dirty="0">
                <a:latin typeface="+mn-lt"/>
              </a:rPr>
              <a:t>N</a:t>
            </a:r>
            <a:r>
              <a:rPr lang="en-US" sz="1300" dirty="0" smtClean="0">
                <a:latin typeface="+mn-lt"/>
              </a:rPr>
              <a:t>ew Freddie </a:t>
            </a:r>
            <a:r>
              <a:rPr lang="en-US" sz="1300" dirty="0">
                <a:latin typeface="+mn-lt"/>
              </a:rPr>
              <a:t>Mac and Fannie Mae </a:t>
            </a:r>
            <a:r>
              <a:rPr lang="en-US" sz="1300" dirty="0" smtClean="0">
                <a:latin typeface="+mn-lt"/>
              </a:rPr>
              <a:t>loan-level credit information</a:t>
            </a:r>
            <a:r>
              <a:rPr lang="en-US" sz="1300" dirty="0">
                <a:latin typeface="+mn-lt"/>
              </a:rPr>
              <a:t> </a:t>
            </a:r>
            <a:r>
              <a:rPr lang="en-US" sz="1300" dirty="0" smtClean="0">
                <a:latin typeface="+mn-lt"/>
              </a:rPr>
              <a:t>are used to </a:t>
            </a:r>
            <a:r>
              <a:rPr lang="en-US" sz="1300" dirty="0">
                <a:latin typeface="+mn-lt"/>
              </a:rPr>
              <a:t>identify 30-year fixed –rate HARP loans by mapping </a:t>
            </a:r>
            <a:r>
              <a:rPr lang="en-US" sz="1300" dirty="0" smtClean="0">
                <a:latin typeface="+mn-lt"/>
              </a:rPr>
              <a:t>the credit </a:t>
            </a:r>
            <a:r>
              <a:rPr lang="en-US" sz="1300" dirty="0">
                <a:latin typeface="+mn-lt"/>
              </a:rPr>
              <a:t>dataset </a:t>
            </a:r>
            <a:r>
              <a:rPr lang="en-US" sz="1300" dirty="0" smtClean="0">
                <a:latin typeface="+mn-lt"/>
              </a:rPr>
              <a:t>to the </a:t>
            </a:r>
            <a:r>
              <a:rPr lang="en-US" sz="1300" dirty="0">
                <a:latin typeface="+mn-lt"/>
              </a:rPr>
              <a:t>standard </a:t>
            </a:r>
            <a:r>
              <a:rPr lang="en-US" sz="1300" dirty="0" smtClean="0">
                <a:latin typeface="+mn-lt"/>
              </a:rPr>
              <a:t>database without restrictions on the LTV ratio</a:t>
            </a:r>
          </a:p>
          <a:p>
            <a:pPr marL="793276" lvl="1" indent="-285750">
              <a:lnSpc>
                <a:spcPct val="150000"/>
              </a:lnSpc>
              <a:buFont typeface="Arial" panose="020B0604020202020204" pitchFamily="34" charset="0"/>
              <a:buChar char="•"/>
            </a:pPr>
            <a:r>
              <a:rPr lang="en-US" sz="1300" dirty="0" smtClean="0">
                <a:latin typeface="+mn-lt"/>
              </a:rPr>
              <a:t>The credit data set has about a one year lag, which means that recently originated loans cannot be identified as being </a:t>
            </a:r>
            <a:r>
              <a:rPr lang="en-US" sz="1300" dirty="0" err="1" smtClean="0">
                <a:latin typeface="+mn-lt"/>
              </a:rPr>
              <a:t>HARPed</a:t>
            </a:r>
            <a:r>
              <a:rPr lang="en-US" sz="1300" dirty="0" smtClean="0">
                <a:latin typeface="+mn-lt"/>
              </a:rPr>
              <a:t> or not using the current algorithm</a:t>
            </a:r>
          </a:p>
        </p:txBody>
      </p:sp>
    </p:spTree>
    <p:extLst>
      <p:ext uri="{BB962C8B-B14F-4D97-AF65-F5344CB8AC3E}">
        <p14:creationId xmlns:p14="http://schemas.microsoft.com/office/powerpoint/2010/main" val="40821764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a:t>
            </a:r>
            <a:br>
              <a:rPr lang="en-US" sz="1600" dirty="0" smtClean="0">
                <a:latin typeface="+mn-lt"/>
              </a:rPr>
            </a:br>
            <a:r>
              <a:rPr lang="en-US" sz="1600" dirty="0" smtClean="0">
                <a:latin typeface="+mn-lt"/>
              </a:rPr>
              <a:t>MI </a:t>
            </a:r>
            <a:r>
              <a:rPr lang="en-US" sz="1600" dirty="0">
                <a:latin typeface="+mn-lt"/>
              </a:rPr>
              <a:t>M</a:t>
            </a:r>
            <a:r>
              <a:rPr lang="en-US" sz="1600" dirty="0" smtClean="0">
                <a:latin typeface="+mn-lt"/>
              </a:rPr>
              <a:t>atching Method</a:t>
            </a:r>
            <a:endParaRPr lang="en-US" sz="1600" dirty="0">
              <a:latin typeface="+mn-lt"/>
            </a:endParaRPr>
          </a:p>
        </p:txBody>
      </p:sp>
      <p:sp>
        <p:nvSpPr>
          <p:cNvPr id="15" name="Rectangle 14"/>
          <p:cNvSpPr/>
          <p:nvPr/>
        </p:nvSpPr>
        <p:spPr>
          <a:xfrm>
            <a:off x="247857" y="1364277"/>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p:cNvCxnSpPr/>
          <p:nvPr/>
        </p:nvCxnSpPr>
        <p:spPr>
          <a:xfrm>
            <a:off x="247857" y="1966257"/>
            <a:ext cx="502899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19356" y="1503461"/>
            <a:ext cx="4069080" cy="307777"/>
          </a:xfrm>
          <a:prstGeom prst="rect">
            <a:avLst/>
          </a:prstGeom>
          <a:noFill/>
        </p:spPr>
        <p:txBody>
          <a:bodyPr wrap="square" rtlCol="0">
            <a:spAutoFit/>
          </a:bodyPr>
          <a:lstStyle/>
          <a:p>
            <a:r>
              <a:rPr lang="en-US" sz="1400" b="1" dirty="0">
                <a:latin typeface="+mn-lt"/>
              </a:rPr>
              <a:t>Three </a:t>
            </a:r>
            <a:r>
              <a:rPr lang="en-US" sz="1400" b="1" dirty="0" smtClean="0">
                <a:latin typeface="+mn-lt"/>
              </a:rPr>
              <a:t>Step </a:t>
            </a:r>
            <a:r>
              <a:rPr lang="en-US" sz="1400" b="1" dirty="0">
                <a:latin typeface="+mn-lt"/>
              </a:rPr>
              <a:t>Mapping</a:t>
            </a:r>
          </a:p>
        </p:txBody>
      </p:sp>
      <p:sp>
        <p:nvSpPr>
          <p:cNvPr id="18" name="TextBox 17"/>
          <p:cNvSpPr txBox="1"/>
          <p:nvPr/>
        </p:nvSpPr>
        <p:spPr>
          <a:xfrm>
            <a:off x="247857" y="2107219"/>
            <a:ext cx="5290930" cy="2354491"/>
          </a:xfrm>
          <a:prstGeom prst="rect">
            <a:avLst/>
          </a:prstGeom>
          <a:noFill/>
        </p:spPr>
        <p:txBody>
          <a:bodyPr wrap="square" rtlCol="0">
            <a:spAutoFit/>
          </a:bodyPr>
          <a:lstStyle/>
          <a:p>
            <a:pPr>
              <a:lnSpc>
                <a:spcPct val="150000"/>
              </a:lnSpc>
            </a:pPr>
            <a:r>
              <a:rPr lang="en-US" sz="1400" b="1" dirty="0" smtClean="0">
                <a:latin typeface="+mn-lt"/>
              </a:rPr>
              <a:t>Step 1: </a:t>
            </a:r>
            <a:r>
              <a:rPr lang="en-US" sz="1400" dirty="0" smtClean="0">
                <a:latin typeface="+mn-lt"/>
              </a:rPr>
              <a:t>The loan should be originated after June 2009 as a refi-NCO loan, with Origination LTV &gt;80%. Otherwise, it’s Non-</a:t>
            </a:r>
            <a:r>
              <a:rPr lang="en-US" sz="1400" dirty="0" err="1" smtClean="0">
                <a:latin typeface="+mn-lt"/>
              </a:rPr>
              <a:t>HARPed</a:t>
            </a:r>
            <a:r>
              <a:rPr lang="en-US" sz="1400" dirty="0" smtClean="0">
                <a:latin typeface="+mn-lt"/>
              </a:rPr>
              <a:t>.</a:t>
            </a:r>
          </a:p>
          <a:p>
            <a:pPr>
              <a:lnSpc>
                <a:spcPct val="150000"/>
              </a:lnSpc>
            </a:pPr>
            <a:r>
              <a:rPr lang="en-US" sz="1400" b="1" dirty="0" smtClean="0">
                <a:latin typeface="+mn-lt"/>
              </a:rPr>
              <a:t>Step 2: </a:t>
            </a:r>
            <a:r>
              <a:rPr lang="en-US" sz="1400" dirty="0" smtClean="0">
                <a:latin typeface="+mn-lt"/>
              </a:rPr>
              <a:t>If the loan doesn’t </a:t>
            </a:r>
            <a:r>
              <a:rPr lang="en-US" sz="1400" dirty="0">
                <a:latin typeface="+mn-lt"/>
              </a:rPr>
              <a:t>have </a:t>
            </a:r>
            <a:r>
              <a:rPr lang="en-US" sz="1400" dirty="0" smtClean="0">
                <a:latin typeface="+mn-lt"/>
              </a:rPr>
              <a:t>MI, we match it as </a:t>
            </a:r>
            <a:r>
              <a:rPr lang="en-US" sz="1400" dirty="0" err="1" smtClean="0">
                <a:latin typeface="+mn-lt"/>
              </a:rPr>
              <a:t>HARPed</a:t>
            </a:r>
            <a:r>
              <a:rPr lang="en-US" sz="1400" dirty="0" smtClean="0">
                <a:latin typeface="+mn-lt"/>
              </a:rPr>
              <a:t> loan;</a:t>
            </a:r>
          </a:p>
          <a:p>
            <a:pPr indent="571500">
              <a:lnSpc>
                <a:spcPct val="150000"/>
              </a:lnSpc>
            </a:pPr>
            <a:r>
              <a:rPr lang="en-US" sz="1400" dirty="0" smtClean="0">
                <a:latin typeface="+mn-lt"/>
              </a:rPr>
              <a:t>If </a:t>
            </a:r>
            <a:r>
              <a:rPr lang="en-US" sz="1400" dirty="0">
                <a:latin typeface="+mn-lt"/>
              </a:rPr>
              <a:t>not, go to step </a:t>
            </a:r>
            <a:r>
              <a:rPr lang="en-US" sz="1400" dirty="0" smtClean="0">
                <a:latin typeface="+mn-lt"/>
              </a:rPr>
              <a:t>3.</a:t>
            </a:r>
          </a:p>
          <a:p>
            <a:pPr marL="571500" indent="-571500">
              <a:lnSpc>
                <a:spcPct val="150000"/>
              </a:lnSpc>
            </a:pPr>
            <a:r>
              <a:rPr lang="en-US" sz="1400" b="1" dirty="0">
                <a:latin typeface="+mn-lt"/>
              </a:rPr>
              <a:t>Step </a:t>
            </a:r>
            <a:r>
              <a:rPr lang="en-US" sz="1400" b="1" dirty="0" smtClean="0">
                <a:latin typeface="+mn-lt"/>
              </a:rPr>
              <a:t>3: </a:t>
            </a:r>
            <a:r>
              <a:rPr lang="en-US" sz="1400" dirty="0" smtClean="0">
                <a:latin typeface="+mn-lt"/>
              </a:rPr>
              <a:t>For the loans that potentially carry over MI check whether MI matches current underwriting guidelines.  If there’s no match, then it’s a </a:t>
            </a:r>
            <a:r>
              <a:rPr lang="en-US" sz="1400" dirty="0" err="1" smtClean="0">
                <a:latin typeface="+mn-lt"/>
              </a:rPr>
              <a:t>HARPed</a:t>
            </a:r>
            <a:r>
              <a:rPr lang="en-US" sz="1400" dirty="0" smtClean="0">
                <a:latin typeface="+mn-lt"/>
              </a:rPr>
              <a:t> loan.</a:t>
            </a:r>
            <a:endParaRPr lang="en-US" sz="1400" dirty="0">
              <a:latin typeface="+mn-lt"/>
            </a:endParaRPr>
          </a:p>
        </p:txBody>
      </p:sp>
      <p:sp>
        <p:nvSpPr>
          <p:cNvPr id="19" name="Rectangle 18"/>
          <p:cNvSpPr/>
          <p:nvPr/>
        </p:nvSpPr>
        <p:spPr>
          <a:xfrm>
            <a:off x="269288" y="4556812"/>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p:cNvCxnSpPr/>
          <p:nvPr/>
        </p:nvCxnSpPr>
        <p:spPr>
          <a:xfrm>
            <a:off x="269288" y="5158792"/>
            <a:ext cx="502899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40787" y="4695996"/>
            <a:ext cx="4069080" cy="307777"/>
          </a:xfrm>
          <a:prstGeom prst="rect">
            <a:avLst/>
          </a:prstGeom>
          <a:noFill/>
        </p:spPr>
        <p:txBody>
          <a:bodyPr wrap="square" rtlCol="0">
            <a:spAutoFit/>
          </a:bodyPr>
          <a:lstStyle/>
          <a:p>
            <a:r>
              <a:rPr lang="en-US" sz="1400" b="1" dirty="0" smtClean="0">
                <a:latin typeface="+mn-lt"/>
              </a:rPr>
              <a:t>Cons</a:t>
            </a:r>
            <a:endParaRPr lang="en-US" sz="1400" b="1" dirty="0">
              <a:latin typeface="+mn-lt"/>
            </a:endParaRPr>
          </a:p>
        </p:txBody>
      </p:sp>
      <p:sp>
        <p:nvSpPr>
          <p:cNvPr id="22" name="TextBox 21"/>
          <p:cNvSpPr txBox="1"/>
          <p:nvPr/>
        </p:nvSpPr>
        <p:spPr>
          <a:xfrm>
            <a:off x="269288" y="5299754"/>
            <a:ext cx="5290930" cy="1061829"/>
          </a:xfrm>
          <a:prstGeom prst="rect">
            <a:avLst/>
          </a:prstGeom>
          <a:noFill/>
        </p:spPr>
        <p:txBody>
          <a:bodyPr wrap="square" rtlCol="0">
            <a:spAutoFit/>
          </a:bodyPr>
          <a:lstStyle/>
          <a:p>
            <a:pPr marL="342900" indent="-342900">
              <a:lnSpc>
                <a:spcPct val="150000"/>
              </a:lnSpc>
              <a:buAutoNum type="arabicPeriod"/>
            </a:pPr>
            <a:r>
              <a:rPr lang="en-US" sz="1400" dirty="0" smtClean="0">
                <a:latin typeface="+mn-lt"/>
              </a:rPr>
              <a:t>Cannot match loans with OLTV equal or lower than 80%.</a:t>
            </a:r>
          </a:p>
          <a:p>
            <a:pPr marL="342900" indent="-342900">
              <a:lnSpc>
                <a:spcPct val="150000"/>
              </a:lnSpc>
              <a:buAutoNum type="arabicPeriod"/>
            </a:pPr>
            <a:r>
              <a:rPr lang="en-US" sz="1400" dirty="0" smtClean="0">
                <a:latin typeface="+mn-lt"/>
              </a:rPr>
              <a:t>Highly sensitive to the correctness of MI underwriting guidelines.</a:t>
            </a:r>
          </a:p>
          <a:p>
            <a:pPr>
              <a:lnSpc>
                <a:spcPct val="150000"/>
              </a:lnSpc>
            </a:pPr>
            <a:r>
              <a:rPr lang="en-US" sz="1400" dirty="0" smtClean="0">
                <a:latin typeface="+mn-lt"/>
              </a:rPr>
              <a:t>          </a:t>
            </a:r>
            <a:endParaRPr lang="en-US" sz="1400" dirty="0">
              <a:latin typeface="+mn-lt"/>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7372" y="1642407"/>
            <a:ext cx="3990975" cy="4819650"/>
          </a:xfrm>
          <a:prstGeom prst="rect">
            <a:avLst/>
          </a:prstGeom>
        </p:spPr>
      </p:pic>
    </p:spTree>
    <p:extLst>
      <p:ext uri="{BB962C8B-B14F-4D97-AF65-F5344CB8AC3E}">
        <p14:creationId xmlns:p14="http://schemas.microsoft.com/office/powerpoint/2010/main" val="39719856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II</a:t>
            </a:r>
            <a:br>
              <a:rPr lang="en-US" sz="1600" dirty="0" smtClean="0">
                <a:latin typeface="+mn-lt"/>
              </a:rPr>
            </a:br>
            <a:r>
              <a:rPr lang="en-US" sz="1600" dirty="0" smtClean="0">
                <a:latin typeface="+mn-lt"/>
              </a:rPr>
              <a:t>Credit Dataset Mapping Method</a:t>
            </a:r>
            <a:endParaRPr lang="en-US" sz="1600" dirty="0">
              <a:latin typeface="+mn-lt"/>
            </a:endParaRPr>
          </a:p>
        </p:txBody>
      </p:sp>
      <p:grpSp>
        <p:nvGrpSpPr>
          <p:cNvPr id="7" name="Group 6"/>
          <p:cNvGrpSpPr/>
          <p:nvPr/>
        </p:nvGrpSpPr>
        <p:grpSpPr>
          <a:xfrm>
            <a:off x="247856" y="1440477"/>
            <a:ext cx="3266869" cy="4888817"/>
            <a:chOff x="247856" y="1440477"/>
            <a:chExt cx="3962193" cy="4888817"/>
          </a:xfrm>
        </p:grpSpPr>
        <p:sp>
          <p:nvSpPr>
            <p:cNvPr id="15" name="Rectangle 14"/>
            <p:cNvSpPr/>
            <p:nvPr/>
          </p:nvSpPr>
          <p:spPr>
            <a:xfrm>
              <a:off x="247857" y="1440477"/>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p:cNvCxnSpPr/>
            <p:nvPr/>
          </p:nvCxnSpPr>
          <p:spPr>
            <a:xfrm>
              <a:off x="247857" y="2042457"/>
              <a:ext cx="378121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19356" y="1579661"/>
              <a:ext cx="3285919" cy="307777"/>
            </a:xfrm>
            <a:prstGeom prst="rect">
              <a:avLst/>
            </a:prstGeom>
            <a:noFill/>
          </p:spPr>
          <p:txBody>
            <a:bodyPr wrap="square" rtlCol="0">
              <a:spAutoFit/>
            </a:bodyPr>
            <a:lstStyle/>
            <a:p>
              <a:r>
                <a:rPr lang="en-US" sz="1400" b="1" dirty="0" smtClean="0">
                  <a:latin typeface="+mn-lt"/>
                </a:rPr>
                <a:t>Credit Data Mapping</a:t>
              </a:r>
              <a:endParaRPr lang="en-US" sz="1400" b="1" dirty="0">
                <a:latin typeface="+mn-lt"/>
              </a:endParaRPr>
            </a:p>
          </p:txBody>
        </p:sp>
        <p:sp>
          <p:nvSpPr>
            <p:cNvPr id="18" name="TextBox 17"/>
            <p:cNvSpPr txBox="1"/>
            <p:nvPr/>
          </p:nvSpPr>
          <p:spPr>
            <a:xfrm>
              <a:off x="247856" y="2183419"/>
              <a:ext cx="3962193" cy="138499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No restrictions on OLTV &gt; 80%.</a:t>
              </a:r>
            </a:p>
            <a:p>
              <a:pPr marL="285750" indent="-285750">
                <a:lnSpc>
                  <a:spcPct val="150000"/>
                </a:lnSpc>
                <a:buFont typeface="Arial" panose="020B0604020202020204" pitchFamily="34" charset="0"/>
                <a:buChar char="•"/>
              </a:pPr>
              <a:r>
                <a:rPr lang="en-US" sz="1400" dirty="0" smtClean="0">
                  <a:latin typeface="+mn-lt"/>
                </a:rPr>
                <a:t>More accurate as there is no dependency on MI underwriting criteria. </a:t>
              </a:r>
              <a:endParaRPr lang="en-US" sz="1400" dirty="0">
                <a:latin typeface="+mn-lt"/>
              </a:endParaRPr>
            </a:p>
          </p:txBody>
        </p:sp>
        <p:sp>
          <p:nvSpPr>
            <p:cNvPr id="23" name="Rectangle 22"/>
            <p:cNvSpPr/>
            <p:nvPr/>
          </p:nvSpPr>
          <p:spPr>
            <a:xfrm>
              <a:off x="247857" y="3688377"/>
              <a:ext cx="435663"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4" name="Straight Connector 23"/>
            <p:cNvCxnSpPr/>
            <p:nvPr/>
          </p:nvCxnSpPr>
          <p:spPr>
            <a:xfrm>
              <a:off x="247857" y="4290357"/>
              <a:ext cx="378121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19356" y="3827561"/>
              <a:ext cx="3285919" cy="307777"/>
            </a:xfrm>
            <a:prstGeom prst="rect">
              <a:avLst/>
            </a:prstGeom>
            <a:noFill/>
          </p:spPr>
          <p:txBody>
            <a:bodyPr wrap="square" rtlCol="0">
              <a:spAutoFit/>
            </a:bodyPr>
            <a:lstStyle/>
            <a:p>
              <a:r>
                <a:rPr lang="en-US" sz="1400" b="1" dirty="0" smtClean="0">
                  <a:latin typeface="+mn-lt"/>
                </a:rPr>
                <a:t>Cons</a:t>
              </a:r>
              <a:endParaRPr lang="en-US" sz="1400" b="1" dirty="0">
                <a:latin typeface="+mn-lt"/>
              </a:endParaRPr>
            </a:p>
          </p:txBody>
        </p:sp>
        <p:sp>
          <p:nvSpPr>
            <p:cNvPr id="26" name="TextBox 25"/>
            <p:cNvSpPr txBox="1"/>
            <p:nvPr/>
          </p:nvSpPr>
          <p:spPr>
            <a:xfrm>
              <a:off x="247856" y="4297969"/>
              <a:ext cx="3962193" cy="20313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The credit data set has about a one year lag, meaning we don’t have the most recent origination data. Consequently, we have to mark the HARP status as unknown for recently (within the last year) originated loans.</a:t>
              </a:r>
              <a:endParaRPr lang="en-US" sz="1400" dirty="0">
                <a:latin typeface="+mn-lt"/>
              </a:endParaRPr>
            </a:p>
          </p:txBody>
        </p:sp>
      </p:gr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1816" y="1440477"/>
            <a:ext cx="6093321" cy="5350416"/>
          </a:xfrm>
          <a:prstGeom prst="rect">
            <a:avLst/>
          </a:prstGeom>
        </p:spPr>
      </p:pic>
    </p:spTree>
    <p:extLst>
      <p:ext uri="{BB962C8B-B14F-4D97-AF65-F5344CB8AC3E}">
        <p14:creationId xmlns:p14="http://schemas.microsoft.com/office/powerpoint/2010/main" val="34881202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hart 10"/>
          <p:cNvGraphicFramePr/>
          <p:nvPr>
            <p:extLst>
              <p:ext uri="{D42A27DB-BD31-4B8C-83A1-F6EECF244321}">
                <p14:modId xmlns:p14="http://schemas.microsoft.com/office/powerpoint/2010/main" val="4203322814"/>
              </p:ext>
            </p:extLst>
          </p:nvPr>
        </p:nvGraphicFramePr>
        <p:xfrm>
          <a:off x="699715" y="1181100"/>
          <a:ext cx="8674873" cy="4183380"/>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II</a:t>
            </a:r>
            <a:br>
              <a:rPr lang="en-US" sz="1600" dirty="0" smtClean="0">
                <a:latin typeface="+mn-lt"/>
              </a:rPr>
            </a:br>
            <a:r>
              <a:rPr lang="en-US" sz="1600" dirty="0" smtClean="0">
                <a:latin typeface="+mn-lt"/>
              </a:rPr>
              <a:t>Results from the Credit Dataset Mapping Method</a:t>
            </a:r>
            <a:endParaRPr lang="en-US" sz="1600" dirty="0">
              <a:latin typeface="+mn-lt"/>
            </a:endParaRPr>
          </a:p>
        </p:txBody>
      </p:sp>
      <p:sp>
        <p:nvSpPr>
          <p:cNvPr id="6" name="TextBox 5"/>
          <p:cNvSpPr txBox="1"/>
          <p:nvPr/>
        </p:nvSpPr>
        <p:spPr>
          <a:xfrm>
            <a:off x="3808674" y="3983603"/>
            <a:ext cx="1948069" cy="246221"/>
          </a:xfrm>
          <a:prstGeom prst="rect">
            <a:avLst/>
          </a:prstGeom>
          <a:noFill/>
        </p:spPr>
        <p:txBody>
          <a:bodyPr wrap="square" rtlCol="0">
            <a:spAutoFit/>
          </a:bodyPr>
          <a:lstStyle/>
          <a:p>
            <a:r>
              <a:rPr lang="en-US" sz="1000" b="1" dirty="0" smtClean="0">
                <a:solidFill>
                  <a:schemeClr val="bg1"/>
                </a:solidFill>
                <a:latin typeface="+mn-lt"/>
              </a:rPr>
              <a:t>Non-eligible: Purchas, refi-CO</a:t>
            </a:r>
            <a:endParaRPr lang="en-US" sz="1000" b="1" dirty="0">
              <a:solidFill>
                <a:schemeClr val="bg1"/>
              </a:solidFill>
              <a:latin typeface="+mn-lt"/>
            </a:endParaRPr>
          </a:p>
        </p:txBody>
      </p:sp>
      <p:sp>
        <p:nvSpPr>
          <p:cNvPr id="19" name="TextBox 18"/>
          <p:cNvSpPr txBox="1"/>
          <p:nvPr/>
        </p:nvSpPr>
        <p:spPr>
          <a:xfrm>
            <a:off x="6135757" y="2609351"/>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20" name="TextBox 19"/>
          <p:cNvSpPr txBox="1"/>
          <p:nvPr/>
        </p:nvSpPr>
        <p:spPr>
          <a:xfrm>
            <a:off x="5430741" y="1579656"/>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21" name="TextBox 20"/>
          <p:cNvSpPr txBox="1"/>
          <p:nvPr/>
        </p:nvSpPr>
        <p:spPr>
          <a:xfrm>
            <a:off x="2291301" y="1395451"/>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22" name="TextBox 21"/>
          <p:cNvSpPr txBox="1"/>
          <p:nvPr/>
        </p:nvSpPr>
        <p:spPr>
          <a:xfrm>
            <a:off x="699715" y="5520731"/>
            <a:ext cx="8549586" cy="738664"/>
          </a:xfrm>
          <a:prstGeom prst="rect">
            <a:avLst/>
          </a:prstGeom>
          <a:noFill/>
        </p:spPr>
        <p:txBody>
          <a:bodyPr wrap="square" rtlCol="0">
            <a:spAutoFit/>
          </a:bodyPr>
          <a:lstStyle/>
          <a:p>
            <a:pPr>
              <a:lnSpc>
                <a:spcPct val="150000"/>
              </a:lnSpc>
            </a:pPr>
            <a:r>
              <a:rPr lang="en-US" sz="1400" dirty="0">
                <a:latin typeface="+mn-lt"/>
              </a:rPr>
              <a:t>T</a:t>
            </a:r>
            <a:r>
              <a:rPr lang="en-US" sz="1400" dirty="0" smtClean="0">
                <a:latin typeface="+mn-lt"/>
              </a:rPr>
              <a:t>he blue area can be consider as non-</a:t>
            </a:r>
            <a:r>
              <a:rPr lang="en-US" sz="1400" dirty="0" err="1" smtClean="0">
                <a:latin typeface="+mn-lt"/>
              </a:rPr>
              <a:t>HARPed</a:t>
            </a:r>
            <a:r>
              <a:rPr lang="en-US" sz="1400" dirty="0" smtClean="0">
                <a:latin typeface="+mn-lt"/>
              </a:rPr>
              <a:t> loans</a:t>
            </a:r>
            <a:r>
              <a:rPr lang="en-US" sz="1400" dirty="0">
                <a:latin typeface="+mn-lt"/>
              </a:rPr>
              <a:t>; </a:t>
            </a:r>
            <a:r>
              <a:rPr lang="en-US" sz="1400" dirty="0" smtClean="0">
                <a:latin typeface="+mn-lt"/>
              </a:rPr>
              <a:t>brown area is </a:t>
            </a:r>
            <a:r>
              <a:rPr lang="en-US" sz="1400" dirty="0" err="1" smtClean="0">
                <a:latin typeface="+mn-lt"/>
              </a:rPr>
              <a:t>HARPed</a:t>
            </a:r>
            <a:r>
              <a:rPr lang="en-US" sz="1400" dirty="0" smtClean="0">
                <a:latin typeface="+mn-lt"/>
              </a:rPr>
              <a:t> loans percentage.</a:t>
            </a:r>
          </a:p>
          <a:p>
            <a:pPr>
              <a:lnSpc>
                <a:spcPct val="150000"/>
              </a:lnSpc>
            </a:pPr>
            <a:r>
              <a:rPr lang="en-US" sz="1400" dirty="0" smtClean="0">
                <a:latin typeface="+mn-lt"/>
              </a:rPr>
              <a:t>Red area is the loans originated within the most recent year. The credit dataset has a gap on this area.</a:t>
            </a:r>
          </a:p>
        </p:txBody>
      </p:sp>
      <p:sp>
        <p:nvSpPr>
          <p:cNvPr id="8" name="Isosceles Triangle 7"/>
          <p:cNvSpPr/>
          <p:nvPr/>
        </p:nvSpPr>
        <p:spPr>
          <a:xfrm rot="10800000">
            <a:off x="3694042" y="6259396"/>
            <a:ext cx="2177332" cy="18116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699715" y="6500067"/>
            <a:ext cx="8549586" cy="382092"/>
          </a:xfrm>
          <a:prstGeom prst="rect">
            <a:avLst/>
          </a:prstGeom>
          <a:noFill/>
        </p:spPr>
        <p:txBody>
          <a:bodyPr wrap="square" rtlCol="0">
            <a:spAutoFit/>
          </a:bodyPr>
          <a:lstStyle/>
          <a:p>
            <a:pPr algn="ctr">
              <a:lnSpc>
                <a:spcPct val="150000"/>
              </a:lnSpc>
            </a:pPr>
            <a:r>
              <a:rPr lang="en-US" sz="1400" dirty="0" smtClean="0">
                <a:latin typeface="+mn-lt"/>
              </a:rPr>
              <a:t>Need to improve the mapping for the red area.</a:t>
            </a:r>
          </a:p>
        </p:txBody>
      </p:sp>
    </p:spTree>
    <p:extLst>
      <p:ext uri="{BB962C8B-B14F-4D97-AF65-F5344CB8AC3E}">
        <p14:creationId xmlns:p14="http://schemas.microsoft.com/office/powerpoint/2010/main" val="32266748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endParaRPr lang="en-US" sz="1600" dirty="0">
              <a:latin typeface="+mn-lt"/>
            </a:endParaRPr>
          </a:p>
        </p:txBody>
      </p:sp>
      <p:cxnSp>
        <p:nvCxnSpPr>
          <p:cNvPr id="71" name="AutoShape 8"/>
          <p:cNvCxnSpPr>
            <a:cxnSpLocks noChangeShapeType="1"/>
            <a:stCxn id="86" idx="3"/>
            <a:endCxn id="87" idx="1"/>
          </p:cNvCxnSpPr>
          <p:nvPr/>
        </p:nvCxnSpPr>
        <p:spPr bwMode="auto">
          <a:xfrm flipV="1">
            <a:off x="1784985" y="2878137"/>
            <a:ext cx="591503" cy="1006475"/>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cxnSp>
        <p:nvCxnSpPr>
          <p:cNvPr id="75" name="AutoShape 9"/>
          <p:cNvCxnSpPr>
            <a:cxnSpLocks noChangeShapeType="1"/>
            <a:stCxn id="86" idx="3"/>
            <a:endCxn id="88" idx="1"/>
          </p:cNvCxnSpPr>
          <p:nvPr/>
        </p:nvCxnSpPr>
        <p:spPr bwMode="auto">
          <a:xfrm>
            <a:off x="1784985" y="3884612"/>
            <a:ext cx="591503" cy="1008062"/>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sp>
        <p:nvSpPr>
          <p:cNvPr id="86" name="Rectangle 85"/>
          <p:cNvSpPr>
            <a:spLocks noChangeArrowheads="1"/>
          </p:cNvSpPr>
          <p:nvPr/>
        </p:nvSpPr>
        <p:spPr bwMode="auto">
          <a:xfrm>
            <a:off x="570548" y="3427412"/>
            <a:ext cx="1214437"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ja-JP" sz="1200" b="1" dirty="0" smtClean="0">
                <a:solidFill>
                  <a:schemeClr val="accent1"/>
                </a:solidFill>
                <a:latin typeface="+mn-lt"/>
                <a:cs typeface="Arial Unicode MS" pitchFamily="34" charset="-122"/>
              </a:rPr>
              <a:t>Unknown Refi Loans</a:t>
            </a:r>
            <a:endParaRPr lang="en-US" altLang="ja-JP" sz="1200" b="1" dirty="0">
              <a:solidFill>
                <a:schemeClr val="accent1"/>
              </a:solidFill>
              <a:latin typeface="+mn-lt"/>
              <a:cs typeface="Arial Unicode MS" pitchFamily="34" charset="-122"/>
            </a:endParaRPr>
          </a:p>
        </p:txBody>
      </p:sp>
      <p:sp>
        <p:nvSpPr>
          <p:cNvPr id="87" name="Rectangle 86"/>
          <p:cNvSpPr>
            <a:spLocks noChangeArrowheads="1"/>
          </p:cNvSpPr>
          <p:nvPr/>
        </p:nvSpPr>
        <p:spPr bwMode="auto">
          <a:xfrm>
            <a:off x="2376488" y="2420937"/>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LTV &gt; 80</a:t>
            </a:r>
            <a:endParaRPr lang="en-US" altLang="ja-JP" sz="1200" b="1" dirty="0">
              <a:solidFill>
                <a:schemeClr val="accent1"/>
              </a:solidFill>
              <a:latin typeface="+mn-lt"/>
              <a:cs typeface="Arial Unicode MS" pitchFamily="34" charset="-122"/>
            </a:endParaRPr>
          </a:p>
        </p:txBody>
      </p:sp>
      <p:sp>
        <p:nvSpPr>
          <p:cNvPr id="88" name="Rectangle 87"/>
          <p:cNvSpPr>
            <a:spLocks noChangeArrowheads="1"/>
          </p:cNvSpPr>
          <p:nvPr/>
        </p:nvSpPr>
        <p:spPr bwMode="auto">
          <a:xfrm>
            <a:off x="2376488" y="4435474"/>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LTV &lt;= 80</a:t>
            </a:r>
            <a:endParaRPr lang="en-US" altLang="ja-JP" sz="1200" b="1" dirty="0">
              <a:solidFill>
                <a:schemeClr val="accent1"/>
              </a:solidFill>
              <a:latin typeface="+mn-lt"/>
              <a:cs typeface="Arial Unicode MS" pitchFamily="34" charset="-122"/>
            </a:endParaRPr>
          </a:p>
        </p:txBody>
      </p:sp>
      <p:cxnSp>
        <p:nvCxnSpPr>
          <p:cNvPr id="96" name="AutoShape 14"/>
          <p:cNvCxnSpPr>
            <a:cxnSpLocks noChangeShapeType="1"/>
            <a:stCxn id="99" idx="3"/>
            <a:endCxn id="104" idx="1"/>
          </p:cNvCxnSpPr>
          <p:nvPr/>
        </p:nvCxnSpPr>
        <p:spPr bwMode="auto">
          <a:xfrm flipV="1">
            <a:off x="5369242" y="2129749"/>
            <a:ext cx="805180" cy="748388"/>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cxnSp>
        <p:nvCxnSpPr>
          <p:cNvPr id="97" name="AutoShape 15"/>
          <p:cNvCxnSpPr>
            <a:cxnSpLocks noChangeShapeType="1"/>
            <a:stCxn id="99" idx="3"/>
            <a:endCxn id="103" idx="1"/>
          </p:cNvCxnSpPr>
          <p:nvPr/>
        </p:nvCxnSpPr>
        <p:spPr bwMode="auto">
          <a:xfrm>
            <a:off x="5369242" y="2878137"/>
            <a:ext cx="805180" cy="757237"/>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sp>
        <p:nvSpPr>
          <p:cNvPr id="99" name="Rectangle 98"/>
          <p:cNvSpPr>
            <a:spLocks noChangeArrowheads="1"/>
          </p:cNvSpPr>
          <p:nvPr/>
        </p:nvSpPr>
        <p:spPr bwMode="auto">
          <a:xfrm>
            <a:off x="4151630" y="2420937"/>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MI Test</a:t>
            </a:r>
          </a:p>
          <a:p>
            <a:pPr algn="ctr">
              <a:defRPr/>
            </a:pPr>
            <a:r>
              <a:rPr lang="en-US" altLang="ja-JP" sz="1200" b="1" dirty="0" smtClean="0">
                <a:solidFill>
                  <a:schemeClr val="accent1"/>
                </a:solidFill>
                <a:cs typeface="Arial Unicode MS" pitchFamily="34" charset="-122"/>
              </a:rPr>
              <a:t>Using </a:t>
            </a:r>
            <a:r>
              <a:rPr lang="en-US" altLang="ja-JP" sz="1200" b="1" dirty="0" err="1" smtClean="0">
                <a:solidFill>
                  <a:schemeClr val="accent1"/>
                </a:solidFill>
                <a:cs typeface="Arial Unicode MS" pitchFamily="34" charset="-122"/>
              </a:rPr>
              <a:t>Algo</a:t>
            </a:r>
            <a:r>
              <a:rPr lang="en-US" altLang="ja-JP" sz="1200" b="1" dirty="0" smtClean="0">
                <a:solidFill>
                  <a:schemeClr val="accent1"/>
                </a:solidFill>
                <a:cs typeface="Arial Unicode MS" pitchFamily="34" charset="-122"/>
              </a:rPr>
              <a:t> I</a:t>
            </a:r>
            <a:endParaRPr lang="en-US" altLang="ja-JP" sz="1200" b="1" dirty="0">
              <a:solidFill>
                <a:schemeClr val="accent1"/>
              </a:solidFill>
              <a:latin typeface="+mn-lt"/>
              <a:cs typeface="Arial Unicode MS" pitchFamily="34" charset="-122"/>
            </a:endParaRPr>
          </a:p>
        </p:txBody>
      </p:sp>
      <p:sp>
        <p:nvSpPr>
          <p:cNvPr id="100" name="Rectangle 99"/>
          <p:cNvSpPr>
            <a:spLocks noChangeArrowheads="1"/>
          </p:cNvSpPr>
          <p:nvPr/>
        </p:nvSpPr>
        <p:spPr bwMode="auto">
          <a:xfrm>
            <a:off x="4151630" y="4435474"/>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Ratio </a:t>
            </a:r>
          </a:p>
          <a:p>
            <a:pPr algn="ctr">
              <a:defRPr/>
            </a:pPr>
            <a:r>
              <a:rPr lang="en-US" altLang="zh-CN" sz="1200" b="1" dirty="0" smtClean="0">
                <a:solidFill>
                  <a:schemeClr val="accent1"/>
                </a:solidFill>
                <a:latin typeface="+mn-lt"/>
                <a:cs typeface="Arial Unicode MS" pitchFamily="34" charset="-122"/>
              </a:rPr>
              <a:t>HARP/Total </a:t>
            </a:r>
            <a:r>
              <a:rPr lang="en-US" altLang="zh-CN" sz="1200" b="1" dirty="0" smtClean="0">
                <a:solidFill>
                  <a:schemeClr val="accent1"/>
                </a:solidFill>
                <a:latin typeface="+mn-lt"/>
                <a:cs typeface="Arial Unicode MS" pitchFamily="34" charset="-122"/>
              </a:rPr>
              <a:t>Refi</a:t>
            </a:r>
            <a:endParaRPr lang="en-US" altLang="ja-JP" sz="1200" b="1" dirty="0">
              <a:solidFill>
                <a:schemeClr val="accent1"/>
              </a:solidFill>
              <a:latin typeface="+mn-lt"/>
              <a:cs typeface="Arial Unicode MS" pitchFamily="34" charset="-122"/>
            </a:endParaRPr>
          </a:p>
        </p:txBody>
      </p:sp>
      <p:sp>
        <p:nvSpPr>
          <p:cNvPr id="103" name="Rectangle 102"/>
          <p:cNvSpPr>
            <a:spLocks noChangeArrowheads="1"/>
          </p:cNvSpPr>
          <p:nvPr/>
        </p:nvSpPr>
        <p:spPr bwMode="auto">
          <a:xfrm>
            <a:off x="6174422" y="3178174"/>
            <a:ext cx="1214438"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cs typeface="Arial Unicode MS" pitchFamily="34" charset="-122"/>
              </a:rPr>
              <a:t>N: Non-</a:t>
            </a:r>
            <a:r>
              <a:rPr lang="en-US" altLang="zh-CN" sz="1200" b="1" dirty="0" err="1" smtClean="0">
                <a:solidFill>
                  <a:schemeClr val="accent1"/>
                </a:solidFill>
                <a:cs typeface="Arial Unicode MS" pitchFamily="34" charset="-122"/>
              </a:rPr>
              <a:t>HARPed</a:t>
            </a:r>
            <a:endParaRPr lang="en-US" altLang="zh-CN" sz="1200" b="1" dirty="0" smtClean="0">
              <a:solidFill>
                <a:schemeClr val="accent1"/>
              </a:solidFill>
              <a:cs typeface="Arial Unicode MS" pitchFamily="34" charset="-122"/>
            </a:endParaRPr>
          </a:p>
          <a:p>
            <a:pPr algn="ctr">
              <a:defRPr/>
            </a:pPr>
            <a:r>
              <a:rPr lang="en-US" altLang="zh-CN" sz="1200" b="1" dirty="0" smtClean="0">
                <a:solidFill>
                  <a:schemeClr val="accent1"/>
                </a:solidFill>
                <a:cs typeface="Arial Unicode MS" pitchFamily="34" charset="-122"/>
              </a:rPr>
              <a:t>HARP</a:t>
            </a:r>
            <a:r>
              <a:rPr lang="en-US" altLang="zh-CN" sz="1200" b="1" dirty="0">
                <a:solidFill>
                  <a:schemeClr val="accent1"/>
                </a:solidFill>
                <a:cs typeface="Arial Unicode MS" pitchFamily="34" charset="-122"/>
              </a:rPr>
              <a:t>% = </a:t>
            </a:r>
            <a:r>
              <a:rPr lang="en-US" altLang="zh-CN" sz="1200" b="1" dirty="0" smtClean="0">
                <a:solidFill>
                  <a:schemeClr val="accent1"/>
                </a:solidFill>
                <a:cs typeface="Arial Unicode MS" pitchFamily="34" charset="-122"/>
              </a:rPr>
              <a:t>0</a:t>
            </a:r>
            <a:endParaRPr lang="en-US" altLang="ja-JP" sz="1200" b="1" dirty="0">
              <a:solidFill>
                <a:schemeClr val="accent1"/>
              </a:solidFill>
              <a:cs typeface="Arial Unicode MS" pitchFamily="34" charset="-122"/>
            </a:endParaRPr>
          </a:p>
        </p:txBody>
      </p:sp>
      <p:sp>
        <p:nvSpPr>
          <p:cNvPr id="104" name="Rectangle 103"/>
          <p:cNvSpPr>
            <a:spLocks noChangeArrowheads="1"/>
          </p:cNvSpPr>
          <p:nvPr/>
        </p:nvSpPr>
        <p:spPr bwMode="auto">
          <a:xfrm>
            <a:off x="6174422" y="1672549"/>
            <a:ext cx="1214438"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accent1"/>
                </a:solidFill>
                <a:latin typeface="+mn-lt"/>
                <a:cs typeface="Arial Unicode MS" pitchFamily="34" charset="-122"/>
              </a:rPr>
              <a:t>Y: </a:t>
            </a:r>
            <a:r>
              <a:rPr lang="en-US" altLang="zh-CN" sz="1200" b="1" dirty="0" err="1" smtClean="0">
                <a:solidFill>
                  <a:schemeClr val="accent1"/>
                </a:solidFill>
                <a:latin typeface="+mn-lt"/>
                <a:cs typeface="Arial Unicode MS" pitchFamily="34" charset="-122"/>
              </a:rPr>
              <a:t>HARPed</a:t>
            </a:r>
            <a:endParaRPr lang="en-US" altLang="zh-CN" sz="1200" b="1" dirty="0" smtClean="0">
              <a:solidFill>
                <a:schemeClr val="accent1"/>
              </a:solidFill>
              <a:latin typeface="+mn-lt"/>
              <a:cs typeface="Arial Unicode MS" pitchFamily="34" charset="-122"/>
            </a:endParaRPr>
          </a:p>
          <a:p>
            <a:pPr algn="ctr">
              <a:defRPr/>
            </a:pPr>
            <a:r>
              <a:rPr lang="en-US" altLang="zh-CN" sz="1200" b="1" dirty="0" smtClean="0">
                <a:solidFill>
                  <a:schemeClr val="accent1"/>
                </a:solidFill>
                <a:latin typeface="+mn-lt"/>
                <a:cs typeface="Arial Unicode MS" pitchFamily="34" charset="-122"/>
              </a:rPr>
              <a:t>HARP% = 100</a:t>
            </a:r>
            <a:endParaRPr lang="en-US" altLang="ja-JP" sz="1200" b="1" dirty="0">
              <a:solidFill>
                <a:schemeClr val="accent1"/>
              </a:solidFill>
              <a:latin typeface="+mn-lt"/>
              <a:cs typeface="Arial Unicode MS" pitchFamily="34" charset="-122"/>
            </a:endParaRPr>
          </a:p>
        </p:txBody>
      </p:sp>
      <p:cxnSp>
        <p:nvCxnSpPr>
          <p:cNvPr id="7" name="Straight Connector 6"/>
          <p:cNvCxnSpPr>
            <a:stCxn id="87" idx="3"/>
            <a:endCxn id="99" idx="1"/>
          </p:cNvCxnSpPr>
          <p:nvPr/>
        </p:nvCxnSpPr>
        <p:spPr>
          <a:xfrm>
            <a:off x="3594100" y="2878137"/>
            <a:ext cx="557530" cy="0"/>
          </a:xfrm>
          <a:prstGeom prst="line">
            <a:avLst/>
          </a:prstGeom>
          <a:ln/>
        </p:spPr>
        <p:style>
          <a:lnRef idx="2">
            <a:schemeClr val="accent1"/>
          </a:lnRef>
          <a:fillRef idx="1">
            <a:schemeClr val="lt1"/>
          </a:fillRef>
          <a:effectRef idx="0">
            <a:schemeClr val="accent1"/>
          </a:effectRef>
          <a:fontRef idx="minor">
            <a:schemeClr val="dk1"/>
          </a:fontRef>
        </p:style>
      </p:cxnSp>
      <p:cxnSp>
        <p:nvCxnSpPr>
          <p:cNvPr id="107" name="Straight Connector 106"/>
          <p:cNvCxnSpPr>
            <a:stCxn id="88" idx="3"/>
            <a:endCxn id="100" idx="1"/>
          </p:cNvCxnSpPr>
          <p:nvPr/>
        </p:nvCxnSpPr>
        <p:spPr>
          <a:xfrm>
            <a:off x="3594100" y="4892674"/>
            <a:ext cx="557530" cy="0"/>
          </a:xfrm>
          <a:prstGeom prst="line">
            <a:avLst/>
          </a:prstGeom>
          <a:ln/>
        </p:spPr>
        <p:style>
          <a:lnRef idx="2">
            <a:schemeClr val="accent1"/>
          </a:lnRef>
          <a:fillRef idx="1">
            <a:schemeClr val="lt1"/>
          </a:fillRef>
          <a:effectRef idx="0">
            <a:schemeClr val="accent1"/>
          </a:effectRef>
          <a:fontRef idx="minor">
            <a:schemeClr val="dk1"/>
          </a:fontRef>
        </p:style>
      </p:cxnSp>
      <p:sp>
        <p:nvSpPr>
          <p:cNvPr id="108" name="Rectangle 107"/>
          <p:cNvSpPr>
            <a:spLocks noChangeArrowheads="1"/>
          </p:cNvSpPr>
          <p:nvPr/>
        </p:nvSpPr>
        <p:spPr bwMode="auto">
          <a:xfrm>
            <a:off x="6171248" y="4435474"/>
            <a:ext cx="1217612" cy="914400"/>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ja-JP" sz="1200" b="1" dirty="0" smtClean="0">
                <a:solidFill>
                  <a:schemeClr val="accent1"/>
                </a:solidFill>
                <a:cs typeface="Arial Unicode MS" pitchFamily="34" charset="-122"/>
              </a:rPr>
              <a:t>Logistic Regression Model for HARP Ratio </a:t>
            </a:r>
            <a:endParaRPr lang="en-US" altLang="ja-JP" sz="1200" b="1" dirty="0">
              <a:solidFill>
                <a:schemeClr val="accent1"/>
              </a:solidFill>
              <a:cs typeface="Arial Unicode MS" pitchFamily="34" charset="-122"/>
            </a:endParaRPr>
          </a:p>
        </p:txBody>
      </p:sp>
      <p:cxnSp>
        <p:nvCxnSpPr>
          <p:cNvPr id="109" name="Straight Connector 108"/>
          <p:cNvCxnSpPr>
            <a:stCxn id="100" idx="3"/>
            <a:endCxn id="108" idx="1"/>
          </p:cNvCxnSpPr>
          <p:nvPr/>
        </p:nvCxnSpPr>
        <p:spPr>
          <a:xfrm>
            <a:off x="5369242" y="4892674"/>
            <a:ext cx="802006" cy="0"/>
          </a:xfrm>
          <a:prstGeom prst="line">
            <a:avLst/>
          </a:prstGeom>
          <a:ln/>
        </p:spPr>
        <p:style>
          <a:lnRef idx="2">
            <a:schemeClr val="accent1"/>
          </a:lnRef>
          <a:fillRef idx="1">
            <a:schemeClr val="lt1"/>
          </a:fillRef>
          <a:effectRef idx="0">
            <a:schemeClr val="accent1"/>
          </a:effectRef>
          <a:fontRef idx="minor">
            <a:schemeClr val="dk1"/>
          </a:fontRef>
        </p:style>
      </p:cxnSp>
      <p:sp>
        <p:nvSpPr>
          <p:cNvPr id="37" name="Isosceles Triangle 36"/>
          <p:cNvSpPr/>
          <p:nvPr/>
        </p:nvSpPr>
        <p:spPr>
          <a:xfrm rot="5400000">
            <a:off x="6888480" y="3462588"/>
            <a:ext cx="1888437" cy="13716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p:cNvSpPr>
            <a:spLocks noChangeArrowheads="1"/>
          </p:cNvSpPr>
          <p:nvPr/>
        </p:nvSpPr>
        <p:spPr bwMode="auto">
          <a:xfrm>
            <a:off x="8221028" y="3178174"/>
            <a:ext cx="1217612" cy="914400"/>
          </a:xfrm>
          <a:prstGeom prst="rect">
            <a:avLst/>
          </a:prstGeom>
          <a:ln>
            <a:noFill/>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anchor="ctr">
            <a:noAutofit/>
          </a:bodyPr>
          <a:lstStyle/>
          <a:p>
            <a:pPr algn="ctr">
              <a:defRPr/>
            </a:pPr>
            <a:r>
              <a:rPr lang="en-US" altLang="zh-CN" sz="1200" b="1" dirty="0" smtClean="0">
                <a:solidFill>
                  <a:schemeClr val="bg1"/>
                </a:solidFill>
                <a:cs typeface="Arial Unicode MS" pitchFamily="34" charset="-122"/>
              </a:rPr>
              <a:t>HARP % for each loan</a:t>
            </a:r>
            <a:endParaRPr lang="en-US" altLang="ja-JP" sz="1200" b="1" dirty="0">
              <a:solidFill>
                <a:schemeClr val="bg1"/>
              </a:solidFill>
              <a:cs typeface="Arial Unicode MS" pitchFamily="34" charset="-122"/>
            </a:endParaRPr>
          </a:p>
        </p:txBody>
      </p:sp>
      <p:sp>
        <p:nvSpPr>
          <p:cNvPr id="111" name="Rectangle 110"/>
          <p:cNvSpPr>
            <a:spLocks noChangeArrowheads="1"/>
          </p:cNvSpPr>
          <p:nvPr/>
        </p:nvSpPr>
        <p:spPr bwMode="auto">
          <a:xfrm>
            <a:off x="944880" y="5837554"/>
            <a:ext cx="8000999" cy="914400"/>
          </a:xfrm>
          <a:prstGeom prst="rect">
            <a:avLst/>
          </a:prstGeom>
          <a:ln>
            <a:headEnd type="none" w="sm" len="sm"/>
            <a:tailEnd type="none" w="sm" len="sm"/>
          </a:ln>
        </p:spPr>
        <p:style>
          <a:lnRef idx="2">
            <a:schemeClr val="accent3"/>
          </a:lnRef>
          <a:fillRef idx="1">
            <a:schemeClr val="lt1"/>
          </a:fillRef>
          <a:effectRef idx="0">
            <a:schemeClr val="accent3"/>
          </a:effectRef>
          <a:fontRef idx="minor">
            <a:schemeClr val="dk1"/>
          </a:fontRef>
        </p:style>
        <p:txBody>
          <a:bodyPr wrap="square" lIns="36000" tIns="36000" rIns="36000" bIns="36000" anchor="ctr">
            <a:noAutofit/>
          </a:bodyPr>
          <a:lstStyle/>
          <a:p>
            <a:pPr algn="ctr">
              <a:defRPr/>
            </a:pPr>
            <a:r>
              <a:rPr lang="en-US" altLang="zh-CN" sz="1200" b="1" dirty="0" smtClean="0">
                <a:solidFill>
                  <a:schemeClr val="tx1"/>
                </a:solidFill>
                <a:cs typeface="Arial Unicode MS" pitchFamily="34" charset="-122"/>
              </a:rPr>
              <a:t>Estimate a percentage chance the loan is originated from the HARP program for each loan.</a:t>
            </a:r>
            <a:endParaRPr lang="en-US" altLang="ja-JP" sz="1200" b="1" dirty="0">
              <a:solidFill>
                <a:schemeClr val="tx1"/>
              </a:solidFill>
              <a:cs typeface="Arial Unicode MS" pitchFamily="34" charset="-122"/>
            </a:endParaRPr>
          </a:p>
        </p:txBody>
      </p:sp>
      <p:sp>
        <p:nvSpPr>
          <p:cNvPr id="3" name="TextBox 2"/>
          <p:cNvSpPr txBox="1"/>
          <p:nvPr/>
        </p:nvSpPr>
        <p:spPr>
          <a:xfrm>
            <a:off x="1177766" y="7330440"/>
            <a:ext cx="4191476" cy="246221"/>
          </a:xfrm>
          <a:prstGeom prst="rect">
            <a:avLst/>
          </a:prstGeom>
          <a:noFill/>
        </p:spPr>
        <p:txBody>
          <a:bodyPr wrap="square" rtlCol="0">
            <a:spAutoFit/>
          </a:bodyPr>
          <a:lstStyle/>
          <a:p>
            <a:r>
              <a:rPr lang="en-US" sz="1000" dirty="0" smtClean="0"/>
              <a:t>*This ratio will be different for FNMA vs FHLMC. See Slide 9. </a:t>
            </a:r>
            <a:endParaRPr lang="en-US" sz="1000" dirty="0"/>
          </a:p>
        </p:txBody>
      </p:sp>
    </p:spTree>
    <p:extLst>
      <p:ext uri="{BB962C8B-B14F-4D97-AF65-F5344CB8AC3E}">
        <p14:creationId xmlns:p14="http://schemas.microsoft.com/office/powerpoint/2010/main" val="29312224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r>
              <a:rPr lang="en-US" sz="1600" dirty="0" smtClean="0">
                <a:latin typeface="+mn-lt"/>
              </a:rPr>
              <a:t>Adjustment Factor: LTV &gt; 80%</a:t>
            </a:r>
            <a:endParaRPr lang="en-US" sz="1600" dirty="0">
              <a:latin typeface="+mn-lt"/>
            </a:endParaRPr>
          </a:p>
        </p:txBody>
      </p:sp>
      <p:graphicFrame>
        <p:nvGraphicFramePr>
          <p:cNvPr id="15" name="Chart 14"/>
          <p:cNvGraphicFramePr>
            <a:graphicFrameLocks/>
          </p:cNvGraphicFramePr>
          <p:nvPr>
            <p:extLst>
              <p:ext uri="{D42A27DB-BD31-4B8C-83A1-F6EECF244321}">
                <p14:modId xmlns:p14="http://schemas.microsoft.com/office/powerpoint/2010/main" val="935251730"/>
              </p:ext>
            </p:extLst>
          </p:nvPr>
        </p:nvGraphicFramePr>
        <p:xfrm>
          <a:off x="449580" y="2020899"/>
          <a:ext cx="9098280" cy="4892329"/>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p:cNvSpPr txBox="1"/>
          <p:nvPr/>
        </p:nvSpPr>
        <p:spPr>
          <a:xfrm>
            <a:off x="392638" y="1097569"/>
            <a:ext cx="9284764" cy="923330"/>
          </a:xfrm>
          <a:prstGeom prst="rect">
            <a:avLst/>
          </a:prstGeom>
          <a:noFill/>
        </p:spPr>
        <p:txBody>
          <a:bodyPr wrap="square" rtlCol="0">
            <a:spAutoFit/>
          </a:bodyPr>
          <a:lstStyle/>
          <a:p>
            <a:pPr>
              <a:lnSpc>
                <a:spcPct val="150000"/>
              </a:lnSpc>
            </a:pPr>
            <a:r>
              <a:rPr lang="en-US" sz="1200" dirty="0" smtClean="0">
                <a:latin typeface="+mn-lt"/>
              </a:rPr>
              <a:t>In order to find out whether we need to adjust the result from the MI mapping algorithm, we test the two algorithms with LTV&gt;80 loans. The HARP mapping numbers from them are fairly close to each other. In other words, there is no bias between the two mapping  methods</a:t>
            </a:r>
            <a:r>
              <a:rPr lang="en-US" sz="1200" dirty="0">
                <a:latin typeface="+mn-lt"/>
              </a:rPr>
              <a:t>. </a:t>
            </a:r>
            <a:r>
              <a:rPr lang="en-US" sz="1200" dirty="0" smtClean="0">
                <a:latin typeface="+mn-lt"/>
              </a:rPr>
              <a:t>Therefore, there is no need to adjust the result for LTV &gt; 80 loans.</a:t>
            </a:r>
            <a:endParaRPr lang="en-US" sz="1200" dirty="0">
              <a:latin typeface="+mn-lt"/>
            </a:endParaRPr>
          </a:p>
        </p:txBody>
      </p:sp>
    </p:spTree>
    <p:extLst>
      <p:ext uri="{BB962C8B-B14F-4D97-AF65-F5344CB8AC3E}">
        <p14:creationId xmlns:p14="http://schemas.microsoft.com/office/powerpoint/2010/main" val="19415920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r>
              <a:rPr lang="en-US" sz="1600" dirty="0" smtClean="0">
                <a:latin typeface="+mn-lt"/>
              </a:rPr>
              <a:t>Adjustment Factor: LTV &lt;= 80%</a:t>
            </a:r>
            <a:endParaRPr lang="en-US" sz="1600" dirty="0">
              <a:latin typeface="+mn-lt"/>
            </a:endParaRPr>
          </a:p>
        </p:txBody>
      </p:sp>
      <p:sp>
        <p:nvSpPr>
          <p:cNvPr id="17" name="TextBox 16"/>
          <p:cNvSpPr txBox="1"/>
          <p:nvPr/>
        </p:nvSpPr>
        <p:spPr>
          <a:xfrm>
            <a:off x="392638" y="1097569"/>
            <a:ext cx="9284764" cy="646331"/>
          </a:xfrm>
          <a:prstGeom prst="rect">
            <a:avLst/>
          </a:prstGeom>
          <a:noFill/>
        </p:spPr>
        <p:txBody>
          <a:bodyPr wrap="square" rtlCol="0">
            <a:spAutoFit/>
          </a:bodyPr>
          <a:lstStyle/>
          <a:p>
            <a:pPr>
              <a:lnSpc>
                <a:spcPct val="150000"/>
              </a:lnSpc>
            </a:pPr>
            <a:r>
              <a:rPr lang="en-US" sz="1200" dirty="0" smtClean="0">
                <a:latin typeface="+mn-lt"/>
              </a:rPr>
              <a:t>For the loans with LTV &lt;= 80, we use a % HARP adjustment factor to estimate the probability that a loan is coming from HARP program.</a:t>
            </a:r>
          </a:p>
          <a:p>
            <a:pPr>
              <a:lnSpc>
                <a:spcPct val="150000"/>
              </a:lnSpc>
            </a:pPr>
            <a:r>
              <a:rPr lang="en-US" sz="1200" dirty="0" smtClean="0">
                <a:latin typeface="+mn-lt"/>
              </a:rPr>
              <a:t>We generated the factor by calculate the ratio by:</a:t>
            </a:r>
          </a:p>
        </p:txBody>
      </p:sp>
      <mc:AlternateContent xmlns:mc="http://schemas.openxmlformats.org/markup-compatibility/2006" xmlns:a14="http://schemas.microsoft.com/office/drawing/2010/main">
        <mc:Choice Requires="a14">
          <p:sp>
            <p:nvSpPr>
              <p:cNvPr id="3" name="TextBox 2"/>
              <p:cNvSpPr txBox="1"/>
              <p:nvPr/>
            </p:nvSpPr>
            <p:spPr>
              <a:xfrm>
                <a:off x="5577374" y="1690965"/>
                <a:ext cx="3004156" cy="379206"/>
              </a:xfrm>
              <a:prstGeom prst="rect">
                <a:avLst/>
              </a:prstGeom>
              <a:noFill/>
            </p:spPr>
            <p:txBody>
              <a:bodyPr wrap="none" rtlCol="0">
                <a:spAutoFit/>
              </a:bodyPr>
              <a:lstStyle/>
              <a:p>
                <a14:m>
                  <m:oMath xmlns:m="http://schemas.openxmlformats.org/officeDocument/2006/math">
                    <m:r>
                      <a:rPr lang="en-US" sz="1200" b="0" i="1" smtClean="0">
                        <a:latin typeface="Cambria Math"/>
                      </a:rPr>
                      <m:t>𝐹𝑁𝑀𝐴</m:t>
                    </m:r>
                    <m:r>
                      <a:rPr lang="en-US" sz="1200" b="0" i="1" smtClean="0">
                        <a:latin typeface="Cambria Math"/>
                      </a:rPr>
                      <m:t> </m:t>
                    </m:r>
                    <m:r>
                      <a:rPr lang="en-US" sz="1200" b="0" i="1" smtClean="0">
                        <a:latin typeface="Cambria Math"/>
                      </a:rPr>
                      <m:t>𝑅𝑎𝑡𝑖𝑜</m:t>
                    </m:r>
                    <m:r>
                      <a:rPr lang="en-US" sz="1200" b="0" i="1" smtClean="0">
                        <a:latin typeface="Cambria Math"/>
                      </a:rPr>
                      <m:t>= </m:t>
                    </m:r>
                    <m:f>
                      <m:fPr>
                        <m:ctrlPr>
                          <a:rPr lang="en-US" sz="1200" b="0" i="1" smtClean="0">
                            <a:latin typeface="Cambria Math"/>
                          </a:rPr>
                        </m:ctrlPr>
                      </m:fPr>
                      <m:num>
                        <m:r>
                          <a:rPr lang="en-US" sz="1200" b="0" i="1" smtClean="0">
                            <a:latin typeface="Cambria Math"/>
                          </a:rPr>
                          <m:t>𝐻𝐴𝑅𝑃</m:t>
                        </m:r>
                        <m:r>
                          <a:rPr lang="en-US" sz="1200" b="0" i="1" smtClean="0">
                            <a:latin typeface="Cambria Math"/>
                          </a:rPr>
                          <m:t> </m:t>
                        </m:r>
                        <m:r>
                          <a:rPr lang="en-US" sz="1200" b="0" i="1" smtClean="0">
                            <a:latin typeface="Cambria Math"/>
                          </a:rPr>
                          <m:t>𝐿𝑜𝑎𝑛</m:t>
                        </m:r>
                        <m:r>
                          <a:rPr lang="en-US" sz="1200" b="0" i="1" smtClean="0">
                            <a:latin typeface="Cambria Math"/>
                          </a:rPr>
                          <m:t> </m:t>
                        </m:r>
                        <m:r>
                          <a:rPr lang="en-US" sz="1200" b="0" i="1" smtClean="0">
                            <a:latin typeface="Cambria Math"/>
                          </a:rPr>
                          <m:t>𝐶𝑜𝑢𝑛𝑡</m:t>
                        </m:r>
                      </m:num>
                      <m:den>
                        <m:r>
                          <a:rPr lang="en-US" sz="1200" b="0" i="1" smtClean="0">
                            <a:latin typeface="Cambria Math"/>
                          </a:rPr>
                          <m:t>𝑇𝑜𝑡𝑎𝑙</m:t>
                        </m:r>
                        <m:r>
                          <a:rPr lang="en-US" sz="1200" b="0" i="1" smtClean="0">
                            <a:latin typeface="Cambria Math"/>
                          </a:rPr>
                          <m:t> </m:t>
                        </m:r>
                        <m:r>
                          <a:rPr lang="en-US" sz="1200" b="1" i="1" smtClean="0">
                            <a:latin typeface="Cambria Math"/>
                          </a:rPr>
                          <m:t>𝑹𝒆𝒇𝒊</m:t>
                        </m:r>
                        <m:r>
                          <a:rPr lang="en-US" sz="1200" b="0" i="1" smtClean="0">
                            <a:latin typeface="Cambria Math"/>
                          </a:rPr>
                          <m:t> </m:t>
                        </m:r>
                        <m:r>
                          <a:rPr lang="en-US" sz="1200" b="0" i="1" smtClean="0">
                            <a:latin typeface="Cambria Math"/>
                          </a:rPr>
                          <m:t>𝐿𝑜𝑎𝑛</m:t>
                        </m:r>
                        <m:r>
                          <a:rPr lang="en-US" sz="1200" b="0" i="1" smtClean="0">
                            <a:latin typeface="Cambria Math"/>
                          </a:rPr>
                          <m:t> </m:t>
                        </m:r>
                        <m:r>
                          <a:rPr lang="en-US" sz="1200" b="0" i="1" smtClean="0">
                            <a:latin typeface="Cambria Math"/>
                          </a:rPr>
                          <m:t>𝐶𝑜𝑢𝑛𝑡</m:t>
                        </m:r>
                      </m:den>
                    </m:f>
                  </m:oMath>
                </a14:m>
                <a:r>
                  <a:rPr lang="en-US" sz="1400" dirty="0" smtClean="0"/>
                  <a:t> </a:t>
                </a:r>
                <a:r>
                  <a:rPr lang="en-US" sz="1200" dirty="0" smtClean="0"/>
                  <a:t>×100%</a:t>
                </a:r>
                <a:endParaRPr lang="en-US" sz="1200" dirty="0"/>
              </a:p>
            </p:txBody>
          </p:sp>
        </mc:Choice>
        <mc:Fallback xmlns="">
          <p:sp>
            <p:nvSpPr>
              <p:cNvPr id="3" name="TextBox 2"/>
              <p:cNvSpPr txBox="1">
                <a:spLocks noRot="1" noChangeAspect="1" noMove="1" noResize="1" noEditPoints="1" noAdjustHandles="1" noChangeArrowheads="1" noChangeShapeType="1" noTextEdit="1"/>
              </p:cNvSpPr>
              <p:nvPr/>
            </p:nvSpPr>
            <p:spPr>
              <a:xfrm>
                <a:off x="5577374" y="1690965"/>
                <a:ext cx="3004156" cy="379206"/>
              </a:xfrm>
              <a:prstGeom prst="rect">
                <a:avLst/>
              </a:prstGeom>
              <a:blipFill rotWithShape="1">
                <a:blip r:embed="rId2"/>
                <a:stretch>
                  <a:fillRect/>
                </a:stretch>
              </a:blipFill>
            </p:spPr>
            <p:txBody>
              <a:bodyPr/>
              <a:lstStyle/>
              <a:p>
                <a:r>
                  <a:rPr lang="en-US">
                    <a:noFill/>
                  </a:rPr>
                  <a:t> </a:t>
                </a:r>
              </a:p>
            </p:txBody>
          </p:sp>
        </mc:Fallback>
      </mc:AlternateContent>
      <p:sp>
        <p:nvSpPr>
          <p:cNvPr id="6" name="TextBox 5"/>
          <p:cNvSpPr txBox="1"/>
          <p:nvPr/>
        </p:nvSpPr>
        <p:spPr>
          <a:xfrm>
            <a:off x="392638" y="2132554"/>
            <a:ext cx="9284764" cy="340734"/>
          </a:xfrm>
          <a:prstGeom prst="rect">
            <a:avLst/>
          </a:prstGeom>
          <a:noFill/>
        </p:spPr>
        <p:txBody>
          <a:bodyPr wrap="square" rtlCol="0">
            <a:spAutoFit/>
          </a:bodyPr>
          <a:lstStyle/>
          <a:p>
            <a:pPr>
              <a:lnSpc>
                <a:spcPct val="150000"/>
              </a:lnSpc>
            </a:pPr>
            <a:r>
              <a:rPr lang="en-US" sz="1200" dirty="0" smtClean="0">
                <a:latin typeface="+mn-lt"/>
              </a:rPr>
              <a:t>We use the credit mapping method to calculate the ratio based on the historical data.</a:t>
            </a:r>
          </a:p>
        </p:txBody>
      </p:sp>
      <p:sp>
        <p:nvSpPr>
          <p:cNvPr id="8" name="TextBox 7"/>
          <p:cNvSpPr txBox="1"/>
          <p:nvPr/>
        </p:nvSpPr>
        <p:spPr>
          <a:xfrm>
            <a:off x="392638" y="6461762"/>
            <a:ext cx="9284764" cy="646331"/>
          </a:xfrm>
          <a:prstGeom prst="rect">
            <a:avLst/>
          </a:prstGeom>
          <a:noFill/>
        </p:spPr>
        <p:txBody>
          <a:bodyPr wrap="square" rtlCol="0">
            <a:spAutoFit/>
          </a:bodyPr>
          <a:lstStyle/>
          <a:p>
            <a:pPr>
              <a:lnSpc>
                <a:spcPct val="150000"/>
              </a:lnSpc>
            </a:pPr>
            <a:r>
              <a:rPr lang="en-US" sz="1200" dirty="0" smtClean="0">
                <a:latin typeface="+mn-lt"/>
              </a:rPr>
              <a:t>The HARP % ratio is around </a:t>
            </a:r>
            <a:r>
              <a:rPr lang="en-US" sz="1200" b="1" dirty="0" smtClean="0">
                <a:latin typeface="+mn-lt"/>
              </a:rPr>
              <a:t>20% for FNMA </a:t>
            </a:r>
            <a:r>
              <a:rPr lang="en-US" sz="1200" dirty="0" smtClean="0">
                <a:latin typeface="+mn-lt"/>
              </a:rPr>
              <a:t>and </a:t>
            </a:r>
            <a:r>
              <a:rPr lang="en-US" sz="1200" b="1" dirty="0" smtClean="0">
                <a:latin typeface="+mn-lt"/>
              </a:rPr>
              <a:t>35% for FHLMC</a:t>
            </a:r>
            <a:r>
              <a:rPr lang="en-US" sz="1200" dirty="0" smtClean="0">
                <a:latin typeface="+mn-lt"/>
              </a:rPr>
              <a:t> according to the chart above. We will use these ratios to update the HARP % for the relevant loans. </a:t>
            </a:r>
          </a:p>
        </p:txBody>
      </p:sp>
      <mc:AlternateContent xmlns:mc="http://schemas.openxmlformats.org/markup-compatibility/2006" xmlns:a14="http://schemas.microsoft.com/office/drawing/2010/main">
        <mc:Choice Requires="a14">
          <p:sp>
            <p:nvSpPr>
              <p:cNvPr id="9" name="TextBox 8"/>
              <p:cNvSpPr txBox="1"/>
              <p:nvPr/>
            </p:nvSpPr>
            <p:spPr>
              <a:xfrm>
                <a:off x="1561634" y="1701350"/>
                <a:ext cx="3403752" cy="379206"/>
              </a:xfrm>
              <a:prstGeom prst="rect">
                <a:avLst/>
              </a:prstGeom>
              <a:noFill/>
            </p:spPr>
            <p:txBody>
              <a:bodyPr wrap="none" rtlCol="0">
                <a:spAutoFit/>
              </a:bodyPr>
              <a:lstStyle/>
              <a:p>
                <a14:m>
                  <m:oMath xmlns:m="http://schemas.openxmlformats.org/officeDocument/2006/math">
                    <m:r>
                      <a:rPr lang="en-US" sz="1200" b="0" i="1" smtClean="0">
                        <a:latin typeface="Cambria Math"/>
                      </a:rPr>
                      <m:t>𝐹𝐻𝐿𝑀𝐶</m:t>
                    </m:r>
                    <m:r>
                      <a:rPr lang="en-US" sz="1200" b="0" i="1" smtClean="0">
                        <a:latin typeface="Cambria Math"/>
                      </a:rPr>
                      <m:t> </m:t>
                    </m:r>
                    <m:r>
                      <a:rPr lang="en-US" sz="1200" b="0" i="1" smtClean="0">
                        <a:latin typeface="Cambria Math"/>
                      </a:rPr>
                      <m:t>𝑅𝑎𝑡𝑖𝑜</m:t>
                    </m:r>
                    <m:r>
                      <a:rPr lang="en-US" sz="1200" b="0" i="1" smtClean="0">
                        <a:latin typeface="Cambria Math"/>
                      </a:rPr>
                      <m:t>= </m:t>
                    </m:r>
                    <m:f>
                      <m:fPr>
                        <m:ctrlPr>
                          <a:rPr lang="en-US" sz="1200" b="0" i="1" smtClean="0">
                            <a:latin typeface="Cambria Math"/>
                          </a:rPr>
                        </m:ctrlPr>
                      </m:fPr>
                      <m:num>
                        <m:r>
                          <a:rPr lang="en-US" sz="1200" b="0" i="1" smtClean="0">
                            <a:latin typeface="Cambria Math"/>
                          </a:rPr>
                          <m:t>𝐻𝐴𝑅𝑃</m:t>
                        </m:r>
                        <m:r>
                          <a:rPr lang="en-US" sz="1200" b="0" i="1" smtClean="0">
                            <a:latin typeface="Cambria Math"/>
                          </a:rPr>
                          <m:t> </m:t>
                        </m:r>
                        <m:r>
                          <a:rPr lang="en-US" sz="1200" b="0" i="1" smtClean="0">
                            <a:latin typeface="Cambria Math"/>
                          </a:rPr>
                          <m:t>𝐿𝑜𝑎𝑛</m:t>
                        </m:r>
                        <m:r>
                          <a:rPr lang="en-US" sz="1200" b="0" i="1" smtClean="0">
                            <a:latin typeface="Cambria Math"/>
                          </a:rPr>
                          <m:t> </m:t>
                        </m:r>
                        <m:r>
                          <a:rPr lang="en-US" sz="1200" b="0" i="1" smtClean="0">
                            <a:latin typeface="Cambria Math"/>
                          </a:rPr>
                          <m:t>𝐶𝑜𝑢𝑛𝑡</m:t>
                        </m:r>
                      </m:num>
                      <m:den>
                        <m:r>
                          <a:rPr lang="en-US" sz="1200" b="0" i="1" smtClean="0">
                            <a:latin typeface="Cambria Math"/>
                          </a:rPr>
                          <m:t>𝑇𝑜𝑡𝑎𝑙</m:t>
                        </m:r>
                        <m:r>
                          <a:rPr lang="en-US" sz="1200" b="0" i="1" smtClean="0">
                            <a:latin typeface="Cambria Math"/>
                          </a:rPr>
                          <m:t> </m:t>
                        </m:r>
                        <m:r>
                          <a:rPr lang="en-US" sz="1200" b="1" i="1" smtClean="0">
                            <a:latin typeface="Cambria Math"/>
                          </a:rPr>
                          <m:t>𝑹𝒆𝒇𝒊</m:t>
                        </m:r>
                        <m:r>
                          <a:rPr lang="en-US" sz="1200" b="1" i="1" smtClean="0">
                            <a:latin typeface="Cambria Math"/>
                          </a:rPr>
                          <m:t>−</m:t>
                        </m:r>
                        <m:r>
                          <a:rPr lang="en-US" sz="1200" b="1" i="1" smtClean="0">
                            <a:latin typeface="Cambria Math"/>
                          </a:rPr>
                          <m:t>𝑵𝑪𝑶</m:t>
                        </m:r>
                        <m:r>
                          <a:rPr lang="en-US" sz="1200" b="0" i="1" smtClean="0">
                            <a:latin typeface="Cambria Math"/>
                          </a:rPr>
                          <m:t> </m:t>
                        </m:r>
                        <m:r>
                          <a:rPr lang="en-US" sz="1200" b="0" i="1" smtClean="0">
                            <a:latin typeface="Cambria Math"/>
                          </a:rPr>
                          <m:t>𝐿𝑜𝑎𝑛</m:t>
                        </m:r>
                        <m:r>
                          <a:rPr lang="en-US" sz="1200" b="0" i="1" smtClean="0">
                            <a:latin typeface="Cambria Math"/>
                          </a:rPr>
                          <m:t> </m:t>
                        </m:r>
                        <m:r>
                          <a:rPr lang="en-US" sz="1200" b="0" i="1" smtClean="0">
                            <a:latin typeface="Cambria Math"/>
                          </a:rPr>
                          <m:t>𝐶𝑜𝑢𝑛𝑡</m:t>
                        </m:r>
                      </m:den>
                    </m:f>
                  </m:oMath>
                </a14:m>
                <a:r>
                  <a:rPr lang="en-US" sz="1400" dirty="0" smtClean="0"/>
                  <a:t> </a:t>
                </a:r>
                <a:r>
                  <a:rPr lang="en-US" sz="1200" dirty="0" smtClean="0"/>
                  <a:t>×100%</a:t>
                </a:r>
                <a:endParaRPr lang="en-US" sz="1200" dirty="0"/>
              </a:p>
            </p:txBody>
          </p:sp>
        </mc:Choice>
        <mc:Fallback xmlns="">
          <p:sp>
            <p:nvSpPr>
              <p:cNvPr id="9" name="TextBox 8"/>
              <p:cNvSpPr txBox="1">
                <a:spLocks noRot="1" noChangeAspect="1" noMove="1" noResize="1" noEditPoints="1" noAdjustHandles="1" noChangeArrowheads="1" noChangeShapeType="1" noTextEdit="1"/>
              </p:cNvSpPr>
              <p:nvPr/>
            </p:nvSpPr>
            <p:spPr>
              <a:xfrm>
                <a:off x="1561634" y="1701350"/>
                <a:ext cx="3403752" cy="379206"/>
              </a:xfrm>
              <a:prstGeom prst="rect">
                <a:avLst/>
              </a:prstGeom>
              <a:blipFill rotWithShape="1">
                <a:blip r:embed="rId3"/>
                <a:stretch>
                  <a:fillRect b="-1613"/>
                </a:stretch>
              </a:blipFill>
            </p:spPr>
            <p:txBody>
              <a:bodyPr/>
              <a:lstStyle/>
              <a:p>
                <a:r>
                  <a:rPr lang="en-US">
                    <a:noFill/>
                  </a:rPr>
                  <a:t> </a:t>
                </a:r>
              </a:p>
            </p:txBody>
          </p:sp>
        </mc:Fallback>
      </mc:AlternateContent>
      <p:graphicFrame>
        <p:nvGraphicFramePr>
          <p:cNvPr id="10" name="Chart 9"/>
          <p:cNvGraphicFramePr>
            <a:graphicFrameLocks/>
          </p:cNvGraphicFramePr>
          <p:nvPr>
            <p:extLst>
              <p:ext uri="{D42A27DB-BD31-4B8C-83A1-F6EECF244321}">
                <p14:modId xmlns:p14="http://schemas.microsoft.com/office/powerpoint/2010/main" val="3749073891"/>
              </p:ext>
            </p:extLst>
          </p:nvPr>
        </p:nvGraphicFramePr>
        <p:xfrm>
          <a:off x="392639" y="2616517"/>
          <a:ext cx="9155222" cy="377666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611495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p:cNvSpPr/>
          <p:nvPr/>
        </p:nvSpPr>
        <p:spPr>
          <a:xfrm>
            <a:off x="3154680" y="3014073"/>
            <a:ext cx="2964180" cy="30777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6271260" y="3014073"/>
            <a:ext cx="2255520" cy="30777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r>
              <a:rPr lang="en-US" sz="1600" dirty="0" smtClean="0">
                <a:latin typeface="+mn-lt"/>
              </a:rPr>
              <a:t>Adjustment Factor: LTV &lt;= 80%</a:t>
            </a:r>
            <a:endParaRPr lang="en-US" sz="1600" dirty="0">
              <a:latin typeface="+mn-lt"/>
            </a:endParaRPr>
          </a:p>
        </p:txBody>
      </p:sp>
      <p:sp>
        <p:nvSpPr>
          <p:cNvPr id="11" name="Rectangle 10"/>
          <p:cNvSpPr/>
          <p:nvPr/>
        </p:nvSpPr>
        <p:spPr>
          <a:xfrm>
            <a:off x="261538" y="1148001"/>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p:cNvCxnSpPr/>
          <p:nvPr/>
        </p:nvCxnSpPr>
        <p:spPr>
          <a:xfrm>
            <a:off x="261538" y="1749981"/>
            <a:ext cx="9282512"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833037" y="1287185"/>
            <a:ext cx="4069080" cy="307777"/>
          </a:xfrm>
          <a:prstGeom prst="rect">
            <a:avLst/>
          </a:prstGeom>
          <a:noFill/>
        </p:spPr>
        <p:txBody>
          <a:bodyPr wrap="square" rtlCol="0">
            <a:spAutoFit/>
          </a:bodyPr>
          <a:lstStyle/>
          <a:p>
            <a:r>
              <a:rPr lang="en-US" sz="1400" b="1" dirty="0" smtClean="0">
                <a:latin typeface="+mn-lt"/>
              </a:rPr>
              <a:t>Logistic Regression Model for HARP Percentage </a:t>
            </a:r>
            <a:endParaRPr lang="en-US" sz="1400" b="1" dirty="0">
              <a:latin typeface="+mn-lt"/>
            </a:endParaRPr>
          </a:p>
        </p:txBody>
      </p:sp>
      <p:sp>
        <p:nvSpPr>
          <p:cNvPr id="14" name="TextBox 13"/>
          <p:cNvSpPr txBox="1"/>
          <p:nvPr/>
        </p:nvSpPr>
        <p:spPr>
          <a:xfrm>
            <a:off x="479370" y="1907194"/>
            <a:ext cx="9064680" cy="992579"/>
          </a:xfrm>
          <a:prstGeom prst="rect">
            <a:avLst/>
          </a:prstGeom>
          <a:noFill/>
        </p:spPr>
        <p:txBody>
          <a:bodyPr wrap="square" rtlCol="0">
            <a:spAutoFit/>
          </a:bodyPr>
          <a:lstStyle/>
          <a:p>
            <a:pPr>
              <a:lnSpc>
                <a:spcPct val="150000"/>
              </a:lnSpc>
            </a:pPr>
            <a:r>
              <a:rPr lang="en-US" sz="1300" dirty="0" smtClean="0">
                <a:latin typeface="+mn-lt"/>
              </a:rPr>
              <a:t>For loans with LTV &lt;= 80, and originated after the most recent available credit data set, we cannot use neither Algorithm I or Algorithm II to estimate the percentage of loans that are </a:t>
            </a:r>
            <a:r>
              <a:rPr lang="en-US" sz="1300" dirty="0" err="1" smtClean="0">
                <a:latin typeface="+mn-lt"/>
              </a:rPr>
              <a:t>HARPed</a:t>
            </a:r>
            <a:r>
              <a:rPr lang="en-US" sz="1300" dirty="0" smtClean="0">
                <a:latin typeface="+mn-lt"/>
              </a:rPr>
              <a:t>. </a:t>
            </a:r>
            <a:r>
              <a:rPr lang="en-US" sz="1300" dirty="0" smtClean="0">
                <a:latin typeface="+mn-lt"/>
              </a:rPr>
              <a:t>In order to solve the problem, we introduce a logistic regression model based on </a:t>
            </a:r>
            <a:r>
              <a:rPr lang="en-US" sz="1300" dirty="0">
                <a:latin typeface="+mn-lt"/>
              </a:rPr>
              <a:t>loan characteristics and </a:t>
            </a:r>
            <a:r>
              <a:rPr lang="en-US" sz="1300" dirty="0" smtClean="0">
                <a:latin typeface="+mn-lt"/>
              </a:rPr>
              <a:t>indexes about the </a:t>
            </a:r>
            <a:r>
              <a:rPr lang="en-US" sz="1300" dirty="0" err="1" smtClean="0">
                <a:latin typeface="+mn-lt"/>
              </a:rPr>
              <a:t>refinacible</a:t>
            </a:r>
            <a:r>
              <a:rPr lang="en-US" sz="1300" dirty="0" smtClean="0">
                <a:latin typeface="+mn-lt"/>
              </a:rPr>
              <a:t> universe.</a:t>
            </a:r>
            <a:endParaRPr lang="en-US" sz="1300" dirty="0" smtClean="0">
              <a:latin typeface="+mn-lt"/>
            </a:endParaRPr>
          </a:p>
        </p:txBody>
      </p:sp>
      <mc:AlternateContent xmlns:mc="http://schemas.openxmlformats.org/markup-compatibility/2006">
        <mc:Choice xmlns:a14="http://schemas.microsoft.com/office/drawing/2010/main" Requires="a14">
          <p:sp>
            <p:nvSpPr>
              <p:cNvPr id="5" name="TextBox 4"/>
              <p:cNvSpPr txBox="1"/>
              <p:nvPr/>
            </p:nvSpPr>
            <p:spPr>
              <a:xfrm>
                <a:off x="1170304" y="3014073"/>
                <a:ext cx="7443448" cy="30777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1400" b="0" i="1" smtClean="0">
                          <a:latin typeface="+mn-lt"/>
                        </a:rPr>
                        <m:t>𝐻𝐴𝑅𝑃𝑒𝑑</m:t>
                      </m:r>
                      <m:r>
                        <a:rPr lang="en-US" sz="1400" b="0" i="1" smtClean="0">
                          <a:latin typeface="+mn-lt"/>
                        </a:rPr>
                        <m:t> </m:t>
                      </m:r>
                      <m:r>
                        <a:rPr lang="en-US" sz="1400" b="0" i="1" smtClean="0">
                          <a:latin typeface="+mn-lt"/>
                        </a:rPr>
                        <m:t>𝑃𝑒𝑟𝑐𝑒𝑛𝑡𝑎𝑔𝑒</m:t>
                      </m:r>
                      <m:r>
                        <a:rPr lang="en-US" sz="1400" b="0" i="1" smtClean="0">
                          <a:latin typeface="+mn-lt"/>
                        </a:rPr>
                        <m:t> ~ </m:t>
                      </m:r>
                      <m:r>
                        <a:rPr lang="en-US" sz="1400" b="0" i="1" smtClean="0">
                          <a:latin typeface="+mn-lt"/>
                        </a:rPr>
                        <m:t>𝐶𝑟𝑒𝑑𝑖𝑡</m:t>
                      </m:r>
                      <m:r>
                        <a:rPr lang="en-US" sz="1400" b="0" i="1" smtClean="0">
                          <a:latin typeface="+mn-lt"/>
                        </a:rPr>
                        <m:t> </m:t>
                      </m:r>
                      <m:r>
                        <a:rPr lang="en-US" sz="1400" b="0" i="1" smtClean="0">
                          <a:latin typeface="+mn-lt"/>
                        </a:rPr>
                        <m:t>𝑆𝑐𝑜𝑟𝑒</m:t>
                      </m:r>
                      <m:r>
                        <a:rPr lang="en-US" sz="1400" b="0" i="1" smtClean="0">
                          <a:latin typeface="+mn-lt"/>
                        </a:rPr>
                        <m:t>+</m:t>
                      </m:r>
                      <m:r>
                        <a:rPr lang="en-US" sz="1400" b="0" i="1" smtClean="0">
                          <a:latin typeface="+mn-lt"/>
                        </a:rPr>
                        <m:t>𝑆𝐴𝑇𝑂</m:t>
                      </m:r>
                      <m:r>
                        <a:rPr lang="en-US" sz="1400" b="0" i="1" smtClean="0">
                          <a:latin typeface="+mn-lt"/>
                        </a:rPr>
                        <m:t>+</m:t>
                      </m:r>
                      <m:r>
                        <a:rPr lang="en-US" sz="1400" b="0" i="1" smtClean="0">
                          <a:latin typeface="+mn-lt"/>
                        </a:rPr>
                        <m:t>𝑂𝑟𝑖𝑔𝐿𝑜𝑎𝑛𝑆𝑖𝑧𝑒</m:t>
                      </m:r>
                      <m:r>
                        <a:rPr lang="en-US" sz="1400" b="0" i="1" smtClean="0">
                          <a:latin typeface="+mn-lt"/>
                        </a:rPr>
                        <m:t>+</m:t>
                      </m:r>
                      <m:r>
                        <a:rPr lang="en-US" sz="1400" b="0" i="1" smtClean="0">
                          <a:latin typeface="+mn-lt"/>
                        </a:rPr>
                        <m:t>𝑅𝑒𝑓𝑖</m:t>
                      </m:r>
                      <m:r>
                        <a:rPr lang="en-US" sz="1400" b="0" i="1" smtClean="0">
                          <a:latin typeface="+mn-lt"/>
                        </a:rPr>
                        <m:t> %+</m:t>
                      </m:r>
                      <m:r>
                        <a:rPr lang="en-US" sz="1400" b="0" i="1" smtClean="0">
                          <a:latin typeface="+mn-lt"/>
                        </a:rPr>
                        <m:t>𝐻𝐴𝑅𝑃</m:t>
                      </m:r>
                      <m:r>
                        <a:rPr lang="en-US" sz="1400" b="0" i="1" smtClean="0">
                          <a:latin typeface="+mn-lt"/>
                        </a:rPr>
                        <m:t> </m:t>
                      </m:r>
                      <m:r>
                        <a:rPr lang="en-US" sz="1400" b="0" i="1" smtClean="0">
                          <a:latin typeface="+mn-lt"/>
                        </a:rPr>
                        <m:t>𝐸𝑙𝑖𝑔𝑖𝑏𝑙𝑒</m:t>
                      </m:r>
                      <m:r>
                        <a:rPr lang="en-US" sz="1400" b="0" i="1" smtClean="0">
                          <a:latin typeface="+mn-lt"/>
                        </a:rPr>
                        <m:t> % </m:t>
                      </m:r>
                    </m:oMath>
                  </m:oMathPara>
                </a14:m>
                <a:endParaRPr lang="en-US" sz="1400" dirty="0">
                  <a:latin typeface="+mn-lt"/>
                </a:endParaRPr>
              </a:p>
            </p:txBody>
          </p:sp>
        </mc:Choice>
        <mc:Fallback>
          <p:sp>
            <p:nvSpPr>
              <p:cNvPr id="5" name="TextBox 4"/>
              <p:cNvSpPr txBox="1">
                <a:spLocks noRot="1" noChangeAspect="1" noMove="1" noResize="1" noEditPoints="1" noAdjustHandles="1" noChangeArrowheads="1" noChangeShapeType="1" noTextEdit="1"/>
              </p:cNvSpPr>
              <p:nvPr/>
            </p:nvSpPr>
            <p:spPr>
              <a:xfrm>
                <a:off x="1170304" y="3014073"/>
                <a:ext cx="7443448" cy="307777"/>
              </a:xfrm>
              <a:prstGeom prst="rect">
                <a:avLst/>
              </a:prstGeom>
              <a:blipFill rotWithShape="1">
                <a:blip r:embed="rId2"/>
                <a:stretch>
                  <a:fillRect b="-5882"/>
                </a:stretch>
              </a:blipFill>
            </p:spPr>
            <p:txBody>
              <a:bodyPr/>
              <a:lstStyle/>
              <a:p>
                <a:r>
                  <a:rPr lang="en-US">
                    <a:noFill/>
                  </a:rPr>
                  <a:t> </a:t>
                </a:r>
              </a:p>
            </p:txBody>
          </p:sp>
        </mc:Fallback>
      </mc:AlternateContent>
      <p:sp>
        <p:nvSpPr>
          <p:cNvPr id="21" name="TextBox 20"/>
          <p:cNvSpPr txBox="1"/>
          <p:nvPr/>
        </p:nvSpPr>
        <p:spPr>
          <a:xfrm>
            <a:off x="578430" y="3591214"/>
            <a:ext cx="9064680" cy="1592744"/>
          </a:xfrm>
          <a:prstGeom prst="rect">
            <a:avLst/>
          </a:prstGeom>
          <a:noFill/>
        </p:spPr>
        <p:txBody>
          <a:bodyPr wrap="square" rtlCol="0">
            <a:spAutoFit/>
          </a:bodyPr>
          <a:lstStyle/>
          <a:p>
            <a:pPr>
              <a:lnSpc>
                <a:spcPct val="150000"/>
              </a:lnSpc>
            </a:pPr>
            <a:r>
              <a:rPr lang="en-US" sz="1300" dirty="0" smtClean="0">
                <a:latin typeface="+mn-lt"/>
              </a:rPr>
              <a:t>Loan Characteristics:</a:t>
            </a:r>
          </a:p>
          <a:p>
            <a:pPr marL="342900" indent="-342900">
              <a:lnSpc>
                <a:spcPct val="150000"/>
              </a:lnSpc>
              <a:buAutoNum type="arabicPeriod"/>
            </a:pPr>
            <a:r>
              <a:rPr lang="en-US" sz="1300" dirty="0" smtClean="0">
                <a:latin typeface="+mn-lt"/>
              </a:rPr>
              <a:t>Credit Score: borrower’s credit score at origination. The lower </a:t>
            </a:r>
            <a:r>
              <a:rPr lang="en-US" sz="1300" dirty="0" err="1" smtClean="0">
                <a:latin typeface="+mn-lt"/>
              </a:rPr>
              <a:t>cs</a:t>
            </a:r>
            <a:r>
              <a:rPr lang="en-US" sz="1300" dirty="0" smtClean="0">
                <a:latin typeface="+mn-lt"/>
              </a:rPr>
              <a:t>, the higher probability the loan is </a:t>
            </a:r>
            <a:r>
              <a:rPr lang="en-US" sz="1300" dirty="0" err="1" smtClean="0">
                <a:latin typeface="+mn-lt"/>
              </a:rPr>
              <a:t>HARPed</a:t>
            </a:r>
            <a:r>
              <a:rPr lang="en-US" sz="1300" dirty="0" smtClean="0">
                <a:latin typeface="+mn-lt"/>
              </a:rPr>
              <a:t>.</a:t>
            </a:r>
          </a:p>
          <a:p>
            <a:pPr marL="342900" indent="-342900">
              <a:lnSpc>
                <a:spcPct val="150000"/>
              </a:lnSpc>
              <a:buAutoNum type="arabicPeriod"/>
            </a:pPr>
            <a:r>
              <a:rPr lang="en-US" sz="1300" dirty="0" smtClean="0">
                <a:latin typeface="+mn-lt"/>
              </a:rPr>
              <a:t>SATO: the spread at origination for every borrower. The borrower pays higher spread normally has higher probability of </a:t>
            </a:r>
            <a:r>
              <a:rPr lang="en-US" sz="1300" dirty="0" err="1" smtClean="0">
                <a:latin typeface="+mn-lt"/>
              </a:rPr>
              <a:t>HARPed</a:t>
            </a:r>
            <a:endParaRPr lang="en-US" sz="1300" dirty="0" smtClean="0">
              <a:latin typeface="+mn-lt"/>
            </a:endParaRPr>
          </a:p>
          <a:p>
            <a:pPr marL="342900" indent="-342900">
              <a:lnSpc>
                <a:spcPct val="150000"/>
              </a:lnSpc>
              <a:buAutoNum type="arabicPeriod"/>
            </a:pPr>
            <a:r>
              <a:rPr lang="en-US" sz="1300" dirty="0" err="1" smtClean="0">
                <a:latin typeface="+mn-lt"/>
              </a:rPr>
              <a:t>OrigLoanSize</a:t>
            </a:r>
            <a:r>
              <a:rPr lang="en-US" sz="1300" dirty="0" smtClean="0">
                <a:latin typeface="+mn-lt"/>
              </a:rPr>
              <a:t>: the origination loan size. The lower loan size associates with higher chance a loan is </a:t>
            </a:r>
            <a:r>
              <a:rPr lang="en-US" sz="1300" dirty="0" err="1" smtClean="0">
                <a:latin typeface="+mn-lt"/>
              </a:rPr>
              <a:t>HARPed</a:t>
            </a:r>
            <a:r>
              <a:rPr lang="en-US" sz="1300" dirty="0" smtClean="0">
                <a:latin typeface="+mn-lt"/>
              </a:rPr>
              <a:t>.</a:t>
            </a:r>
            <a:endParaRPr lang="en-US" sz="1300" dirty="0" smtClean="0">
              <a:latin typeface="+mn-lt"/>
            </a:endParaRPr>
          </a:p>
        </p:txBody>
      </p:sp>
      <p:cxnSp>
        <p:nvCxnSpPr>
          <p:cNvPr id="22" name="Straight Connector 21"/>
          <p:cNvCxnSpPr/>
          <p:nvPr/>
        </p:nvCxnSpPr>
        <p:spPr>
          <a:xfrm>
            <a:off x="578430" y="3954310"/>
            <a:ext cx="28194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578430" y="5336358"/>
            <a:ext cx="9064680" cy="1592744"/>
          </a:xfrm>
          <a:prstGeom prst="rect">
            <a:avLst/>
          </a:prstGeom>
          <a:noFill/>
        </p:spPr>
        <p:txBody>
          <a:bodyPr wrap="square" rtlCol="0">
            <a:spAutoFit/>
          </a:bodyPr>
          <a:lstStyle/>
          <a:p>
            <a:pPr>
              <a:lnSpc>
                <a:spcPct val="150000"/>
              </a:lnSpc>
            </a:pPr>
            <a:r>
              <a:rPr lang="en-US" sz="1300" dirty="0" smtClean="0">
                <a:latin typeface="+mn-lt"/>
              </a:rPr>
              <a:t>Indexes </a:t>
            </a:r>
            <a:r>
              <a:rPr lang="en-US" sz="1300" dirty="0">
                <a:latin typeface="+mn-lt"/>
              </a:rPr>
              <a:t>about the </a:t>
            </a:r>
            <a:r>
              <a:rPr lang="en-US" sz="1300" dirty="0" err="1" smtClean="0">
                <a:latin typeface="+mn-lt"/>
              </a:rPr>
              <a:t>Refinacible</a:t>
            </a:r>
            <a:r>
              <a:rPr lang="en-US" sz="1300" dirty="0" smtClean="0">
                <a:latin typeface="+mn-lt"/>
              </a:rPr>
              <a:t> Universe</a:t>
            </a:r>
            <a:r>
              <a:rPr lang="en-US" sz="1300" dirty="0">
                <a:latin typeface="+mn-lt"/>
              </a:rPr>
              <a:t>:</a:t>
            </a:r>
            <a:endParaRPr lang="en-US" sz="1300" dirty="0" smtClean="0">
              <a:latin typeface="+mn-lt"/>
            </a:endParaRPr>
          </a:p>
          <a:p>
            <a:pPr marL="342900" indent="-342900">
              <a:lnSpc>
                <a:spcPct val="150000"/>
              </a:lnSpc>
              <a:buAutoNum type="arabicPeriod"/>
            </a:pPr>
            <a:r>
              <a:rPr lang="en-US" sz="1300" dirty="0" err="1" smtClean="0">
                <a:latin typeface="+mn-lt"/>
              </a:rPr>
              <a:t>Refinancible</a:t>
            </a:r>
            <a:r>
              <a:rPr lang="en-US" sz="1300" dirty="0" smtClean="0">
                <a:latin typeface="+mn-lt"/>
              </a:rPr>
              <a:t> Percentage: The percentage of loans that has &gt; 50 incentive to refinance. When the refi % is higher, means more people are </a:t>
            </a:r>
            <a:r>
              <a:rPr lang="en-US" sz="1300" dirty="0" err="1" smtClean="0">
                <a:latin typeface="+mn-lt"/>
              </a:rPr>
              <a:t>rerinancible</a:t>
            </a:r>
            <a:r>
              <a:rPr lang="en-US" sz="1300" dirty="0" smtClean="0">
                <a:latin typeface="+mn-lt"/>
              </a:rPr>
              <a:t>, hence the </a:t>
            </a:r>
            <a:r>
              <a:rPr lang="en-US" sz="1300" dirty="0" err="1" smtClean="0">
                <a:latin typeface="+mn-lt"/>
              </a:rPr>
              <a:t>HAPed</a:t>
            </a:r>
            <a:r>
              <a:rPr lang="en-US" sz="1300" dirty="0" smtClean="0">
                <a:latin typeface="+mn-lt"/>
              </a:rPr>
              <a:t> % with all refinance loans will be lower.</a:t>
            </a:r>
          </a:p>
          <a:p>
            <a:pPr marL="342900" indent="-342900">
              <a:lnSpc>
                <a:spcPct val="150000"/>
              </a:lnSpc>
              <a:buAutoNum type="arabicPeriod"/>
            </a:pPr>
            <a:r>
              <a:rPr lang="en-US" sz="1300" dirty="0" smtClean="0">
                <a:latin typeface="+mn-lt"/>
              </a:rPr>
              <a:t>HARP Eligible Percentage: measures the percentage of </a:t>
            </a:r>
            <a:r>
              <a:rPr lang="en-US" sz="1300" dirty="0" err="1" smtClean="0">
                <a:latin typeface="+mn-lt"/>
              </a:rPr>
              <a:t>refinancible</a:t>
            </a:r>
            <a:r>
              <a:rPr lang="en-US" sz="1300" dirty="0" smtClean="0">
                <a:latin typeface="+mn-lt"/>
              </a:rPr>
              <a:t> loans that are eligible for HARP program. When the ratio goes high, the probability of loans are </a:t>
            </a:r>
            <a:r>
              <a:rPr lang="en-US" sz="1300" dirty="0" err="1" smtClean="0">
                <a:latin typeface="+mn-lt"/>
              </a:rPr>
              <a:t>HARPed</a:t>
            </a:r>
            <a:r>
              <a:rPr lang="en-US" sz="1300" dirty="0" smtClean="0">
                <a:latin typeface="+mn-lt"/>
              </a:rPr>
              <a:t> will be higher.</a:t>
            </a:r>
            <a:endParaRPr lang="en-US" sz="1300" dirty="0" smtClean="0">
              <a:latin typeface="+mn-lt"/>
            </a:endParaRPr>
          </a:p>
        </p:txBody>
      </p:sp>
      <p:cxnSp>
        <p:nvCxnSpPr>
          <p:cNvPr id="24" name="Straight Connector 23"/>
          <p:cNvCxnSpPr/>
          <p:nvPr/>
        </p:nvCxnSpPr>
        <p:spPr>
          <a:xfrm>
            <a:off x="632460" y="5691670"/>
            <a:ext cx="2816352"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73854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r>
              <a:rPr lang="en-US" sz="1600" dirty="0" smtClean="0">
                <a:latin typeface="+mn-lt"/>
              </a:rPr>
              <a:t>Adjustment Factor: LTV &lt;= 80%</a:t>
            </a:r>
            <a:endParaRPr lang="en-US" sz="1600" dirty="0">
              <a:latin typeface="+mn-lt"/>
            </a:endParaRPr>
          </a:p>
        </p:txBody>
      </p:sp>
      <p:sp>
        <p:nvSpPr>
          <p:cNvPr id="11" name="Rectangle 10"/>
          <p:cNvSpPr/>
          <p:nvPr/>
        </p:nvSpPr>
        <p:spPr>
          <a:xfrm>
            <a:off x="261538" y="1148001"/>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p:cNvCxnSpPr/>
          <p:nvPr/>
        </p:nvCxnSpPr>
        <p:spPr>
          <a:xfrm>
            <a:off x="261538" y="1749981"/>
            <a:ext cx="9282512"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833037" y="1287185"/>
            <a:ext cx="4069080" cy="307777"/>
          </a:xfrm>
          <a:prstGeom prst="rect">
            <a:avLst/>
          </a:prstGeom>
          <a:noFill/>
        </p:spPr>
        <p:txBody>
          <a:bodyPr wrap="square" rtlCol="0">
            <a:spAutoFit/>
          </a:bodyPr>
          <a:lstStyle/>
          <a:p>
            <a:r>
              <a:rPr lang="en-US" sz="1400" b="1" dirty="0" smtClean="0">
                <a:latin typeface="+mn-lt"/>
              </a:rPr>
              <a:t>Logistic Regression Model for HARP Percentage </a:t>
            </a:r>
            <a:endParaRPr lang="en-US" sz="1400" b="1" dirty="0">
              <a:latin typeface="+mn-lt"/>
            </a:endParaRPr>
          </a:p>
        </p:txBody>
      </p:sp>
      <p:sp>
        <p:nvSpPr>
          <p:cNvPr id="14" name="TextBox 13"/>
          <p:cNvSpPr txBox="1"/>
          <p:nvPr/>
        </p:nvSpPr>
        <p:spPr>
          <a:xfrm>
            <a:off x="479370" y="1907194"/>
            <a:ext cx="9064680" cy="692497"/>
          </a:xfrm>
          <a:prstGeom prst="rect">
            <a:avLst/>
          </a:prstGeom>
          <a:noFill/>
        </p:spPr>
        <p:txBody>
          <a:bodyPr wrap="square" rtlCol="0">
            <a:spAutoFit/>
          </a:bodyPr>
          <a:lstStyle/>
          <a:p>
            <a:pPr>
              <a:lnSpc>
                <a:spcPct val="150000"/>
              </a:lnSpc>
            </a:pPr>
            <a:r>
              <a:rPr lang="en-US" sz="1300" dirty="0" smtClean="0">
                <a:latin typeface="+mn-lt"/>
              </a:rPr>
              <a:t>The result below shows an out sample test of our logistic regression. Here we use 80% of data to train the model, and hold the other 20% as out sample test set. We can see the prediction is very close to the actual </a:t>
            </a:r>
            <a:r>
              <a:rPr lang="en-US" sz="1300" dirty="0" err="1" smtClean="0">
                <a:latin typeface="+mn-lt"/>
              </a:rPr>
              <a:t>HARPed</a:t>
            </a:r>
            <a:r>
              <a:rPr lang="en-US" sz="1300" dirty="0" smtClean="0">
                <a:latin typeface="+mn-lt"/>
              </a:rPr>
              <a:t> percentage.</a:t>
            </a:r>
            <a:endParaRPr lang="en-US" sz="1300" dirty="0" smtClean="0">
              <a:latin typeface="+mn-lt"/>
            </a:endParaRPr>
          </a:p>
        </p:txBody>
      </p:sp>
      <p:graphicFrame>
        <p:nvGraphicFramePr>
          <p:cNvPr id="3" name="Chart 2"/>
          <p:cNvGraphicFramePr/>
          <p:nvPr>
            <p:extLst>
              <p:ext uri="{D42A27DB-BD31-4B8C-83A1-F6EECF244321}">
                <p14:modId xmlns:p14="http://schemas.microsoft.com/office/powerpoint/2010/main" val="3970845459"/>
              </p:ext>
            </p:extLst>
          </p:nvPr>
        </p:nvGraphicFramePr>
        <p:xfrm>
          <a:off x="640080" y="2899772"/>
          <a:ext cx="8846820" cy="41639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129479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hart 16"/>
          <p:cNvGraphicFramePr/>
          <p:nvPr>
            <p:extLst>
              <p:ext uri="{D42A27DB-BD31-4B8C-83A1-F6EECF244321}">
                <p14:modId xmlns:p14="http://schemas.microsoft.com/office/powerpoint/2010/main" val="3933336229"/>
              </p:ext>
            </p:extLst>
          </p:nvPr>
        </p:nvGraphicFramePr>
        <p:xfrm>
          <a:off x="595685" y="4276573"/>
          <a:ext cx="8674873" cy="2926080"/>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endParaRPr lang="en-US" sz="1600" dirty="0">
              <a:latin typeface="+mn-lt"/>
            </a:endParaRPr>
          </a:p>
        </p:txBody>
      </p:sp>
      <p:graphicFrame>
        <p:nvGraphicFramePr>
          <p:cNvPr id="75" name="Chart 74"/>
          <p:cNvGraphicFramePr/>
          <p:nvPr>
            <p:extLst>
              <p:ext uri="{D42A27DB-BD31-4B8C-83A1-F6EECF244321}">
                <p14:modId xmlns:p14="http://schemas.microsoft.com/office/powerpoint/2010/main" val="2216656629"/>
              </p:ext>
            </p:extLst>
          </p:nvPr>
        </p:nvGraphicFramePr>
        <p:xfrm>
          <a:off x="699715" y="960780"/>
          <a:ext cx="8674873"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81" name="TextBox 80"/>
          <p:cNvSpPr txBox="1"/>
          <p:nvPr/>
        </p:nvSpPr>
        <p:spPr>
          <a:xfrm>
            <a:off x="4096248" y="3142079"/>
            <a:ext cx="1948069" cy="246221"/>
          </a:xfrm>
          <a:prstGeom prst="rect">
            <a:avLst/>
          </a:prstGeom>
          <a:noFill/>
        </p:spPr>
        <p:txBody>
          <a:bodyPr wrap="square" rtlCol="0">
            <a:spAutoFit/>
          </a:bodyPr>
          <a:lstStyle/>
          <a:p>
            <a:r>
              <a:rPr lang="en-US" sz="1000" b="1" dirty="0" smtClean="0">
                <a:solidFill>
                  <a:schemeClr val="bg1"/>
                </a:solidFill>
                <a:latin typeface="+mn-lt"/>
              </a:rPr>
              <a:t>Non-Eligible: Purchas, refi-CO</a:t>
            </a:r>
            <a:endParaRPr lang="en-US" sz="1000" b="1" dirty="0">
              <a:solidFill>
                <a:schemeClr val="bg1"/>
              </a:solidFill>
              <a:latin typeface="+mn-lt"/>
            </a:endParaRPr>
          </a:p>
        </p:txBody>
      </p:sp>
      <p:sp>
        <p:nvSpPr>
          <p:cNvPr id="82" name="TextBox 81"/>
          <p:cNvSpPr txBox="1"/>
          <p:nvPr/>
        </p:nvSpPr>
        <p:spPr>
          <a:xfrm>
            <a:off x="6129131" y="2054488"/>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83" name="TextBox 82"/>
          <p:cNvSpPr txBox="1"/>
          <p:nvPr/>
        </p:nvSpPr>
        <p:spPr>
          <a:xfrm>
            <a:off x="5430741" y="1324157"/>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84" name="TextBox 83"/>
          <p:cNvSpPr txBox="1"/>
          <p:nvPr/>
        </p:nvSpPr>
        <p:spPr>
          <a:xfrm>
            <a:off x="2630227" y="1117950"/>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86" name="TextBox 85"/>
          <p:cNvSpPr txBox="1"/>
          <p:nvPr/>
        </p:nvSpPr>
        <p:spPr>
          <a:xfrm>
            <a:off x="6183134" y="5347519"/>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87" name="TextBox 86"/>
          <p:cNvSpPr txBox="1"/>
          <p:nvPr/>
        </p:nvSpPr>
        <p:spPr>
          <a:xfrm>
            <a:off x="5569558" y="4617188"/>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88" name="TextBox 87"/>
          <p:cNvSpPr txBox="1"/>
          <p:nvPr/>
        </p:nvSpPr>
        <p:spPr>
          <a:xfrm>
            <a:off x="2430118" y="4432983"/>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89" name="Isosceles Triangle 88"/>
          <p:cNvSpPr/>
          <p:nvPr/>
        </p:nvSpPr>
        <p:spPr>
          <a:xfrm rot="10800000">
            <a:off x="3587694" y="4004290"/>
            <a:ext cx="3621158" cy="27228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p:cNvSpPr txBox="1"/>
          <p:nvPr/>
        </p:nvSpPr>
        <p:spPr>
          <a:xfrm>
            <a:off x="3776208" y="3908085"/>
            <a:ext cx="3378641" cy="299313"/>
          </a:xfrm>
          <a:prstGeom prst="rect">
            <a:avLst/>
          </a:prstGeom>
          <a:noFill/>
        </p:spPr>
        <p:txBody>
          <a:bodyPr wrap="square" rtlCol="0">
            <a:spAutoFit/>
          </a:bodyPr>
          <a:lstStyle/>
          <a:p>
            <a:pPr algn="ctr">
              <a:lnSpc>
                <a:spcPct val="150000"/>
              </a:lnSpc>
            </a:pPr>
            <a:r>
              <a:rPr lang="en-US" sz="1000" dirty="0" smtClean="0">
                <a:solidFill>
                  <a:schemeClr val="bg1"/>
                </a:solidFill>
                <a:latin typeface="+mn-lt"/>
              </a:rPr>
              <a:t>Using the Enhanced Algorithm</a:t>
            </a:r>
          </a:p>
        </p:txBody>
      </p:sp>
      <p:sp>
        <p:nvSpPr>
          <p:cNvPr id="18" name="TextBox 17"/>
          <p:cNvSpPr txBox="1"/>
          <p:nvPr/>
        </p:nvSpPr>
        <p:spPr>
          <a:xfrm>
            <a:off x="4096247" y="6426299"/>
            <a:ext cx="1948069" cy="246221"/>
          </a:xfrm>
          <a:prstGeom prst="rect">
            <a:avLst/>
          </a:prstGeom>
          <a:noFill/>
        </p:spPr>
        <p:txBody>
          <a:bodyPr wrap="square" rtlCol="0">
            <a:spAutoFit/>
          </a:bodyPr>
          <a:lstStyle/>
          <a:p>
            <a:r>
              <a:rPr lang="en-US" sz="1000" b="1" dirty="0" smtClean="0">
                <a:solidFill>
                  <a:schemeClr val="bg1"/>
                </a:solidFill>
                <a:latin typeface="+mn-lt"/>
              </a:rPr>
              <a:t>Non-Eligible: Purchas, refi-CO</a:t>
            </a:r>
            <a:endParaRPr lang="en-US" sz="1000" b="1" dirty="0">
              <a:solidFill>
                <a:schemeClr val="bg1"/>
              </a:solidFill>
              <a:latin typeface="+mn-lt"/>
            </a:endParaRPr>
          </a:p>
        </p:txBody>
      </p:sp>
    </p:spTree>
    <p:extLst>
      <p:ext uri="{BB962C8B-B14F-4D97-AF65-F5344CB8AC3E}">
        <p14:creationId xmlns:p14="http://schemas.microsoft.com/office/powerpoint/2010/main" val="1070490465"/>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86795</TotalTime>
  <Words>1313</Words>
  <Application>Microsoft Office PowerPoint</Application>
  <PresentationFormat>Custom</PresentationFormat>
  <Paragraphs>135</Paragraphs>
  <Slides>12</Slides>
  <Notes>1</Notes>
  <HiddenSlides>0</HiddenSlides>
  <MMClips>0</MMClips>
  <ScaleCrop>false</ScaleCrop>
  <HeadingPairs>
    <vt:vector size="4" baseType="variant">
      <vt:variant>
        <vt:lpstr>Theme</vt:lpstr>
      </vt:variant>
      <vt:variant>
        <vt:i4>15</vt:i4>
      </vt:variant>
      <vt:variant>
        <vt:lpstr>Slide Titles</vt:lpstr>
      </vt:variant>
      <vt:variant>
        <vt:i4>12</vt:i4>
      </vt:variant>
    </vt:vector>
  </HeadingPairs>
  <TitlesOfParts>
    <vt:vector size="27"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OVERVIEW OF HARP AND STREAMLINE REFI PROGRAMS </vt:lpstr>
      <vt:lpstr>INTRODUCTION</vt:lpstr>
      <vt:lpstr>EXISTING ALGORITHM I MI Matching Method</vt:lpstr>
      <vt:lpstr>EXISTING ALGORITHM II Credit Dataset Mapping Method</vt:lpstr>
      <vt:lpstr>EXISTING ALGORITHM II Results from the Credit Dataset Mapping Method</vt:lpstr>
      <vt:lpstr>ENHANCED ALGORITHM </vt:lpstr>
      <vt:lpstr>ENHANCED ALGORITHM Adjustment Factor: LTV &gt; 80%</vt:lpstr>
      <vt:lpstr>ENHANCED ALGORITHM Adjustment Factor: LTV &lt;= 80%</vt:lpstr>
      <vt:lpstr>ENHANCED ALGORITHM Adjustment Factor: LTV &lt;= 80%</vt:lpstr>
      <vt:lpstr>ENHANCED ALGORITHM Adjustment Factor: LTV &lt;= 80%</vt:lpstr>
      <vt:lpstr>ENHANCED ALGORITHM </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Lien Chen</cp:lastModifiedBy>
  <cp:revision>2105</cp:revision>
  <cp:lastPrinted>2014-08-14T21:45:56Z</cp:lastPrinted>
  <dcterms:created xsi:type="dcterms:W3CDTF">2011-07-07T12:37:32Z</dcterms:created>
  <dcterms:modified xsi:type="dcterms:W3CDTF">2016-02-10T20:01:15Z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