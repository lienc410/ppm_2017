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6" r:id="rId1"/>
    <p:sldMasterId id="2147483660" r:id="rId2"/>
    <p:sldMasterId id="2147483669" r:id="rId3"/>
    <p:sldMasterId id="2147483675" r:id="rId4"/>
  </p:sldMasterIdLst>
  <p:notesMasterIdLst>
    <p:notesMasterId r:id="rId18"/>
  </p:notesMasterIdLst>
  <p:sldIdLst>
    <p:sldId id="377" r:id="rId5"/>
    <p:sldId id="451" r:id="rId6"/>
    <p:sldId id="442" r:id="rId7"/>
    <p:sldId id="452" r:id="rId8"/>
    <p:sldId id="447" r:id="rId9"/>
    <p:sldId id="431" r:id="rId10"/>
    <p:sldId id="445" r:id="rId11"/>
    <p:sldId id="446" r:id="rId12"/>
    <p:sldId id="449" r:id="rId13"/>
    <p:sldId id="450" r:id="rId14"/>
    <p:sldId id="448" r:id="rId15"/>
    <p:sldId id="430" r:id="rId16"/>
    <p:sldId id="389" r:id="rId17"/>
  </p:sldIdLst>
  <p:sldSz cx="9144000" cy="6858000" type="screen4x3"/>
  <p:notesSz cx="6934200" cy="9220200"/>
  <p:defaultTextStyle>
    <a:defPPr>
      <a:defRPr lang="en-US"/>
    </a:defPPr>
    <a:lvl1pPr marL="0" algn="l" defTabSz="913758" rtl="0" eaLnBrk="1" latinLnBrk="0" hangingPunct="1">
      <a:defRPr sz="1800" kern="1200">
        <a:solidFill>
          <a:schemeClr val="tx1"/>
        </a:solidFill>
        <a:latin typeface="+mn-lt"/>
        <a:ea typeface="+mn-ea"/>
        <a:cs typeface="+mn-cs"/>
      </a:defRPr>
    </a:lvl1pPr>
    <a:lvl2pPr marL="456880" algn="l" defTabSz="913758" rtl="0" eaLnBrk="1" latinLnBrk="0" hangingPunct="1">
      <a:defRPr sz="1800" kern="1200">
        <a:solidFill>
          <a:schemeClr val="tx1"/>
        </a:solidFill>
        <a:latin typeface="+mn-lt"/>
        <a:ea typeface="+mn-ea"/>
        <a:cs typeface="+mn-cs"/>
      </a:defRPr>
    </a:lvl2pPr>
    <a:lvl3pPr marL="913758" algn="l" defTabSz="913758" rtl="0" eaLnBrk="1" latinLnBrk="0" hangingPunct="1">
      <a:defRPr sz="1800" kern="1200">
        <a:solidFill>
          <a:schemeClr val="tx1"/>
        </a:solidFill>
        <a:latin typeface="+mn-lt"/>
        <a:ea typeface="+mn-ea"/>
        <a:cs typeface="+mn-cs"/>
      </a:defRPr>
    </a:lvl3pPr>
    <a:lvl4pPr marL="1370639" algn="l" defTabSz="913758" rtl="0" eaLnBrk="1" latinLnBrk="0" hangingPunct="1">
      <a:defRPr sz="1800" kern="1200">
        <a:solidFill>
          <a:schemeClr val="tx1"/>
        </a:solidFill>
        <a:latin typeface="+mn-lt"/>
        <a:ea typeface="+mn-ea"/>
        <a:cs typeface="+mn-cs"/>
      </a:defRPr>
    </a:lvl4pPr>
    <a:lvl5pPr marL="1827517" algn="l" defTabSz="913758" rtl="0" eaLnBrk="1" latinLnBrk="0" hangingPunct="1">
      <a:defRPr sz="1800" kern="1200">
        <a:solidFill>
          <a:schemeClr val="tx1"/>
        </a:solidFill>
        <a:latin typeface="+mn-lt"/>
        <a:ea typeface="+mn-ea"/>
        <a:cs typeface="+mn-cs"/>
      </a:defRPr>
    </a:lvl5pPr>
    <a:lvl6pPr marL="2284398" algn="l" defTabSz="913758" rtl="0" eaLnBrk="1" latinLnBrk="0" hangingPunct="1">
      <a:defRPr sz="1800" kern="1200">
        <a:solidFill>
          <a:schemeClr val="tx1"/>
        </a:solidFill>
        <a:latin typeface="+mn-lt"/>
        <a:ea typeface="+mn-ea"/>
        <a:cs typeface="+mn-cs"/>
      </a:defRPr>
    </a:lvl6pPr>
    <a:lvl7pPr marL="2741275" algn="l" defTabSz="913758" rtl="0" eaLnBrk="1" latinLnBrk="0" hangingPunct="1">
      <a:defRPr sz="1800" kern="1200">
        <a:solidFill>
          <a:schemeClr val="tx1"/>
        </a:solidFill>
        <a:latin typeface="+mn-lt"/>
        <a:ea typeface="+mn-ea"/>
        <a:cs typeface="+mn-cs"/>
      </a:defRPr>
    </a:lvl7pPr>
    <a:lvl8pPr marL="3198156" algn="l" defTabSz="913758" rtl="0" eaLnBrk="1" latinLnBrk="0" hangingPunct="1">
      <a:defRPr sz="1800" kern="1200">
        <a:solidFill>
          <a:schemeClr val="tx1"/>
        </a:solidFill>
        <a:latin typeface="+mn-lt"/>
        <a:ea typeface="+mn-ea"/>
        <a:cs typeface="+mn-cs"/>
      </a:defRPr>
    </a:lvl8pPr>
    <a:lvl9pPr marL="3655033" algn="l" defTabSz="913758"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FEBE4"/>
    <a:srgbClr val="2E8A60"/>
    <a:srgbClr val="C7732D"/>
    <a:srgbClr val="968A7E"/>
    <a:srgbClr val="2E398A"/>
    <a:srgbClr val="968880"/>
    <a:srgbClr val="2033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617" autoAdjust="0"/>
    <p:restoredTop sz="94691" autoAdjust="0"/>
  </p:normalViewPr>
  <p:slideViewPr>
    <p:cSldViewPr showGuides="1">
      <p:cViewPr>
        <p:scale>
          <a:sx n="163" d="100"/>
          <a:sy n="163" d="100"/>
        </p:scale>
        <p:origin x="-306" y="17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oleObject" Target="file:///\\ccmnydc1\users$\sharad.chaudhary\My%20Documents\Cello%20Research\Prepayments\Outlook\2017\Q4\Percent%20Refinanceable%20Chart.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file:///C:\Lien%20Workspace\01.Work%20Progress%20Documents\Refi%20Universe%20as%20Function%20of%20Mtg%20Rate%20-%202018%20vs%202017.xlsx"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file:///\\ccmnydc1\users$\sharad.chaudhary\My%20Documents\Cello%20Research\Prepayments\Outlook\2017\Q4\MCAI.xlsx"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file:///\\ccmnydc1\users$\sharad.chaudhary\My%20Documents\Cello%20Research\Prepayments\Outlook\2017\Q4\FHA%20VA%20prepay%20analysis_with%20asof%20filter.xlsx" TargetMode="External"/></Relationships>
</file>

<file path=ppt/charts/_rels/chart5.xml.rels><?xml version="1.0" encoding="UTF-8" standalone="yes"?>
<Relationships xmlns="http://schemas.openxmlformats.org/package/2006/relationships"><Relationship Id="rId1" Type="http://schemas.openxmlformats.org/officeDocument/2006/relationships/oleObject" Target="file:///\\ccmnydc1\users$\sharad.chaudhary\My%20Documents\Cello%20Research\Prepayments\Outlook\2017\Q4\FHA%20VA%20prepay%20analysis_with%20asof%20filter.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Sheet1!$D$9</c:f>
              <c:strCache>
                <c:ptCount val="1"/>
                <c:pt idx="0">
                  <c:v>Jan-17</c:v>
                </c:pt>
              </c:strCache>
            </c:strRef>
          </c:tx>
          <c:marker>
            <c:symbol val="none"/>
          </c:marker>
          <c:cat>
            <c:strRef>
              <c:f>Sheet1!$B$10:$B$20</c:f>
              <c:strCache>
                <c:ptCount val="11"/>
                <c:pt idx="0">
                  <c:v>-100 bps</c:v>
                </c:pt>
                <c:pt idx="1">
                  <c:v>-80 bps</c:v>
                </c:pt>
                <c:pt idx="2">
                  <c:v>-60 bps</c:v>
                </c:pt>
                <c:pt idx="3">
                  <c:v>-40 bps</c:v>
                </c:pt>
                <c:pt idx="4">
                  <c:v>-20 bps</c:v>
                </c:pt>
                <c:pt idx="5">
                  <c:v>4.0</c:v>
                </c:pt>
                <c:pt idx="6">
                  <c:v>+20 bps</c:v>
                </c:pt>
                <c:pt idx="7">
                  <c:v>+40 bps</c:v>
                </c:pt>
                <c:pt idx="8">
                  <c:v>+60 bps</c:v>
                </c:pt>
                <c:pt idx="9">
                  <c:v>+80 bps</c:v>
                </c:pt>
                <c:pt idx="10">
                  <c:v>+100 bps</c:v>
                </c:pt>
              </c:strCache>
            </c:strRef>
          </c:cat>
          <c:val>
            <c:numRef>
              <c:f>Sheet1!$D$10:$D$20</c:f>
              <c:numCache>
                <c:formatCode>0.00%</c:formatCode>
                <c:ptCount val="11"/>
                <c:pt idx="0">
                  <c:v>0.89337169823614415</c:v>
                </c:pt>
                <c:pt idx="1">
                  <c:v>0.41647445616186457</c:v>
                </c:pt>
                <c:pt idx="2">
                  <c:v>8.7881659050892456E-4</c:v>
                </c:pt>
                <c:pt idx="3">
                  <c:v>3.8637835695075676E-4</c:v>
                </c:pt>
                <c:pt idx="4">
                  <c:v>7.1360855336711988E-5</c:v>
                </c:pt>
                <c:pt idx="5">
                  <c:v>0</c:v>
                </c:pt>
                <c:pt idx="6">
                  <c:v>0</c:v>
                </c:pt>
                <c:pt idx="7">
                  <c:v>0</c:v>
                </c:pt>
                <c:pt idx="8">
                  <c:v>0</c:v>
                </c:pt>
                <c:pt idx="9">
                  <c:v>0</c:v>
                </c:pt>
                <c:pt idx="10">
                  <c:v>0</c:v>
                </c:pt>
              </c:numCache>
            </c:numRef>
          </c:val>
          <c:smooth val="0"/>
        </c:ser>
        <c:ser>
          <c:idx val="1"/>
          <c:order val="1"/>
          <c:tx>
            <c:strRef>
              <c:f>Sheet1!$J$9</c:f>
              <c:strCache>
                <c:ptCount val="1"/>
                <c:pt idx="0">
                  <c:v>Jan-18</c:v>
                </c:pt>
              </c:strCache>
            </c:strRef>
          </c:tx>
          <c:marker>
            <c:symbol val="none"/>
          </c:marker>
          <c:cat>
            <c:strRef>
              <c:f>Sheet1!$B$10:$B$20</c:f>
              <c:strCache>
                <c:ptCount val="11"/>
                <c:pt idx="0">
                  <c:v>-100 bps</c:v>
                </c:pt>
                <c:pt idx="1">
                  <c:v>-80 bps</c:v>
                </c:pt>
                <c:pt idx="2">
                  <c:v>-60 bps</c:v>
                </c:pt>
                <c:pt idx="3">
                  <c:v>-40 bps</c:v>
                </c:pt>
                <c:pt idx="4">
                  <c:v>-20 bps</c:v>
                </c:pt>
                <c:pt idx="5">
                  <c:v>4.0</c:v>
                </c:pt>
                <c:pt idx="6">
                  <c:v>+20 bps</c:v>
                </c:pt>
                <c:pt idx="7">
                  <c:v>+40 bps</c:v>
                </c:pt>
                <c:pt idx="8">
                  <c:v>+60 bps</c:v>
                </c:pt>
                <c:pt idx="9">
                  <c:v>+80 bps</c:v>
                </c:pt>
                <c:pt idx="10">
                  <c:v>+100 bps</c:v>
                </c:pt>
              </c:strCache>
            </c:strRef>
          </c:cat>
          <c:val>
            <c:numRef>
              <c:f>Sheet1!$J$10:$J$20</c:f>
              <c:numCache>
                <c:formatCode>0.00%</c:formatCode>
                <c:ptCount val="11"/>
                <c:pt idx="0">
                  <c:v>0.96003848292337135</c:v>
                </c:pt>
                <c:pt idx="1">
                  <c:v>0.80500008527292977</c:v>
                </c:pt>
                <c:pt idx="2">
                  <c:v>0.14156550935620643</c:v>
                </c:pt>
                <c:pt idx="3">
                  <c:v>7.1584906046246038E-2</c:v>
                </c:pt>
                <c:pt idx="4">
                  <c:v>0</c:v>
                </c:pt>
                <c:pt idx="5">
                  <c:v>0</c:v>
                </c:pt>
                <c:pt idx="6">
                  <c:v>0</c:v>
                </c:pt>
                <c:pt idx="7">
                  <c:v>0</c:v>
                </c:pt>
                <c:pt idx="8">
                  <c:v>0</c:v>
                </c:pt>
                <c:pt idx="9">
                  <c:v>0</c:v>
                </c:pt>
                <c:pt idx="10">
                  <c:v>0</c:v>
                </c:pt>
              </c:numCache>
            </c:numRef>
          </c:val>
          <c:smooth val="0"/>
        </c:ser>
        <c:dLbls>
          <c:showLegendKey val="0"/>
          <c:showVal val="0"/>
          <c:showCatName val="0"/>
          <c:showSerName val="0"/>
          <c:showPercent val="0"/>
          <c:showBubbleSize val="0"/>
        </c:dLbls>
        <c:marker val="1"/>
        <c:smooth val="0"/>
        <c:axId val="185168640"/>
        <c:axId val="185170176"/>
      </c:lineChart>
      <c:catAx>
        <c:axId val="185168640"/>
        <c:scaling>
          <c:orientation val="minMax"/>
        </c:scaling>
        <c:delete val="0"/>
        <c:axPos val="b"/>
        <c:majorTickMark val="out"/>
        <c:minorTickMark val="none"/>
        <c:tickLblPos val="nextTo"/>
        <c:crossAx val="185170176"/>
        <c:crosses val="autoZero"/>
        <c:auto val="1"/>
        <c:lblAlgn val="ctr"/>
        <c:lblOffset val="100"/>
        <c:noMultiLvlLbl val="0"/>
      </c:catAx>
      <c:valAx>
        <c:axId val="185170176"/>
        <c:scaling>
          <c:orientation val="minMax"/>
          <c:max val="1"/>
        </c:scaling>
        <c:delete val="0"/>
        <c:axPos val="l"/>
        <c:numFmt formatCode="0%" sourceLinked="0"/>
        <c:majorTickMark val="out"/>
        <c:minorTickMark val="none"/>
        <c:tickLblPos val="nextTo"/>
        <c:crossAx val="185168640"/>
        <c:crosses val="autoZero"/>
        <c:crossBetween val="midCat"/>
      </c:valAx>
    </c:plotArea>
    <c:legend>
      <c:legendPos val="b"/>
      <c:layout/>
      <c:overlay val="0"/>
    </c:legend>
    <c:plotVisOnly val="1"/>
    <c:dispBlanksAs val="gap"/>
    <c:showDLblsOverMax val="0"/>
  </c:chart>
  <c:spPr>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Sheet2!$W$48</c:f>
              <c:strCache>
                <c:ptCount val="1"/>
                <c:pt idx="0">
                  <c:v>Apr. 2017</c:v>
                </c:pt>
              </c:strCache>
            </c:strRef>
          </c:tx>
          <c:marker>
            <c:symbol val="none"/>
          </c:marker>
          <c:cat>
            <c:strRef>
              <c:f>Sheet2!$V$49:$V$59</c:f>
              <c:strCache>
                <c:ptCount val="11"/>
                <c:pt idx="0">
                  <c:v>-100 bps</c:v>
                </c:pt>
                <c:pt idx="1">
                  <c:v>-80 bps</c:v>
                </c:pt>
                <c:pt idx="2">
                  <c:v>-60 bps</c:v>
                </c:pt>
                <c:pt idx="3">
                  <c:v>-40 bps</c:v>
                </c:pt>
                <c:pt idx="4">
                  <c:v>-20 bps</c:v>
                </c:pt>
                <c:pt idx="5">
                  <c:v>+0 bps</c:v>
                </c:pt>
                <c:pt idx="6">
                  <c:v>+20 bps</c:v>
                </c:pt>
                <c:pt idx="7">
                  <c:v>+40 bps</c:v>
                </c:pt>
                <c:pt idx="8">
                  <c:v>+60 bps</c:v>
                </c:pt>
                <c:pt idx="9">
                  <c:v>+80 bps</c:v>
                </c:pt>
                <c:pt idx="10">
                  <c:v>+100 bps</c:v>
                </c:pt>
              </c:strCache>
            </c:strRef>
          </c:cat>
          <c:val>
            <c:numRef>
              <c:f>Sheet2!$W$49:$W$59</c:f>
              <c:numCache>
                <c:formatCode>General</c:formatCode>
                <c:ptCount val="11"/>
                <c:pt idx="0">
                  <c:v>0.95435992438310313</c:v>
                </c:pt>
                <c:pt idx="1">
                  <c:v>0.78927759975913314</c:v>
                </c:pt>
                <c:pt idx="2">
                  <c:v>2.9212604280228625E-2</c:v>
                </c:pt>
                <c:pt idx="3">
                  <c:v>1.5625737427095696E-2</c:v>
                </c:pt>
                <c:pt idx="4">
                  <c:v>5.0418790685194878E-3</c:v>
                </c:pt>
                <c:pt idx="5">
                  <c:v>5.0375697275807923E-4</c:v>
                </c:pt>
                <c:pt idx="6">
                  <c:v>0</c:v>
                </c:pt>
                <c:pt idx="7">
                  <c:v>0</c:v>
                </c:pt>
                <c:pt idx="8">
                  <c:v>0</c:v>
                </c:pt>
                <c:pt idx="9">
                  <c:v>0</c:v>
                </c:pt>
                <c:pt idx="10">
                  <c:v>0</c:v>
                </c:pt>
              </c:numCache>
            </c:numRef>
          </c:val>
          <c:smooth val="0"/>
        </c:ser>
        <c:ser>
          <c:idx val="1"/>
          <c:order val="1"/>
          <c:tx>
            <c:strRef>
              <c:f>Sheet2!$X$48</c:f>
              <c:strCache>
                <c:ptCount val="1"/>
                <c:pt idx="0">
                  <c:v>Apr. 2018</c:v>
                </c:pt>
              </c:strCache>
            </c:strRef>
          </c:tx>
          <c:marker>
            <c:symbol val="none"/>
          </c:marker>
          <c:cat>
            <c:strRef>
              <c:f>Sheet2!$V$49:$V$59</c:f>
              <c:strCache>
                <c:ptCount val="11"/>
                <c:pt idx="0">
                  <c:v>-100 bps</c:v>
                </c:pt>
                <c:pt idx="1">
                  <c:v>-80 bps</c:v>
                </c:pt>
                <c:pt idx="2">
                  <c:v>-60 bps</c:v>
                </c:pt>
                <c:pt idx="3">
                  <c:v>-40 bps</c:v>
                </c:pt>
                <c:pt idx="4">
                  <c:v>-20 bps</c:v>
                </c:pt>
                <c:pt idx="5">
                  <c:v>+0 bps</c:v>
                </c:pt>
                <c:pt idx="6">
                  <c:v>+20 bps</c:v>
                </c:pt>
                <c:pt idx="7">
                  <c:v>+40 bps</c:v>
                </c:pt>
                <c:pt idx="8">
                  <c:v>+60 bps</c:v>
                </c:pt>
                <c:pt idx="9">
                  <c:v>+80 bps</c:v>
                </c:pt>
                <c:pt idx="10">
                  <c:v>+100 bps</c:v>
                </c:pt>
              </c:strCache>
            </c:strRef>
          </c:cat>
          <c:val>
            <c:numRef>
              <c:f>Sheet2!$X$49:$X$59</c:f>
              <c:numCache>
                <c:formatCode>General</c:formatCode>
                <c:ptCount val="11"/>
                <c:pt idx="0">
                  <c:v>0.22707508816960154</c:v>
                </c:pt>
                <c:pt idx="1">
                  <c:v>0.14694385458793083</c:v>
                </c:pt>
                <c:pt idx="2">
                  <c:v>9.8638526733580215E-3</c:v>
                </c:pt>
                <c:pt idx="3">
                  <c:v>1.3596940266462001E-3</c:v>
                </c:pt>
                <c:pt idx="4">
                  <c:v>1.7514767292555912E-4</c:v>
                </c:pt>
                <c:pt idx="5">
                  <c:v>0</c:v>
                </c:pt>
                <c:pt idx="6">
                  <c:v>0</c:v>
                </c:pt>
                <c:pt idx="7">
                  <c:v>0</c:v>
                </c:pt>
                <c:pt idx="8">
                  <c:v>0</c:v>
                </c:pt>
                <c:pt idx="9">
                  <c:v>0</c:v>
                </c:pt>
                <c:pt idx="10">
                  <c:v>0</c:v>
                </c:pt>
              </c:numCache>
            </c:numRef>
          </c:val>
          <c:smooth val="0"/>
        </c:ser>
        <c:dLbls>
          <c:showLegendKey val="0"/>
          <c:showVal val="0"/>
          <c:showCatName val="0"/>
          <c:showSerName val="0"/>
          <c:showPercent val="0"/>
          <c:showBubbleSize val="0"/>
        </c:dLbls>
        <c:marker val="1"/>
        <c:smooth val="0"/>
        <c:axId val="129999232"/>
        <c:axId val="130001152"/>
      </c:lineChart>
      <c:catAx>
        <c:axId val="129999232"/>
        <c:scaling>
          <c:orientation val="minMax"/>
        </c:scaling>
        <c:delete val="0"/>
        <c:axPos val="b"/>
        <c:numFmt formatCode="General" sourceLinked="1"/>
        <c:majorTickMark val="out"/>
        <c:minorTickMark val="none"/>
        <c:tickLblPos val="nextTo"/>
        <c:crossAx val="130001152"/>
        <c:crosses val="autoZero"/>
        <c:auto val="1"/>
        <c:lblAlgn val="ctr"/>
        <c:lblOffset val="100"/>
        <c:noMultiLvlLbl val="0"/>
      </c:catAx>
      <c:valAx>
        <c:axId val="130001152"/>
        <c:scaling>
          <c:orientation val="minMax"/>
          <c:max val="1"/>
        </c:scaling>
        <c:delete val="0"/>
        <c:axPos val="l"/>
        <c:numFmt formatCode="0%" sourceLinked="0"/>
        <c:majorTickMark val="out"/>
        <c:minorTickMark val="none"/>
        <c:tickLblPos val="nextTo"/>
        <c:crossAx val="129999232"/>
        <c:crosses val="autoZero"/>
        <c:crossBetween val="midCat"/>
      </c:valAx>
    </c:plotArea>
    <c:legend>
      <c:legendPos val="b"/>
      <c:layout/>
      <c:overlay val="0"/>
    </c:legend>
    <c:plotVisOnly val="1"/>
    <c:dispBlanksAs val="gap"/>
    <c:showDLblsOverMax val="0"/>
  </c:chart>
  <c:spPr>
    <a:ln>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lineChart>
        <c:grouping val="standard"/>
        <c:varyColors val="0"/>
        <c:ser>
          <c:idx val="2"/>
          <c:order val="0"/>
          <c:tx>
            <c:strRef>
              <c:f>Worksheet!$D$2</c:f>
              <c:strCache>
                <c:ptCount val="1"/>
                <c:pt idx="0">
                  <c:v>All</c:v>
                </c:pt>
              </c:strCache>
            </c:strRef>
          </c:tx>
          <c:spPr>
            <a:ln>
              <a:solidFill>
                <a:schemeClr val="bg2">
                  <a:lumMod val="50000"/>
                </a:schemeClr>
              </a:solidFill>
            </a:ln>
          </c:spPr>
          <c:marker>
            <c:symbol val="none"/>
          </c:marker>
          <c:cat>
            <c:numRef>
              <c:f>Worksheet!$A$3:$A$38</c:f>
              <c:numCache>
                <c:formatCode>m/d/yyyy</c:formatCode>
                <c:ptCount val="36"/>
                <c:pt idx="0">
                  <c:v>43090</c:v>
                </c:pt>
                <c:pt idx="1">
                  <c:v>43069</c:v>
                </c:pt>
                <c:pt idx="2">
                  <c:v>43039</c:v>
                </c:pt>
                <c:pt idx="3">
                  <c:v>43008</c:v>
                </c:pt>
                <c:pt idx="4">
                  <c:v>42978</c:v>
                </c:pt>
                <c:pt idx="5">
                  <c:v>42947</c:v>
                </c:pt>
                <c:pt idx="6">
                  <c:v>42916</c:v>
                </c:pt>
                <c:pt idx="7">
                  <c:v>42886</c:v>
                </c:pt>
                <c:pt idx="8">
                  <c:v>42855</c:v>
                </c:pt>
                <c:pt idx="9">
                  <c:v>42825</c:v>
                </c:pt>
                <c:pt idx="10">
                  <c:v>42794</c:v>
                </c:pt>
                <c:pt idx="11">
                  <c:v>42766</c:v>
                </c:pt>
                <c:pt idx="12">
                  <c:v>42735</c:v>
                </c:pt>
                <c:pt idx="13">
                  <c:v>42704</c:v>
                </c:pt>
                <c:pt idx="14">
                  <c:v>42674</c:v>
                </c:pt>
                <c:pt idx="15">
                  <c:v>42643</c:v>
                </c:pt>
                <c:pt idx="16">
                  <c:v>42613</c:v>
                </c:pt>
                <c:pt idx="17">
                  <c:v>42582</c:v>
                </c:pt>
                <c:pt idx="18">
                  <c:v>42551</c:v>
                </c:pt>
                <c:pt idx="19">
                  <c:v>42521</c:v>
                </c:pt>
                <c:pt idx="20">
                  <c:v>42490</c:v>
                </c:pt>
                <c:pt idx="21">
                  <c:v>42460</c:v>
                </c:pt>
                <c:pt idx="22">
                  <c:v>42429</c:v>
                </c:pt>
                <c:pt idx="23">
                  <c:v>42400</c:v>
                </c:pt>
                <c:pt idx="24">
                  <c:v>42369</c:v>
                </c:pt>
                <c:pt idx="25">
                  <c:v>42338</c:v>
                </c:pt>
                <c:pt idx="26">
                  <c:v>42308</c:v>
                </c:pt>
                <c:pt idx="27">
                  <c:v>42277</c:v>
                </c:pt>
                <c:pt idx="28">
                  <c:v>42247</c:v>
                </c:pt>
                <c:pt idx="29">
                  <c:v>42216</c:v>
                </c:pt>
                <c:pt idx="30">
                  <c:v>42185</c:v>
                </c:pt>
                <c:pt idx="31">
                  <c:v>42155</c:v>
                </c:pt>
                <c:pt idx="32">
                  <c:v>42124</c:v>
                </c:pt>
                <c:pt idx="33">
                  <c:v>42094</c:v>
                </c:pt>
                <c:pt idx="34">
                  <c:v>42063</c:v>
                </c:pt>
                <c:pt idx="35">
                  <c:v>42035</c:v>
                </c:pt>
              </c:numCache>
            </c:numRef>
          </c:cat>
          <c:val>
            <c:numRef>
              <c:f>Worksheet!$D$3:$D$38</c:f>
              <c:numCache>
                <c:formatCode>0.0</c:formatCode>
                <c:ptCount val="36"/>
                <c:pt idx="0">
                  <c:v>179.2</c:v>
                </c:pt>
                <c:pt idx="1">
                  <c:v>182.4</c:v>
                </c:pt>
                <c:pt idx="2">
                  <c:v>181</c:v>
                </c:pt>
                <c:pt idx="3">
                  <c:v>181.4</c:v>
                </c:pt>
                <c:pt idx="4">
                  <c:v>180.2</c:v>
                </c:pt>
                <c:pt idx="5">
                  <c:v>179</c:v>
                </c:pt>
                <c:pt idx="6">
                  <c:v>178.5</c:v>
                </c:pt>
                <c:pt idx="7">
                  <c:v>178.3</c:v>
                </c:pt>
                <c:pt idx="8">
                  <c:v>180</c:v>
                </c:pt>
                <c:pt idx="9">
                  <c:v>180.48500000000001</c:v>
                </c:pt>
                <c:pt idx="10">
                  <c:v>174.88900000000001</c:v>
                </c:pt>
                <c:pt idx="11">
                  <c:v>174.178</c:v>
                </c:pt>
                <c:pt idx="12">
                  <c:v>172.971</c:v>
                </c:pt>
                <c:pt idx="13">
                  <c:v>171.91900000000001</c:v>
                </c:pt>
                <c:pt idx="14">
                  <c:v>169.08099999999999</c:v>
                </c:pt>
                <c:pt idx="15">
                  <c:v>164.74199999999999</c:v>
                </c:pt>
                <c:pt idx="16">
                  <c:v>162.446</c:v>
                </c:pt>
                <c:pt idx="17">
                  <c:v>163.09299999999999</c:v>
                </c:pt>
                <c:pt idx="18">
                  <c:v>161.416</c:v>
                </c:pt>
                <c:pt idx="19">
                  <c:v>162.5</c:v>
                </c:pt>
                <c:pt idx="20">
                  <c:v>164.59299999999999</c:v>
                </c:pt>
                <c:pt idx="21">
                  <c:v>163.69200000000001</c:v>
                </c:pt>
                <c:pt idx="22">
                  <c:v>162.666</c:v>
                </c:pt>
                <c:pt idx="23">
                  <c:v>160.67400000000001</c:v>
                </c:pt>
                <c:pt idx="24">
                  <c:v>162.03200000000001</c:v>
                </c:pt>
                <c:pt idx="25">
                  <c:v>158.18299999999999</c:v>
                </c:pt>
                <c:pt idx="26">
                  <c:v>157.636</c:v>
                </c:pt>
                <c:pt idx="27">
                  <c:v>159.65299999999999</c:v>
                </c:pt>
                <c:pt idx="28">
                  <c:v>161.155</c:v>
                </c:pt>
                <c:pt idx="29">
                  <c:v>153.863</c:v>
                </c:pt>
                <c:pt idx="30">
                  <c:v>149.345</c:v>
                </c:pt>
                <c:pt idx="31">
                  <c:v>147.82900000000001</c:v>
                </c:pt>
                <c:pt idx="32">
                  <c:v>143.88999999999999</c:v>
                </c:pt>
                <c:pt idx="33">
                  <c:v>140.083</c:v>
                </c:pt>
                <c:pt idx="34">
                  <c:v>135.60900000000001</c:v>
                </c:pt>
                <c:pt idx="35">
                  <c:v>133.93600000000001</c:v>
                </c:pt>
              </c:numCache>
            </c:numRef>
          </c:val>
          <c:smooth val="0"/>
        </c:ser>
        <c:ser>
          <c:idx val="4"/>
          <c:order val="1"/>
          <c:tx>
            <c:strRef>
              <c:f>Worksheet!$F$2</c:f>
              <c:strCache>
                <c:ptCount val="1"/>
                <c:pt idx="0">
                  <c:v>Conforming</c:v>
                </c:pt>
              </c:strCache>
            </c:strRef>
          </c:tx>
          <c:marker>
            <c:symbol val="none"/>
          </c:marker>
          <c:cat>
            <c:numRef>
              <c:f>Worksheet!$A$3:$A$38</c:f>
              <c:numCache>
                <c:formatCode>m/d/yyyy</c:formatCode>
                <c:ptCount val="36"/>
                <c:pt idx="0">
                  <c:v>43090</c:v>
                </c:pt>
                <c:pt idx="1">
                  <c:v>43069</c:v>
                </c:pt>
                <c:pt idx="2">
                  <c:v>43039</c:v>
                </c:pt>
                <c:pt idx="3">
                  <c:v>43008</c:v>
                </c:pt>
                <c:pt idx="4">
                  <c:v>42978</c:v>
                </c:pt>
                <c:pt idx="5">
                  <c:v>42947</c:v>
                </c:pt>
                <c:pt idx="6">
                  <c:v>42916</c:v>
                </c:pt>
                <c:pt idx="7">
                  <c:v>42886</c:v>
                </c:pt>
                <c:pt idx="8">
                  <c:v>42855</c:v>
                </c:pt>
                <c:pt idx="9">
                  <c:v>42825</c:v>
                </c:pt>
                <c:pt idx="10">
                  <c:v>42794</c:v>
                </c:pt>
                <c:pt idx="11">
                  <c:v>42766</c:v>
                </c:pt>
                <c:pt idx="12">
                  <c:v>42735</c:v>
                </c:pt>
                <c:pt idx="13">
                  <c:v>42704</c:v>
                </c:pt>
                <c:pt idx="14">
                  <c:v>42674</c:v>
                </c:pt>
                <c:pt idx="15">
                  <c:v>42643</c:v>
                </c:pt>
                <c:pt idx="16">
                  <c:v>42613</c:v>
                </c:pt>
                <c:pt idx="17">
                  <c:v>42582</c:v>
                </c:pt>
                <c:pt idx="18">
                  <c:v>42551</c:v>
                </c:pt>
                <c:pt idx="19">
                  <c:v>42521</c:v>
                </c:pt>
                <c:pt idx="20">
                  <c:v>42490</c:v>
                </c:pt>
                <c:pt idx="21">
                  <c:v>42460</c:v>
                </c:pt>
                <c:pt idx="22">
                  <c:v>42429</c:v>
                </c:pt>
                <c:pt idx="23">
                  <c:v>42400</c:v>
                </c:pt>
                <c:pt idx="24">
                  <c:v>42369</c:v>
                </c:pt>
                <c:pt idx="25">
                  <c:v>42338</c:v>
                </c:pt>
                <c:pt idx="26">
                  <c:v>42308</c:v>
                </c:pt>
                <c:pt idx="27">
                  <c:v>42277</c:v>
                </c:pt>
                <c:pt idx="28">
                  <c:v>42247</c:v>
                </c:pt>
                <c:pt idx="29">
                  <c:v>42216</c:v>
                </c:pt>
                <c:pt idx="30">
                  <c:v>42185</c:v>
                </c:pt>
                <c:pt idx="31">
                  <c:v>42155</c:v>
                </c:pt>
                <c:pt idx="32">
                  <c:v>42124</c:v>
                </c:pt>
                <c:pt idx="33">
                  <c:v>42094</c:v>
                </c:pt>
                <c:pt idx="34">
                  <c:v>42063</c:v>
                </c:pt>
                <c:pt idx="35">
                  <c:v>42035</c:v>
                </c:pt>
              </c:numCache>
            </c:numRef>
          </c:cat>
          <c:val>
            <c:numRef>
              <c:f>Worksheet!$F$3:$F$38</c:f>
              <c:numCache>
                <c:formatCode>0.0</c:formatCode>
                <c:ptCount val="36"/>
                <c:pt idx="0">
                  <c:v>94.3</c:v>
                </c:pt>
                <c:pt idx="1">
                  <c:v>94.4</c:v>
                </c:pt>
                <c:pt idx="2">
                  <c:v>92.74</c:v>
                </c:pt>
                <c:pt idx="3">
                  <c:v>92.5</c:v>
                </c:pt>
                <c:pt idx="4">
                  <c:v>91.12</c:v>
                </c:pt>
                <c:pt idx="5">
                  <c:v>89.71</c:v>
                </c:pt>
                <c:pt idx="6">
                  <c:v>89.44</c:v>
                </c:pt>
                <c:pt idx="7">
                  <c:v>88.64</c:v>
                </c:pt>
                <c:pt idx="8">
                  <c:v>88.94</c:v>
                </c:pt>
                <c:pt idx="9">
                  <c:v>89.71</c:v>
                </c:pt>
                <c:pt idx="10">
                  <c:v>92.07</c:v>
                </c:pt>
                <c:pt idx="11">
                  <c:v>92.03</c:v>
                </c:pt>
                <c:pt idx="12">
                  <c:v>92.09</c:v>
                </c:pt>
                <c:pt idx="13">
                  <c:v>92.05</c:v>
                </c:pt>
                <c:pt idx="14">
                  <c:v>90.08</c:v>
                </c:pt>
                <c:pt idx="15">
                  <c:v>88.07</c:v>
                </c:pt>
                <c:pt idx="16">
                  <c:v>87.49</c:v>
                </c:pt>
                <c:pt idx="17">
                  <c:v>88.29</c:v>
                </c:pt>
                <c:pt idx="18">
                  <c:v>88.23</c:v>
                </c:pt>
                <c:pt idx="19">
                  <c:v>90.48</c:v>
                </c:pt>
                <c:pt idx="20">
                  <c:v>91.59</c:v>
                </c:pt>
                <c:pt idx="21">
                  <c:v>92.08</c:v>
                </c:pt>
                <c:pt idx="22">
                  <c:v>91.97</c:v>
                </c:pt>
                <c:pt idx="23">
                  <c:v>92.25</c:v>
                </c:pt>
                <c:pt idx="24">
                  <c:v>93.23</c:v>
                </c:pt>
                <c:pt idx="25">
                  <c:v>93.15</c:v>
                </c:pt>
                <c:pt idx="26">
                  <c:v>93.12</c:v>
                </c:pt>
                <c:pt idx="27">
                  <c:v>94.05</c:v>
                </c:pt>
                <c:pt idx="28">
                  <c:v>93.62</c:v>
                </c:pt>
                <c:pt idx="29">
                  <c:v>90.84</c:v>
                </c:pt>
                <c:pt idx="30">
                  <c:v>90.31</c:v>
                </c:pt>
                <c:pt idx="31">
                  <c:v>89.73</c:v>
                </c:pt>
                <c:pt idx="32">
                  <c:v>87.35</c:v>
                </c:pt>
                <c:pt idx="33">
                  <c:v>85.8</c:v>
                </c:pt>
                <c:pt idx="34">
                  <c:v>83.4</c:v>
                </c:pt>
                <c:pt idx="35">
                  <c:v>82.43</c:v>
                </c:pt>
              </c:numCache>
            </c:numRef>
          </c:val>
          <c:smooth val="0"/>
        </c:ser>
        <c:ser>
          <c:idx val="0"/>
          <c:order val="2"/>
          <c:tx>
            <c:strRef>
              <c:f>Worksheet!$B$2</c:f>
              <c:strCache>
                <c:ptCount val="1"/>
                <c:pt idx="0">
                  <c:v>Govt</c:v>
                </c:pt>
              </c:strCache>
            </c:strRef>
          </c:tx>
          <c:marker>
            <c:symbol val="none"/>
          </c:marker>
          <c:cat>
            <c:numRef>
              <c:f>Worksheet!$A$3:$A$38</c:f>
              <c:numCache>
                <c:formatCode>m/d/yyyy</c:formatCode>
                <c:ptCount val="36"/>
                <c:pt idx="0">
                  <c:v>43090</c:v>
                </c:pt>
                <c:pt idx="1">
                  <c:v>43069</c:v>
                </c:pt>
                <c:pt idx="2">
                  <c:v>43039</c:v>
                </c:pt>
                <c:pt idx="3">
                  <c:v>43008</c:v>
                </c:pt>
                <c:pt idx="4">
                  <c:v>42978</c:v>
                </c:pt>
                <c:pt idx="5">
                  <c:v>42947</c:v>
                </c:pt>
                <c:pt idx="6">
                  <c:v>42916</c:v>
                </c:pt>
                <c:pt idx="7">
                  <c:v>42886</c:v>
                </c:pt>
                <c:pt idx="8">
                  <c:v>42855</c:v>
                </c:pt>
                <c:pt idx="9">
                  <c:v>42825</c:v>
                </c:pt>
                <c:pt idx="10">
                  <c:v>42794</c:v>
                </c:pt>
                <c:pt idx="11">
                  <c:v>42766</c:v>
                </c:pt>
                <c:pt idx="12">
                  <c:v>42735</c:v>
                </c:pt>
                <c:pt idx="13">
                  <c:v>42704</c:v>
                </c:pt>
                <c:pt idx="14">
                  <c:v>42674</c:v>
                </c:pt>
                <c:pt idx="15">
                  <c:v>42643</c:v>
                </c:pt>
                <c:pt idx="16">
                  <c:v>42613</c:v>
                </c:pt>
                <c:pt idx="17">
                  <c:v>42582</c:v>
                </c:pt>
                <c:pt idx="18">
                  <c:v>42551</c:v>
                </c:pt>
                <c:pt idx="19">
                  <c:v>42521</c:v>
                </c:pt>
                <c:pt idx="20">
                  <c:v>42490</c:v>
                </c:pt>
                <c:pt idx="21">
                  <c:v>42460</c:v>
                </c:pt>
                <c:pt idx="22">
                  <c:v>42429</c:v>
                </c:pt>
                <c:pt idx="23">
                  <c:v>42400</c:v>
                </c:pt>
                <c:pt idx="24">
                  <c:v>42369</c:v>
                </c:pt>
                <c:pt idx="25">
                  <c:v>42338</c:v>
                </c:pt>
                <c:pt idx="26">
                  <c:v>42308</c:v>
                </c:pt>
                <c:pt idx="27">
                  <c:v>42277</c:v>
                </c:pt>
                <c:pt idx="28">
                  <c:v>42247</c:v>
                </c:pt>
                <c:pt idx="29">
                  <c:v>42216</c:v>
                </c:pt>
                <c:pt idx="30">
                  <c:v>42185</c:v>
                </c:pt>
                <c:pt idx="31">
                  <c:v>42155</c:v>
                </c:pt>
                <c:pt idx="32">
                  <c:v>42124</c:v>
                </c:pt>
                <c:pt idx="33">
                  <c:v>42094</c:v>
                </c:pt>
                <c:pt idx="34">
                  <c:v>42063</c:v>
                </c:pt>
                <c:pt idx="35">
                  <c:v>42035</c:v>
                </c:pt>
              </c:numCache>
            </c:numRef>
          </c:cat>
          <c:val>
            <c:numRef>
              <c:f>Worksheet!$B$3:$B$38</c:f>
              <c:numCache>
                <c:formatCode>0.0</c:formatCode>
                <c:ptCount val="36"/>
                <c:pt idx="0">
                  <c:v>422.1</c:v>
                </c:pt>
                <c:pt idx="1">
                  <c:v>433.2</c:v>
                </c:pt>
                <c:pt idx="2">
                  <c:v>436.22</c:v>
                </c:pt>
                <c:pt idx="3">
                  <c:v>434.94</c:v>
                </c:pt>
                <c:pt idx="4">
                  <c:v>434.24</c:v>
                </c:pt>
                <c:pt idx="5">
                  <c:v>433.88</c:v>
                </c:pt>
                <c:pt idx="6">
                  <c:v>436.73</c:v>
                </c:pt>
                <c:pt idx="7">
                  <c:v>438.29</c:v>
                </c:pt>
                <c:pt idx="8">
                  <c:v>446.98</c:v>
                </c:pt>
                <c:pt idx="9">
                  <c:v>446.97</c:v>
                </c:pt>
                <c:pt idx="10">
                  <c:v>437.11</c:v>
                </c:pt>
                <c:pt idx="11">
                  <c:v>427.32</c:v>
                </c:pt>
                <c:pt idx="12">
                  <c:v>426.4</c:v>
                </c:pt>
                <c:pt idx="13">
                  <c:v>423.9</c:v>
                </c:pt>
                <c:pt idx="14">
                  <c:v>416.49</c:v>
                </c:pt>
                <c:pt idx="15">
                  <c:v>409.86</c:v>
                </c:pt>
                <c:pt idx="16">
                  <c:v>402.21</c:v>
                </c:pt>
                <c:pt idx="17">
                  <c:v>404.26</c:v>
                </c:pt>
                <c:pt idx="18">
                  <c:v>399.27</c:v>
                </c:pt>
                <c:pt idx="19">
                  <c:v>400.01</c:v>
                </c:pt>
                <c:pt idx="20">
                  <c:v>407.39</c:v>
                </c:pt>
                <c:pt idx="21">
                  <c:v>407.73</c:v>
                </c:pt>
                <c:pt idx="22">
                  <c:v>408.49</c:v>
                </c:pt>
                <c:pt idx="23">
                  <c:v>400.08</c:v>
                </c:pt>
                <c:pt idx="24">
                  <c:v>405.13</c:v>
                </c:pt>
                <c:pt idx="25">
                  <c:v>397.62</c:v>
                </c:pt>
                <c:pt idx="26">
                  <c:v>396.21</c:v>
                </c:pt>
                <c:pt idx="27">
                  <c:v>399.99</c:v>
                </c:pt>
                <c:pt idx="28">
                  <c:v>406.78</c:v>
                </c:pt>
                <c:pt idx="29">
                  <c:v>384.42</c:v>
                </c:pt>
                <c:pt idx="30">
                  <c:v>373.41</c:v>
                </c:pt>
                <c:pt idx="31">
                  <c:v>369.87</c:v>
                </c:pt>
                <c:pt idx="32">
                  <c:v>360.16</c:v>
                </c:pt>
                <c:pt idx="33">
                  <c:v>349.02</c:v>
                </c:pt>
                <c:pt idx="34">
                  <c:v>336.35</c:v>
                </c:pt>
                <c:pt idx="35">
                  <c:v>330.84</c:v>
                </c:pt>
              </c:numCache>
            </c:numRef>
          </c:val>
          <c:smooth val="0"/>
        </c:ser>
        <c:ser>
          <c:idx val="3"/>
          <c:order val="3"/>
          <c:tx>
            <c:strRef>
              <c:f>Worksheet!$E$2</c:f>
              <c:strCache>
                <c:ptCount val="1"/>
                <c:pt idx="0">
                  <c:v>Jumbo</c:v>
                </c:pt>
              </c:strCache>
            </c:strRef>
          </c:tx>
          <c:marker>
            <c:symbol val="none"/>
          </c:marker>
          <c:cat>
            <c:numRef>
              <c:f>Worksheet!$A$3:$A$38</c:f>
              <c:numCache>
                <c:formatCode>m/d/yyyy</c:formatCode>
                <c:ptCount val="36"/>
                <c:pt idx="0">
                  <c:v>43090</c:v>
                </c:pt>
                <c:pt idx="1">
                  <c:v>43069</c:v>
                </c:pt>
                <c:pt idx="2">
                  <c:v>43039</c:v>
                </c:pt>
                <c:pt idx="3">
                  <c:v>43008</c:v>
                </c:pt>
                <c:pt idx="4">
                  <c:v>42978</c:v>
                </c:pt>
                <c:pt idx="5">
                  <c:v>42947</c:v>
                </c:pt>
                <c:pt idx="6">
                  <c:v>42916</c:v>
                </c:pt>
                <c:pt idx="7">
                  <c:v>42886</c:v>
                </c:pt>
                <c:pt idx="8">
                  <c:v>42855</c:v>
                </c:pt>
                <c:pt idx="9">
                  <c:v>42825</c:v>
                </c:pt>
                <c:pt idx="10">
                  <c:v>42794</c:v>
                </c:pt>
                <c:pt idx="11">
                  <c:v>42766</c:v>
                </c:pt>
                <c:pt idx="12">
                  <c:v>42735</c:v>
                </c:pt>
                <c:pt idx="13">
                  <c:v>42704</c:v>
                </c:pt>
                <c:pt idx="14">
                  <c:v>42674</c:v>
                </c:pt>
                <c:pt idx="15">
                  <c:v>42643</c:v>
                </c:pt>
                <c:pt idx="16">
                  <c:v>42613</c:v>
                </c:pt>
                <c:pt idx="17">
                  <c:v>42582</c:v>
                </c:pt>
                <c:pt idx="18">
                  <c:v>42551</c:v>
                </c:pt>
                <c:pt idx="19">
                  <c:v>42521</c:v>
                </c:pt>
                <c:pt idx="20">
                  <c:v>42490</c:v>
                </c:pt>
                <c:pt idx="21">
                  <c:v>42460</c:v>
                </c:pt>
                <c:pt idx="22">
                  <c:v>42429</c:v>
                </c:pt>
                <c:pt idx="23">
                  <c:v>42400</c:v>
                </c:pt>
                <c:pt idx="24">
                  <c:v>42369</c:v>
                </c:pt>
                <c:pt idx="25">
                  <c:v>42338</c:v>
                </c:pt>
                <c:pt idx="26">
                  <c:v>42308</c:v>
                </c:pt>
                <c:pt idx="27">
                  <c:v>42277</c:v>
                </c:pt>
                <c:pt idx="28">
                  <c:v>42247</c:v>
                </c:pt>
                <c:pt idx="29">
                  <c:v>42216</c:v>
                </c:pt>
                <c:pt idx="30">
                  <c:v>42185</c:v>
                </c:pt>
                <c:pt idx="31">
                  <c:v>42155</c:v>
                </c:pt>
                <c:pt idx="32">
                  <c:v>42124</c:v>
                </c:pt>
                <c:pt idx="33">
                  <c:v>42094</c:v>
                </c:pt>
                <c:pt idx="34">
                  <c:v>42063</c:v>
                </c:pt>
                <c:pt idx="35">
                  <c:v>42035</c:v>
                </c:pt>
              </c:numCache>
            </c:numRef>
          </c:cat>
          <c:val>
            <c:numRef>
              <c:f>Worksheet!$E$3:$E$38</c:f>
              <c:numCache>
                <c:formatCode>0.0</c:formatCode>
                <c:ptCount val="36"/>
                <c:pt idx="0">
                  <c:v>250.1</c:v>
                </c:pt>
                <c:pt idx="1">
                  <c:v>253.6</c:v>
                </c:pt>
                <c:pt idx="2">
                  <c:v>244.3</c:v>
                </c:pt>
                <c:pt idx="3">
                  <c:v>249.34</c:v>
                </c:pt>
                <c:pt idx="4">
                  <c:v>245.83</c:v>
                </c:pt>
                <c:pt idx="5">
                  <c:v>242.45</c:v>
                </c:pt>
                <c:pt idx="6">
                  <c:v>236.14</c:v>
                </c:pt>
                <c:pt idx="7">
                  <c:v>234.19</c:v>
                </c:pt>
                <c:pt idx="8">
                  <c:v>231.3</c:v>
                </c:pt>
                <c:pt idx="9">
                  <c:v>232.13</c:v>
                </c:pt>
                <c:pt idx="10">
                  <c:v>205.96</c:v>
                </c:pt>
                <c:pt idx="11">
                  <c:v>216.47</c:v>
                </c:pt>
                <c:pt idx="12">
                  <c:v>210.12</c:v>
                </c:pt>
                <c:pt idx="13">
                  <c:v>207.4</c:v>
                </c:pt>
                <c:pt idx="14">
                  <c:v>205.72</c:v>
                </c:pt>
                <c:pt idx="15">
                  <c:v>193.51</c:v>
                </c:pt>
                <c:pt idx="16">
                  <c:v>192.13</c:v>
                </c:pt>
                <c:pt idx="17">
                  <c:v>191.09</c:v>
                </c:pt>
                <c:pt idx="18">
                  <c:v>188.28</c:v>
                </c:pt>
                <c:pt idx="19">
                  <c:v>188.32</c:v>
                </c:pt>
                <c:pt idx="20">
                  <c:v>187.5</c:v>
                </c:pt>
                <c:pt idx="21">
                  <c:v>180.1</c:v>
                </c:pt>
                <c:pt idx="22">
                  <c:v>172.75</c:v>
                </c:pt>
                <c:pt idx="23">
                  <c:v>172.28</c:v>
                </c:pt>
                <c:pt idx="24">
                  <c:v>170.71</c:v>
                </c:pt>
                <c:pt idx="25">
                  <c:v>158.09</c:v>
                </c:pt>
                <c:pt idx="26">
                  <c:v>156.86000000000001</c:v>
                </c:pt>
                <c:pt idx="27">
                  <c:v>161.49</c:v>
                </c:pt>
                <c:pt idx="28">
                  <c:v>161.69999999999999</c:v>
                </c:pt>
                <c:pt idx="29">
                  <c:v>156.75</c:v>
                </c:pt>
                <c:pt idx="30">
                  <c:v>146.37</c:v>
                </c:pt>
                <c:pt idx="31">
                  <c:v>143.63</c:v>
                </c:pt>
                <c:pt idx="32">
                  <c:v>139.56</c:v>
                </c:pt>
                <c:pt idx="33">
                  <c:v>136.41</c:v>
                </c:pt>
                <c:pt idx="34">
                  <c:v>133.52000000000001</c:v>
                </c:pt>
                <c:pt idx="35">
                  <c:v>133.78</c:v>
                </c:pt>
              </c:numCache>
            </c:numRef>
          </c:val>
          <c:smooth val="0"/>
        </c:ser>
        <c:dLbls>
          <c:showLegendKey val="0"/>
          <c:showVal val="0"/>
          <c:showCatName val="0"/>
          <c:showSerName val="0"/>
          <c:showPercent val="0"/>
          <c:showBubbleSize val="0"/>
        </c:dLbls>
        <c:marker val="1"/>
        <c:smooth val="0"/>
        <c:axId val="184896512"/>
        <c:axId val="184898304"/>
      </c:lineChart>
      <c:dateAx>
        <c:axId val="184896512"/>
        <c:scaling>
          <c:orientation val="minMax"/>
        </c:scaling>
        <c:delete val="0"/>
        <c:axPos val="b"/>
        <c:numFmt formatCode="m/d/yyyy" sourceLinked="1"/>
        <c:majorTickMark val="out"/>
        <c:minorTickMark val="none"/>
        <c:tickLblPos val="nextTo"/>
        <c:crossAx val="184898304"/>
        <c:crosses val="autoZero"/>
        <c:auto val="1"/>
        <c:lblOffset val="100"/>
        <c:baseTimeUnit val="days"/>
      </c:dateAx>
      <c:valAx>
        <c:axId val="184898304"/>
        <c:scaling>
          <c:orientation val="minMax"/>
          <c:max val="450"/>
          <c:min val="50"/>
        </c:scaling>
        <c:delete val="0"/>
        <c:axPos val="l"/>
        <c:numFmt formatCode="0" sourceLinked="0"/>
        <c:majorTickMark val="out"/>
        <c:minorTickMark val="none"/>
        <c:tickLblPos val="nextTo"/>
        <c:crossAx val="184896512"/>
        <c:crosses val="autoZero"/>
        <c:crossBetween val="between"/>
      </c:valAx>
    </c:plotArea>
    <c:legend>
      <c:legendPos val="b"/>
      <c:layout/>
      <c:overlay val="0"/>
    </c:legend>
    <c:plotVisOnly val="1"/>
    <c:dispBlanksAs val="gap"/>
    <c:showDLblsOverMax val="0"/>
  </c:chart>
  <c:spPr>
    <a:ln>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[FHA VA prepay analysis_with asof filter.xlsx]Display!PivotTable3</c:name>
    <c:fmtId val="5"/>
  </c:pivotSource>
  <c:chart>
    <c:title>
      <c:tx>
        <c:rich>
          <a:bodyPr/>
          <a:lstStyle/>
          <a:p>
            <a:pPr>
              <a:defRPr/>
            </a:pPr>
            <a:r>
              <a:rPr lang="en-US" sz="1200"/>
              <a:t>2016 Origination</a:t>
            </a:r>
          </a:p>
        </c:rich>
      </c:tx>
      <c:layout/>
      <c:overlay val="0"/>
    </c:title>
    <c:autoTitleDeleted val="0"/>
    <c:pivotFmts>
      <c:pivotFmt>
        <c:idx val="0"/>
        <c:marker>
          <c:symbol val="none"/>
        </c:marker>
      </c:pivotFmt>
      <c:pivotFmt>
        <c:idx val="1"/>
        <c:marker>
          <c:symbol val="none"/>
        </c:marker>
      </c:pivotFmt>
      <c:pivotFmt>
        <c:idx val="2"/>
        <c:marker>
          <c:symbol val="none"/>
        </c:marker>
      </c:pivotFmt>
      <c:pivotFmt>
        <c:idx val="3"/>
        <c:marker>
          <c:symbol val="none"/>
        </c:marker>
      </c:pivotFmt>
      <c:pivotFmt>
        <c:idx val="4"/>
        <c:marker>
          <c:symbol val="none"/>
        </c:marker>
      </c:pivotFmt>
      <c:pivotFmt>
        <c:idx val="5"/>
        <c:marker>
          <c:symbol val="none"/>
        </c:marker>
      </c:pivotFmt>
      <c:pivotFmt>
        <c:idx val="6"/>
        <c:marker>
          <c:symbol val="none"/>
        </c:marker>
      </c:pivotFmt>
      <c:pivotFmt>
        <c:idx val="7"/>
        <c:marker>
          <c:symbol val="none"/>
        </c:marker>
      </c:pivotFmt>
      <c:pivotFmt>
        <c:idx val="8"/>
        <c:marker>
          <c:symbol val="none"/>
        </c:marker>
      </c:pivotFmt>
      <c:pivotFmt>
        <c:idx val="9"/>
        <c:marker>
          <c:symbol val="none"/>
        </c:marker>
      </c:pivotFmt>
      <c:pivotFmt>
        <c:idx val="10"/>
        <c:marker>
          <c:symbol val="none"/>
        </c:marker>
      </c:pivotFmt>
      <c:pivotFmt>
        <c:idx val="11"/>
        <c:marker>
          <c:symbol val="none"/>
        </c:marker>
      </c:pivotFmt>
      <c:pivotFmt>
        <c:idx val="12"/>
        <c:marker>
          <c:symbol val="none"/>
        </c:marker>
      </c:pivotFmt>
      <c:pivotFmt>
        <c:idx val="13"/>
        <c:marker>
          <c:symbol val="none"/>
        </c:marker>
      </c:pivotFmt>
      <c:pivotFmt>
        <c:idx val="14"/>
        <c:spPr>
          <a:ln w="19050"/>
        </c:spPr>
        <c:marker>
          <c:symbol val="none"/>
        </c:marker>
      </c:pivotFmt>
      <c:pivotFmt>
        <c:idx val="15"/>
        <c:spPr>
          <a:ln w="19050">
            <a:solidFill>
              <a:schemeClr val="accent1"/>
            </a:solidFill>
            <a:prstDash val="sysDash"/>
          </a:ln>
        </c:spPr>
        <c:marker>
          <c:symbol val="none"/>
        </c:marker>
      </c:pivotFmt>
      <c:pivotFmt>
        <c:idx val="16"/>
        <c:spPr>
          <a:ln w="19050">
            <a:solidFill>
              <a:srgbClr val="C00000"/>
            </a:solidFill>
          </a:ln>
        </c:spPr>
        <c:marker>
          <c:symbol val="none"/>
        </c:marker>
      </c:pivotFmt>
      <c:pivotFmt>
        <c:idx val="17"/>
        <c:spPr>
          <a:ln w="19050">
            <a:solidFill>
              <a:srgbClr val="C00000"/>
            </a:solidFill>
            <a:prstDash val="sysDash"/>
          </a:ln>
        </c:spPr>
        <c:marker>
          <c:symbol val="none"/>
        </c:marker>
      </c:pivotFmt>
      <c:pivotFmt>
        <c:idx val="18"/>
        <c:spPr>
          <a:ln w="19050"/>
        </c:spPr>
        <c:marker>
          <c:symbol val="none"/>
        </c:marker>
      </c:pivotFmt>
      <c:pivotFmt>
        <c:idx val="19"/>
        <c:spPr>
          <a:ln w="19050">
            <a:solidFill>
              <a:schemeClr val="accent1"/>
            </a:solidFill>
            <a:prstDash val="sysDash"/>
          </a:ln>
        </c:spPr>
        <c:marker>
          <c:symbol val="none"/>
        </c:marker>
      </c:pivotFmt>
      <c:pivotFmt>
        <c:idx val="20"/>
        <c:spPr>
          <a:ln w="19050">
            <a:solidFill>
              <a:srgbClr val="C00000"/>
            </a:solidFill>
          </a:ln>
        </c:spPr>
        <c:marker>
          <c:symbol val="none"/>
        </c:marker>
      </c:pivotFmt>
      <c:pivotFmt>
        <c:idx val="21"/>
        <c:spPr>
          <a:ln w="19050">
            <a:solidFill>
              <a:srgbClr val="C00000"/>
            </a:solidFill>
            <a:prstDash val="sysDash"/>
          </a:ln>
        </c:spPr>
        <c:marker>
          <c:symbol val="none"/>
        </c:marker>
      </c:pivotFmt>
      <c:pivotFmt>
        <c:idx val="22"/>
        <c:spPr>
          <a:ln w="19050"/>
        </c:spPr>
        <c:marker>
          <c:symbol val="none"/>
        </c:marker>
      </c:pivotFmt>
      <c:pivotFmt>
        <c:idx val="23"/>
        <c:spPr>
          <a:ln w="19050">
            <a:solidFill>
              <a:schemeClr val="accent1"/>
            </a:solidFill>
            <a:prstDash val="sysDash"/>
          </a:ln>
        </c:spPr>
        <c:marker>
          <c:symbol val="none"/>
        </c:marker>
      </c:pivotFmt>
      <c:pivotFmt>
        <c:idx val="24"/>
        <c:spPr>
          <a:ln w="19050">
            <a:solidFill>
              <a:srgbClr val="C00000"/>
            </a:solidFill>
          </a:ln>
        </c:spPr>
        <c:marker>
          <c:symbol val="none"/>
        </c:marker>
      </c:pivotFmt>
      <c:pivotFmt>
        <c:idx val="25"/>
        <c:spPr>
          <a:ln w="19050">
            <a:solidFill>
              <a:srgbClr val="C00000"/>
            </a:solidFill>
            <a:prstDash val="sysDash"/>
          </a:ln>
        </c:spPr>
        <c:marker>
          <c:symbol val="none"/>
        </c:marker>
      </c:pivotFmt>
    </c:pivotFmts>
    <c:plotArea>
      <c:layout/>
      <c:lineChart>
        <c:grouping val="standard"/>
        <c:varyColors val="0"/>
        <c:ser>
          <c:idx val="0"/>
          <c:order val="0"/>
          <c:tx>
            <c:strRef>
              <c:f>Display!$B$3:$B$4</c:f>
              <c:strCache>
                <c:ptCount val="1"/>
                <c:pt idx="0">
                  <c:v>FHA - All</c:v>
                </c:pt>
              </c:strCache>
            </c:strRef>
          </c:tx>
          <c:spPr>
            <a:ln w="19050"/>
          </c:spPr>
          <c:marker>
            <c:symbol val="none"/>
          </c:marker>
          <c:cat>
            <c:strRef>
              <c:f>Display!$A$5:$A$16</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Display!$B$5:$B$16</c:f>
              <c:numCache>
                <c:formatCode>General</c:formatCode>
                <c:ptCount val="12"/>
                <c:pt idx="0">
                  <c:v>0.25169268105442733</c:v>
                </c:pt>
                <c:pt idx="1">
                  <c:v>0.71328018333286503</c:v>
                </c:pt>
                <c:pt idx="2">
                  <c:v>1.2360902312637201</c:v>
                </c:pt>
                <c:pt idx="3">
                  <c:v>1.9358908283277687</c:v>
                </c:pt>
                <c:pt idx="4">
                  <c:v>3.4657239043610844</c:v>
                </c:pt>
                <c:pt idx="5">
                  <c:v>4.7485255051471276</c:v>
                </c:pt>
                <c:pt idx="6">
                  <c:v>2.1161588046567426</c:v>
                </c:pt>
                <c:pt idx="7">
                  <c:v>17.901561666778044</c:v>
                </c:pt>
                <c:pt idx="8">
                  <c:v>29.236474007115788</c:v>
                </c:pt>
                <c:pt idx="9">
                  <c:v>26.742063085142021</c:v>
                </c:pt>
                <c:pt idx="10">
                  <c:v>24.062284971693828</c:v>
                </c:pt>
                <c:pt idx="11">
                  <c:v>20.593853974548114</c:v>
                </c:pt>
              </c:numCache>
            </c:numRef>
          </c:val>
          <c:smooth val="0"/>
        </c:ser>
        <c:ser>
          <c:idx val="1"/>
          <c:order val="1"/>
          <c:tx>
            <c:strRef>
              <c:f>Display!$C$3:$C$4</c:f>
              <c:strCache>
                <c:ptCount val="1"/>
                <c:pt idx="0">
                  <c:v>FHA - Freedom + NewDay</c:v>
                </c:pt>
              </c:strCache>
            </c:strRef>
          </c:tx>
          <c:spPr>
            <a:ln w="19050">
              <a:solidFill>
                <a:schemeClr val="accent1"/>
              </a:solidFill>
              <a:prstDash val="sysDash"/>
            </a:ln>
          </c:spPr>
          <c:marker>
            <c:symbol val="none"/>
          </c:marker>
          <c:cat>
            <c:strRef>
              <c:f>Display!$A$5:$A$16</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Display!$C$5:$C$16</c:f>
              <c:numCache>
                <c:formatCode>General</c:formatCode>
                <c:ptCount val="12"/>
                <c:pt idx="0">
                  <c:v>0.23384501146299641</c:v>
                </c:pt>
                <c:pt idx="1">
                  <c:v>0.72001163721597816</c:v>
                </c:pt>
                <c:pt idx="2">
                  <c:v>0.97132703275883969</c:v>
                </c:pt>
                <c:pt idx="3">
                  <c:v>1.8201496302298836</c:v>
                </c:pt>
                <c:pt idx="4">
                  <c:v>2.6223242922229884</c:v>
                </c:pt>
                <c:pt idx="5">
                  <c:v>3.7046046818834721</c:v>
                </c:pt>
                <c:pt idx="6">
                  <c:v>1.475628900060677</c:v>
                </c:pt>
                <c:pt idx="7">
                  <c:v>20.106415239935217</c:v>
                </c:pt>
                <c:pt idx="8">
                  <c:v>75.956998691091954</c:v>
                </c:pt>
                <c:pt idx="9">
                  <c:v>63.952305229890662</c:v>
                </c:pt>
                <c:pt idx="10">
                  <c:v>51.331625204523704</c:v>
                </c:pt>
                <c:pt idx="11">
                  <c:v>49.3262474082835</c:v>
                </c:pt>
              </c:numCache>
            </c:numRef>
          </c:val>
          <c:smooth val="0"/>
        </c:ser>
        <c:ser>
          <c:idx val="2"/>
          <c:order val="2"/>
          <c:tx>
            <c:strRef>
              <c:f>Display!$D$3:$D$4</c:f>
              <c:strCache>
                <c:ptCount val="1"/>
                <c:pt idx="0">
                  <c:v>VA - All</c:v>
                </c:pt>
              </c:strCache>
            </c:strRef>
          </c:tx>
          <c:spPr>
            <a:ln w="19050">
              <a:solidFill>
                <a:srgbClr val="C00000"/>
              </a:solidFill>
            </a:ln>
          </c:spPr>
          <c:marker>
            <c:symbol val="none"/>
          </c:marker>
          <c:cat>
            <c:strRef>
              <c:f>Display!$A$5:$A$16</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Display!$D$5:$D$16</c:f>
              <c:numCache>
                <c:formatCode>General</c:formatCode>
                <c:ptCount val="12"/>
                <c:pt idx="0">
                  <c:v>0.80685271668524683</c:v>
                </c:pt>
                <c:pt idx="1">
                  <c:v>7.4627696785919628</c:v>
                </c:pt>
                <c:pt idx="2">
                  <c:v>22.837084481669791</c:v>
                </c:pt>
                <c:pt idx="3">
                  <c:v>29.385804444336006</c:v>
                </c:pt>
                <c:pt idx="4">
                  <c:v>34.083433262408434</c:v>
                </c:pt>
                <c:pt idx="5">
                  <c:v>34.474001079990813</c:v>
                </c:pt>
                <c:pt idx="6">
                  <c:v>11.004126384426904</c:v>
                </c:pt>
                <c:pt idx="7">
                  <c:v>36.971790821994247</c:v>
                </c:pt>
                <c:pt idx="8">
                  <c:v>37.689551026569909</c:v>
                </c:pt>
                <c:pt idx="9">
                  <c:v>33.917456307964123</c:v>
                </c:pt>
                <c:pt idx="10">
                  <c:v>31.653294954992639</c:v>
                </c:pt>
                <c:pt idx="11">
                  <c:v>26.442518364959501</c:v>
                </c:pt>
              </c:numCache>
            </c:numRef>
          </c:val>
          <c:smooth val="0"/>
        </c:ser>
        <c:ser>
          <c:idx val="3"/>
          <c:order val="3"/>
          <c:tx>
            <c:strRef>
              <c:f>Display!$E$3:$E$4</c:f>
              <c:strCache>
                <c:ptCount val="1"/>
                <c:pt idx="0">
                  <c:v>VA - Freedom + NewDay</c:v>
                </c:pt>
              </c:strCache>
            </c:strRef>
          </c:tx>
          <c:spPr>
            <a:ln w="19050">
              <a:solidFill>
                <a:srgbClr val="C00000"/>
              </a:solidFill>
              <a:prstDash val="sysDash"/>
            </a:ln>
          </c:spPr>
          <c:marker>
            <c:symbol val="none"/>
          </c:marker>
          <c:cat>
            <c:strRef>
              <c:f>Display!$A$5:$A$16</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Display!$E$5:$E$16</c:f>
              <c:numCache>
                <c:formatCode>General</c:formatCode>
                <c:ptCount val="12"/>
                <c:pt idx="0">
                  <c:v>0.66459459500068929</c:v>
                </c:pt>
                <c:pt idx="1">
                  <c:v>9.9029586002087449</c:v>
                </c:pt>
                <c:pt idx="2">
                  <c:v>47.78670410968251</c:v>
                </c:pt>
                <c:pt idx="3">
                  <c:v>74.238429513013173</c:v>
                </c:pt>
                <c:pt idx="4">
                  <c:v>82.764072986082013</c:v>
                </c:pt>
                <c:pt idx="5">
                  <c:v>79.253629118832336</c:v>
                </c:pt>
                <c:pt idx="6">
                  <c:v>27.958425426715017</c:v>
                </c:pt>
                <c:pt idx="7">
                  <c:v>59.6524558510513</c:v>
                </c:pt>
                <c:pt idx="8">
                  <c:v>57.449890041446935</c:v>
                </c:pt>
                <c:pt idx="9">
                  <c:v>47.858589265400923</c:v>
                </c:pt>
                <c:pt idx="10">
                  <c:v>42.457821672662654</c:v>
                </c:pt>
                <c:pt idx="11">
                  <c:v>38.39886782757447</c:v>
                </c:pt>
              </c:numCache>
            </c:numRef>
          </c:val>
          <c:smooth val="0"/>
        </c:ser>
        <c:dLbls>
          <c:showLegendKey val="0"/>
          <c:showVal val="0"/>
          <c:showCatName val="0"/>
          <c:showSerName val="0"/>
          <c:showPercent val="0"/>
          <c:showBubbleSize val="0"/>
        </c:dLbls>
        <c:marker val="1"/>
        <c:smooth val="0"/>
        <c:axId val="184994432"/>
        <c:axId val="185000704"/>
      </c:lineChart>
      <c:catAx>
        <c:axId val="184994432"/>
        <c:scaling>
          <c:orientation val="minMax"/>
        </c:scaling>
        <c:delete val="0"/>
        <c:axPos val="b"/>
        <c:title>
          <c:tx>
            <c:rich>
              <a:bodyPr/>
              <a:lstStyle/>
              <a:p>
                <a:pPr>
                  <a:defRPr/>
                </a:pPr>
                <a:r>
                  <a:rPr lang="en-US"/>
                  <a:t>Age</a:t>
                </a:r>
              </a:p>
            </c:rich>
          </c:tx>
          <c:layout/>
          <c:overlay val="0"/>
        </c:title>
        <c:majorTickMark val="out"/>
        <c:minorTickMark val="none"/>
        <c:tickLblPos val="nextTo"/>
        <c:crossAx val="185000704"/>
        <c:crosses val="autoZero"/>
        <c:auto val="1"/>
        <c:lblAlgn val="ctr"/>
        <c:lblOffset val="100"/>
        <c:noMultiLvlLbl val="0"/>
      </c:catAx>
      <c:valAx>
        <c:axId val="185000704"/>
        <c:scaling>
          <c:orientation val="minMax"/>
          <c:max val="90"/>
        </c:scaling>
        <c:delete val="0"/>
        <c:axPos val="l"/>
        <c:title>
          <c:tx>
            <c:rich>
              <a:bodyPr rot="-5400000" vert="horz"/>
              <a:lstStyle/>
              <a:p>
                <a:pPr>
                  <a:defRPr/>
                </a:pPr>
                <a:r>
                  <a:rPr lang="en-US" dirty="0" smtClean="0"/>
                  <a:t>CPR (%)</a:t>
                </a:r>
                <a:endParaRPr lang="en-US" dirty="0"/>
              </a:p>
            </c:rich>
          </c:tx>
          <c:layout/>
          <c:overlay val="0"/>
        </c:title>
        <c:numFmt formatCode="General" sourceLinked="1"/>
        <c:majorTickMark val="out"/>
        <c:minorTickMark val="none"/>
        <c:tickLblPos val="nextTo"/>
        <c:crossAx val="184994432"/>
        <c:crosses val="autoZero"/>
        <c:crossBetween val="midCat"/>
      </c:valAx>
    </c:plotArea>
    <c:legend>
      <c:legendPos val="b"/>
      <c:layout/>
      <c:overlay val="0"/>
    </c:legend>
    <c:plotVisOnly val="1"/>
    <c:dispBlanksAs val="gap"/>
    <c:showDLblsOverMax val="0"/>
  </c:chart>
  <c:spPr>
    <a:ln>
      <a:noFill/>
    </a:ln>
  </c:sp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[FHA VA prepay analysis_with asof filter.xlsx]Display!PivotTable5</c:name>
    <c:fmtId val="3"/>
  </c:pivotSource>
  <c:chart>
    <c:title>
      <c:tx>
        <c:rich>
          <a:bodyPr/>
          <a:lstStyle/>
          <a:p>
            <a:pPr>
              <a:defRPr/>
            </a:pPr>
            <a:r>
              <a:rPr lang="en-US" sz="1200"/>
              <a:t>2017 Origination</a:t>
            </a:r>
          </a:p>
        </c:rich>
      </c:tx>
      <c:layout/>
      <c:overlay val="0"/>
    </c:title>
    <c:autoTitleDeleted val="0"/>
    <c:pivotFmts>
      <c:pivotFmt>
        <c:idx val="0"/>
        <c:marker>
          <c:symbol val="none"/>
        </c:marker>
      </c:pivotFmt>
      <c:pivotFmt>
        <c:idx val="1"/>
        <c:marker>
          <c:symbol val="none"/>
        </c:marker>
      </c:pivotFmt>
      <c:pivotFmt>
        <c:idx val="2"/>
        <c:marker>
          <c:symbol val="none"/>
        </c:marker>
      </c:pivotFmt>
      <c:pivotFmt>
        <c:idx val="3"/>
        <c:marker>
          <c:symbol val="none"/>
        </c:marker>
      </c:pivotFmt>
      <c:pivotFmt>
        <c:idx val="4"/>
        <c:marker>
          <c:symbol val="none"/>
        </c:marker>
      </c:pivotFmt>
      <c:pivotFmt>
        <c:idx val="5"/>
        <c:spPr>
          <a:ln w="19050"/>
        </c:spPr>
        <c:marker>
          <c:symbol val="none"/>
        </c:marker>
      </c:pivotFmt>
      <c:pivotFmt>
        <c:idx val="6"/>
        <c:spPr>
          <a:ln w="19050">
            <a:solidFill>
              <a:schemeClr val="accent1">
                <a:shade val="95000"/>
                <a:satMod val="105000"/>
              </a:schemeClr>
            </a:solidFill>
            <a:prstDash val="sysDash"/>
          </a:ln>
        </c:spPr>
        <c:marker>
          <c:symbol val="none"/>
        </c:marker>
      </c:pivotFmt>
      <c:pivotFmt>
        <c:idx val="7"/>
        <c:spPr>
          <a:ln w="19050">
            <a:solidFill>
              <a:srgbClr val="C00000"/>
            </a:solidFill>
          </a:ln>
        </c:spPr>
        <c:marker>
          <c:symbol val="none"/>
        </c:marker>
      </c:pivotFmt>
      <c:pivotFmt>
        <c:idx val="8"/>
        <c:spPr>
          <a:ln w="19050">
            <a:solidFill>
              <a:srgbClr val="C00000"/>
            </a:solidFill>
            <a:prstDash val="sysDash"/>
          </a:ln>
        </c:spPr>
        <c:marker>
          <c:symbol val="none"/>
        </c:marker>
      </c:pivotFmt>
      <c:pivotFmt>
        <c:idx val="9"/>
      </c:pivotFmt>
      <c:pivotFmt>
        <c:idx val="10"/>
        <c:spPr>
          <a:ln w="19050"/>
        </c:spPr>
        <c:marker>
          <c:symbol val="none"/>
        </c:marker>
      </c:pivotFmt>
      <c:pivotFmt>
        <c:idx val="11"/>
        <c:spPr>
          <a:ln w="19050">
            <a:solidFill>
              <a:schemeClr val="accent1">
                <a:shade val="95000"/>
                <a:satMod val="105000"/>
              </a:schemeClr>
            </a:solidFill>
            <a:prstDash val="sysDash"/>
          </a:ln>
        </c:spPr>
        <c:marker>
          <c:symbol val="none"/>
        </c:marker>
      </c:pivotFmt>
      <c:pivotFmt>
        <c:idx val="12"/>
        <c:spPr>
          <a:ln w="19050">
            <a:solidFill>
              <a:srgbClr val="C00000"/>
            </a:solidFill>
          </a:ln>
        </c:spPr>
        <c:marker>
          <c:symbol val="none"/>
        </c:marker>
      </c:pivotFmt>
      <c:pivotFmt>
        <c:idx val="13"/>
        <c:spPr>
          <a:ln w="19050">
            <a:solidFill>
              <a:srgbClr val="C00000"/>
            </a:solidFill>
            <a:prstDash val="sysDash"/>
          </a:ln>
        </c:spPr>
        <c:marker>
          <c:symbol val="none"/>
        </c:marker>
      </c:pivotFmt>
      <c:pivotFmt>
        <c:idx val="14"/>
        <c:spPr>
          <a:ln w="19050"/>
        </c:spPr>
        <c:marker>
          <c:symbol val="none"/>
        </c:marker>
      </c:pivotFmt>
      <c:pivotFmt>
        <c:idx val="15"/>
        <c:spPr>
          <a:ln w="19050">
            <a:solidFill>
              <a:schemeClr val="accent1">
                <a:shade val="95000"/>
                <a:satMod val="105000"/>
              </a:schemeClr>
            </a:solidFill>
            <a:prstDash val="sysDash"/>
          </a:ln>
        </c:spPr>
        <c:marker>
          <c:symbol val="none"/>
        </c:marker>
      </c:pivotFmt>
      <c:pivotFmt>
        <c:idx val="16"/>
        <c:spPr>
          <a:ln w="19050">
            <a:solidFill>
              <a:srgbClr val="C00000"/>
            </a:solidFill>
          </a:ln>
        </c:spPr>
        <c:marker>
          <c:symbol val="none"/>
        </c:marker>
      </c:pivotFmt>
      <c:pivotFmt>
        <c:idx val="17"/>
        <c:spPr>
          <a:ln w="19050">
            <a:solidFill>
              <a:srgbClr val="C00000"/>
            </a:solidFill>
            <a:prstDash val="sysDash"/>
          </a:ln>
        </c:spPr>
        <c:marker>
          <c:symbol val="none"/>
        </c:marker>
      </c:pivotFmt>
    </c:pivotFmts>
    <c:plotArea>
      <c:layout/>
      <c:lineChart>
        <c:grouping val="standard"/>
        <c:varyColors val="0"/>
        <c:ser>
          <c:idx val="0"/>
          <c:order val="0"/>
          <c:tx>
            <c:strRef>
              <c:f>Display!$H$3:$H$4</c:f>
              <c:strCache>
                <c:ptCount val="1"/>
                <c:pt idx="0">
                  <c:v>FHA - All</c:v>
                </c:pt>
              </c:strCache>
            </c:strRef>
          </c:tx>
          <c:spPr>
            <a:ln w="19050"/>
          </c:spPr>
          <c:marker>
            <c:symbol val="none"/>
          </c:marker>
          <c:cat>
            <c:strRef>
              <c:f>Display!$G$5:$G$16</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Display!$H$5:$H$16</c:f>
              <c:numCache>
                <c:formatCode>General</c:formatCode>
                <c:ptCount val="12"/>
                <c:pt idx="0">
                  <c:v>0.38432340705172319</c:v>
                </c:pt>
                <c:pt idx="1">
                  <c:v>1.0383598561413354</c:v>
                </c:pt>
                <c:pt idx="2">
                  <c:v>1.5778717827871436</c:v>
                </c:pt>
                <c:pt idx="3">
                  <c:v>2.2794484081543276</c:v>
                </c:pt>
                <c:pt idx="4">
                  <c:v>3.4446359498692347</c:v>
                </c:pt>
                <c:pt idx="5">
                  <c:v>5.162190315858572</c:v>
                </c:pt>
                <c:pt idx="6">
                  <c:v>1.5432169743472612</c:v>
                </c:pt>
                <c:pt idx="7">
                  <c:v>11.951521426084621</c:v>
                </c:pt>
                <c:pt idx="8">
                  <c:v>13.399750669943744</c:v>
                </c:pt>
                <c:pt idx="9">
                  <c:v>12.525626666986255</c:v>
                </c:pt>
                <c:pt idx="10">
                  <c:v>11.483443545115858</c:v>
                </c:pt>
                <c:pt idx="11">
                  <c:v>10.32995491966795</c:v>
                </c:pt>
              </c:numCache>
            </c:numRef>
          </c:val>
          <c:smooth val="0"/>
        </c:ser>
        <c:ser>
          <c:idx val="1"/>
          <c:order val="1"/>
          <c:tx>
            <c:strRef>
              <c:f>Display!$I$3:$I$4</c:f>
              <c:strCache>
                <c:ptCount val="1"/>
                <c:pt idx="0">
                  <c:v>FHA - Freedom + NewDay</c:v>
                </c:pt>
              </c:strCache>
            </c:strRef>
          </c:tx>
          <c:spPr>
            <a:ln w="19050">
              <a:solidFill>
                <a:schemeClr val="accent1">
                  <a:shade val="95000"/>
                  <a:satMod val="105000"/>
                </a:schemeClr>
              </a:solidFill>
              <a:prstDash val="sysDash"/>
            </a:ln>
          </c:spPr>
          <c:marker>
            <c:symbol val="none"/>
          </c:marker>
          <c:cat>
            <c:strRef>
              <c:f>Display!$G$5:$G$16</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Display!$I$5:$I$16</c:f>
              <c:numCache>
                <c:formatCode>General</c:formatCode>
                <c:ptCount val="12"/>
                <c:pt idx="0">
                  <c:v>0.44285051840484702</c:v>
                </c:pt>
                <c:pt idx="1">
                  <c:v>0.98423722868183905</c:v>
                </c:pt>
                <c:pt idx="2">
                  <c:v>2.0028988436715078</c:v>
                </c:pt>
                <c:pt idx="3">
                  <c:v>1.4210431623007724</c:v>
                </c:pt>
                <c:pt idx="4">
                  <c:v>2.1843550141867563</c:v>
                </c:pt>
                <c:pt idx="5">
                  <c:v>3.5597354174315421</c:v>
                </c:pt>
                <c:pt idx="6">
                  <c:v>0.59659102631877126</c:v>
                </c:pt>
                <c:pt idx="7">
                  <c:v>10.500134300720187</c:v>
                </c:pt>
                <c:pt idx="8">
                  <c:v>24.623990503994996</c:v>
                </c:pt>
                <c:pt idx="9">
                  <c:v>15.227650479440591</c:v>
                </c:pt>
                <c:pt idx="10">
                  <c:v>8.0755565963903422</c:v>
                </c:pt>
                <c:pt idx="11">
                  <c:v>6.6592663193448924</c:v>
                </c:pt>
              </c:numCache>
            </c:numRef>
          </c:val>
          <c:smooth val="0"/>
        </c:ser>
        <c:ser>
          <c:idx val="2"/>
          <c:order val="2"/>
          <c:tx>
            <c:strRef>
              <c:f>Display!$J$3:$J$4</c:f>
              <c:strCache>
                <c:ptCount val="1"/>
                <c:pt idx="0">
                  <c:v>VA - All</c:v>
                </c:pt>
              </c:strCache>
            </c:strRef>
          </c:tx>
          <c:spPr>
            <a:ln w="19050">
              <a:solidFill>
                <a:srgbClr val="C00000"/>
              </a:solidFill>
            </a:ln>
          </c:spPr>
          <c:marker>
            <c:symbol val="none"/>
          </c:marker>
          <c:cat>
            <c:strRef>
              <c:f>Display!$G$5:$G$16</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Display!$J$5:$J$16</c:f>
              <c:numCache>
                <c:formatCode>General</c:formatCode>
                <c:ptCount val="12"/>
                <c:pt idx="0">
                  <c:v>0.62108969245768808</c:v>
                </c:pt>
                <c:pt idx="1">
                  <c:v>1.4736138844758662</c:v>
                </c:pt>
                <c:pt idx="2">
                  <c:v>2.9288553425111497</c:v>
                </c:pt>
                <c:pt idx="3">
                  <c:v>4.8919173936005089</c:v>
                </c:pt>
                <c:pt idx="4">
                  <c:v>7.5871306799859202</c:v>
                </c:pt>
                <c:pt idx="5">
                  <c:v>7.616198967447585</c:v>
                </c:pt>
                <c:pt idx="6">
                  <c:v>5.7548228925068496</c:v>
                </c:pt>
                <c:pt idx="7">
                  <c:v>30.25599659133692</c:v>
                </c:pt>
                <c:pt idx="8">
                  <c:v>22.691416055756086</c:v>
                </c:pt>
                <c:pt idx="9">
                  <c:v>20.998154583630878</c:v>
                </c:pt>
                <c:pt idx="10">
                  <c:v>17.356766251098556</c:v>
                </c:pt>
                <c:pt idx="11">
                  <c:v>16.038569733006991</c:v>
                </c:pt>
              </c:numCache>
            </c:numRef>
          </c:val>
          <c:smooth val="0"/>
        </c:ser>
        <c:ser>
          <c:idx val="3"/>
          <c:order val="3"/>
          <c:tx>
            <c:strRef>
              <c:f>Display!$K$3:$K$4</c:f>
              <c:strCache>
                <c:ptCount val="1"/>
                <c:pt idx="0">
                  <c:v>VA - Freedom + NewDay</c:v>
                </c:pt>
              </c:strCache>
            </c:strRef>
          </c:tx>
          <c:spPr>
            <a:ln w="19050">
              <a:solidFill>
                <a:srgbClr val="C00000"/>
              </a:solidFill>
              <a:prstDash val="sysDash"/>
            </a:ln>
          </c:spPr>
          <c:marker>
            <c:symbol val="none"/>
          </c:marker>
          <c:cat>
            <c:strRef>
              <c:f>Display!$G$5:$G$16</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Display!$K$5:$K$16</c:f>
              <c:numCache>
                <c:formatCode>General</c:formatCode>
                <c:ptCount val="12"/>
                <c:pt idx="0">
                  <c:v>0.48194078570964471</c:v>
                </c:pt>
                <c:pt idx="1">
                  <c:v>1.0427748961312933</c:v>
                </c:pt>
                <c:pt idx="2">
                  <c:v>2.3300440711204073</c:v>
                </c:pt>
                <c:pt idx="3">
                  <c:v>4.9430620424648737</c:v>
                </c:pt>
                <c:pt idx="4">
                  <c:v>9.8099436087083163</c:v>
                </c:pt>
                <c:pt idx="5">
                  <c:v>8.7511740477357325</c:v>
                </c:pt>
                <c:pt idx="6">
                  <c:v>9.1486381229091247</c:v>
                </c:pt>
                <c:pt idx="7">
                  <c:v>56.624895755165184</c:v>
                </c:pt>
                <c:pt idx="8">
                  <c:v>41.022318131845083</c:v>
                </c:pt>
                <c:pt idx="9">
                  <c:v>32.292279289967937</c:v>
                </c:pt>
                <c:pt idx="10">
                  <c:v>26.148204298897792</c:v>
                </c:pt>
                <c:pt idx="11">
                  <c:v>22.464721937574474</c:v>
                </c:pt>
              </c:numCache>
            </c:numRef>
          </c:val>
          <c:smooth val="0"/>
        </c:ser>
        <c:dLbls>
          <c:showLegendKey val="0"/>
          <c:showVal val="0"/>
          <c:showCatName val="0"/>
          <c:showSerName val="0"/>
          <c:showPercent val="0"/>
          <c:showBubbleSize val="0"/>
        </c:dLbls>
        <c:marker val="1"/>
        <c:smooth val="0"/>
        <c:axId val="180632960"/>
        <c:axId val="180639232"/>
      </c:lineChart>
      <c:catAx>
        <c:axId val="180632960"/>
        <c:scaling>
          <c:orientation val="minMax"/>
        </c:scaling>
        <c:delete val="0"/>
        <c:axPos val="b"/>
        <c:title>
          <c:tx>
            <c:rich>
              <a:bodyPr/>
              <a:lstStyle/>
              <a:p>
                <a:pPr>
                  <a:defRPr/>
                </a:pPr>
                <a:r>
                  <a:rPr lang="en-US"/>
                  <a:t>Age</a:t>
                </a:r>
              </a:p>
            </c:rich>
          </c:tx>
          <c:layout/>
          <c:overlay val="0"/>
        </c:title>
        <c:majorTickMark val="out"/>
        <c:minorTickMark val="none"/>
        <c:tickLblPos val="nextTo"/>
        <c:crossAx val="180639232"/>
        <c:crosses val="autoZero"/>
        <c:auto val="1"/>
        <c:lblAlgn val="ctr"/>
        <c:lblOffset val="100"/>
        <c:noMultiLvlLbl val="0"/>
      </c:catAx>
      <c:valAx>
        <c:axId val="180639232"/>
        <c:scaling>
          <c:orientation val="minMax"/>
          <c:max val="90"/>
        </c:scaling>
        <c:delete val="0"/>
        <c:axPos val="l"/>
        <c:title>
          <c:tx>
            <c:rich>
              <a:bodyPr rot="-5400000" vert="horz"/>
              <a:lstStyle/>
              <a:p>
                <a:pPr>
                  <a:defRPr/>
                </a:pPr>
                <a:r>
                  <a:rPr lang="en-US" dirty="0" smtClean="0"/>
                  <a:t>CPR (%)</a:t>
                </a:r>
                <a:endParaRPr lang="en-US" dirty="0"/>
              </a:p>
            </c:rich>
          </c:tx>
          <c:layout/>
          <c:overlay val="0"/>
        </c:title>
        <c:numFmt formatCode="General" sourceLinked="1"/>
        <c:majorTickMark val="out"/>
        <c:minorTickMark val="none"/>
        <c:tickLblPos val="nextTo"/>
        <c:crossAx val="180632960"/>
        <c:crosses val="autoZero"/>
        <c:crossBetween val="midCat"/>
      </c:valAx>
      <c:spPr>
        <a:ln>
          <a:noFill/>
        </a:ln>
      </c:spPr>
    </c:plotArea>
    <c:legend>
      <c:legendPos val="b"/>
      <c:layout/>
      <c:overlay val="0"/>
    </c:legend>
    <c:plotVisOnly val="1"/>
    <c:dispBlanksAs val="gap"/>
    <c:showDLblsOverMax val="0"/>
  </c:chart>
  <c:spPr>
    <a:ln>
      <a:noFill/>
    </a:ln>
  </c:spPr>
  <c:externalData r:id="rId1">
    <c:autoUpdate val="0"/>
  </c:externalData>
  <c:extLst>
    <c:ext xmlns:c14="http://schemas.microsoft.com/office/drawing/2007/8/2/chart" uri="{781A3756-C4B2-4CAC-9D66-4F8BD8637D16}">
      <c14:pivotOptions>
        <c14:dropZoneFilter val="1"/>
        <c14:dropZoneCategories val="1"/>
        <c14:dropZoneData val="1"/>
        <c14:dropZoneSeries val="1"/>
      </c14:pivotOptions>
    </c:ext>
  </c:extLst>
</c:chartSpace>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52" tIns="46126" rIns="92252" bIns="46126" rtlCol="0"/>
          <a:lstStyle>
            <a:lvl1pPr algn="l">
              <a:defRPr sz="1200"/>
            </a:lvl1pPr>
          </a:lstStyle>
          <a:p>
            <a:endParaRPr lang="en-US" dirty="0"/>
          </a:p>
        </p:txBody>
      </p:sp>
      <p:sp>
        <p:nvSpPr>
          <p:cNvPr id="3" name="Date Placeholder 2"/>
          <p:cNvSpPr>
            <a:spLocks noGrp="1"/>
          </p:cNvSpPr>
          <p:nvPr>
            <p:ph type="dt" idx="1"/>
          </p:nvPr>
        </p:nvSpPr>
        <p:spPr>
          <a:xfrm>
            <a:off x="3927775" y="0"/>
            <a:ext cx="3004820" cy="461010"/>
          </a:xfrm>
          <a:prstGeom prst="rect">
            <a:avLst/>
          </a:prstGeom>
        </p:spPr>
        <p:txBody>
          <a:bodyPr vert="horz" lIns="92252" tIns="46126" rIns="92252" bIns="46126" rtlCol="0"/>
          <a:lstStyle>
            <a:lvl1pPr algn="r">
              <a:defRPr sz="1200"/>
            </a:lvl1pPr>
          </a:lstStyle>
          <a:p>
            <a:fld id="{A8458E9D-EEA3-425D-8727-2637C15F5D3A}" type="datetimeFigureOut">
              <a:rPr lang="en-US" smtClean="0"/>
              <a:t>4/12/2018</a:t>
            </a:fld>
            <a:endParaRPr lang="en-US" dirty="0"/>
          </a:p>
        </p:txBody>
      </p:sp>
      <p:sp>
        <p:nvSpPr>
          <p:cNvPr id="4" name="Slide Image Placeholder 3"/>
          <p:cNvSpPr>
            <a:spLocks noGrp="1" noRot="1" noChangeAspect="1"/>
          </p:cNvSpPr>
          <p:nvPr>
            <p:ph type="sldImg" idx="2"/>
          </p:nvPr>
        </p:nvSpPr>
        <p:spPr>
          <a:xfrm>
            <a:off x="1162050" y="690563"/>
            <a:ext cx="4610100" cy="3459162"/>
          </a:xfrm>
          <a:prstGeom prst="rect">
            <a:avLst/>
          </a:prstGeom>
          <a:noFill/>
          <a:ln w="12700">
            <a:solidFill>
              <a:prstClr val="black"/>
            </a:solidFill>
          </a:ln>
        </p:spPr>
        <p:txBody>
          <a:bodyPr vert="horz" lIns="92252" tIns="46126" rIns="92252" bIns="46126" rtlCol="0" anchor="ctr"/>
          <a:lstStyle/>
          <a:p>
            <a:endParaRPr lang="en-US" dirty="0"/>
          </a:p>
        </p:txBody>
      </p:sp>
      <p:sp>
        <p:nvSpPr>
          <p:cNvPr id="5" name="Notes Placeholder 4"/>
          <p:cNvSpPr>
            <a:spLocks noGrp="1"/>
          </p:cNvSpPr>
          <p:nvPr>
            <p:ph type="body" sz="quarter" idx="3"/>
          </p:nvPr>
        </p:nvSpPr>
        <p:spPr>
          <a:xfrm>
            <a:off x="693421" y="4379596"/>
            <a:ext cx="5547360" cy="4149090"/>
          </a:xfrm>
          <a:prstGeom prst="rect">
            <a:avLst/>
          </a:prstGeom>
        </p:spPr>
        <p:txBody>
          <a:bodyPr vert="horz" lIns="92252" tIns="46126" rIns="92252" bIns="46126"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57590"/>
            <a:ext cx="3004820" cy="461010"/>
          </a:xfrm>
          <a:prstGeom prst="rect">
            <a:avLst/>
          </a:prstGeom>
        </p:spPr>
        <p:txBody>
          <a:bodyPr vert="horz" lIns="92252" tIns="46126" rIns="92252" bIns="4612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27775" y="8757590"/>
            <a:ext cx="3004820" cy="461010"/>
          </a:xfrm>
          <a:prstGeom prst="rect">
            <a:avLst/>
          </a:prstGeom>
        </p:spPr>
        <p:txBody>
          <a:bodyPr vert="horz" lIns="92252" tIns="46126" rIns="92252" bIns="46126" rtlCol="0" anchor="b"/>
          <a:lstStyle>
            <a:lvl1pPr algn="r">
              <a:defRPr sz="1200"/>
            </a:lvl1pPr>
          </a:lstStyle>
          <a:p>
            <a:fld id="{5DCA49B7-56B7-41CA-B1AF-E05A1D1FCC64}" type="slidenum">
              <a:rPr lang="en-US" smtClean="0"/>
              <a:t>‹#›</a:t>
            </a:fld>
            <a:endParaRPr lang="en-US" dirty="0"/>
          </a:p>
        </p:txBody>
      </p:sp>
    </p:spTree>
    <p:extLst>
      <p:ext uri="{BB962C8B-B14F-4D97-AF65-F5344CB8AC3E}">
        <p14:creationId xmlns:p14="http://schemas.microsoft.com/office/powerpoint/2010/main" val="2933977441"/>
      </p:ext>
    </p:extLst>
  </p:cSld>
  <p:clrMap bg1="lt1" tx1="dk1" bg2="lt2" tx2="dk2" accent1="accent1" accent2="accent2" accent3="accent3" accent4="accent4" accent5="accent5" accent6="accent6" hlink="hlink" folHlink="folHlink"/>
  <p:notesStyle>
    <a:lvl1pPr marL="0" algn="l" defTabSz="913758" rtl="0" eaLnBrk="1" latinLnBrk="0" hangingPunct="1">
      <a:defRPr sz="1200" kern="1200">
        <a:solidFill>
          <a:schemeClr val="tx1"/>
        </a:solidFill>
        <a:latin typeface="+mn-lt"/>
        <a:ea typeface="+mn-ea"/>
        <a:cs typeface="+mn-cs"/>
      </a:defRPr>
    </a:lvl1pPr>
    <a:lvl2pPr marL="456880" algn="l" defTabSz="913758" rtl="0" eaLnBrk="1" latinLnBrk="0" hangingPunct="1">
      <a:defRPr sz="1200" kern="1200">
        <a:solidFill>
          <a:schemeClr val="tx1"/>
        </a:solidFill>
        <a:latin typeface="+mn-lt"/>
        <a:ea typeface="+mn-ea"/>
        <a:cs typeface="+mn-cs"/>
      </a:defRPr>
    </a:lvl2pPr>
    <a:lvl3pPr marL="913758" algn="l" defTabSz="913758" rtl="0" eaLnBrk="1" latinLnBrk="0" hangingPunct="1">
      <a:defRPr sz="1200" kern="1200">
        <a:solidFill>
          <a:schemeClr val="tx1"/>
        </a:solidFill>
        <a:latin typeface="+mn-lt"/>
        <a:ea typeface="+mn-ea"/>
        <a:cs typeface="+mn-cs"/>
      </a:defRPr>
    </a:lvl3pPr>
    <a:lvl4pPr marL="1370639" algn="l" defTabSz="913758" rtl="0" eaLnBrk="1" latinLnBrk="0" hangingPunct="1">
      <a:defRPr sz="1200" kern="1200">
        <a:solidFill>
          <a:schemeClr val="tx1"/>
        </a:solidFill>
        <a:latin typeface="+mn-lt"/>
        <a:ea typeface="+mn-ea"/>
        <a:cs typeface="+mn-cs"/>
      </a:defRPr>
    </a:lvl4pPr>
    <a:lvl5pPr marL="1827517" algn="l" defTabSz="913758" rtl="0" eaLnBrk="1" latinLnBrk="0" hangingPunct="1">
      <a:defRPr sz="1200" kern="1200">
        <a:solidFill>
          <a:schemeClr val="tx1"/>
        </a:solidFill>
        <a:latin typeface="+mn-lt"/>
        <a:ea typeface="+mn-ea"/>
        <a:cs typeface="+mn-cs"/>
      </a:defRPr>
    </a:lvl5pPr>
    <a:lvl6pPr marL="2284398" algn="l" defTabSz="913758" rtl="0" eaLnBrk="1" latinLnBrk="0" hangingPunct="1">
      <a:defRPr sz="1200" kern="1200">
        <a:solidFill>
          <a:schemeClr val="tx1"/>
        </a:solidFill>
        <a:latin typeface="+mn-lt"/>
        <a:ea typeface="+mn-ea"/>
        <a:cs typeface="+mn-cs"/>
      </a:defRPr>
    </a:lvl6pPr>
    <a:lvl7pPr marL="2741275" algn="l" defTabSz="913758" rtl="0" eaLnBrk="1" latinLnBrk="0" hangingPunct="1">
      <a:defRPr sz="1200" kern="1200">
        <a:solidFill>
          <a:schemeClr val="tx1"/>
        </a:solidFill>
        <a:latin typeface="+mn-lt"/>
        <a:ea typeface="+mn-ea"/>
        <a:cs typeface="+mn-cs"/>
      </a:defRPr>
    </a:lvl7pPr>
    <a:lvl8pPr marL="3198156" algn="l" defTabSz="913758" rtl="0" eaLnBrk="1" latinLnBrk="0" hangingPunct="1">
      <a:defRPr sz="1200" kern="1200">
        <a:solidFill>
          <a:schemeClr val="tx1"/>
        </a:solidFill>
        <a:latin typeface="+mn-lt"/>
        <a:ea typeface="+mn-ea"/>
        <a:cs typeface="+mn-cs"/>
      </a:defRPr>
    </a:lvl8pPr>
    <a:lvl9pPr marL="3655033" algn="l" defTabSz="91375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162050" y="692150"/>
            <a:ext cx="4610100" cy="3457575"/>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11026"/>
            <a:fld id="{1FE077EC-684A-4FD9-A6C3-9AE90D8B81D6}" type="slidenum">
              <a:rPr lang="en-US" smtClean="0">
                <a:solidFill>
                  <a:srgbClr val="000000"/>
                </a:solidFill>
              </a:rPr>
              <a:pPr defTabSz="911026"/>
              <a:t>0</a:t>
            </a:fld>
            <a:endParaRPr lang="en-US" dirty="0" smtClean="0">
              <a:solidFill>
                <a:srgbClr val="000000"/>
              </a:solidFill>
            </a:endParaRPr>
          </a:p>
        </p:txBody>
      </p:sp>
    </p:spTree>
    <p:extLst>
      <p:ext uri="{BB962C8B-B14F-4D97-AF65-F5344CB8AC3E}">
        <p14:creationId xmlns:p14="http://schemas.microsoft.com/office/powerpoint/2010/main" val="27170598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2</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3</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4</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5</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6</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7</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8</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9</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prstClr val="black"/>
                </a:solidFill>
              </a:rPr>
              <a:pPr>
                <a:defRPr/>
              </a:pPr>
              <a:t>10</a:t>
            </a:fld>
            <a:endParaRPr lang="en-US" dirty="0">
              <a:solidFill>
                <a:prstClr val="black"/>
              </a:solidFill>
            </a:endParaRPr>
          </a:p>
        </p:txBody>
      </p:sp>
    </p:spTree>
    <p:extLst>
      <p:ext uri="{BB962C8B-B14F-4D97-AF65-F5344CB8AC3E}">
        <p14:creationId xmlns:p14="http://schemas.microsoft.com/office/powerpoint/2010/main" val="3037020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62050" y="692150"/>
            <a:ext cx="4610100"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11</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lIns="91365" tIns="45683" rIns="91365" bIns="45683"/>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lIns="91365" tIns="45683" rIns="91365" bIns="45683"/>
          <a:lstStyle>
            <a:lvl1pPr marL="0" indent="0" algn="ctr">
              <a:buNone/>
              <a:defRPr/>
            </a:lvl1pPr>
            <a:lvl2pPr marL="456827" indent="0" algn="ctr">
              <a:buNone/>
              <a:defRPr/>
            </a:lvl2pPr>
            <a:lvl3pPr marL="913651" indent="0" algn="ctr">
              <a:buNone/>
              <a:defRPr/>
            </a:lvl3pPr>
            <a:lvl4pPr marL="1370479" indent="0" algn="ctr">
              <a:buNone/>
              <a:defRPr/>
            </a:lvl4pPr>
            <a:lvl5pPr marL="1827303" indent="0" algn="ctr">
              <a:buNone/>
              <a:defRPr/>
            </a:lvl5pPr>
            <a:lvl6pPr marL="2284131" indent="0" algn="ctr">
              <a:buNone/>
              <a:defRPr/>
            </a:lvl6pPr>
            <a:lvl7pPr marL="2740955" indent="0" algn="ctr">
              <a:buNone/>
              <a:defRPr/>
            </a:lvl7pPr>
            <a:lvl8pPr marL="3197782" indent="0" algn="ctr">
              <a:buNone/>
              <a:defRPr/>
            </a:lvl8pPr>
            <a:lvl9pPr marL="3654606" indent="0" algn="ctr">
              <a:buNone/>
              <a:defRPr/>
            </a:lvl9pPr>
          </a:lstStyle>
          <a:p>
            <a:r>
              <a:rPr lang="en-US"/>
              <a:t>Click to edit Master subtitle style</a:t>
            </a:r>
          </a:p>
        </p:txBody>
      </p:sp>
    </p:spTree>
    <p:extLst>
      <p:ext uri="{BB962C8B-B14F-4D97-AF65-F5344CB8AC3E}">
        <p14:creationId xmlns:p14="http://schemas.microsoft.com/office/powerpoint/2010/main" val="254177259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453921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0"/>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6775" indent="0" algn="ctr">
              <a:buNone/>
              <a:defRPr/>
            </a:lvl2pPr>
            <a:lvl3pPr marL="913550" indent="0" algn="ctr">
              <a:buNone/>
              <a:defRPr/>
            </a:lvl3pPr>
            <a:lvl4pPr marL="1370324" indent="0" algn="ctr">
              <a:buNone/>
              <a:defRPr/>
            </a:lvl4pPr>
            <a:lvl5pPr marL="1827098" indent="0" algn="ctr">
              <a:buNone/>
              <a:defRPr/>
            </a:lvl5pPr>
            <a:lvl6pPr marL="2283874" indent="0" algn="ctr">
              <a:buNone/>
              <a:defRPr/>
            </a:lvl6pPr>
            <a:lvl7pPr marL="2740649" indent="0" algn="ctr">
              <a:buNone/>
              <a:defRPr/>
            </a:lvl7pPr>
            <a:lvl8pPr marL="3197425" indent="0" algn="ctr">
              <a:buNone/>
              <a:defRPr/>
            </a:lvl8pPr>
            <a:lvl9pPr marL="3654197"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27170654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56615" y="158750"/>
            <a:ext cx="6187391" cy="598205"/>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00">
                <a:latin typeface="+mn-lt"/>
              </a:defRPr>
            </a:lvl1pPr>
            <a:lvl2pPr>
              <a:defRPr sz="1100">
                <a:latin typeface="+mn-lt"/>
              </a:defRPr>
            </a:lvl2pPr>
            <a:lvl3pPr>
              <a:defRPr sz="1100">
                <a:latin typeface="+mn-lt"/>
              </a:defRPr>
            </a:lvl3pPr>
            <a:lvl4pPr marL="720354" indent="-210696">
              <a:defRPr sz="1100">
                <a:latin typeface="+mn-lt"/>
              </a:defRPr>
            </a:lvl4pPr>
            <a:lvl5pPr marL="919661" indent="-199306">
              <a:defRPr sz="11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7594491"/>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8"/>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9"/>
            <a:ext cx="7772400" cy="1500187"/>
          </a:xfrm>
        </p:spPr>
        <p:txBody>
          <a:bodyPr anchor="b"/>
          <a:lstStyle>
            <a:lvl1pPr marL="0" indent="0">
              <a:buNone/>
              <a:defRPr sz="2000"/>
            </a:lvl1pPr>
            <a:lvl2pPr marL="456775" indent="0">
              <a:buNone/>
              <a:defRPr sz="1800"/>
            </a:lvl2pPr>
            <a:lvl3pPr marL="913550" indent="0">
              <a:buNone/>
              <a:defRPr sz="1600"/>
            </a:lvl3pPr>
            <a:lvl4pPr marL="1370324" indent="0">
              <a:buNone/>
              <a:defRPr sz="1400"/>
            </a:lvl4pPr>
            <a:lvl5pPr marL="1827098" indent="0">
              <a:buNone/>
              <a:defRPr sz="1400"/>
            </a:lvl5pPr>
            <a:lvl6pPr marL="2283874" indent="0">
              <a:buNone/>
              <a:defRPr sz="1400"/>
            </a:lvl6pPr>
            <a:lvl7pPr marL="2740649" indent="0">
              <a:buNone/>
              <a:defRPr sz="1400"/>
            </a:lvl7pPr>
            <a:lvl8pPr marL="3197425" indent="0">
              <a:buNone/>
              <a:defRPr sz="1400"/>
            </a:lvl8pPr>
            <a:lvl9pPr marL="3654197" indent="0">
              <a:buNone/>
              <a:defRPr sz="1400"/>
            </a:lvl9pPr>
          </a:lstStyle>
          <a:p>
            <a:pPr lvl="0"/>
            <a:r>
              <a:rPr lang="en-US" smtClean="0"/>
              <a:t>Click to edit Master text styles</a:t>
            </a:r>
          </a:p>
        </p:txBody>
      </p:sp>
    </p:spTree>
    <p:extLst>
      <p:ext uri="{BB962C8B-B14F-4D97-AF65-F5344CB8AC3E}">
        <p14:creationId xmlns:p14="http://schemas.microsoft.com/office/powerpoint/2010/main" val="2232601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07818" y="1382720"/>
            <a:ext cx="4287985" cy="4743451"/>
          </a:xfrm>
        </p:spPr>
        <p:txBody>
          <a:bodyPr/>
          <a:lstStyle>
            <a:lvl1pPr>
              <a:defRPr sz="1100">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5" y="1382720"/>
            <a:ext cx="4287978" cy="4743451"/>
          </a:xfrm>
        </p:spPr>
        <p:txBody>
          <a:bodyPr/>
          <a:lstStyle>
            <a:lvl1pPr>
              <a:defRPr sz="1100">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76735859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80720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66989" y="1089773"/>
            <a:ext cx="1672648" cy="5240150"/>
          </a:xfrm>
        </p:spPr>
        <p:txBody>
          <a:bodyPr/>
          <a:lstStyle>
            <a:lvl1pPr>
              <a:spcBef>
                <a:spcPts val="2154"/>
              </a:spcBef>
              <a:defRPr sz="1200"/>
            </a:lvl1pPr>
            <a:lvl2pPr>
              <a:defRPr sz="1000"/>
            </a:lvl2pPr>
            <a:lvl3pPr>
              <a:spcBef>
                <a:spcPts val="538"/>
              </a:spcBef>
              <a:defRPr sz="1000"/>
            </a:lvl3pPr>
            <a:lvl4pPr>
              <a:defRPr sz="1000"/>
            </a:lvl4pPr>
            <a:lvl5pPr>
              <a:defRPr sz="10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286000" y="1089772"/>
            <a:ext cx="6558742" cy="5240151"/>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093224" y="1089771"/>
            <a:ext cx="0" cy="5349240"/>
          </a:xfrm>
          <a:prstGeom prst="line">
            <a:avLst/>
          </a:prstGeom>
          <a:noFill/>
          <a:ln w="6350">
            <a:solidFill>
              <a:schemeClr val="accent1"/>
            </a:solidFill>
            <a:round/>
            <a:headEnd/>
            <a:tailEnd/>
          </a:ln>
          <a:effectLst/>
        </p:spPr>
        <p:txBody>
          <a:bodyPr lIns="91407" tIns="45704" rIns="91407" bIns="45704"/>
          <a:lstStyle/>
          <a:p>
            <a:pPr>
              <a:defRPr/>
            </a:pPr>
            <a:endParaRPr lang="en-US" dirty="0"/>
          </a:p>
        </p:txBody>
      </p:sp>
      <p:sp>
        <p:nvSpPr>
          <p:cNvPr id="6" name="Text Placeholder 4"/>
          <p:cNvSpPr>
            <a:spLocks noGrp="1"/>
          </p:cNvSpPr>
          <p:nvPr>
            <p:ph type="body" sz="quarter" idx="10"/>
          </p:nvPr>
        </p:nvSpPr>
        <p:spPr>
          <a:xfrm>
            <a:off x="2632364" y="385483"/>
            <a:ext cx="6243205" cy="524435"/>
          </a:xfrm>
        </p:spPr>
        <p:txBody>
          <a:bodyPr/>
          <a:lstStyle>
            <a:lvl1pPr algn="r">
              <a:defRPr sz="13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050086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0"/>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095" indent="0" algn="ctr">
              <a:buNone/>
              <a:defRPr/>
            </a:lvl2pPr>
            <a:lvl3pPr marL="914191" indent="0" algn="ctr">
              <a:buNone/>
              <a:defRPr/>
            </a:lvl3pPr>
            <a:lvl4pPr marL="1371286" indent="0" algn="ctr">
              <a:buNone/>
              <a:defRPr/>
            </a:lvl4pPr>
            <a:lvl5pPr marL="1828382" indent="0" algn="ctr">
              <a:buNone/>
              <a:defRPr/>
            </a:lvl5pPr>
            <a:lvl6pPr marL="2285477" indent="0" algn="ctr">
              <a:buNone/>
              <a:defRPr/>
            </a:lvl6pPr>
            <a:lvl7pPr marL="2742572" indent="0" algn="ctr">
              <a:buNone/>
              <a:defRPr/>
            </a:lvl7pPr>
            <a:lvl8pPr marL="3199668" indent="0" algn="ctr">
              <a:buNone/>
              <a:defRPr/>
            </a:lvl8pPr>
            <a:lvl9pPr marL="3656762" indent="0" algn="ctr">
              <a:buNone/>
              <a:defRPr/>
            </a:lvl9pPr>
          </a:lstStyle>
          <a:p>
            <a:r>
              <a:rPr lang="en-US" smtClean="0"/>
              <a:t>Click to edit Master subtitle style</a:t>
            </a:r>
            <a:endParaRPr lang="en-US"/>
          </a:p>
        </p:txBody>
      </p:sp>
    </p:spTree>
    <p:extLst>
      <p:ext uri="{BB962C8B-B14F-4D97-AF65-F5344CB8AC3E}">
        <p14:creationId xmlns:p14="http://schemas.microsoft.com/office/powerpoint/2010/main" val="544108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956610" y="158750"/>
            <a:ext cx="6187391" cy="598205"/>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100">
                <a:latin typeface="+mn-lt"/>
              </a:defRPr>
            </a:lvl1pPr>
            <a:lvl2pPr>
              <a:defRPr sz="1100">
                <a:latin typeface="+mn-lt"/>
              </a:defRPr>
            </a:lvl2pPr>
            <a:lvl3pPr>
              <a:defRPr sz="1100">
                <a:latin typeface="+mn-lt"/>
              </a:defRPr>
            </a:lvl3pPr>
            <a:lvl4pPr marL="720859" indent="-210844">
              <a:defRPr sz="1100">
                <a:latin typeface="+mn-lt"/>
              </a:defRPr>
            </a:lvl4pPr>
            <a:lvl5pPr marL="920306" indent="-199447">
              <a:defRPr sz="11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4051168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7"/>
            <a:ext cx="7772400" cy="1500187"/>
          </a:xfrm>
        </p:spPr>
        <p:txBody>
          <a:bodyPr anchor="b"/>
          <a:lstStyle>
            <a:lvl1pPr marL="0" indent="0">
              <a:buNone/>
              <a:defRPr sz="2000"/>
            </a:lvl1pPr>
            <a:lvl2pPr marL="457095" indent="0">
              <a:buNone/>
              <a:defRPr sz="1800"/>
            </a:lvl2pPr>
            <a:lvl3pPr marL="914191" indent="0">
              <a:buNone/>
              <a:defRPr sz="1600"/>
            </a:lvl3pPr>
            <a:lvl4pPr marL="1371286" indent="0">
              <a:buNone/>
              <a:defRPr sz="1400"/>
            </a:lvl4pPr>
            <a:lvl5pPr marL="1828382" indent="0">
              <a:buNone/>
              <a:defRPr sz="1400"/>
            </a:lvl5pPr>
            <a:lvl6pPr marL="2285477" indent="0">
              <a:buNone/>
              <a:defRPr sz="1400"/>
            </a:lvl6pPr>
            <a:lvl7pPr marL="2742572" indent="0">
              <a:buNone/>
              <a:defRPr sz="1400"/>
            </a:lvl7pPr>
            <a:lvl8pPr marL="3199668" indent="0">
              <a:buNone/>
              <a:defRPr sz="1400"/>
            </a:lvl8pPr>
            <a:lvl9pPr marL="3656762" indent="0">
              <a:buNone/>
              <a:defRPr sz="1400"/>
            </a:lvl9pPr>
          </a:lstStyle>
          <a:p>
            <a:pPr lvl="0"/>
            <a:r>
              <a:rPr lang="en-US" smtClean="0"/>
              <a:t>Click to edit Master text styles</a:t>
            </a:r>
          </a:p>
        </p:txBody>
      </p:sp>
    </p:spTree>
    <p:extLst>
      <p:ext uri="{BB962C8B-B14F-4D97-AF65-F5344CB8AC3E}">
        <p14:creationId xmlns:p14="http://schemas.microsoft.com/office/powerpoint/2010/main" val="42261649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07818" y="1382714"/>
            <a:ext cx="4287985" cy="4743451"/>
          </a:xfrm>
        </p:spPr>
        <p:txBody>
          <a:bodyPr/>
          <a:lstStyle>
            <a:lvl1pPr>
              <a:defRPr sz="1100">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5" y="1382714"/>
            <a:ext cx="4287978" cy="4743451"/>
          </a:xfrm>
        </p:spPr>
        <p:txBody>
          <a:bodyPr/>
          <a:lstStyle>
            <a:lvl1pPr>
              <a:defRPr sz="1100">
                <a:latin typeface="+mn-lt"/>
              </a:defRPr>
            </a:lvl1pPr>
            <a:lvl2pPr>
              <a:defRPr sz="1100">
                <a:latin typeface="+mn-lt"/>
              </a:defRPr>
            </a:lvl2pPr>
            <a:lvl3pPr>
              <a:defRPr sz="1100">
                <a:latin typeface="+mn-lt"/>
              </a:defRPr>
            </a:lvl3pPr>
            <a:lvl4pPr>
              <a:defRPr sz="1100">
                <a:latin typeface="+mn-lt"/>
              </a:defRPr>
            </a:lvl4pPr>
            <a:lvl5pPr>
              <a:defRPr sz="1100">
                <a:latin typeface="+mn-lt"/>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905018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657293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lIns="101858" tIns="50929" rIns="101858" bIns="50929"/>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lIns="101858" tIns="50929" rIns="101858" bIns="50929"/>
          <a:lstStyle>
            <a:lvl1pPr marL="0" indent="0" algn="ctr">
              <a:buNone/>
              <a:defRPr/>
            </a:lvl1pPr>
            <a:lvl2pPr marL="449399" indent="0" algn="ctr">
              <a:buNone/>
              <a:defRPr/>
            </a:lvl2pPr>
            <a:lvl3pPr marL="898800" indent="0" algn="ctr">
              <a:buNone/>
              <a:defRPr/>
            </a:lvl3pPr>
            <a:lvl4pPr marL="1348200" indent="0" algn="ctr">
              <a:buNone/>
              <a:defRPr/>
            </a:lvl4pPr>
            <a:lvl5pPr marL="1797601" indent="0" algn="ctr">
              <a:buNone/>
              <a:defRPr/>
            </a:lvl5pPr>
            <a:lvl6pPr marL="2247002" indent="0" algn="ctr">
              <a:buNone/>
              <a:defRPr/>
            </a:lvl6pPr>
            <a:lvl7pPr marL="2696401" indent="0" algn="ctr">
              <a:buNone/>
              <a:defRPr/>
            </a:lvl7pPr>
            <a:lvl8pPr marL="3145802" indent="0" algn="ctr">
              <a:buNone/>
              <a:defRPr/>
            </a:lvl8pPr>
            <a:lvl9pPr marL="3595201" indent="0" algn="ctr">
              <a:buNone/>
              <a:defRPr/>
            </a:lvl9pPr>
          </a:lstStyle>
          <a:p>
            <a:r>
              <a:rPr lang="en-US"/>
              <a:t>Click to edit Master subtitle style</a:t>
            </a:r>
          </a:p>
        </p:txBody>
      </p:sp>
    </p:spTree>
    <p:extLst>
      <p:ext uri="{BB962C8B-B14F-4D97-AF65-F5344CB8AC3E}">
        <p14:creationId xmlns:p14="http://schemas.microsoft.com/office/powerpoint/2010/main" val="759125000"/>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793969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5.xml"/><Relationship Id="rId7"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2.pn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07818" y="695327"/>
            <a:ext cx="8728364" cy="3400361"/>
          </a:xfrm>
          <a:prstGeom prst="rect">
            <a:avLst/>
          </a:prstGeom>
          <a:noFill/>
          <a:ln w="9525">
            <a:noFill/>
            <a:miter lim="800000"/>
            <a:headEnd/>
            <a:tailEnd/>
          </a:ln>
        </p:spPr>
      </p:pic>
      <p:sp>
        <p:nvSpPr>
          <p:cNvPr id="364592" name="Rectangle 48"/>
          <p:cNvSpPr>
            <a:spLocks noChangeArrowheads="1"/>
          </p:cNvSpPr>
          <p:nvPr userDrawn="1"/>
        </p:nvSpPr>
        <p:spPr bwMode="auto">
          <a:xfrm>
            <a:off x="207818" y="6296726"/>
            <a:ext cx="8728364" cy="354013"/>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365" tIns="45683" rIns="91365" bIns="45683" anchor="ctr"/>
          <a:lstStyle/>
          <a:p>
            <a:pPr fontAlgn="base">
              <a:spcBef>
                <a:spcPct val="0"/>
              </a:spcBef>
              <a:spcAft>
                <a:spcPct val="0"/>
              </a:spcAft>
            </a:pPr>
            <a:endParaRPr lang="en-US" dirty="0">
              <a:solidFill>
                <a:srgbClr val="000000"/>
              </a:solidFill>
            </a:endParaRPr>
          </a:p>
        </p:txBody>
      </p:sp>
      <p:sp>
        <p:nvSpPr>
          <p:cNvPr id="364594" name="Rectangle 50"/>
          <p:cNvSpPr>
            <a:spLocks noChangeArrowheads="1"/>
          </p:cNvSpPr>
          <p:nvPr userDrawn="1"/>
        </p:nvSpPr>
        <p:spPr bwMode="auto">
          <a:xfrm flipV="1">
            <a:off x="207818" y="4383088"/>
            <a:ext cx="8728364" cy="354012"/>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82003" tIns="41000" rIns="82003" bIns="41000" anchor="ctr"/>
          <a:lstStyle/>
          <a:p>
            <a:pPr fontAlgn="base">
              <a:spcBef>
                <a:spcPct val="0"/>
              </a:spcBef>
              <a:spcAft>
                <a:spcPct val="0"/>
              </a:spcAft>
            </a:pPr>
            <a:endParaRPr lang="en-US" dirty="0">
              <a:solidFill>
                <a:srgbClr val="000000"/>
              </a:solidFill>
            </a:endParaRPr>
          </a:p>
        </p:txBody>
      </p:sp>
      <p:grpSp>
        <p:nvGrpSpPr>
          <p:cNvPr id="364597" name="Group 33"/>
          <p:cNvGrpSpPr>
            <a:grpSpLocks/>
          </p:cNvGrpSpPr>
          <p:nvPr userDrawn="1"/>
        </p:nvGrpSpPr>
        <p:grpSpPr bwMode="auto">
          <a:xfrm>
            <a:off x="919167" y="3517900"/>
            <a:ext cx="1978025" cy="2541588"/>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fontAlgn="base">
                <a:spcBef>
                  <a:spcPct val="0"/>
                </a:spcBef>
                <a:spcAft>
                  <a:spcPct val="0"/>
                </a:spcAft>
                <a:defRPr/>
              </a:pPr>
              <a:endParaRPr lang="en-US" dirty="0">
                <a:solidFill>
                  <a:srgbClr val="000000"/>
                </a:solidFill>
              </a:endParaRPr>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fontAlgn="base">
                <a:spcBef>
                  <a:spcPct val="0"/>
                </a:spcBef>
                <a:spcAft>
                  <a:spcPct val="0"/>
                </a:spcAft>
                <a:defRPr/>
              </a:pPr>
              <a:endParaRPr lang="en-US" dirty="0">
                <a:solidFill>
                  <a:srgbClr val="000000"/>
                </a:solidFill>
              </a:endParaRPr>
            </a:p>
          </p:txBody>
        </p:sp>
      </p:grpSp>
      <p:sp>
        <p:nvSpPr>
          <p:cNvPr id="34" name="Rectangle 14"/>
          <p:cNvSpPr>
            <a:spLocks noChangeArrowheads="1"/>
          </p:cNvSpPr>
          <p:nvPr userDrawn="1"/>
        </p:nvSpPr>
        <p:spPr bwMode="auto">
          <a:xfrm>
            <a:off x="207818" y="201706"/>
            <a:ext cx="8728364" cy="6454588"/>
          </a:xfrm>
          <a:prstGeom prst="rect">
            <a:avLst/>
          </a:prstGeom>
          <a:noFill/>
          <a:ln w="25400">
            <a:solidFill>
              <a:schemeClr val="hlink"/>
            </a:solidFill>
            <a:miter lim="800000"/>
            <a:headEnd/>
            <a:tailEnd/>
          </a:ln>
        </p:spPr>
        <p:txBody>
          <a:bodyPr wrap="none" lIns="91354" tIns="45678" rIns="91354" bIns="45678" anchor="ctr"/>
          <a:lstStyle/>
          <a:p>
            <a:pPr fontAlgn="base">
              <a:spcBef>
                <a:spcPct val="0"/>
              </a:spcBef>
              <a:spcAft>
                <a:spcPct val="0"/>
              </a:spcAft>
              <a:defRPr/>
            </a:pPr>
            <a:endParaRPr lang="en-US" dirty="0">
              <a:solidFill>
                <a:srgbClr val="000000"/>
              </a:solidFill>
            </a:endParaRPr>
          </a:p>
        </p:txBody>
      </p:sp>
    </p:spTree>
    <p:extLst>
      <p:ext uri="{BB962C8B-B14F-4D97-AF65-F5344CB8AC3E}">
        <p14:creationId xmlns:p14="http://schemas.microsoft.com/office/powerpoint/2010/main" val="415366070"/>
      </p:ext>
    </p:extLst>
  </p:cSld>
  <p:clrMap bg1="lt1" tx1="dk1" bg2="lt2" tx2="dk2" accent1="accent1" accent2="accent2" accent3="accent3" accent4="accent4" accent5="accent5" accent6="accent6" hlink="hlink" folHlink="folHlink"/>
  <p:sldLayoutIdLst>
    <p:sldLayoutId id="2147483667" r:id="rId1"/>
    <p:sldLayoutId id="2147483668" r:id="rId2"/>
  </p:sldLayoutIdLst>
  <p:timing>
    <p:tnLst>
      <p:par>
        <p:cTn id="1" dur="indefinite" restart="never" nodeType="tmRoot"/>
      </p:par>
    </p:tnLst>
  </p:timing>
  <p:hf hdr="0" dt="0"/>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Cambria" pitchFamily="18" charset="0"/>
        </a:defRPr>
      </a:lvl2pPr>
      <a:lvl3pPr algn="ctr" rtl="0" fontAlgn="base">
        <a:spcBef>
          <a:spcPct val="0"/>
        </a:spcBef>
        <a:spcAft>
          <a:spcPct val="0"/>
        </a:spcAft>
        <a:defRPr sz="4400">
          <a:solidFill>
            <a:schemeClr val="tx2"/>
          </a:solidFill>
          <a:latin typeface="Cambria" pitchFamily="18" charset="0"/>
        </a:defRPr>
      </a:lvl3pPr>
      <a:lvl4pPr algn="ctr" rtl="0" fontAlgn="base">
        <a:spcBef>
          <a:spcPct val="0"/>
        </a:spcBef>
        <a:spcAft>
          <a:spcPct val="0"/>
        </a:spcAft>
        <a:defRPr sz="4400">
          <a:solidFill>
            <a:schemeClr val="tx2"/>
          </a:solidFill>
          <a:latin typeface="Cambria" pitchFamily="18" charset="0"/>
        </a:defRPr>
      </a:lvl4pPr>
      <a:lvl5pPr algn="ctr" rtl="0" fontAlgn="base">
        <a:spcBef>
          <a:spcPct val="0"/>
        </a:spcBef>
        <a:spcAft>
          <a:spcPct val="0"/>
        </a:spcAft>
        <a:defRPr sz="4400">
          <a:solidFill>
            <a:schemeClr val="tx2"/>
          </a:solidFill>
          <a:latin typeface="Cambria" pitchFamily="18" charset="0"/>
        </a:defRPr>
      </a:lvl5pPr>
      <a:lvl6pPr marL="456827" algn="ctr" rtl="0" fontAlgn="base">
        <a:spcBef>
          <a:spcPct val="0"/>
        </a:spcBef>
        <a:spcAft>
          <a:spcPct val="0"/>
        </a:spcAft>
        <a:defRPr sz="4400">
          <a:solidFill>
            <a:schemeClr val="tx2"/>
          </a:solidFill>
          <a:latin typeface="Cambria" pitchFamily="18" charset="0"/>
        </a:defRPr>
      </a:lvl6pPr>
      <a:lvl7pPr marL="913651" algn="ctr" rtl="0" fontAlgn="base">
        <a:spcBef>
          <a:spcPct val="0"/>
        </a:spcBef>
        <a:spcAft>
          <a:spcPct val="0"/>
        </a:spcAft>
        <a:defRPr sz="4400">
          <a:solidFill>
            <a:schemeClr val="tx2"/>
          </a:solidFill>
          <a:latin typeface="Cambria" pitchFamily="18" charset="0"/>
        </a:defRPr>
      </a:lvl7pPr>
      <a:lvl8pPr marL="1370479" algn="ctr" rtl="0" fontAlgn="base">
        <a:spcBef>
          <a:spcPct val="0"/>
        </a:spcBef>
        <a:spcAft>
          <a:spcPct val="0"/>
        </a:spcAft>
        <a:defRPr sz="4400">
          <a:solidFill>
            <a:schemeClr val="tx2"/>
          </a:solidFill>
          <a:latin typeface="Cambria" pitchFamily="18" charset="0"/>
        </a:defRPr>
      </a:lvl8pPr>
      <a:lvl9pPr marL="1827303" algn="ctr" rtl="0" fontAlgn="base">
        <a:spcBef>
          <a:spcPct val="0"/>
        </a:spcBef>
        <a:spcAft>
          <a:spcPct val="0"/>
        </a:spcAft>
        <a:defRPr sz="4400">
          <a:solidFill>
            <a:schemeClr val="tx2"/>
          </a:solidFill>
          <a:latin typeface="Cambria" pitchFamily="18" charset="0"/>
        </a:defRPr>
      </a:lvl9pPr>
    </p:titleStyle>
    <p:bodyStyle>
      <a:lvl1pPr marL="341034" indent="-341034" algn="l" rtl="0" fontAlgn="base">
        <a:spcBef>
          <a:spcPct val="20000"/>
        </a:spcBef>
        <a:spcAft>
          <a:spcPct val="0"/>
        </a:spcAft>
        <a:buChar char="•"/>
        <a:defRPr sz="3200">
          <a:solidFill>
            <a:schemeClr val="tx1"/>
          </a:solidFill>
          <a:latin typeface="+mn-lt"/>
          <a:ea typeface="+mn-ea"/>
          <a:cs typeface="+mn-cs"/>
        </a:defRPr>
      </a:lvl1pPr>
      <a:lvl2pPr marL="740755" indent="-283930" algn="l" rtl="0" fontAlgn="base">
        <a:spcBef>
          <a:spcPct val="20000"/>
        </a:spcBef>
        <a:spcAft>
          <a:spcPct val="0"/>
        </a:spcAft>
        <a:buChar char="–"/>
        <a:defRPr sz="2800">
          <a:solidFill>
            <a:schemeClr val="tx1"/>
          </a:solidFill>
          <a:latin typeface="+mn-lt"/>
        </a:defRPr>
      </a:lvl2pPr>
      <a:lvl3pPr marL="1140479" indent="-226830" algn="l" rtl="0" fontAlgn="base">
        <a:spcBef>
          <a:spcPct val="20000"/>
        </a:spcBef>
        <a:spcAft>
          <a:spcPct val="0"/>
        </a:spcAft>
        <a:buChar char="•"/>
        <a:defRPr sz="2400">
          <a:solidFill>
            <a:schemeClr val="tx1"/>
          </a:solidFill>
          <a:latin typeface="+mn-lt"/>
        </a:defRPr>
      </a:lvl3pPr>
      <a:lvl4pPr marL="1597306" indent="-226830" algn="l" rtl="0" fontAlgn="base">
        <a:spcBef>
          <a:spcPct val="20000"/>
        </a:spcBef>
        <a:spcAft>
          <a:spcPct val="0"/>
        </a:spcAft>
        <a:buChar char="–"/>
        <a:defRPr sz="2000">
          <a:solidFill>
            <a:schemeClr val="tx1"/>
          </a:solidFill>
          <a:latin typeface="+mn-lt"/>
        </a:defRPr>
      </a:lvl4pPr>
      <a:lvl5pPr marL="2054132" indent="-226830" algn="l" rtl="0" fontAlgn="base">
        <a:spcBef>
          <a:spcPct val="20000"/>
        </a:spcBef>
        <a:spcAft>
          <a:spcPct val="0"/>
        </a:spcAft>
        <a:buChar char="»"/>
        <a:defRPr sz="2000">
          <a:solidFill>
            <a:schemeClr val="tx1"/>
          </a:solidFill>
          <a:latin typeface="+mn-lt"/>
        </a:defRPr>
      </a:lvl5pPr>
      <a:lvl6pPr marL="2510957" indent="-226830" algn="l" rtl="0" fontAlgn="base">
        <a:spcBef>
          <a:spcPct val="20000"/>
        </a:spcBef>
        <a:spcAft>
          <a:spcPct val="0"/>
        </a:spcAft>
        <a:buChar char="»"/>
        <a:defRPr sz="2000">
          <a:solidFill>
            <a:schemeClr val="tx1"/>
          </a:solidFill>
          <a:latin typeface="+mn-lt"/>
        </a:defRPr>
      </a:lvl6pPr>
      <a:lvl7pPr marL="2967783" indent="-226830" algn="l" rtl="0" fontAlgn="base">
        <a:spcBef>
          <a:spcPct val="20000"/>
        </a:spcBef>
        <a:spcAft>
          <a:spcPct val="0"/>
        </a:spcAft>
        <a:buChar char="»"/>
        <a:defRPr sz="2000">
          <a:solidFill>
            <a:schemeClr val="tx1"/>
          </a:solidFill>
          <a:latin typeface="+mn-lt"/>
        </a:defRPr>
      </a:lvl7pPr>
      <a:lvl8pPr marL="3424609" indent="-226830" algn="l" rtl="0" fontAlgn="base">
        <a:spcBef>
          <a:spcPct val="20000"/>
        </a:spcBef>
        <a:spcAft>
          <a:spcPct val="0"/>
        </a:spcAft>
        <a:buChar char="»"/>
        <a:defRPr sz="2000">
          <a:solidFill>
            <a:schemeClr val="tx1"/>
          </a:solidFill>
          <a:latin typeface="+mn-lt"/>
        </a:defRPr>
      </a:lvl8pPr>
      <a:lvl9pPr marL="3881435" indent="-22683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3651" rtl="0" eaLnBrk="1" latinLnBrk="0" hangingPunct="1">
        <a:defRPr sz="1800" kern="1200">
          <a:solidFill>
            <a:schemeClr val="tx1"/>
          </a:solidFill>
          <a:latin typeface="+mn-lt"/>
          <a:ea typeface="+mn-ea"/>
          <a:cs typeface="+mn-cs"/>
        </a:defRPr>
      </a:lvl1pPr>
      <a:lvl2pPr marL="456827" algn="l" defTabSz="913651" rtl="0" eaLnBrk="1" latinLnBrk="0" hangingPunct="1">
        <a:defRPr sz="1800" kern="1200">
          <a:solidFill>
            <a:schemeClr val="tx1"/>
          </a:solidFill>
          <a:latin typeface="+mn-lt"/>
          <a:ea typeface="+mn-ea"/>
          <a:cs typeface="+mn-cs"/>
        </a:defRPr>
      </a:lvl2pPr>
      <a:lvl3pPr marL="913651" algn="l" defTabSz="913651" rtl="0" eaLnBrk="1" latinLnBrk="0" hangingPunct="1">
        <a:defRPr sz="1800" kern="1200">
          <a:solidFill>
            <a:schemeClr val="tx1"/>
          </a:solidFill>
          <a:latin typeface="+mn-lt"/>
          <a:ea typeface="+mn-ea"/>
          <a:cs typeface="+mn-cs"/>
        </a:defRPr>
      </a:lvl3pPr>
      <a:lvl4pPr marL="1370479" algn="l" defTabSz="913651" rtl="0" eaLnBrk="1" latinLnBrk="0" hangingPunct="1">
        <a:defRPr sz="1800" kern="1200">
          <a:solidFill>
            <a:schemeClr val="tx1"/>
          </a:solidFill>
          <a:latin typeface="+mn-lt"/>
          <a:ea typeface="+mn-ea"/>
          <a:cs typeface="+mn-cs"/>
        </a:defRPr>
      </a:lvl4pPr>
      <a:lvl5pPr marL="1827303" algn="l" defTabSz="913651" rtl="0" eaLnBrk="1" latinLnBrk="0" hangingPunct="1">
        <a:defRPr sz="1800" kern="1200">
          <a:solidFill>
            <a:schemeClr val="tx1"/>
          </a:solidFill>
          <a:latin typeface="+mn-lt"/>
          <a:ea typeface="+mn-ea"/>
          <a:cs typeface="+mn-cs"/>
        </a:defRPr>
      </a:lvl5pPr>
      <a:lvl6pPr marL="2284131" algn="l" defTabSz="913651" rtl="0" eaLnBrk="1" latinLnBrk="0" hangingPunct="1">
        <a:defRPr sz="1800" kern="1200">
          <a:solidFill>
            <a:schemeClr val="tx1"/>
          </a:solidFill>
          <a:latin typeface="+mn-lt"/>
          <a:ea typeface="+mn-ea"/>
          <a:cs typeface="+mn-cs"/>
        </a:defRPr>
      </a:lvl6pPr>
      <a:lvl7pPr marL="2740955" algn="l" defTabSz="913651" rtl="0" eaLnBrk="1" latinLnBrk="0" hangingPunct="1">
        <a:defRPr sz="1800" kern="1200">
          <a:solidFill>
            <a:schemeClr val="tx1"/>
          </a:solidFill>
          <a:latin typeface="+mn-lt"/>
          <a:ea typeface="+mn-ea"/>
          <a:cs typeface="+mn-cs"/>
        </a:defRPr>
      </a:lvl7pPr>
      <a:lvl8pPr marL="3197782" algn="l" defTabSz="913651" rtl="0" eaLnBrk="1" latinLnBrk="0" hangingPunct="1">
        <a:defRPr sz="1800" kern="1200">
          <a:solidFill>
            <a:schemeClr val="tx1"/>
          </a:solidFill>
          <a:latin typeface="+mn-lt"/>
          <a:ea typeface="+mn-ea"/>
          <a:cs typeface="+mn-cs"/>
        </a:defRPr>
      </a:lvl8pPr>
      <a:lvl9pPr marL="3654606" algn="l" defTabSz="913651"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07818" y="1116387"/>
            <a:ext cx="8728364" cy="5015472"/>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07818" y="203050"/>
            <a:ext cx="8728364" cy="572845"/>
          </a:xfrm>
          <a:prstGeom prst="rect">
            <a:avLst/>
          </a:prstGeom>
          <a:solidFill>
            <a:srgbClr val="2E398A"/>
          </a:solidFill>
          <a:ln w="9525">
            <a:noFill/>
            <a:miter lim="800000"/>
            <a:headEnd/>
            <a:tailEnd/>
          </a:ln>
          <a:effectLst/>
        </p:spPr>
        <p:txBody>
          <a:bodyPr wrap="none" lIns="91354" tIns="45678" rIns="91354" bIns="45678" anchor="ctr"/>
          <a:lstStyle/>
          <a:p>
            <a:pPr fontAlgn="base">
              <a:spcBef>
                <a:spcPct val="0"/>
              </a:spcBef>
              <a:spcAft>
                <a:spcPct val="0"/>
              </a:spcAft>
              <a:defRPr/>
            </a:pPr>
            <a:endParaRPr lang="en-US" dirty="0">
              <a:solidFill>
                <a:srgbClr val="000000"/>
              </a:solidFill>
              <a:latin typeface="Cambria" pitchFamily="18" charset="0"/>
            </a:endParaRPr>
          </a:p>
        </p:txBody>
      </p:sp>
      <p:sp>
        <p:nvSpPr>
          <p:cNvPr id="1029" name="Rectangle 2"/>
          <p:cNvSpPr>
            <a:spLocks noGrp="1" noChangeArrowheads="1"/>
          </p:cNvSpPr>
          <p:nvPr>
            <p:ph type="title"/>
          </p:nvPr>
        </p:nvSpPr>
        <p:spPr bwMode="auto">
          <a:xfrm>
            <a:off x="2289977" y="194877"/>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p>
            <a:pPr lvl="0"/>
            <a:r>
              <a:rPr lang="en-US" dirty="0" smtClean="0"/>
              <a:t>Click to edit Master title style</a:t>
            </a:r>
          </a:p>
        </p:txBody>
      </p:sp>
      <p:sp>
        <p:nvSpPr>
          <p:cNvPr id="3272" name="Rectangle 200"/>
          <p:cNvSpPr>
            <a:spLocks noChangeArrowheads="1"/>
          </p:cNvSpPr>
          <p:nvPr userDrawn="1"/>
        </p:nvSpPr>
        <p:spPr bwMode="auto">
          <a:xfrm>
            <a:off x="207825" y="6470802"/>
            <a:ext cx="752475" cy="188294"/>
          </a:xfrm>
          <a:prstGeom prst="rect">
            <a:avLst/>
          </a:prstGeom>
          <a:noFill/>
          <a:ln w="9525">
            <a:noFill/>
            <a:miter lim="800000"/>
            <a:headEnd/>
            <a:tailEnd/>
          </a:ln>
          <a:effectLst/>
        </p:spPr>
        <p:txBody>
          <a:bodyPr lIns="0" tIns="0" rIns="0" bIns="0" anchor="b"/>
          <a:lstStyle/>
          <a:p>
            <a:pPr fontAlgn="base">
              <a:spcBef>
                <a:spcPct val="0"/>
              </a:spcBef>
              <a:spcAft>
                <a:spcPct val="0"/>
              </a:spcAft>
              <a:defRPr/>
            </a:pPr>
            <a:r>
              <a:rPr lang="en-US" sz="800" b="1" dirty="0">
                <a:solidFill>
                  <a:srgbClr val="203353"/>
                </a:solidFill>
              </a:rPr>
              <a:t>PAGE </a:t>
            </a:r>
            <a:fld id="{54B17DE0-6D87-48AB-BBA0-9128AA86CC3B}" type="slidenum">
              <a:rPr lang="en-US" sz="800" b="1">
                <a:solidFill>
                  <a:srgbClr val="203353"/>
                </a:solidFill>
              </a:rPr>
              <a:pPr fontAlgn="base">
                <a:spcBef>
                  <a:spcPct val="0"/>
                </a:spcBef>
                <a:spcAft>
                  <a:spcPct val="0"/>
                </a:spcAft>
                <a:defRPr/>
              </a:pPr>
              <a:t>‹#›</a:t>
            </a:fld>
            <a:endParaRPr lang="en-US" sz="800" b="1" dirty="0">
              <a:solidFill>
                <a:srgbClr val="203353"/>
              </a:solidFill>
            </a:endParaRPr>
          </a:p>
        </p:txBody>
      </p:sp>
      <p:pic>
        <p:nvPicPr>
          <p:cNvPr id="1032" name="Picture 20" descr="Cello_LOGO_Horizontal_Short.png"/>
          <p:cNvPicPr>
            <a:picLocks noChangeAspect="1"/>
          </p:cNvPicPr>
          <p:nvPr userDrawn="1"/>
        </p:nvPicPr>
        <p:blipFill>
          <a:blip r:embed="rId8" cstate="print"/>
          <a:srcRect/>
          <a:stretch>
            <a:fillRect/>
          </a:stretch>
        </p:blipFill>
        <p:spPr bwMode="auto">
          <a:xfrm>
            <a:off x="280110" y="284326"/>
            <a:ext cx="2197100" cy="398462"/>
          </a:xfrm>
          <a:prstGeom prst="rect">
            <a:avLst/>
          </a:prstGeom>
          <a:noFill/>
          <a:ln w="9525">
            <a:noFill/>
            <a:miter lim="800000"/>
            <a:headEnd/>
            <a:tailEnd/>
          </a:ln>
        </p:spPr>
      </p:pic>
      <p:cxnSp>
        <p:nvCxnSpPr>
          <p:cNvPr id="21" name="Straight Connector 20"/>
          <p:cNvCxnSpPr/>
          <p:nvPr userDrawn="1"/>
        </p:nvCxnSpPr>
        <p:spPr>
          <a:xfrm>
            <a:off x="207818" y="6388474"/>
            <a:ext cx="8728364"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5723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8" r:id="rId6"/>
  </p:sldLayoutIdLst>
  <p:timing>
    <p:tnLst>
      <p:par>
        <p:cTn id="1" dur="indefinite" restart="never" nodeType="tmRoot"/>
      </p:par>
    </p:tnLst>
  </p:timing>
  <p:hf hdr="0" dt="0"/>
  <p:txStyles>
    <p:title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p:titleStyle>
    <p:bodyStyle>
      <a:lvl1pPr marL="168139" indent="-168139" algn="l" rtl="0" eaLnBrk="0" fontAlgn="base" hangingPunct="0">
        <a:spcBef>
          <a:spcPct val="110000"/>
        </a:spcBef>
        <a:spcAft>
          <a:spcPct val="0"/>
        </a:spcAft>
        <a:buClr>
          <a:schemeClr val="tx2"/>
        </a:buClr>
        <a:buChar char="•"/>
        <a:defRPr sz="1100">
          <a:solidFill>
            <a:schemeClr val="tx1"/>
          </a:solidFill>
          <a:latin typeface="+mn-lt"/>
          <a:ea typeface="+mn-ea"/>
          <a:cs typeface="+mn-cs"/>
        </a:defRPr>
      </a:lvl1pPr>
      <a:lvl2pPr marL="337861" indent="-166553" algn="l" rtl="0" eaLnBrk="0" fontAlgn="base" hangingPunct="0">
        <a:spcBef>
          <a:spcPct val="47000"/>
        </a:spcBef>
        <a:spcAft>
          <a:spcPct val="0"/>
        </a:spcAft>
        <a:buClr>
          <a:schemeClr val="tx2"/>
        </a:buClr>
        <a:buFont typeface="Times" pitchFamily="18" charset="0"/>
        <a:buChar char="–"/>
        <a:defRPr sz="1100">
          <a:solidFill>
            <a:schemeClr val="tx1"/>
          </a:solidFill>
          <a:latin typeface="+mn-lt"/>
        </a:defRPr>
      </a:lvl2pPr>
      <a:lvl3pPr marL="507586" indent="-166553" algn="l" rtl="0" eaLnBrk="0" fontAlgn="base" hangingPunct="0">
        <a:spcBef>
          <a:spcPct val="20000"/>
        </a:spcBef>
        <a:spcAft>
          <a:spcPct val="0"/>
        </a:spcAft>
        <a:buClr>
          <a:schemeClr val="tx2"/>
        </a:buClr>
        <a:buFont typeface="Times" pitchFamily="18" charset="0"/>
        <a:buChar char="–"/>
        <a:defRPr sz="1100">
          <a:solidFill>
            <a:schemeClr val="tx1"/>
          </a:solidFill>
          <a:latin typeface="+mn-lt"/>
        </a:defRPr>
      </a:lvl3pPr>
      <a:lvl4pPr marL="1597306" indent="-226830" algn="l" rtl="0" eaLnBrk="0" fontAlgn="base" hangingPunct="0">
        <a:spcBef>
          <a:spcPct val="20000"/>
        </a:spcBef>
        <a:spcAft>
          <a:spcPct val="0"/>
        </a:spcAft>
        <a:buChar char="–"/>
        <a:defRPr sz="1400">
          <a:solidFill>
            <a:schemeClr val="tx1"/>
          </a:solidFill>
          <a:latin typeface="Arial" charset="0"/>
        </a:defRPr>
      </a:lvl4pPr>
      <a:lvl5pPr marL="2054132" indent="-226830" algn="l" rtl="0" eaLnBrk="0" fontAlgn="base" hangingPunct="0">
        <a:spcBef>
          <a:spcPct val="20000"/>
        </a:spcBef>
        <a:spcAft>
          <a:spcPct val="0"/>
        </a:spcAft>
        <a:buChar char="»"/>
        <a:defRPr sz="1400">
          <a:solidFill>
            <a:schemeClr val="tx1"/>
          </a:solidFill>
          <a:latin typeface="Arial" charset="0"/>
        </a:defRPr>
      </a:lvl5pPr>
      <a:lvl6pPr marL="2512261" indent="-228387" algn="l" rtl="0" fontAlgn="base">
        <a:spcBef>
          <a:spcPct val="20000"/>
        </a:spcBef>
        <a:spcAft>
          <a:spcPct val="0"/>
        </a:spcAft>
        <a:buChar char="»"/>
        <a:defRPr sz="1400">
          <a:solidFill>
            <a:schemeClr val="tx1"/>
          </a:solidFill>
          <a:latin typeface="Arial" charset="0"/>
        </a:defRPr>
      </a:lvl6pPr>
      <a:lvl7pPr marL="2969037" indent="-228387" algn="l" rtl="0" fontAlgn="base">
        <a:spcBef>
          <a:spcPct val="20000"/>
        </a:spcBef>
        <a:spcAft>
          <a:spcPct val="0"/>
        </a:spcAft>
        <a:buChar char="»"/>
        <a:defRPr sz="1400">
          <a:solidFill>
            <a:schemeClr val="tx1"/>
          </a:solidFill>
          <a:latin typeface="Arial" charset="0"/>
        </a:defRPr>
      </a:lvl7pPr>
      <a:lvl8pPr marL="3425810" indent="-228387" algn="l" rtl="0" fontAlgn="base">
        <a:spcBef>
          <a:spcPct val="20000"/>
        </a:spcBef>
        <a:spcAft>
          <a:spcPct val="0"/>
        </a:spcAft>
        <a:buChar char="»"/>
        <a:defRPr sz="1400">
          <a:solidFill>
            <a:schemeClr val="tx1"/>
          </a:solidFill>
          <a:latin typeface="Arial" charset="0"/>
        </a:defRPr>
      </a:lvl8pPr>
      <a:lvl9pPr marL="3882583" indent="-228387" algn="l" rtl="0" fontAlgn="base">
        <a:spcBef>
          <a:spcPct val="20000"/>
        </a:spcBef>
        <a:spcAft>
          <a:spcPct val="0"/>
        </a:spcAft>
        <a:buChar char="»"/>
        <a:defRPr sz="1400">
          <a:solidFill>
            <a:schemeClr val="tx1"/>
          </a:solidFill>
          <a:latin typeface="Arial" charset="0"/>
        </a:defRPr>
      </a:lvl9pPr>
    </p:bodyStyle>
    <p:otherStyle>
      <a:defPPr>
        <a:defRPr lang="en-US"/>
      </a:defPPr>
      <a:lvl1pPr marL="0" algn="l" defTabSz="913550" rtl="0" eaLnBrk="1" latinLnBrk="0" hangingPunct="1">
        <a:defRPr sz="1800" kern="1200">
          <a:solidFill>
            <a:schemeClr val="tx1"/>
          </a:solidFill>
          <a:latin typeface="+mn-lt"/>
          <a:ea typeface="+mn-ea"/>
          <a:cs typeface="+mn-cs"/>
        </a:defRPr>
      </a:lvl1pPr>
      <a:lvl2pPr marL="456775" algn="l" defTabSz="913550" rtl="0" eaLnBrk="1" latinLnBrk="0" hangingPunct="1">
        <a:defRPr sz="1800" kern="1200">
          <a:solidFill>
            <a:schemeClr val="tx1"/>
          </a:solidFill>
          <a:latin typeface="+mn-lt"/>
          <a:ea typeface="+mn-ea"/>
          <a:cs typeface="+mn-cs"/>
        </a:defRPr>
      </a:lvl2pPr>
      <a:lvl3pPr marL="913550" algn="l" defTabSz="913550" rtl="0" eaLnBrk="1" latinLnBrk="0" hangingPunct="1">
        <a:defRPr sz="1800" kern="1200">
          <a:solidFill>
            <a:schemeClr val="tx1"/>
          </a:solidFill>
          <a:latin typeface="+mn-lt"/>
          <a:ea typeface="+mn-ea"/>
          <a:cs typeface="+mn-cs"/>
        </a:defRPr>
      </a:lvl3pPr>
      <a:lvl4pPr marL="1370324" algn="l" defTabSz="913550" rtl="0" eaLnBrk="1" latinLnBrk="0" hangingPunct="1">
        <a:defRPr sz="1800" kern="1200">
          <a:solidFill>
            <a:schemeClr val="tx1"/>
          </a:solidFill>
          <a:latin typeface="+mn-lt"/>
          <a:ea typeface="+mn-ea"/>
          <a:cs typeface="+mn-cs"/>
        </a:defRPr>
      </a:lvl4pPr>
      <a:lvl5pPr marL="1827098" algn="l" defTabSz="913550" rtl="0" eaLnBrk="1" latinLnBrk="0" hangingPunct="1">
        <a:defRPr sz="1800" kern="1200">
          <a:solidFill>
            <a:schemeClr val="tx1"/>
          </a:solidFill>
          <a:latin typeface="+mn-lt"/>
          <a:ea typeface="+mn-ea"/>
          <a:cs typeface="+mn-cs"/>
        </a:defRPr>
      </a:lvl5pPr>
      <a:lvl6pPr marL="2283874" algn="l" defTabSz="913550" rtl="0" eaLnBrk="1" latinLnBrk="0" hangingPunct="1">
        <a:defRPr sz="1800" kern="1200">
          <a:solidFill>
            <a:schemeClr val="tx1"/>
          </a:solidFill>
          <a:latin typeface="+mn-lt"/>
          <a:ea typeface="+mn-ea"/>
          <a:cs typeface="+mn-cs"/>
        </a:defRPr>
      </a:lvl6pPr>
      <a:lvl7pPr marL="2740649" algn="l" defTabSz="913550" rtl="0" eaLnBrk="1" latinLnBrk="0" hangingPunct="1">
        <a:defRPr sz="1800" kern="1200">
          <a:solidFill>
            <a:schemeClr val="tx1"/>
          </a:solidFill>
          <a:latin typeface="+mn-lt"/>
          <a:ea typeface="+mn-ea"/>
          <a:cs typeface="+mn-cs"/>
        </a:defRPr>
      </a:lvl7pPr>
      <a:lvl8pPr marL="3197425" algn="l" defTabSz="913550" rtl="0" eaLnBrk="1" latinLnBrk="0" hangingPunct="1">
        <a:defRPr sz="1800" kern="1200">
          <a:solidFill>
            <a:schemeClr val="tx1"/>
          </a:solidFill>
          <a:latin typeface="+mn-lt"/>
          <a:ea typeface="+mn-ea"/>
          <a:cs typeface="+mn-cs"/>
        </a:defRPr>
      </a:lvl8pPr>
      <a:lvl9pPr marL="3654197" algn="l" defTabSz="91355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207818" y="1116387"/>
            <a:ext cx="8728364" cy="5015472"/>
          </a:xfrm>
          <a:prstGeom prst="rect">
            <a:avLst/>
          </a:prstGeom>
          <a:noFill/>
          <a:ln w="9525">
            <a:noFill/>
            <a:miter lim="800000"/>
            <a:headEnd/>
            <a:tailEnd/>
          </a:ln>
        </p:spPr>
        <p:txBody>
          <a:bodyPr vert="horz" wrap="square" lIns="91419" tIns="45709" rIns="91419" bIns="45709"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p:txBody>
      </p:sp>
      <p:sp>
        <p:nvSpPr>
          <p:cNvPr id="3123" name="Rectangle 51"/>
          <p:cNvSpPr>
            <a:spLocks noChangeArrowheads="1"/>
          </p:cNvSpPr>
          <p:nvPr/>
        </p:nvSpPr>
        <p:spPr bwMode="auto">
          <a:xfrm>
            <a:off x="207818" y="203047"/>
            <a:ext cx="8728364" cy="572845"/>
          </a:xfrm>
          <a:prstGeom prst="rect">
            <a:avLst/>
          </a:prstGeom>
          <a:solidFill>
            <a:srgbClr val="2E398A"/>
          </a:solidFill>
          <a:ln w="9525">
            <a:noFill/>
            <a:miter lim="800000"/>
            <a:headEnd/>
            <a:tailEnd/>
          </a:ln>
          <a:effectLst/>
        </p:spPr>
        <p:txBody>
          <a:bodyPr wrap="none" lIns="91419" tIns="45709" rIns="91419" bIns="45709" anchor="ctr"/>
          <a:lstStyle/>
          <a:p>
            <a:pPr defTabSz="914400" fontAlgn="base">
              <a:spcBef>
                <a:spcPct val="0"/>
              </a:spcBef>
              <a:spcAft>
                <a:spcPct val="0"/>
              </a:spcAft>
              <a:defRPr/>
            </a:pPr>
            <a:endParaRPr lang="en-US" dirty="0">
              <a:solidFill>
                <a:srgbClr val="000000"/>
              </a:solidFill>
              <a:latin typeface="Cambria" pitchFamily="18" charset="0"/>
            </a:endParaRPr>
          </a:p>
        </p:txBody>
      </p:sp>
      <p:sp>
        <p:nvSpPr>
          <p:cNvPr id="1029" name="Rectangle 2"/>
          <p:cNvSpPr>
            <a:spLocks noGrp="1" noChangeArrowheads="1"/>
          </p:cNvSpPr>
          <p:nvPr>
            <p:ph type="title"/>
          </p:nvPr>
        </p:nvSpPr>
        <p:spPr bwMode="auto">
          <a:xfrm>
            <a:off x="2289976" y="194877"/>
            <a:ext cx="6618287" cy="568325"/>
          </a:xfrm>
          <a:prstGeom prst="rect">
            <a:avLst/>
          </a:prstGeom>
          <a:noFill/>
          <a:ln w="9525">
            <a:noFill/>
            <a:miter lim="800000"/>
            <a:headEnd/>
            <a:tailEnd/>
          </a:ln>
        </p:spPr>
        <p:txBody>
          <a:bodyPr vert="horz" wrap="square" lIns="91419" tIns="45709" rIns="91419" bIns="45709" numCol="1" anchor="t" anchorCtr="0" compatLnSpc="1">
            <a:prstTxWarp prst="textNoShape">
              <a:avLst/>
            </a:prstTxWarp>
          </a:bodyPr>
          <a:lstStyle/>
          <a:p>
            <a:pPr lvl="0"/>
            <a:r>
              <a:rPr lang="en-US" dirty="0" smtClean="0"/>
              <a:t>Click to edit Master title style</a:t>
            </a:r>
          </a:p>
        </p:txBody>
      </p:sp>
      <p:pic>
        <p:nvPicPr>
          <p:cNvPr id="1032" name="Picture 20" descr="Cello_LOGO_Horizontal_Short.png"/>
          <p:cNvPicPr>
            <a:picLocks noChangeAspect="1"/>
          </p:cNvPicPr>
          <p:nvPr userDrawn="1"/>
        </p:nvPicPr>
        <p:blipFill>
          <a:blip r:embed="rId7" cstate="print"/>
          <a:srcRect/>
          <a:stretch>
            <a:fillRect/>
          </a:stretch>
        </p:blipFill>
        <p:spPr bwMode="auto">
          <a:xfrm>
            <a:off x="280110" y="284326"/>
            <a:ext cx="2197100" cy="398462"/>
          </a:xfrm>
          <a:prstGeom prst="rect">
            <a:avLst/>
          </a:prstGeom>
          <a:noFill/>
          <a:ln w="9525">
            <a:noFill/>
            <a:miter lim="800000"/>
            <a:headEnd/>
            <a:tailEnd/>
          </a:ln>
        </p:spPr>
      </p:pic>
      <p:cxnSp>
        <p:nvCxnSpPr>
          <p:cNvPr id="21" name="Straight Connector 20"/>
          <p:cNvCxnSpPr/>
          <p:nvPr userDrawn="1"/>
        </p:nvCxnSpPr>
        <p:spPr>
          <a:xfrm>
            <a:off x="207818" y="6388474"/>
            <a:ext cx="8728364"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2897285"/>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Lst>
  <p:timing>
    <p:tnLst>
      <p:par>
        <p:cTn id="1" dur="indefinite" restart="never" nodeType="tmRoot"/>
      </p:par>
    </p:tnLst>
  </p:timing>
  <p:hf hdr="0" dt="0"/>
  <p:txStyles>
    <p:title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7095" algn="r" rtl="0" fontAlgn="base">
        <a:spcBef>
          <a:spcPct val="0"/>
        </a:spcBef>
        <a:spcAft>
          <a:spcPct val="0"/>
        </a:spcAft>
        <a:defRPr sz="1700">
          <a:solidFill>
            <a:schemeClr val="bg1"/>
          </a:solidFill>
          <a:latin typeface="Calisto MT" pitchFamily="18" charset="0"/>
        </a:defRPr>
      </a:lvl6pPr>
      <a:lvl7pPr marL="914191" algn="r" rtl="0" fontAlgn="base">
        <a:spcBef>
          <a:spcPct val="0"/>
        </a:spcBef>
        <a:spcAft>
          <a:spcPct val="0"/>
        </a:spcAft>
        <a:defRPr sz="1700">
          <a:solidFill>
            <a:schemeClr val="bg1"/>
          </a:solidFill>
          <a:latin typeface="Calisto MT" pitchFamily="18" charset="0"/>
        </a:defRPr>
      </a:lvl7pPr>
      <a:lvl8pPr marL="1371286" algn="r" rtl="0" fontAlgn="base">
        <a:spcBef>
          <a:spcPct val="0"/>
        </a:spcBef>
        <a:spcAft>
          <a:spcPct val="0"/>
        </a:spcAft>
        <a:defRPr sz="1700">
          <a:solidFill>
            <a:schemeClr val="bg1"/>
          </a:solidFill>
          <a:latin typeface="Calisto MT" pitchFamily="18" charset="0"/>
        </a:defRPr>
      </a:lvl8pPr>
      <a:lvl9pPr marL="1828382" algn="r" rtl="0" fontAlgn="base">
        <a:spcBef>
          <a:spcPct val="0"/>
        </a:spcBef>
        <a:spcAft>
          <a:spcPct val="0"/>
        </a:spcAft>
        <a:defRPr sz="1700">
          <a:solidFill>
            <a:schemeClr val="bg1"/>
          </a:solidFill>
          <a:latin typeface="Calisto MT" pitchFamily="18" charset="0"/>
        </a:defRPr>
      </a:lvl9pPr>
    </p:titleStyle>
    <p:bodyStyle>
      <a:lvl1pPr marL="168255" indent="-168255" algn="l" rtl="0" eaLnBrk="0" fontAlgn="base" hangingPunct="0">
        <a:spcBef>
          <a:spcPct val="110000"/>
        </a:spcBef>
        <a:spcAft>
          <a:spcPct val="0"/>
        </a:spcAft>
        <a:buClr>
          <a:schemeClr val="tx2"/>
        </a:buClr>
        <a:buChar char="•"/>
        <a:defRPr sz="1100">
          <a:solidFill>
            <a:schemeClr val="tx1"/>
          </a:solidFill>
          <a:latin typeface="+mn-lt"/>
          <a:ea typeface="+mn-ea"/>
          <a:cs typeface="+mn-cs"/>
        </a:defRPr>
      </a:lvl1pPr>
      <a:lvl2pPr marL="338098" indent="-166669" algn="l" rtl="0" eaLnBrk="0" fontAlgn="base" hangingPunct="0">
        <a:spcBef>
          <a:spcPct val="47000"/>
        </a:spcBef>
        <a:spcAft>
          <a:spcPct val="0"/>
        </a:spcAft>
        <a:buClr>
          <a:schemeClr val="tx2"/>
        </a:buClr>
        <a:buFont typeface="Times" pitchFamily="18" charset="0"/>
        <a:buChar char="–"/>
        <a:defRPr sz="1100">
          <a:solidFill>
            <a:schemeClr val="tx1"/>
          </a:solidFill>
          <a:latin typeface="+mn-lt"/>
        </a:defRPr>
      </a:lvl2pPr>
      <a:lvl3pPr marL="507941" indent="-166669" algn="l" rtl="0" eaLnBrk="0" fontAlgn="base" hangingPunct="0">
        <a:spcBef>
          <a:spcPct val="20000"/>
        </a:spcBef>
        <a:spcAft>
          <a:spcPct val="0"/>
        </a:spcAft>
        <a:buClr>
          <a:schemeClr val="tx2"/>
        </a:buClr>
        <a:buFont typeface="Times" pitchFamily="18" charset="0"/>
        <a:buChar char="–"/>
        <a:defRPr sz="1100">
          <a:solidFill>
            <a:schemeClr val="tx1"/>
          </a:solidFill>
          <a:latin typeface="+mn-lt"/>
        </a:defRPr>
      </a:lvl3pPr>
      <a:lvl4pPr marL="1598426" indent="-226987" algn="l" rtl="0" eaLnBrk="0" fontAlgn="base" hangingPunct="0">
        <a:spcBef>
          <a:spcPct val="20000"/>
        </a:spcBef>
        <a:spcAft>
          <a:spcPct val="0"/>
        </a:spcAft>
        <a:buChar char="–"/>
        <a:defRPr sz="1400">
          <a:solidFill>
            <a:schemeClr val="tx1"/>
          </a:solidFill>
          <a:latin typeface="Arial" charset="0"/>
        </a:defRPr>
      </a:lvl4pPr>
      <a:lvl5pPr marL="2055573" indent="-226987" algn="l" rtl="0" eaLnBrk="0" fontAlgn="base" hangingPunct="0">
        <a:spcBef>
          <a:spcPct val="20000"/>
        </a:spcBef>
        <a:spcAft>
          <a:spcPct val="0"/>
        </a:spcAft>
        <a:buChar char="»"/>
        <a:defRPr sz="1400">
          <a:solidFill>
            <a:schemeClr val="tx1"/>
          </a:solidFill>
          <a:latin typeface="Arial" charset="0"/>
        </a:defRPr>
      </a:lvl5pPr>
      <a:lvl6pPr marL="2514024" indent="-228547" algn="l" rtl="0" fontAlgn="base">
        <a:spcBef>
          <a:spcPct val="20000"/>
        </a:spcBef>
        <a:spcAft>
          <a:spcPct val="0"/>
        </a:spcAft>
        <a:buChar char="»"/>
        <a:defRPr sz="1400">
          <a:solidFill>
            <a:schemeClr val="tx1"/>
          </a:solidFill>
          <a:latin typeface="Arial" charset="0"/>
        </a:defRPr>
      </a:lvl6pPr>
      <a:lvl7pPr marL="2971120" indent="-228547" algn="l" rtl="0" fontAlgn="base">
        <a:spcBef>
          <a:spcPct val="20000"/>
        </a:spcBef>
        <a:spcAft>
          <a:spcPct val="0"/>
        </a:spcAft>
        <a:buChar char="»"/>
        <a:defRPr sz="1400">
          <a:solidFill>
            <a:schemeClr val="tx1"/>
          </a:solidFill>
          <a:latin typeface="Arial" charset="0"/>
        </a:defRPr>
      </a:lvl7pPr>
      <a:lvl8pPr marL="3428215" indent="-228547" algn="l" rtl="0" fontAlgn="base">
        <a:spcBef>
          <a:spcPct val="20000"/>
        </a:spcBef>
        <a:spcAft>
          <a:spcPct val="0"/>
        </a:spcAft>
        <a:buChar char="»"/>
        <a:defRPr sz="1400">
          <a:solidFill>
            <a:schemeClr val="tx1"/>
          </a:solidFill>
          <a:latin typeface="Arial" charset="0"/>
        </a:defRPr>
      </a:lvl8pPr>
      <a:lvl9pPr marL="3885310" indent="-228547" algn="l" rtl="0" fontAlgn="base">
        <a:spcBef>
          <a:spcPct val="20000"/>
        </a:spcBef>
        <a:spcAft>
          <a:spcPct val="0"/>
        </a:spcAft>
        <a:buChar char="»"/>
        <a:defRPr sz="1400">
          <a:solidFill>
            <a:schemeClr val="tx1"/>
          </a:solidFill>
          <a:latin typeface="Arial" charset="0"/>
        </a:defRPr>
      </a:lvl9pPr>
    </p:bodyStyle>
    <p:otherStyle>
      <a:defPPr>
        <a:defRPr lang="en-US"/>
      </a:defPPr>
      <a:lvl1pPr marL="0" algn="l" defTabSz="914191" rtl="0" eaLnBrk="1" latinLnBrk="0" hangingPunct="1">
        <a:defRPr sz="1800" kern="1200">
          <a:solidFill>
            <a:schemeClr val="tx1"/>
          </a:solidFill>
          <a:latin typeface="+mn-lt"/>
          <a:ea typeface="+mn-ea"/>
          <a:cs typeface="+mn-cs"/>
        </a:defRPr>
      </a:lvl1pPr>
      <a:lvl2pPr marL="457095" algn="l" defTabSz="914191" rtl="0" eaLnBrk="1" latinLnBrk="0" hangingPunct="1">
        <a:defRPr sz="1800" kern="1200">
          <a:solidFill>
            <a:schemeClr val="tx1"/>
          </a:solidFill>
          <a:latin typeface="+mn-lt"/>
          <a:ea typeface="+mn-ea"/>
          <a:cs typeface="+mn-cs"/>
        </a:defRPr>
      </a:lvl2pPr>
      <a:lvl3pPr marL="914191" algn="l" defTabSz="914191" rtl="0" eaLnBrk="1" latinLnBrk="0" hangingPunct="1">
        <a:defRPr sz="1800" kern="1200">
          <a:solidFill>
            <a:schemeClr val="tx1"/>
          </a:solidFill>
          <a:latin typeface="+mn-lt"/>
          <a:ea typeface="+mn-ea"/>
          <a:cs typeface="+mn-cs"/>
        </a:defRPr>
      </a:lvl3pPr>
      <a:lvl4pPr marL="1371286" algn="l" defTabSz="914191" rtl="0" eaLnBrk="1" latinLnBrk="0" hangingPunct="1">
        <a:defRPr sz="1800" kern="1200">
          <a:solidFill>
            <a:schemeClr val="tx1"/>
          </a:solidFill>
          <a:latin typeface="+mn-lt"/>
          <a:ea typeface="+mn-ea"/>
          <a:cs typeface="+mn-cs"/>
        </a:defRPr>
      </a:lvl4pPr>
      <a:lvl5pPr marL="1828382" algn="l" defTabSz="914191" rtl="0" eaLnBrk="1" latinLnBrk="0" hangingPunct="1">
        <a:defRPr sz="1800" kern="1200">
          <a:solidFill>
            <a:schemeClr val="tx1"/>
          </a:solidFill>
          <a:latin typeface="+mn-lt"/>
          <a:ea typeface="+mn-ea"/>
          <a:cs typeface="+mn-cs"/>
        </a:defRPr>
      </a:lvl5pPr>
      <a:lvl6pPr marL="2285477" algn="l" defTabSz="914191" rtl="0" eaLnBrk="1" latinLnBrk="0" hangingPunct="1">
        <a:defRPr sz="1800" kern="1200">
          <a:solidFill>
            <a:schemeClr val="tx1"/>
          </a:solidFill>
          <a:latin typeface="+mn-lt"/>
          <a:ea typeface="+mn-ea"/>
          <a:cs typeface="+mn-cs"/>
        </a:defRPr>
      </a:lvl6pPr>
      <a:lvl7pPr marL="2742572" algn="l" defTabSz="914191" rtl="0" eaLnBrk="1" latinLnBrk="0" hangingPunct="1">
        <a:defRPr sz="1800" kern="1200">
          <a:solidFill>
            <a:schemeClr val="tx1"/>
          </a:solidFill>
          <a:latin typeface="+mn-lt"/>
          <a:ea typeface="+mn-ea"/>
          <a:cs typeface="+mn-cs"/>
        </a:defRPr>
      </a:lvl7pPr>
      <a:lvl8pPr marL="3199668" algn="l" defTabSz="914191" rtl="0" eaLnBrk="1" latinLnBrk="0" hangingPunct="1">
        <a:defRPr sz="1800" kern="1200">
          <a:solidFill>
            <a:schemeClr val="tx1"/>
          </a:solidFill>
          <a:latin typeface="+mn-lt"/>
          <a:ea typeface="+mn-ea"/>
          <a:cs typeface="+mn-cs"/>
        </a:defRPr>
      </a:lvl8pPr>
      <a:lvl9pPr marL="3656762" algn="l" defTabSz="914191"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8" name="Picture 33" descr="Cello_CoverDesigns_FINAL_2-02"/>
          <p:cNvPicPr>
            <a:picLocks noChangeAspect="1" noChangeArrowheads="1"/>
          </p:cNvPicPr>
          <p:nvPr userDrawn="1"/>
        </p:nvPicPr>
        <p:blipFill>
          <a:blip r:embed="rId4" cstate="print"/>
          <a:srcRect b="13019"/>
          <a:stretch>
            <a:fillRect/>
          </a:stretch>
        </p:blipFill>
        <p:spPr bwMode="auto">
          <a:xfrm>
            <a:off x="207818" y="695327"/>
            <a:ext cx="8728364" cy="3400361"/>
          </a:xfrm>
          <a:prstGeom prst="rect">
            <a:avLst/>
          </a:prstGeom>
          <a:noFill/>
          <a:ln w="9525">
            <a:noFill/>
            <a:miter lim="800000"/>
            <a:headEnd/>
            <a:tailEnd/>
          </a:ln>
        </p:spPr>
      </p:pic>
      <p:sp>
        <p:nvSpPr>
          <p:cNvPr id="364592" name="Rectangle 48"/>
          <p:cNvSpPr>
            <a:spLocks noChangeArrowheads="1"/>
          </p:cNvSpPr>
          <p:nvPr userDrawn="1"/>
        </p:nvSpPr>
        <p:spPr bwMode="auto">
          <a:xfrm>
            <a:off x="207818" y="6296722"/>
            <a:ext cx="8728364" cy="354013"/>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89875" tIns="44937" rIns="89875" bIns="44937" anchor="ctr"/>
          <a:lstStyle/>
          <a:p>
            <a:pPr defTabSz="806867" fontAlgn="base">
              <a:spcBef>
                <a:spcPct val="0"/>
              </a:spcBef>
              <a:spcAft>
                <a:spcPct val="0"/>
              </a:spcAft>
            </a:pPr>
            <a:endParaRPr lang="en-US" sz="1588" dirty="0">
              <a:solidFill>
                <a:srgbClr val="000000"/>
              </a:solidFill>
            </a:endParaRPr>
          </a:p>
        </p:txBody>
      </p:sp>
      <p:sp>
        <p:nvSpPr>
          <p:cNvPr id="364594" name="Rectangle 50"/>
          <p:cNvSpPr>
            <a:spLocks noChangeArrowheads="1"/>
          </p:cNvSpPr>
          <p:nvPr userDrawn="1"/>
        </p:nvSpPr>
        <p:spPr bwMode="auto">
          <a:xfrm flipV="1">
            <a:off x="207818" y="4383088"/>
            <a:ext cx="8728364" cy="354012"/>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80663" tIns="40332" rIns="80663" bIns="40332" anchor="ctr"/>
          <a:lstStyle/>
          <a:p>
            <a:pPr defTabSz="806867" fontAlgn="base">
              <a:spcBef>
                <a:spcPct val="0"/>
              </a:spcBef>
              <a:spcAft>
                <a:spcPct val="0"/>
              </a:spcAft>
            </a:pPr>
            <a:endParaRPr lang="en-US" sz="1588" dirty="0">
              <a:solidFill>
                <a:srgbClr val="000000"/>
              </a:solidFill>
            </a:endParaRPr>
          </a:p>
        </p:txBody>
      </p:sp>
      <p:grpSp>
        <p:nvGrpSpPr>
          <p:cNvPr id="364597" name="Group 33"/>
          <p:cNvGrpSpPr>
            <a:grpSpLocks/>
          </p:cNvGrpSpPr>
          <p:nvPr userDrawn="1"/>
        </p:nvGrpSpPr>
        <p:grpSpPr bwMode="auto">
          <a:xfrm>
            <a:off x="919166" y="3517900"/>
            <a:ext cx="1978025" cy="2541588"/>
            <a:chOff x="2173" y="2091"/>
            <a:chExt cx="1436" cy="1845"/>
          </a:xfrm>
        </p:grpSpPr>
        <p:sp>
          <p:nvSpPr>
            <p:cNvPr id="323607" name="Freeform 23"/>
            <p:cNvSpPr>
              <a:spLocks/>
            </p:cNvSpPr>
            <p:nvPr userDrawn="1"/>
          </p:nvSpPr>
          <p:spPr bwMode="auto">
            <a:xfrm>
              <a:off x="2191" y="3620"/>
              <a:ext cx="280" cy="316"/>
            </a:xfrm>
            <a:custGeom>
              <a:avLst/>
              <a:gdLst/>
              <a:ahLst/>
              <a:cxnLst>
                <a:cxn ang="0">
                  <a:pos x="828" y="5"/>
                </a:cxn>
                <a:cxn ang="0">
                  <a:pos x="996" y="23"/>
                </a:cxn>
                <a:cxn ang="0">
                  <a:pos x="1126" y="42"/>
                </a:cxn>
                <a:cxn ang="0">
                  <a:pos x="1112" y="133"/>
                </a:cxn>
                <a:cxn ang="0">
                  <a:pos x="1101" y="247"/>
                </a:cxn>
                <a:cxn ang="0">
                  <a:pos x="1096" y="352"/>
                </a:cxn>
                <a:cxn ang="0">
                  <a:pos x="1070" y="361"/>
                </a:cxn>
                <a:cxn ang="0">
                  <a:pos x="1033" y="356"/>
                </a:cxn>
                <a:cxn ang="0">
                  <a:pos x="1012" y="244"/>
                </a:cxn>
                <a:cxn ang="0">
                  <a:pos x="984" y="177"/>
                </a:cxn>
                <a:cxn ang="0">
                  <a:pos x="940" y="135"/>
                </a:cxn>
                <a:cxn ang="0">
                  <a:pos x="859" y="98"/>
                </a:cxn>
                <a:cxn ang="0">
                  <a:pos x="733" y="77"/>
                </a:cxn>
                <a:cxn ang="0">
                  <a:pos x="584" y="79"/>
                </a:cxn>
                <a:cxn ang="0">
                  <a:pos x="449" y="121"/>
                </a:cxn>
                <a:cxn ang="0">
                  <a:pos x="342" y="200"/>
                </a:cxn>
                <a:cxn ang="0">
                  <a:pos x="265" y="312"/>
                </a:cxn>
                <a:cxn ang="0">
                  <a:pos x="216" y="456"/>
                </a:cxn>
                <a:cxn ang="0">
                  <a:pos x="200" y="631"/>
                </a:cxn>
                <a:cxn ang="0">
                  <a:pos x="214" y="775"/>
                </a:cxn>
                <a:cxn ang="0">
                  <a:pos x="251" y="908"/>
                </a:cxn>
                <a:cxn ang="0">
                  <a:pos x="316" y="1024"/>
                </a:cxn>
                <a:cxn ang="0">
                  <a:pos x="405" y="1117"/>
                </a:cxn>
                <a:cxn ang="0">
                  <a:pos x="521" y="1185"/>
                </a:cxn>
                <a:cxn ang="0">
                  <a:pos x="661" y="1222"/>
                </a:cxn>
                <a:cxn ang="0">
                  <a:pos x="791" y="1224"/>
                </a:cxn>
                <a:cxn ang="0">
                  <a:pos x="887" y="1201"/>
                </a:cxn>
                <a:cxn ang="0">
                  <a:pos x="961" y="1157"/>
                </a:cxn>
                <a:cxn ang="0">
                  <a:pos x="1036" y="1075"/>
                </a:cxn>
                <a:cxn ang="0">
                  <a:pos x="1112" y="959"/>
                </a:cxn>
                <a:cxn ang="0">
                  <a:pos x="1140" y="971"/>
                </a:cxn>
                <a:cxn ang="0">
                  <a:pos x="1161" y="992"/>
                </a:cxn>
                <a:cxn ang="0">
                  <a:pos x="1136" y="1066"/>
                </a:cxn>
                <a:cxn ang="0">
                  <a:pos x="1094" y="1150"/>
                </a:cxn>
                <a:cxn ang="0">
                  <a:pos x="1049" y="1222"/>
                </a:cxn>
                <a:cxn ang="0">
                  <a:pos x="1008" y="1264"/>
                </a:cxn>
                <a:cxn ang="0">
                  <a:pos x="928" y="1287"/>
                </a:cxn>
                <a:cxn ang="0">
                  <a:pos x="821" y="1306"/>
                </a:cxn>
                <a:cxn ang="0">
                  <a:pos x="700" y="1315"/>
                </a:cxn>
                <a:cxn ang="0">
                  <a:pos x="507" y="1299"/>
                </a:cxn>
                <a:cxn ang="0">
                  <a:pos x="342" y="1248"/>
                </a:cxn>
                <a:cxn ang="0">
                  <a:pos x="209" y="1164"/>
                </a:cxn>
                <a:cxn ang="0">
                  <a:pos x="107" y="1052"/>
                </a:cxn>
                <a:cxn ang="0">
                  <a:pos x="39" y="910"/>
                </a:cxn>
                <a:cxn ang="0">
                  <a:pos x="5" y="742"/>
                </a:cxn>
                <a:cxn ang="0">
                  <a:pos x="5" y="577"/>
                </a:cxn>
                <a:cxn ang="0">
                  <a:pos x="32" y="435"/>
                </a:cxn>
                <a:cxn ang="0">
                  <a:pos x="95" y="303"/>
                </a:cxn>
                <a:cxn ang="0">
                  <a:pos x="188" y="186"/>
                </a:cxn>
                <a:cxn ang="0">
                  <a:pos x="319" y="93"/>
                </a:cxn>
                <a:cxn ang="0">
                  <a:pos x="461" y="35"/>
                </a:cxn>
                <a:cxn ang="0">
                  <a:pos x="633" y="5"/>
                </a:cxn>
              </a:cxnLst>
              <a:rect l="0" t="0" r="r" b="b"/>
              <a:pathLst>
                <a:path w="1161" h="1315">
                  <a:moveTo>
                    <a:pt x="731" y="0"/>
                  </a:moveTo>
                  <a:lnTo>
                    <a:pt x="828" y="5"/>
                  </a:lnTo>
                  <a:lnTo>
                    <a:pt x="917" y="12"/>
                  </a:lnTo>
                  <a:lnTo>
                    <a:pt x="996" y="23"/>
                  </a:lnTo>
                  <a:lnTo>
                    <a:pt x="1066" y="35"/>
                  </a:lnTo>
                  <a:lnTo>
                    <a:pt x="1126" y="42"/>
                  </a:lnTo>
                  <a:lnTo>
                    <a:pt x="1119" y="84"/>
                  </a:lnTo>
                  <a:lnTo>
                    <a:pt x="1112" y="133"/>
                  </a:lnTo>
                  <a:lnTo>
                    <a:pt x="1108" y="189"/>
                  </a:lnTo>
                  <a:lnTo>
                    <a:pt x="1101" y="247"/>
                  </a:lnTo>
                  <a:lnTo>
                    <a:pt x="1098" y="303"/>
                  </a:lnTo>
                  <a:lnTo>
                    <a:pt x="1096" y="352"/>
                  </a:lnTo>
                  <a:lnTo>
                    <a:pt x="1087" y="356"/>
                  </a:lnTo>
                  <a:lnTo>
                    <a:pt x="1070" y="361"/>
                  </a:lnTo>
                  <a:lnTo>
                    <a:pt x="1040" y="361"/>
                  </a:lnTo>
                  <a:lnTo>
                    <a:pt x="1033" y="356"/>
                  </a:lnTo>
                  <a:lnTo>
                    <a:pt x="1024" y="293"/>
                  </a:lnTo>
                  <a:lnTo>
                    <a:pt x="1012" y="244"/>
                  </a:lnTo>
                  <a:lnTo>
                    <a:pt x="1001" y="207"/>
                  </a:lnTo>
                  <a:lnTo>
                    <a:pt x="984" y="177"/>
                  </a:lnTo>
                  <a:lnTo>
                    <a:pt x="966" y="154"/>
                  </a:lnTo>
                  <a:lnTo>
                    <a:pt x="940" y="135"/>
                  </a:lnTo>
                  <a:lnTo>
                    <a:pt x="912" y="119"/>
                  </a:lnTo>
                  <a:lnTo>
                    <a:pt x="859" y="98"/>
                  </a:lnTo>
                  <a:lnTo>
                    <a:pt x="798" y="84"/>
                  </a:lnTo>
                  <a:lnTo>
                    <a:pt x="733" y="77"/>
                  </a:lnTo>
                  <a:lnTo>
                    <a:pt x="661" y="75"/>
                  </a:lnTo>
                  <a:lnTo>
                    <a:pt x="584" y="79"/>
                  </a:lnTo>
                  <a:lnTo>
                    <a:pt x="514" y="96"/>
                  </a:lnTo>
                  <a:lnTo>
                    <a:pt x="449" y="121"/>
                  </a:lnTo>
                  <a:lnTo>
                    <a:pt x="393" y="156"/>
                  </a:lnTo>
                  <a:lnTo>
                    <a:pt x="342" y="200"/>
                  </a:lnTo>
                  <a:lnTo>
                    <a:pt x="300" y="251"/>
                  </a:lnTo>
                  <a:lnTo>
                    <a:pt x="265" y="312"/>
                  </a:lnTo>
                  <a:lnTo>
                    <a:pt x="237" y="382"/>
                  </a:lnTo>
                  <a:lnTo>
                    <a:pt x="216" y="456"/>
                  </a:lnTo>
                  <a:lnTo>
                    <a:pt x="205" y="540"/>
                  </a:lnTo>
                  <a:lnTo>
                    <a:pt x="200" y="631"/>
                  </a:lnTo>
                  <a:lnTo>
                    <a:pt x="202" y="705"/>
                  </a:lnTo>
                  <a:lnTo>
                    <a:pt x="214" y="775"/>
                  </a:lnTo>
                  <a:lnTo>
                    <a:pt x="228" y="845"/>
                  </a:lnTo>
                  <a:lnTo>
                    <a:pt x="251" y="908"/>
                  </a:lnTo>
                  <a:lnTo>
                    <a:pt x="281" y="968"/>
                  </a:lnTo>
                  <a:lnTo>
                    <a:pt x="316" y="1024"/>
                  </a:lnTo>
                  <a:lnTo>
                    <a:pt x="358" y="1075"/>
                  </a:lnTo>
                  <a:lnTo>
                    <a:pt x="405" y="1117"/>
                  </a:lnTo>
                  <a:lnTo>
                    <a:pt x="458" y="1157"/>
                  </a:lnTo>
                  <a:lnTo>
                    <a:pt x="521" y="1185"/>
                  </a:lnTo>
                  <a:lnTo>
                    <a:pt x="586" y="1208"/>
                  </a:lnTo>
                  <a:lnTo>
                    <a:pt x="661" y="1222"/>
                  </a:lnTo>
                  <a:lnTo>
                    <a:pt x="740" y="1227"/>
                  </a:lnTo>
                  <a:lnTo>
                    <a:pt x="791" y="1224"/>
                  </a:lnTo>
                  <a:lnTo>
                    <a:pt x="840" y="1215"/>
                  </a:lnTo>
                  <a:lnTo>
                    <a:pt x="887" y="1201"/>
                  </a:lnTo>
                  <a:lnTo>
                    <a:pt x="928" y="1182"/>
                  </a:lnTo>
                  <a:lnTo>
                    <a:pt x="961" y="1157"/>
                  </a:lnTo>
                  <a:lnTo>
                    <a:pt x="998" y="1122"/>
                  </a:lnTo>
                  <a:lnTo>
                    <a:pt x="1036" y="1075"/>
                  </a:lnTo>
                  <a:lnTo>
                    <a:pt x="1075" y="1022"/>
                  </a:lnTo>
                  <a:lnTo>
                    <a:pt x="1112" y="959"/>
                  </a:lnTo>
                  <a:lnTo>
                    <a:pt x="1124" y="961"/>
                  </a:lnTo>
                  <a:lnTo>
                    <a:pt x="1140" y="971"/>
                  </a:lnTo>
                  <a:lnTo>
                    <a:pt x="1154" y="980"/>
                  </a:lnTo>
                  <a:lnTo>
                    <a:pt x="1161" y="992"/>
                  </a:lnTo>
                  <a:lnTo>
                    <a:pt x="1152" y="1026"/>
                  </a:lnTo>
                  <a:lnTo>
                    <a:pt x="1136" y="1066"/>
                  </a:lnTo>
                  <a:lnTo>
                    <a:pt x="1117" y="1108"/>
                  </a:lnTo>
                  <a:lnTo>
                    <a:pt x="1094" y="1150"/>
                  </a:lnTo>
                  <a:lnTo>
                    <a:pt x="1073" y="1187"/>
                  </a:lnTo>
                  <a:lnTo>
                    <a:pt x="1049" y="1222"/>
                  </a:lnTo>
                  <a:lnTo>
                    <a:pt x="1026" y="1248"/>
                  </a:lnTo>
                  <a:lnTo>
                    <a:pt x="1008" y="1264"/>
                  </a:lnTo>
                  <a:lnTo>
                    <a:pt x="973" y="1275"/>
                  </a:lnTo>
                  <a:lnTo>
                    <a:pt x="928" y="1287"/>
                  </a:lnTo>
                  <a:lnTo>
                    <a:pt x="877" y="1296"/>
                  </a:lnTo>
                  <a:lnTo>
                    <a:pt x="821" y="1306"/>
                  </a:lnTo>
                  <a:lnTo>
                    <a:pt x="761" y="1313"/>
                  </a:lnTo>
                  <a:lnTo>
                    <a:pt x="700" y="1315"/>
                  </a:lnTo>
                  <a:lnTo>
                    <a:pt x="600" y="1310"/>
                  </a:lnTo>
                  <a:lnTo>
                    <a:pt x="507" y="1299"/>
                  </a:lnTo>
                  <a:lnTo>
                    <a:pt x="421" y="1275"/>
                  </a:lnTo>
                  <a:lnTo>
                    <a:pt x="342" y="1248"/>
                  </a:lnTo>
                  <a:lnTo>
                    <a:pt x="272" y="1210"/>
                  </a:lnTo>
                  <a:lnTo>
                    <a:pt x="209" y="1164"/>
                  </a:lnTo>
                  <a:lnTo>
                    <a:pt x="153" y="1113"/>
                  </a:lnTo>
                  <a:lnTo>
                    <a:pt x="107" y="1052"/>
                  </a:lnTo>
                  <a:lnTo>
                    <a:pt x="70" y="985"/>
                  </a:lnTo>
                  <a:lnTo>
                    <a:pt x="39" y="910"/>
                  </a:lnTo>
                  <a:lnTo>
                    <a:pt x="18" y="831"/>
                  </a:lnTo>
                  <a:lnTo>
                    <a:pt x="5" y="742"/>
                  </a:lnTo>
                  <a:lnTo>
                    <a:pt x="0" y="649"/>
                  </a:lnTo>
                  <a:lnTo>
                    <a:pt x="5" y="577"/>
                  </a:lnTo>
                  <a:lnTo>
                    <a:pt x="14" y="505"/>
                  </a:lnTo>
                  <a:lnTo>
                    <a:pt x="32" y="435"/>
                  </a:lnTo>
                  <a:lnTo>
                    <a:pt x="60" y="365"/>
                  </a:lnTo>
                  <a:lnTo>
                    <a:pt x="95" y="303"/>
                  </a:lnTo>
                  <a:lnTo>
                    <a:pt x="137" y="242"/>
                  </a:lnTo>
                  <a:lnTo>
                    <a:pt x="188" y="186"/>
                  </a:lnTo>
                  <a:lnTo>
                    <a:pt x="249" y="137"/>
                  </a:lnTo>
                  <a:lnTo>
                    <a:pt x="319" y="93"/>
                  </a:lnTo>
                  <a:lnTo>
                    <a:pt x="386" y="61"/>
                  </a:lnTo>
                  <a:lnTo>
                    <a:pt x="461" y="35"/>
                  </a:lnTo>
                  <a:lnTo>
                    <a:pt x="542" y="16"/>
                  </a:lnTo>
                  <a:lnTo>
                    <a:pt x="633" y="5"/>
                  </a:lnTo>
                  <a:lnTo>
                    <a:pt x="731"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08" name="Freeform 24"/>
            <p:cNvSpPr>
              <a:spLocks/>
            </p:cNvSpPr>
            <p:nvPr userDrawn="1"/>
          </p:nvSpPr>
          <p:spPr bwMode="auto">
            <a:xfrm>
              <a:off x="2486" y="3627"/>
              <a:ext cx="256" cy="302"/>
            </a:xfrm>
            <a:custGeom>
              <a:avLst/>
              <a:gdLst/>
              <a:ahLst/>
              <a:cxnLst>
                <a:cxn ang="0">
                  <a:pos x="147" y="2"/>
                </a:cxn>
                <a:cxn ang="0">
                  <a:pos x="777" y="9"/>
                </a:cxn>
                <a:cxn ang="0">
                  <a:pos x="919" y="5"/>
                </a:cxn>
                <a:cxn ang="0">
                  <a:pos x="957" y="7"/>
                </a:cxn>
                <a:cxn ang="0">
                  <a:pos x="952" y="56"/>
                </a:cxn>
                <a:cxn ang="0">
                  <a:pos x="929" y="235"/>
                </a:cxn>
                <a:cxn ang="0">
                  <a:pos x="901" y="296"/>
                </a:cxn>
                <a:cxn ang="0">
                  <a:pos x="861" y="291"/>
                </a:cxn>
                <a:cxn ang="0">
                  <a:pos x="845" y="191"/>
                </a:cxn>
                <a:cxn ang="0">
                  <a:pos x="817" y="123"/>
                </a:cxn>
                <a:cxn ang="0">
                  <a:pos x="738" y="93"/>
                </a:cxn>
                <a:cxn ang="0">
                  <a:pos x="475" y="91"/>
                </a:cxn>
                <a:cxn ang="0">
                  <a:pos x="421" y="98"/>
                </a:cxn>
                <a:cxn ang="0">
                  <a:pos x="405" y="130"/>
                </a:cxn>
                <a:cxn ang="0">
                  <a:pos x="403" y="563"/>
                </a:cxn>
                <a:cxn ang="0">
                  <a:pos x="459" y="573"/>
                </a:cxn>
                <a:cxn ang="0">
                  <a:pos x="628" y="573"/>
                </a:cxn>
                <a:cxn ang="0">
                  <a:pos x="745" y="563"/>
                </a:cxn>
                <a:cxn ang="0">
                  <a:pos x="784" y="526"/>
                </a:cxn>
                <a:cxn ang="0">
                  <a:pos x="812" y="426"/>
                </a:cxn>
                <a:cxn ang="0">
                  <a:pos x="868" y="428"/>
                </a:cxn>
                <a:cxn ang="0">
                  <a:pos x="870" y="517"/>
                </a:cxn>
                <a:cxn ang="0">
                  <a:pos x="868" y="754"/>
                </a:cxn>
                <a:cxn ang="0">
                  <a:pos x="836" y="815"/>
                </a:cxn>
                <a:cxn ang="0">
                  <a:pos x="798" y="780"/>
                </a:cxn>
                <a:cxn ang="0">
                  <a:pos x="770" y="694"/>
                </a:cxn>
                <a:cxn ang="0">
                  <a:pos x="717" y="668"/>
                </a:cxn>
                <a:cxn ang="0">
                  <a:pos x="596" y="663"/>
                </a:cxn>
                <a:cxn ang="0">
                  <a:pos x="452" y="663"/>
                </a:cxn>
                <a:cxn ang="0">
                  <a:pos x="407" y="668"/>
                </a:cxn>
                <a:cxn ang="0">
                  <a:pos x="405" y="977"/>
                </a:cxn>
                <a:cxn ang="0">
                  <a:pos x="412" y="1110"/>
                </a:cxn>
                <a:cxn ang="0">
                  <a:pos x="454" y="1159"/>
                </a:cxn>
                <a:cxn ang="0">
                  <a:pos x="561" y="1168"/>
                </a:cxn>
                <a:cxn ang="0">
                  <a:pos x="791" y="1171"/>
                </a:cxn>
                <a:cxn ang="0">
                  <a:pos x="866" y="1143"/>
                </a:cxn>
                <a:cxn ang="0">
                  <a:pos x="924" y="1078"/>
                </a:cxn>
                <a:cxn ang="0">
                  <a:pos x="1003" y="929"/>
                </a:cxn>
                <a:cxn ang="0">
                  <a:pos x="1050" y="943"/>
                </a:cxn>
                <a:cxn ang="0">
                  <a:pos x="1045" y="1022"/>
                </a:cxn>
                <a:cxn ang="0">
                  <a:pos x="1005" y="1157"/>
                </a:cxn>
                <a:cxn ang="0">
                  <a:pos x="971" y="1238"/>
                </a:cxn>
                <a:cxn ang="0">
                  <a:pos x="926" y="1257"/>
                </a:cxn>
                <a:cxn ang="0">
                  <a:pos x="654" y="1257"/>
                </a:cxn>
                <a:cxn ang="0">
                  <a:pos x="230" y="1250"/>
                </a:cxn>
                <a:cxn ang="0">
                  <a:pos x="7" y="1257"/>
                </a:cxn>
                <a:cxn ang="0">
                  <a:pos x="2" y="1210"/>
                </a:cxn>
                <a:cxn ang="0">
                  <a:pos x="93" y="1189"/>
                </a:cxn>
                <a:cxn ang="0">
                  <a:pos x="184" y="1168"/>
                </a:cxn>
                <a:cxn ang="0">
                  <a:pos x="223" y="1105"/>
                </a:cxn>
                <a:cxn ang="0">
                  <a:pos x="230" y="1008"/>
                </a:cxn>
                <a:cxn ang="0">
                  <a:pos x="228" y="182"/>
                </a:cxn>
                <a:cxn ang="0">
                  <a:pos x="209" y="98"/>
                </a:cxn>
                <a:cxn ang="0">
                  <a:pos x="140" y="70"/>
                </a:cxn>
                <a:cxn ang="0">
                  <a:pos x="56" y="47"/>
                </a:cxn>
                <a:cxn ang="0">
                  <a:pos x="63" y="0"/>
                </a:cxn>
              </a:cxnLst>
              <a:rect l="0" t="0" r="r" b="b"/>
              <a:pathLst>
                <a:path w="1061" h="1259">
                  <a:moveTo>
                    <a:pt x="63" y="0"/>
                  </a:moveTo>
                  <a:lnTo>
                    <a:pt x="98" y="0"/>
                  </a:lnTo>
                  <a:lnTo>
                    <a:pt x="147" y="2"/>
                  </a:lnTo>
                  <a:lnTo>
                    <a:pt x="203" y="7"/>
                  </a:lnTo>
                  <a:lnTo>
                    <a:pt x="265" y="9"/>
                  </a:lnTo>
                  <a:lnTo>
                    <a:pt x="777" y="9"/>
                  </a:lnTo>
                  <a:lnTo>
                    <a:pt x="829" y="7"/>
                  </a:lnTo>
                  <a:lnTo>
                    <a:pt x="877" y="7"/>
                  </a:lnTo>
                  <a:lnTo>
                    <a:pt x="919" y="5"/>
                  </a:lnTo>
                  <a:lnTo>
                    <a:pt x="952" y="0"/>
                  </a:lnTo>
                  <a:lnTo>
                    <a:pt x="954" y="2"/>
                  </a:lnTo>
                  <a:lnTo>
                    <a:pt x="957" y="7"/>
                  </a:lnTo>
                  <a:lnTo>
                    <a:pt x="961" y="9"/>
                  </a:lnTo>
                  <a:lnTo>
                    <a:pt x="961" y="12"/>
                  </a:lnTo>
                  <a:lnTo>
                    <a:pt x="952" y="56"/>
                  </a:lnTo>
                  <a:lnTo>
                    <a:pt x="943" y="112"/>
                  </a:lnTo>
                  <a:lnTo>
                    <a:pt x="936" y="172"/>
                  </a:lnTo>
                  <a:lnTo>
                    <a:pt x="929" y="235"/>
                  </a:lnTo>
                  <a:lnTo>
                    <a:pt x="924" y="289"/>
                  </a:lnTo>
                  <a:lnTo>
                    <a:pt x="915" y="293"/>
                  </a:lnTo>
                  <a:lnTo>
                    <a:pt x="901" y="296"/>
                  </a:lnTo>
                  <a:lnTo>
                    <a:pt x="884" y="296"/>
                  </a:lnTo>
                  <a:lnTo>
                    <a:pt x="870" y="293"/>
                  </a:lnTo>
                  <a:lnTo>
                    <a:pt x="861" y="291"/>
                  </a:lnTo>
                  <a:lnTo>
                    <a:pt x="856" y="251"/>
                  </a:lnTo>
                  <a:lnTo>
                    <a:pt x="852" y="219"/>
                  </a:lnTo>
                  <a:lnTo>
                    <a:pt x="845" y="191"/>
                  </a:lnTo>
                  <a:lnTo>
                    <a:pt x="840" y="168"/>
                  </a:lnTo>
                  <a:lnTo>
                    <a:pt x="831" y="142"/>
                  </a:lnTo>
                  <a:lnTo>
                    <a:pt x="817" y="123"/>
                  </a:lnTo>
                  <a:lnTo>
                    <a:pt x="798" y="107"/>
                  </a:lnTo>
                  <a:lnTo>
                    <a:pt x="773" y="98"/>
                  </a:lnTo>
                  <a:lnTo>
                    <a:pt x="738" y="93"/>
                  </a:lnTo>
                  <a:lnTo>
                    <a:pt x="719" y="93"/>
                  </a:lnTo>
                  <a:lnTo>
                    <a:pt x="687" y="91"/>
                  </a:lnTo>
                  <a:lnTo>
                    <a:pt x="475" y="91"/>
                  </a:lnTo>
                  <a:lnTo>
                    <a:pt x="447" y="93"/>
                  </a:lnTo>
                  <a:lnTo>
                    <a:pt x="431" y="93"/>
                  </a:lnTo>
                  <a:lnTo>
                    <a:pt x="421" y="98"/>
                  </a:lnTo>
                  <a:lnTo>
                    <a:pt x="412" y="109"/>
                  </a:lnTo>
                  <a:lnTo>
                    <a:pt x="407" y="121"/>
                  </a:lnTo>
                  <a:lnTo>
                    <a:pt x="405" y="130"/>
                  </a:lnTo>
                  <a:lnTo>
                    <a:pt x="405" y="186"/>
                  </a:lnTo>
                  <a:lnTo>
                    <a:pt x="403" y="249"/>
                  </a:lnTo>
                  <a:lnTo>
                    <a:pt x="403" y="563"/>
                  </a:lnTo>
                  <a:lnTo>
                    <a:pt x="405" y="568"/>
                  </a:lnTo>
                  <a:lnTo>
                    <a:pt x="414" y="573"/>
                  </a:lnTo>
                  <a:lnTo>
                    <a:pt x="459" y="573"/>
                  </a:lnTo>
                  <a:lnTo>
                    <a:pt x="512" y="575"/>
                  </a:lnTo>
                  <a:lnTo>
                    <a:pt x="570" y="575"/>
                  </a:lnTo>
                  <a:lnTo>
                    <a:pt x="628" y="573"/>
                  </a:lnTo>
                  <a:lnTo>
                    <a:pt x="680" y="570"/>
                  </a:lnTo>
                  <a:lnTo>
                    <a:pt x="721" y="568"/>
                  </a:lnTo>
                  <a:lnTo>
                    <a:pt x="745" y="563"/>
                  </a:lnTo>
                  <a:lnTo>
                    <a:pt x="763" y="554"/>
                  </a:lnTo>
                  <a:lnTo>
                    <a:pt x="775" y="542"/>
                  </a:lnTo>
                  <a:lnTo>
                    <a:pt x="784" y="526"/>
                  </a:lnTo>
                  <a:lnTo>
                    <a:pt x="791" y="507"/>
                  </a:lnTo>
                  <a:lnTo>
                    <a:pt x="803" y="470"/>
                  </a:lnTo>
                  <a:lnTo>
                    <a:pt x="812" y="426"/>
                  </a:lnTo>
                  <a:lnTo>
                    <a:pt x="829" y="424"/>
                  </a:lnTo>
                  <a:lnTo>
                    <a:pt x="850" y="424"/>
                  </a:lnTo>
                  <a:lnTo>
                    <a:pt x="868" y="428"/>
                  </a:lnTo>
                  <a:lnTo>
                    <a:pt x="880" y="433"/>
                  </a:lnTo>
                  <a:lnTo>
                    <a:pt x="875" y="470"/>
                  </a:lnTo>
                  <a:lnTo>
                    <a:pt x="870" y="517"/>
                  </a:lnTo>
                  <a:lnTo>
                    <a:pt x="866" y="624"/>
                  </a:lnTo>
                  <a:lnTo>
                    <a:pt x="866" y="694"/>
                  </a:lnTo>
                  <a:lnTo>
                    <a:pt x="868" y="754"/>
                  </a:lnTo>
                  <a:lnTo>
                    <a:pt x="870" y="808"/>
                  </a:lnTo>
                  <a:lnTo>
                    <a:pt x="856" y="812"/>
                  </a:lnTo>
                  <a:lnTo>
                    <a:pt x="836" y="815"/>
                  </a:lnTo>
                  <a:lnTo>
                    <a:pt x="815" y="815"/>
                  </a:lnTo>
                  <a:lnTo>
                    <a:pt x="801" y="808"/>
                  </a:lnTo>
                  <a:lnTo>
                    <a:pt x="798" y="780"/>
                  </a:lnTo>
                  <a:lnTo>
                    <a:pt x="789" y="742"/>
                  </a:lnTo>
                  <a:lnTo>
                    <a:pt x="780" y="710"/>
                  </a:lnTo>
                  <a:lnTo>
                    <a:pt x="770" y="694"/>
                  </a:lnTo>
                  <a:lnTo>
                    <a:pt x="759" y="682"/>
                  </a:lnTo>
                  <a:lnTo>
                    <a:pt x="740" y="673"/>
                  </a:lnTo>
                  <a:lnTo>
                    <a:pt x="717" y="668"/>
                  </a:lnTo>
                  <a:lnTo>
                    <a:pt x="684" y="666"/>
                  </a:lnTo>
                  <a:lnTo>
                    <a:pt x="642" y="663"/>
                  </a:lnTo>
                  <a:lnTo>
                    <a:pt x="596" y="663"/>
                  </a:lnTo>
                  <a:lnTo>
                    <a:pt x="545" y="661"/>
                  </a:lnTo>
                  <a:lnTo>
                    <a:pt x="496" y="661"/>
                  </a:lnTo>
                  <a:lnTo>
                    <a:pt x="452" y="663"/>
                  </a:lnTo>
                  <a:lnTo>
                    <a:pt x="414" y="663"/>
                  </a:lnTo>
                  <a:lnTo>
                    <a:pt x="410" y="666"/>
                  </a:lnTo>
                  <a:lnTo>
                    <a:pt x="407" y="668"/>
                  </a:lnTo>
                  <a:lnTo>
                    <a:pt x="403" y="675"/>
                  </a:lnTo>
                  <a:lnTo>
                    <a:pt x="403" y="912"/>
                  </a:lnTo>
                  <a:lnTo>
                    <a:pt x="405" y="977"/>
                  </a:lnTo>
                  <a:lnTo>
                    <a:pt x="405" y="1036"/>
                  </a:lnTo>
                  <a:lnTo>
                    <a:pt x="407" y="1082"/>
                  </a:lnTo>
                  <a:lnTo>
                    <a:pt x="412" y="1110"/>
                  </a:lnTo>
                  <a:lnTo>
                    <a:pt x="421" y="1133"/>
                  </a:lnTo>
                  <a:lnTo>
                    <a:pt x="438" y="1150"/>
                  </a:lnTo>
                  <a:lnTo>
                    <a:pt x="454" y="1159"/>
                  </a:lnTo>
                  <a:lnTo>
                    <a:pt x="479" y="1164"/>
                  </a:lnTo>
                  <a:lnTo>
                    <a:pt x="517" y="1166"/>
                  </a:lnTo>
                  <a:lnTo>
                    <a:pt x="561" y="1168"/>
                  </a:lnTo>
                  <a:lnTo>
                    <a:pt x="663" y="1173"/>
                  </a:lnTo>
                  <a:lnTo>
                    <a:pt x="752" y="1173"/>
                  </a:lnTo>
                  <a:lnTo>
                    <a:pt x="791" y="1171"/>
                  </a:lnTo>
                  <a:lnTo>
                    <a:pt x="822" y="1164"/>
                  </a:lnTo>
                  <a:lnTo>
                    <a:pt x="847" y="1157"/>
                  </a:lnTo>
                  <a:lnTo>
                    <a:pt x="866" y="1143"/>
                  </a:lnTo>
                  <a:lnTo>
                    <a:pt x="884" y="1126"/>
                  </a:lnTo>
                  <a:lnTo>
                    <a:pt x="903" y="1105"/>
                  </a:lnTo>
                  <a:lnTo>
                    <a:pt x="924" y="1078"/>
                  </a:lnTo>
                  <a:lnTo>
                    <a:pt x="945" y="1045"/>
                  </a:lnTo>
                  <a:lnTo>
                    <a:pt x="987" y="966"/>
                  </a:lnTo>
                  <a:lnTo>
                    <a:pt x="1003" y="929"/>
                  </a:lnTo>
                  <a:lnTo>
                    <a:pt x="1015" y="929"/>
                  </a:lnTo>
                  <a:lnTo>
                    <a:pt x="1033" y="936"/>
                  </a:lnTo>
                  <a:lnTo>
                    <a:pt x="1050" y="943"/>
                  </a:lnTo>
                  <a:lnTo>
                    <a:pt x="1061" y="950"/>
                  </a:lnTo>
                  <a:lnTo>
                    <a:pt x="1054" y="982"/>
                  </a:lnTo>
                  <a:lnTo>
                    <a:pt x="1045" y="1022"/>
                  </a:lnTo>
                  <a:lnTo>
                    <a:pt x="1033" y="1066"/>
                  </a:lnTo>
                  <a:lnTo>
                    <a:pt x="1019" y="1112"/>
                  </a:lnTo>
                  <a:lnTo>
                    <a:pt x="1005" y="1157"/>
                  </a:lnTo>
                  <a:lnTo>
                    <a:pt x="991" y="1196"/>
                  </a:lnTo>
                  <a:lnTo>
                    <a:pt x="978" y="1226"/>
                  </a:lnTo>
                  <a:lnTo>
                    <a:pt x="971" y="1238"/>
                  </a:lnTo>
                  <a:lnTo>
                    <a:pt x="961" y="1245"/>
                  </a:lnTo>
                  <a:lnTo>
                    <a:pt x="947" y="1252"/>
                  </a:lnTo>
                  <a:lnTo>
                    <a:pt x="926" y="1257"/>
                  </a:lnTo>
                  <a:lnTo>
                    <a:pt x="896" y="1259"/>
                  </a:lnTo>
                  <a:lnTo>
                    <a:pt x="752" y="1259"/>
                  </a:lnTo>
                  <a:lnTo>
                    <a:pt x="654" y="1257"/>
                  </a:lnTo>
                  <a:lnTo>
                    <a:pt x="554" y="1252"/>
                  </a:lnTo>
                  <a:lnTo>
                    <a:pt x="445" y="1250"/>
                  </a:lnTo>
                  <a:lnTo>
                    <a:pt x="230" y="1250"/>
                  </a:lnTo>
                  <a:lnTo>
                    <a:pt x="147" y="1254"/>
                  </a:lnTo>
                  <a:lnTo>
                    <a:pt x="72" y="1257"/>
                  </a:lnTo>
                  <a:lnTo>
                    <a:pt x="7" y="1257"/>
                  </a:lnTo>
                  <a:lnTo>
                    <a:pt x="2" y="1245"/>
                  </a:lnTo>
                  <a:lnTo>
                    <a:pt x="0" y="1229"/>
                  </a:lnTo>
                  <a:lnTo>
                    <a:pt x="2" y="1210"/>
                  </a:lnTo>
                  <a:lnTo>
                    <a:pt x="7" y="1199"/>
                  </a:lnTo>
                  <a:lnTo>
                    <a:pt x="51" y="1194"/>
                  </a:lnTo>
                  <a:lnTo>
                    <a:pt x="93" y="1189"/>
                  </a:lnTo>
                  <a:lnTo>
                    <a:pt x="128" y="1185"/>
                  </a:lnTo>
                  <a:lnTo>
                    <a:pt x="158" y="1178"/>
                  </a:lnTo>
                  <a:lnTo>
                    <a:pt x="184" y="1168"/>
                  </a:lnTo>
                  <a:lnTo>
                    <a:pt x="203" y="1154"/>
                  </a:lnTo>
                  <a:lnTo>
                    <a:pt x="214" y="1133"/>
                  </a:lnTo>
                  <a:lnTo>
                    <a:pt x="223" y="1105"/>
                  </a:lnTo>
                  <a:lnTo>
                    <a:pt x="228" y="1068"/>
                  </a:lnTo>
                  <a:lnTo>
                    <a:pt x="228" y="1045"/>
                  </a:lnTo>
                  <a:lnTo>
                    <a:pt x="230" y="1008"/>
                  </a:lnTo>
                  <a:lnTo>
                    <a:pt x="230" y="244"/>
                  </a:lnTo>
                  <a:lnTo>
                    <a:pt x="228" y="205"/>
                  </a:lnTo>
                  <a:lnTo>
                    <a:pt x="228" y="182"/>
                  </a:lnTo>
                  <a:lnTo>
                    <a:pt x="226" y="144"/>
                  </a:lnTo>
                  <a:lnTo>
                    <a:pt x="219" y="116"/>
                  </a:lnTo>
                  <a:lnTo>
                    <a:pt x="209" y="98"/>
                  </a:lnTo>
                  <a:lnTo>
                    <a:pt x="193" y="86"/>
                  </a:lnTo>
                  <a:lnTo>
                    <a:pt x="168" y="77"/>
                  </a:lnTo>
                  <a:lnTo>
                    <a:pt x="140" y="70"/>
                  </a:lnTo>
                  <a:lnTo>
                    <a:pt x="102" y="63"/>
                  </a:lnTo>
                  <a:lnTo>
                    <a:pt x="61" y="58"/>
                  </a:lnTo>
                  <a:lnTo>
                    <a:pt x="56" y="47"/>
                  </a:lnTo>
                  <a:lnTo>
                    <a:pt x="54" y="30"/>
                  </a:lnTo>
                  <a:lnTo>
                    <a:pt x="58" y="12"/>
                  </a:lnTo>
                  <a:lnTo>
                    <a:pt x="63"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09" name="Freeform 25"/>
            <p:cNvSpPr>
              <a:spLocks/>
            </p:cNvSpPr>
            <p:nvPr userDrawn="1"/>
          </p:nvSpPr>
          <p:spPr bwMode="auto">
            <a:xfrm>
              <a:off x="2760" y="3627"/>
              <a:ext cx="256" cy="303"/>
            </a:xfrm>
            <a:custGeom>
              <a:avLst/>
              <a:gdLst/>
              <a:ahLst/>
              <a:cxnLst>
                <a:cxn ang="0">
                  <a:pos x="74" y="0"/>
                </a:cxn>
                <a:cxn ang="0">
                  <a:pos x="165" y="5"/>
                </a:cxn>
                <a:cxn ang="0">
                  <a:pos x="370" y="7"/>
                </a:cxn>
                <a:cxn ang="0">
                  <a:pos x="479" y="3"/>
                </a:cxn>
                <a:cxn ang="0">
                  <a:pos x="547" y="0"/>
                </a:cxn>
                <a:cxn ang="0">
                  <a:pos x="554" y="31"/>
                </a:cxn>
                <a:cxn ang="0">
                  <a:pos x="547" y="59"/>
                </a:cxn>
                <a:cxn ang="0">
                  <a:pos x="486" y="68"/>
                </a:cxn>
                <a:cxn ang="0">
                  <a:pos x="444" y="75"/>
                </a:cxn>
                <a:cxn ang="0">
                  <a:pos x="405" y="98"/>
                </a:cxn>
                <a:cxn ang="0">
                  <a:pos x="391" y="133"/>
                </a:cxn>
                <a:cxn ang="0">
                  <a:pos x="386" y="200"/>
                </a:cxn>
                <a:cxn ang="0">
                  <a:pos x="384" y="331"/>
                </a:cxn>
                <a:cxn ang="0">
                  <a:pos x="381" y="498"/>
                </a:cxn>
                <a:cxn ang="0">
                  <a:pos x="384" y="982"/>
                </a:cxn>
                <a:cxn ang="0">
                  <a:pos x="388" y="1096"/>
                </a:cxn>
                <a:cxn ang="0">
                  <a:pos x="405" y="1136"/>
                </a:cxn>
                <a:cxn ang="0">
                  <a:pos x="428" y="1155"/>
                </a:cxn>
                <a:cxn ang="0">
                  <a:pos x="489" y="1164"/>
                </a:cxn>
                <a:cxn ang="0">
                  <a:pos x="582" y="1169"/>
                </a:cxn>
                <a:cxn ang="0">
                  <a:pos x="763" y="1171"/>
                </a:cxn>
                <a:cxn ang="0">
                  <a:pos x="812" y="1159"/>
                </a:cxn>
                <a:cxn ang="0">
                  <a:pos x="861" y="1124"/>
                </a:cxn>
                <a:cxn ang="0">
                  <a:pos x="907" y="1062"/>
                </a:cxn>
                <a:cxn ang="0">
                  <a:pos x="956" y="973"/>
                </a:cxn>
                <a:cxn ang="0">
                  <a:pos x="1003" y="873"/>
                </a:cxn>
                <a:cxn ang="0">
                  <a:pos x="1035" y="878"/>
                </a:cxn>
                <a:cxn ang="0">
                  <a:pos x="1063" y="896"/>
                </a:cxn>
                <a:cxn ang="0">
                  <a:pos x="1045" y="973"/>
                </a:cxn>
                <a:cxn ang="0">
                  <a:pos x="1019" y="1071"/>
                </a:cxn>
                <a:cxn ang="0">
                  <a:pos x="987" y="1164"/>
                </a:cxn>
                <a:cxn ang="0">
                  <a:pos x="959" y="1231"/>
                </a:cxn>
                <a:cxn ang="0">
                  <a:pos x="935" y="1252"/>
                </a:cxn>
                <a:cxn ang="0">
                  <a:pos x="875" y="1259"/>
                </a:cxn>
                <a:cxn ang="0">
                  <a:pos x="775" y="1257"/>
                </a:cxn>
                <a:cxn ang="0">
                  <a:pos x="644" y="1255"/>
                </a:cxn>
                <a:cxn ang="0">
                  <a:pos x="507" y="1252"/>
                </a:cxn>
                <a:cxn ang="0">
                  <a:pos x="384" y="1250"/>
                </a:cxn>
                <a:cxn ang="0">
                  <a:pos x="251" y="1248"/>
                </a:cxn>
                <a:cxn ang="0">
                  <a:pos x="156" y="1250"/>
                </a:cxn>
                <a:cxn ang="0">
                  <a:pos x="65" y="1252"/>
                </a:cxn>
                <a:cxn ang="0">
                  <a:pos x="7" y="1255"/>
                </a:cxn>
                <a:cxn ang="0">
                  <a:pos x="2" y="1231"/>
                </a:cxn>
                <a:cxn ang="0">
                  <a:pos x="2" y="1204"/>
                </a:cxn>
                <a:cxn ang="0">
                  <a:pos x="49" y="1192"/>
                </a:cxn>
                <a:cxn ang="0">
                  <a:pos x="111" y="1185"/>
                </a:cxn>
                <a:cxn ang="0">
                  <a:pos x="170" y="1166"/>
                </a:cxn>
                <a:cxn ang="0">
                  <a:pos x="198" y="1127"/>
                </a:cxn>
                <a:cxn ang="0">
                  <a:pos x="205" y="1062"/>
                </a:cxn>
                <a:cxn ang="0">
                  <a:pos x="207" y="952"/>
                </a:cxn>
                <a:cxn ang="0">
                  <a:pos x="212" y="787"/>
                </a:cxn>
                <a:cxn ang="0">
                  <a:pos x="209" y="268"/>
                </a:cxn>
                <a:cxn ang="0">
                  <a:pos x="207" y="194"/>
                </a:cxn>
                <a:cxn ang="0">
                  <a:pos x="200" y="119"/>
                </a:cxn>
                <a:cxn ang="0">
                  <a:pos x="170" y="84"/>
                </a:cxn>
                <a:cxn ang="0">
                  <a:pos x="118" y="70"/>
                </a:cxn>
                <a:cxn ang="0">
                  <a:pos x="60" y="61"/>
                </a:cxn>
                <a:cxn ang="0">
                  <a:pos x="28" y="47"/>
                </a:cxn>
                <a:cxn ang="0">
                  <a:pos x="30" y="12"/>
                </a:cxn>
              </a:cxnLst>
              <a:rect l="0" t="0" r="r" b="b"/>
              <a:pathLst>
                <a:path w="1063" h="1259">
                  <a:moveTo>
                    <a:pt x="37" y="0"/>
                  </a:moveTo>
                  <a:lnTo>
                    <a:pt x="74" y="0"/>
                  </a:lnTo>
                  <a:lnTo>
                    <a:pt x="114" y="3"/>
                  </a:lnTo>
                  <a:lnTo>
                    <a:pt x="165" y="5"/>
                  </a:lnTo>
                  <a:lnTo>
                    <a:pt x="223" y="7"/>
                  </a:lnTo>
                  <a:lnTo>
                    <a:pt x="370" y="7"/>
                  </a:lnTo>
                  <a:lnTo>
                    <a:pt x="430" y="5"/>
                  </a:lnTo>
                  <a:lnTo>
                    <a:pt x="479" y="3"/>
                  </a:lnTo>
                  <a:lnTo>
                    <a:pt x="516" y="0"/>
                  </a:lnTo>
                  <a:lnTo>
                    <a:pt x="547" y="0"/>
                  </a:lnTo>
                  <a:lnTo>
                    <a:pt x="551" y="12"/>
                  </a:lnTo>
                  <a:lnTo>
                    <a:pt x="554" y="31"/>
                  </a:lnTo>
                  <a:lnTo>
                    <a:pt x="551" y="47"/>
                  </a:lnTo>
                  <a:lnTo>
                    <a:pt x="547" y="59"/>
                  </a:lnTo>
                  <a:lnTo>
                    <a:pt x="512" y="63"/>
                  </a:lnTo>
                  <a:lnTo>
                    <a:pt x="486" y="68"/>
                  </a:lnTo>
                  <a:lnTo>
                    <a:pt x="463" y="70"/>
                  </a:lnTo>
                  <a:lnTo>
                    <a:pt x="444" y="75"/>
                  </a:lnTo>
                  <a:lnTo>
                    <a:pt x="421" y="84"/>
                  </a:lnTo>
                  <a:lnTo>
                    <a:pt x="405" y="98"/>
                  </a:lnTo>
                  <a:lnTo>
                    <a:pt x="395"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8" y="1155"/>
                  </a:lnTo>
                  <a:lnTo>
                    <a:pt x="454" y="1159"/>
                  </a:lnTo>
                  <a:lnTo>
                    <a:pt x="489" y="1164"/>
                  </a:lnTo>
                  <a:lnTo>
                    <a:pt x="533" y="1166"/>
                  </a:lnTo>
                  <a:lnTo>
                    <a:pt x="582" y="1169"/>
                  </a:lnTo>
                  <a:lnTo>
                    <a:pt x="633" y="1171"/>
                  </a:lnTo>
                  <a:lnTo>
                    <a:pt x="763" y="1171"/>
                  </a:lnTo>
                  <a:lnTo>
                    <a:pt x="789" y="1169"/>
                  </a:lnTo>
                  <a:lnTo>
                    <a:pt x="812" y="1159"/>
                  </a:lnTo>
                  <a:lnTo>
                    <a:pt x="835" y="1148"/>
                  </a:lnTo>
                  <a:lnTo>
                    <a:pt x="861" y="1124"/>
                  </a:lnTo>
                  <a:lnTo>
                    <a:pt x="884" y="1094"/>
                  </a:lnTo>
                  <a:lnTo>
                    <a:pt x="907" y="1062"/>
                  </a:lnTo>
                  <a:lnTo>
                    <a:pt x="931" y="1020"/>
                  </a:lnTo>
                  <a:lnTo>
                    <a:pt x="956" y="973"/>
                  </a:lnTo>
                  <a:lnTo>
                    <a:pt x="980" y="924"/>
                  </a:lnTo>
                  <a:lnTo>
                    <a:pt x="1003" y="873"/>
                  </a:lnTo>
                  <a:lnTo>
                    <a:pt x="1017" y="873"/>
                  </a:lnTo>
                  <a:lnTo>
                    <a:pt x="1035" y="878"/>
                  </a:lnTo>
                  <a:lnTo>
                    <a:pt x="1052" y="887"/>
                  </a:lnTo>
                  <a:lnTo>
                    <a:pt x="1063" y="896"/>
                  </a:lnTo>
                  <a:lnTo>
                    <a:pt x="1056" y="931"/>
                  </a:lnTo>
                  <a:lnTo>
                    <a:pt x="1045" y="973"/>
                  </a:lnTo>
                  <a:lnTo>
                    <a:pt x="1033" y="1020"/>
                  </a:lnTo>
                  <a:lnTo>
                    <a:pt x="1019" y="1071"/>
                  </a:lnTo>
                  <a:lnTo>
                    <a:pt x="1003" y="1120"/>
                  </a:lnTo>
                  <a:lnTo>
                    <a:pt x="987" y="1164"/>
                  </a:lnTo>
                  <a:lnTo>
                    <a:pt x="973" y="1204"/>
                  </a:lnTo>
                  <a:lnTo>
                    <a:pt x="959" y="1231"/>
                  </a:lnTo>
                  <a:lnTo>
                    <a:pt x="949" y="1243"/>
                  </a:lnTo>
                  <a:lnTo>
                    <a:pt x="935" y="1252"/>
                  </a:lnTo>
                  <a:lnTo>
                    <a:pt x="910" y="1257"/>
                  </a:lnTo>
                  <a:lnTo>
                    <a:pt x="875" y="1259"/>
                  </a:lnTo>
                  <a:lnTo>
                    <a:pt x="831" y="1259"/>
                  </a:lnTo>
                  <a:lnTo>
                    <a:pt x="775" y="1257"/>
                  </a:lnTo>
                  <a:lnTo>
                    <a:pt x="712" y="1257"/>
                  </a:lnTo>
                  <a:lnTo>
                    <a:pt x="644" y="1255"/>
                  </a:lnTo>
                  <a:lnTo>
                    <a:pt x="575" y="1255"/>
                  </a:lnTo>
                  <a:lnTo>
                    <a:pt x="507" y="1252"/>
                  </a:lnTo>
                  <a:lnTo>
                    <a:pt x="442" y="1250"/>
                  </a:lnTo>
                  <a:lnTo>
                    <a:pt x="384" y="1250"/>
                  </a:lnTo>
                  <a:lnTo>
                    <a:pt x="333" y="1248"/>
                  </a:lnTo>
                  <a:lnTo>
                    <a:pt x="251" y="1248"/>
                  </a:lnTo>
                  <a:lnTo>
                    <a:pt x="205" y="1250"/>
                  </a:lnTo>
                  <a:lnTo>
                    <a:pt x="156" y="1250"/>
                  </a:lnTo>
                  <a:lnTo>
                    <a:pt x="107" y="1252"/>
                  </a:lnTo>
                  <a:lnTo>
                    <a:pt x="65" y="1252"/>
                  </a:lnTo>
                  <a:lnTo>
                    <a:pt x="30" y="1255"/>
                  </a:lnTo>
                  <a:lnTo>
                    <a:pt x="7" y="1255"/>
                  </a:lnTo>
                  <a:lnTo>
                    <a:pt x="2" y="1245"/>
                  </a:lnTo>
                  <a:lnTo>
                    <a:pt x="2" y="1231"/>
                  </a:lnTo>
                  <a:lnTo>
                    <a:pt x="0" y="1218"/>
                  </a:lnTo>
                  <a:lnTo>
                    <a:pt x="2" y="1204"/>
                  </a:lnTo>
                  <a:lnTo>
                    <a:pt x="7" y="1197"/>
                  </a:lnTo>
                  <a:lnTo>
                    <a:pt x="49" y="1192"/>
                  </a:lnTo>
                  <a:lnTo>
                    <a:pt x="81" y="1187"/>
                  </a:lnTo>
                  <a:lnTo>
                    <a:pt x="111" y="1185"/>
                  </a:lnTo>
                  <a:lnTo>
                    <a:pt x="139" y="1178"/>
                  </a:lnTo>
                  <a:lnTo>
                    <a:pt x="170" y="1166"/>
                  </a:lnTo>
                  <a:lnTo>
                    <a:pt x="188" y="1150"/>
                  </a:lnTo>
                  <a:lnTo>
                    <a:pt x="198" y="1127"/>
                  </a:lnTo>
                  <a:lnTo>
                    <a:pt x="202" y="1094"/>
                  </a:lnTo>
                  <a:lnTo>
                    <a:pt x="205" y="1062"/>
                  </a:lnTo>
                  <a:lnTo>
                    <a:pt x="207" y="1015"/>
                  </a:lnTo>
                  <a:lnTo>
                    <a:pt x="207" y="952"/>
                  </a:lnTo>
                  <a:lnTo>
                    <a:pt x="209" y="875"/>
                  </a:lnTo>
                  <a:lnTo>
                    <a:pt x="212" y="787"/>
                  </a:lnTo>
                  <a:lnTo>
                    <a:pt x="212" y="326"/>
                  </a:lnTo>
                  <a:lnTo>
                    <a:pt x="209" y="268"/>
                  </a:lnTo>
                  <a:lnTo>
                    <a:pt x="209" y="226"/>
                  </a:lnTo>
                  <a:lnTo>
                    <a:pt x="207" y="194"/>
                  </a:lnTo>
                  <a:lnTo>
                    <a:pt x="205" y="149"/>
                  </a:lnTo>
                  <a:lnTo>
                    <a:pt x="200" y="119"/>
                  </a:lnTo>
                  <a:lnTo>
                    <a:pt x="188" y="98"/>
                  </a:lnTo>
                  <a:lnTo>
                    <a:pt x="170" y="84"/>
                  </a:lnTo>
                  <a:lnTo>
                    <a:pt x="142" y="75"/>
                  </a:lnTo>
                  <a:lnTo>
                    <a:pt x="118" y="70"/>
                  </a:lnTo>
                  <a:lnTo>
                    <a:pt x="91" y="66"/>
                  </a:lnTo>
                  <a:lnTo>
                    <a:pt x="60" y="61"/>
                  </a:lnTo>
                  <a:lnTo>
                    <a:pt x="32" y="59"/>
                  </a:lnTo>
                  <a:lnTo>
                    <a:pt x="28" y="47"/>
                  </a:lnTo>
                  <a:lnTo>
                    <a:pt x="28" y="28"/>
                  </a:lnTo>
                  <a:lnTo>
                    <a:pt x="30" y="12"/>
                  </a:lnTo>
                  <a:lnTo>
                    <a:pt x="37"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0" name="Freeform 26"/>
            <p:cNvSpPr>
              <a:spLocks/>
            </p:cNvSpPr>
            <p:nvPr userDrawn="1"/>
          </p:nvSpPr>
          <p:spPr bwMode="auto">
            <a:xfrm>
              <a:off x="3028" y="3627"/>
              <a:ext cx="256" cy="303"/>
            </a:xfrm>
            <a:custGeom>
              <a:avLst/>
              <a:gdLst/>
              <a:ahLst/>
              <a:cxnLst>
                <a:cxn ang="0">
                  <a:pos x="74" y="0"/>
                </a:cxn>
                <a:cxn ang="0">
                  <a:pos x="165" y="5"/>
                </a:cxn>
                <a:cxn ang="0">
                  <a:pos x="370" y="7"/>
                </a:cxn>
                <a:cxn ang="0">
                  <a:pos x="479" y="3"/>
                </a:cxn>
                <a:cxn ang="0">
                  <a:pos x="544" y="0"/>
                </a:cxn>
                <a:cxn ang="0">
                  <a:pos x="553" y="31"/>
                </a:cxn>
                <a:cxn ang="0">
                  <a:pos x="544" y="59"/>
                </a:cxn>
                <a:cxn ang="0">
                  <a:pos x="470" y="70"/>
                </a:cxn>
                <a:cxn ang="0">
                  <a:pos x="418" y="84"/>
                </a:cxn>
                <a:cxn ang="0">
                  <a:pos x="393" y="114"/>
                </a:cxn>
                <a:cxn ang="0">
                  <a:pos x="388" y="156"/>
                </a:cxn>
                <a:cxn ang="0">
                  <a:pos x="386" y="259"/>
                </a:cxn>
                <a:cxn ang="0">
                  <a:pos x="384" y="410"/>
                </a:cxn>
                <a:cxn ang="0">
                  <a:pos x="381" y="906"/>
                </a:cxn>
                <a:cxn ang="0">
                  <a:pos x="386" y="1048"/>
                </a:cxn>
                <a:cxn ang="0">
                  <a:pos x="393" y="1120"/>
                </a:cxn>
                <a:cxn ang="0">
                  <a:pos x="416" y="1148"/>
                </a:cxn>
                <a:cxn ang="0">
                  <a:pos x="451" y="1159"/>
                </a:cxn>
                <a:cxn ang="0">
                  <a:pos x="533" y="1166"/>
                </a:cxn>
                <a:cxn ang="0">
                  <a:pos x="763" y="1171"/>
                </a:cxn>
                <a:cxn ang="0">
                  <a:pos x="823" y="1155"/>
                </a:cxn>
                <a:cxn ang="0">
                  <a:pos x="882" y="1094"/>
                </a:cxn>
                <a:cxn ang="0">
                  <a:pos x="931" y="1020"/>
                </a:cxn>
                <a:cxn ang="0">
                  <a:pos x="979" y="924"/>
                </a:cxn>
                <a:cxn ang="0">
                  <a:pos x="1017" y="873"/>
                </a:cxn>
                <a:cxn ang="0">
                  <a:pos x="1052" y="887"/>
                </a:cxn>
                <a:cxn ang="0">
                  <a:pos x="1054" y="931"/>
                </a:cxn>
                <a:cxn ang="0">
                  <a:pos x="1031" y="1020"/>
                </a:cxn>
                <a:cxn ang="0">
                  <a:pos x="1000" y="1120"/>
                </a:cxn>
                <a:cxn ang="0">
                  <a:pos x="970" y="1204"/>
                </a:cxn>
                <a:cxn ang="0">
                  <a:pos x="949" y="1243"/>
                </a:cxn>
                <a:cxn ang="0">
                  <a:pos x="910" y="1257"/>
                </a:cxn>
                <a:cxn ang="0">
                  <a:pos x="830" y="1259"/>
                </a:cxn>
                <a:cxn ang="0">
                  <a:pos x="712" y="1257"/>
                </a:cxn>
                <a:cxn ang="0">
                  <a:pos x="574" y="1255"/>
                </a:cxn>
                <a:cxn ang="0">
                  <a:pos x="442" y="1250"/>
                </a:cxn>
                <a:cxn ang="0">
                  <a:pos x="332" y="1248"/>
                </a:cxn>
                <a:cxn ang="0">
                  <a:pos x="202" y="1250"/>
                </a:cxn>
                <a:cxn ang="0">
                  <a:pos x="107" y="1252"/>
                </a:cxn>
                <a:cxn ang="0">
                  <a:pos x="30" y="1255"/>
                </a:cxn>
                <a:cxn ang="0">
                  <a:pos x="2" y="1245"/>
                </a:cxn>
                <a:cxn ang="0">
                  <a:pos x="0" y="1218"/>
                </a:cxn>
                <a:cxn ang="0">
                  <a:pos x="7" y="1197"/>
                </a:cxn>
                <a:cxn ang="0">
                  <a:pos x="81" y="1187"/>
                </a:cxn>
                <a:cxn ang="0">
                  <a:pos x="139" y="1178"/>
                </a:cxn>
                <a:cxn ang="0">
                  <a:pos x="186" y="1150"/>
                </a:cxn>
                <a:cxn ang="0">
                  <a:pos x="202" y="1094"/>
                </a:cxn>
                <a:cxn ang="0">
                  <a:pos x="204" y="1015"/>
                </a:cxn>
                <a:cxn ang="0">
                  <a:pos x="207" y="875"/>
                </a:cxn>
                <a:cxn ang="0">
                  <a:pos x="209" y="268"/>
                </a:cxn>
                <a:cxn ang="0">
                  <a:pos x="207" y="194"/>
                </a:cxn>
                <a:cxn ang="0">
                  <a:pos x="197" y="119"/>
                </a:cxn>
                <a:cxn ang="0">
                  <a:pos x="169" y="84"/>
                </a:cxn>
                <a:cxn ang="0">
                  <a:pos x="118" y="70"/>
                </a:cxn>
                <a:cxn ang="0">
                  <a:pos x="60" y="61"/>
                </a:cxn>
                <a:cxn ang="0">
                  <a:pos x="27" y="47"/>
                </a:cxn>
                <a:cxn ang="0">
                  <a:pos x="30" y="12"/>
                </a:cxn>
              </a:cxnLst>
              <a:rect l="0" t="0" r="r" b="b"/>
              <a:pathLst>
                <a:path w="1061" h="1259">
                  <a:moveTo>
                    <a:pt x="37" y="0"/>
                  </a:moveTo>
                  <a:lnTo>
                    <a:pt x="74" y="0"/>
                  </a:lnTo>
                  <a:lnTo>
                    <a:pt x="114" y="3"/>
                  </a:lnTo>
                  <a:lnTo>
                    <a:pt x="165" y="5"/>
                  </a:lnTo>
                  <a:lnTo>
                    <a:pt x="223" y="7"/>
                  </a:lnTo>
                  <a:lnTo>
                    <a:pt x="370" y="7"/>
                  </a:lnTo>
                  <a:lnTo>
                    <a:pt x="430" y="5"/>
                  </a:lnTo>
                  <a:lnTo>
                    <a:pt x="479" y="3"/>
                  </a:lnTo>
                  <a:lnTo>
                    <a:pt x="516" y="0"/>
                  </a:lnTo>
                  <a:lnTo>
                    <a:pt x="544" y="0"/>
                  </a:lnTo>
                  <a:lnTo>
                    <a:pt x="551" y="12"/>
                  </a:lnTo>
                  <a:lnTo>
                    <a:pt x="553" y="31"/>
                  </a:lnTo>
                  <a:lnTo>
                    <a:pt x="551" y="47"/>
                  </a:lnTo>
                  <a:lnTo>
                    <a:pt x="544" y="59"/>
                  </a:lnTo>
                  <a:lnTo>
                    <a:pt x="502" y="63"/>
                  </a:lnTo>
                  <a:lnTo>
                    <a:pt x="470" y="70"/>
                  </a:lnTo>
                  <a:lnTo>
                    <a:pt x="442" y="75"/>
                  </a:lnTo>
                  <a:lnTo>
                    <a:pt x="418" y="84"/>
                  </a:lnTo>
                  <a:lnTo>
                    <a:pt x="402" y="98"/>
                  </a:lnTo>
                  <a:lnTo>
                    <a:pt x="393" y="114"/>
                  </a:lnTo>
                  <a:lnTo>
                    <a:pt x="391" y="133"/>
                  </a:lnTo>
                  <a:lnTo>
                    <a:pt x="388" y="156"/>
                  </a:lnTo>
                  <a:lnTo>
                    <a:pt x="386" y="200"/>
                  </a:lnTo>
                  <a:lnTo>
                    <a:pt x="386" y="259"/>
                  </a:lnTo>
                  <a:lnTo>
                    <a:pt x="384" y="331"/>
                  </a:lnTo>
                  <a:lnTo>
                    <a:pt x="384" y="410"/>
                  </a:lnTo>
                  <a:lnTo>
                    <a:pt x="381" y="498"/>
                  </a:lnTo>
                  <a:lnTo>
                    <a:pt x="381" y="906"/>
                  </a:lnTo>
                  <a:lnTo>
                    <a:pt x="384" y="982"/>
                  </a:lnTo>
                  <a:lnTo>
                    <a:pt x="386" y="1048"/>
                  </a:lnTo>
                  <a:lnTo>
                    <a:pt x="388" y="1096"/>
                  </a:lnTo>
                  <a:lnTo>
                    <a:pt x="393" y="1120"/>
                  </a:lnTo>
                  <a:lnTo>
                    <a:pt x="405" y="1136"/>
                  </a:lnTo>
                  <a:lnTo>
                    <a:pt x="416" y="1148"/>
                  </a:lnTo>
                  <a:lnTo>
                    <a:pt x="425" y="1155"/>
                  </a:lnTo>
                  <a:lnTo>
                    <a:pt x="451" y="1159"/>
                  </a:lnTo>
                  <a:lnTo>
                    <a:pt x="488" y="1164"/>
                  </a:lnTo>
                  <a:lnTo>
                    <a:pt x="533" y="1166"/>
                  </a:lnTo>
                  <a:lnTo>
                    <a:pt x="630" y="1171"/>
                  </a:lnTo>
                  <a:lnTo>
                    <a:pt x="763" y="1171"/>
                  </a:lnTo>
                  <a:lnTo>
                    <a:pt x="793" y="1166"/>
                  </a:lnTo>
                  <a:lnTo>
                    <a:pt x="823" y="1155"/>
                  </a:lnTo>
                  <a:lnTo>
                    <a:pt x="851" y="1131"/>
                  </a:lnTo>
                  <a:lnTo>
                    <a:pt x="882" y="1094"/>
                  </a:lnTo>
                  <a:lnTo>
                    <a:pt x="905" y="1062"/>
                  </a:lnTo>
                  <a:lnTo>
                    <a:pt x="931" y="1020"/>
                  </a:lnTo>
                  <a:lnTo>
                    <a:pt x="956" y="973"/>
                  </a:lnTo>
                  <a:lnTo>
                    <a:pt x="979" y="924"/>
                  </a:lnTo>
                  <a:lnTo>
                    <a:pt x="1000" y="873"/>
                  </a:lnTo>
                  <a:lnTo>
                    <a:pt x="1017" y="873"/>
                  </a:lnTo>
                  <a:lnTo>
                    <a:pt x="1035" y="878"/>
                  </a:lnTo>
                  <a:lnTo>
                    <a:pt x="1052" y="887"/>
                  </a:lnTo>
                  <a:lnTo>
                    <a:pt x="1061" y="896"/>
                  </a:lnTo>
                  <a:lnTo>
                    <a:pt x="1054" y="931"/>
                  </a:lnTo>
                  <a:lnTo>
                    <a:pt x="1045" y="973"/>
                  </a:lnTo>
                  <a:lnTo>
                    <a:pt x="1031" y="1020"/>
                  </a:lnTo>
                  <a:lnTo>
                    <a:pt x="1017" y="1071"/>
                  </a:lnTo>
                  <a:lnTo>
                    <a:pt x="1000" y="1120"/>
                  </a:lnTo>
                  <a:lnTo>
                    <a:pt x="986" y="1164"/>
                  </a:lnTo>
                  <a:lnTo>
                    <a:pt x="970" y="1204"/>
                  </a:lnTo>
                  <a:lnTo>
                    <a:pt x="956" y="1231"/>
                  </a:lnTo>
                  <a:lnTo>
                    <a:pt x="949" y="1243"/>
                  </a:lnTo>
                  <a:lnTo>
                    <a:pt x="933" y="1252"/>
                  </a:lnTo>
                  <a:lnTo>
                    <a:pt x="910" y="1257"/>
                  </a:lnTo>
                  <a:lnTo>
                    <a:pt x="875" y="1259"/>
                  </a:lnTo>
                  <a:lnTo>
                    <a:pt x="830" y="1259"/>
                  </a:lnTo>
                  <a:lnTo>
                    <a:pt x="775" y="1257"/>
                  </a:lnTo>
                  <a:lnTo>
                    <a:pt x="712" y="1257"/>
                  </a:lnTo>
                  <a:lnTo>
                    <a:pt x="644" y="1255"/>
                  </a:lnTo>
                  <a:lnTo>
                    <a:pt x="574" y="1255"/>
                  </a:lnTo>
                  <a:lnTo>
                    <a:pt x="507" y="1252"/>
                  </a:lnTo>
                  <a:lnTo>
                    <a:pt x="442" y="1250"/>
                  </a:lnTo>
                  <a:lnTo>
                    <a:pt x="381" y="1250"/>
                  </a:lnTo>
                  <a:lnTo>
                    <a:pt x="332" y="1248"/>
                  </a:lnTo>
                  <a:lnTo>
                    <a:pt x="251" y="1248"/>
                  </a:lnTo>
                  <a:lnTo>
                    <a:pt x="202" y="1250"/>
                  </a:lnTo>
                  <a:lnTo>
                    <a:pt x="153" y="1250"/>
                  </a:lnTo>
                  <a:lnTo>
                    <a:pt x="107" y="1252"/>
                  </a:lnTo>
                  <a:lnTo>
                    <a:pt x="65" y="1252"/>
                  </a:lnTo>
                  <a:lnTo>
                    <a:pt x="30" y="1255"/>
                  </a:lnTo>
                  <a:lnTo>
                    <a:pt x="7" y="1255"/>
                  </a:lnTo>
                  <a:lnTo>
                    <a:pt x="2" y="1245"/>
                  </a:lnTo>
                  <a:lnTo>
                    <a:pt x="0" y="1231"/>
                  </a:lnTo>
                  <a:lnTo>
                    <a:pt x="0" y="1218"/>
                  </a:lnTo>
                  <a:lnTo>
                    <a:pt x="2" y="1204"/>
                  </a:lnTo>
                  <a:lnTo>
                    <a:pt x="7" y="1197"/>
                  </a:lnTo>
                  <a:lnTo>
                    <a:pt x="48" y="1192"/>
                  </a:lnTo>
                  <a:lnTo>
                    <a:pt x="81" y="1187"/>
                  </a:lnTo>
                  <a:lnTo>
                    <a:pt x="111" y="1185"/>
                  </a:lnTo>
                  <a:lnTo>
                    <a:pt x="139" y="1178"/>
                  </a:lnTo>
                  <a:lnTo>
                    <a:pt x="167" y="1166"/>
                  </a:lnTo>
                  <a:lnTo>
                    <a:pt x="186" y="1150"/>
                  </a:lnTo>
                  <a:lnTo>
                    <a:pt x="197" y="1127"/>
                  </a:lnTo>
                  <a:lnTo>
                    <a:pt x="202" y="1094"/>
                  </a:lnTo>
                  <a:lnTo>
                    <a:pt x="204" y="1062"/>
                  </a:lnTo>
                  <a:lnTo>
                    <a:pt x="204" y="1015"/>
                  </a:lnTo>
                  <a:lnTo>
                    <a:pt x="207" y="952"/>
                  </a:lnTo>
                  <a:lnTo>
                    <a:pt x="207" y="875"/>
                  </a:lnTo>
                  <a:lnTo>
                    <a:pt x="209" y="787"/>
                  </a:lnTo>
                  <a:lnTo>
                    <a:pt x="209" y="268"/>
                  </a:lnTo>
                  <a:lnTo>
                    <a:pt x="207" y="226"/>
                  </a:lnTo>
                  <a:lnTo>
                    <a:pt x="207" y="194"/>
                  </a:lnTo>
                  <a:lnTo>
                    <a:pt x="204" y="149"/>
                  </a:lnTo>
                  <a:lnTo>
                    <a:pt x="197" y="119"/>
                  </a:lnTo>
                  <a:lnTo>
                    <a:pt x="188" y="98"/>
                  </a:lnTo>
                  <a:lnTo>
                    <a:pt x="169" y="84"/>
                  </a:lnTo>
                  <a:lnTo>
                    <a:pt x="142" y="75"/>
                  </a:lnTo>
                  <a:lnTo>
                    <a:pt x="118" y="70"/>
                  </a:lnTo>
                  <a:lnTo>
                    <a:pt x="90" y="66"/>
                  </a:lnTo>
                  <a:lnTo>
                    <a:pt x="60" y="61"/>
                  </a:lnTo>
                  <a:lnTo>
                    <a:pt x="30" y="59"/>
                  </a:lnTo>
                  <a:lnTo>
                    <a:pt x="27" y="47"/>
                  </a:lnTo>
                  <a:lnTo>
                    <a:pt x="27" y="28"/>
                  </a:lnTo>
                  <a:lnTo>
                    <a:pt x="30" y="12"/>
                  </a:lnTo>
                  <a:lnTo>
                    <a:pt x="37"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1" name="Freeform 27"/>
            <p:cNvSpPr>
              <a:spLocks noEditPoints="1"/>
            </p:cNvSpPr>
            <p:nvPr userDrawn="1"/>
          </p:nvSpPr>
          <p:spPr bwMode="auto">
            <a:xfrm>
              <a:off x="3300" y="3620"/>
              <a:ext cx="309" cy="316"/>
            </a:xfrm>
            <a:custGeom>
              <a:avLst/>
              <a:gdLst/>
              <a:ahLst/>
              <a:cxnLst>
                <a:cxn ang="0">
                  <a:pos x="528" y="86"/>
                </a:cxn>
                <a:cxn ang="0">
                  <a:pos x="414" y="126"/>
                </a:cxn>
                <a:cxn ang="0">
                  <a:pos x="318" y="207"/>
                </a:cxn>
                <a:cxn ang="0">
                  <a:pos x="251" y="319"/>
                </a:cxn>
                <a:cxn ang="0">
                  <a:pos x="211" y="452"/>
                </a:cxn>
                <a:cxn ang="0">
                  <a:pos x="197" y="601"/>
                </a:cxn>
                <a:cxn ang="0">
                  <a:pos x="209" y="742"/>
                </a:cxn>
                <a:cxn ang="0">
                  <a:pos x="246" y="882"/>
                </a:cxn>
                <a:cxn ang="0">
                  <a:pos x="309" y="1008"/>
                </a:cxn>
                <a:cxn ang="0">
                  <a:pos x="398" y="1115"/>
                </a:cxn>
                <a:cxn ang="0">
                  <a:pos x="509" y="1187"/>
                </a:cxn>
                <a:cxn ang="0">
                  <a:pos x="635" y="1222"/>
                </a:cxn>
                <a:cxn ang="0">
                  <a:pos x="768" y="1222"/>
                </a:cxn>
                <a:cxn ang="0">
                  <a:pos x="879" y="1185"/>
                </a:cxn>
                <a:cxn ang="0">
                  <a:pos x="972" y="1108"/>
                </a:cxn>
                <a:cxn ang="0">
                  <a:pos x="1042" y="992"/>
                </a:cxn>
                <a:cxn ang="0">
                  <a:pos x="1080" y="854"/>
                </a:cxn>
                <a:cxn ang="0">
                  <a:pos x="1091" y="701"/>
                </a:cxn>
                <a:cxn ang="0">
                  <a:pos x="1077" y="540"/>
                </a:cxn>
                <a:cxn ang="0">
                  <a:pos x="1035" y="391"/>
                </a:cxn>
                <a:cxn ang="0">
                  <a:pos x="963" y="263"/>
                </a:cxn>
                <a:cxn ang="0">
                  <a:pos x="861" y="163"/>
                </a:cxn>
                <a:cxn ang="0">
                  <a:pos x="740" y="102"/>
                </a:cxn>
                <a:cxn ang="0">
                  <a:pos x="595" y="82"/>
                </a:cxn>
                <a:cxn ang="0">
                  <a:pos x="754" y="5"/>
                </a:cxn>
                <a:cxn ang="0">
                  <a:pos x="917" y="44"/>
                </a:cxn>
                <a:cxn ang="0">
                  <a:pos x="1049" y="119"/>
                </a:cxn>
                <a:cxn ang="0">
                  <a:pos x="1152" y="219"/>
                </a:cxn>
                <a:cxn ang="0">
                  <a:pos x="1226" y="342"/>
                </a:cxn>
                <a:cxn ang="0">
                  <a:pos x="1270" y="482"/>
                </a:cxn>
                <a:cxn ang="0">
                  <a:pos x="1284" y="631"/>
                </a:cxn>
                <a:cxn ang="0">
                  <a:pos x="1270" y="794"/>
                </a:cxn>
                <a:cxn ang="0">
                  <a:pos x="1228" y="929"/>
                </a:cxn>
                <a:cxn ang="0">
                  <a:pos x="1161" y="1050"/>
                </a:cxn>
                <a:cxn ang="0">
                  <a:pos x="1054" y="1164"/>
                </a:cxn>
                <a:cxn ang="0">
                  <a:pos x="924" y="1248"/>
                </a:cxn>
                <a:cxn ang="0">
                  <a:pos x="782" y="1299"/>
                </a:cxn>
                <a:cxn ang="0">
                  <a:pos x="630" y="1315"/>
                </a:cxn>
                <a:cxn ang="0">
                  <a:pos x="449" y="1292"/>
                </a:cxn>
                <a:cxn ang="0">
                  <a:pos x="295" y="1229"/>
                </a:cxn>
                <a:cxn ang="0">
                  <a:pos x="174" y="1131"/>
                </a:cxn>
                <a:cxn ang="0">
                  <a:pos x="74" y="987"/>
                </a:cxn>
                <a:cxn ang="0">
                  <a:pos x="18" y="824"/>
                </a:cxn>
                <a:cxn ang="0">
                  <a:pos x="0" y="647"/>
                </a:cxn>
                <a:cxn ang="0">
                  <a:pos x="21" y="477"/>
                </a:cxn>
                <a:cxn ang="0">
                  <a:pos x="81" y="326"/>
                </a:cxn>
                <a:cxn ang="0">
                  <a:pos x="172" y="203"/>
                </a:cxn>
                <a:cxn ang="0">
                  <a:pos x="291" y="109"/>
                </a:cxn>
                <a:cxn ang="0">
                  <a:pos x="430" y="42"/>
                </a:cxn>
                <a:cxn ang="0">
                  <a:pos x="584" y="5"/>
                </a:cxn>
              </a:cxnLst>
              <a:rect l="0" t="0" r="r" b="b"/>
              <a:pathLst>
                <a:path w="1284" h="1315">
                  <a:moveTo>
                    <a:pt x="595" y="82"/>
                  </a:moveTo>
                  <a:lnTo>
                    <a:pt x="528" y="86"/>
                  </a:lnTo>
                  <a:lnTo>
                    <a:pt x="467" y="102"/>
                  </a:lnTo>
                  <a:lnTo>
                    <a:pt x="414" y="126"/>
                  </a:lnTo>
                  <a:lnTo>
                    <a:pt x="363" y="163"/>
                  </a:lnTo>
                  <a:lnTo>
                    <a:pt x="318" y="207"/>
                  </a:lnTo>
                  <a:lnTo>
                    <a:pt x="281" y="258"/>
                  </a:lnTo>
                  <a:lnTo>
                    <a:pt x="251" y="319"/>
                  </a:lnTo>
                  <a:lnTo>
                    <a:pt x="228" y="382"/>
                  </a:lnTo>
                  <a:lnTo>
                    <a:pt x="211" y="452"/>
                  </a:lnTo>
                  <a:lnTo>
                    <a:pt x="200" y="524"/>
                  </a:lnTo>
                  <a:lnTo>
                    <a:pt x="197" y="601"/>
                  </a:lnTo>
                  <a:lnTo>
                    <a:pt x="200" y="673"/>
                  </a:lnTo>
                  <a:lnTo>
                    <a:pt x="209" y="742"/>
                  </a:lnTo>
                  <a:lnTo>
                    <a:pt x="225" y="815"/>
                  </a:lnTo>
                  <a:lnTo>
                    <a:pt x="246" y="882"/>
                  </a:lnTo>
                  <a:lnTo>
                    <a:pt x="274" y="947"/>
                  </a:lnTo>
                  <a:lnTo>
                    <a:pt x="309" y="1008"/>
                  </a:lnTo>
                  <a:lnTo>
                    <a:pt x="349" y="1066"/>
                  </a:lnTo>
                  <a:lnTo>
                    <a:pt x="398" y="1115"/>
                  </a:lnTo>
                  <a:lnTo>
                    <a:pt x="453" y="1157"/>
                  </a:lnTo>
                  <a:lnTo>
                    <a:pt x="509" y="1187"/>
                  </a:lnTo>
                  <a:lnTo>
                    <a:pt x="570" y="1208"/>
                  </a:lnTo>
                  <a:lnTo>
                    <a:pt x="635" y="1222"/>
                  </a:lnTo>
                  <a:lnTo>
                    <a:pt x="707" y="1227"/>
                  </a:lnTo>
                  <a:lnTo>
                    <a:pt x="768" y="1222"/>
                  </a:lnTo>
                  <a:lnTo>
                    <a:pt x="826" y="1208"/>
                  </a:lnTo>
                  <a:lnTo>
                    <a:pt x="879" y="1185"/>
                  </a:lnTo>
                  <a:lnTo>
                    <a:pt x="924" y="1154"/>
                  </a:lnTo>
                  <a:lnTo>
                    <a:pt x="972" y="1108"/>
                  </a:lnTo>
                  <a:lnTo>
                    <a:pt x="1010" y="1054"/>
                  </a:lnTo>
                  <a:lnTo>
                    <a:pt x="1042" y="992"/>
                  </a:lnTo>
                  <a:lnTo>
                    <a:pt x="1063" y="926"/>
                  </a:lnTo>
                  <a:lnTo>
                    <a:pt x="1080" y="854"/>
                  </a:lnTo>
                  <a:lnTo>
                    <a:pt x="1089" y="780"/>
                  </a:lnTo>
                  <a:lnTo>
                    <a:pt x="1091" y="701"/>
                  </a:lnTo>
                  <a:lnTo>
                    <a:pt x="1089" y="619"/>
                  </a:lnTo>
                  <a:lnTo>
                    <a:pt x="1077" y="540"/>
                  </a:lnTo>
                  <a:lnTo>
                    <a:pt x="1061" y="463"/>
                  </a:lnTo>
                  <a:lnTo>
                    <a:pt x="1035" y="391"/>
                  </a:lnTo>
                  <a:lnTo>
                    <a:pt x="1003" y="324"/>
                  </a:lnTo>
                  <a:lnTo>
                    <a:pt x="963" y="263"/>
                  </a:lnTo>
                  <a:lnTo>
                    <a:pt x="917" y="210"/>
                  </a:lnTo>
                  <a:lnTo>
                    <a:pt x="861" y="163"/>
                  </a:lnTo>
                  <a:lnTo>
                    <a:pt x="803" y="128"/>
                  </a:lnTo>
                  <a:lnTo>
                    <a:pt x="740" y="102"/>
                  </a:lnTo>
                  <a:lnTo>
                    <a:pt x="670" y="86"/>
                  </a:lnTo>
                  <a:lnTo>
                    <a:pt x="595" y="82"/>
                  </a:lnTo>
                  <a:close/>
                  <a:moveTo>
                    <a:pt x="663" y="0"/>
                  </a:moveTo>
                  <a:lnTo>
                    <a:pt x="754" y="5"/>
                  </a:lnTo>
                  <a:lnTo>
                    <a:pt x="840" y="21"/>
                  </a:lnTo>
                  <a:lnTo>
                    <a:pt x="917" y="44"/>
                  </a:lnTo>
                  <a:lnTo>
                    <a:pt x="986" y="77"/>
                  </a:lnTo>
                  <a:lnTo>
                    <a:pt x="1049" y="119"/>
                  </a:lnTo>
                  <a:lnTo>
                    <a:pt x="1105" y="165"/>
                  </a:lnTo>
                  <a:lnTo>
                    <a:pt x="1152" y="219"/>
                  </a:lnTo>
                  <a:lnTo>
                    <a:pt x="1194" y="279"/>
                  </a:lnTo>
                  <a:lnTo>
                    <a:pt x="1226" y="342"/>
                  </a:lnTo>
                  <a:lnTo>
                    <a:pt x="1252" y="412"/>
                  </a:lnTo>
                  <a:lnTo>
                    <a:pt x="1270" y="482"/>
                  </a:lnTo>
                  <a:lnTo>
                    <a:pt x="1280" y="556"/>
                  </a:lnTo>
                  <a:lnTo>
                    <a:pt x="1284" y="631"/>
                  </a:lnTo>
                  <a:lnTo>
                    <a:pt x="1282" y="715"/>
                  </a:lnTo>
                  <a:lnTo>
                    <a:pt x="1270" y="794"/>
                  </a:lnTo>
                  <a:lnTo>
                    <a:pt x="1254" y="864"/>
                  </a:lnTo>
                  <a:lnTo>
                    <a:pt x="1228" y="929"/>
                  </a:lnTo>
                  <a:lnTo>
                    <a:pt x="1198" y="992"/>
                  </a:lnTo>
                  <a:lnTo>
                    <a:pt x="1161" y="1050"/>
                  </a:lnTo>
                  <a:lnTo>
                    <a:pt x="1110" y="1110"/>
                  </a:lnTo>
                  <a:lnTo>
                    <a:pt x="1054" y="1164"/>
                  </a:lnTo>
                  <a:lnTo>
                    <a:pt x="991" y="1210"/>
                  </a:lnTo>
                  <a:lnTo>
                    <a:pt x="924" y="1248"/>
                  </a:lnTo>
                  <a:lnTo>
                    <a:pt x="854" y="1278"/>
                  </a:lnTo>
                  <a:lnTo>
                    <a:pt x="782" y="1299"/>
                  </a:lnTo>
                  <a:lnTo>
                    <a:pt x="707" y="1310"/>
                  </a:lnTo>
                  <a:lnTo>
                    <a:pt x="630" y="1315"/>
                  </a:lnTo>
                  <a:lnTo>
                    <a:pt x="537" y="1310"/>
                  </a:lnTo>
                  <a:lnTo>
                    <a:pt x="449" y="1292"/>
                  </a:lnTo>
                  <a:lnTo>
                    <a:pt x="370" y="1266"/>
                  </a:lnTo>
                  <a:lnTo>
                    <a:pt x="295" y="1229"/>
                  </a:lnTo>
                  <a:lnTo>
                    <a:pt x="230" y="1185"/>
                  </a:lnTo>
                  <a:lnTo>
                    <a:pt x="174" y="1131"/>
                  </a:lnTo>
                  <a:lnTo>
                    <a:pt x="118" y="1061"/>
                  </a:lnTo>
                  <a:lnTo>
                    <a:pt x="74" y="987"/>
                  </a:lnTo>
                  <a:lnTo>
                    <a:pt x="42" y="908"/>
                  </a:lnTo>
                  <a:lnTo>
                    <a:pt x="18" y="824"/>
                  </a:lnTo>
                  <a:lnTo>
                    <a:pt x="4" y="738"/>
                  </a:lnTo>
                  <a:lnTo>
                    <a:pt x="0" y="647"/>
                  </a:lnTo>
                  <a:lnTo>
                    <a:pt x="4" y="561"/>
                  </a:lnTo>
                  <a:lnTo>
                    <a:pt x="21" y="477"/>
                  </a:lnTo>
                  <a:lnTo>
                    <a:pt x="46" y="398"/>
                  </a:lnTo>
                  <a:lnTo>
                    <a:pt x="81" y="326"/>
                  </a:lnTo>
                  <a:lnTo>
                    <a:pt x="125" y="256"/>
                  </a:lnTo>
                  <a:lnTo>
                    <a:pt x="172" y="203"/>
                  </a:lnTo>
                  <a:lnTo>
                    <a:pt x="228" y="151"/>
                  </a:lnTo>
                  <a:lnTo>
                    <a:pt x="291" y="109"/>
                  </a:lnTo>
                  <a:lnTo>
                    <a:pt x="358" y="72"/>
                  </a:lnTo>
                  <a:lnTo>
                    <a:pt x="430" y="42"/>
                  </a:lnTo>
                  <a:lnTo>
                    <a:pt x="507" y="19"/>
                  </a:lnTo>
                  <a:lnTo>
                    <a:pt x="584" y="5"/>
                  </a:lnTo>
                  <a:lnTo>
                    <a:pt x="663"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2" name="Freeform 28"/>
            <p:cNvSpPr>
              <a:spLocks/>
            </p:cNvSpPr>
            <p:nvPr userDrawn="1"/>
          </p:nvSpPr>
          <p:spPr bwMode="auto">
            <a:xfrm>
              <a:off x="2180" y="2093"/>
              <a:ext cx="1418" cy="1416"/>
            </a:xfrm>
            <a:custGeom>
              <a:avLst/>
              <a:gdLst/>
              <a:ahLst/>
              <a:cxnLst>
                <a:cxn ang="0">
                  <a:pos x="228" y="0"/>
                </a:cxn>
                <a:cxn ang="0">
                  <a:pos x="5665" y="0"/>
                </a:cxn>
                <a:cxn ang="0">
                  <a:pos x="5716" y="7"/>
                </a:cxn>
                <a:cxn ang="0">
                  <a:pos x="5765" y="23"/>
                </a:cxn>
                <a:cxn ang="0">
                  <a:pos x="5807" y="51"/>
                </a:cxn>
                <a:cxn ang="0">
                  <a:pos x="5842" y="86"/>
                </a:cxn>
                <a:cxn ang="0">
                  <a:pos x="5870" y="128"/>
                </a:cxn>
                <a:cxn ang="0">
                  <a:pos x="5886" y="177"/>
                </a:cxn>
                <a:cxn ang="0">
                  <a:pos x="5893" y="228"/>
                </a:cxn>
                <a:cxn ang="0">
                  <a:pos x="5893" y="5662"/>
                </a:cxn>
                <a:cxn ang="0">
                  <a:pos x="5886" y="5716"/>
                </a:cxn>
                <a:cxn ang="0">
                  <a:pos x="5870" y="5765"/>
                </a:cxn>
                <a:cxn ang="0">
                  <a:pos x="5842" y="5807"/>
                </a:cxn>
                <a:cxn ang="0">
                  <a:pos x="5807" y="5841"/>
                </a:cxn>
                <a:cxn ang="0">
                  <a:pos x="5765" y="5869"/>
                </a:cxn>
                <a:cxn ang="0">
                  <a:pos x="5716" y="5886"/>
                </a:cxn>
                <a:cxn ang="0">
                  <a:pos x="5665" y="5893"/>
                </a:cxn>
                <a:cxn ang="0">
                  <a:pos x="228" y="5893"/>
                </a:cxn>
                <a:cxn ang="0">
                  <a:pos x="177" y="5886"/>
                </a:cxn>
                <a:cxn ang="0">
                  <a:pos x="128" y="5869"/>
                </a:cxn>
                <a:cxn ang="0">
                  <a:pos x="86" y="5841"/>
                </a:cxn>
                <a:cxn ang="0">
                  <a:pos x="52" y="5807"/>
                </a:cxn>
                <a:cxn ang="0">
                  <a:pos x="24" y="5765"/>
                </a:cxn>
                <a:cxn ang="0">
                  <a:pos x="7" y="5716"/>
                </a:cxn>
                <a:cxn ang="0">
                  <a:pos x="0" y="5662"/>
                </a:cxn>
                <a:cxn ang="0">
                  <a:pos x="0" y="228"/>
                </a:cxn>
                <a:cxn ang="0">
                  <a:pos x="7" y="177"/>
                </a:cxn>
                <a:cxn ang="0">
                  <a:pos x="24" y="128"/>
                </a:cxn>
                <a:cxn ang="0">
                  <a:pos x="52" y="86"/>
                </a:cxn>
                <a:cxn ang="0">
                  <a:pos x="86" y="51"/>
                </a:cxn>
                <a:cxn ang="0">
                  <a:pos x="128" y="23"/>
                </a:cxn>
                <a:cxn ang="0">
                  <a:pos x="177" y="7"/>
                </a:cxn>
                <a:cxn ang="0">
                  <a:pos x="228" y="0"/>
                </a:cxn>
              </a:cxnLst>
              <a:rect l="0" t="0" r="r" b="b"/>
              <a:pathLst>
                <a:path w="5893" h="5893">
                  <a:moveTo>
                    <a:pt x="228" y="0"/>
                  </a:moveTo>
                  <a:lnTo>
                    <a:pt x="5665" y="0"/>
                  </a:lnTo>
                  <a:lnTo>
                    <a:pt x="5716" y="7"/>
                  </a:lnTo>
                  <a:lnTo>
                    <a:pt x="5765" y="23"/>
                  </a:lnTo>
                  <a:lnTo>
                    <a:pt x="5807" y="51"/>
                  </a:lnTo>
                  <a:lnTo>
                    <a:pt x="5842" y="86"/>
                  </a:lnTo>
                  <a:lnTo>
                    <a:pt x="5870" y="128"/>
                  </a:lnTo>
                  <a:lnTo>
                    <a:pt x="5886" y="177"/>
                  </a:lnTo>
                  <a:lnTo>
                    <a:pt x="5893" y="228"/>
                  </a:lnTo>
                  <a:lnTo>
                    <a:pt x="5893" y="5662"/>
                  </a:lnTo>
                  <a:lnTo>
                    <a:pt x="5886" y="5716"/>
                  </a:lnTo>
                  <a:lnTo>
                    <a:pt x="5870" y="5765"/>
                  </a:lnTo>
                  <a:lnTo>
                    <a:pt x="5842" y="5807"/>
                  </a:lnTo>
                  <a:lnTo>
                    <a:pt x="5807" y="5841"/>
                  </a:lnTo>
                  <a:lnTo>
                    <a:pt x="5765" y="5869"/>
                  </a:lnTo>
                  <a:lnTo>
                    <a:pt x="5716" y="5886"/>
                  </a:lnTo>
                  <a:lnTo>
                    <a:pt x="5665" y="5893"/>
                  </a:lnTo>
                  <a:lnTo>
                    <a:pt x="228" y="5893"/>
                  </a:lnTo>
                  <a:lnTo>
                    <a:pt x="177" y="5886"/>
                  </a:lnTo>
                  <a:lnTo>
                    <a:pt x="128" y="5869"/>
                  </a:lnTo>
                  <a:lnTo>
                    <a:pt x="86" y="5841"/>
                  </a:lnTo>
                  <a:lnTo>
                    <a:pt x="52" y="5807"/>
                  </a:lnTo>
                  <a:lnTo>
                    <a:pt x="24" y="5765"/>
                  </a:lnTo>
                  <a:lnTo>
                    <a:pt x="7" y="5716"/>
                  </a:lnTo>
                  <a:lnTo>
                    <a:pt x="0" y="5662"/>
                  </a:lnTo>
                  <a:lnTo>
                    <a:pt x="0" y="228"/>
                  </a:lnTo>
                  <a:lnTo>
                    <a:pt x="7" y="177"/>
                  </a:lnTo>
                  <a:lnTo>
                    <a:pt x="24" y="128"/>
                  </a:lnTo>
                  <a:lnTo>
                    <a:pt x="52" y="86"/>
                  </a:lnTo>
                  <a:lnTo>
                    <a:pt x="86" y="51"/>
                  </a:lnTo>
                  <a:lnTo>
                    <a:pt x="128" y="23"/>
                  </a:lnTo>
                  <a:lnTo>
                    <a:pt x="177" y="7"/>
                  </a:lnTo>
                  <a:lnTo>
                    <a:pt x="228" y="0"/>
                  </a:lnTo>
                  <a:close/>
                </a:path>
              </a:pathLst>
            </a:custGeom>
            <a:solidFill>
              <a:srgbClr val="FFFFFF"/>
            </a:solidFill>
            <a:ln w="0">
              <a:solidFill>
                <a:srgbClr val="FFFFFF"/>
              </a:solid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3" name="Freeform 29"/>
            <p:cNvSpPr>
              <a:spLocks noEditPoints="1"/>
            </p:cNvSpPr>
            <p:nvPr userDrawn="1"/>
          </p:nvSpPr>
          <p:spPr bwMode="auto">
            <a:xfrm>
              <a:off x="2173" y="2091"/>
              <a:ext cx="1421" cy="1421"/>
            </a:xfrm>
            <a:custGeom>
              <a:avLst/>
              <a:gdLst/>
              <a:ahLst/>
              <a:cxnLst>
                <a:cxn ang="0">
                  <a:pos x="191" y="23"/>
                </a:cxn>
                <a:cxn ang="0">
                  <a:pos x="116" y="56"/>
                </a:cxn>
                <a:cxn ang="0">
                  <a:pos x="56" y="116"/>
                </a:cxn>
                <a:cxn ang="0">
                  <a:pos x="23" y="190"/>
                </a:cxn>
                <a:cxn ang="0">
                  <a:pos x="19" y="5671"/>
                </a:cxn>
                <a:cxn ang="0">
                  <a:pos x="35" y="5755"/>
                </a:cxn>
                <a:cxn ang="0">
                  <a:pos x="84" y="5827"/>
                </a:cxn>
                <a:cxn ang="0">
                  <a:pos x="156" y="5876"/>
                </a:cxn>
                <a:cxn ang="0">
                  <a:pos x="214" y="5892"/>
                </a:cxn>
                <a:cxn ang="0">
                  <a:pos x="5721" y="5888"/>
                </a:cxn>
                <a:cxn ang="0">
                  <a:pos x="5795" y="5855"/>
                </a:cxn>
                <a:cxn ang="0">
                  <a:pos x="5856" y="5795"/>
                </a:cxn>
                <a:cxn ang="0">
                  <a:pos x="5888" y="5718"/>
                </a:cxn>
                <a:cxn ang="0">
                  <a:pos x="5893" y="214"/>
                </a:cxn>
                <a:cxn ang="0">
                  <a:pos x="5877" y="156"/>
                </a:cxn>
                <a:cxn ang="0">
                  <a:pos x="5828" y="83"/>
                </a:cxn>
                <a:cxn ang="0">
                  <a:pos x="5756" y="35"/>
                </a:cxn>
                <a:cxn ang="0">
                  <a:pos x="5674" y="18"/>
                </a:cxn>
                <a:cxn ang="0">
                  <a:pos x="237" y="0"/>
                </a:cxn>
                <a:cxn ang="0">
                  <a:pos x="5721" y="4"/>
                </a:cxn>
                <a:cxn ang="0">
                  <a:pos x="5809" y="42"/>
                </a:cxn>
                <a:cxn ang="0">
                  <a:pos x="5870" y="102"/>
                </a:cxn>
                <a:cxn ang="0">
                  <a:pos x="5907" y="190"/>
                </a:cxn>
                <a:cxn ang="0">
                  <a:pos x="5911" y="5694"/>
                </a:cxn>
                <a:cxn ang="0">
                  <a:pos x="5893" y="5762"/>
                </a:cxn>
                <a:cxn ang="0">
                  <a:pos x="5870" y="5809"/>
                </a:cxn>
                <a:cxn ang="0">
                  <a:pos x="5809" y="5869"/>
                </a:cxn>
                <a:cxn ang="0">
                  <a:pos x="5721" y="5906"/>
                </a:cxn>
                <a:cxn ang="0">
                  <a:pos x="214" y="5911"/>
                </a:cxn>
                <a:cxn ang="0">
                  <a:pos x="142" y="5890"/>
                </a:cxn>
                <a:cxn ang="0">
                  <a:pos x="70" y="5841"/>
                </a:cxn>
                <a:cxn ang="0">
                  <a:pos x="21" y="5769"/>
                </a:cxn>
                <a:cxn ang="0">
                  <a:pos x="5" y="5718"/>
                </a:cxn>
                <a:cxn ang="0">
                  <a:pos x="0" y="237"/>
                </a:cxn>
                <a:cxn ang="0">
                  <a:pos x="21" y="142"/>
                </a:cxn>
                <a:cxn ang="0">
                  <a:pos x="70" y="69"/>
                </a:cxn>
                <a:cxn ang="0">
                  <a:pos x="142" y="21"/>
                </a:cxn>
                <a:cxn ang="0">
                  <a:pos x="237" y="0"/>
                </a:cxn>
              </a:cxnLst>
              <a:rect l="0" t="0" r="r" b="b"/>
              <a:pathLst>
                <a:path w="5911" h="5911">
                  <a:moveTo>
                    <a:pt x="237" y="18"/>
                  </a:moveTo>
                  <a:lnTo>
                    <a:pt x="191" y="23"/>
                  </a:lnTo>
                  <a:lnTo>
                    <a:pt x="156" y="35"/>
                  </a:lnTo>
                  <a:lnTo>
                    <a:pt x="116" y="56"/>
                  </a:lnTo>
                  <a:lnTo>
                    <a:pt x="84" y="83"/>
                  </a:lnTo>
                  <a:lnTo>
                    <a:pt x="56" y="116"/>
                  </a:lnTo>
                  <a:lnTo>
                    <a:pt x="35" y="156"/>
                  </a:lnTo>
                  <a:lnTo>
                    <a:pt x="23" y="190"/>
                  </a:lnTo>
                  <a:lnTo>
                    <a:pt x="19" y="237"/>
                  </a:lnTo>
                  <a:lnTo>
                    <a:pt x="19" y="5671"/>
                  </a:lnTo>
                  <a:lnTo>
                    <a:pt x="23" y="5718"/>
                  </a:lnTo>
                  <a:lnTo>
                    <a:pt x="35" y="5755"/>
                  </a:lnTo>
                  <a:lnTo>
                    <a:pt x="56" y="5795"/>
                  </a:lnTo>
                  <a:lnTo>
                    <a:pt x="84" y="5827"/>
                  </a:lnTo>
                  <a:lnTo>
                    <a:pt x="116" y="5855"/>
                  </a:lnTo>
                  <a:lnTo>
                    <a:pt x="156" y="5876"/>
                  </a:lnTo>
                  <a:lnTo>
                    <a:pt x="191" y="5888"/>
                  </a:lnTo>
                  <a:lnTo>
                    <a:pt x="214" y="5892"/>
                  </a:lnTo>
                  <a:lnTo>
                    <a:pt x="5697" y="5892"/>
                  </a:lnTo>
                  <a:lnTo>
                    <a:pt x="5721" y="5888"/>
                  </a:lnTo>
                  <a:lnTo>
                    <a:pt x="5756" y="5876"/>
                  </a:lnTo>
                  <a:lnTo>
                    <a:pt x="5795" y="5855"/>
                  </a:lnTo>
                  <a:lnTo>
                    <a:pt x="5828" y="5827"/>
                  </a:lnTo>
                  <a:lnTo>
                    <a:pt x="5856" y="5795"/>
                  </a:lnTo>
                  <a:lnTo>
                    <a:pt x="5877" y="5755"/>
                  </a:lnTo>
                  <a:lnTo>
                    <a:pt x="5888" y="5718"/>
                  </a:lnTo>
                  <a:lnTo>
                    <a:pt x="5893" y="5694"/>
                  </a:lnTo>
                  <a:lnTo>
                    <a:pt x="5893" y="214"/>
                  </a:lnTo>
                  <a:lnTo>
                    <a:pt x="5888" y="190"/>
                  </a:lnTo>
                  <a:lnTo>
                    <a:pt x="5877" y="156"/>
                  </a:lnTo>
                  <a:lnTo>
                    <a:pt x="5856" y="116"/>
                  </a:lnTo>
                  <a:lnTo>
                    <a:pt x="5828" y="83"/>
                  </a:lnTo>
                  <a:lnTo>
                    <a:pt x="5795" y="56"/>
                  </a:lnTo>
                  <a:lnTo>
                    <a:pt x="5756" y="35"/>
                  </a:lnTo>
                  <a:lnTo>
                    <a:pt x="5721" y="23"/>
                  </a:lnTo>
                  <a:lnTo>
                    <a:pt x="5674" y="18"/>
                  </a:lnTo>
                  <a:lnTo>
                    <a:pt x="237" y="18"/>
                  </a:lnTo>
                  <a:close/>
                  <a:moveTo>
                    <a:pt x="237" y="0"/>
                  </a:moveTo>
                  <a:lnTo>
                    <a:pt x="5674" y="0"/>
                  </a:lnTo>
                  <a:lnTo>
                    <a:pt x="5721" y="4"/>
                  </a:lnTo>
                  <a:lnTo>
                    <a:pt x="5769" y="21"/>
                  </a:lnTo>
                  <a:lnTo>
                    <a:pt x="5809" y="42"/>
                  </a:lnTo>
                  <a:lnTo>
                    <a:pt x="5842" y="69"/>
                  </a:lnTo>
                  <a:lnTo>
                    <a:pt x="5870" y="102"/>
                  </a:lnTo>
                  <a:lnTo>
                    <a:pt x="5891" y="142"/>
                  </a:lnTo>
                  <a:lnTo>
                    <a:pt x="5907" y="190"/>
                  </a:lnTo>
                  <a:lnTo>
                    <a:pt x="5911" y="214"/>
                  </a:lnTo>
                  <a:lnTo>
                    <a:pt x="5911" y="5694"/>
                  </a:lnTo>
                  <a:lnTo>
                    <a:pt x="5907" y="5718"/>
                  </a:lnTo>
                  <a:lnTo>
                    <a:pt x="5893" y="5762"/>
                  </a:lnTo>
                  <a:lnTo>
                    <a:pt x="5891" y="5769"/>
                  </a:lnTo>
                  <a:lnTo>
                    <a:pt x="5870" y="5809"/>
                  </a:lnTo>
                  <a:lnTo>
                    <a:pt x="5842" y="5841"/>
                  </a:lnTo>
                  <a:lnTo>
                    <a:pt x="5809" y="5869"/>
                  </a:lnTo>
                  <a:lnTo>
                    <a:pt x="5769" y="5890"/>
                  </a:lnTo>
                  <a:lnTo>
                    <a:pt x="5721" y="5906"/>
                  </a:lnTo>
                  <a:lnTo>
                    <a:pt x="5697" y="5911"/>
                  </a:lnTo>
                  <a:lnTo>
                    <a:pt x="214" y="5911"/>
                  </a:lnTo>
                  <a:lnTo>
                    <a:pt x="191" y="5906"/>
                  </a:lnTo>
                  <a:lnTo>
                    <a:pt x="142" y="5890"/>
                  </a:lnTo>
                  <a:lnTo>
                    <a:pt x="102" y="5869"/>
                  </a:lnTo>
                  <a:lnTo>
                    <a:pt x="70" y="5841"/>
                  </a:lnTo>
                  <a:lnTo>
                    <a:pt x="42" y="5809"/>
                  </a:lnTo>
                  <a:lnTo>
                    <a:pt x="21" y="5769"/>
                  </a:lnTo>
                  <a:lnTo>
                    <a:pt x="19" y="5762"/>
                  </a:lnTo>
                  <a:lnTo>
                    <a:pt x="5" y="5718"/>
                  </a:lnTo>
                  <a:lnTo>
                    <a:pt x="0" y="5671"/>
                  </a:lnTo>
                  <a:lnTo>
                    <a:pt x="0" y="237"/>
                  </a:lnTo>
                  <a:lnTo>
                    <a:pt x="5" y="190"/>
                  </a:lnTo>
                  <a:lnTo>
                    <a:pt x="21" y="142"/>
                  </a:lnTo>
                  <a:lnTo>
                    <a:pt x="42" y="102"/>
                  </a:lnTo>
                  <a:lnTo>
                    <a:pt x="70" y="69"/>
                  </a:lnTo>
                  <a:lnTo>
                    <a:pt x="102" y="42"/>
                  </a:lnTo>
                  <a:lnTo>
                    <a:pt x="142" y="21"/>
                  </a:lnTo>
                  <a:lnTo>
                    <a:pt x="191" y="4"/>
                  </a:lnTo>
                  <a:lnTo>
                    <a:pt x="237" y="0"/>
                  </a:lnTo>
                  <a:close/>
                </a:path>
              </a:pathLst>
            </a:custGeom>
            <a:solidFill>
              <a:srgbClr val="FFFFFF"/>
            </a:solidFill>
            <a:ln w="0">
              <a:solidFill>
                <a:srgbClr val="FFFFFF"/>
              </a:solid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4" name="Freeform 30"/>
            <p:cNvSpPr>
              <a:spLocks/>
            </p:cNvSpPr>
            <p:nvPr userDrawn="1"/>
          </p:nvSpPr>
          <p:spPr bwMode="auto">
            <a:xfrm>
              <a:off x="2189" y="2105"/>
              <a:ext cx="799" cy="1392"/>
            </a:xfrm>
            <a:custGeom>
              <a:avLst/>
              <a:gdLst/>
              <a:ahLst/>
              <a:cxnLst>
                <a:cxn ang="0">
                  <a:pos x="3256" y="51"/>
                </a:cxn>
                <a:cxn ang="0">
                  <a:pos x="3063" y="245"/>
                </a:cxn>
                <a:cxn ang="0">
                  <a:pos x="2902" y="512"/>
                </a:cxn>
                <a:cxn ang="0">
                  <a:pos x="2777" y="868"/>
                </a:cxn>
                <a:cxn ang="0">
                  <a:pos x="2688" y="1322"/>
                </a:cxn>
                <a:cxn ang="0">
                  <a:pos x="2651" y="1692"/>
                </a:cxn>
                <a:cxn ang="0">
                  <a:pos x="2632" y="2148"/>
                </a:cxn>
                <a:cxn ang="0">
                  <a:pos x="2595" y="2390"/>
                </a:cxn>
                <a:cxn ang="0">
                  <a:pos x="2532" y="2653"/>
                </a:cxn>
                <a:cxn ang="0">
                  <a:pos x="2488" y="2818"/>
                </a:cxn>
                <a:cxn ang="0">
                  <a:pos x="2558" y="2905"/>
                </a:cxn>
                <a:cxn ang="0">
                  <a:pos x="2663" y="3147"/>
                </a:cxn>
                <a:cxn ang="0">
                  <a:pos x="2712" y="3421"/>
                </a:cxn>
                <a:cxn ang="0">
                  <a:pos x="2728" y="3945"/>
                </a:cxn>
                <a:cxn ang="0">
                  <a:pos x="2730" y="4343"/>
                </a:cxn>
                <a:cxn ang="0">
                  <a:pos x="2716" y="4713"/>
                </a:cxn>
                <a:cxn ang="0">
                  <a:pos x="2677" y="5046"/>
                </a:cxn>
                <a:cxn ang="0">
                  <a:pos x="2600" y="5325"/>
                </a:cxn>
                <a:cxn ang="0">
                  <a:pos x="2479" y="5539"/>
                </a:cxn>
                <a:cxn ang="0">
                  <a:pos x="2304" y="5674"/>
                </a:cxn>
                <a:cxn ang="0">
                  <a:pos x="2111" y="5742"/>
                </a:cxn>
                <a:cxn ang="0">
                  <a:pos x="1978" y="5749"/>
                </a:cxn>
                <a:cxn ang="0">
                  <a:pos x="1897" y="5716"/>
                </a:cxn>
                <a:cxn ang="0">
                  <a:pos x="1853" y="5662"/>
                </a:cxn>
                <a:cxn ang="0">
                  <a:pos x="1834" y="5609"/>
                </a:cxn>
                <a:cxn ang="0">
                  <a:pos x="1843" y="5562"/>
                </a:cxn>
                <a:cxn ang="0">
                  <a:pos x="1897" y="5506"/>
                </a:cxn>
                <a:cxn ang="0">
                  <a:pos x="1960" y="5418"/>
                </a:cxn>
                <a:cxn ang="0">
                  <a:pos x="2004" y="5271"/>
                </a:cxn>
                <a:cxn ang="0">
                  <a:pos x="1969" y="5153"/>
                </a:cxn>
                <a:cxn ang="0">
                  <a:pos x="1836" y="5046"/>
                </a:cxn>
                <a:cxn ang="0">
                  <a:pos x="1667" y="4999"/>
                </a:cxn>
                <a:cxn ang="0">
                  <a:pos x="1541" y="5039"/>
                </a:cxn>
                <a:cxn ang="0">
                  <a:pos x="1457" y="5136"/>
                </a:cxn>
                <a:cxn ang="0">
                  <a:pos x="1408" y="5269"/>
                </a:cxn>
                <a:cxn ang="0">
                  <a:pos x="1397" y="5409"/>
                </a:cxn>
                <a:cxn ang="0">
                  <a:pos x="1415" y="5530"/>
                </a:cxn>
                <a:cxn ang="0">
                  <a:pos x="1511" y="5683"/>
                </a:cxn>
                <a:cxn ang="0">
                  <a:pos x="177" y="5788"/>
                </a:cxn>
                <a:cxn ang="0">
                  <a:pos x="51" y="5737"/>
                </a:cxn>
                <a:cxn ang="0">
                  <a:pos x="0" y="5611"/>
                </a:cxn>
                <a:cxn ang="0">
                  <a:pos x="23" y="89"/>
                </a:cxn>
                <a:cxn ang="0">
                  <a:pos x="131" y="7"/>
                </a:cxn>
              </a:cxnLst>
              <a:rect l="0" t="0" r="r" b="b"/>
              <a:pathLst>
                <a:path w="3326" h="5788">
                  <a:moveTo>
                    <a:pt x="177" y="0"/>
                  </a:moveTo>
                  <a:lnTo>
                    <a:pt x="3326" y="0"/>
                  </a:lnTo>
                  <a:lnTo>
                    <a:pt x="3256" y="51"/>
                  </a:lnTo>
                  <a:lnTo>
                    <a:pt x="3189" y="107"/>
                  </a:lnTo>
                  <a:lnTo>
                    <a:pt x="3124" y="172"/>
                  </a:lnTo>
                  <a:lnTo>
                    <a:pt x="3063" y="245"/>
                  </a:lnTo>
                  <a:lnTo>
                    <a:pt x="3007" y="326"/>
                  </a:lnTo>
                  <a:lnTo>
                    <a:pt x="2954" y="414"/>
                  </a:lnTo>
                  <a:lnTo>
                    <a:pt x="2902" y="512"/>
                  </a:lnTo>
                  <a:lnTo>
                    <a:pt x="2856" y="622"/>
                  </a:lnTo>
                  <a:lnTo>
                    <a:pt x="2814" y="740"/>
                  </a:lnTo>
                  <a:lnTo>
                    <a:pt x="2777" y="868"/>
                  </a:lnTo>
                  <a:lnTo>
                    <a:pt x="2742" y="1008"/>
                  </a:lnTo>
                  <a:lnTo>
                    <a:pt x="2714" y="1159"/>
                  </a:lnTo>
                  <a:lnTo>
                    <a:pt x="2688" y="1322"/>
                  </a:lnTo>
                  <a:lnTo>
                    <a:pt x="2667" y="1497"/>
                  </a:lnTo>
                  <a:lnTo>
                    <a:pt x="2651" y="1685"/>
                  </a:lnTo>
                  <a:lnTo>
                    <a:pt x="2651" y="1692"/>
                  </a:lnTo>
                  <a:lnTo>
                    <a:pt x="2642" y="1836"/>
                  </a:lnTo>
                  <a:lnTo>
                    <a:pt x="2635" y="1990"/>
                  </a:lnTo>
                  <a:lnTo>
                    <a:pt x="2632" y="2148"/>
                  </a:lnTo>
                  <a:lnTo>
                    <a:pt x="2623" y="2223"/>
                  </a:lnTo>
                  <a:lnTo>
                    <a:pt x="2611" y="2304"/>
                  </a:lnTo>
                  <a:lnTo>
                    <a:pt x="2595" y="2390"/>
                  </a:lnTo>
                  <a:lnTo>
                    <a:pt x="2579" y="2481"/>
                  </a:lnTo>
                  <a:lnTo>
                    <a:pt x="2558" y="2569"/>
                  </a:lnTo>
                  <a:lnTo>
                    <a:pt x="2532" y="2653"/>
                  </a:lnTo>
                  <a:lnTo>
                    <a:pt x="2504" y="2732"/>
                  </a:lnTo>
                  <a:lnTo>
                    <a:pt x="2472" y="2802"/>
                  </a:lnTo>
                  <a:lnTo>
                    <a:pt x="2488" y="2818"/>
                  </a:lnTo>
                  <a:lnTo>
                    <a:pt x="2507" y="2839"/>
                  </a:lnTo>
                  <a:lnTo>
                    <a:pt x="2530" y="2867"/>
                  </a:lnTo>
                  <a:lnTo>
                    <a:pt x="2558" y="2905"/>
                  </a:lnTo>
                  <a:lnTo>
                    <a:pt x="2600" y="2986"/>
                  </a:lnTo>
                  <a:lnTo>
                    <a:pt x="2635" y="3065"/>
                  </a:lnTo>
                  <a:lnTo>
                    <a:pt x="2663" y="3147"/>
                  </a:lnTo>
                  <a:lnTo>
                    <a:pt x="2684" y="3233"/>
                  </a:lnTo>
                  <a:lnTo>
                    <a:pt x="2700" y="3324"/>
                  </a:lnTo>
                  <a:lnTo>
                    <a:pt x="2712" y="3421"/>
                  </a:lnTo>
                  <a:lnTo>
                    <a:pt x="2726" y="3810"/>
                  </a:lnTo>
                  <a:lnTo>
                    <a:pt x="2726" y="3808"/>
                  </a:lnTo>
                  <a:lnTo>
                    <a:pt x="2728" y="3945"/>
                  </a:lnTo>
                  <a:lnTo>
                    <a:pt x="2730" y="4080"/>
                  </a:lnTo>
                  <a:lnTo>
                    <a:pt x="2733" y="4213"/>
                  </a:lnTo>
                  <a:lnTo>
                    <a:pt x="2730" y="4343"/>
                  </a:lnTo>
                  <a:lnTo>
                    <a:pt x="2728" y="4469"/>
                  </a:lnTo>
                  <a:lnTo>
                    <a:pt x="2723" y="4594"/>
                  </a:lnTo>
                  <a:lnTo>
                    <a:pt x="2716" y="4713"/>
                  </a:lnTo>
                  <a:lnTo>
                    <a:pt x="2707" y="4829"/>
                  </a:lnTo>
                  <a:lnTo>
                    <a:pt x="2693" y="4939"/>
                  </a:lnTo>
                  <a:lnTo>
                    <a:pt x="2677" y="5046"/>
                  </a:lnTo>
                  <a:lnTo>
                    <a:pt x="2656" y="5143"/>
                  </a:lnTo>
                  <a:lnTo>
                    <a:pt x="2630" y="5239"/>
                  </a:lnTo>
                  <a:lnTo>
                    <a:pt x="2600" y="5325"/>
                  </a:lnTo>
                  <a:lnTo>
                    <a:pt x="2565" y="5404"/>
                  </a:lnTo>
                  <a:lnTo>
                    <a:pt x="2525" y="5474"/>
                  </a:lnTo>
                  <a:lnTo>
                    <a:pt x="2479" y="5539"/>
                  </a:lnTo>
                  <a:lnTo>
                    <a:pt x="2428" y="5593"/>
                  </a:lnTo>
                  <a:lnTo>
                    <a:pt x="2369" y="5639"/>
                  </a:lnTo>
                  <a:lnTo>
                    <a:pt x="2304" y="5674"/>
                  </a:lnTo>
                  <a:lnTo>
                    <a:pt x="2232" y="5704"/>
                  </a:lnTo>
                  <a:lnTo>
                    <a:pt x="2167" y="5728"/>
                  </a:lnTo>
                  <a:lnTo>
                    <a:pt x="2111" y="5742"/>
                  </a:lnTo>
                  <a:lnTo>
                    <a:pt x="2060" y="5749"/>
                  </a:lnTo>
                  <a:lnTo>
                    <a:pt x="2016" y="5751"/>
                  </a:lnTo>
                  <a:lnTo>
                    <a:pt x="1978" y="5749"/>
                  </a:lnTo>
                  <a:lnTo>
                    <a:pt x="1946" y="5742"/>
                  </a:lnTo>
                  <a:lnTo>
                    <a:pt x="1918" y="5730"/>
                  </a:lnTo>
                  <a:lnTo>
                    <a:pt x="1897" y="5716"/>
                  </a:lnTo>
                  <a:lnTo>
                    <a:pt x="1878" y="5697"/>
                  </a:lnTo>
                  <a:lnTo>
                    <a:pt x="1864" y="5681"/>
                  </a:lnTo>
                  <a:lnTo>
                    <a:pt x="1853" y="5662"/>
                  </a:lnTo>
                  <a:lnTo>
                    <a:pt x="1843" y="5644"/>
                  </a:lnTo>
                  <a:lnTo>
                    <a:pt x="1839" y="5625"/>
                  </a:lnTo>
                  <a:lnTo>
                    <a:pt x="1834" y="5609"/>
                  </a:lnTo>
                  <a:lnTo>
                    <a:pt x="1832" y="5595"/>
                  </a:lnTo>
                  <a:lnTo>
                    <a:pt x="1832" y="5574"/>
                  </a:lnTo>
                  <a:lnTo>
                    <a:pt x="1843" y="5562"/>
                  </a:lnTo>
                  <a:lnTo>
                    <a:pt x="1860" y="5548"/>
                  </a:lnTo>
                  <a:lnTo>
                    <a:pt x="1876" y="5530"/>
                  </a:lnTo>
                  <a:lnTo>
                    <a:pt x="1897" y="5506"/>
                  </a:lnTo>
                  <a:lnTo>
                    <a:pt x="1918" y="5481"/>
                  </a:lnTo>
                  <a:lnTo>
                    <a:pt x="1939" y="5451"/>
                  </a:lnTo>
                  <a:lnTo>
                    <a:pt x="1960" y="5418"/>
                  </a:lnTo>
                  <a:lnTo>
                    <a:pt x="1992" y="5348"/>
                  </a:lnTo>
                  <a:lnTo>
                    <a:pt x="2002" y="5309"/>
                  </a:lnTo>
                  <a:lnTo>
                    <a:pt x="2004" y="5271"/>
                  </a:lnTo>
                  <a:lnTo>
                    <a:pt x="2002" y="5232"/>
                  </a:lnTo>
                  <a:lnTo>
                    <a:pt x="1990" y="5192"/>
                  </a:lnTo>
                  <a:lnTo>
                    <a:pt x="1969" y="5153"/>
                  </a:lnTo>
                  <a:lnTo>
                    <a:pt x="1937" y="5116"/>
                  </a:lnTo>
                  <a:lnTo>
                    <a:pt x="1892" y="5081"/>
                  </a:lnTo>
                  <a:lnTo>
                    <a:pt x="1836" y="5046"/>
                  </a:lnTo>
                  <a:lnTo>
                    <a:pt x="1776" y="5020"/>
                  </a:lnTo>
                  <a:lnTo>
                    <a:pt x="1718" y="5004"/>
                  </a:lnTo>
                  <a:lnTo>
                    <a:pt x="1667" y="4999"/>
                  </a:lnTo>
                  <a:lnTo>
                    <a:pt x="1620" y="5004"/>
                  </a:lnTo>
                  <a:lnTo>
                    <a:pt x="1578" y="5018"/>
                  </a:lnTo>
                  <a:lnTo>
                    <a:pt x="1541" y="5039"/>
                  </a:lnTo>
                  <a:lnTo>
                    <a:pt x="1508" y="5067"/>
                  </a:lnTo>
                  <a:lnTo>
                    <a:pt x="1480" y="5099"/>
                  </a:lnTo>
                  <a:lnTo>
                    <a:pt x="1457" y="5136"/>
                  </a:lnTo>
                  <a:lnTo>
                    <a:pt x="1436" y="5178"/>
                  </a:lnTo>
                  <a:lnTo>
                    <a:pt x="1420" y="5223"/>
                  </a:lnTo>
                  <a:lnTo>
                    <a:pt x="1408" y="5269"/>
                  </a:lnTo>
                  <a:lnTo>
                    <a:pt x="1401" y="5316"/>
                  </a:lnTo>
                  <a:lnTo>
                    <a:pt x="1397" y="5362"/>
                  </a:lnTo>
                  <a:lnTo>
                    <a:pt x="1397" y="5409"/>
                  </a:lnTo>
                  <a:lnTo>
                    <a:pt x="1399" y="5453"/>
                  </a:lnTo>
                  <a:lnTo>
                    <a:pt x="1406" y="5493"/>
                  </a:lnTo>
                  <a:lnTo>
                    <a:pt x="1415" y="5530"/>
                  </a:lnTo>
                  <a:lnTo>
                    <a:pt x="1436" y="5579"/>
                  </a:lnTo>
                  <a:lnTo>
                    <a:pt x="1469" y="5630"/>
                  </a:lnTo>
                  <a:lnTo>
                    <a:pt x="1511" y="5683"/>
                  </a:lnTo>
                  <a:lnTo>
                    <a:pt x="1564" y="5737"/>
                  </a:lnTo>
                  <a:lnTo>
                    <a:pt x="1625" y="5788"/>
                  </a:lnTo>
                  <a:lnTo>
                    <a:pt x="177" y="5788"/>
                  </a:lnTo>
                  <a:lnTo>
                    <a:pt x="131" y="5781"/>
                  </a:lnTo>
                  <a:lnTo>
                    <a:pt x="89" y="5765"/>
                  </a:lnTo>
                  <a:lnTo>
                    <a:pt x="51" y="5737"/>
                  </a:lnTo>
                  <a:lnTo>
                    <a:pt x="23" y="5700"/>
                  </a:lnTo>
                  <a:lnTo>
                    <a:pt x="7" y="5658"/>
                  </a:lnTo>
                  <a:lnTo>
                    <a:pt x="0" y="5611"/>
                  </a:lnTo>
                  <a:lnTo>
                    <a:pt x="0" y="177"/>
                  </a:lnTo>
                  <a:lnTo>
                    <a:pt x="7" y="130"/>
                  </a:lnTo>
                  <a:lnTo>
                    <a:pt x="23" y="89"/>
                  </a:lnTo>
                  <a:lnTo>
                    <a:pt x="51" y="51"/>
                  </a:lnTo>
                  <a:lnTo>
                    <a:pt x="89" y="23"/>
                  </a:lnTo>
                  <a:lnTo>
                    <a:pt x="131" y="7"/>
                  </a:lnTo>
                  <a:lnTo>
                    <a:pt x="177"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5" name="Freeform 31"/>
            <p:cNvSpPr>
              <a:spLocks/>
            </p:cNvSpPr>
            <p:nvPr userDrawn="1"/>
          </p:nvSpPr>
          <p:spPr bwMode="auto">
            <a:xfrm>
              <a:off x="2796" y="2105"/>
              <a:ext cx="784" cy="1392"/>
            </a:xfrm>
            <a:custGeom>
              <a:avLst/>
              <a:gdLst/>
              <a:ahLst/>
              <a:cxnLst>
                <a:cxn ang="0">
                  <a:pos x="3130" y="7"/>
                </a:cxn>
                <a:cxn ang="0">
                  <a:pos x="3237" y="89"/>
                </a:cxn>
                <a:cxn ang="0">
                  <a:pos x="3260" y="5611"/>
                </a:cxn>
                <a:cxn ang="0">
                  <a:pos x="3209" y="5737"/>
                </a:cxn>
                <a:cxn ang="0">
                  <a:pos x="3083" y="5788"/>
                </a:cxn>
                <a:cxn ang="0">
                  <a:pos x="137" y="5681"/>
                </a:cxn>
                <a:cxn ang="0">
                  <a:pos x="321" y="5465"/>
                </a:cxn>
                <a:cxn ang="0">
                  <a:pos x="470" y="5169"/>
                </a:cxn>
                <a:cxn ang="0">
                  <a:pos x="586" y="4780"/>
                </a:cxn>
                <a:cxn ang="0">
                  <a:pos x="661" y="4292"/>
                </a:cxn>
                <a:cxn ang="0">
                  <a:pos x="686" y="3954"/>
                </a:cxn>
                <a:cxn ang="0">
                  <a:pos x="707" y="3547"/>
                </a:cxn>
                <a:cxn ang="0">
                  <a:pos x="777" y="3261"/>
                </a:cxn>
                <a:cxn ang="0">
                  <a:pos x="840" y="3068"/>
                </a:cxn>
                <a:cxn ang="0">
                  <a:pos x="770" y="2979"/>
                </a:cxn>
                <a:cxn ang="0">
                  <a:pos x="677" y="2735"/>
                </a:cxn>
                <a:cxn ang="0">
                  <a:pos x="623" y="2460"/>
                </a:cxn>
                <a:cxn ang="0">
                  <a:pos x="598" y="1843"/>
                </a:cxn>
                <a:cxn ang="0">
                  <a:pos x="596" y="1445"/>
                </a:cxn>
                <a:cxn ang="0">
                  <a:pos x="609" y="1075"/>
                </a:cxn>
                <a:cxn ang="0">
                  <a:pos x="651" y="745"/>
                </a:cxn>
                <a:cxn ang="0">
                  <a:pos x="726" y="466"/>
                </a:cxn>
                <a:cxn ang="0">
                  <a:pos x="847" y="252"/>
                </a:cxn>
                <a:cxn ang="0">
                  <a:pos x="1021" y="114"/>
                </a:cxn>
                <a:cxn ang="0">
                  <a:pos x="1217" y="47"/>
                </a:cxn>
                <a:cxn ang="0">
                  <a:pos x="1350" y="40"/>
                </a:cxn>
                <a:cxn ang="0">
                  <a:pos x="1431" y="72"/>
                </a:cxn>
                <a:cxn ang="0">
                  <a:pos x="1475" y="126"/>
                </a:cxn>
                <a:cxn ang="0">
                  <a:pos x="1494" y="179"/>
                </a:cxn>
                <a:cxn ang="0">
                  <a:pos x="1485" y="226"/>
                </a:cxn>
                <a:cxn ang="0">
                  <a:pos x="1431" y="282"/>
                </a:cxn>
                <a:cxn ang="0">
                  <a:pos x="1368" y="370"/>
                </a:cxn>
                <a:cxn ang="0">
                  <a:pos x="1324" y="517"/>
                </a:cxn>
                <a:cxn ang="0">
                  <a:pos x="1359" y="636"/>
                </a:cxn>
                <a:cxn ang="0">
                  <a:pos x="1492" y="743"/>
                </a:cxn>
                <a:cxn ang="0">
                  <a:pos x="1659" y="789"/>
                </a:cxn>
                <a:cxn ang="0">
                  <a:pos x="1785" y="752"/>
                </a:cxn>
                <a:cxn ang="0">
                  <a:pos x="1871" y="654"/>
                </a:cxn>
                <a:cxn ang="0">
                  <a:pos x="1917" y="521"/>
                </a:cxn>
                <a:cxn ang="0">
                  <a:pos x="1931" y="382"/>
                </a:cxn>
                <a:cxn ang="0">
                  <a:pos x="1913" y="261"/>
                </a:cxn>
                <a:cxn ang="0">
                  <a:pos x="1817" y="105"/>
                </a:cxn>
              </a:cxnLst>
              <a:rect l="0" t="0" r="r" b="b"/>
              <a:pathLst>
                <a:path w="3260" h="5788">
                  <a:moveTo>
                    <a:pt x="1701" y="0"/>
                  </a:moveTo>
                  <a:lnTo>
                    <a:pt x="3083" y="0"/>
                  </a:lnTo>
                  <a:lnTo>
                    <a:pt x="3130" y="7"/>
                  </a:lnTo>
                  <a:lnTo>
                    <a:pt x="3172" y="23"/>
                  </a:lnTo>
                  <a:lnTo>
                    <a:pt x="3209" y="51"/>
                  </a:lnTo>
                  <a:lnTo>
                    <a:pt x="3237" y="89"/>
                  </a:lnTo>
                  <a:lnTo>
                    <a:pt x="3253" y="130"/>
                  </a:lnTo>
                  <a:lnTo>
                    <a:pt x="3260" y="177"/>
                  </a:lnTo>
                  <a:lnTo>
                    <a:pt x="3260" y="5611"/>
                  </a:lnTo>
                  <a:lnTo>
                    <a:pt x="3253" y="5658"/>
                  </a:lnTo>
                  <a:lnTo>
                    <a:pt x="3237" y="5700"/>
                  </a:lnTo>
                  <a:lnTo>
                    <a:pt x="3209" y="5737"/>
                  </a:lnTo>
                  <a:lnTo>
                    <a:pt x="3172" y="5765"/>
                  </a:lnTo>
                  <a:lnTo>
                    <a:pt x="3130" y="5781"/>
                  </a:lnTo>
                  <a:lnTo>
                    <a:pt x="3083" y="5788"/>
                  </a:lnTo>
                  <a:lnTo>
                    <a:pt x="0" y="5788"/>
                  </a:lnTo>
                  <a:lnTo>
                    <a:pt x="70" y="5737"/>
                  </a:lnTo>
                  <a:lnTo>
                    <a:pt x="137" y="5681"/>
                  </a:lnTo>
                  <a:lnTo>
                    <a:pt x="202" y="5616"/>
                  </a:lnTo>
                  <a:lnTo>
                    <a:pt x="263" y="5544"/>
                  </a:lnTo>
                  <a:lnTo>
                    <a:pt x="321" y="5465"/>
                  </a:lnTo>
                  <a:lnTo>
                    <a:pt x="374" y="5374"/>
                  </a:lnTo>
                  <a:lnTo>
                    <a:pt x="426" y="5276"/>
                  </a:lnTo>
                  <a:lnTo>
                    <a:pt x="470" y="5169"/>
                  </a:lnTo>
                  <a:lnTo>
                    <a:pt x="514" y="5050"/>
                  </a:lnTo>
                  <a:lnTo>
                    <a:pt x="551" y="4920"/>
                  </a:lnTo>
                  <a:lnTo>
                    <a:pt x="586" y="4780"/>
                  </a:lnTo>
                  <a:lnTo>
                    <a:pt x="614" y="4629"/>
                  </a:lnTo>
                  <a:lnTo>
                    <a:pt x="640" y="4466"/>
                  </a:lnTo>
                  <a:lnTo>
                    <a:pt x="661" y="4292"/>
                  </a:lnTo>
                  <a:lnTo>
                    <a:pt x="677" y="4103"/>
                  </a:lnTo>
                  <a:lnTo>
                    <a:pt x="677" y="4098"/>
                  </a:lnTo>
                  <a:lnTo>
                    <a:pt x="686" y="3954"/>
                  </a:lnTo>
                  <a:lnTo>
                    <a:pt x="691" y="3801"/>
                  </a:lnTo>
                  <a:lnTo>
                    <a:pt x="696" y="3640"/>
                  </a:lnTo>
                  <a:lnTo>
                    <a:pt x="707" y="3547"/>
                  </a:lnTo>
                  <a:lnTo>
                    <a:pt x="726" y="3452"/>
                  </a:lnTo>
                  <a:lnTo>
                    <a:pt x="749" y="3356"/>
                  </a:lnTo>
                  <a:lnTo>
                    <a:pt x="777" y="3261"/>
                  </a:lnTo>
                  <a:lnTo>
                    <a:pt x="814" y="3170"/>
                  </a:lnTo>
                  <a:lnTo>
                    <a:pt x="856" y="3084"/>
                  </a:lnTo>
                  <a:lnTo>
                    <a:pt x="840" y="3068"/>
                  </a:lnTo>
                  <a:lnTo>
                    <a:pt x="821" y="3044"/>
                  </a:lnTo>
                  <a:lnTo>
                    <a:pt x="798" y="3016"/>
                  </a:lnTo>
                  <a:lnTo>
                    <a:pt x="770" y="2979"/>
                  </a:lnTo>
                  <a:lnTo>
                    <a:pt x="733" y="2905"/>
                  </a:lnTo>
                  <a:lnTo>
                    <a:pt x="703" y="2823"/>
                  </a:lnTo>
                  <a:lnTo>
                    <a:pt x="677" y="2735"/>
                  </a:lnTo>
                  <a:lnTo>
                    <a:pt x="656" y="2644"/>
                  </a:lnTo>
                  <a:lnTo>
                    <a:pt x="637" y="2551"/>
                  </a:lnTo>
                  <a:lnTo>
                    <a:pt x="623" y="2460"/>
                  </a:lnTo>
                  <a:lnTo>
                    <a:pt x="614" y="2369"/>
                  </a:lnTo>
                  <a:lnTo>
                    <a:pt x="600" y="1981"/>
                  </a:lnTo>
                  <a:lnTo>
                    <a:pt x="598" y="1843"/>
                  </a:lnTo>
                  <a:lnTo>
                    <a:pt x="596" y="1708"/>
                  </a:lnTo>
                  <a:lnTo>
                    <a:pt x="593" y="1576"/>
                  </a:lnTo>
                  <a:lnTo>
                    <a:pt x="596" y="1445"/>
                  </a:lnTo>
                  <a:lnTo>
                    <a:pt x="598" y="1320"/>
                  </a:lnTo>
                  <a:lnTo>
                    <a:pt x="602" y="1196"/>
                  </a:lnTo>
                  <a:lnTo>
                    <a:pt x="609" y="1075"/>
                  </a:lnTo>
                  <a:lnTo>
                    <a:pt x="619" y="959"/>
                  </a:lnTo>
                  <a:lnTo>
                    <a:pt x="633" y="850"/>
                  </a:lnTo>
                  <a:lnTo>
                    <a:pt x="651" y="745"/>
                  </a:lnTo>
                  <a:lnTo>
                    <a:pt x="672" y="645"/>
                  </a:lnTo>
                  <a:lnTo>
                    <a:pt x="698" y="552"/>
                  </a:lnTo>
                  <a:lnTo>
                    <a:pt x="726" y="466"/>
                  </a:lnTo>
                  <a:lnTo>
                    <a:pt x="761" y="386"/>
                  </a:lnTo>
                  <a:lnTo>
                    <a:pt x="803" y="314"/>
                  </a:lnTo>
                  <a:lnTo>
                    <a:pt x="847" y="252"/>
                  </a:lnTo>
                  <a:lnTo>
                    <a:pt x="898" y="196"/>
                  </a:lnTo>
                  <a:lnTo>
                    <a:pt x="956" y="151"/>
                  </a:lnTo>
                  <a:lnTo>
                    <a:pt x="1021" y="114"/>
                  </a:lnTo>
                  <a:lnTo>
                    <a:pt x="1094" y="84"/>
                  </a:lnTo>
                  <a:lnTo>
                    <a:pt x="1159" y="61"/>
                  </a:lnTo>
                  <a:lnTo>
                    <a:pt x="1217" y="47"/>
                  </a:lnTo>
                  <a:lnTo>
                    <a:pt x="1268" y="40"/>
                  </a:lnTo>
                  <a:lnTo>
                    <a:pt x="1312" y="37"/>
                  </a:lnTo>
                  <a:lnTo>
                    <a:pt x="1350" y="40"/>
                  </a:lnTo>
                  <a:lnTo>
                    <a:pt x="1382" y="47"/>
                  </a:lnTo>
                  <a:lnTo>
                    <a:pt x="1410" y="58"/>
                  </a:lnTo>
                  <a:lnTo>
                    <a:pt x="1431" y="72"/>
                  </a:lnTo>
                  <a:lnTo>
                    <a:pt x="1450" y="91"/>
                  </a:lnTo>
                  <a:lnTo>
                    <a:pt x="1464" y="107"/>
                  </a:lnTo>
                  <a:lnTo>
                    <a:pt x="1475" y="126"/>
                  </a:lnTo>
                  <a:lnTo>
                    <a:pt x="1485" y="144"/>
                  </a:lnTo>
                  <a:lnTo>
                    <a:pt x="1489" y="163"/>
                  </a:lnTo>
                  <a:lnTo>
                    <a:pt x="1494" y="179"/>
                  </a:lnTo>
                  <a:lnTo>
                    <a:pt x="1496" y="193"/>
                  </a:lnTo>
                  <a:lnTo>
                    <a:pt x="1496" y="214"/>
                  </a:lnTo>
                  <a:lnTo>
                    <a:pt x="1485" y="226"/>
                  </a:lnTo>
                  <a:lnTo>
                    <a:pt x="1468" y="240"/>
                  </a:lnTo>
                  <a:lnTo>
                    <a:pt x="1452" y="258"/>
                  </a:lnTo>
                  <a:lnTo>
                    <a:pt x="1431" y="282"/>
                  </a:lnTo>
                  <a:lnTo>
                    <a:pt x="1410" y="307"/>
                  </a:lnTo>
                  <a:lnTo>
                    <a:pt x="1389" y="338"/>
                  </a:lnTo>
                  <a:lnTo>
                    <a:pt x="1368" y="370"/>
                  </a:lnTo>
                  <a:lnTo>
                    <a:pt x="1336" y="440"/>
                  </a:lnTo>
                  <a:lnTo>
                    <a:pt x="1326" y="480"/>
                  </a:lnTo>
                  <a:lnTo>
                    <a:pt x="1324" y="517"/>
                  </a:lnTo>
                  <a:lnTo>
                    <a:pt x="1326" y="556"/>
                  </a:lnTo>
                  <a:lnTo>
                    <a:pt x="1338" y="596"/>
                  </a:lnTo>
                  <a:lnTo>
                    <a:pt x="1359" y="636"/>
                  </a:lnTo>
                  <a:lnTo>
                    <a:pt x="1391" y="673"/>
                  </a:lnTo>
                  <a:lnTo>
                    <a:pt x="1436" y="708"/>
                  </a:lnTo>
                  <a:lnTo>
                    <a:pt x="1492" y="743"/>
                  </a:lnTo>
                  <a:lnTo>
                    <a:pt x="1552" y="770"/>
                  </a:lnTo>
                  <a:lnTo>
                    <a:pt x="1608" y="784"/>
                  </a:lnTo>
                  <a:lnTo>
                    <a:pt x="1659" y="789"/>
                  </a:lnTo>
                  <a:lnTo>
                    <a:pt x="1706" y="784"/>
                  </a:lnTo>
                  <a:lnTo>
                    <a:pt x="1748" y="773"/>
                  </a:lnTo>
                  <a:lnTo>
                    <a:pt x="1785" y="752"/>
                  </a:lnTo>
                  <a:lnTo>
                    <a:pt x="1817" y="724"/>
                  </a:lnTo>
                  <a:lnTo>
                    <a:pt x="1848" y="691"/>
                  </a:lnTo>
                  <a:lnTo>
                    <a:pt x="1871" y="654"/>
                  </a:lnTo>
                  <a:lnTo>
                    <a:pt x="1890" y="612"/>
                  </a:lnTo>
                  <a:lnTo>
                    <a:pt x="1906" y="568"/>
                  </a:lnTo>
                  <a:lnTo>
                    <a:pt x="1917" y="521"/>
                  </a:lnTo>
                  <a:lnTo>
                    <a:pt x="1927" y="475"/>
                  </a:lnTo>
                  <a:lnTo>
                    <a:pt x="1931" y="428"/>
                  </a:lnTo>
                  <a:lnTo>
                    <a:pt x="1931" y="382"/>
                  </a:lnTo>
                  <a:lnTo>
                    <a:pt x="1929" y="338"/>
                  </a:lnTo>
                  <a:lnTo>
                    <a:pt x="1922" y="298"/>
                  </a:lnTo>
                  <a:lnTo>
                    <a:pt x="1913" y="261"/>
                  </a:lnTo>
                  <a:lnTo>
                    <a:pt x="1892" y="212"/>
                  </a:lnTo>
                  <a:lnTo>
                    <a:pt x="1859" y="158"/>
                  </a:lnTo>
                  <a:lnTo>
                    <a:pt x="1817" y="105"/>
                  </a:lnTo>
                  <a:lnTo>
                    <a:pt x="1764" y="51"/>
                  </a:lnTo>
                  <a:lnTo>
                    <a:pt x="1701" y="0"/>
                  </a:lnTo>
                  <a:close/>
                </a:path>
              </a:pathLst>
            </a:custGeom>
            <a:solidFill>
              <a:schemeClr val="accent1"/>
            </a:solidFill>
            <a:ln w="0">
              <a:no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sp>
          <p:nvSpPr>
            <p:cNvPr id="323616" name="Freeform 32"/>
            <p:cNvSpPr>
              <a:spLocks/>
            </p:cNvSpPr>
            <p:nvPr userDrawn="1"/>
          </p:nvSpPr>
          <p:spPr bwMode="auto">
            <a:xfrm>
              <a:off x="2525" y="2105"/>
              <a:ext cx="735" cy="1392"/>
            </a:xfrm>
            <a:custGeom>
              <a:avLst/>
              <a:gdLst/>
              <a:ahLst/>
              <a:cxnLst>
                <a:cxn ang="0">
                  <a:pos x="2948" y="105"/>
                </a:cxn>
                <a:cxn ang="0">
                  <a:pos x="3053" y="298"/>
                </a:cxn>
                <a:cxn ang="0">
                  <a:pos x="3058" y="475"/>
                </a:cxn>
                <a:cxn ang="0">
                  <a:pos x="3002" y="654"/>
                </a:cxn>
                <a:cxn ang="0">
                  <a:pos x="2879" y="773"/>
                </a:cxn>
                <a:cxn ang="0">
                  <a:pos x="2683" y="770"/>
                </a:cxn>
                <a:cxn ang="0">
                  <a:pos x="2490" y="636"/>
                </a:cxn>
                <a:cxn ang="0">
                  <a:pos x="2457" y="480"/>
                </a:cxn>
                <a:cxn ang="0">
                  <a:pos x="2541" y="307"/>
                </a:cxn>
                <a:cxn ang="0">
                  <a:pos x="2616" y="226"/>
                </a:cxn>
                <a:cxn ang="0">
                  <a:pos x="2620" y="163"/>
                </a:cxn>
                <a:cxn ang="0">
                  <a:pos x="2581" y="91"/>
                </a:cxn>
                <a:cxn ang="0">
                  <a:pos x="2481" y="40"/>
                </a:cxn>
                <a:cxn ang="0">
                  <a:pos x="2290" y="61"/>
                </a:cxn>
                <a:cxn ang="0">
                  <a:pos x="2029" y="196"/>
                </a:cxn>
                <a:cxn ang="0">
                  <a:pos x="1857" y="466"/>
                </a:cxn>
                <a:cxn ang="0">
                  <a:pos x="1764" y="850"/>
                </a:cxn>
                <a:cxn ang="0">
                  <a:pos x="1729" y="1320"/>
                </a:cxn>
                <a:cxn ang="0">
                  <a:pos x="1729" y="1843"/>
                </a:cxn>
                <a:cxn ang="0">
                  <a:pos x="1768" y="2551"/>
                </a:cxn>
                <a:cxn ang="0">
                  <a:pos x="1864" y="2905"/>
                </a:cxn>
                <a:cxn ang="0">
                  <a:pos x="1971" y="3068"/>
                </a:cxn>
                <a:cxn ang="0">
                  <a:pos x="1880" y="3356"/>
                </a:cxn>
                <a:cxn ang="0">
                  <a:pos x="1822" y="3801"/>
                </a:cxn>
                <a:cxn ang="0">
                  <a:pos x="1792" y="4292"/>
                </a:cxn>
                <a:cxn ang="0">
                  <a:pos x="1682" y="4920"/>
                </a:cxn>
                <a:cxn ang="0">
                  <a:pos x="1505" y="5374"/>
                </a:cxn>
                <a:cxn ang="0">
                  <a:pos x="1268" y="5681"/>
                </a:cxn>
                <a:cxn ang="0">
                  <a:pos x="167" y="5737"/>
                </a:cxn>
                <a:cxn ang="0">
                  <a:pos x="18" y="5530"/>
                </a:cxn>
                <a:cxn ang="0">
                  <a:pos x="0" y="5362"/>
                </a:cxn>
                <a:cxn ang="0">
                  <a:pos x="39" y="5178"/>
                </a:cxn>
                <a:cxn ang="0">
                  <a:pos x="144" y="5039"/>
                </a:cxn>
                <a:cxn ang="0">
                  <a:pos x="321" y="5004"/>
                </a:cxn>
                <a:cxn ang="0">
                  <a:pos x="540" y="5116"/>
                </a:cxn>
                <a:cxn ang="0">
                  <a:pos x="607" y="5271"/>
                </a:cxn>
                <a:cxn ang="0">
                  <a:pos x="542" y="5451"/>
                </a:cxn>
                <a:cxn ang="0">
                  <a:pos x="463" y="5548"/>
                </a:cxn>
                <a:cxn ang="0">
                  <a:pos x="437" y="5609"/>
                </a:cxn>
                <a:cxn ang="0">
                  <a:pos x="467" y="5681"/>
                </a:cxn>
                <a:cxn ang="0">
                  <a:pos x="549" y="5742"/>
                </a:cxn>
                <a:cxn ang="0">
                  <a:pos x="714" y="5742"/>
                </a:cxn>
                <a:cxn ang="0">
                  <a:pos x="972" y="5639"/>
                </a:cxn>
                <a:cxn ang="0">
                  <a:pos x="1168" y="5404"/>
                </a:cxn>
                <a:cxn ang="0">
                  <a:pos x="1280" y="5046"/>
                </a:cxn>
                <a:cxn ang="0">
                  <a:pos x="1326" y="4594"/>
                </a:cxn>
                <a:cxn ang="0">
                  <a:pos x="1333" y="4080"/>
                </a:cxn>
                <a:cxn ang="0">
                  <a:pos x="1315" y="3421"/>
                </a:cxn>
                <a:cxn ang="0">
                  <a:pos x="1238" y="3065"/>
                </a:cxn>
                <a:cxn ang="0">
                  <a:pos x="1110" y="2839"/>
                </a:cxn>
                <a:cxn ang="0">
                  <a:pos x="1135" y="2653"/>
                </a:cxn>
                <a:cxn ang="0">
                  <a:pos x="1214" y="2304"/>
                </a:cxn>
                <a:cxn ang="0">
                  <a:pos x="1245" y="1836"/>
                </a:cxn>
                <a:cxn ang="0">
                  <a:pos x="1291" y="1322"/>
                </a:cxn>
                <a:cxn ang="0">
                  <a:pos x="1417" y="740"/>
                </a:cxn>
                <a:cxn ang="0">
                  <a:pos x="1610" y="326"/>
                </a:cxn>
                <a:cxn ang="0">
                  <a:pos x="1859" y="51"/>
                </a:cxn>
              </a:cxnLst>
              <a:rect l="0" t="0" r="r" b="b"/>
              <a:pathLst>
                <a:path w="3062" h="5788">
                  <a:moveTo>
                    <a:pt x="1929" y="0"/>
                  </a:moveTo>
                  <a:lnTo>
                    <a:pt x="2832" y="0"/>
                  </a:lnTo>
                  <a:lnTo>
                    <a:pt x="2895" y="51"/>
                  </a:lnTo>
                  <a:lnTo>
                    <a:pt x="2948" y="105"/>
                  </a:lnTo>
                  <a:lnTo>
                    <a:pt x="2990" y="158"/>
                  </a:lnTo>
                  <a:lnTo>
                    <a:pt x="3023" y="212"/>
                  </a:lnTo>
                  <a:lnTo>
                    <a:pt x="3044" y="261"/>
                  </a:lnTo>
                  <a:lnTo>
                    <a:pt x="3053" y="298"/>
                  </a:lnTo>
                  <a:lnTo>
                    <a:pt x="3060" y="338"/>
                  </a:lnTo>
                  <a:lnTo>
                    <a:pt x="3062" y="382"/>
                  </a:lnTo>
                  <a:lnTo>
                    <a:pt x="3062" y="428"/>
                  </a:lnTo>
                  <a:lnTo>
                    <a:pt x="3058" y="475"/>
                  </a:lnTo>
                  <a:lnTo>
                    <a:pt x="3048" y="521"/>
                  </a:lnTo>
                  <a:lnTo>
                    <a:pt x="3037" y="568"/>
                  </a:lnTo>
                  <a:lnTo>
                    <a:pt x="3021" y="612"/>
                  </a:lnTo>
                  <a:lnTo>
                    <a:pt x="3002" y="654"/>
                  </a:lnTo>
                  <a:lnTo>
                    <a:pt x="2979" y="691"/>
                  </a:lnTo>
                  <a:lnTo>
                    <a:pt x="2948" y="724"/>
                  </a:lnTo>
                  <a:lnTo>
                    <a:pt x="2916" y="752"/>
                  </a:lnTo>
                  <a:lnTo>
                    <a:pt x="2879" y="773"/>
                  </a:lnTo>
                  <a:lnTo>
                    <a:pt x="2837" y="784"/>
                  </a:lnTo>
                  <a:lnTo>
                    <a:pt x="2790" y="789"/>
                  </a:lnTo>
                  <a:lnTo>
                    <a:pt x="2739" y="784"/>
                  </a:lnTo>
                  <a:lnTo>
                    <a:pt x="2683" y="770"/>
                  </a:lnTo>
                  <a:lnTo>
                    <a:pt x="2623" y="743"/>
                  </a:lnTo>
                  <a:lnTo>
                    <a:pt x="2567" y="708"/>
                  </a:lnTo>
                  <a:lnTo>
                    <a:pt x="2522" y="673"/>
                  </a:lnTo>
                  <a:lnTo>
                    <a:pt x="2490" y="636"/>
                  </a:lnTo>
                  <a:lnTo>
                    <a:pt x="2469" y="596"/>
                  </a:lnTo>
                  <a:lnTo>
                    <a:pt x="2457" y="556"/>
                  </a:lnTo>
                  <a:lnTo>
                    <a:pt x="2455" y="517"/>
                  </a:lnTo>
                  <a:lnTo>
                    <a:pt x="2457" y="480"/>
                  </a:lnTo>
                  <a:lnTo>
                    <a:pt x="2467" y="440"/>
                  </a:lnTo>
                  <a:lnTo>
                    <a:pt x="2499" y="370"/>
                  </a:lnTo>
                  <a:lnTo>
                    <a:pt x="2520" y="338"/>
                  </a:lnTo>
                  <a:lnTo>
                    <a:pt x="2541" y="307"/>
                  </a:lnTo>
                  <a:lnTo>
                    <a:pt x="2562" y="282"/>
                  </a:lnTo>
                  <a:lnTo>
                    <a:pt x="2583" y="258"/>
                  </a:lnTo>
                  <a:lnTo>
                    <a:pt x="2599" y="240"/>
                  </a:lnTo>
                  <a:lnTo>
                    <a:pt x="2616" y="226"/>
                  </a:lnTo>
                  <a:lnTo>
                    <a:pt x="2627" y="214"/>
                  </a:lnTo>
                  <a:lnTo>
                    <a:pt x="2627" y="193"/>
                  </a:lnTo>
                  <a:lnTo>
                    <a:pt x="2625" y="179"/>
                  </a:lnTo>
                  <a:lnTo>
                    <a:pt x="2620" y="163"/>
                  </a:lnTo>
                  <a:lnTo>
                    <a:pt x="2616" y="144"/>
                  </a:lnTo>
                  <a:lnTo>
                    <a:pt x="2606" y="126"/>
                  </a:lnTo>
                  <a:lnTo>
                    <a:pt x="2595" y="107"/>
                  </a:lnTo>
                  <a:lnTo>
                    <a:pt x="2581" y="91"/>
                  </a:lnTo>
                  <a:lnTo>
                    <a:pt x="2562" y="72"/>
                  </a:lnTo>
                  <a:lnTo>
                    <a:pt x="2541" y="58"/>
                  </a:lnTo>
                  <a:lnTo>
                    <a:pt x="2513" y="47"/>
                  </a:lnTo>
                  <a:lnTo>
                    <a:pt x="2481" y="40"/>
                  </a:lnTo>
                  <a:lnTo>
                    <a:pt x="2443" y="37"/>
                  </a:lnTo>
                  <a:lnTo>
                    <a:pt x="2399" y="40"/>
                  </a:lnTo>
                  <a:lnTo>
                    <a:pt x="2348" y="47"/>
                  </a:lnTo>
                  <a:lnTo>
                    <a:pt x="2290" y="61"/>
                  </a:lnTo>
                  <a:lnTo>
                    <a:pt x="2225" y="84"/>
                  </a:lnTo>
                  <a:lnTo>
                    <a:pt x="2152" y="114"/>
                  </a:lnTo>
                  <a:lnTo>
                    <a:pt x="2087" y="151"/>
                  </a:lnTo>
                  <a:lnTo>
                    <a:pt x="2029" y="196"/>
                  </a:lnTo>
                  <a:lnTo>
                    <a:pt x="1978" y="252"/>
                  </a:lnTo>
                  <a:lnTo>
                    <a:pt x="1934" y="314"/>
                  </a:lnTo>
                  <a:lnTo>
                    <a:pt x="1892" y="386"/>
                  </a:lnTo>
                  <a:lnTo>
                    <a:pt x="1857" y="466"/>
                  </a:lnTo>
                  <a:lnTo>
                    <a:pt x="1829" y="552"/>
                  </a:lnTo>
                  <a:lnTo>
                    <a:pt x="1803" y="645"/>
                  </a:lnTo>
                  <a:lnTo>
                    <a:pt x="1782" y="745"/>
                  </a:lnTo>
                  <a:lnTo>
                    <a:pt x="1764" y="850"/>
                  </a:lnTo>
                  <a:lnTo>
                    <a:pt x="1750" y="959"/>
                  </a:lnTo>
                  <a:lnTo>
                    <a:pt x="1740" y="1075"/>
                  </a:lnTo>
                  <a:lnTo>
                    <a:pt x="1733" y="1196"/>
                  </a:lnTo>
                  <a:lnTo>
                    <a:pt x="1729" y="1320"/>
                  </a:lnTo>
                  <a:lnTo>
                    <a:pt x="1727" y="1445"/>
                  </a:lnTo>
                  <a:lnTo>
                    <a:pt x="1724" y="1576"/>
                  </a:lnTo>
                  <a:lnTo>
                    <a:pt x="1727" y="1708"/>
                  </a:lnTo>
                  <a:lnTo>
                    <a:pt x="1729" y="1843"/>
                  </a:lnTo>
                  <a:lnTo>
                    <a:pt x="1731" y="1981"/>
                  </a:lnTo>
                  <a:lnTo>
                    <a:pt x="1745" y="2369"/>
                  </a:lnTo>
                  <a:lnTo>
                    <a:pt x="1754" y="2460"/>
                  </a:lnTo>
                  <a:lnTo>
                    <a:pt x="1768" y="2551"/>
                  </a:lnTo>
                  <a:lnTo>
                    <a:pt x="1787" y="2644"/>
                  </a:lnTo>
                  <a:lnTo>
                    <a:pt x="1808" y="2735"/>
                  </a:lnTo>
                  <a:lnTo>
                    <a:pt x="1834" y="2823"/>
                  </a:lnTo>
                  <a:lnTo>
                    <a:pt x="1864" y="2905"/>
                  </a:lnTo>
                  <a:lnTo>
                    <a:pt x="1901" y="2979"/>
                  </a:lnTo>
                  <a:lnTo>
                    <a:pt x="1929" y="3016"/>
                  </a:lnTo>
                  <a:lnTo>
                    <a:pt x="1952" y="3044"/>
                  </a:lnTo>
                  <a:lnTo>
                    <a:pt x="1971" y="3068"/>
                  </a:lnTo>
                  <a:lnTo>
                    <a:pt x="1987" y="3084"/>
                  </a:lnTo>
                  <a:lnTo>
                    <a:pt x="1945" y="3170"/>
                  </a:lnTo>
                  <a:lnTo>
                    <a:pt x="1908" y="3261"/>
                  </a:lnTo>
                  <a:lnTo>
                    <a:pt x="1880" y="3356"/>
                  </a:lnTo>
                  <a:lnTo>
                    <a:pt x="1857" y="3452"/>
                  </a:lnTo>
                  <a:lnTo>
                    <a:pt x="1838" y="3547"/>
                  </a:lnTo>
                  <a:lnTo>
                    <a:pt x="1827" y="3640"/>
                  </a:lnTo>
                  <a:lnTo>
                    <a:pt x="1822" y="3801"/>
                  </a:lnTo>
                  <a:lnTo>
                    <a:pt x="1817" y="3954"/>
                  </a:lnTo>
                  <a:lnTo>
                    <a:pt x="1808" y="4098"/>
                  </a:lnTo>
                  <a:lnTo>
                    <a:pt x="1808" y="4103"/>
                  </a:lnTo>
                  <a:lnTo>
                    <a:pt x="1792" y="4292"/>
                  </a:lnTo>
                  <a:lnTo>
                    <a:pt x="1771" y="4466"/>
                  </a:lnTo>
                  <a:lnTo>
                    <a:pt x="1745" y="4629"/>
                  </a:lnTo>
                  <a:lnTo>
                    <a:pt x="1717" y="4780"/>
                  </a:lnTo>
                  <a:lnTo>
                    <a:pt x="1682" y="4920"/>
                  </a:lnTo>
                  <a:lnTo>
                    <a:pt x="1645" y="5050"/>
                  </a:lnTo>
                  <a:lnTo>
                    <a:pt x="1601" y="5169"/>
                  </a:lnTo>
                  <a:lnTo>
                    <a:pt x="1557" y="5276"/>
                  </a:lnTo>
                  <a:lnTo>
                    <a:pt x="1505" y="5374"/>
                  </a:lnTo>
                  <a:lnTo>
                    <a:pt x="1452" y="5465"/>
                  </a:lnTo>
                  <a:lnTo>
                    <a:pt x="1394" y="5544"/>
                  </a:lnTo>
                  <a:lnTo>
                    <a:pt x="1333" y="5616"/>
                  </a:lnTo>
                  <a:lnTo>
                    <a:pt x="1268" y="5681"/>
                  </a:lnTo>
                  <a:lnTo>
                    <a:pt x="1201" y="5737"/>
                  </a:lnTo>
                  <a:lnTo>
                    <a:pt x="1131" y="5788"/>
                  </a:lnTo>
                  <a:lnTo>
                    <a:pt x="228" y="5788"/>
                  </a:lnTo>
                  <a:lnTo>
                    <a:pt x="167" y="5737"/>
                  </a:lnTo>
                  <a:lnTo>
                    <a:pt x="114" y="5683"/>
                  </a:lnTo>
                  <a:lnTo>
                    <a:pt x="72" y="5630"/>
                  </a:lnTo>
                  <a:lnTo>
                    <a:pt x="39" y="5579"/>
                  </a:lnTo>
                  <a:lnTo>
                    <a:pt x="18" y="5530"/>
                  </a:lnTo>
                  <a:lnTo>
                    <a:pt x="9" y="5493"/>
                  </a:lnTo>
                  <a:lnTo>
                    <a:pt x="2" y="5453"/>
                  </a:lnTo>
                  <a:lnTo>
                    <a:pt x="0" y="5409"/>
                  </a:lnTo>
                  <a:lnTo>
                    <a:pt x="0" y="5362"/>
                  </a:lnTo>
                  <a:lnTo>
                    <a:pt x="4" y="5316"/>
                  </a:lnTo>
                  <a:lnTo>
                    <a:pt x="11" y="5269"/>
                  </a:lnTo>
                  <a:lnTo>
                    <a:pt x="23" y="5223"/>
                  </a:lnTo>
                  <a:lnTo>
                    <a:pt x="39" y="5178"/>
                  </a:lnTo>
                  <a:lnTo>
                    <a:pt x="60" y="5136"/>
                  </a:lnTo>
                  <a:lnTo>
                    <a:pt x="83" y="5099"/>
                  </a:lnTo>
                  <a:lnTo>
                    <a:pt x="111" y="5067"/>
                  </a:lnTo>
                  <a:lnTo>
                    <a:pt x="144" y="5039"/>
                  </a:lnTo>
                  <a:lnTo>
                    <a:pt x="181" y="5018"/>
                  </a:lnTo>
                  <a:lnTo>
                    <a:pt x="223" y="5004"/>
                  </a:lnTo>
                  <a:lnTo>
                    <a:pt x="270" y="4999"/>
                  </a:lnTo>
                  <a:lnTo>
                    <a:pt x="321" y="5004"/>
                  </a:lnTo>
                  <a:lnTo>
                    <a:pt x="379" y="5020"/>
                  </a:lnTo>
                  <a:lnTo>
                    <a:pt x="439" y="5046"/>
                  </a:lnTo>
                  <a:lnTo>
                    <a:pt x="495" y="5081"/>
                  </a:lnTo>
                  <a:lnTo>
                    <a:pt x="540" y="5116"/>
                  </a:lnTo>
                  <a:lnTo>
                    <a:pt x="572" y="5153"/>
                  </a:lnTo>
                  <a:lnTo>
                    <a:pt x="593" y="5192"/>
                  </a:lnTo>
                  <a:lnTo>
                    <a:pt x="605" y="5232"/>
                  </a:lnTo>
                  <a:lnTo>
                    <a:pt x="607" y="5271"/>
                  </a:lnTo>
                  <a:lnTo>
                    <a:pt x="605" y="5309"/>
                  </a:lnTo>
                  <a:lnTo>
                    <a:pt x="595" y="5348"/>
                  </a:lnTo>
                  <a:lnTo>
                    <a:pt x="563" y="5418"/>
                  </a:lnTo>
                  <a:lnTo>
                    <a:pt x="542" y="5451"/>
                  </a:lnTo>
                  <a:lnTo>
                    <a:pt x="521" y="5481"/>
                  </a:lnTo>
                  <a:lnTo>
                    <a:pt x="500" y="5506"/>
                  </a:lnTo>
                  <a:lnTo>
                    <a:pt x="479" y="5530"/>
                  </a:lnTo>
                  <a:lnTo>
                    <a:pt x="463" y="5548"/>
                  </a:lnTo>
                  <a:lnTo>
                    <a:pt x="446" y="5562"/>
                  </a:lnTo>
                  <a:lnTo>
                    <a:pt x="435" y="5574"/>
                  </a:lnTo>
                  <a:lnTo>
                    <a:pt x="435" y="5595"/>
                  </a:lnTo>
                  <a:lnTo>
                    <a:pt x="437" y="5609"/>
                  </a:lnTo>
                  <a:lnTo>
                    <a:pt x="442" y="5625"/>
                  </a:lnTo>
                  <a:lnTo>
                    <a:pt x="446" y="5644"/>
                  </a:lnTo>
                  <a:lnTo>
                    <a:pt x="456" y="5662"/>
                  </a:lnTo>
                  <a:lnTo>
                    <a:pt x="467" y="5681"/>
                  </a:lnTo>
                  <a:lnTo>
                    <a:pt x="481" y="5697"/>
                  </a:lnTo>
                  <a:lnTo>
                    <a:pt x="500" y="5716"/>
                  </a:lnTo>
                  <a:lnTo>
                    <a:pt x="521" y="5730"/>
                  </a:lnTo>
                  <a:lnTo>
                    <a:pt x="549" y="5742"/>
                  </a:lnTo>
                  <a:lnTo>
                    <a:pt x="581" y="5749"/>
                  </a:lnTo>
                  <a:lnTo>
                    <a:pt x="619" y="5751"/>
                  </a:lnTo>
                  <a:lnTo>
                    <a:pt x="663" y="5749"/>
                  </a:lnTo>
                  <a:lnTo>
                    <a:pt x="714" y="5742"/>
                  </a:lnTo>
                  <a:lnTo>
                    <a:pt x="770" y="5728"/>
                  </a:lnTo>
                  <a:lnTo>
                    <a:pt x="835" y="5704"/>
                  </a:lnTo>
                  <a:lnTo>
                    <a:pt x="907" y="5674"/>
                  </a:lnTo>
                  <a:lnTo>
                    <a:pt x="972" y="5639"/>
                  </a:lnTo>
                  <a:lnTo>
                    <a:pt x="1031" y="5593"/>
                  </a:lnTo>
                  <a:lnTo>
                    <a:pt x="1082" y="5539"/>
                  </a:lnTo>
                  <a:lnTo>
                    <a:pt x="1128" y="5474"/>
                  </a:lnTo>
                  <a:lnTo>
                    <a:pt x="1168" y="5404"/>
                  </a:lnTo>
                  <a:lnTo>
                    <a:pt x="1203" y="5325"/>
                  </a:lnTo>
                  <a:lnTo>
                    <a:pt x="1233" y="5239"/>
                  </a:lnTo>
                  <a:lnTo>
                    <a:pt x="1259" y="5143"/>
                  </a:lnTo>
                  <a:lnTo>
                    <a:pt x="1280" y="5046"/>
                  </a:lnTo>
                  <a:lnTo>
                    <a:pt x="1296" y="4939"/>
                  </a:lnTo>
                  <a:lnTo>
                    <a:pt x="1310" y="4829"/>
                  </a:lnTo>
                  <a:lnTo>
                    <a:pt x="1319" y="4713"/>
                  </a:lnTo>
                  <a:lnTo>
                    <a:pt x="1326" y="4594"/>
                  </a:lnTo>
                  <a:lnTo>
                    <a:pt x="1331" y="4469"/>
                  </a:lnTo>
                  <a:lnTo>
                    <a:pt x="1333" y="4343"/>
                  </a:lnTo>
                  <a:lnTo>
                    <a:pt x="1336" y="4213"/>
                  </a:lnTo>
                  <a:lnTo>
                    <a:pt x="1333" y="4080"/>
                  </a:lnTo>
                  <a:lnTo>
                    <a:pt x="1331" y="3945"/>
                  </a:lnTo>
                  <a:lnTo>
                    <a:pt x="1329" y="3808"/>
                  </a:lnTo>
                  <a:lnTo>
                    <a:pt x="1329" y="3810"/>
                  </a:lnTo>
                  <a:lnTo>
                    <a:pt x="1315" y="3421"/>
                  </a:lnTo>
                  <a:lnTo>
                    <a:pt x="1303" y="3324"/>
                  </a:lnTo>
                  <a:lnTo>
                    <a:pt x="1287" y="3233"/>
                  </a:lnTo>
                  <a:lnTo>
                    <a:pt x="1266" y="3147"/>
                  </a:lnTo>
                  <a:lnTo>
                    <a:pt x="1238" y="3065"/>
                  </a:lnTo>
                  <a:lnTo>
                    <a:pt x="1203" y="2986"/>
                  </a:lnTo>
                  <a:lnTo>
                    <a:pt x="1161" y="2905"/>
                  </a:lnTo>
                  <a:lnTo>
                    <a:pt x="1133" y="2867"/>
                  </a:lnTo>
                  <a:lnTo>
                    <a:pt x="1110" y="2839"/>
                  </a:lnTo>
                  <a:lnTo>
                    <a:pt x="1091" y="2818"/>
                  </a:lnTo>
                  <a:lnTo>
                    <a:pt x="1075" y="2802"/>
                  </a:lnTo>
                  <a:lnTo>
                    <a:pt x="1107" y="2732"/>
                  </a:lnTo>
                  <a:lnTo>
                    <a:pt x="1135" y="2653"/>
                  </a:lnTo>
                  <a:lnTo>
                    <a:pt x="1161" y="2569"/>
                  </a:lnTo>
                  <a:lnTo>
                    <a:pt x="1182" y="2481"/>
                  </a:lnTo>
                  <a:lnTo>
                    <a:pt x="1198" y="2390"/>
                  </a:lnTo>
                  <a:lnTo>
                    <a:pt x="1214" y="2304"/>
                  </a:lnTo>
                  <a:lnTo>
                    <a:pt x="1226" y="2223"/>
                  </a:lnTo>
                  <a:lnTo>
                    <a:pt x="1235" y="2148"/>
                  </a:lnTo>
                  <a:lnTo>
                    <a:pt x="1238" y="1990"/>
                  </a:lnTo>
                  <a:lnTo>
                    <a:pt x="1245" y="1836"/>
                  </a:lnTo>
                  <a:lnTo>
                    <a:pt x="1254" y="1692"/>
                  </a:lnTo>
                  <a:lnTo>
                    <a:pt x="1254" y="1685"/>
                  </a:lnTo>
                  <a:lnTo>
                    <a:pt x="1270" y="1497"/>
                  </a:lnTo>
                  <a:lnTo>
                    <a:pt x="1291" y="1322"/>
                  </a:lnTo>
                  <a:lnTo>
                    <a:pt x="1317" y="1159"/>
                  </a:lnTo>
                  <a:lnTo>
                    <a:pt x="1345" y="1008"/>
                  </a:lnTo>
                  <a:lnTo>
                    <a:pt x="1380" y="868"/>
                  </a:lnTo>
                  <a:lnTo>
                    <a:pt x="1417" y="740"/>
                  </a:lnTo>
                  <a:lnTo>
                    <a:pt x="1459" y="622"/>
                  </a:lnTo>
                  <a:lnTo>
                    <a:pt x="1505" y="512"/>
                  </a:lnTo>
                  <a:lnTo>
                    <a:pt x="1557" y="414"/>
                  </a:lnTo>
                  <a:lnTo>
                    <a:pt x="1610" y="326"/>
                  </a:lnTo>
                  <a:lnTo>
                    <a:pt x="1666" y="245"/>
                  </a:lnTo>
                  <a:lnTo>
                    <a:pt x="1727" y="172"/>
                  </a:lnTo>
                  <a:lnTo>
                    <a:pt x="1792" y="107"/>
                  </a:lnTo>
                  <a:lnTo>
                    <a:pt x="1859" y="51"/>
                  </a:lnTo>
                  <a:lnTo>
                    <a:pt x="1929" y="0"/>
                  </a:lnTo>
                  <a:close/>
                </a:path>
              </a:pathLst>
            </a:custGeom>
            <a:solidFill>
              <a:srgbClr val="FFFFFF"/>
            </a:solidFill>
            <a:ln w="0">
              <a:solidFill>
                <a:srgbClr val="FFFFFF"/>
              </a:solidFill>
              <a:prstDash val="solid"/>
              <a:round/>
              <a:headEnd/>
              <a:tailEnd/>
            </a:ln>
          </p:spPr>
          <p:txBody>
            <a:bodyPr/>
            <a:lstStyle/>
            <a:p>
              <a:pPr defTabSz="806867" fontAlgn="base">
                <a:spcBef>
                  <a:spcPct val="0"/>
                </a:spcBef>
                <a:spcAft>
                  <a:spcPct val="0"/>
                </a:spcAft>
                <a:defRPr/>
              </a:pPr>
              <a:endParaRPr lang="en-US" sz="1588" dirty="0">
                <a:solidFill>
                  <a:srgbClr val="000000"/>
                </a:solidFill>
              </a:endParaRPr>
            </a:p>
          </p:txBody>
        </p:sp>
      </p:grpSp>
      <p:sp>
        <p:nvSpPr>
          <p:cNvPr id="34" name="Rectangle 14"/>
          <p:cNvSpPr>
            <a:spLocks noChangeArrowheads="1"/>
          </p:cNvSpPr>
          <p:nvPr userDrawn="1"/>
        </p:nvSpPr>
        <p:spPr bwMode="auto">
          <a:xfrm>
            <a:off x="207818" y="201706"/>
            <a:ext cx="8728364" cy="6454588"/>
          </a:xfrm>
          <a:prstGeom prst="rect">
            <a:avLst/>
          </a:prstGeom>
          <a:noFill/>
          <a:ln w="25400">
            <a:solidFill>
              <a:schemeClr val="hlink"/>
            </a:solidFill>
            <a:miter lim="800000"/>
            <a:headEnd/>
            <a:tailEnd/>
          </a:ln>
        </p:spPr>
        <p:txBody>
          <a:bodyPr wrap="none" lIns="89865" tIns="44932" rIns="89865" bIns="44932" anchor="ctr"/>
          <a:lstStyle/>
          <a:p>
            <a:pPr defTabSz="806867" fontAlgn="base">
              <a:spcBef>
                <a:spcPct val="0"/>
              </a:spcBef>
              <a:spcAft>
                <a:spcPct val="0"/>
              </a:spcAft>
              <a:defRPr/>
            </a:pPr>
            <a:endParaRPr lang="en-US" sz="1588" dirty="0">
              <a:solidFill>
                <a:srgbClr val="000000"/>
              </a:solidFill>
            </a:endParaRPr>
          </a:p>
        </p:txBody>
      </p:sp>
    </p:spTree>
    <p:extLst>
      <p:ext uri="{BB962C8B-B14F-4D97-AF65-F5344CB8AC3E}">
        <p14:creationId xmlns:p14="http://schemas.microsoft.com/office/powerpoint/2010/main" val="1248377354"/>
      </p:ext>
    </p:extLst>
  </p:cSld>
  <p:clrMap bg1="lt1" tx1="dk1" bg2="lt2" tx2="dk2" accent1="accent1" accent2="accent2" accent3="accent3" accent4="accent4" accent5="accent5" accent6="accent6" hlink="hlink" folHlink="folHlink"/>
  <p:sldLayoutIdLst>
    <p:sldLayoutId id="2147483676" r:id="rId1"/>
    <p:sldLayoutId id="2147483677" r:id="rId2"/>
  </p:sldLayoutIdLst>
  <p:timing>
    <p:tnLst>
      <p:par>
        <p:cTn id="1" dur="indefinite" restart="never" nodeType="tmRoot"/>
      </p:par>
    </p:tnLst>
  </p:timing>
  <p:hf hdr="0" dt="0"/>
  <p:txStyles>
    <p:titleStyle>
      <a:lvl1pPr algn="ctr" rtl="0" fontAlgn="base">
        <a:spcBef>
          <a:spcPct val="0"/>
        </a:spcBef>
        <a:spcAft>
          <a:spcPct val="0"/>
        </a:spcAft>
        <a:defRPr sz="4324">
          <a:solidFill>
            <a:schemeClr val="tx2"/>
          </a:solidFill>
          <a:latin typeface="+mj-lt"/>
          <a:ea typeface="+mj-ea"/>
          <a:cs typeface="+mj-cs"/>
        </a:defRPr>
      </a:lvl1pPr>
      <a:lvl2pPr algn="ctr" rtl="0" fontAlgn="base">
        <a:spcBef>
          <a:spcPct val="0"/>
        </a:spcBef>
        <a:spcAft>
          <a:spcPct val="0"/>
        </a:spcAft>
        <a:defRPr sz="4324">
          <a:solidFill>
            <a:schemeClr val="tx2"/>
          </a:solidFill>
          <a:latin typeface="Cambria" pitchFamily="18" charset="0"/>
        </a:defRPr>
      </a:lvl2pPr>
      <a:lvl3pPr algn="ctr" rtl="0" fontAlgn="base">
        <a:spcBef>
          <a:spcPct val="0"/>
        </a:spcBef>
        <a:spcAft>
          <a:spcPct val="0"/>
        </a:spcAft>
        <a:defRPr sz="4324">
          <a:solidFill>
            <a:schemeClr val="tx2"/>
          </a:solidFill>
          <a:latin typeface="Cambria" pitchFamily="18" charset="0"/>
        </a:defRPr>
      </a:lvl3pPr>
      <a:lvl4pPr algn="ctr" rtl="0" fontAlgn="base">
        <a:spcBef>
          <a:spcPct val="0"/>
        </a:spcBef>
        <a:spcAft>
          <a:spcPct val="0"/>
        </a:spcAft>
        <a:defRPr sz="4324">
          <a:solidFill>
            <a:schemeClr val="tx2"/>
          </a:solidFill>
          <a:latin typeface="Cambria" pitchFamily="18" charset="0"/>
        </a:defRPr>
      </a:lvl4pPr>
      <a:lvl5pPr algn="ctr" rtl="0" fontAlgn="base">
        <a:spcBef>
          <a:spcPct val="0"/>
        </a:spcBef>
        <a:spcAft>
          <a:spcPct val="0"/>
        </a:spcAft>
        <a:defRPr sz="4324">
          <a:solidFill>
            <a:schemeClr val="tx2"/>
          </a:solidFill>
          <a:latin typeface="Cambria" pitchFamily="18" charset="0"/>
        </a:defRPr>
      </a:lvl5pPr>
      <a:lvl6pPr marL="449399" algn="ctr" rtl="0" fontAlgn="base">
        <a:spcBef>
          <a:spcPct val="0"/>
        </a:spcBef>
        <a:spcAft>
          <a:spcPct val="0"/>
        </a:spcAft>
        <a:defRPr sz="4324">
          <a:solidFill>
            <a:schemeClr val="tx2"/>
          </a:solidFill>
          <a:latin typeface="Cambria" pitchFamily="18" charset="0"/>
        </a:defRPr>
      </a:lvl6pPr>
      <a:lvl7pPr marL="898800" algn="ctr" rtl="0" fontAlgn="base">
        <a:spcBef>
          <a:spcPct val="0"/>
        </a:spcBef>
        <a:spcAft>
          <a:spcPct val="0"/>
        </a:spcAft>
        <a:defRPr sz="4324">
          <a:solidFill>
            <a:schemeClr val="tx2"/>
          </a:solidFill>
          <a:latin typeface="Cambria" pitchFamily="18" charset="0"/>
        </a:defRPr>
      </a:lvl7pPr>
      <a:lvl8pPr marL="1348200" algn="ctr" rtl="0" fontAlgn="base">
        <a:spcBef>
          <a:spcPct val="0"/>
        </a:spcBef>
        <a:spcAft>
          <a:spcPct val="0"/>
        </a:spcAft>
        <a:defRPr sz="4324">
          <a:solidFill>
            <a:schemeClr val="tx2"/>
          </a:solidFill>
          <a:latin typeface="Cambria" pitchFamily="18" charset="0"/>
        </a:defRPr>
      </a:lvl8pPr>
      <a:lvl9pPr marL="1797601" algn="ctr" rtl="0" fontAlgn="base">
        <a:spcBef>
          <a:spcPct val="0"/>
        </a:spcBef>
        <a:spcAft>
          <a:spcPct val="0"/>
        </a:spcAft>
        <a:defRPr sz="4324">
          <a:solidFill>
            <a:schemeClr val="tx2"/>
          </a:solidFill>
          <a:latin typeface="Cambria" pitchFamily="18" charset="0"/>
        </a:defRPr>
      </a:lvl9pPr>
    </p:titleStyle>
    <p:bodyStyle>
      <a:lvl1pPr marL="335490" indent="-335490" algn="l" rtl="0" fontAlgn="base">
        <a:spcBef>
          <a:spcPct val="20000"/>
        </a:spcBef>
        <a:spcAft>
          <a:spcPct val="0"/>
        </a:spcAft>
        <a:buChar char="•"/>
        <a:defRPr sz="3177">
          <a:solidFill>
            <a:schemeClr val="tx1"/>
          </a:solidFill>
          <a:latin typeface="+mn-lt"/>
          <a:ea typeface="+mn-ea"/>
          <a:cs typeface="+mn-cs"/>
        </a:defRPr>
      </a:lvl1pPr>
      <a:lvl2pPr marL="728716" indent="-279315" algn="l" rtl="0" fontAlgn="base">
        <a:spcBef>
          <a:spcPct val="20000"/>
        </a:spcBef>
        <a:spcAft>
          <a:spcPct val="0"/>
        </a:spcAft>
        <a:buChar char="–"/>
        <a:defRPr sz="2735">
          <a:solidFill>
            <a:schemeClr val="tx1"/>
          </a:solidFill>
          <a:latin typeface="+mn-lt"/>
        </a:defRPr>
      </a:lvl2pPr>
      <a:lvl3pPr marL="1121941" indent="-223141" algn="l" rtl="0" fontAlgn="base">
        <a:spcBef>
          <a:spcPct val="20000"/>
        </a:spcBef>
        <a:spcAft>
          <a:spcPct val="0"/>
        </a:spcAft>
        <a:buChar char="•"/>
        <a:defRPr sz="2382">
          <a:solidFill>
            <a:schemeClr val="tx1"/>
          </a:solidFill>
          <a:latin typeface="+mn-lt"/>
        </a:defRPr>
      </a:lvl3pPr>
      <a:lvl4pPr marL="1571341" indent="-223141" algn="l" rtl="0" fontAlgn="base">
        <a:spcBef>
          <a:spcPct val="20000"/>
        </a:spcBef>
        <a:spcAft>
          <a:spcPct val="0"/>
        </a:spcAft>
        <a:buChar char="–"/>
        <a:defRPr sz="1941">
          <a:solidFill>
            <a:schemeClr val="tx1"/>
          </a:solidFill>
          <a:latin typeface="+mn-lt"/>
        </a:defRPr>
      </a:lvl4pPr>
      <a:lvl5pPr marL="2020741" indent="-223141" algn="l" rtl="0" fontAlgn="base">
        <a:spcBef>
          <a:spcPct val="20000"/>
        </a:spcBef>
        <a:spcAft>
          <a:spcPct val="0"/>
        </a:spcAft>
        <a:buChar char="»"/>
        <a:defRPr sz="1941">
          <a:solidFill>
            <a:schemeClr val="tx1"/>
          </a:solidFill>
          <a:latin typeface="+mn-lt"/>
        </a:defRPr>
      </a:lvl5pPr>
      <a:lvl6pPr marL="2470142" indent="-223141" algn="l" rtl="0" fontAlgn="base">
        <a:spcBef>
          <a:spcPct val="20000"/>
        </a:spcBef>
        <a:spcAft>
          <a:spcPct val="0"/>
        </a:spcAft>
        <a:buChar char="»"/>
        <a:defRPr sz="1941">
          <a:solidFill>
            <a:schemeClr val="tx1"/>
          </a:solidFill>
          <a:latin typeface="+mn-lt"/>
        </a:defRPr>
      </a:lvl6pPr>
      <a:lvl7pPr marL="2919541" indent="-223141" algn="l" rtl="0" fontAlgn="base">
        <a:spcBef>
          <a:spcPct val="20000"/>
        </a:spcBef>
        <a:spcAft>
          <a:spcPct val="0"/>
        </a:spcAft>
        <a:buChar char="»"/>
        <a:defRPr sz="1941">
          <a:solidFill>
            <a:schemeClr val="tx1"/>
          </a:solidFill>
          <a:latin typeface="+mn-lt"/>
        </a:defRPr>
      </a:lvl7pPr>
      <a:lvl8pPr marL="3368942" indent="-223141" algn="l" rtl="0" fontAlgn="base">
        <a:spcBef>
          <a:spcPct val="20000"/>
        </a:spcBef>
        <a:spcAft>
          <a:spcPct val="0"/>
        </a:spcAft>
        <a:buChar char="»"/>
        <a:defRPr sz="1941">
          <a:solidFill>
            <a:schemeClr val="tx1"/>
          </a:solidFill>
          <a:latin typeface="+mn-lt"/>
        </a:defRPr>
      </a:lvl8pPr>
      <a:lvl9pPr marL="3818342" indent="-223141" algn="l" rtl="0" fontAlgn="base">
        <a:spcBef>
          <a:spcPct val="20000"/>
        </a:spcBef>
        <a:spcAft>
          <a:spcPct val="0"/>
        </a:spcAft>
        <a:buChar char="»"/>
        <a:defRPr sz="1941">
          <a:solidFill>
            <a:schemeClr val="tx1"/>
          </a:solidFill>
          <a:latin typeface="+mn-lt"/>
        </a:defRPr>
      </a:lvl9pPr>
    </p:bodyStyle>
    <p:otherStyle>
      <a:defPPr>
        <a:defRPr lang="en-US"/>
      </a:defPPr>
      <a:lvl1pPr marL="0" algn="l" defTabSz="898800" rtl="0" eaLnBrk="1" latinLnBrk="0" hangingPunct="1">
        <a:defRPr sz="1765" kern="1200">
          <a:solidFill>
            <a:schemeClr val="tx1"/>
          </a:solidFill>
          <a:latin typeface="+mn-lt"/>
          <a:ea typeface="+mn-ea"/>
          <a:cs typeface="+mn-cs"/>
        </a:defRPr>
      </a:lvl1pPr>
      <a:lvl2pPr marL="449399" algn="l" defTabSz="898800" rtl="0" eaLnBrk="1" latinLnBrk="0" hangingPunct="1">
        <a:defRPr sz="1765" kern="1200">
          <a:solidFill>
            <a:schemeClr val="tx1"/>
          </a:solidFill>
          <a:latin typeface="+mn-lt"/>
          <a:ea typeface="+mn-ea"/>
          <a:cs typeface="+mn-cs"/>
        </a:defRPr>
      </a:lvl2pPr>
      <a:lvl3pPr marL="898800" algn="l" defTabSz="898800" rtl="0" eaLnBrk="1" latinLnBrk="0" hangingPunct="1">
        <a:defRPr sz="1765" kern="1200">
          <a:solidFill>
            <a:schemeClr val="tx1"/>
          </a:solidFill>
          <a:latin typeface="+mn-lt"/>
          <a:ea typeface="+mn-ea"/>
          <a:cs typeface="+mn-cs"/>
        </a:defRPr>
      </a:lvl3pPr>
      <a:lvl4pPr marL="1348200" algn="l" defTabSz="898800" rtl="0" eaLnBrk="1" latinLnBrk="0" hangingPunct="1">
        <a:defRPr sz="1765" kern="1200">
          <a:solidFill>
            <a:schemeClr val="tx1"/>
          </a:solidFill>
          <a:latin typeface="+mn-lt"/>
          <a:ea typeface="+mn-ea"/>
          <a:cs typeface="+mn-cs"/>
        </a:defRPr>
      </a:lvl4pPr>
      <a:lvl5pPr marL="1797601" algn="l" defTabSz="898800" rtl="0" eaLnBrk="1" latinLnBrk="0" hangingPunct="1">
        <a:defRPr sz="1765" kern="1200">
          <a:solidFill>
            <a:schemeClr val="tx1"/>
          </a:solidFill>
          <a:latin typeface="+mn-lt"/>
          <a:ea typeface="+mn-ea"/>
          <a:cs typeface="+mn-cs"/>
        </a:defRPr>
      </a:lvl5pPr>
      <a:lvl6pPr marL="2247002" algn="l" defTabSz="898800" rtl="0" eaLnBrk="1" latinLnBrk="0" hangingPunct="1">
        <a:defRPr sz="1765" kern="1200">
          <a:solidFill>
            <a:schemeClr val="tx1"/>
          </a:solidFill>
          <a:latin typeface="+mn-lt"/>
          <a:ea typeface="+mn-ea"/>
          <a:cs typeface="+mn-cs"/>
        </a:defRPr>
      </a:lvl6pPr>
      <a:lvl7pPr marL="2696401" algn="l" defTabSz="898800" rtl="0" eaLnBrk="1" latinLnBrk="0" hangingPunct="1">
        <a:defRPr sz="1765" kern="1200">
          <a:solidFill>
            <a:schemeClr val="tx1"/>
          </a:solidFill>
          <a:latin typeface="+mn-lt"/>
          <a:ea typeface="+mn-ea"/>
          <a:cs typeface="+mn-cs"/>
        </a:defRPr>
      </a:lvl7pPr>
      <a:lvl8pPr marL="3145802" algn="l" defTabSz="898800" rtl="0" eaLnBrk="1" latinLnBrk="0" hangingPunct="1">
        <a:defRPr sz="1765" kern="1200">
          <a:solidFill>
            <a:schemeClr val="tx1"/>
          </a:solidFill>
          <a:latin typeface="+mn-lt"/>
          <a:ea typeface="+mn-ea"/>
          <a:cs typeface="+mn-cs"/>
        </a:defRPr>
      </a:lvl8pPr>
      <a:lvl9pPr marL="3595201" algn="l" defTabSz="898800" rtl="0" eaLnBrk="1" latinLnBrk="0" hangingPunct="1">
        <a:defRPr sz="176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vmlDrawing" Target="../drawings/vmlDrawing1.vml"/><Relationship Id="rId5" Type="http://schemas.openxmlformats.org/officeDocument/2006/relationships/image" Target="../media/image3.emf"/><Relationship Id="rId4" Type="http://schemas.openxmlformats.org/officeDocument/2006/relationships/package" Target="../embeddings/Microsoft_Excel_Worksheet1.xlsx"/></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88"/>
          <p:cNvSpPr txBox="1">
            <a:spLocks noChangeArrowheads="1"/>
          </p:cNvSpPr>
          <p:nvPr/>
        </p:nvSpPr>
        <p:spPr bwMode="auto">
          <a:xfrm>
            <a:off x="3262048" y="5368772"/>
            <a:ext cx="5423920" cy="755988"/>
          </a:xfrm>
          <a:prstGeom prst="rect">
            <a:avLst/>
          </a:prstGeom>
          <a:noFill/>
          <a:ln w="9525">
            <a:noFill/>
            <a:miter lim="800000"/>
            <a:headEnd/>
            <a:tailEnd/>
          </a:ln>
        </p:spPr>
        <p:txBody>
          <a:bodyPr vert="horz" wrap="square" lIns="89865" tIns="44932" rIns="89865" bIns="44932" numCol="1" anchor="t" anchorCtr="0" compatLnSpc="1">
            <a:prstTxWarp prst="textNoShape">
              <a:avLst/>
            </a:prstTxWarp>
            <a:spAutoFit/>
          </a:bodyPr>
          <a:lstStyle/>
          <a:p>
            <a:pPr algn="r" defTabSz="898800" fontAlgn="base">
              <a:spcBef>
                <a:spcPct val="0"/>
              </a:spcBef>
              <a:spcAft>
                <a:spcPct val="0"/>
              </a:spcAft>
            </a:pPr>
            <a:r>
              <a:rPr lang="en-US" sz="2735" dirty="0" smtClean="0">
                <a:solidFill>
                  <a:srgbClr val="968880"/>
                </a:solidFill>
                <a:latin typeface="Calibri" pitchFamily="34" charset="0"/>
              </a:rPr>
              <a:t>Prepayment Outlook</a:t>
            </a:r>
            <a:endParaRPr lang="en-US" sz="2735" dirty="0">
              <a:solidFill>
                <a:srgbClr val="968880"/>
              </a:solidFill>
              <a:latin typeface="Calibri" pitchFamily="34" charset="0"/>
            </a:endParaRPr>
          </a:p>
          <a:p>
            <a:pPr algn="r" defTabSz="898800" fontAlgn="base">
              <a:spcBef>
                <a:spcPct val="0"/>
              </a:spcBef>
              <a:spcAft>
                <a:spcPct val="0"/>
              </a:spcAft>
            </a:pPr>
            <a:r>
              <a:rPr lang="en-US" sz="1588" dirty="0" smtClean="0">
                <a:solidFill>
                  <a:srgbClr val="203353"/>
                </a:solidFill>
                <a:latin typeface="Calibri" pitchFamily="34" charset="0"/>
              </a:rPr>
              <a:t>Q1 2018</a:t>
            </a:r>
            <a:endParaRPr lang="en-US" sz="1588" dirty="0">
              <a:solidFill>
                <a:srgbClr val="203353"/>
              </a:solidFill>
              <a:latin typeface="Arial" pitchFamily="34" charset="0"/>
            </a:endParaRPr>
          </a:p>
        </p:txBody>
      </p:sp>
    </p:spTree>
    <p:extLst>
      <p:ext uri="{BB962C8B-B14F-4D97-AF65-F5344CB8AC3E}">
        <p14:creationId xmlns:p14="http://schemas.microsoft.com/office/powerpoint/2010/main" val="15384905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Q4 2017 PREPAYMENT REVIEW: EXPECTATIONS VS ACTUAL </a:t>
            </a:r>
            <a:endParaRPr lang="en-US" sz="1165" b="1" dirty="0">
              <a:solidFill>
                <a:srgbClr val="FFFFFF"/>
              </a:solidFill>
            </a:endParaRPr>
          </a:p>
        </p:txBody>
      </p:sp>
      <p:sp>
        <p:nvSpPr>
          <p:cNvPr id="11" name="TextBox 10"/>
          <p:cNvSpPr txBox="1"/>
          <p:nvPr/>
        </p:nvSpPr>
        <p:spPr>
          <a:xfrm>
            <a:off x="152400" y="1295400"/>
            <a:ext cx="1981200" cy="5345839"/>
          </a:xfrm>
          <a:prstGeom prst="rect">
            <a:avLst/>
          </a:prstGeom>
          <a:noFill/>
        </p:spPr>
        <p:txBody>
          <a:bodyPr wrap="square" lIns="82058" tIns="41029" rIns="82058" bIns="41029" rtlCol="0">
            <a:spAutoFit/>
          </a:bodyPr>
          <a:lstStyle/>
          <a:p>
            <a:r>
              <a:rPr lang="en-US" sz="1100" dirty="0" smtClean="0"/>
              <a:t>The table shows month-by-month Actual versus Projected prepayments in Q4 2017. Projected prepayments are based on a survey of market participants by Credit Suisse. faster-than-expected prepayments are shaded in red, slower in green, and as-expected in yellow.</a:t>
            </a:r>
          </a:p>
          <a:p>
            <a:endParaRPr lang="en-US" sz="1100" dirty="0" smtClean="0"/>
          </a:p>
          <a:p>
            <a:r>
              <a:rPr lang="en-US" sz="1100" dirty="0" smtClean="0"/>
              <a:t>Turnover-related prepayments continue to come in somewhat faster than expectations. Aggregate results may have been distorted by January factors, where seasonal influences can be volatile.</a:t>
            </a:r>
          </a:p>
          <a:p>
            <a:endParaRPr lang="en-US" sz="1100" dirty="0"/>
          </a:p>
          <a:p>
            <a:r>
              <a:rPr lang="en-US" sz="1100" dirty="0" smtClean="0"/>
              <a:t>The nuance to calculating Aggregate surprises is that market expectations adjust after each factor release so the quarterly surprise number does not necessarily correspond to expectations prior the quarter starting.  </a:t>
            </a:r>
            <a:endParaRPr lang="en-US" sz="1100" dirty="0"/>
          </a:p>
          <a:p>
            <a:endParaRPr lang="en-US" sz="1100" dirty="0"/>
          </a:p>
          <a:p>
            <a:r>
              <a:rPr lang="en-US" sz="1100" dirty="0" smtClean="0"/>
              <a:t> </a:t>
            </a:r>
          </a:p>
          <a:p>
            <a:endParaRPr lang="en-US" sz="1100" dirty="0"/>
          </a:p>
          <a:p>
            <a:endParaRPr lang="en-US" sz="1200" dirty="0"/>
          </a:p>
        </p:txBody>
      </p:sp>
      <p:sp>
        <p:nvSpPr>
          <p:cNvPr id="12" name="Rectangle 68"/>
          <p:cNvSpPr>
            <a:spLocks noChangeArrowheads="1"/>
          </p:cNvSpPr>
          <p:nvPr/>
        </p:nvSpPr>
        <p:spPr bwMode="auto">
          <a:xfrm>
            <a:off x="685800" y="6477000"/>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smtClean="0"/>
              <a:t>Cello, Credit Suisse</a:t>
            </a:r>
            <a:endParaRPr lang="en-US" sz="777" i="1" dirty="0"/>
          </a:p>
        </p:txBody>
      </p:sp>
      <p:sp>
        <p:nvSpPr>
          <p:cNvPr id="7"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smtClean="0"/>
              <a:t>PREPAYMENTS WERE ~0.5% CPR FASTER THAN EXPECTATIONS IN Q4 2017</a:t>
            </a:r>
            <a:endParaRPr lang="en-US" kern="0" dirty="0"/>
          </a:p>
        </p:txBody>
      </p:sp>
      <p:graphicFrame>
        <p:nvGraphicFramePr>
          <p:cNvPr id="4" name="Object 3"/>
          <p:cNvGraphicFramePr>
            <a:graphicFrameLocks noChangeAspect="1"/>
          </p:cNvGraphicFramePr>
          <p:nvPr>
            <p:extLst>
              <p:ext uri="{D42A27DB-BD31-4B8C-83A1-F6EECF244321}">
                <p14:modId xmlns:p14="http://schemas.microsoft.com/office/powerpoint/2010/main" val="193894658"/>
              </p:ext>
            </p:extLst>
          </p:nvPr>
        </p:nvGraphicFramePr>
        <p:xfrm>
          <a:off x="2384615" y="2057400"/>
          <a:ext cx="6206937" cy="3517265"/>
        </p:xfrm>
        <a:graphic>
          <a:graphicData uri="http://schemas.openxmlformats.org/presentationml/2006/ole">
            <mc:AlternateContent xmlns:mc="http://schemas.openxmlformats.org/markup-compatibility/2006">
              <mc:Choice xmlns:v="urn:schemas-microsoft-com:vml" Requires="v">
                <p:oleObj spid="_x0000_s1054" name="Worksheet" r:id="rId4" imgW="7429424" imgH="4210185" progId="Excel.Sheet.12">
                  <p:embed/>
                </p:oleObj>
              </mc:Choice>
              <mc:Fallback>
                <p:oleObj name="Worksheet" r:id="rId4" imgW="7429424" imgH="4210185" progId="Excel.Sheet.12">
                  <p:embed/>
                  <p:pic>
                    <p:nvPicPr>
                      <p:cNvPr id="0" name=""/>
                      <p:cNvPicPr/>
                      <p:nvPr/>
                    </p:nvPicPr>
                    <p:blipFill>
                      <a:blip r:embed="rId5"/>
                      <a:stretch>
                        <a:fillRect/>
                      </a:stretch>
                    </p:blipFill>
                    <p:spPr>
                      <a:xfrm>
                        <a:off x="2384615" y="2057400"/>
                        <a:ext cx="6206937" cy="3517265"/>
                      </a:xfrm>
                      <a:prstGeom prst="rect">
                        <a:avLst/>
                      </a:prstGeom>
                    </p:spPr>
                  </p:pic>
                </p:oleObj>
              </mc:Fallback>
            </mc:AlternateContent>
          </a:graphicData>
        </a:graphic>
      </p:graphicFrame>
    </p:spTree>
    <p:extLst>
      <p:ext uri="{BB962C8B-B14F-4D97-AF65-F5344CB8AC3E}">
        <p14:creationId xmlns:p14="http://schemas.microsoft.com/office/powerpoint/2010/main" val="87013980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THE REFINANCEABLE </a:t>
            </a:r>
            <a:r>
              <a:rPr lang="en-US" sz="1165" b="1" dirty="0">
                <a:solidFill>
                  <a:srgbClr val="FFFFFF"/>
                </a:solidFill>
              </a:rPr>
              <a:t>UNIVERSE </a:t>
            </a:r>
            <a:r>
              <a:rPr lang="en-US" sz="1165" b="1" dirty="0" smtClean="0">
                <a:solidFill>
                  <a:srgbClr val="FFFFFF"/>
                </a:solidFill>
              </a:rPr>
              <a:t>AS A FUNCTION OF MORTGAGE RATES </a:t>
            </a:r>
            <a:endParaRPr lang="en-US" sz="1165" b="1" dirty="0">
              <a:solidFill>
                <a:srgbClr val="FFFFFF"/>
              </a:solidFill>
            </a:endParaRPr>
          </a:p>
        </p:txBody>
      </p:sp>
      <p:sp>
        <p:nvSpPr>
          <p:cNvPr id="11" name="TextBox 10"/>
          <p:cNvSpPr txBox="1"/>
          <p:nvPr/>
        </p:nvSpPr>
        <p:spPr>
          <a:xfrm>
            <a:off x="152400" y="1295400"/>
            <a:ext cx="1981200" cy="4330176"/>
          </a:xfrm>
          <a:prstGeom prst="rect">
            <a:avLst/>
          </a:prstGeom>
          <a:noFill/>
        </p:spPr>
        <p:txBody>
          <a:bodyPr wrap="square" lIns="82058" tIns="41029" rIns="82058" bIns="41029" rtlCol="0">
            <a:spAutoFit/>
          </a:bodyPr>
          <a:lstStyle/>
          <a:p>
            <a:r>
              <a:rPr lang="en-US" sz="1100" dirty="0" smtClean="0"/>
              <a:t>The </a:t>
            </a:r>
            <a:r>
              <a:rPr lang="en-US" sz="1100" dirty="0" err="1" smtClean="0"/>
              <a:t>refinanceable</a:t>
            </a:r>
            <a:r>
              <a:rPr lang="en-US" sz="1100" dirty="0" smtClean="0"/>
              <a:t> fraction of the mortgage universe is an important indicator of prepayment risk. </a:t>
            </a:r>
            <a:endParaRPr lang="en-US" sz="1100" dirty="0"/>
          </a:p>
          <a:p>
            <a:endParaRPr lang="en-US" sz="1100" dirty="0" smtClean="0"/>
          </a:p>
          <a:p>
            <a:r>
              <a:rPr lang="en-US" sz="1100" dirty="0" smtClean="0"/>
              <a:t>The two blue lines indicate the % of borrowers for whom a given rate would be the lowest rate (by 50bps or more) they have seen in the life of their mortgage</a:t>
            </a:r>
            <a:r>
              <a:rPr lang="en-US" sz="1100" dirty="0"/>
              <a:t> </a:t>
            </a:r>
            <a:r>
              <a:rPr lang="en-US" sz="1100" dirty="0" smtClean="0"/>
              <a:t>today versus one-year ago.</a:t>
            </a:r>
          </a:p>
          <a:p>
            <a:endParaRPr lang="en-US" sz="1100" dirty="0"/>
          </a:p>
          <a:p>
            <a:r>
              <a:rPr lang="en-US" sz="1100" dirty="0" smtClean="0"/>
              <a:t>The graph shows that a decline in mortgage rates would make more borrowers </a:t>
            </a:r>
            <a:r>
              <a:rPr lang="en-US" sz="1100" dirty="0" err="1" smtClean="0"/>
              <a:t>refinanceable</a:t>
            </a:r>
            <a:r>
              <a:rPr lang="en-US" sz="1100" dirty="0" smtClean="0"/>
              <a:t> than one year ago. Still, mortgage rates would likely have to fall by about 75bps from current levels (30-year mortgage rate of 4.0%) before we saw a noticeable pickup in </a:t>
            </a:r>
            <a:r>
              <a:rPr lang="en-US" sz="1100" dirty="0" err="1" smtClean="0"/>
              <a:t>refinancings</a:t>
            </a:r>
            <a:r>
              <a:rPr lang="en-US" sz="1100" dirty="0" smtClean="0"/>
              <a:t>.</a:t>
            </a:r>
            <a:endParaRPr lang="en-US" sz="1100" dirty="0"/>
          </a:p>
          <a:p>
            <a:endParaRPr lang="en-US" sz="1100" dirty="0"/>
          </a:p>
          <a:p>
            <a:endParaRPr lang="en-US" sz="1200" dirty="0"/>
          </a:p>
        </p:txBody>
      </p:sp>
      <p:sp>
        <p:nvSpPr>
          <p:cNvPr id="12" name="Rectangle 68"/>
          <p:cNvSpPr>
            <a:spLocks noChangeArrowheads="1"/>
          </p:cNvSpPr>
          <p:nvPr/>
        </p:nvSpPr>
        <p:spPr bwMode="auto">
          <a:xfrm>
            <a:off x="685800" y="6477000"/>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smtClean="0"/>
              <a:t>Cello</a:t>
            </a:r>
            <a:endParaRPr lang="en-US" sz="777" i="1" dirty="0"/>
          </a:p>
        </p:txBody>
      </p:sp>
      <p:sp>
        <p:nvSpPr>
          <p:cNvPr id="7"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smtClean="0"/>
              <a:t>MORTGAGE RATES PROBABLY HAVE TO FALL TO 3.25% TO TRIGGER SIGNIFICANT REFIS </a:t>
            </a:r>
            <a:endParaRPr lang="en-US" kern="0" dirty="0"/>
          </a:p>
        </p:txBody>
      </p:sp>
      <p:graphicFrame>
        <p:nvGraphicFramePr>
          <p:cNvPr id="8" name="Chart 7"/>
          <p:cNvGraphicFramePr>
            <a:graphicFrameLocks/>
          </p:cNvGraphicFramePr>
          <p:nvPr>
            <p:extLst>
              <p:ext uri="{D42A27DB-BD31-4B8C-83A1-F6EECF244321}">
                <p14:modId xmlns:p14="http://schemas.microsoft.com/office/powerpoint/2010/main" val="2986636743"/>
              </p:ext>
            </p:extLst>
          </p:nvPr>
        </p:nvGraphicFramePr>
        <p:xfrm>
          <a:off x="2289977" y="1905000"/>
          <a:ext cx="6320623" cy="4191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578835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THE REFINANCEABLE </a:t>
            </a:r>
            <a:r>
              <a:rPr lang="en-US" sz="1165" b="1" dirty="0">
                <a:solidFill>
                  <a:srgbClr val="FFFFFF"/>
                </a:solidFill>
              </a:rPr>
              <a:t>UNIVERSE </a:t>
            </a:r>
            <a:r>
              <a:rPr lang="en-US" sz="1165" b="1" dirty="0" smtClean="0">
                <a:solidFill>
                  <a:srgbClr val="FFFFFF"/>
                </a:solidFill>
              </a:rPr>
              <a:t>AS A FUNCTION OF MORTGAGE RATES </a:t>
            </a:r>
            <a:endParaRPr lang="en-US" sz="1165" b="1" dirty="0">
              <a:solidFill>
                <a:srgbClr val="FFFFFF"/>
              </a:solidFill>
            </a:endParaRPr>
          </a:p>
        </p:txBody>
      </p:sp>
      <p:sp>
        <p:nvSpPr>
          <p:cNvPr id="11" name="TextBox 10"/>
          <p:cNvSpPr txBox="1"/>
          <p:nvPr/>
        </p:nvSpPr>
        <p:spPr>
          <a:xfrm>
            <a:off x="152400" y="1295400"/>
            <a:ext cx="1981200" cy="4330176"/>
          </a:xfrm>
          <a:prstGeom prst="rect">
            <a:avLst/>
          </a:prstGeom>
          <a:noFill/>
        </p:spPr>
        <p:txBody>
          <a:bodyPr wrap="square" lIns="82058" tIns="41029" rIns="82058" bIns="41029" rtlCol="0">
            <a:spAutoFit/>
          </a:bodyPr>
          <a:lstStyle/>
          <a:p>
            <a:r>
              <a:rPr lang="en-US" sz="1100" dirty="0" smtClean="0"/>
              <a:t>The </a:t>
            </a:r>
            <a:r>
              <a:rPr lang="en-US" sz="1100" dirty="0" err="1" smtClean="0"/>
              <a:t>refinanceable</a:t>
            </a:r>
            <a:r>
              <a:rPr lang="en-US" sz="1100" dirty="0" smtClean="0"/>
              <a:t> fraction of the mortgage universe is an important indicator of prepayment risk. </a:t>
            </a:r>
            <a:endParaRPr lang="en-US" sz="1100" dirty="0"/>
          </a:p>
          <a:p>
            <a:endParaRPr lang="en-US" sz="1100" dirty="0" smtClean="0"/>
          </a:p>
          <a:p>
            <a:r>
              <a:rPr lang="en-US" sz="1100" dirty="0" smtClean="0"/>
              <a:t>The two blue lines indicate the % of borrowers for whom a given rate would be the lowest rate (by 50bps or more) they have seen in the life of their mortgage</a:t>
            </a:r>
            <a:r>
              <a:rPr lang="en-US" sz="1100" dirty="0"/>
              <a:t> </a:t>
            </a:r>
            <a:r>
              <a:rPr lang="en-US" sz="1100" dirty="0" smtClean="0"/>
              <a:t>today versus one-year ago.</a:t>
            </a:r>
          </a:p>
          <a:p>
            <a:endParaRPr lang="en-US" sz="1100" dirty="0"/>
          </a:p>
          <a:p>
            <a:r>
              <a:rPr lang="en-US" sz="1100" dirty="0" smtClean="0"/>
              <a:t>The graph shows that a decline in mortgage rates would make more borrowers </a:t>
            </a:r>
            <a:r>
              <a:rPr lang="en-US" sz="1100" dirty="0" err="1" smtClean="0"/>
              <a:t>refinanceable</a:t>
            </a:r>
            <a:r>
              <a:rPr lang="en-US" sz="1100" dirty="0" smtClean="0"/>
              <a:t> than one year ago. Still, mortgage rates would likely have to fall by about 75bps from current levels (30-year mortgage rate of 4.0%) before we saw a noticeable pickup in </a:t>
            </a:r>
            <a:r>
              <a:rPr lang="en-US" sz="1100" dirty="0" err="1" smtClean="0"/>
              <a:t>refinancings</a:t>
            </a:r>
            <a:r>
              <a:rPr lang="en-US" sz="1100" dirty="0" smtClean="0"/>
              <a:t>.</a:t>
            </a:r>
            <a:endParaRPr lang="en-US" sz="1100" dirty="0"/>
          </a:p>
          <a:p>
            <a:endParaRPr lang="en-US" sz="1100" dirty="0"/>
          </a:p>
          <a:p>
            <a:endParaRPr lang="en-US" sz="1200" dirty="0"/>
          </a:p>
        </p:txBody>
      </p:sp>
      <p:sp>
        <p:nvSpPr>
          <p:cNvPr id="12" name="Rectangle 68"/>
          <p:cNvSpPr>
            <a:spLocks noChangeArrowheads="1"/>
          </p:cNvSpPr>
          <p:nvPr/>
        </p:nvSpPr>
        <p:spPr bwMode="auto">
          <a:xfrm>
            <a:off x="685800" y="6477000"/>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smtClean="0"/>
              <a:t>Cello</a:t>
            </a:r>
            <a:endParaRPr lang="en-US" sz="777" i="1" dirty="0"/>
          </a:p>
        </p:txBody>
      </p:sp>
      <p:sp>
        <p:nvSpPr>
          <p:cNvPr id="7"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smtClean="0"/>
              <a:t>MORTGAGE RATES PROBABLY HAVE TO FALL TO 3.25% TO TRIGGER SIGNIFICANT REFIS </a:t>
            </a:r>
            <a:endParaRPr lang="en-US" kern="0" dirty="0"/>
          </a:p>
        </p:txBody>
      </p:sp>
      <p:graphicFrame>
        <p:nvGraphicFramePr>
          <p:cNvPr id="9" name="Chart 8"/>
          <p:cNvGraphicFramePr>
            <a:graphicFrameLocks/>
          </p:cNvGraphicFramePr>
          <p:nvPr>
            <p:extLst>
              <p:ext uri="{D42A27DB-BD31-4B8C-83A1-F6EECF244321}">
                <p14:modId xmlns:p14="http://schemas.microsoft.com/office/powerpoint/2010/main" val="3297975534"/>
              </p:ext>
            </p:extLst>
          </p:nvPr>
        </p:nvGraphicFramePr>
        <p:xfrm>
          <a:off x="2327772" y="1828800"/>
          <a:ext cx="6320623"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p:cNvSpPr txBox="1"/>
          <p:nvPr/>
        </p:nvSpPr>
        <p:spPr>
          <a:xfrm>
            <a:off x="6781800" y="1981200"/>
            <a:ext cx="1828800" cy="430887"/>
          </a:xfrm>
          <a:prstGeom prst="rect">
            <a:avLst/>
          </a:prstGeom>
          <a:noFill/>
        </p:spPr>
        <p:txBody>
          <a:bodyPr wrap="square" rtlCol="0">
            <a:spAutoFit/>
          </a:bodyPr>
          <a:lstStyle/>
          <a:p>
            <a:r>
              <a:rPr lang="en-US" sz="1100" dirty="0">
                <a:solidFill>
                  <a:schemeClr val="accent1"/>
                </a:solidFill>
              </a:rPr>
              <a:t>Apr.2017 </a:t>
            </a:r>
            <a:r>
              <a:rPr lang="en-US" sz="1100" dirty="0" err="1" smtClean="0">
                <a:solidFill>
                  <a:schemeClr val="accent1"/>
                </a:solidFill>
              </a:rPr>
              <a:t>Mgt</a:t>
            </a:r>
            <a:r>
              <a:rPr lang="en-US" sz="1100" dirty="0" smtClean="0">
                <a:solidFill>
                  <a:schemeClr val="accent1"/>
                </a:solidFill>
              </a:rPr>
              <a:t> Rate: 3.97</a:t>
            </a:r>
            <a:r>
              <a:rPr lang="en-US" sz="1100" dirty="0">
                <a:solidFill>
                  <a:schemeClr val="accent1"/>
                </a:solidFill>
              </a:rPr>
              <a:t>%</a:t>
            </a:r>
          </a:p>
          <a:p>
            <a:pPr lvl="0"/>
            <a:r>
              <a:rPr lang="en-US" sz="1100" kern="0" dirty="0">
                <a:solidFill>
                  <a:schemeClr val="accent2"/>
                </a:solidFill>
              </a:rPr>
              <a:t>Apr.2018 </a:t>
            </a:r>
            <a:r>
              <a:rPr lang="en-US" sz="1100" kern="0" dirty="0" err="1" smtClean="0">
                <a:solidFill>
                  <a:schemeClr val="accent2"/>
                </a:solidFill>
              </a:rPr>
              <a:t>Mgt</a:t>
            </a:r>
            <a:r>
              <a:rPr lang="en-US" sz="1100" kern="0" dirty="0" smtClean="0">
                <a:solidFill>
                  <a:schemeClr val="accent2"/>
                </a:solidFill>
              </a:rPr>
              <a:t> Rate: 4.30%</a:t>
            </a:r>
            <a:endParaRPr lang="en-US" sz="1100" kern="0" dirty="0">
              <a:solidFill>
                <a:schemeClr val="accent2"/>
              </a:solidFill>
            </a:endParaRPr>
          </a:p>
        </p:txBody>
      </p:sp>
    </p:spTree>
    <p:extLst>
      <p:ext uri="{BB962C8B-B14F-4D97-AF65-F5344CB8AC3E}">
        <p14:creationId xmlns:p14="http://schemas.microsoft.com/office/powerpoint/2010/main" val="12596108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TRENDS IN MORTGAGE CREDIT AVAILABILITY</a:t>
            </a:r>
            <a:endParaRPr lang="en-US" sz="1165" b="1" dirty="0">
              <a:solidFill>
                <a:srgbClr val="FFFFFF"/>
              </a:solidFill>
            </a:endParaRPr>
          </a:p>
        </p:txBody>
      </p:sp>
      <p:sp>
        <p:nvSpPr>
          <p:cNvPr id="11" name="TextBox 10"/>
          <p:cNvSpPr txBox="1"/>
          <p:nvPr/>
        </p:nvSpPr>
        <p:spPr>
          <a:xfrm>
            <a:off x="152400" y="1295400"/>
            <a:ext cx="1981200" cy="3483790"/>
          </a:xfrm>
          <a:prstGeom prst="rect">
            <a:avLst/>
          </a:prstGeom>
          <a:noFill/>
        </p:spPr>
        <p:txBody>
          <a:bodyPr wrap="square" lIns="82058" tIns="41029" rIns="82058" bIns="41029" rtlCol="0">
            <a:spAutoFit/>
          </a:bodyPr>
          <a:lstStyle/>
          <a:p>
            <a:r>
              <a:rPr lang="en-US" sz="1100" dirty="0" smtClean="0"/>
              <a:t>The MBA’s </a:t>
            </a:r>
            <a:r>
              <a:rPr lang="en-US" sz="1100" b="1" dirty="0" smtClean="0"/>
              <a:t>Mortgage Credit Availability Index (MCAI) </a:t>
            </a:r>
            <a:r>
              <a:rPr lang="en-US" sz="1100" dirty="0" smtClean="0"/>
              <a:t>tracks the quantity and quality of mortgage credit supplied to borrowers over time and for different segments of the market (Conforming, Government and Jumbo).</a:t>
            </a:r>
            <a:endParaRPr lang="en-US" sz="1100" b="1" dirty="0" smtClean="0"/>
          </a:p>
          <a:p>
            <a:endParaRPr lang="en-US" sz="1100" dirty="0" smtClean="0"/>
          </a:p>
          <a:p>
            <a:r>
              <a:rPr lang="en-US" sz="1100" dirty="0" smtClean="0"/>
              <a:t>The graph shows that credit availability has been relatively stable over the past three years with the exception of Jumbo mortgages which saw an increase of almost 20% in 2017 as lenders expanded their underwriting parameters for this segment of borrowers.</a:t>
            </a:r>
          </a:p>
          <a:p>
            <a:endParaRPr lang="en-US" sz="1100" dirty="0"/>
          </a:p>
          <a:p>
            <a:endParaRPr lang="en-US" sz="1200" dirty="0"/>
          </a:p>
        </p:txBody>
      </p:sp>
      <p:sp>
        <p:nvSpPr>
          <p:cNvPr id="12" name="Rectangle 68"/>
          <p:cNvSpPr>
            <a:spLocks noChangeArrowheads="1"/>
          </p:cNvSpPr>
          <p:nvPr/>
        </p:nvSpPr>
        <p:spPr bwMode="auto">
          <a:xfrm>
            <a:off x="685800" y="6477000"/>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smtClean="0"/>
              <a:t>Cello</a:t>
            </a:r>
            <a:endParaRPr lang="en-US" sz="777" i="1" dirty="0"/>
          </a:p>
        </p:txBody>
      </p:sp>
      <p:sp>
        <p:nvSpPr>
          <p:cNvPr id="7"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smtClean="0"/>
              <a:t>MORTGAGE CREDIT AVAILABILITY HAS EXPANDED MOST FOR JUMBOS</a:t>
            </a:r>
            <a:endParaRPr lang="en-US" kern="0" dirty="0"/>
          </a:p>
        </p:txBody>
      </p:sp>
      <p:graphicFrame>
        <p:nvGraphicFramePr>
          <p:cNvPr id="6" name="Chart 5"/>
          <p:cNvGraphicFramePr>
            <a:graphicFrameLocks/>
          </p:cNvGraphicFramePr>
          <p:nvPr>
            <p:extLst>
              <p:ext uri="{D42A27DB-BD31-4B8C-83A1-F6EECF244321}">
                <p14:modId xmlns:p14="http://schemas.microsoft.com/office/powerpoint/2010/main" val="1028333925"/>
              </p:ext>
            </p:extLst>
          </p:nvPr>
        </p:nvGraphicFramePr>
        <p:xfrm>
          <a:off x="2743200" y="1981200"/>
          <a:ext cx="5486400" cy="3124200"/>
        </p:xfrm>
        <a:graphic>
          <a:graphicData uri="http://schemas.openxmlformats.org/drawingml/2006/chart">
            <c:chart xmlns:c="http://schemas.openxmlformats.org/drawingml/2006/chart" xmlns:r="http://schemas.openxmlformats.org/officeDocument/2006/relationships" r:id="rId3"/>
          </a:graphicData>
        </a:graphic>
      </p:graphicFrame>
      <p:sp>
        <p:nvSpPr>
          <p:cNvPr id="2" name="TextBox 1"/>
          <p:cNvSpPr txBox="1"/>
          <p:nvPr/>
        </p:nvSpPr>
        <p:spPr>
          <a:xfrm>
            <a:off x="2514600" y="2590800"/>
            <a:ext cx="369332" cy="830997"/>
          </a:xfrm>
          <a:prstGeom prst="rect">
            <a:avLst/>
          </a:prstGeom>
          <a:noFill/>
        </p:spPr>
        <p:txBody>
          <a:bodyPr vert="vert270" wrap="square" rtlCol="0">
            <a:spAutoFit/>
          </a:bodyPr>
          <a:lstStyle/>
          <a:p>
            <a:r>
              <a:rPr lang="en-US" sz="1200" b="1" dirty="0" smtClean="0"/>
              <a:t>MCAI</a:t>
            </a:r>
            <a:endParaRPr lang="en-US" sz="1200" b="1" dirty="0"/>
          </a:p>
        </p:txBody>
      </p:sp>
    </p:spTree>
    <p:extLst>
      <p:ext uri="{BB962C8B-B14F-4D97-AF65-F5344CB8AC3E}">
        <p14:creationId xmlns:p14="http://schemas.microsoft.com/office/powerpoint/2010/main" val="11461509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OVERALL IMPACT OF TAX REFORM ON HOUSE PRICES (%) </a:t>
            </a:r>
            <a:endParaRPr lang="en-US" sz="1165" b="1" dirty="0">
              <a:solidFill>
                <a:srgbClr val="FFFFFF"/>
              </a:solidFill>
            </a:endParaRPr>
          </a:p>
        </p:txBody>
      </p:sp>
      <p:sp>
        <p:nvSpPr>
          <p:cNvPr id="11" name="TextBox 10"/>
          <p:cNvSpPr txBox="1"/>
          <p:nvPr/>
        </p:nvSpPr>
        <p:spPr>
          <a:xfrm>
            <a:off x="152400" y="1197389"/>
            <a:ext cx="1981200" cy="6053725"/>
          </a:xfrm>
          <a:prstGeom prst="rect">
            <a:avLst/>
          </a:prstGeom>
          <a:noFill/>
        </p:spPr>
        <p:txBody>
          <a:bodyPr wrap="square" lIns="82058" tIns="41029" rIns="82058" bIns="41029" rtlCol="0">
            <a:spAutoFit/>
          </a:bodyPr>
          <a:lstStyle/>
          <a:p>
            <a:r>
              <a:rPr lang="en-US" sz="1100" dirty="0" smtClean="0"/>
              <a:t>Key housing-related TCJA features:</a:t>
            </a:r>
          </a:p>
          <a:p>
            <a:pPr marL="171450" indent="-171450">
              <a:buFont typeface="Arial" panose="020B0604020202020204" pitchFamily="34" charset="0"/>
              <a:buChar char="•"/>
            </a:pPr>
            <a:r>
              <a:rPr lang="en-US" sz="1100" dirty="0" smtClean="0"/>
              <a:t>Cap on deductibility of mortgage interest is lowered to $750K from $1mm (existing loans are grandfathered)</a:t>
            </a:r>
          </a:p>
          <a:p>
            <a:pPr marL="171450" indent="-171450">
              <a:buFont typeface="Arial" panose="020B0604020202020204" pitchFamily="34" charset="0"/>
              <a:buChar char="•"/>
            </a:pPr>
            <a:r>
              <a:rPr lang="en-US" sz="1100" dirty="0" smtClean="0"/>
              <a:t>Limits SALT deduction to $10K</a:t>
            </a:r>
          </a:p>
          <a:p>
            <a:pPr marL="171450" indent="-171450">
              <a:buFont typeface="Arial" panose="020B0604020202020204" pitchFamily="34" charset="0"/>
              <a:buChar char="•"/>
            </a:pPr>
            <a:r>
              <a:rPr lang="en-US" sz="1100" dirty="0" smtClean="0"/>
              <a:t>Increases standard deduction from $13K to $24K for joint  filers</a:t>
            </a:r>
          </a:p>
          <a:p>
            <a:pPr marL="171450" indent="-171450">
              <a:buFont typeface="Arial" panose="020B0604020202020204" pitchFamily="34" charset="0"/>
              <a:buChar char="•"/>
            </a:pPr>
            <a:r>
              <a:rPr lang="en-US" sz="1100" dirty="0" smtClean="0"/>
              <a:t>Eliminates personal exemption</a:t>
            </a:r>
          </a:p>
          <a:p>
            <a:endParaRPr lang="en-US" sz="1100" dirty="0"/>
          </a:p>
          <a:p>
            <a:r>
              <a:rPr lang="en-US" sz="1100" dirty="0" smtClean="0"/>
              <a:t>According to J.P. Morgan, the combination of some loss in the housing subsidy for loans greater than $750K and an increase in after-tax income for certain high income borrowers will shave as much as 1% off the baseline projection for HPA in aggregate.</a:t>
            </a:r>
          </a:p>
          <a:p>
            <a:r>
              <a:rPr lang="en-US" sz="1100" dirty="0" smtClean="0"/>
              <a:t> </a:t>
            </a:r>
          </a:p>
          <a:p>
            <a:r>
              <a:rPr lang="en-US" sz="1100" dirty="0" smtClean="0"/>
              <a:t>However, the </a:t>
            </a:r>
            <a:r>
              <a:rPr lang="en-US" sz="1100" dirty="0" err="1" smtClean="0"/>
              <a:t>heatmap</a:t>
            </a:r>
            <a:r>
              <a:rPr lang="en-US" sz="1100" dirty="0" smtClean="0"/>
              <a:t> depicts the substantial  variation by state; areas with high Jumbo loan concentrations will be the most affected.</a:t>
            </a:r>
          </a:p>
          <a:p>
            <a:endParaRPr lang="en-US" sz="1100" dirty="0"/>
          </a:p>
          <a:p>
            <a:endParaRPr lang="en-US" sz="1200" dirty="0" smtClean="0"/>
          </a:p>
          <a:p>
            <a:endParaRPr lang="en-US" sz="1200" dirty="0"/>
          </a:p>
          <a:p>
            <a:endParaRPr lang="en-US" sz="1200" dirty="0"/>
          </a:p>
        </p:txBody>
      </p:sp>
      <p:sp>
        <p:nvSpPr>
          <p:cNvPr id="12" name="Rectangle 68"/>
          <p:cNvSpPr>
            <a:spLocks noChangeArrowheads="1"/>
          </p:cNvSpPr>
          <p:nvPr/>
        </p:nvSpPr>
        <p:spPr bwMode="auto">
          <a:xfrm>
            <a:off x="762000" y="6477000"/>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smtClean="0"/>
              <a:t>“The impact of tax reform on the housing market”, J.P. Morgan Securitized Products Research, 3</a:t>
            </a:r>
            <a:r>
              <a:rPr lang="en-US" sz="777" baseline="30000" dirty="0" smtClean="0"/>
              <a:t>rd</a:t>
            </a:r>
            <a:r>
              <a:rPr lang="en-US" sz="777" dirty="0" smtClean="0"/>
              <a:t> January, 2018. </a:t>
            </a:r>
            <a:endParaRPr lang="en-US" sz="777" i="1" dirty="0"/>
          </a:p>
        </p:txBody>
      </p:sp>
      <p:sp>
        <p:nvSpPr>
          <p:cNvPr id="9"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smtClean="0"/>
              <a:t>TCJA IMPACT WILL VARY SUBSTANTIALLY BY STATE</a:t>
            </a:r>
            <a:endParaRPr lang="en-US" kern="0" dirty="0"/>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9977" y="2133600"/>
            <a:ext cx="6287507" cy="3590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7543800" y="4114800"/>
            <a:ext cx="1295400" cy="830997"/>
          </a:xfrm>
          <a:prstGeom prst="rect">
            <a:avLst/>
          </a:prstGeom>
          <a:noFill/>
        </p:spPr>
        <p:txBody>
          <a:bodyPr wrap="square" rtlCol="0">
            <a:spAutoFit/>
          </a:bodyPr>
          <a:lstStyle/>
          <a:p>
            <a:r>
              <a:rPr lang="en-US" sz="1200" b="1" dirty="0" smtClean="0">
                <a:solidFill>
                  <a:srgbClr val="FF0000"/>
                </a:solidFill>
              </a:rPr>
              <a:t>TCJA = Negative Impact of 0.9% on HPA relative to baseline</a:t>
            </a:r>
            <a:endParaRPr lang="en-US" sz="1200" b="1" dirty="0">
              <a:solidFill>
                <a:srgbClr val="FF0000"/>
              </a:solidFill>
            </a:endParaRPr>
          </a:p>
        </p:txBody>
      </p:sp>
    </p:spTree>
    <p:extLst>
      <p:ext uri="{BB962C8B-B14F-4D97-AF65-F5344CB8AC3E}">
        <p14:creationId xmlns:p14="http://schemas.microsoft.com/office/powerpoint/2010/main" val="24086177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REDFIN SURVEY ON THE IMPACT OF ELIMINATING THE SALT DEDUCTION</a:t>
            </a:r>
            <a:endParaRPr lang="en-US" sz="1165" b="1" dirty="0">
              <a:solidFill>
                <a:srgbClr val="FFFFFF"/>
              </a:solidFill>
            </a:endParaRPr>
          </a:p>
        </p:txBody>
      </p:sp>
      <p:sp>
        <p:nvSpPr>
          <p:cNvPr id="11" name="TextBox 10"/>
          <p:cNvSpPr txBox="1"/>
          <p:nvPr/>
        </p:nvSpPr>
        <p:spPr>
          <a:xfrm>
            <a:off x="152400" y="1197389"/>
            <a:ext cx="1981200" cy="4022399"/>
          </a:xfrm>
          <a:prstGeom prst="rect">
            <a:avLst/>
          </a:prstGeom>
          <a:noFill/>
        </p:spPr>
        <p:txBody>
          <a:bodyPr wrap="square" lIns="82058" tIns="41029" rIns="82058" bIns="41029" rtlCol="0">
            <a:spAutoFit/>
          </a:bodyPr>
          <a:lstStyle/>
          <a:p>
            <a:r>
              <a:rPr lang="en-US" sz="1100" dirty="0" smtClean="0"/>
              <a:t>While the headline impact of TCJA on house prices suggests a slowdown in prepayments in high-cost states such as California and New Jersey, the short-run impact may be in the opposite direction.</a:t>
            </a:r>
          </a:p>
          <a:p>
            <a:endParaRPr lang="en-US" sz="1100" dirty="0"/>
          </a:p>
          <a:p>
            <a:r>
              <a:rPr lang="en-US" sz="1100" dirty="0" smtClean="0"/>
              <a:t>A </a:t>
            </a:r>
            <a:r>
              <a:rPr lang="en-US" sz="1100" dirty="0" err="1" smtClean="0"/>
              <a:t>Redfin</a:t>
            </a:r>
            <a:r>
              <a:rPr lang="en-US" sz="1100" dirty="0" smtClean="0"/>
              <a:t> survey showed that one-third of homebuyers would consider moving to another city or state if the SALT deduction were to be eliminated. Thus, the initial impact of TCJA may be to increase prepayments in high cost states as some homeowners try to dodge tax increases by moving to another state.</a:t>
            </a:r>
          </a:p>
          <a:p>
            <a:endParaRPr lang="en-US" sz="1100" dirty="0"/>
          </a:p>
          <a:p>
            <a:endParaRPr lang="en-US" sz="1200" dirty="0" smtClean="0"/>
          </a:p>
          <a:p>
            <a:endParaRPr lang="en-US" sz="1200" dirty="0"/>
          </a:p>
          <a:p>
            <a:endParaRPr lang="en-US" sz="1200" dirty="0"/>
          </a:p>
        </p:txBody>
      </p:sp>
      <p:sp>
        <p:nvSpPr>
          <p:cNvPr id="12" name="Rectangle 68"/>
          <p:cNvSpPr>
            <a:spLocks noChangeArrowheads="1"/>
          </p:cNvSpPr>
          <p:nvPr/>
        </p:nvSpPr>
        <p:spPr bwMode="auto">
          <a:xfrm>
            <a:off x="762000" y="6477000"/>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err="1" smtClean="0"/>
              <a:t>Redfin</a:t>
            </a:r>
            <a:r>
              <a:rPr lang="en-US" sz="777" dirty="0" smtClean="0"/>
              <a:t> November 2017 survey of homebuyers under contract of planning to buy a home in the coming year. </a:t>
            </a:r>
            <a:endParaRPr lang="en-US" sz="777" i="1" dirty="0"/>
          </a:p>
        </p:txBody>
      </p:sp>
      <p:sp>
        <p:nvSpPr>
          <p:cNvPr id="9"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smtClean="0"/>
              <a:t>TCJA IMPACT ON CALIFORNIA WILL VARY OVER TIME</a:t>
            </a:r>
            <a:endParaRPr lang="en-US" kern="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1417" y="2133600"/>
            <a:ext cx="6133334" cy="3085714"/>
          </a:xfrm>
          <a:prstGeom prst="rect">
            <a:avLst/>
          </a:prstGeom>
        </p:spPr>
      </p:pic>
    </p:spTree>
    <p:extLst>
      <p:ext uri="{BB962C8B-B14F-4D97-AF65-F5344CB8AC3E}">
        <p14:creationId xmlns:p14="http://schemas.microsoft.com/office/powerpoint/2010/main" val="30923100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LONG-RUN HOUSING DEMAND AND SUPPLY</a:t>
            </a:r>
            <a:endParaRPr lang="en-US" sz="1165" b="1" dirty="0">
              <a:solidFill>
                <a:srgbClr val="FFFFFF"/>
              </a:solidFill>
            </a:endParaRPr>
          </a:p>
        </p:txBody>
      </p:sp>
      <p:sp>
        <p:nvSpPr>
          <p:cNvPr id="11" name="TextBox 10"/>
          <p:cNvSpPr txBox="1"/>
          <p:nvPr/>
        </p:nvSpPr>
        <p:spPr>
          <a:xfrm>
            <a:off x="152400" y="1197389"/>
            <a:ext cx="1981200" cy="3129847"/>
          </a:xfrm>
          <a:prstGeom prst="rect">
            <a:avLst/>
          </a:prstGeom>
          <a:noFill/>
        </p:spPr>
        <p:txBody>
          <a:bodyPr wrap="square" lIns="82058" tIns="41029" rIns="82058" bIns="41029" rtlCol="0">
            <a:spAutoFit/>
          </a:bodyPr>
          <a:lstStyle/>
          <a:p>
            <a:pPr lvl="0"/>
            <a:r>
              <a:rPr lang="en-US" sz="1100" dirty="0" smtClean="0"/>
              <a:t>House prices appreciated at an annualized </a:t>
            </a:r>
            <a:r>
              <a:rPr lang="en-US" sz="1100" dirty="0"/>
              <a:t>rate of 6.4% in </a:t>
            </a:r>
            <a:r>
              <a:rPr lang="en-US" sz="1100" dirty="0" smtClean="0"/>
              <a:t>2017 (Q3 data) driven </a:t>
            </a:r>
            <a:r>
              <a:rPr lang="en-US" sz="1100" dirty="0"/>
              <a:t>by strong demand, low mortgage rates, and a lack of inventory. </a:t>
            </a:r>
            <a:r>
              <a:rPr lang="en-US" sz="1100" dirty="0" smtClean="0"/>
              <a:t> Currently, houses are not being built fast enough to close the gap between demand and supply.</a:t>
            </a:r>
          </a:p>
          <a:p>
            <a:pPr lvl="0"/>
            <a:endParaRPr lang="en-US" sz="1100" dirty="0"/>
          </a:p>
          <a:p>
            <a:pPr lvl="0"/>
            <a:r>
              <a:rPr lang="en-US" sz="1100" dirty="0" smtClean="0"/>
              <a:t>House price growth for 2018 is expected to range between 4-5% after incorporating the projected drag based on TCJA.</a:t>
            </a:r>
            <a:endParaRPr lang="en-US" sz="1100" dirty="0"/>
          </a:p>
          <a:p>
            <a:endParaRPr lang="en-US" sz="1100" dirty="0"/>
          </a:p>
          <a:p>
            <a:endParaRPr lang="en-US" sz="1100" dirty="0" smtClean="0"/>
          </a:p>
          <a:p>
            <a:endParaRPr lang="en-US" sz="1100" dirty="0"/>
          </a:p>
          <a:p>
            <a:endParaRPr lang="en-US" sz="1100" dirty="0"/>
          </a:p>
        </p:txBody>
      </p:sp>
      <p:sp>
        <p:nvSpPr>
          <p:cNvPr id="12" name="Rectangle 68"/>
          <p:cNvSpPr>
            <a:spLocks noChangeArrowheads="1"/>
          </p:cNvSpPr>
          <p:nvPr/>
        </p:nvSpPr>
        <p:spPr bwMode="auto">
          <a:xfrm>
            <a:off x="762000" y="6477000"/>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smtClean="0"/>
              <a:t>Freddie Mac. </a:t>
            </a:r>
            <a:endParaRPr lang="en-US" sz="777" i="1" dirty="0"/>
          </a:p>
        </p:txBody>
      </p:sp>
      <p:sp>
        <p:nvSpPr>
          <p:cNvPr id="9"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smtClean="0"/>
              <a:t>THE BASELINE FORECAST FOR HPA IS STILL ROBUST</a:t>
            </a:r>
            <a:endParaRPr lang="en-US" kern="0" dirty="0"/>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7374" y="2133600"/>
            <a:ext cx="6441056"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6923584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FHA AND VA PREPAYMENT SEASONING RAMPS FOR 3.5% POOLS</a:t>
            </a:r>
            <a:endParaRPr lang="en-US" sz="1165" b="1" dirty="0">
              <a:solidFill>
                <a:srgbClr val="FFFFFF"/>
              </a:solidFill>
            </a:endParaRPr>
          </a:p>
        </p:txBody>
      </p:sp>
      <p:sp>
        <p:nvSpPr>
          <p:cNvPr id="11" name="TextBox 10"/>
          <p:cNvSpPr txBox="1"/>
          <p:nvPr/>
        </p:nvSpPr>
        <p:spPr>
          <a:xfrm>
            <a:off x="152400" y="1197389"/>
            <a:ext cx="1981200" cy="5161173"/>
          </a:xfrm>
          <a:prstGeom prst="rect">
            <a:avLst/>
          </a:prstGeom>
          <a:noFill/>
        </p:spPr>
        <p:txBody>
          <a:bodyPr wrap="square" lIns="82058" tIns="41029" rIns="82058" bIns="41029" rtlCol="0">
            <a:spAutoFit/>
          </a:bodyPr>
          <a:lstStyle/>
          <a:p>
            <a:pPr lvl="0"/>
            <a:r>
              <a:rPr lang="en-US" sz="1100" dirty="0" smtClean="0"/>
              <a:t>Since 2011, homeowner’s equity has grown and </a:t>
            </a:r>
            <a:r>
              <a:rPr lang="en-US" sz="1100" dirty="0"/>
              <a:t> </a:t>
            </a:r>
            <a:r>
              <a:rPr lang="en-US" sz="1100" dirty="0" smtClean="0"/>
              <a:t>is more or less back to the 2006 pre-crisis highs. During late 2015, the 30-year fixed-rate hovered round 4% but reached near historic lows of 3.40% in July and August 2016. This increased equity coupled with low interest rates set the stage for a market primed for refinancing.</a:t>
            </a:r>
          </a:p>
          <a:p>
            <a:pPr lvl="0"/>
            <a:endParaRPr lang="en-US" sz="1100" dirty="0"/>
          </a:p>
          <a:p>
            <a:pPr lvl="0"/>
            <a:r>
              <a:rPr lang="en-US" sz="1100" dirty="0" smtClean="0"/>
              <a:t>Certain lenders proactively contacted VA borrowers given VA’s relatively flexible underwriting guidelines for cash-out </a:t>
            </a:r>
            <a:r>
              <a:rPr lang="en-US" sz="1100" dirty="0" err="1" smtClean="0"/>
              <a:t>refinancings</a:t>
            </a:r>
            <a:r>
              <a:rPr lang="en-US" sz="1100" dirty="0" smtClean="0"/>
              <a:t>.</a:t>
            </a:r>
          </a:p>
          <a:p>
            <a:pPr lvl="0"/>
            <a:endParaRPr lang="en-US" sz="1100" dirty="0"/>
          </a:p>
          <a:p>
            <a:pPr lvl="0"/>
            <a:r>
              <a:rPr lang="en-US" sz="1100" dirty="0" smtClean="0"/>
              <a:t>The results can be seen in the figure which shows (1) The prepayment ramp for VA borrowers is considerably steeper than for FHA borrowers and (2) That certain servicers have much higher speeds than the average. </a:t>
            </a:r>
            <a:endParaRPr lang="en-US" sz="1100" dirty="0"/>
          </a:p>
          <a:p>
            <a:endParaRPr lang="en-US" sz="1100" dirty="0" smtClean="0"/>
          </a:p>
          <a:p>
            <a:endParaRPr lang="en-US" sz="1100" dirty="0"/>
          </a:p>
          <a:p>
            <a:endParaRPr lang="en-US" sz="1100" dirty="0"/>
          </a:p>
        </p:txBody>
      </p:sp>
      <p:sp>
        <p:nvSpPr>
          <p:cNvPr id="12" name="Rectangle 68"/>
          <p:cNvSpPr>
            <a:spLocks noChangeArrowheads="1"/>
          </p:cNvSpPr>
          <p:nvPr/>
        </p:nvSpPr>
        <p:spPr bwMode="auto">
          <a:xfrm>
            <a:off x="762000" y="6477000"/>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smtClean="0"/>
              <a:t>Cello. Data as of January 2018. </a:t>
            </a:r>
            <a:endParaRPr lang="en-US" sz="777" i="1" dirty="0"/>
          </a:p>
        </p:txBody>
      </p:sp>
      <p:sp>
        <p:nvSpPr>
          <p:cNvPr id="9"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smtClean="0"/>
              <a:t>CERTAIN VA SERVICERS HAVE CHURNED BORROWERS: I</a:t>
            </a:r>
            <a:endParaRPr lang="en-US" kern="0" dirty="0"/>
          </a:p>
        </p:txBody>
      </p:sp>
      <p:graphicFrame>
        <p:nvGraphicFramePr>
          <p:cNvPr id="17" name="Chart 16"/>
          <p:cNvGraphicFramePr>
            <a:graphicFrameLocks/>
          </p:cNvGraphicFramePr>
          <p:nvPr>
            <p:extLst>
              <p:ext uri="{D42A27DB-BD31-4B8C-83A1-F6EECF244321}">
                <p14:modId xmlns:p14="http://schemas.microsoft.com/office/powerpoint/2010/main" val="1108486812"/>
              </p:ext>
            </p:extLst>
          </p:nvPr>
        </p:nvGraphicFramePr>
        <p:xfrm>
          <a:off x="3048000" y="1853925"/>
          <a:ext cx="5086350" cy="38481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2256597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FHA AND VA PREPAYMENT SEASONING RAMPS FOR 3.5% POOLS</a:t>
            </a:r>
            <a:endParaRPr lang="en-US" sz="1165" b="1" dirty="0">
              <a:solidFill>
                <a:srgbClr val="FFFFFF"/>
              </a:solidFill>
            </a:endParaRPr>
          </a:p>
        </p:txBody>
      </p:sp>
      <p:sp>
        <p:nvSpPr>
          <p:cNvPr id="11" name="TextBox 10"/>
          <p:cNvSpPr txBox="1"/>
          <p:nvPr/>
        </p:nvSpPr>
        <p:spPr>
          <a:xfrm>
            <a:off x="152400" y="1197389"/>
            <a:ext cx="1981200" cy="4822618"/>
          </a:xfrm>
          <a:prstGeom prst="rect">
            <a:avLst/>
          </a:prstGeom>
          <a:noFill/>
        </p:spPr>
        <p:txBody>
          <a:bodyPr wrap="square" lIns="82058" tIns="41029" rIns="82058" bIns="41029" rtlCol="0">
            <a:spAutoFit/>
          </a:bodyPr>
          <a:lstStyle/>
          <a:p>
            <a:pPr lvl="0"/>
            <a:r>
              <a:rPr lang="en-US" sz="1100" dirty="0" err="1" smtClean="0"/>
              <a:t>Ginnie</a:t>
            </a:r>
            <a:r>
              <a:rPr lang="en-US" sz="1100" dirty="0" smtClean="0"/>
              <a:t> Mae imposed more restrictive pooling requirements starting February 2017 that forced a seasoning requirement but although it has damped prepayments to a certain extent, most of the impact has been to concentrate the pickup to after 6 months.</a:t>
            </a:r>
          </a:p>
          <a:p>
            <a:pPr lvl="0"/>
            <a:endParaRPr lang="en-US" sz="1100" dirty="0"/>
          </a:p>
          <a:p>
            <a:pPr lvl="0"/>
            <a:r>
              <a:rPr lang="en-US" sz="1100" dirty="0" smtClean="0"/>
              <a:t>In response, </a:t>
            </a:r>
            <a:r>
              <a:rPr lang="en-US" sz="1100" dirty="0" err="1" smtClean="0"/>
              <a:t>Ginnie</a:t>
            </a:r>
            <a:r>
              <a:rPr lang="en-US" sz="1100" dirty="0" smtClean="0"/>
              <a:t> Mae is again tightening underwriting guidelines starting  April 2018 but the impact should again be relatively muted.</a:t>
            </a:r>
          </a:p>
          <a:p>
            <a:pPr lvl="0"/>
            <a:endParaRPr lang="en-US" sz="1100" dirty="0"/>
          </a:p>
          <a:p>
            <a:pPr lvl="0"/>
            <a:r>
              <a:rPr lang="en-US" sz="1100" dirty="0" smtClean="0"/>
              <a:t>A more meaningful change would result from Congress passing the Protecting Veterans from Predatory Lending Act which imposes a tangible benefit test for borrowers before they can refinance similar to the one FHA borrowers already have. </a:t>
            </a:r>
          </a:p>
          <a:p>
            <a:endParaRPr lang="en-US" sz="1100" dirty="0"/>
          </a:p>
          <a:p>
            <a:endParaRPr lang="en-US" sz="1100" dirty="0"/>
          </a:p>
        </p:txBody>
      </p:sp>
      <p:sp>
        <p:nvSpPr>
          <p:cNvPr id="12" name="Rectangle 68"/>
          <p:cNvSpPr>
            <a:spLocks noChangeArrowheads="1"/>
          </p:cNvSpPr>
          <p:nvPr/>
        </p:nvSpPr>
        <p:spPr bwMode="auto">
          <a:xfrm>
            <a:off x="762000" y="6477000"/>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smtClean="0"/>
              <a:t>Cello. Data as of January 2018. </a:t>
            </a:r>
            <a:endParaRPr lang="en-US" sz="777" i="1" dirty="0"/>
          </a:p>
        </p:txBody>
      </p:sp>
      <p:sp>
        <p:nvSpPr>
          <p:cNvPr id="9"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smtClean="0"/>
              <a:t>CERTAIN VA SERVICERS HAVE CHURNED BORROWERS: II</a:t>
            </a:r>
            <a:endParaRPr lang="en-US" kern="0" dirty="0"/>
          </a:p>
        </p:txBody>
      </p:sp>
      <p:graphicFrame>
        <p:nvGraphicFramePr>
          <p:cNvPr id="7" name="Chart 6"/>
          <p:cNvGraphicFramePr>
            <a:graphicFrameLocks/>
          </p:cNvGraphicFramePr>
          <p:nvPr>
            <p:extLst>
              <p:ext uri="{D42A27DB-BD31-4B8C-83A1-F6EECF244321}">
                <p14:modId xmlns:p14="http://schemas.microsoft.com/office/powerpoint/2010/main" val="2091540733"/>
              </p:ext>
            </p:extLst>
          </p:nvPr>
        </p:nvGraphicFramePr>
        <p:xfrm>
          <a:off x="2897284" y="1905000"/>
          <a:ext cx="5181600" cy="37528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91475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2286001" y="1185222"/>
            <a:ext cx="6404166" cy="548165"/>
          </a:xfrm>
          <a:prstGeom prst="rect">
            <a:avLst/>
          </a:prstGeom>
          <a:solidFill>
            <a:srgbClr val="203353"/>
          </a:solidFill>
          <a:ln>
            <a:noFill/>
          </a:ln>
        </p:spPr>
        <p:style>
          <a:lnRef idx="2">
            <a:schemeClr val="accent1">
              <a:shade val="50000"/>
            </a:schemeClr>
          </a:lnRef>
          <a:fillRef idx="1">
            <a:schemeClr val="accent1"/>
          </a:fillRef>
          <a:effectRef idx="0">
            <a:schemeClr val="accent1"/>
          </a:effectRef>
          <a:fontRef idx="minor">
            <a:schemeClr val="lt1"/>
          </a:fontRef>
        </p:style>
        <p:txBody>
          <a:bodyPr lIns="44359" tIns="44359" rIns="88719" bIns="44359" rtlCol="0" anchor="ctr"/>
          <a:lstStyle/>
          <a:p>
            <a:pPr algn="ctr"/>
            <a:r>
              <a:rPr lang="en-US" sz="1165" b="1" dirty="0" smtClean="0">
                <a:solidFill>
                  <a:srgbClr val="FFFFFF"/>
                </a:solidFill>
              </a:rPr>
              <a:t>GSE MORTGAGE INSURANCE COVERAGE </a:t>
            </a:r>
            <a:endParaRPr lang="en-US" sz="1165" b="1" dirty="0">
              <a:solidFill>
                <a:srgbClr val="FFFFFF"/>
              </a:solidFill>
            </a:endParaRPr>
          </a:p>
        </p:txBody>
      </p:sp>
      <p:sp>
        <p:nvSpPr>
          <p:cNvPr id="11" name="TextBox 10"/>
          <p:cNvSpPr txBox="1"/>
          <p:nvPr/>
        </p:nvSpPr>
        <p:spPr>
          <a:xfrm>
            <a:off x="152400" y="1185222"/>
            <a:ext cx="1981200" cy="5853670"/>
          </a:xfrm>
          <a:prstGeom prst="rect">
            <a:avLst/>
          </a:prstGeom>
          <a:noFill/>
        </p:spPr>
        <p:txBody>
          <a:bodyPr wrap="square" lIns="82058" tIns="41029" rIns="82058" bIns="41029" rtlCol="0">
            <a:spAutoFit/>
          </a:bodyPr>
          <a:lstStyle/>
          <a:p>
            <a:r>
              <a:rPr lang="en-US" sz="1100" dirty="0" smtClean="0"/>
              <a:t>The GSEs bear a significant amount of counterparty risk because of their concentrated exposure to 6 mortgage insurers with the top 3 having a 66% market share.</a:t>
            </a:r>
          </a:p>
          <a:p>
            <a:endParaRPr lang="en-US" sz="1100" dirty="0"/>
          </a:p>
          <a:p>
            <a:r>
              <a:rPr lang="en-US" sz="1100" dirty="0"/>
              <a:t>W</a:t>
            </a:r>
            <a:r>
              <a:rPr lang="en-US" sz="1100" dirty="0" smtClean="0"/>
              <a:t>hile CRT deals have transferred credit risk away from the GSEs they have not addressed counterparty risk. </a:t>
            </a:r>
          </a:p>
          <a:p>
            <a:endParaRPr lang="en-US" sz="1100" dirty="0"/>
          </a:p>
          <a:p>
            <a:r>
              <a:rPr lang="en-US" sz="1100" dirty="0" smtClean="0"/>
              <a:t>ARCH has partnered with Freddie as an intermediary channeling mortgage credit risk to a panel of reinsurance capital providers and capital market investors.</a:t>
            </a:r>
          </a:p>
          <a:p>
            <a:endParaRPr lang="en-US" sz="1100" dirty="0"/>
          </a:p>
          <a:p>
            <a:r>
              <a:rPr lang="en-US" sz="1100" dirty="0" smtClean="0"/>
              <a:t>In the short-term, this will decrease counterparty risk for the GSEs and in the medium- to long-term potentially decrease the cost of MI for borrowers.</a:t>
            </a:r>
          </a:p>
          <a:p>
            <a:endParaRPr lang="en-US" sz="1100" dirty="0"/>
          </a:p>
          <a:p>
            <a:r>
              <a:rPr lang="en-US" sz="1100" dirty="0" smtClean="0"/>
              <a:t>The arrangement is controversial because it essentially allows Freddie to select the MI instead of the lender. </a:t>
            </a:r>
            <a:endParaRPr lang="en-US" sz="1100" dirty="0"/>
          </a:p>
          <a:p>
            <a:r>
              <a:rPr lang="en-US" sz="1100" dirty="0" smtClean="0"/>
              <a:t> </a:t>
            </a:r>
          </a:p>
          <a:p>
            <a:endParaRPr lang="en-US" sz="1100" dirty="0"/>
          </a:p>
          <a:p>
            <a:endParaRPr lang="en-US" sz="1200" dirty="0"/>
          </a:p>
        </p:txBody>
      </p:sp>
      <p:sp>
        <p:nvSpPr>
          <p:cNvPr id="12" name="Rectangle 68"/>
          <p:cNvSpPr>
            <a:spLocks noChangeArrowheads="1"/>
          </p:cNvSpPr>
          <p:nvPr/>
        </p:nvSpPr>
        <p:spPr bwMode="auto">
          <a:xfrm>
            <a:off x="685800" y="6477000"/>
            <a:ext cx="5325034" cy="197243"/>
          </a:xfrm>
          <a:prstGeom prst="rect">
            <a:avLst/>
          </a:prstGeom>
          <a:noFill/>
          <a:ln w="9525">
            <a:noFill/>
            <a:miter lim="800000"/>
            <a:headEnd/>
            <a:tailEnd/>
          </a:ln>
          <a:effectLst/>
        </p:spPr>
        <p:txBody>
          <a:bodyPr wrap="square" lIns="88719" tIns="44359" rIns="88719" bIns="44359" anchor="b">
            <a:spAutoFit/>
          </a:bodyPr>
          <a:lstStyle/>
          <a:p>
            <a:pPr>
              <a:lnSpc>
                <a:spcPct val="90000"/>
              </a:lnSpc>
              <a:spcBef>
                <a:spcPct val="20000"/>
              </a:spcBef>
            </a:pPr>
            <a:r>
              <a:rPr lang="en-US" sz="777" i="1" dirty="0"/>
              <a:t>Source: </a:t>
            </a:r>
            <a:r>
              <a:rPr lang="en-US" sz="777" dirty="0" smtClean="0"/>
              <a:t>FHFA, Cello.</a:t>
            </a:r>
            <a:endParaRPr lang="en-US" sz="777" i="1" dirty="0"/>
          </a:p>
        </p:txBody>
      </p:sp>
      <p:sp>
        <p:nvSpPr>
          <p:cNvPr id="7" name="Title 1"/>
          <p:cNvSpPr txBox="1">
            <a:spLocks/>
          </p:cNvSpPr>
          <p:nvPr/>
        </p:nvSpPr>
        <p:spPr bwMode="auto">
          <a:xfrm>
            <a:off x="2289977" y="228600"/>
            <a:ext cx="6618287" cy="568325"/>
          </a:xfrm>
          <a:prstGeom prst="rect">
            <a:avLst/>
          </a:prstGeom>
          <a:noFill/>
          <a:ln w="9525">
            <a:noFill/>
            <a:miter lim="800000"/>
            <a:headEnd/>
            <a:tailEnd/>
          </a:ln>
        </p:spPr>
        <p:txBody>
          <a:bodyPr vert="horz" wrap="square" lIns="91354" tIns="45678" rIns="91354" bIns="45678" numCol="1" anchor="t" anchorCtr="0" compatLnSpc="1">
            <a:prstTxWarp prst="textNoShape">
              <a:avLst/>
            </a:prstTxWarp>
          </a:bodyPr>
          <a:lstStyle>
            <a:lvl1pPr algn="r" rtl="0" eaLnBrk="0" fontAlgn="base" hangingPunct="0">
              <a:spcBef>
                <a:spcPct val="0"/>
              </a:spcBef>
              <a:spcAft>
                <a:spcPct val="0"/>
              </a:spcAft>
              <a:defRPr sz="1300" b="1">
                <a:solidFill>
                  <a:schemeClr val="bg1"/>
                </a:solidFill>
                <a:latin typeface="Calibri" pitchFamily="34" charset="0"/>
                <a:ea typeface="+mj-ea"/>
                <a:cs typeface="+mj-cs"/>
              </a:defRPr>
            </a:lvl1pPr>
            <a:lvl2pPr algn="r" rtl="0" eaLnBrk="0" fontAlgn="base" hangingPunct="0">
              <a:spcBef>
                <a:spcPct val="0"/>
              </a:spcBef>
              <a:spcAft>
                <a:spcPct val="0"/>
              </a:spcAft>
              <a:defRPr sz="1300" b="1">
                <a:solidFill>
                  <a:schemeClr val="bg1"/>
                </a:solidFill>
                <a:latin typeface="Calibri" pitchFamily="34" charset="0"/>
              </a:defRPr>
            </a:lvl2pPr>
            <a:lvl3pPr algn="r" rtl="0" eaLnBrk="0" fontAlgn="base" hangingPunct="0">
              <a:spcBef>
                <a:spcPct val="0"/>
              </a:spcBef>
              <a:spcAft>
                <a:spcPct val="0"/>
              </a:spcAft>
              <a:defRPr sz="1300" b="1">
                <a:solidFill>
                  <a:schemeClr val="bg1"/>
                </a:solidFill>
                <a:latin typeface="Calibri" pitchFamily="34" charset="0"/>
              </a:defRPr>
            </a:lvl3pPr>
            <a:lvl4pPr algn="r" rtl="0" eaLnBrk="0" fontAlgn="base" hangingPunct="0">
              <a:spcBef>
                <a:spcPct val="0"/>
              </a:spcBef>
              <a:spcAft>
                <a:spcPct val="0"/>
              </a:spcAft>
              <a:defRPr sz="1300" b="1">
                <a:solidFill>
                  <a:schemeClr val="bg1"/>
                </a:solidFill>
                <a:latin typeface="Calibri" pitchFamily="34" charset="0"/>
              </a:defRPr>
            </a:lvl4pPr>
            <a:lvl5pPr algn="r" rtl="0" eaLnBrk="0" fontAlgn="base" hangingPunct="0">
              <a:spcBef>
                <a:spcPct val="0"/>
              </a:spcBef>
              <a:spcAft>
                <a:spcPct val="0"/>
              </a:spcAft>
              <a:defRPr sz="1300" b="1">
                <a:solidFill>
                  <a:schemeClr val="bg1"/>
                </a:solidFill>
                <a:latin typeface="Calibri" pitchFamily="34" charset="0"/>
              </a:defRPr>
            </a:lvl5pPr>
            <a:lvl6pPr marL="456775" algn="r" rtl="0" fontAlgn="base">
              <a:spcBef>
                <a:spcPct val="0"/>
              </a:spcBef>
              <a:spcAft>
                <a:spcPct val="0"/>
              </a:spcAft>
              <a:defRPr sz="1700">
                <a:solidFill>
                  <a:schemeClr val="bg1"/>
                </a:solidFill>
                <a:latin typeface="Calisto MT" pitchFamily="18" charset="0"/>
              </a:defRPr>
            </a:lvl6pPr>
            <a:lvl7pPr marL="913550" algn="r" rtl="0" fontAlgn="base">
              <a:spcBef>
                <a:spcPct val="0"/>
              </a:spcBef>
              <a:spcAft>
                <a:spcPct val="0"/>
              </a:spcAft>
              <a:defRPr sz="1700">
                <a:solidFill>
                  <a:schemeClr val="bg1"/>
                </a:solidFill>
                <a:latin typeface="Calisto MT" pitchFamily="18" charset="0"/>
              </a:defRPr>
            </a:lvl7pPr>
            <a:lvl8pPr marL="1370324" algn="r" rtl="0" fontAlgn="base">
              <a:spcBef>
                <a:spcPct val="0"/>
              </a:spcBef>
              <a:spcAft>
                <a:spcPct val="0"/>
              </a:spcAft>
              <a:defRPr sz="1700">
                <a:solidFill>
                  <a:schemeClr val="bg1"/>
                </a:solidFill>
                <a:latin typeface="Calisto MT" pitchFamily="18" charset="0"/>
              </a:defRPr>
            </a:lvl8pPr>
            <a:lvl9pPr marL="1827098" algn="r" rtl="0" fontAlgn="base">
              <a:spcBef>
                <a:spcPct val="0"/>
              </a:spcBef>
              <a:spcAft>
                <a:spcPct val="0"/>
              </a:spcAft>
              <a:defRPr sz="1700">
                <a:solidFill>
                  <a:schemeClr val="bg1"/>
                </a:solidFill>
                <a:latin typeface="Calisto MT" pitchFamily="18" charset="0"/>
              </a:defRPr>
            </a:lvl9pPr>
          </a:lstStyle>
          <a:p>
            <a:pPr defTabSz="914400"/>
            <a:r>
              <a:rPr lang="en-US" dirty="0" smtClean="0"/>
              <a:t>FREDDIE MAC PARTNERS WITH AN MI TO REDUCE COUNTERPARTY RISK</a:t>
            </a:r>
            <a:endParaRPr lang="en-US" kern="0" dirty="0"/>
          </a:p>
        </p:txBody>
      </p:sp>
      <p:graphicFrame>
        <p:nvGraphicFramePr>
          <p:cNvPr id="9" name="Table 8"/>
          <p:cNvGraphicFramePr>
            <a:graphicFrameLocks noGrp="1"/>
          </p:cNvGraphicFramePr>
          <p:nvPr>
            <p:extLst>
              <p:ext uri="{D42A27DB-BD31-4B8C-83A1-F6EECF244321}">
                <p14:modId xmlns:p14="http://schemas.microsoft.com/office/powerpoint/2010/main" val="1840828732"/>
              </p:ext>
            </p:extLst>
          </p:nvPr>
        </p:nvGraphicFramePr>
        <p:xfrm>
          <a:off x="2438399" y="1828801"/>
          <a:ext cx="5867403" cy="4115608"/>
        </p:xfrm>
        <a:graphic>
          <a:graphicData uri="http://schemas.openxmlformats.org/drawingml/2006/table">
            <a:tbl>
              <a:tblPr firstRow="1" bandRow="1">
                <a:tableStyleId>{2D5ABB26-0587-4C30-8999-92F81FD0307C}</a:tableStyleId>
              </a:tblPr>
              <a:tblGrid>
                <a:gridCol w="1760220"/>
                <a:gridCol w="718888"/>
                <a:gridCol w="677659"/>
                <a:gridCol w="677659"/>
                <a:gridCol w="677659"/>
                <a:gridCol w="677659"/>
                <a:gridCol w="677659"/>
              </a:tblGrid>
              <a:tr h="598629">
                <a:tc>
                  <a:txBody>
                    <a:bodyPr/>
                    <a:lstStyle/>
                    <a:p>
                      <a:endParaRPr lang="en-US" sz="800" b="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endParaRPr lang="en-US" sz="800" b="0" dirty="0" smtClean="0">
                        <a:solidFill>
                          <a:schemeClr val="bg1"/>
                        </a:solidFill>
                      </a:endParaRPr>
                    </a:p>
                    <a:p>
                      <a:pPr marL="0" marR="0" indent="0" algn="ctr" defTabSz="1018472" rtl="0" eaLnBrk="1" fontAlgn="auto" latinLnBrk="0" hangingPunct="1">
                        <a:lnSpc>
                          <a:spcPct val="100000"/>
                        </a:lnSpc>
                        <a:spcBef>
                          <a:spcPts val="0"/>
                        </a:spcBef>
                        <a:spcAft>
                          <a:spcPts val="0"/>
                        </a:spcAft>
                        <a:buClrTx/>
                        <a:buSzTx/>
                        <a:buFontTx/>
                        <a:buNone/>
                        <a:tabLst/>
                        <a:defRPr/>
                      </a:pPr>
                      <a:r>
                        <a:rPr lang="en-US" sz="800" b="0" dirty="0" smtClean="0">
                          <a:solidFill>
                            <a:schemeClr val="bg1"/>
                          </a:solidFill>
                        </a:rPr>
                        <a:t>Rating as of September 30, 2017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gridSpan="5">
                  <a:txBody>
                    <a:bodyPr/>
                    <a:lstStyle/>
                    <a:p>
                      <a:pPr marL="0" marR="0" indent="0" algn="ctr" defTabSz="1018472" rtl="0" eaLnBrk="1" fontAlgn="auto" latinLnBrk="0" hangingPunct="1">
                        <a:lnSpc>
                          <a:spcPct val="100000"/>
                        </a:lnSpc>
                        <a:spcBef>
                          <a:spcPts val="0"/>
                        </a:spcBef>
                        <a:spcAft>
                          <a:spcPts val="0"/>
                        </a:spcAft>
                        <a:buClrTx/>
                        <a:buSzTx/>
                        <a:buFontTx/>
                        <a:buNone/>
                        <a:tabLst/>
                        <a:defRPr/>
                      </a:pPr>
                      <a:endParaRPr lang="en-US" sz="800" b="0" dirty="0" smtClean="0">
                        <a:solidFill>
                          <a:schemeClr val="bg1"/>
                        </a:solidFill>
                      </a:endParaRPr>
                    </a:p>
                    <a:p>
                      <a:pPr marL="0" marR="0" indent="0" algn="ctr" defTabSz="1018472" rtl="0" eaLnBrk="1" fontAlgn="auto" latinLnBrk="0" hangingPunct="1">
                        <a:lnSpc>
                          <a:spcPct val="100000"/>
                        </a:lnSpc>
                        <a:spcBef>
                          <a:spcPts val="0"/>
                        </a:spcBef>
                        <a:spcAft>
                          <a:spcPts val="0"/>
                        </a:spcAft>
                        <a:buClrTx/>
                        <a:buSzTx/>
                        <a:buFontTx/>
                        <a:buNone/>
                        <a:tabLst/>
                        <a:defRPr/>
                      </a:pPr>
                      <a:endParaRPr lang="en-US" sz="800" b="0" dirty="0" smtClean="0">
                        <a:solidFill>
                          <a:schemeClr val="bg1"/>
                        </a:solidFill>
                      </a:endParaRPr>
                    </a:p>
                    <a:p>
                      <a:pPr marL="0" marR="0" indent="0" algn="ctr" defTabSz="1018472" rtl="0" eaLnBrk="1" fontAlgn="auto" latinLnBrk="0" hangingPunct="1">
                        <a:lnSpc>
                          <a:spcPct val="100000"/>
                        </a:lnSpc>
                        <a:spcBef>
                          <a:spcPts val="0"/>
                        </a:spcBef>
                        <a:spcAft>
                          <a:spcPts val="0"/>
                        </a:spcAft>
                        <a:buClrTx/>
                        <a:buSzTx/>
                        <a:buFontTx/>
                        <a:buNone/>
                        <a:tabLst/>
                        <a:defRPr/>
                      </a:pPr>
                      <a:r>
                        <a:rPr lang="en-US" sz="800" b="0" dirty="0" smtClean="0">
                          <a:solidFill>
                            <a:schemeClr val="bg1"/>
                          </a:solidFill>
                        </a:rPr>
                        <a:t>Coverage as of December 31, 2016 ($ Billions)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hMerge="1">
                  <a:txBody>
                    <a:bodyPr/>
                    <a:lstStyle/>
                    <a:p>
                      <a:endParaRPr lang="en-US" sz="1400" dirty="0"/>
                    </a:p>
                  </a:txBody>
                  <a:tcPr/>
                </a:tc>
                <a:tc hMerge="1">
                  <a:txBody>
                    <a:bodyPr/>
                    <a:lstStyle/>
                    <a:p>
                      <a:endParaRPr lang="en-US" sz="1400" dirty="0"/>
                    </a:p>
                  </a:txBody>
                  <a:tcPr/>
                </a:tc>
                <a:tc hMerge="1">
                  <a:txBody>
                    <a:bodyPr/>
                    <a:lstStyle/>
                    <a:p>
                      <a:endParaRPr lang="en-US" sz="1400" dirty="0"/>
                    </a:p>
                  </a:txBody>
                  <a:tcPr/>
                </a:tc>
                <a:tc hMerge="1">
                  <a:txBody>
                    <a:bodyPr/>
                    <a:lstStyle/>
                    <a:p>
                      <a:endParaRPr lang="en-US" sz="1400" dirty="0"/>
                    </a:p>
                  </a:txBody>
                  <a:tcPr/>
                </a:tc>
              </a:tr>
              <a:tr h="491731">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b="0" dirty="0" smtClean="0">
                          <a:solidFill>
                            <a:schemeClr val="bg1"/>
                          </a:solidFill>
                        </a:rPr>
                        <a:t>Mortgage Insurer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b="0" dirty="0" smtClean="0">
                          <a:solidFill>
                            <a:schemeClr val="bg1"/>
                          </a:solidFill>
                        </a:rPr>
                        <a:t>Credit Rating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b="0" dirty="0" smtClean="0">
                          <a:solidFill>
                            <a:schemeClr val="bg1"/>
                          </a:solidFill>
                        </a:rPr>
                        <a:t>Fannie Mae UPB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b="0" dirty="0" smtClean="0">
                          <a:solidFill>
                            <a:schemeClr val="bg1"/>
                          </a:solidFill>
                        </a:rPr>
                        <a:t>Fannie Mae Risk in Force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b="0" dirty="0" smtClean="0">
                          <a:solidFill>
                            <a:schemeClr val="bg1"/>
                          </a:solidFill>
                        </a:rPr>
                        <a:t>Freddie Mac UPB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tc>
                  <a:txBody>
                    <a:bodyPr/>
                    <a:lstStyle/>
                    <a:p>
                      <a:pPr marL="0" marR="0" indent="0" algn="ctr" defTabSz="1018472" rtl="0" eaLnBrk="1" fontAlgn="auto" latinLnBrk="0" hangingPunct="1">
                        <a:lnSpc>
                          <a:spcPct val="100000"/>
                        </a:lnSpc>
                        <a:spcBef>
                          <a:spcPts val="0"/>
                        </a:spcBef>
                        <a:spcAft>
                          <a:spcPts val="0"/>
                        </a:spcAft>
                        <a:buClrTx/>
                        <a:buSzTx/>
                        <a:buFontTx/>
                        <a:buNone/>
                        <a:tabLst/>
                        <a:defRPr/>
                      </a:pPr>
                      <a:r>
                        <a:rPr lang="en-US" sz="800" b="0" dirty="0" smtClean="0">
                          <a:solidFill>
                            <a:schemeClr val="bg1"/>
                          </a:solidFill>
                        </a:rPr>
                        <a:t>Freddie Mac Risk in Force </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tc>
                  <a:txBody>
                    <a:bodyPr/>
                    <a:lstStyle/>
                    <a:p>
                      <a:pPr algn="ctr"/>
                      <a:r>
                        <a:rPr lang="en-US" sz="800" b="0" dirty="0" smtClean="0">
                          <a:solidFill>
                            <a:schemeClr val="bg1"/>
                          </a:solidFill>
                        </a:rPr>
                        <a:t>Market  Share (%)</a:t>
                      </a:r>
                      <a:endParaRPr lang="en-US" sz="800" b="0" dirty="0">
                        <a:solidFill>
                          <a:schemeClr val="bg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accent1"/>
                    </a:solidFill>
                  </a:tcPr>
                </a:tc>
              </a:tr>
              <a:tr h="213198">
                <a:tc>
                  <a:txBody>
                    <a:bodyPr/>
                    <a:lstStyle/>
                    <a:p>
                      <a:pPr marL="0" marR="0" indent="0" algn="l" defTabSz="1018472" rtl="0" eaLnBrk="1" fontAlgn="b" latinLnBrk="0" hangingPunct="1">
                        <a:lnSpc>
                          <a:spcPct val="100000"/>
                        </a:lnSpc>
                        <a:spcBef>
                          <a:spcPts val="0"/>
                        </a:spcBef>
                        <a:spcAft>
                          <a:spcPts val="0"/>
                        </a:spcAft>
                        <a:buClrTx/>
                        <a:buSzTx/>
                        <a:buFontTx/>
                        <a:buNone/>
                        <a:tabLst/>
                        <a:defRPr/>
                      </a:pPr>
                      <a:r>
                        <a:rPr lang="en-US" sz="800" dirty="0" smtClean="0"/>
                        <a:t>Arch Capital Group Ltd</a:t>
                      </a:r>
                    </a:p>
                  </a:txBody>
                  <a:tcPr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dirty="0" smtClean="0"/>
                        <a:t>A-</a:t>
                      </a:r>
                      <a:endParaRPr lang="en-US" sz="800" dirty="0"/>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dirty="0" smtClean="0"/>
                        <a:t>128.4</a:t>
                      </a:r>
                      <a:endParaRPr lang="en-US" sz="800" dirty="0"/>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dirty="0" smtClean="0"/>
                        <a:t>33.2</a:t>
                      </a:r>
                      <a:endParaRPr lang="en-US" sz="800" dirty="0"/>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dirty="0" smtClean="0"/>
                        <a:t>70.6</a:t>
                      </a:r>
                      <a:endParaRPr lang="en-US" sz="800" dirty="0"/>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dirty="0" smtClean="0"/>
                        <a:t>18.1</a:t>
                      </a:r>
                      <a:endParaRPr lang="en-US" sz="800" dirty="0"/>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fontAlgn="b" latinLnBrk="0" hangingPunct="1"/>
                      <a:r>
                        <a:rPr lang="en-US" sz="800" kern="1200" dirty="0" smtClean="0">
                          <a:solidFill>
                            <a:schemeClr val="tx1"/>
                          </a:solidFill>
                          <a:latin typeface="+mn-lt"/>
                          <a:ea typeface="+mn-ea"/>
                          <a:cs typeface="+mn-cs"/>
                        </a:rPr>
                        <a:t>25.5</a:t>
                      </a:r>
                      <a:endParaRPr lang="en-US" sz="800" kern="1200" dirty="0">
                        <a:solidFill>
                          <a:schemeClr val="tx1"/>
                        </a:solidFill>
                        <a:latin typeface="+mn-lt"/>
                        <a:ea typeface="+mn-ea"/>
                        <a:cs typeface="+mn-cs"/>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213198">
                <a:tc>
                  <a:txBody>
                    <a:bodyPr/>
                    <a:lstStyle/>
                    <a:p>
                      <a:pPr marL="0" marR="0" indent="0" algn="l" defTabSz="1018472" rtl="0" eaLnBrk="1" fontAlgn="b" latinLnBrk="0" hangingPunct="1">
                        <a:lnSpc>
                          <a:spcPct val="100000"/>
                        </a:lnSpc>
                        <a:spcBef>
                          <a:spcPts val="0"/>
                        </a:spcBef>
                        <a:spcAft>
                          <a:spcPts val="0"/>
                        </a:spcAft>
                        <a:buClrTx/>
                        <a:buSzTx/>
                        <a:buFontTx/>
                        <a:buNone/>
                        <a:tabLst/>
                        <a:defRPr/>
                      </a:pPr>
                      <a:r>
                        <a:rPr lang="en-US" sz="800" dirty="0" smtClean="0"/>
                        <a:t>Radian Guaranty, Inc.</a:t>
                      </a:r>
                    </a:p>
                  </a:txBody>
                  <a:tcPr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BBB-</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100.6</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25.9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62.1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800" dirty="0" smtClean="0"/>
                        <a:t>16.0</a:t>
                      </a:r>
                      <a:endParaRPr lang="en-US" sz="800" dirty="0"/>
                    </a:p>
                  </a:txBody>
                  <a:tcPr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fontAlgn="b" latinLnBrk="0" hangingPunct="1"/>
                      <a:r>
                        <a:rPr lang="en-US" sz="800" kern="1200" dirty="0" smtClean="0">
                          <a:solidFill>
                            <a:schemeClr val="tx1"/>
                          </a:solidFill>
                          <a:latin typeface="+mn-lt"/>
                          <a:ea typeface="+mn-ea"/>
                          <a:cs typeface="+mn-cs"/>
                        </a:rPr>
                        <a:t>20.8</a:t>
                      </a:r>
                      <a:endParaRPr lang="en-US" sz="800" kern="1200" dirty="0">
                        <a:solidFill>
                          <a:schemeClr val="tx1"/>
                        </a:solidFill>
                        <a:latin typeface="+mn-lt"/>
                        <a:ea typeface="+mn-ea"/>
                        <a:cs typeface="+mn-cs"/>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35026">
                <a:tc>
                  <a:txBody>
                    <a:bodyPr/>
                    <a:lstStyle/>
                    <a:p>
                      <a:pPr marL="0" algn="l" defTabSz="1018472" rtl="0" eaLnBrk="1" fontAlgn="b" latinLnBrk="0" hangingPunct="1"/>
                      <a:r>
                        <a:rPr lang="en-US" sz="800" dirty="0" smtClean="0"/>
                        <a:t>Mortgage Guaranty Insurance Corp.</a:t>
                      </a:r>
                      <a:endParaRPr lang="en-US" sz="800" dirty="0"/>
                    </a:p>
                  </a:txBody>
                  <a:tcPr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latinLnBrk="0" hangingPunct="1"/>
                      <a:r>
                        <a:rPr lang="en-US" sz="800" dirty="0" smtClean="0"/>
                        <a:t>BBB</a:t>
                      </a:r>
                      <a:endParaRPr lang="en-US" sz="800"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US" sz="800" dirty="0"/>
                        <a:t>95.4</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24.7</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59.5</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15.2</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fontAlgn="b" latinLnBrk="0" hangingPunct="1"/>
                      <a:r>
                        <a:rPr lang="en-US" sz="800" kern="1200" dirty="0" smtClean="0">
                          <a:solidFill>
                            <a:schemeClr val="tx1"/>
                          </a:solidFill>
                          <a:latin typeface="+mn-lt"/>
                          <a:ea typeface="+mn-ea"/>
                          <a:cs typeface="+mn-cs"/>
                        </a:rPr>
                        <a:t>19.8</a:t>
                      </a:r>
                      <a:endParaRPr lang="en-US" sz="800" kern="1200" dirty="0">
                        <a:solidFill>
                          <a:schemeClr val="tx1"/>
                        </a:solidFill>
                        <a:latin typeface="+mn-lt"/>
                        <a:ea typeface="+mn-ea"/>
                        <a:cs typeface="+mn-cs"/>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35026">
                <a:tc>
                  <a:txBody>
                    <a:bodyPr/>
                    <a:lstStyle/>
                    <a:p>
                      <a:pPr marL="0" algn="l" defTabSz="1018472" rtl="0" eaLnBrk="1" latinLnBrk="0" hangingPunct="1"/>
                      <a:r>
                        <a:rPr lang="en-US" sz="800" dirty="0" smtClean="0"/>
                        <a:t>Genworth Mortgage Insurance Corp.</a:t>
                      </a:r>
                      <a:endParaRPr lang="en-US" sz="800" dirty="0"/>
                    </a:p>
                  </a:txBody>
                  <a:tcPr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latinLnBrk="0" hangingPunct="1"/>
                      <a:r>
                        <a:rPr lang="en-US" sz="800" dirty="0" smtClean="0"/>
                        <a:t>BB+</a:t>
                      </a:r>
                      <a:endParaRPr lang="en-US" sz="800"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73.1</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18.6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43.3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11.1</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fontAlgn="b" latinLnBrk="0" hangingPunct="1"/>
                      <a:r>
                        <a:rPr lang="en-US" sz="800" kern="1200" dirty="0" smtClean="0">
                          <a:solidFill>
                            <a:schemeClr val="tx1"/>
                          </a:solidFill>
                          <a:latin typeface="+mn-lt"/>
                          <a:ea typeface="+mn-ea"/>
                          <a:cs typeface="+mn-cs"/>
                        </a:rPr>
                        <a:t>14.8</a:t>
                      </a:r>
                      <a:endParaRPr lang="en-US" sz="800" kern="1200" dirty="0">
                        <a:solidFill>
                          <a:schemeClr val="tx1"/>
                        </a:solidFill>
                        <a:latin typeface="+mn-lt"/>
                        <a:ea typeface="+mn-ea"/>
                        <a:cs typeface="+mn-cs"/>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213198">
                <a:tc>
                  <a:txBody>
                    <a:bodyPr/>
                    <a:lstStyle/>
                    <a:p>
                      <a:pPr marL="0" algn="l" defTabSz="1018472" rtl="0" eaLnBrk="1" latinLnBrk="0" hangingPunct="1"/>
                      <a:r>
                        <a:rPr lang="en-US" sz="800" dirty="0" err="1" smtClean="0"/>
                        <a:t>Essent</a:t>
                      </a:r>
                      <a:r>
                        <a:rPr lang="en-US" sz="800" dirty="0" smtClean="0"/>
                        <a:t> Guaranty, Inc.</a:t>
                      </a:r>
                      <a:endParaRPr lang="en-US" sz="800" dirty="0"/>
                    </a:p>
                  </a:txBody>
                  <a:tcPr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latinLnBrk="0" hangingPunct="1"/>
                      <a:r>
                        <a:rPr lang="en-US" sz="800" dirty="0" smtClean="0"/>
                        <a:t>BBB+</a:t>
                      </a:r>
                      <a:endParaRPr lang="en-US" sz="800"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45.1</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11.2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29.2</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7.5</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fontAlgn="b" latinLnBrk="0" hangingPunct="1"/>
                      <a:r>
                        <a:rPr lang="en-US" sz="800" kern="1200" dirty="0" smtClean="0">
                          <a:solidFill>
                            <a:schemeClr val="tx1"/>
                          </a:solidFill>
                          <a:latin typeface="+mn-lt"/>
                          <a:ea typeface="+mn-ea"/>
                          <a:cs typeface="+mn-cs"/>
                        </a:rPr>
                        <a:t>9.3</a:t>
                      </a:r>
                      <a:endParaRPr lang="en-US" sz="800" kern="1200" dirty="0">
                        <a:solidFill>
                          <a:schemeClr val="tx1"/>
                        </a:solidFill>
                        <a:latin typeface="+mn-lt"/>
                        <a:ea typeface="+mn-ea"/>
                        <a:cs typeface="+mn-cs"/>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34521">
                <a:tc>
                  <a:txBody>
                    <a:bodyPr/>
                    <a:lstStyle/>
                    <a:p>
                      <a:pPr marL="0" algn="l" defTabSz="1018472" rtl="0" eaLnBrk="1" latinLnBrk="0" hangingPunct="1"/>
                      <a:r>
                        <a:rPr lang="en-US" sz="800" dirty="0" smtClean="0"/>
                        <a:t>National Mortgage Insurance Corp.</a:t>
                      </a:r>
                      <a:endParaRPr lang="en-US" sz="800" dirty="0"/>
                    </a:p>
                  </a:txBody>
                  <a:tcPr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latinLnBrk="0" hangingPunct="1"/>
                      <a:r>
                        <a:rPr lang="en-US" sz="800" dirty="0" smtClean="0"/>
                        <a:t>BBB-</a:t>
                      </a:r>
                      <a:endParaRPr lang="en-US" sz="800"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21.2</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4.4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fontAlgn="b" latinLnBrk="0" hangingPunct="1"/>
                      <a:r>
                        <a:rPr lang="en-US" sz="800" kern="1200" dirty="0" smtClean="0">
                          <a:solidFill>
                            <a:schemeClr val="tx1"/>
                          </a:solidFill>
                          <a:latin typeface="+mn-lt"/>
                          <a:ea typeface="+mn-ea"/>
                          <a:cs typeface="+mn-cs"/>
                        </a:rPr>
                        <a:t>2.2</a:t>
                      </a:r>
                      <a:endParaRPr lang="en-US" sz="800" kern="1200" dirty="0">
                        <a:solidFill>
                          <a:schemeClr val="tx1"/>
                        </a:solidFill>
                        <a:latin typeface="+mn-lt"/>
                        <a:ea typeface="+mn-ea"/>
                        <a:cs typeface="+mn-cs"/>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284328">
                <a:tc>
                  <a:txBody>
                    <a:bodyPr/>
                    <a:lstStyle/>
                    <a:p>
                      <a:pPr marL="0" algn="l" defTabSz="1018472" rtl="0" eaLnBrk="1" latinLnBrk="0" hangingPunct="1"/>
                      <a:r>
                        <a:rPr lang="en-US" sz="800" dirty="0" smtClean="0"/>
                        <a:t>PMI Mortgage Insurance Co.**</a:t>
                      </a:r>
                      <a:endParaRPr lang="en-US" sz="800" dirty="0"/>
                    </a:p>
                  </a:txBody>
                  <a:tcPr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latinLnBrk="0" hangingPunct="1"/>
                      <a:r>
                        <a:rPr lang="en-US" sz="800" dirty="0" smtClean="0"/>
                        <a:t>Not Rated</a:t>
                      </a:r>
                      <a:endParaRPr lang="en-US" sz="800"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15.1</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3.8</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7.4</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1.9</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fontAlgn="b" latinLnBrk="0" hangingPunct="1"/>
                      <a:r>
                        <a:rPr lang="en-US" sz="800" kern="1200" dirty="0" smtClean="0">
                          <a:solidFill>
                            <a:schemeClr val="tx1"/>
                          </a:solidFill>
                          <a:latin typeface="+mn-lt"/>
                          <a:ea typeface="+mn-ea"/>
                          <a:cs typeface="+mn-cs"/>
                        </a:rPr>
                        <a:t>2.8</a:t>
                      </a:r>
                      <a:endParaRPr lang="en-US" sz="800" kern="1200" dirty="0">
                        <a:solidFill>
                          <a:schemeClr val="tx1"/>
                        </a:solidFill>
                        <a:latin typeface="+mn-lt"/>
                        <a:ea typeface="+mn-ea"/>
                        <a:cs typeface="+mn-cs"/>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35026">
                <a:tc>
                  <a:txBody>
                    <a:bodyPr/>
                    <a:lstStyle/>
                    <a:p>
                      <a:pPr marL="0" algn="l" defTabSz="1018472" rtl="0" eaLnBrk="1" latinLnBrk="0" hangingPunct="1"/>
                      <a:r>
                        <a:rPr lang="en-US" sz="800" dirty="0" smtClean="0"/>
                        <a:t>Republic Mortgage Insurance Co.**</a:t>
                      </a:r>
                      <a:endParaRPr lang="en-US" sz="800" dirty="0"/>
                    </a:p>
                  </a:txBody>
                  <a:tcPr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latinLnBrk="0" hangingPunct="1"/>
                      <a:r>
                        <a:rPr lang="en-US" sz="800" dirty="0" smtClean="0"/>
                        <a:t>Not Rated</a:t>
                      </a:r>
                      <a:endParaRPr lang="en-US" sz="800"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12</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3.1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5.6</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1.4</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fontAlgn="b" latinLnBrk="0" hangingPunct="1"/>
                      <a:r>
                        <a:rPr lang="en-US" sz="800" kern="1200" dirty="0" smtClean="0">
                          <a:solidFill>
                            <a:schemeClr val="tx1"/>
                          </a:solidFill>
                          <a:latin typeface="+mn-lt"/>
                          <a:ea typeface="+mn-ea"/>
                          <a:cs typeface="+mn-cs"/>
                        </a:rPr>
                        <a:t>2.2</a:t>
                      </a:r>
                      <a:endParaRPr lang="en-US" sz="800" kern="1200" dirty="0">
                        <a:solidFill>
                          <a:schemeClr val="tx1"/>
                        </a:solidFill>
                        <a:latin typeface="+mn-lt"/>
                        <a:ea typeface="+mn-ea"/>
                        <a:cs typeface="+mn-cs"/>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334521">
                <a:tc>
                  <a:txBody>
                    <a:bodyPr/>
                    <a:lstStyle/>
                    <a:p>
                      <a:pPr marL="0" algn="l" defTabSz="1018472" rtl="0" eaLnBrk="1" latinLnBrk="0" hangingPunct="1"/>
                      <a:r>
                        <a:rPr lang="en-US" sz="800" dirty="0" smtClean="0"/>
                        <a:t>Triad Guaranty Insurance Corp.**</a:t>
                      </a:r>
                      <a:endParaRPr lang="en-US" sz="800" dirty="0"/>
                    </a:p>
                  </a:txBody>
                  <a:tcPr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latinLnBrk="0" hangingPunct="1"/>
                      <a:r>
                        <a:rPr lang="en-US" sz="800" dirty="0" smtClean="0"/>
                        <a:t>Not Rated</a:t>
                      </a:r>
                      <a:endParaRPr lang="en-US" sz="800"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4</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1.1</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2.9</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0.7</a:t>
                      </a:r>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fontAlgn="b" latinLnBrk="0" hangingPunct="1"/>
                      <a:r>
                        <a:rPr lang="en-US" sz="800" kern="1200" dirty="0" smtClean="0">
                          <a:solidFill>
                            <a:schemeClr val="tx1"/>
                          </a:solidFill>
                          <a:latin typeface="+mn-lt"/>
                          <a:ea typeface="+mn-ea"/>
                          <a:cs typeface="+mn-cs"/>
                        </a:rPr>
                        <a:t>0.9</a:t>
                      </a:r>
                      <a:endParaRPr lang="en-US" sz="800" kern="1200" dirty="0">
                        <a:solidFill>
                          <a:schemeClr val="tx1"/>
                        </a:solidFill>
                        <a:latin typeface="+mn-lt"/>
                        <a:ea typeface="+mn-ea"/>
                        <a:cs typeface="+mn-cs"/>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213198">
                <a:tc>
                  <a:txBody>
                    <a:bodyPr/>
                    <a:lstStyle/>
                    <a:p>
                      <a:pPr marL="0" algn="l" defTabSz="1018472" rtl="0" eaLnBrk="1" latinLnBrk="0" hangingPunct="1"/>
                      <a:r>
                        <a:rPr lang="en-US" sz="800" dirty="0" smtClean="0"/>
                        <a:t>Others</a:t>
                      </a:r>
                      <a:endParaRPr lang="en-US" sz="800" dirty="0"/>
                    </a:p>
                  </a:txBody>
                  <a:tcPr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latinLnBrk="0" hangingPunct="1"/>
                      <a:endParaRPr lang="en-US" sz="800"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1.8</a:t>
                      </a: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0.3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a:t>12.3</a:t>
                      </a:r>
                    </a:p>
                  </a:txBody>
                  <a:tcPr marL="9525" marR="9525" marT="9525"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r>
                        <a:rPr lang="en-US" sz="800" dirty="0" smtClean="0"/>
                        <a:t>3.0</a:t>
                      </a:r>
                      <a:endParaRPr lang="en-US" sz="800" dirty="0"/>
                    </a:p>
                  </a:txBody>
                  <a:tcPr marL="9525" marR="9525" marT="9525" marB="0" anchor="ctr">
                    <a:lnL w="12700" cap="flat" cmpd="sng" algn="ctr">
                      <a:no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defTabSz="1018472" rtl="0" eaLnBrk="1" fontAlgn="b" latinLnBrk="0" hangingPunct="1"/>
                      <a:r>
                        <a:rPr lang="en-US" sz="800" kern="1200" dirty="0" smtClean="0">
                          <a:solidFill>
                            <a:schemeClr val="tx1"/>
                          </a:solidFill>
                          <a:latin typeface="+mn-lt"/>
                          <a:ea typeface="+mn-ea"/>
                          <a:cs typeface="+mn-cs"/>
                        </a:rPr>
                        <a:t>1.6</a:t>
                      </a:r>
                      <a:endParaRPr lang="en-US" sz="800" kern="1200" dirty="0">
                        <a:solidFill>
                          <a:schemeClr val="tx1"/>
                        </a:solidFill>
                        <a:latin typeface="+mn-lt"/>
                        <a:ea typeface="+mn-ea"/>
                        <a:cs typeface="+mn-cs"/>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tcPr>
                </a:tc>
              </a:tr>
              <a:tr h="213198">
                <a:tc>
                  <a:txBody>
                    <a:bodyPr/>
                    <a:lstStyle/>
                    <a:p>
                      <a:pPr marL="0" algn="l" defTabSz="1018472" rtl="0" eaLnBrk="1" latinLnBrk="0" hangingPunct="1"/>
                      <a:r>
                        <a:rPr lang="en-US" sz="800" b="1" dirty="0" smtClean="0"/>
                        <a:t>Total</a:t>
                      </a:r>
                      <a:endParaRPr lang="en-US" sz="800" b="1" dirty="0"/>
                    </a:p>
                  </a:txBody>
                  <a:tcPr anchor="ctr">
                    <a:lnL w="12700" cap="flat" cmpd="sng" algn="ctr">
                      <a:solidFill>
                        <a:schemeClr val="bg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marL="0" algn="ctr" defTabSz="1018472" rtl="0" eaLnBrk="1" latinLnBrk="0" hangingPunct="1"/>
                      <a:endParaRPr lang="en-US" sz="800" b="1" dirty="0"/>
                    </a:p>
                  </a:txBody>
                  <a:tcPr anchor="ctr">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b"/>
                      <a:r>
                        <a:rPr lang="en-US" sz="800" b="1" dirty="0"/>
                        <a:t>496.7</a:t>
                      </a: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b"/>
                      <a:r>
                        <a:rPr lang="en-US" sz="800" b="1" dirty="0"/>
                        <a:t>126.2</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b"/>
                      <a:r>
                        <a:rPr lang="en-US" sz="800" b="1" dirty="0"/>
                        <a:t>292.9</a:t>
                      </a: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algn="ctr" fontAlgn="b"/>
                      <a:r>
                        <a:rPr lang="en-US" sz="800" b="1" dirty="0" smtClean="0"/>
                        <a:t>75.0</a:t>
                      </a:r>
                      <a:endParaRPr lang="en-US" sz="800" b="1" dirty="0"/>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c>
                  <a:txBody>
                    <a:bodyPr/>
                    <a:lstStyle/>
                    <a:p>
                      <a:pPr marL="0" algn="ctr" defTabSz="1018472" rtl="0" eaLnBrk="1" fontAlgn="b" latinLnBrk="0" hangingPunct="1"/>
                      <a:r>
                        <a:rPr lang="en-US" sz="800" b="1" kern="1200" dirty="0" smtClean="0">
                          <a:solidFill>
                            <a:schemeClr val="tx1"/>
                          </a:solidFill>
                          <a:latin typeface="+mn-lt"/>
                          <a:ea typeface="+mn-ea"/>
                          <a:cs typeface="+mn-cs"/>
                        </a:rPr>
                        <a:t>100%</a:t>
                      </a:r>
                      <a:endParaRPr lang="en-US" sz="800" b="1" kern="1200" dirty="0">
                        <a:solidFill>
                          <a:schemeClr val="tx1"/>
                        </a:solidFill>
                        <a:latin typeface="+mn-lt"/>
                        <a:ea typeface="+mn-ea"/>
                        <a:cs typeface="+mn-cs"/>
                      </a:endParaRPr>
                    </a:p>
                  </a:txBody>
                  <a:tcPr marL="9525" marR="9525" marT="9525" marB="0" anchor="ctr">
                    <a:lnL w="12700" cap="flat" cmpd="sng" algn="ctr">
                      <a:solidFill>
                        <a:schemeClr val="accent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28575" cap="flat" cmpd="sng" algn="ctr">
                      <a:solidFill>
                        <a:schemeClr val="accent1"/>
                      </a:solidFill>
                      <a:prstDash val="solid"/>
                      <a:round/>
                      <a:headEnd type="none" w="med" len="med"/>
                      <a:tailEnd type="none" w="med" len="med"/>
                    </a:lnB>
                  </a:tcPr>
                </a:tc>
              </a:tr>
            </a:tbl>
          </a:graphicData>
        </a:graphic>
      </p:graphicFrame>
      <p:sp>
        <p:nvSpPr>
          <p:cNvPr id="2" name="TextBox 1"/>
          <p:cNvSpPr txBox="1"/>
          <p:nvPr/>
        </p:nvSpPr>
        <p:spPr>
          <a:xfrm>
            <a:off x="2438400" y="6066692"/>
            <a:ext cx="5715000" cy="276999"/>
          </a:xfrm>
          <a:prstGeom prst="rect">
            <a:avLst/>
          </a:prstGeom>
          <a:noFill/>
        </p:spPr>
        <p:txBody>
          <a:bodyPr wrap="square" rtlCol="0">
            <a:spAutoFit/>
          </a:bodyPr>
          <a:lstStyle/>
          <a:p>
            <a:r>
              <a:rPr lang="en-US" sz="600" dirty="0" smtClean="0"/>
              <a:t>*Freddie Mac included amounts for National Mortgage Insurance Corp in the “Others” category.</a:t>
            </a:r>
          </a:p>
          <a:p>
            <a:r>
              <a:rPr lang="en-US" sz="600" dirty="0" smtClean="0"/>
              <a:t>**These mortgage insurers are under various forms of supervised control by their state regulators and are in run-off. They are not approved for new business by the GSEs.</a:t>
            </a:r>
            <a:endParaRPr lang="en-US" sz="600" dirty="0"/>
          </a:p>
        </p:txBody>
      </p:sp>
    </p:spTree>
    <p:extLst>
      <p:ext uri="{BB962C8B-B14F-4D97-AF65-F5344CB8AC3E}">
        <p14:creationId xmlns:p14="http://schemas.microsoft.com/office/powerpoint/2010/main" val="26652261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9977" y="228600"/>
            <a:ext cx="6618287" cy="568325"/>
          </a:xfrm>
        </p:spPr>
        <p:txBody>
          <a:bodyPr/>
          <a:lstStyle/>
          <a:p>
            <a:r>
              <a:rPr lang="en-US" dirty="0" smtClean="0"/>
              <a:t>PREPAYMENT OUTLOOK: MACRO DRIVERS</a:t>
            </a:r>
            <a:endParaRPr lang="en-US" dirty="0"/>
          </a:p>
        </p:txBody>
      </p:sp>
      <p:sp>
        <p:nvSpPr>
          <p:cNvPr id="16" name="Content Placeholder 12"/>
          <p:cNvSpPr>
            <a:spLocks noGrp="1"/>
          </p:cNvSpPr>
          <p:nvPr>
            <p:ph idx="1"/>
          </p:nvPr>
        </p:nvSpPr>
        <p:spPr>
          <a:xfrm>
            <a:off x="266989" y="1089772"/>
            <a:ext cx="1672648" cy="5230346"/>
          </a:xfrm>
        </p:spPr>
        <p:txBody>
          <a:bodyPr/>
          <a:lstStyle/>
          <a:p>
            <a:pPr marL="0" indent="0">
              <a:spcBef>
                <a:spcPts val="0"/>
              </a:spcBef>
              <a:buNone/>
            </a:pPr>
            <a:r>
              <a:rPr lang="en-US" sz="1100" dirty="0" smtClean="0"/>
              <a:t>2018 should be another robust year for turnover and cash-out equity related prepayments given further expansion in credit availability and increasing house prices.</a:t>
            </a:r>
          </a:p>
          <a:p>
            <a:pPr marL="0" indent="0">
              <a:spcBef>
                <a:spcPts val="0"/>
              </a:spcBef>
              <a:buNone/>
            </a:pPr>
            <a:endParaRPr lang="en-US" sz="1100" dirty="0"/>
          </a:p>
          <a:p>
            <a:pPr marL="0" indent="0">
              <a:spcBef>
                <a:spcPts val="0"/>
              </a:spcBef>
              <a:buNone/>
            </a:pPr>
            <a:r>
              <a:rPr lang="en-US" sz="1100" dirty="0" smtClean="0"/>
              <a:t>Rate-driven </a:t>
            </a:r>
            <a:r>
              <a:rPr lang="en-US" sz="1100" dirty="0" err="1" smtClean="0"/>
              <a:t>refinancings</a:t>
            </a:r>
            <a:r>
              <a:rPr lang="en-US" sz="1100" dirty="0" smtClean="0"/>
              <a:t> should remain relatively muted unless mortgage rates fall by more than 70bps from current levels.</a:t>
            </a:r>
          </a:p>
          <a:p>
            <a:pPr marL="0" indent="0">
              <a:spcBef>
                <a:spcPts val="0"/>
              </a:spcBef>
              <a:buNone/>
            </a:pPr>
            <a:endParaRPr lang="en-US" sz="1100" dirty="0"/>
          </a:p>
          <a:p>
            <a:pPr marL="0" indent="0">
              <a:spcBef>
                <a:spcPts val="0"/>
              </a:spcBef>
              <a:buNone/>
            </a:pPr>
            <a:r>
              <a:rPr lang="en-US" sz="1100" dirty="0" smtClean="0"/>
              <a:t>Current directions in housing policy appear to be more in the direction of suppressing prepayments particularly on the </a:t>
            </a:r>
            <a:r>
              <a:rPr lang="en-US" sz="1100" dirty="0" err="1" smtClean="0"/>
              <a:t>Ginnie</a:t>
            </a:r>
            <a:r>
              <a:rPr lang="en-US" sz="1100" dirty="0" smtClean="0"/>
              <a:t> Mae side. </a:t>
            </a:r>
          </a:p>
          <a:p>
            <a:pPr marL="0" indent="0">
              <a:spcBef>
                <a:spcPts val="0"/>
              </a:spcBef>
              <a:buNone/>
            </a:pPr>
            <a:endParaRPr lang="en-US" sz="1100" dirty="0"/>
          </a:p>
          <a:p>
            <a:pPr marL="0" indent="0">
              <a:spcBef>
                <a:spcPts val="0"/>
              </a:spcBef>
              <a:buNone/>
            </a:pPr>
            <a:endParaRPr lang="en-US" sz="1000" dirty="0"/>
          </a:p>
        </p:txBody>
      </p:sp>
      <p:graphicFrame>
        <p:nvGraphicFramePr>
          <p:cNvPr id="5" name="Table 4"/>
          <p:cNvGraphicFramePr>
            <a:graphicFrameLocks noGrp="1"/>
          </p:cNvGraphicFramePr>
          <p:nvPr>
            <p:extLst>
              <p:ext uri="{D42A27DB-BD31-4B8C-83A1-F6EECF244321}">
                <p14:modId xmlns:p14="http://schemas.microsoft.com/office/powerpoint/2010/main" val="838426898"/>
              </p:ext>
            </p:extLst>
          </p:nvPr>
        </p:nvGraphicFramePr>
        <p:xfrm>
          <a:off x="2633879" y="1479176"/>
          <a:ext cx="6096000" cy="4619513"/>
        </p:xfrm>
        <a:graphic>
          <a:graphicData uri="http://schemas.openxmlformats.org/drawingml/2006/table">
            <a:tbl>
              <a:tblPr bandRow="1">
                <a:tableStyleId>{5C22544A-7EE6-4342-B048-85BDC9FD1C3A}</a:tableStyleId>
              </a:tblPr>
              <a:tblGrid>
                <a:gridCol w="2076666"/>
                <a:gridCol w="4019334"/>
              </a:tblGrid>
              <a:tr h="327212">
                <a:tc>
                  <a:txBody>
                    <a:bodyPr/>
                    <a:lstStyle/>
                    <a:p>
                      <a:r>
                        <a:rPr lang="en-US" sz="1400" b="1" dirty="0" smtClean="0">
                          <a:solidFill>
                            <a:schemeClr val="bg1"/>
                          </a:solidFill>
                        </a:rPr>
                        <a:t>Driver</a:t>
                      </a:r>
                      <a:endParaRPr lang="en-US" sz="1400" b="1" dirty="0">
                        <a:solidFill>
                          <a:schemeClr val="bg1"/>
                        </a:solidFill>
                      </a:endParaRPr>
                    </a:p>
                  </a:txBody>
                  <a:tcPr marL="83127" marR="83127" marT="40341" marB="40341" anchor="ctr">
                    <a:solidFill>
                      <a:schemeClr val="tx2"/>
                    </a:solidFill>
                  </a:tcPr>
                </a:tc>
                <a:tc>
                  <a:txBody>
                    <a:bodyPr/>
                    <a:lstStyle/>
                    <a:p>
                      <a:pPr algn="ctr"/>
                      <a:r>
                        <a:rPr lang="en-US" sz="1400" b="1" dirty="0" smtClean="0">
                          <a:solidFill>
                            <a:schemeClr val="bg1"/>
                          </a:solidFill>
                        </a:rPr>
                        <a:t>Comments</a:t>
                      </a:r>
                      <a:endParaRPr lang="en-US" sz="1400" b="1" dirty="0">
                        <a:solidFill>
                          <a:schemeClr val="bg1"/>
                        </a:solidFill>
                      </a:endParaRPr>
                    </a:p>
                  </a:txBody>
                  <a:tcPr marL="83127" marR="83127" marT="40341" marB="40341" anchor="ctr">
                    <a:solidFill>
                      <a:schemeClr val="tx2"/>
                    </a:solidFill>
                  </a:tcPr>
                </a:tc>
              </a:tr>
              <a:tr h="327212">
                <a:tc>
                  <a:txBody>
                    <a:bodyPr/>
                    <a:lstStyle/>
                    <a:p>
                      <a:pPr marL="0" indent="0" algn="l">
                        <a:buFont typeface="Arial" panose="020B0604020202020204" pitchFamily="34" charset="0"/>
                        <a:buNone/>
                      </a:pPr>
                      <a:r>
                        <a:rPr lang="en-US" sz="1200" b="1" baseline="0" dirty="0" smtClean="0"/>
                        <a:t>Mortgage rates and the Media Effect</a:t>
                      </a:r>
                      <a:endParaRPr lang="en-US" sz="1200" b="1" dirty="0"/>
                    </a:p>
                  </a:txBody>
                  <a:tcPr marL="83127" marR="83127" marT="40341" marB="40341" anchor="ctr">
                    <a:solidFill>
                      <a:schemeClr val="accent2">
                        <a:lumMod val="20000"/>
                        <a:lumOff val="80000"/>
                      </a:schemeClr>
                    </a:solidFill>
                  </a:tcPr>
                </a:tc>
                <a:tc>
                  <a:txBody>
                    <a:bodyPr/>
                    <a:lstStyle/>
                    <a:p>
                      <a:pPr lvl="0" algn="l"/>
                      <a:r>
                        <a:rPr lang="en-US" sz="1200" dirty="0" smtClean="0"/>
                        <a:t>While</a:t>
                      </a:r>
                      <a:r>
                        <a:rPr lang="en-US" sz="1200" baseline="0" dirty="0" smtClean="0"/>
                        <a:t> the issuance of new mortgages has made the overall universe more </a:t>
                      </a:r>
                      <a:r>
                        <a:rPr lang="en-US" sz="1200" baseline="0" dirty="0" err="1" smtClean="0"/>
                        <a:t>refinanceable</a:t>
                      </a:r>
                      <a:r>
                        <a:rPr lang="en-US" sz="1200" baseline="0" dirty="0" smtClean="0"/>
                        <a:t> than a year ago (overall mortgage rates are at the same level), mortgage rates would likely have to fall to 3.25% to trigger a significant spike in refi activity.</a:t>
                      </a:r>
                      <a:endParaRPr lang="en-US" sz="1200" dirty="0"/>
                    </a:p>
                  </a:txBody>
                  <a:tcPr marL="83127" marR="83127" marT="40341" marB="40341" anchor="ctr">
                    <a:solidFill>
                      <a:schemeClr val="accent2">
                        <a:lumMod val="20000"/>
                        <a:lumOff val="80000"/>
                      </a:schemeClr>
                    </a:solidFill>
                  </a:tcPr>
                </a:tc>
              </a:tr>
              <a:tr h="645459">
                <a:tc>
                  <a:txBody>
                    <a:bodyPr/>
                    <a:lstStyle/>
                    <a:p>
                      <a:pPr marL="0" indent="0" algn="l">
                        <a:buFont typeface="Arial" panose="020B0604020202020204" pitchFamily="34" charset="0"/>
                        <a:buNone/>
                      </a:pPr>
                      <a:r>
                        <a:rPr lang="en-US" sz="1200" b="1" baseline="0" dirty="0" smtClean="0"/>
                        <a:t>House Prices</a:t>
                      </a:r>
                      <a:endParaRPr lang="en-US" sz="1200" b="1" dirty="0"/>
                    </a:p>
                  </a:txBody>
                  <a:tcPr marL="83127" marR="83127" marT="40341" marB="40341" anchor="ctr">
                    <a:solidFill>
                      <a:schemeClr val="accent2">
                        <a:lumMod val="20000"/>
                        <a:lumOff val="80000"/>
                      </a:schemeClr>
                    </a:solidFill>
                  </a:tcPr>
                </a:tc>
                <a:tc>
                  <a:txBody>
                    <a:bodyPr/>
                    <a:lstStyle/>
                    <a:p>
                      <a:pPr lvl="0" algn="l"/>
                      <a:r>
                        <a:rPr lang="en-US" sz="1200" baseline="0" dirty="0" smtClean="0"/>
                        <a:t>We expect to see another robust (4-5% CAGR) year of house price appreciation driven by low inventory and a robust economy even after incorporating the impact of TCJA.</a:t>
                      </a:r>
                    </a:p>
                  </a:txBody>
                  <a:tcPr marL="83127" marR="83127" marT="40341" marB="40341" anchor="ctr">
                    <a:solidFill>
                      <a:schemeClr val="accent2">
                        <a:lumMod val="20000"/>
                        <a:lumOff val="80000"/>
                      </a:schemeClr>
                    </a:solidFill>
                  </a:tcPr>
                </a:tc>
              </a:tr>
              <a:tr h="645459">
                <a:tc>
                  <a:txBody>
                    <a:bodyPr/>
                    <a:lstStyle/>
                    <a:p>
                      <a:pPr marL="0" indent="0" algn="l">
                        <a:buFont typeface="Arial" panose="020B0604020202020204" pitchFamily="34" charset="0"/>
                        <a:buNone/>
                      </a:pPr>
                      <a:r>
                        <a:rPr lang="en-US" sz="1200" b="1" dirty="0" smtClean="0"/>
                        <a:t>Credit</a:t>
                      </a:r>
                      <a:r>
                        <a:rPr lang="en-US" sz="1200" b="1" baseline="0" dirty="0" smtClean="0"/>
                        <a:t> Availability</a:t>
                      </a:r>
                      <a:endParaRPr lang="en-US" sz="1200" b="1" dirty="0"/>
                    </a:p>
                  </a:txBody>
                  <a:tcPr marL="83127" marR="83127" marT="40341" marB="40341" anchor="ctr">
                    <a:solidFill>
                      <a:schemeClr val="accent2">
                        <a:lumMod val="20000"/>
                        <a:lumOff val="80000"/>
                      </a:schemeClr>
                    </a:solidFill>
                  </a:tcPr>
                </a:tc>
                <a:tc>
                  <a:txBody>
                    <a:bodyPr/>
                    <a:lstStyle/>
                    <a:p>
                      <a:pPr lvl="0" algn="l"/>
                      <a:r>
                        <a:rPr lang="en-US" sz="1200" baseline="0" dirty="0" smtClean="0"/>
                        <a:t>Should continue to grow given increasing house prices, a strong economy, and fierce competition amongst originators.</a:t>
                      </a:r>
                    </a:p>
                  </a:txBody>
                  <a:tcPr marL="83127" marR="83127" marT="40341" marB="40341" anchor="ctr">
                    <a:solidFill>
                      <a:schemeClr val="accent2">
                        <a:lumMod val="20000"/>
                        <a:lumOff val="80000"/>
                      </a:schemeClr>
                    </a:solidFill>
                  </a:tcPr>
                </a:tc>
              </a:tr>
              <a:tr h="645459">
                <a:tc>
                  <a:txBody>
                    <a:bodyPr/>
                    <a:lstStyle/>
                    <a:p>
                      <a:pPr marL="0" indent="0" algn="l">
                        <a:buFont typeface="Arial" panose="020B0604020202020204" pitchFamily="34" charset="0"/>
                        <a:buNone/>
                      </a:pPr>
                      <a:r>
                        <a:rPr lang="en-US" sz="1200" b="1" baseline="0" dirty="0" smtClean="0"/>
                        <a:t>Industry Efficiency</a:t>
                      </a:r>
                      <a:endParaRPr lang="en-US" sz="1200" b="1" dirty="0"/>
                    </a:p>
                  </a:txBody>
                  <a:tcPr marL="83127" marR="83127" marT="40341" marB="40341" anchor="ctr">
                    <a:solidFill>
                      <a:schemeClr val="accent2">
                        <a:lumMod val="20000"/>
                        <a:lumOff val="80000"/>
                      </a:schemeClr>
                    </a:solidFill>
                  </a:tcPr>
                </a:tc>
                <a:tc>
                  <a:txBody>
                    <a:bodyPr/>
                    <a:lstStyle/>
                    <a:p>
                      <a:pPr lvl="0" algn="l"/>
                      <a:r>
                        <a:rPr lang="en-US" sz="1200" baseline="0" dirty="0" smtClean="0"/>
                        <a:t>Efficiencies should continue to improve gradually due to the piecemeal adoption of new technologies. As of yet, there is no “Uber”-like disruptor on this front.</a:t>
                      </a:r>
                    </a:p>
                  </a:txBody>
                  <a:tcPr marL="83127" marR="83127" marT="40341" marB="40341" anchor="ctr">
                    <a:solidFill>
                      <a:schemeClr val="accent2">
                        <a:lumMod val="20000"/>
                        <a:lumOff val="80000"/>
                      </a:schemeClr>
                    </a:solidFill>
                  </a:tcPr>
                </a:tc>
              </a:tr>
              <a:tr h="645459">
                <a:tc>
                  <a:txBody>
                    <a:bodyPr/>
                    <a:lstStyle/>
                    <a:p>
                      <a:pPr marL="0" indent="0" algn="l">
                        <a:buFont typeface="Arial" panose="020B0604020202020204" pitchFamily="34" charset="0"/>
                        <a:buNone/>
                      </a:pPr>
                      <a:r>
                        <a:rPr lang="en-US" sz="1200" b="1" dirty="0" smtClean="0"/>
                        <a:t>Housing</a:t>
                      </a:r>
                      <a:r>
                        <a:rPr lang="en-US" sz="1200" b="1" baseline="0" dirty="0" smtClean="0"/>
                        <a:t> Policy</a:t>
                      </a:r>
                      <a:endParaRPr lang="en-US" sz="1200" b="1" dirty="0"/>
                    </a:p>
                  </a:txBody>
                  <a:tcPr marL="83127" marR="83127" marT="40341" marB="40341" anchor="ctr">
                    <a:solidFill>
                      <a:schemeClr val="accent2">
                        <a:lumMod val="20000"/>
                        <a:lumOff val="80000"/>
                      </a:schemeClr>
                    </a:solidFill>
                  </a:tcPr>
                </a:tc>
                <a:tc>
                  <a:txBody>
                    <a:bodyPr/>
                    <a:lstStyle/>
                    <a:p>
                      <a:pPr lvl="0" algn="l"/>
                      <a:r>
                        <a:rPr lang="en-US" sz="1200" baseline="0" dirty="0" smtClean="0"/>
                        <a:t>No FHA MIP cut likely plus tighter VA restrictions suggest that </a:t>
                      </a:r>
                      <a:r>
                        <a:rPr lang="en-US" sz="1200" baseline="0" dirty="0" err="1" smtClean="0"/>
                        <a:t>Ginnie</a:t>
                      </a:r>
                      <a:r>
                        <a:rPr lang="en-US" sz="1200" baseline="0" dirty="0" smtClean="0"/>
                        <a:t> Mae prepayments should show less policy risk. Little policy risk on the conventional side given the current administration’s appetite for private capital to get involved.  The medium to long-term impact of TJCA should be to reduce prepayments but short-term we may see an increase because of tax avoidance strategies.</a:t>
                      </a:r>
                    </a:p>
                  </a:txBody>
                  <a:tcPr marL="83127" marR="83127" marT="40341" marB="40341" anchor="ctr">
                    <a:solidFill>
                      <a:schemeClr val="accent2">
                        <a:lumMod val="20000"/>
                        <a:lumOff val="80000"/>
                      </a:schemeClr>
                    </a:solidFill>
                  </a:tcPr>
                </a:tc>
              </a:tr>
            </a:tbl>
          </a:graphicData>
        </a:graphic>
      </p:graphicFrame>
    </p:spTree>
    <p:extLst>
      <p:ext uri="{BB962C8B-B14F-4D97-AF65-F5344CB8AC3E}">
        <p14:creationId xmlns:p14="http://schemas.microsoft.com/office/powerpoint/2010/main" val="24226123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294806" y="237193"/>
            <a:ext cx="6618287" cy="568325"/>
          </a:xfrm>
        </p:spPr>
        <p:txBody>
          <a:bodyPr/>
          <a:lstStyle/>
          <a:p>
            <a:r>
              <a:rPr lang="en-US" dirty="0" smtClean="0"/>
              <a:t>DISCLOSURES</a:t>
            </a:r>
            <a:br>
              <a:rPr lang="en-US" dirty="0" smtClean="0"/>
            </a:br>
            <a:r>
              <a:rPr lang="en-US" sz="1100" b="0" dirty="0"/>
              <a:t>Important Notes</a:t>
            </a:r>
            <a:endParaRPr lang="en-US" sz="1100" b="0" dirty="0">
              <a:solidFill>
                <a:srgbClr val="FFFFFF"/>
              </a:solidFill>
            </a:endParaRPr>
          </a:p>
        </p:txBody>
      </p:sp>
      <p:sp>
        <p:nvSpPr>
          <p:cNvPr id="5" name="Rectangle 3"/>
          <p:cNvSpPr txBox="1">
            <a:spLocks noChangeArrowheads="1"/>
          </p:cNvSpPr>
          <p:nvPr/>
        </p:nvSpPr>
        <p:spPr bwMode="auto">
          <a:xfrm>
            <a:off x="242455" y="1382713"/>
            <a:ext cx="8659091" cy="3118512"/>
          </a:xfrm>
          <a:prstGeom prst="rect">
            <a:avLst/>
          </a:prstGeom>
          <a:noFill/>
          <a:ln w="9525">
            <a:noFill/>
            <a:miter lim="800000"/>
            <a:headEnd/>
            <a:tailEnd/>
          </a:ln>
        </p:spPr>
        <p:txBody>
          <a:bodyPr vert="horz" wrap="square" lIns="91397" tIns="45698" rIns="91397" bIns="45698" numCol="2" spcCol="246117" anchor="t" anchorCtr="0" compatLnSpc="1">
            <a:prstTxWarp prst="textNoShape">
              <a:avLst/>
            </a:prstTxWarp>
          </a:bodyPr>
          <a:lstStyle/>
          <a:p>
            <a:pPr defTabSz="820391" eaLnBrk="0" hangingPunct="0">
              <a:spcBef>
                <a:spcPct val="110000"/>
              </a:spcBef>
              <a:buClr>
                <a:schemeClr val="tx2"/>
              </a:buClr>
              <a:defRPr/>
            </a:pPr>
            <a:r>
              <a:rPr lang="en-US" sz="1000" kern="0" dirty="0"/>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820391" eaLnBrk="0" hangingPunct="0">
              <a:spcBef>
                <a:spcPct val="110000"/>
              </a:spcBef>
              <a:buClr>
                <a:schemeClr val="tx2"/>
              </a:buClr>
              <a:defRPr/>
            </a:pPr>
            <a:r>
              <a:rPr lang="en-US" sz="1000" kern="0" dirty="0"/>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820391" eaLnBrk="0" hangingPunct="0">
              <a:spcBef>
                <a:spcPct val="110000"/>
              </a:spcBef>
              <a:buClr>
                <a:schemeClr val="tx2"/>
              </a:buClr>
              <a:defRPr/>
            </a:pPr>
            <a:r>
              <a:rPr lang="en-US" sz="1000" kern="0" dirty="0"/>
              <a:t>Portions of this document may contain commentary and/or data based on certain current assumptions by Cello Capital Management, </a:t>
            </a:r>
            <a:r>
              <a:rPr lang="en-US" sz="1000" kern="0" dirty="0" smtClean="0"/>
              <a:t>LP </a:t>
            </a:r>
            <a:r>
              <a:rPr lang="en-US" sz="1000" kern="0" dirty="0"/>
              <a:t>(“Cello”), which are subject to change at any time, as well as Cello's internal complex calculations. If one or more of these assumptions or calculations is incorrect, the information contained herein may unintentionally be inaccurate. </a:t>
            </a:r>
          </a:p>
          <a:p>
            <a:pPr defTabSz="820391" eaLnBrk="0" hangingPunct="0">
              <a:spcBef>
                <a:spcPct val="110000"/>
              </a:spcBef>
              <a:buClr>
                <a:schemeClr val="tx2"/>
              </a:buClr>
              <a:defRPr/>
            </a:pPr>
            <a:r>
              <a:rPr lang="en-US" sz="1000" kern="0" dirty="0"/>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p>
          <a:p>
            <a:pPr defTabSz="820391" eaLnBrk="0" hangingPunct="0">
              <a:spcBef>
                <a:spcPct val="110000"/>
              </a:spcBef>
              <a:buClr>
                <a:schemeClr val="tx2"/>
              </a:buClr>
              <a:defRPr/>
            </a:pPr>
            <a:r>
              <a:rPr lang="en-US" sz="1000" kern="0" dirty="0"/>
              <a:t>This 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invest based on these forward-looking statements and projections. </a:t>
            </a:r>
          </a:p>
          <a:p>
            <a:pPr defTabSz="820391" eaLnBrk="0" hangingPunct="0">
              <a:spcBef>
                <a:spcPct val="110000"/>
              </a:spcBef>
              <a:buClr>
                <a:schemeClr val="tx2"/>
              </a:buClr>
              <a:defRPr/>
            </a:pPr>
            <a:r>
              <a:rPr lang="en-US" sz="1000" kern="0" dirty="0"/>
              <a:t>This document may contain references to certain internal Cello procedures and policies which are subject to change at any time. </a:t>
            </a:r>
          </a:p>
          <a:p>
            <a:pPr defTabSz="820391" eaLnBrk="0" hangingPunct="0">
              <a:spcBef>
                <a:spcPct val="110000"/>
              </a:spcBef>
              <a:buClr>
                <a:schemeClr val="tx2"/>
              </a:buClr>
              <a:defRPr/>
            </a:pPr>
            <a:r>
              <a:rPr lang="en-US" sz="1000" kern="0" dirty="0"/>
              <a:t>No information or material contained herein may be reproduced, transmitted, displayed or commercially exploited without the prior written consent of Cello. All rights are reserved.</a:t>
            </a:r>
          </a:p>
        </p:txBody>
      </p:sp>
    </p:spTree>
    <p:extLst>
      <p:ext uri="{BB962C8B-B14F-4D97-AF65-F5344CB8AC3E}">
        <p14:creationId xmlns:p14="http://schemas.microsoft.com/office/powerpoint/2010/main" val="1357499577"/>
      </p:ext>
    </p:extLst>
  </p:cSld>
  <p:clrMapOvr>
    <a:masterClrMapping/>
  </p:clrMapOvr>
  <p:timing>
    <p:tnLst>
      <p:par>
        <p:cTn id="1" dur="indefinite" restart="never" nodeType="tmRoot"/>
      </p:par>
    </p:tnLst>
  </p:timing>
</p:sld>
</file>

<file path=ppt/theme/theme1.xml><?xml version="1.0" encoding="utf-8"?>
<a:theme xmlns:a="http://schemas.openxmlformats.org/drawingml/2006/main" name="4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Custom Design">
  <a:themeElements>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Custom Design">
      <a:majorFont>
        <a:latin typeface="Calisto MT"/>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Custom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Custom Design 1">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5_Default Design">
  <a:themeElements>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fontScheme name="4_Default Design">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4_Default Design 1">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4C0044"/>
        </a:folHlink>
      </a:clrScheme>
      <a:clrMap bg1="lt1" tx1="dk1" bg2="lt2" tx2="dk2" accent1="accent1" accent2="accent2" accent3="accent3" accent4="accent4" accent5="accent5" accent6="accent6" hlink="hlink" folHlink="folHlink"/>
    </a:extraClrScheme>
    <a:extraClrScheme>
      <a:clrScheme name="4_Default Design 2">
        <a:dk1>
          <a:srgbClr val="000000"/>
        </a:dk1>
        <a:lt1>
          <a:srgbClr val="FFFFFF"/>
        </a:lt1>
        <a:dk2>
          <a:srgbClr val="151D43"/>
        </a:dk2>
        <a:lt2>
          <a:srgbClr val="DDD8D5"/>
        </a:lt2>
        <a:accent1>
          <a:srgbClr val="2D3B8C"/>
        </a:accent1>
        <a:accent2>
          <a:srgbClr val="807EB4"/>
        </a:accent2>
        <a:accent3>
          <a:srgbClr val="FFFFFF"/>
        </a:accent3>
        <a:accent4>
          <a:srgbClr val="000000"/>
        </a:accent4>
        <a:accent5>
          <a:srgbClr val="ADAFC5"/>
        </a:accent5>
        <a:accent6>
          <a:srgbClr val="7372A3"/>
        </a:accent6>
        <a:hlink>
          <a:srgbClr val="8F8379"/>
        </a:hlink>
        <a:folHlink>
          <a:srgbClr val="EBE8D8"/>
        </a:folHlink>
      </a:clrScheme>
      <a:clrMap bg1="lt1" tx1="dk1" bg2="lt2" tx2="dk2" accent1="accent1" accent2="accent2" accent3="accent3" accent4="accent4" accent5="accent5" accent6="accent6" hlink="hlink" folHlink="folHlink"/>
    </a:extraClrScheme>
    <a:extraClrScheme>
      <a:clrScheme name="4_Default Design 3">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
      <a:clrScheme name="4_Default Design 4">
        <a:dk1>
          <a:srgbClr val="000000"/>
        </a:dk1>
        <a:lt1>
          <a:srgbClr val="FFFFFF"/>
        </a:lt1>
        <a:dk2>
          <a:srgbClr val="203353"/>
        </a:dk2>
        <a:lt2>
          <a:srgbClr val="EFEBE4"/>
        </a:lt2>
        <a:accent1>
          <a:srgbClr val="2E398A"/>
        </a:accent1>
        <a:accent2>
          <a:srgbClr val="8891D5"/>
        </a:accent2>
        <a:accent3>
          <a:srgbClr val="FFFFFF"/>
        </a:accent3>
        <a:accent4>
          <a:srgbClr val="000000"/>
        </a:accent4>
        <a:accent5>
          <a:srgbClr val="ADAEC4"/>
        </a:accent5>
        <a:accent6>
          <a:srgbClr val="7B83C1"/>
        </a:accent6>
        <a:hlink>
          <a:srgbClr val="968880"/>
        </a:hlink>
        <a:folHlink>
          <a:srgbClr val="533D2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96732</TotalTime>
  <Words>2188</Words>
  <Application>Microsoft Office PowerPoint</Application>
  <PresentationFormat>On-screen Show (4:3)</PresentationFormat>
  <Paragraphs>231</Paragraphs>
  <Slides>13</Slides>
  <Notes>12</Notes>
  <HiddenSlides>0</HiddenSlides>
  <MMClips>0</MMClips>
  <ScaleCrop>false</ScaleCrop>
  <HeadingPairs>
    <vt:vector size="6" baseType="variant">
      <vt:variant>
        <vt:lpstr>Theme</vt:lpstr>
      </vt:variant>
      <vt:variant>
        <vt:i4>4</vt:i4>
      </vt:variant>
      <vt:variant>
        <vt:lpstr>Embedded OLE Servers</vt:lpstr>
      </vt:variant>
      <vt:variant>
        <vt:i4>1</vt:i4>
      </vt:variant>
      <vt:variant>
        <vt:lpstr>Slide Titles</vt:lpstr>
      </vt:variant>
      <vt:variant>
        <vt:i4>13</vt:i4>
      </vt:variant>
    </vt:vector>
  </HeadingPairs>
  <TitlesOfParts>
    <vt:vector size="18" baseType="lpstr">
      <vt:lpstr>4_Default Design</vt:lpstr>
      <vt:lpstr>Custom Design</vt:lpstr>
      <vt:lpstr>1_Custom Design</vt:lpstr>
      <vt:lpstr>5_Default Design</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PREPAYMENT OUTLOOK: MACRO DRIVERS</vt:lpstr>
      <vt:lpstr>DISCLOSURES Important Notes</vt:lpstr>
    </vt:vector>
  </TitlesOfParts>
  <Company>Hewlett-Packard Company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HIGH-LEVEL OVERVIEW OF INVESTMENT PROCESS</dc:title>
  <dc:creator>Carly</dc:creator>
  <cp:lastModifiedBy>Lien Chen</cp:lastModifiedBy>
  <cp:revision>1570</cp:revision>
  <cp:lastPrinted>2016-02-16T20:37:42Z</cp:lastPrinted>
  <dcterms:created xsi:type="dcterms:W3CDTF">2013-07-09T16:35:22Z</dcterms:created>
  <dcterms:modified xsi:type="dcterms:W3CDTF">2018-04-12T16:33:39Z</dcterms:modified>
</cp:coreProperties>
</file>