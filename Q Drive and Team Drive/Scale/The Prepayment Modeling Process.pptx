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EC"/>
    <a:srgbClr val="72C7E7"/>
    <a:srgbClr val="00A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31" d="100"/>
          <a:sy n="131" d="100"/>
        </p:scale>
        <p:origin x="-510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2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7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5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09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4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5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5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5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3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E6979-9D22-4974-975A-1D102CDA3682}" type="datetimeFigureOut">
              <a:rPr lang="en-US" smtClean="0"/>
              <a:t>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B9481-F089-4F09-A8DA-BF8DA5A4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1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90600" y="2960845"/>
            <a:ext cx="1753654" cy="1611155"/>
            <a:chOff x="990600" y="1589245"/>
            <a:chExt cx="1753654" cy="1611155"/>
          </a:xfrm>
        </p:grpSpPr>
        <p:sp>
          <p:nvSpPr>
            <p:cNvPr id="26" name="Rounded Rectangle 5"/>
            <p:cNvSpPr/>
            <p:nvPr/>
          </p:nvSpPr>
          <p:spPr>
            <a:xfrm flipV="1">
              <a:off x="990600" y="1589245"/>
              <a:ext cx="1753654" cy="1611155"/>
            </a:xfrm>
            <a:custGeom>
              <a:avLst/>
              <a:gdLst>
                <a:gd name="connsiteX0" fmla="*/ 0 w 2354580"/>
                <a:gd name="connsiteY0" fmla="*/ 398782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0 w 2354580"/>
                <a:gd name="connsiteY8" fmla="*/ 398782 h 1432560"/>
                <a:gd name="connsiteX0" fmla="*/ 0 w 2362200"/>
                <a:gd name="connsiteY0" fmla="*/ 102717 h 1517495"/>
                <a:gd name="connsiteX1" fmla="*/ 406402 w 2362200"/>
                <a:gd name="connsiteY1" fmla="*/ 84935 h 1517495"/>
                <a:gd name="connsiteX2" fmla="*/ 1963418 w 2362200"/>
                <a:gd name="connsiteY2" fmla="*/ 84935 h 1517495"/>
                <a:gd name="connsiteX3" fmla="*/ 2362200 w 2362200"/>
                <a:gd name="connsiteY3" fmla="*/ 483717 h 1517495"/>
                <a:gd name="connsiteX4" fmla="*/ 2362200 w 2362200"/>
                <a:gd name="connsiteY4" fmla="*/ 1118713 h 1517495"/>
                <a:gd name="connsiteX5" fmla="*/ 1963418 w 2362200"/>
                <a:gd name="connsiteY5" fmla="*/ 1517495 h 1517495"/>
                <a:gd name="connsiteX6" fmla="*/ 406402 w 2362200"/>
                <a:gd name="connsiteY6" fmla="*/ 1517495 h 1517495"/>
                <a:gd name="connsiteX7" fmla="*/ 7620 w 2362200"/>
                <a:gd name="connsiteY7" fmla="*/ 1118713 h 1517495"/>
                <a:gd name="connsiteX8" fmla="*/ 0 w 2362200"/>
                <a:gd name="connsiteY8" fmla="*/ 102717 h 1517495"/>
                <a:gd name="connsiteX0" fmla="*/ 0 w 2362200"/>
                <a:gd name="connsiteY0" fmla="*/ 17782 h 1432560"/>
                <a:gd name="connsiteX1" fmla="*/ 406402 w 2362200"/>
                <a:gd name="connsiteY1" fmla="*/ 0 h 1432560"/>
                <a:gd name="connsiteX2" fmla="*/ 1963418 w 2362200"/>
                <a:gd name="connsiteY2" fmla="*/ 0 h 1432560"/>
                <a:gd name="connsiteX3" fmla="*/ 2362200 w 2362200"/>
                <a:gd name="connsiteY3" fmla="*/ 398782 h 1432560"/>
                <a:gd name="connsiteX4" fmla="*/ 2362200 w 2362200"/>
                <a:gd name="connsiteY4" fmla="*/ 1033778 h 1432560"/>
                <a:gd name="connsiteX5" fmla="*/ 1963418 w 2362200"/>
                <a:gd name="connsiteY5" fmla="*/ 1432560 h 1432560"/>
                <a:gd name="connsiteX6" fmla="*/ 406402 w 2362200"/>
                <a:gd name="connsiteY6" fmla="*/ 1432560 h 1432560"/>
                <a:gd name="connsiteX7" fmla="*/ 7620 w 2362200"/>
                <a:gd name="connsiteY7" fmla="*/ 1033778 h 1432560"/>
                <a:gd name="connsiteX8" fmla="*/ 0 w 2362200"/>
                <a:gd name="connsiteY8" fmla="*/ 17782 h 1432560"/>
                <a:gd name="connsiteX0" fmla="*/ 0 w 2362200"/>
                <a:gd name="connsiteY0" fmla="*/ 2542 h 1432560"/>
                <a:gd name="connsiteX1" fmla="*/ 406402 w 2362200"/>
                <a:gd name="connsiteY1" fmla="*/ 0 h 1432560"/>
                <a:gd name="connsiteX2" fmla="*/ 1963418 w 2362200"/>
                <a:gd name="connsiteY2" fmla="*/ 0 h 1432560"/>
                <a:gd name="connsiteX3" fmla="*/ 2362200 w 2362200"/>
                <a:gd name="connsiteY3" fmla="*/ 398782 h 1432560"/>
                <a:gd name="connsiteX4" fmla="*/ 2362200 w 2362200"/>
                <a:gd name="connsiteY4" fmla="*/ 1033778 h 1432560"/>
                <a:gd name="connsiteX5" fmla="*/ 1963418 w 2362200"/>
                <a:gd name="connsiteY5" fmla="*/ 1432560 h 1432560"/>
                <a:gd name="connsiteX6" fmla="*/ 406402 w 2362200"/>
                <a:gd name="connsiteY6" fmla="*/ 1432560 h 1432560"/>
                <a:gd name="connsiteX7" fmla="*/ 7620 w 2362200"/>
                <a:gd name="connsiteY7" fmla="*/ 1033778 h 1432560"/>
                <a:gd name="connsiteX8" fmla="*/ 0 w 2362200"/>
                <a:gd name="connsiteY8" fmla="*/ 2542 h 1432560"/>
                <a:gd name="connsiteX0" fmla="*/ 0 w 2354580"/>
                <a:gd name="connsiteY0" fmla="*/ 17782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0 w 2354580"/>
                <a:gd name="connsiteY8" fmla="*/ 17782 h 1432560"/>
                <a:gd name="connsiteX0" fmla="*/ 0 w 2354580"/>
                <a:gd name="connsiteY0" fmla="*/ 0 h 1433828"/>
                <a:gd name="connsiteX1" fmla="*/ 398782 w 2354580"/>
                <a:gd name="connsiteY1" fmla="*/ 1268 h 1433828"/>
                <a:gd name="connsiteX2" fmla="*/ 1955798 w 2354580"/>
                <a:gd name="connsiteY2" fmla="*/ 1268 h 1433828"/>
                <a:gd name="connsiteX3" fmla="*/ 2354580 w 2354580"/>
                <a:gd name="connsiteY3" fmla="*/ 400050 h 1433828"/>
                <a:gd name="connsiteX4" fmla="*/ 2354580 w 2354580"/>
                <a:gd name="connsiteY4" fmla="*/ 1035046 h 1433828"/>
                <a:gd name="connsiteX5" fmla="*/ 1955798 w 2354580"/>
                <a:gd name="connsiteY5" fmla="*/ 1433828 h 1433828"/>
                <a:gd name="connsiteX6" fmla="*/ 398782 w 2354580"/>
                <a:gd name="connsiteY6" fmla="*/ 1433828 h 1433828"/>
                <a:gd name="connsiteX7" fmla="*/ 0 w 2354580"/>
                <a:gd name="connsiteY7" fmla="*/ 1035046 h 1433828"/>
                <a:gd name="connsiteX8" fmla="*/ 0 w 2354580"/>
                <a:gd name="connsiteY8" fmla="*/ 0 h 1433828"/>
                <a:gd name="connsiteX0" fmla="*/ 4763 w 2354580"/>
                <a:gd name="connsiteY0" fmla="*/ 3494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4763 w 2354580"/>
                <a:gd name="connsiteY8" fmla="*/ 3494 h 1432560"/>
                <a:gd name="connsiteX0" fmla="*/ 2382 w 2354580"/>
                <a:gd name="connsiteY0" fmla="*/ 0 h 1436210"/>
                <a:gd name="connsiteX1" fmla="*/ 398782 w 2354580"/>
                <a:gd name="connsiteY1" fmla="*/ 3650 h 1436210"/>
                <a:gd name="connsiteX2" fmla="*/ 1955798 w 2354580"/>
                <a:gd name="connsiteY2" fmla="*/ 3650 h 1436210"/>
                <a:gd name="connsiteX3" fmla="*/ 2354580 w 2354580"/>
                <a:gd name="connsiteY3" fmla="*/ 402432 h 1436210"/>
                <a:gd name="connsiteX4" fmla="*/ 2354580 w 2354580"/>
                <a:gd name="connsiteY4" fmla="*/ 1037428 h 1436210"/>
                <a:gd name="connsiteX5" fmla="*/ 1955798 w 2354580"/>
                <a:gd name="connsiteY5" fmla="*/ 1436210 h 1436210"/>
                <a:gd name="connsiteX6" fmla="*/ 398782 w 2354580"/>
                <a:gd name="connsiteY6" fmla="*/ 1436210 h 1436210"/>
                <a:gd name="connsiteX7" fmla="*/ 0 w 2354580"/>
                <a:gd name="connsiteY7" fmla="*/ 1037428 h 1436210"/>
                <a:gd name="connsiteX8" fmla="*/ 2382 w 2354580"/>
                <a:gd name="connsiteY8" fmla="*/ 0 h 1436210"/>
                <a:gd name="connsiteX0" fmla="*/ 4763 w 2354580"/>
                <a:gd name="connsiteY0" fmla="*/ 5875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4763 w 2354580"/>
                <a:gd name="connsiteY8" fmla="*/ 5875 h 1432560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432776"/>
                <a:gd name="connsiteY0" fmla="*/ 0 h 1433829"/>
                <a:gd name="connsiteX1" fmla="*/ 398782 w 2432776"/>
                <a:gd name="connsiteY1" fmla="*/ 1269 h 1433829"/>
                <a:gd name="connsiteX2" fmla="*/ 1955798 w 2432776"/>
                <a:gd name="connsiteY2" fmla="*/ 1269 h 1433829"/>
                <a:gd name="connsiteX3" fmla="*/ 2354580 w 2432776"/>
                <a:gd name="connsiteY3" fmla="*/ 400051 h 1433829"/>
                <a:gd name="connsiteX4" fmla="*/ 2354580 w 2432776"/>
                <a:gd name="connsiteY4" fmla="*/ 1035047 h 1433829"/>
                <a:gd name="connsiteX5" fmla="*/ 2327273 w 2432776"/>
                <a:gd name="connsiteY5" fmla="*/ 1433829 h 1433829"/>
                <a:gd name="connsiteX6" fmla="*/ 398782 w 2432776"/>
                <a:gd name="connsiteY6" fmla="*/ 1433829 h 1433829"/>
                <a:gd name="connsiteX7" fmla="*/ 0 w 2432776"/>
                <a:gd name="connsiteY7" fmla="*/ 1035047 h 1433829"/>
                <a:gd name="connsiteX8" fmla="*/ 4763 w 2432776"/>
                <a:gd name="connsiteY8" fmla="*/ 0 h 1433829"/>
                <a:gd name="connsiteX0" fmla="*/ 4763 w 2441222"/>
                <a:gd name="connsiteY0" fmla="*/ 0 h 1433829"/>
                <a:gd name="connsiteX1" fmla="*/ 398782 w 2441222"/>
                <a:gd name="connsiteY1" fmla="*/ 1269 h 1433829"/>
                <a:gd name="connsiteX2" fmla="*/ 1955798 w 2441222"/>
                <a:gd name="connsiteY2" fmla="*/ 1269 h 1433829"/>
                <a:gd name="connsiteX3" fmla="*/ 2354580 w 2441222"/>
                <a:gd name="connsiteY3" fmla="*/ 400051 h 1433829"/>
                <a:gd name="connsiteX4" fmla="*/ 2354580 w 2441222"/>
                <a:gd name="connsiteY4" fmla="*/ 1035047 h 1433829"/>
                <a:gd name="connsiteX5" fmla="*/ 2339179 w 2441222"/>
                <a:gd name="connsiteY5" fmla="*/ 1431447 h 1433829"/>
                <a:gd name="connsiteX6" fmla="*/ 398782 w 2441222"/>
                <a:gd name="connsiteY6" fmla="*/ 1433829 h 1433829"/>
                <a:gd name="connsiteX7" fmla="*/ 0 w 2441222"/>
                <a:gd name="connsiteY7" fmla="*/ 1035047 h 1433829"/>
                <a:gd name="connsiteX8" fmla="*/ 4763 w 2441222"/>
                <a:gd name="connsiteY8" fmla="*/ 0 h 1433829"/>
                <a:gd name="connsiteX0" fmla="*/ 4763 w 2449885"/>
                <a:gd name="connsiteY0" fmla="*/ 0 h 1433829"/>
                <a:gd name="connsiteX1" fmla="*/ 398782 w 2449885"/>
                <a:gd name="connsiteY1" fmla="*/ 1269 h 1433829"/>
                <a:gd name="connsiteX2" fmla="*/ 1955798 w 2449885"/>
                <a:gd name="connsiteY2" fmla="*/ 1269 h 1433829"/>
                <a:gd name="connsiteX3" fmla="*/ 2354580 w 2449885"/>
                <a:gd name="connsiteY3" fmla="*/ 400051 h 1433829"/>
                <a:gd name="connsiteX4" fmla="*/ 2354580 w 2449885"/>
                <a:gd name="connsiteY4" fmla="*/ 1035047 h 1433829"/>
                <a:gd name="connsiteX5" fmla="*/ 2351086 w 2449885"/>
                <a:gd name="connsiteY5" fmla="*/ 1433828 h 1433829"/>
                <a:gd name="connsiteX6" fmla="*/ 398782 w 2449885"/>
                <a:gd name="connsiteY6" fmla="*/ 1433829 h 1433829"/>
                <a:gd name="connsiteX7" fmla="*/ 0 w 2449885"/>
                <a:gd name="connsiteY7" fmla="*/ 1035047 h 1433829"/>
                <a:gd name="connsiteX8" fmla="*/ 4763 w 2449885"/>
                <a:gd name="connsiteY8" fmla="*/ 0 h 1433829"/>
                <a:gd name="connsiteX0" fmla="*/ 4763 w 2355967"/>
                <a:gd name="connsiteY0" fmla="*/ 0 h 1433829"/>
                <a:gd name="connsiteX1" fmla="*/ 398782 w 2355967"/>
                <a:gd name="connsiteY1" fmla="*/ 1269 h 1433829"/>
                <a:gd name="connsiteX2" fmla="*/ 1955798 w 2355967"/>
                <a:gd name="connsiteY2" fmla="*/ 1269 h 1433829"/>
                <a:gd name="connsiteX3" fmla="*/ 2354580 w 2355967"/>
                <a:gd name="connsiteY3" fmla="*/ 400051 h 1433829"/>
                <a:gd name="connsiteX4" fmla="*/ 2354580 w 2355967"/>
                <a:gd name="connsiteY4" fmla="*/ 1035047 h 1433829"/>
                <a:gd name="connsiteX5" fmla="*/ 2351086 w 2355967"/>
                <a:gd name="connsiteY5" fmla="*/ 1433828 h 1433829"/>
                <a:gd name="connsiteX6" fmla="*/ 398782 w 2355967"/>
                <a:gd name="connsiteY6" fmla="*/ 1433829 h 1433829"/>
                <a:gd name="connsiteX7" fmla="*/ 0 w 2355967"/>
                <a:gd name="connsiteY7" fmla="*/ 1035047 h 1433829"/>
                <a:gd name="connsiteX8" fmla="*/ 4763 w 2355967"/>
                <a:gd name="connsiteY8" fmla="*/ 0 h 143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5967" h="1433829">
                  <a:moveTo>
                    <a:pt x="4763" y="0"/>
                  </a:moveTo>
                  <a:cubicBezTo>
                    <a:pt x="30957" y="1215"/>
                    <a:pt x="178541" y="1269"/>
                    <a:pt x="398782" y="1269"/>
                  </a:cubicBezTo>
                  <a:lnTo>
                    <a:pt x="1955798" y="1269"/>
                  </a:lnTo>
                  <a:cubicBezTo>
                    <a:pt x="2176039" y="1269"/>
                    <a:pt x="2354580" y="179810"/>
                    <a:pt x="2354580" y="400051"/>
                  </a:cubicBezTo>
                  <a:lnTo>
                    <a:pt x="2354580" y="1035047"/>
                  </a:lnTo>
                  <a:cubicBezTo>
                    <a:pt x="2354580" y="1255288"/>
                    <a:pt x="2359396" y="1431446"/>
                    <a:pt x="2351086" y="1433828"/>
                  </a:cubicBezTo>
                  <a:lnTo>
                    <a:pt x="398782" y="1433829"/>
                  </a:lnTo>
                  <a:cubicBezTo>
                    <a:pt x="178541" y="1433829"/>
                    <a:pt x="0" y="1255288"/>
                    <a:pt x="0" y="1035047"/>
                  </a:cubicBezTo>
                  <a:cubicBezTo>
                    <a:pt x="1588" y="691619"/>
                    <a:pt x="3175" y="343428"/>
                    <a:pt x="4763" y="0"/>
                  </a:cubicBezTo>
                  <a:close/>
                </a:path>
              </a:pathLst>
            </a:custGeom>
            <a:solidFill>
              <a:srgbClr val="8C8C8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00738" y="1817849"/>
              <a:ext cx="1420189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1100" b="1" dirty="0" smtClean="0">
                  <a:solidFill>
                    <a:schemeClr val="bg2"/>
                  </a:solidFill>
                </a:rPr>
                <a:t>Data Wrangling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1078966" y="2040030"/>
              <a:ext cx="1172998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2394248" y="1692675"/>
              <a:ext cx="246247" cy="249884"/>
              <a:chOff x="7775298" y="4300210"/>
              <a:chExt cx="340038" cy="345060"/>
            </a:xfrm>
          </p:grpSpPr>
          <p:pic>
            <p:nvPicPr>
              <p:cNvPr id="31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2024" y="4300210"/>
                <a:ext cx="231650" cy="2267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5298" y="4529287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767128">
                <a:off x="7899965" y="4509191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6859" y="4435799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" name="TextBox 1"/>
            <p:cNvSpPr txBox="1"/>
            <p:nvPr/>
          </p:nvSpPr>
          <p:spPr>
            <a:xfrm>
              <a:off x="1100738" y="2133600"/>
              <a:ext cx="1261462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000" dirty="0">
                  <a:solidFill>
                    <a:srgbClr val="EFEBE4"/>
                  </a:solidFill>
                </a:rPr>
                <a:t>Raw Loan / Pool </a:t>
              </a:r>
              <a:r>
                <a:rPr lang="en-US" sz="1000" dirty="0" smtClean="0">
                  <a:solidFill>
                    <a:srgbClr val="EFEBE4"/>
                  </a:solidFill>
                </a:rPr>
                <a:t>Prepayment Data</a:t>
              </a:r>
              <a:endParaRPr lang="en-US" sz="1000" dirty="0">
                <a:solidFill>
                  <a:srgbClr val="EFEBE4"/>
                </a:solidFill>
              </a:endParaRPr>
            </a:p>
            <a:p>
              <a:pPr lvl="0" algn="ctr"/>
              <a:r>
                <a:rPr lang="en-US" sz="1100" b="1" dirty="0">
                  <a:solidFill>
                    <a:srgbClr val="EFEBE4"/>
                  </a:solidFill>
                </a:rPr>
                <a:t>+</a:t>
              </a:r>
            </a:p>
            <a:p>
              <a:pPr algn="ctr"/>
              <a:r>
                <a:rPr lang="en-US" sz="1000" dirty="0">
                  <a:solidFill>
                    <a:srgbClr val="EFEBE4"/>
                  </a:solidFill>
                </a:rPr>
                <a:t>Proprietary </a:t>
              </a:r>
              <a:r>
                <a:rPr lang="en-US" sz="1000" dirty="0" smtClean="0">
                  <a:solidFill>
                    <a:srgbClr val="EFEBE4"/>
                  </a:solidFill>
                </a:rPr>
                <a:t>Analytics</a:t>
              </a:r>
              <a:endParaRPr lang="en-US" sz="1000" dirty="0">
                <a:solidFill>
                  <a:srgbClr val="EFEBE4"/>
                </a:solidFill>
              </a:endParaRPr>
            </a:p>
            <a:p>
              <a:pPr algn="ctr"/>
              <a:r>
                <a:rPr lang="en-US" sz="1000" dirty="0">
                  <a:solidFill>
                    <a:srgbClr val="EFEBE4"/>
                  </a:solidFill>
                </a:rPr>
                <a:t>(Scale DB)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581400" y="2960845"/>
            <a:ext cx="1753654" cy="1611155"/>
            <a:chOff x="3581400" y="1612375"/>
            <a:chExt cx="1753654" cy="1611155"/>
          </a:xfrm>
        </p:grpSpPr>
        <p:sp>
          <p:nvSpPr>
            <p:cNvPr id="35" name="Rounded Rectangle 5"/>
            <p:cNvSpPr/>
            <p:nvPr/>
          </p:nvSpPr>
          <p:spPr>
            <a:xfrm flipV="1">
              <a:off x="3581400" y="1612375"/>
              <a:ext cx="1753654" cy="1611155"/>
            </a:xfrm>
            <a:custGeom>
              <a:avLst/>
              <a:gdLst>
                <a:gd name="connsiteX0" fmla="*/ 0 w 2354580"/>
                <a:gd name="connsiteY0" fmla="*/ 398782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0 w 2354580"/>
                <a:gd name="connsiteY8" fmla="*/ 398782 h 1432560"/>
                <a:gd name="connsiteX0" fmla="*/ 0 w 2362200"/>
                <a:gd name="connsiteY0" fmla="*/ 102717 h 1517495"/>
                <a:gd name="connsiteX1" fmla="*/ 406402 w 2362200"/>
                <a:gd name="connsiteY1" fmla="*/ 84935 h 1517495"/>
                <a:gd name="connsiteX2" fmla="*/ 1963418 w 2362200"/>
                <a:gd name="connsiteY2" fmla="*/ 84935 h 1517495"/>
                <a:gd name="connsiteX3" fmla="*/ 2362200 w 2362200"/>
                <a:gd name="connsiteY3" fmla="*/ 483717 h 1517495"/>
                <a:gd name="connsiteX4" fmla="*/ 2362200 w 2362200"/>
                <a:gd name="connsiteY4" fmla="*/ 1118713 h 1517495"/>
                <a:gd name="connsiteX5" fmla="*/ 1963418 w 2362200"/>
                <a:gd name="connsiteY5" fmla="*/ 1517495 h 1517495"/>
                <a:gd name="connsiteX6" fmla="*/ 406402 w 2362200"/>
                <a:gd name="connsiteY6" fmla="*/ 1517495 h 1517495"/>
                <a:gd name="connsiteX7" fmla="*/ 7620 w 2362200"/>
                <a:gd name="connsiteY7" fmla="*/ 1118713 h 1517495"/>
                <a:gd name="connsiteX8" fmla="*/ 0 w 2362200"/>
                <a:gd name="connsiteY8" fmla="*/ 102717 h 1517495"/>
                <a:gd name="connsiteX0" fmla="*/ 0 w 2362200"/>
                <a:gd name="connsiteY0" fmla="*/ 17782 h 1432560"/>
                <a:gd name="connsiteX1" fmla="*/ 406402 w 2362200"/>
                <a:gd name="connsiteY1" fmla="*/ 0 h 1432560"/>
                <a:gd name="connsiteX2" fmla="*/ 1963418 w 2362200"/>
                <a:gd name="connsiteY2" fmla="*/ 0 h 1432560"/>
                <a:gd name="connsiteX3" fmla="*/ 2362200 w 2362200"/>
                <a:gd name="connsiteY3" fmla="*/ 398782 h 1432560"/>
                <a:gd name="connsiteX4" fmla="*/ 2362200 w 2362200"/>
                <a:gd name="connsiteY4" fmla="*/ 1033778 h 1432560"/>
                <a:gd name="connsiteX5" fmla="*/ 1963418 w 2362200"/>
                <a:gd name="connsiteY5" fmla="*/ 1432560 h 1432560"/>
                <a:gd name="connsiteX6" fmla="*/ 406402 w 2362200"/>
                <a:gd name="connsiteY6" fmla="*/ 1432560 h 1432560"/>
                <a:gd name="connsiteX7" fmla="*/ 7620 w 2362200"/>
                <a:gd name="connsiteY7" fmla="*/ 1033778 h 1432560"/>
                <a:gd name="connsiteX8" fmla="*/ 0 w 2362200"/>
                <a:gd name="connsiteY8" fmla="*/ 17782 h 1432560"/>
                <a:gd name="connsiteX0" fmla="*/ 0 w 2362200"/>
                <a:gd name="connsiteY0" fmla="*/ 2542 h 1432560"/>
                <a:gd name="connsiteX1" fmla="*/ 406402 w 2362200"/>
                <a:gd name="connsiteY1" fmla="*/ 0 h 1432560"/>
                <a:gd name="connsiteX2" fmla="*/ 1963418 w 2362200"/>
                <a:gd name="connsiteY2" fmla="*/ 0 h 1432560"/>
                <a:gd name="connsiteX3" fmla="*/ 2362200 w 2362200"/>
                <a:gd name="connsiteY3" fmla="*/ 398782 h 1432560"/>
                <a:gd name="connsiteX4" fmla="*/ 2362200 w 2362200"/>
                <a:gd name="connsiteY4" fmla="*/ 1033778 h 1432560"/>
                <a:gd name="connsiteX5" fmla="*/ 1963418 w 2362200"/>
                <a:gd name="connsiteY5" fmla="*/ 1432560 h 1432560"/>
                <a:gd name="connsiteX6" fmla="*/ 406402 w 2362200"/>
                <a:gd name="connsiteY6" fmla="*/ 1432560 h 1432560"/>
                <a:gd name="connsiteX7" fmla="*/ 7620 w 2362200"/>
                <a:gd name="connsiteY7" fmla="*/ 1033778 h 1432560"/>
                <a:gd name="connsiteX8" fmla="*/ 0 w 2362200"/>
                <a:gd name="connsiteY8" fmla="*/ 2542 h 1432560"/>
                <a:gd name="connsiteX0" fmla="*/ 0 w 2354580"/>
                <a:gd name="connsiteY0" fmla="*/ 17782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0 w 2354580"/>
                <a:gd name="connsiteY8" fmla="*/ 17782 h 1432560"/>
                <a:gd name="connsiteX0" fmla="*/ 0 w 2354580"/>
                <a:gd name="connsiteY0" fmla="*/ 0 h 1433828"/>
                <a:gd name="connsiteX1" fmla="*/ 398782 w 2354580"/>
                <a:gd name="connsiteY1" fmla="*/ 1268 h 1433828"/>
                <a:gd name="connsiteX2" fmla="*/ 1955798 w 2354580"/>
                <a:gd name="connsiteY2" fmla="*/ 1268 h 1433828"/>
                <a:gd name="connsiteX3" fmla="*/ 2354580 w 2354580"/>
                <a:gd name="connsiteY3" fmla="*/ 400050 h 1433828"/>
                <a:gd name="connsiteX4" fmla="*/ 2354580 w 2354580"/>
                <a:gd name="connsiteY4" fmla="*/ 1035046 h 1433828"/>
                <a:gd name="connsiteX5" fmla="*/ 1955798 w 2354580"/>
                <a:gd name="connsiteY5" fmla="*/ 1433828 h 1433828"/>
                <a:gd name="connsiteX6" fmla="*/ 398782 w 2354580"/>
                <a:gd name="connsiteY6" fmla="*/ 1433828 h 1433828"/>
                <a:gd name="connsiteX7" fmla="*/ 0 w 2354580"/>
                <a:gd name="connsiteY7" fmla="*/ 1035046 h 1433828"/>
                <a:gd name="connsiteX8" fmla="*/ 0 w 2354580"/>
                <a:gd name="connsiteY8" fmla="*/ 0 h 1433828"/>
                <a:gd name="connsiteX0" fmla="*/ 4763 w 2354580"/>
                <a:gd name="connsiteY0" fmla="*/ 3494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4763 w 2354580"/>
                <a:gd name="connsiteY8" fmla="*/ 3494 h 1432560"/>
                <a:gd name="connsiteX0" fmla="*/ 2382 w 2354580"/>
                <a:gd name="connsiteY0" fmla="*/ 0 h 1436210"/>
                <a:gd name="connsiteX1" fmla="*/ 398782 w 2354580"/>
                <a:gd name="connsiteY1" fmla="*/ 3650 h 1436210"/>
                <a:gd name="connsiteX2" fmla="*/ 1955798 w 2354580"/>
                <a:gd name="connsiteY2" fmla="*/ 3650 h 1436210"/>
                <a:gd name="connsiteX3" fmla="*/ 2354580 w 2354580"/>
                <a:gd name="connsiteY3" fmla="*/ 402432 h 1436210"/>
                <a:gd name="connsiteX4" fmla="*/ 2354580 w 2354580"/>
                <a:gd name="connsiteY4" fmla="*/ 1037428 h 1436210"/>
                <a:gd name="connsiteX5" fmla="*/ 1955798 w 2354580"/>
                <a:gd name="connsiteY5" fmla="*/ 1436210 h 1436210"/>
                <a:gd name="connsiteX6" fmla="*/ 398782 w 2354580"/>
                <a:gd name="connsiteY6" fmla="*/ 1436210 h 1436210"/>
                <a:gd name="connsiteX7" fmla="*/ 0 w 2354580"/>
                <a:gd name="connsiteY7" fmla="*/ 1037428 h 1436210"/>
                <a:gd name="connsiteX8" fmla="*/ 2382 w 2354580"/>
                <a:gd name="connsiteY8" fmla="*/ 0 h 1436210"/>
                <a:gd name="connsiteX0" fmla="*/ 4763 w 2354580"/>
                <a:gd name="connsiteY0" fmla="*/ 5875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4763 w 2354580"/>
                <a:gd name="connsiteY8" fmla="*/ 5875 h 1432560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432776"/>
                <a:gd name="connsiteY0" fmla="*/ 0 h 1433829"/>
                <a:gd name="connsiteX1" fmla="*/ 398782 w 2432776"/>
                <a:gd name="connsiteY1" fmla="*/ 1269 h 1433829"/>
                <a:gd name="connsiteX2" fmla="*/ 1955798 w 2432776"/>
                <a:gd name="connsiteY2" fmla="*/ 1269 h 1433829"/>
                <a:gd name="connsiteX3" fmla="*/ 2354580 w 2432776"/>
                <a:gd name="connsiteY3" fmla="*/ 400051 h 1433829"/>
                <a:gd name="connsiteX4" fmla="*/ 2354580 w 2432776"/>
                <a:gd name="connsiteY4" fmla="*/ 1035047 h 1433829"/>
                <a:gd name="connsiteX5" fmla="*/ 2327273 w 2432776"/>
                <a:gd name="connsiteY5" fmla="*/ 1433829 h 1433829"/>
                <a:gd name="connsiteX6" fmla="*/ 398782 w 2432776"/>
                <a:gd name="connsiteY6" fmla="*/ 1433829 h 1433829"/>
                <a:gd name="connsiteX7" fmla="*/ 0 w 2432776"/>
                <a:gd name="connsiteY7" fmla="*/ 1035047 h 1433829"/>
                <a:gd name="connsiteX8" fmla="*/ 4763 w 2432776"/>
                <a:gd name="connsiteY8" fmla="*/ 0 h 1433829"/>
                <a:gd name="connsiteX0" fmla="*/ 4763 w 2441222"/>
                <a:gd name="connsiteY0" fmla="*/ 0 h 1433829"/>
                <a:gd name="connsiteX1" fmla="*/ 398782 w 2441222"/>
                <a:gd name="connsiteY1" fmla="*/ 1269 h 1433829"/>
                <a:gd name="connsiteX2" fmla="*/ 1955798 w 2441222"/>
                <a:gd name="connsiteY2" fmla="*/ 1269 h 1433829"/>
                <a:gd name="connsiteX3" fmla="*/ 2354580 w 2441222"/>
                <a:gd name="connsiteY3" fmla="*/ 400051 h 1433829"/>
                <a:gd name="connsiteX4" fmla="*/ 2354580 w 2441222"/>
                <a:gd name="connsiteY4" fmla="*/ 1035047 h 1433829"/>
                <a:gd name="connsiteX5" fmla="*/ 2339179 w 2441222"/>
                <a:gd name="connsiteY5" fmla="*/ 1431447 h 1433829"/>
                <a:gd name="connsiteX6" fmla="*/ 398782 w 2441222"/>
                <a:gd name="connsiteY6" fmla="*/ 1433829 h 1433829"/>
                <a:gd name="connsiteX7" fmla="*/ 0 w 2441222"/>
                <a:gd name="connsiteY7" fmla="*/ 1035047 h 1433829"/>
                <a:gd name="connsiteX8" fmla="*/ 4763 w 2441222"/>
                <a:gd name="connsiteY8" fmla="*/ 0 h 1433829"/>
                <a:gd name="connsiteX0" fmla="*/ 4763 w 2449885"/>
                <a:gd name="connsiteY0" fmla="*/ 0 h 1433829"/>
                <a:gd name="connsiteX1" fmla="*/ 398782 w 2449885"/>
                <a:gd name="connsiteY1" fmla="*/ 1269 h 1433829"/>
                <a:gd name="connsiteX2" fmla="*/ 1955798 w 2449885"/>
                <a:gd name="connsiteY2" fmla="*/ 1269 h 1433829"/>
                <a:gd name="connsiteX3" fmla="*/ 2354580 w 2449885"/>
                <a:gd name="connsiteY3" fmla="*/ 400051 h 1433829"/>
                <a:gd name="connsiteX4" fmla="*/ 2354580 w 2449885"/>
                <a:gd name="connsiteY4" fmla="*/ 1035047 h 1433829"/>
                <a:gd name="connsiteX5" fmla="*/ 2351086 w 2449885"/>
                <a:gd name="connsiteY5" fmla="*/ 1433828 h 1433829"/>
                <a:gd name="connsiteX6" fmla="*/ 398782 w 2449885"/>
                <a:gd name="connsiteY6" fmla="*/ 1433829 h 1433829"/>
                <a:gd name="connsiteX7" fmla="*/ 0 w 2449885"/>
                <a:gd name="connsiteY7" fmla="*/ 1035047 h 1433829"/>
                <a:gd name="connsiteX8" fmla="*/ 4763 w 2449885"/>
                <a:gd name="connsiteY8" fmla="*/ 0 h 1433829"/>
                <a:gd name="connsiteX0" fmla="*/ 4763 w 2355967"/>
                <a:gd name="connsiteY0" fmla="*/ 0 h 1433829"/>
                <a:gd name="connsiteX1" fmla="*/ 398782 w 2355967"/>
                <a:gd name="connsiteY1" fmla="*/ 1269 h 1433829"/>
                <a:gd name="connsiteX2" fmla="*/ 1955798 w 2355967"/>
                <a:gd name="connsiteY2" fmla="*/ 1269 h 1433829"/>
                <a:gd name="connsiteX3" fmla="*/ 2354580 w 2355967"/>
                <a:gd name="connsiteY3" fmla="*/ 400051 h 1433829"/>
                <a:gd name="connsiteX4" fmla="*/ 2354580 w 2355967"/>
                <a:gd name="connsiteY4" fmla="*/ 1035047 h 1433829"/>
                <a:gd name="connsiteX5" fmla="*/ 2351086 w 2355967"/>
                <a:gd name="connsiteY5" fmla="*/ 1433828 h 1433829"/>
                <a:gd name="connsiteX6" fmla="*/ 398782 w 2355967"/>
                <a:gd name="connsiteY6" fmla="*/ 1433829 h 1433829"/>
                <a:gd name="connsiteX7" fmla="*/ 0 w 2355967"/>
                <a:gd name="connsiteY7" fmla="*/ 1035047 h 1433829"/>
                <a:gd name="connsiteX8" fmla="*/ 4763 w 2355967"/>
                <a:gd name="connsiteY8" fmla="*/ 0 h 143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5967" h="1433829">
                  <a:moveTo>
                    <a:pt x="4763" y="0"/>
                  </a:moveTo>
                  <a:cubicBezTo>
                    <a:pt x="30957" y="1215"/>
                    <a:pt x="178541" y="1269"/>
                    <a:pt x="398782" y="1269"/>
                  </a:cubicBezTo>
                  <a:lnTo>
                    <a:pt x="1955798" y="1269"/>
                  </a:lnTo>
                  <a:cubicBezTo>
                    <a:pt x="2176039" y="1269"/>
                    <a:pt x="2354580" y="179810"/>
                    <a:pt x="2354580" y="400051"/>
                  </a:cubicBezTo>
                  <a:lnTo>
                    <a:pt x="2354580" y="1035047"/>
                  </a:lnTo>
                  <a:cubicBezTo>
                    <a:pt x="2354580" y="1255288"/>
                    <a:pt x="2359396" y="1431446"/>
                    <a:pt x="2351086" y="1433828"/>
                  </a:cubicBezTo>
                  <a:lnTo>
                    <a:pt x="398782" y="1433829"/>
                  </a:lnTo>
                  <a:cubicBezTo>
                    <a:pt x="178541" y="1433829"/>
                    <a:pt x="0" y="1255288"/>
                    <a:pt x="0" y="1035047"/>
                  </a:cubicBezTo>
                  <a:cubicBezTo>
                    <a:pt x="1588" y="691619"/>
                    <a:pt x="3175" y="343428"/>
                    <a:pt x="4763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691538" y="1840979"/>
              <a:ext cx="1420189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1100" b="1" dirty="0" smtClean="0"/>
                <a:t>Fitting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3669766" y="2063160"/>
              <a:ext cx="1172998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3691538" y="2156730"/>
              <a:ext cx="12614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en-US" sz="1000" dirty="0" smtClean="0"/>
                <a:t>Fitting Diagnostics</a:t>
              </a:r>
              <a:endParaRPr lang="en-US" sz="10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691538" y="2790534"/>
              <a:ext cx="12614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en-US" sz="1000" dirty="0" smtClean="0"/>
                <a:t>Model Calibration</a:t>
              </a:r>
              <a:endParaRPr lang="en-US" sz="1000" dirty="0"/>
            </a:p>
          </p:txBody>
        </p:sp>
        <p:pic>
          <p:nvPicPr>
            <p:cNvPr id="46" name="Picture 14" descr="C:\Users\jsauvageau\Desktop\2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000" y="2451182"/>
              <a:ext cx="246200" cy="238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7" descr="\\Cagmasrv1\sso$\Gestion_Deloitte\Global_Brand\- Templates\Icons\Iconography Deloitte\Icon_Stethoscope_Green.png"/>
            <p:cNvPicPr>
              <a:picLocks noChangeAspect="1" noChangeArrowheads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9895" y="1717535"/>
              <a:ext cx="223663" cy="246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6172200" y="2960845"/>
            <a:ext cx="1753654" cy="1611155"/>
            <a:chOff x="6172200" y="1645604"/>
            <a:chExt cx="1753654" cy="1611155"/>
          </a:xfrm>
        </p:grpSpPr>
        <p:sp>
          <p:nvSpPr>
            <p:cNvPr id="48" name="Rounded Rectangle 5"/>
            <p:cNvSpPr/>
            <p:nvPr/>
          </p:nvSpPr>
          <p:spPr>
            <a:xfrm flipV="1">
              <a:off x="6172200" y="1645604"/>
              <a:ext cx="1753654" cy="1611155"/>
            </a:xfrm>
            <a:custGeom>
              <a:avLst/>
              <a:gdLst>
                <a:gd name="connsiteX0" fmla="*/ 0 w 2354580"/>
                <a:gd name="connsiteY0" fmla="*/ 398782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0 w 2354580"/>
                <a:gd name="connsiteY8" fmla="*/ 398782 h 1432560"/>
                <a:gd name="connsiteX0" fmla="*/ 0 w 2362200"/>
                <a:gd name="connsiteY0" fmla="*/ 102717 h 1517495"/>
                <a:gd name="connsiteX1" fmla="*/ 406402 w 2362200"/>
                <a:gd name="connsiteY1" fmla="*/ 84935 h 1517495"/>
                <a:gd name="connsiteX2" fmla="*/ 1963418 w 2362200"/>
                <a:gd name="connsiteY2" fmla="*/ 84935 h 1517495"/>
                <a:gd name="connsiteX3" fmla="*/ 2362200 w 2362200"/>
                <a:gd name="connsiteY3" fmla="*/ 483717 h 1517495"/>
                <a:gd name="connsiteX4" fmla="*/ 2362200 w 2362200"/>
                <a:gd name="connsiteY4" fmla="*/ 1118713 h 1517495"/>
                <a:gd name="connsiteX5" fmla="*/ 1963418 w 2362200"/>
                <a:gd name="connsiteY5" fmla="*/ 1517495 h 1517495"/>
                <a:gd name="connsiteX6" fmla="*/ 406402 w 2362200"/>
                <a:gd name="connsiteY6" fmla="*/ 1517495 h 1517495"/>
                <a:gd name="connsiteX7" fmla="*/ 7620 w 2362200"/>
                <a:gd name="connsiteY7" fmla="*/ 1118713 h 1517495"/>
                <a:gd name="connsiteX8" fmla="*/ 0 w 2362200"/>
                <a:gd name="connsiteY8" fmla="*/ 102717 h 1517495"/>
                <a:gd name="connsiteX0" fmla="*/ 0 w 2362200"/>
                <a:gd name="connsiteY0" fmla="*/ 17782 h 1432560"/>
                <a:gd name="connsiteX1" fmla="*/ 406402 w 2362200"/>
                <a:gd name="connsiteY1" fmla="*/ 0 h 1432560"/>
                <a:gd name="connsiteX2" fmla="*/ 1963418 w 2362200"/>
                <a:gd name="connsiteY2" fmla="*/ 0 h 1432560"/>
                <a:gd name="connsiteX3" fmla="*/ 2362200 w 2362200"/>
                <a:gd name="connsiteY3" fmla="*/ 398782 h 1432560"/>
                <a:gd name="connsiteX4" fmla="*/ 2362200 w 2362200"/>
                <a:gd name="connsiteY4" fmla="*/ 1033778 h 1432560"/>
                <a:gd name="connsiteX5" fmla="*/ 1963418 w 2362200"/>
                <a:gd name="connsiteY5" fmla="*/ 1432560 h 1432560"/>
                <a:gd name="connsiteX6" fmla="*/ 406402 w 2362200"/>
                <a:gd name="connsiteY6" fmla="*/ 1432560 h 1432560"/>
                <a:gd name="connsiteX7" fmla="*/ 7620 w 2362200"/>
                <a:gd name="connsiteY7" fmla="*/ 1033778 h 1432560"/>
                <a:gd name="connsiteX8" fmla="*/ 0 w 2362200"/>
                <a:gd name="connsiteY8" fmla="*/ 17782 h 1432560"/>
                <a:gd name="connsiteX0" fmla="*/ 0 w 2362200"/>
                <a:gd name="connsiteY0" fmla="*/ 2542 h 1432560"/>
                <a:gd name="connsiteX1" fmla="*/ 406402 w 2362200"/>
                <a:gd name="connsiteY1" fmla="*/ 0 h 1432560"/>
                <a:gd name="connsiteX2" fmla="*/ 1963418 w 2362200"/>
                <a:gd name="connsiteY2" fmla="*/ 0 h 1432560"/>
                <a:gd name="connsiteX3" fmla="*/ 2362200 w 2362200"/>
                <a:gd name="connsiteY3" fmla="*/ 398782 h 1432560"/>
                <a:gd name="connsiteX4" fmla="*/ 2362200 w 2362200"/>
                <a:gd name="connsiteY4" fmla="*/ 1033778 h 1432560"/>
                <a:gd name="connsiteX5" fmla="*/ 1963418 w 2362200"/>
                <a:gd name="connsiteY5" fmla="*/ 1432560 h 1432560"/>
                <a:gd name="connsiteX6" fmla="*/ 406402 w 2362200"/>
                <a:gd name="connsiteY6" fmla="*/ 1432560 h 1432560"/>
                <a:gd name="connsiteX7" fmla="*/ 7620 w 2362200"/>
                <a:gd name="connsiteY7" fmla="*/ 1033778 h 1432560"/>
                <a:gd name="connsiteX8" fmla="*/ 0 w 2362200"/>
                <a:gd name="connsiteY8" fmla="*/ 2542 h 1432560"/>
                <a:gd name="connsiteX0" fmla="*/ 0 w 2354580"/>
                <a:gd name="connsiteY0" fmla="*/ 17782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0 w 2354580"/>
                <a:gd name="connsiteY8" fmla="*/ 17782 h 1432560"/>
                <a:gd name="connsiteX0" fmla="*/ 0 w 2354580"/>
                <a:gd name="connsiteY0" fmla="*/ 0 h 1433828"/>
                <a:gd name="connsiteX1" fmla="*/ 398782 w 2354580"/>
                <a:gd name="connsiteY1" fmla="*/ 1268 h 1433828"/>
                <a:gd name="connsiteX2" fmla="*/ 1955798 w 2354580"/>
                <a:gd name="connsiteY2" fmla="*/ 1268 h 1433828"/>
                <a:gd name="connsiteX3" fmla="*/ 2354580 w 2354580"/>
                <a:gd name="connsiteY3" fmla="*/ 400050 h 1433828"/>
                <a:gd name="connsiteX4" fmla="*/ 2354580 w 2354580"/>
                <a:gd name="connsiteY4" fmla="*/ 1035046 h 1433828"/>
                <a:gd name="connsiteX5" fmla="*/ 1955798 w 2354580"/>
                <a:gd name="connsiteY5" fmla="*/ 1433828 h 1433828"/>
                <a:gd name="connsiteX6" fmla="*/ 398782 w 2354580"/>
                <a:gd name="connsiteY6" fmla="*/ 1433828 h 1433828"/>
                <a:gd name="connsiteX7" fmla="*/ 0 w 2354580"/>
                <a:gd name="connsiteY7" fmla="*/ 1035046 h 1433828"/>
                <a:gd name="connsiteX8" fmla="*/ 0 w 2354580"/>
                <a:gd name="connsiteY8" fmla="*/ 0 h 1433828"/>
                <a:gd name="connsiteX0" fmla="*/ 4763 w 2354580"/>
                <a:gd name="connsiteY0" fmla="*/ 3494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4763 w 2354580"/>
                <a:gd name="connsiteY8" fmla="*/ 3494 h 1432560"/>
                <a:gd name="connsiteX0" fmla="*/ 2382 w 2354580"/>
                <a:gd name="connsiteY0" fmla="*/ 0 h 1436210"/>
                <a:gd name="connsiteX1" fmla="*/ 398782 w 2354580"/>
                <a:gd name="connsiteY1" fmla="*/ 3650 h 1436210"/>
                <a:gd name="connsiteX2" fmla="*/ 1955798 w 2354580"/>
                <a:gd name="connsiteY2" fmla="*/ 3650 h 1436210"/>
                <a:gd name="connsiteX3" fmla="*/ 2354580 w 2354580"/>
                <a:gd name="connsiteY3" fmla="*/ 402432 h 1436210"/>
                <a:gd name="connsiteX4" fmla="*/ 2354580 w 2354580"/>
                <a:gd name="connsiteY4" fmla="*/ 1037428 h 1436210"/>
                <a:gd name="connsiteX5" fmla="*/ 1955798 w 2354580"/>
                <a:gd name="connsiteY5" fmla="*/ 1436210 h 1436210"/>
                <a:gd name="connsiteX6" fmla="*/ 398782 w 2354580"/>
                <a:gd name="connsiteY6" fmla="*/ 1436210 h 1436210"/>
                <a:gd name="connsiteX7" fmla="*/ 0 w 2354580"/>
                <a:gd name="connsiteY7" fmla="*/ 1037428 h 1436210"/>
                <a:gd name="connsiteX8" fmla="*/ 2382 w 2354580"/>
                <a:gd name="connsiteY8" fmla="*/ 0 h 1436210"/>
                <a:gd name="connsiteX0" fmla="*/ 4763 w 2354580"/>
                <a:gd name="connsiteY0" fmla="*/ 5875 h 1432560"/>
                <a:gd name="connsiteX1" fmla="*/ 398782 w 2354580"/>
                <a:gd name="connsiteY1" fmla="*/ 0 h 1432560"/>
                <a:gd name="connsiteX2" fmla="*/ 1955798 w 2354580"/>
                <a:gd name="connsiteY2" fmla="*/ 0 h 1432560"/>
                <a:gd name="connsiteX3" fmla="*/ 2354580 w 2354580"/>
                <a:gd name="connsiteY3" fmla="*/ 398782 h 1432560"/>
                <a:gd name="connsiteX4" fmla="*/ 2354580 w 2354580"/>
                <a:gd name="connsiteY4" fmla="*/ 1033778 h 1432560"/>
                <a:gd name="connsiteX5" fmla="*/ 1955798 w 2354580"/>
                <a:gd name="connsiteY5" fmla="*/ 1432560 h 1432560"/>
                <a:gd name="connsiteX6" fmla="*/ 398782 w 2354580"/>
                <a:gd name="connsiteY6" fmla="*/ 1432560 h 1432560"/>
                <a:gd name="connsiteX7" fmla="*/ 0 w 2354580"/>
                <a:gd name="connsiteY7" fmla="*/ 1033778 h 1432560"/>
                <a:gd name="connsiteX8" fmla="*/ 4763 w 2354580"/>
                <a:gd name="connsiteY8" fmla="*/ 5875 h 1432560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354580"/>
                <a:gd name="connsiteY0" fmla="*/ 0 h 1433829"/>
                <a:gd name="connsiteX1" fmla="*/ 398782 w 2354580"/>
                <a:gd name="connsiteY1" fmla="*/ 1269 h 1433829"/>
                <a:gd name="connsiteX2" fmla="*/ 1955798 w 2354580"/>
                <a:gd name="connsiteY2" fmla="*/ 1269 h 1433829"/>
                <a:gd name="connsiteX3" fmla="*/ 2354580 w 2354580"/>
                <a:gd name="connsiteY3" fmla="*/ 400051 h 1433829"/>
                <a:gd name="connsiteX4" fmla="*/ 2354580 w 2354580"/>
                <a:gd name="connsiteY4" fmla="*/ 1035047 h 1433829"/>
                <a:gd name="connsiteX5" fmla="*/ 1955798 w 2354580"/>
                <a:gd name="connsiteY5" fmla="*/ 1433829 h 1433829"/>
                <a:gd name="connsiteX6" fmla="*/ 398782 w 2354580"/>
                <a:gd name="connsiteY6" fmla="*/ 1433829 h 1433829"/>
                <a:gd name="connsiteX7" fmla="*/ 0 w 2354580"/>
                <a:gd name="connsiteY7" fmla="*/ 1035047 h 1433829"/>
                <a:gd name="connsiteX8" fmla="*/ 4763 w 2354580"/>
                <a:gd name="connsiteY8" fmla="*/ 0 h 1433829"/>
                <a:gd name="connsiteX0" fmla="*/ 4763 w 2432776"/>
                <a:gd name="connsiteY0" fmla="*/ 0 h 1433829"/>
                <a:gd name="connsiteX1" fmla="*/ 398782 w 2432776"/>
                <a:gd name="connsiteY1" fmla="*/ 1269 h 1433829"/>
                <a:gd name="connsiteX2" fmla="*/ 1955798 w 2432776"/>
                <a:gd name="connsiteY2" fmla="*/ 1269 h 1433829"/>
                <a:gd name="connsiteX3" fmla="*/ 2354580 w 2432776"/>
                <a:gd name="connsiteY3" fmla="*/ 400051 h 1433829"/>
                <a:gd name="connsiteX4" fmla="*/ 2354580 w 2432776"/>
                <a:gd name="connsiteY4" fmla="*/ 1035047 h 1433829"/>
                <a:gd name="connsiteX5" fmla="*/ 2327273 w 2432776"/>
                <a:gd name="connsiteY5" fmla="*/ 1433829 h 1433829"/>
                <a:gd name="connsiteX6" fmla="*/ 398782 w 2432776"/>
                <a:gd name="connsiteY6" fmla="*/ 1433829 h 1433829"/>
                <a:gd name="connsiteX7" fmla="*/ 0 w 2432776"/>
                <a:gd name="connsiteY7" fmla="*/ 1035047 h 1433829"/>
                <a:gd name="connsiteX8" fmla="*/ 4763 w 2432776"/>
                <a:gd name="connsiteY8" fmla="*/ 0 h 1433829"/>
                <a:gd name="connsiteX0" fmla="*/ 4763 w 2441222"/>
                <a:gd name="connsiteY0" fmla="*/ 0 h 1433829"/>
                <a:gd name="connsiteX1" fmla="*/ 398782 w 2441222"/>
                <a:gd name="connsiteY1" fmla="*/ 1269 h 1433829"/>
                <a:gd name="connsiteX2" fmla="*/ 1955798 w 2441222"/>
                <a:gd name="connsiteY2" fmla="*/ 1269 h 1433829"/>
                <a:gd name="connsiteX3" fmla="*/ 2354580 w 2441222"/>
                <a:gd name="connsiteY3" fmla="*/ 400051 h 1433829"/>
                <a:gd name="connsiteX4" fmla="*/ 2354580 w 2441222"/>
                <a:gd name="connsiteY4" fmla="*/ 1035047 h 1433829"/>
                <a:gd name="connsiteX5" fmla="*/ 2339179 w 2441222"/>
                <a:gd name="connsiteY5" fmla="*/ 1431447 h 1433829"/>
                <a:gd name="connsiteX6" fmla="*/ 398782 w 2441222"/>
                <a:gd name="connsiteY6" fmla="*/ 1433829 h 1433829"/>
                <a:gd name="connsiteX7" fmla="*/ 0 w 2441222"/>
                <a:gd name="connsiteY7" fmla="*/ 1035047 h 1433829"/>
                <a:gd name="connsiteX8" fmla="*/ 4763 w 2441222"/>
                <a:gd name="connsiteY8" fmla="*/ 0 h 1433829"/>
                <a:gd name="connsiteX0" fmla="*/ 4763 w 2449885"/>
                <a:gd name="connsiteY0" fmla="*/ 0 h 1433829"/>
                <a:gd name="connsiteX1" fmla="*/ 398782 w 2449885"/>
                <a:gd name="connsiteY1" fmla="*/ 1269 h 1433829"/>
                <a:gd name="connsiteX2" fmla="*/ 1955798 w 2449885"/>
                <a:gd name="connsiteY2" fmla="*/ 1269 h 1433829"/>
                <a:gd name="connsiteX3" fmla="*/ 2354580 w 2449885"/>
                <a:gd name="connsiteY3" fmla="*/ 400051 h 1433829"/>
                <a:gd name="connsiteX4" fmla="*/ 2354580 w 2449885"/>
                <a:gd name="connsiteY4" fmla="*/ 1035047 h 1433829"/>
                <a:gd name="connsiteX5" fmla="*/ 2351086 w 2449885"/>
                <a:gd name="connsiteY5" fmla="*/ 1433828 h 1433829"/>
                <a:gd name="connsiteX6" fmla="*/ 398782 w 2449885"/>
                <a:gd name="connsiteY6" fmla="*/ 1433829 h 1433829"/>
                <a:gd name="connsiteX7" fmla="*/ 0 w 2449885"/>
                <a:gd name="connsiteY7" fmla="*/ 1035047 h 1433829"/>
                <a:gd name="connsiteX8" fmla="*/ 4763 w 2449885"/>
                <a:gd name="connsiteY8" fmla="*/ 0 h 1433829"/>
                <a:gd name="connsiteX0" fmla="*/ 4763 w 2355967"/>
                <a:gd name="connsiteY0" fmla="*/ 0 h 1433829"/>
                <a:gd name="connsiteX1" fmla="*/ 398782 w 2355967"/>
                <a:gd name="connsiteY1" fmla="*/ 1269 h 1433829"/>
                <a:gd name="connsiteX2" fmla="*/ 1955798 w 2355967"/>
                <a:gd name="connsiteY2" fmla="*/ 1269 h 1433829"/>
                <a:gd name="connsiteX3" fmla="*/ 2354580 w 2355967"/>
                <a:gd name="connsiteY3" fmla="*/ 400051 h 1433829"/>
                <a:gd name="connsiteX4" fmla="*/ 2354580 w 2355967"/>
                <a:gd name="connsiteY4" fmla="*/ 1035047 h 1433829"/>
                <a:gd name="connsiteX5" fmla="*/ 2351086 w 2355967"/>
                <a:gd name="connsiteY5" fmla="*/ 1433828 h 1433829"/>
                <a:gd name="connsiteX6" fmla="*/ 398782 w 2355967"/>
                <a:gd name="connsiteY6" fmla="*/ 1433829 h 1433829"/>
                <a:gd name="connsiteX7" fmla="*/ 0 w 2355967"/>
                <a:gd name="connsiteY7" fmla="*/ 1035047 h 1433829"/>
                <a:gd name="connsiteX8" fmla="*/ 4763 w 2355967"/>
                <a:gd name="connsiteY8" fmla="*/ 0 h 143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5967" h="1433829">
                  <a:moveTo>
                    <a:pt x="4763" y="0"/>
                  </a:moveTo>
                  <a:cubicBezTo>
                    <a:pt x="30957" y="1215"/>
                    <a:pt x="178541" y="1269"/>
                    <a:pt x="398782" y="1269"/>
                  </a:cubicBezTo>
                  <a:lnTo>
                    <a:pt x="1955798" y="1269"/>
                  </a:lnTo>
                  <a:cubicBezTo>
                    <a:pt x="2176039" y="1269"/>
                    <a:pt x="2354580" y="179810"/>
                    <a:pt x="2354580" y="400051"/>
                  </a:cubicBezTo>
                  <a:lnTo>
                    <a:pt x="2354580" y="1035047"/>
                  </a:lnTo>
                  <a:cubicBezTo>
                    <a:pt x="2354580" y="1255288"/>
                    <a:pt x="2359396" y="1431446"/>
                    <a:pt x="2351086" y="1433828"/>
                  </a:cubicBezTo>
                  <a:lnTo>
                    <a:pt x="398782" y="1433829"/>
                  </a:lnTo>
                  <a:cubicBezTo>
                    <a:pt x="178541" y="1433829"/>
                    <a:pt x="0" y="1255288"/>
                    <a:pt x="0" y="1035047"/>
                  </a:cubicBezTo>
                  <a:cubicBezTo>
                    <a:pt x="1588" y="691619"/>
                    <a:pt x="3175" y="343428"/>
                    <a:pt x="4763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282338" y="1874208"/>
              <a:ext cx="1420189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1100" b="1" dirty="0" smtClean="0">
                  <a:solidFill>
                    <a:schemeClr val="bg1"/>
                  </a:solidFill>
                </a:rPr>
                <a:t>Communicating</a:t>
              </a:r>
              <a:endParaRPr lang="en-US" sz="1100" b="1" dirty="0" smtClean="0">
                <a:solidFill>
                  <a:schemeClr val="bg1"/>
                </a:solidFill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6260566" y="2096389"/>
              <a:ext cx="1172998" cy="0"/>
            </a:xfrm>
            <a:prstGeom prst="line">
              <a:avLst/>
            </a:prstGeom>
            <a:ln w="12700">
              <a:solidFill>
                <a:schemeClr val="bg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6282338" y="2109281"/>
              <a:ext cx="1261462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spcAft>
                  <a:spcPts val="600"/>
                </a:spcAft>
              </a:pPr>
              <a:r>
                <a:rPr lang="en-US" sz="1000" dirty="0" smtClean="0">
                  <a:solidFill>
                    <a:schemeClr val="bg1"/>
                  </a:solidFill>
                </a:rPr>
                <a:t>Symphony</a:t>
              </a:r>
            </a:p>
            <a:p>
              <a:pPr lvl="0">
                <a:lnSpc>
                  <a:spcPct val="150000"/>
                </a:lnSpc>
                <a:spcAft>
                  <a:spcPts val="600"/>
                </a:spcAft>
              </a:pPr>
              <a:r>
                <a:rPr lang="en-US" sz="1000" dirty="0" smtClean="0">
                  <a:solidFill>
                    <a:schemeClr val="bg1"/>
                  </a:solidFill>
                </a:rPr>
                <a:t>Tracking Reports</a:t>
              </a:r>
            </a:p>
            <a:p>
              <a:pPr lvl="0">
                <a:lnSpc>
                  <a:spcPct val="150000"/>
                </a:lnSpc>
                <a:spcAft>
                  <a:spcPts val="600"/>
                </a:spcAft>
              </a:pPr>
              <a:r>
                <a:rPr lang="en-US" sz="1000" dirty="0" smtClean="0">
                  <a:solidFill>
                    <a:schemeClr val="bg1"/>
                  </a:solidFill>
                </a:rPr>
                <a:t>Valuations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5" name="Picture 12" descr="C:\Users\jsauvageau\Desktop\4.png"/>
          <p:cNvPicPr>
            <a:picLocks noChangeAspect="1" noChangeArrowheads="1"/>
          </p:cNvPicPr>
          <p:nvPr/>
        </p:nvPicPr>
        <p:blipFill>
          <a:blip r:embed="rId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1712" y="3071108"/>
            <a:ext cx="246888" cy="18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2819400" y="3799652"/>
            <a:ext cx="68580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5410200" y="3799652"/>
            <a:ext cx="685800" cy="0"/>
          </a:xfrm>
          <a:prstGeom prst="straightConnector1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/>
          <p:cNvSpPr/>
          <p:nvPr/>
        </p:nvSpPr>
        <p:spPr>
          <a:xfrm>
            <a:off x="4572000" y="2391584"/>
            <a:ext cx="2300637" cy="1138522"/>
          </a:xfrm>
          <a:prstGeom prst="arc">
            <a:avLst>
              <a:gd name="adj1" fmla="val 10818152"/>
              <a:gd name="adj2" fmla="val 0"/>
            </a:avLst>
          </a:prstGeom>
          <a:ln w="12700">
            <a:prstDash val="lg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648198" y="2142498"/>
            <a:ext cx="1981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solidFill>
                  <a:schemeClr val="accent1"/>
                </a:solidFill>
              </a:rPr>
              <a:t>Feedback From </a:t>
            </a:r>
            <a:r>
              <a:rPr lang="en-US" sz="1000" dirty="0" smtClean="0">
                <a:solidFill>
                  <a:schemeClr val="accent1"/>
                </a:solidFill>
              </a:rPr>
              <a:t>PMs</a:t>
            </a:r>
            <a:endParaRPr lang="en-US" sz="1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92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AD275C"/>
      </a:accent2>
      <a:accent3>
        <a:srgbClr val="1B7A76"/>
      </a:accent3>
      <a:accent4>
        <a:srgbClr val="C8C42D"/>
      </a:accent4>
      <a:accent5>
        <a:srgbClr val="C7732D"/>
      </a:accent5>
      <a:accent6>
        <a:srgbClr val="74B629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28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Lien Chen</dc:creator>
  <cp:lastModifiedBy>Sharad Chaudhary</cp:lastModifiedBy>
  <cp:revision>9</cp:revision>
  <dcterms:created xsi:type="dcterms:W3CDTF">2017-01-11T23:08:42Z</dcterms:created>
  <dcterms:modified xsi:type="dcterms:W3CDTF">2017-01-12T02:52:49Z</dcterms:modified>
</cp:coreProperties>
</file>